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5685"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686" autoAdjust="0"/>
    <p:restoredTop sz="96571" autoAdjust="0"/>
  </p:normalViewPr>
  <p:slideViewPr>
    <p:cSldViewPr snapToGrid="0" showGuides="1">
      <p:cViewPr varScale="1">
        <p:scale>
          <a:sx n="123" d="100"/>
          <a:sy n="123" d="100"/>
        </p:scale>
        <p:origin x="33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0" name="Picture 9">
            <a:extLst>
              <a:ext uri="{FF2B5EF4-FFF2-40B4-BE49-F238E27FC236}">
                <a16:creationId xmlns:a16="http://schemas.microsoft.com/office/drawing/2014/main" id="{02C27BA6-F3A8-60EC-3576-564A59264A22}"/>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19" name="TextBox 18">
            <a:extLst>
              <a:ext uri="{FF2B5EF4-FFF2-40B4-BE49-F238E27FC236}">
                <a16:creationId xmlns:a16="http://schemas.microsoft.com/office/drawing/2014/main" id="{524593E8-6C1F-EE6F-09D0-8A0BB083F885}"/>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A7F88FF6-622C-3D77-10C9-24C0DAC6A64A}"/>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26" name="TextBox 25">
            <a:extLst>
              <a:ext uri="{FF2B5EF4-FFF2-40B4-BE49-F238E27FC236}">
                <a16:creationId xmlns:a16="http://schemas.microsoft.com/office/drawing/2014/main" id="{71639705-DB52-A297-073A-94DA11375A52}"/>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189D78DD-9980-15E2-758B-FF02499BDF6A}"/>
              </a:ext>
            </a:extLst>
          </p:cNvPr>
          <p:cNvGrpSpPr/>
          <p:nvPr userDrawn="1"/>
        </p:nvGrpSpPr>
        <p:grpSpPr>
          <a:xfrm>
            <a:off x="232445" y="5027111"/>
            <a:ext cx="2237149" cy="457200"/>
            <a:chOff x="343050" y="5128711"/>
            <a:chExt cx="2237149" cy="457200"/>
          </a:xfrm>
        </p:grpSpPr>
        <p:pic>
          <p:nvPicPr>
            <p:cNvPr id="28" name="Picture 27">
              <a:extLst>
                <a:ext uri="{FF2B5EF4-FFF2-40B4-BE49-F238E27FC236}">
                  <a16:creationId xmlns:a16="http://schemas.microsoft.com/office/drawing/2014/main" id="{938752A1-F0E7-816C-D172-EB4DBDAE9C4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40F8317-8F8D-1AD4-3CD1-E2A5D729EF9D}"/>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5" name="Picture 2" descr="A picture containing graphics, logo, font, symbol&#10;&#10;Description automatically generated">
            <a:extLst>
              <a:ext uri="{FF2B5EF4-FFF2-40B4-BE49-F238E27FC236}">
                <a16:creationId xmlns:a16="http://schemas.microsoft.com/office/drawing/2014/main" id="{C2429F9C-40AB-0CFB-94EA-4039B3E3D090}"/>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a:extLst>
              <a:ext uri="{FF2B5EF4-FFF2-40B4-BE49-F238E27FC236}">
                <a16:creationId xmlns:a16="http://schemas.microsoft.com/office/drawing/2014/main" id="{916850F0-0223-B306-59F8-475F55DBAD08}"/>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37" name="TextBox 36">
            <a:extLst>
              <a:ext uri="{FF2B5EF4-FFF2-40B4-BE49-F238E27FC236}">
                <a16:creationId xmlns:a16="http://schemas.microsoft.com/office/drawing/2014/main" id="{BB3AB2A3-5824-04D8-C1BB-BF4371679814}"/>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0AF9D7D5-ABF3-0AB8-BB3B-B57F9C5E0D61}"/>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E88094E3-275F-7583-2B12-C2BFF43C5029}"/>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3194150A-2AED-77F8-8D25-5E96A04210EB}"/>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4359E871-013D-5C3F-72FD-31564F2079B3}"/>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83F659C8-9FE5-2835-15BE-C4612477CCF3}"/>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F283840A-68C3-D7F2-21E7-764BB1CF0A6F}"/>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010A5413-C715-0B9E-A854-EE3C9EDCB75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93B794FA-2A7D-9288-A453-788BBE44965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1C19FD13-9273-C7AA-0F09-45B4F5BCE584}"/>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B0A1EAD5-C03A-E501-AE24-A084D44EBA26}"/>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F5F320F6-3AB1-591B-3D2A-9EE5E3F1FF33}"/>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A7B9AF38-26BD-7DDA-7DA6-BE3BAADF2913}"/>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endParaRPr lang="en-US" dirty="0"/>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doi.org/10.1109/MCSE.2021.3069343" TargetMode="External"/><Relationship Id="rId7" Type="http://schemas.openxmlformats.org/officeDocument/2006/relationships/hyperlink" Target="https://doi.org/10.1016/j.future.2023.07.014"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hyperlink" Target="https://doi.org/10.1007/978-3-031-06156-1_13" TargetMode="External"/><Relationship Id="rId5" Type="http://schemas.openxmlformats.org/officeDocument/2006/relationships/hyperlink" Target="https://arxiv.org/abs/2401.03378" TargetMode="External"/><Relationship Id="rId4" Type="http://schemas.openxmlformats.org/officeDocument/2006/relationships/hyperlink" Target="https://doi.org/10.1016/j.softx.2022.1011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876253" y="2134517"/>
            <a:ext cx="1690167" cy="376085"/>
          </a:xfrm>
        </p:spPr>
        <p:txBody>
          <a:bodyPr/>
          <a:lstStyle/>
          <a:p>
            <a:r>
              <a:rPr lang="en-US" dirty="0"/>
              <a:t>(he/him)</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Oak Ridge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646331"/>
          </a:xfrm>
        </p:spPr>
        <p:txBody>
          <a:bodyPr/>
          <a:lstStyle/>
          <a:p>
            <a:pPr>
              <a:spcBef>
                <a:spcPts val="2800"/>
              </a:spcBef>
            </a:pPr>
            <a:r>
              <a:rPr lang="en-US" dirty="0"/>
              <a:t>Software Sustainability track @ Argonne Training Program on Extreme-Scale Computing summer school</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545645"/>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27580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r>
              <a:rPr lang="en-US" dirty="0"/>
              <a:t>Tests</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4621E5EC-5C38-F853-C565-BD1A70A75ADF}"/>
              </a:ext>
            </a:extLst>
          </p:cNvPr>
          <p:cNvCxnSpPr>
            <a:cxnSpLocks/>
          </p:cNvCxnSpPr>
          <p:nvPr/>
        </p:nvCxnSpPr>
        <p:spPr>
          <a:xfrm rot="5400000" flipH="1" flipV="1">
            <a:off x="5529007" y="3027920"/>
            <a:ext cx="8638" cy="2696829"/>
          </a:xfrm>
          <a:prstGeom prst="bentConnector3">
            <a:avLst>
              <a:gd name="adj1" fmla="val 2746446"/>
            </a:avLst>
          </a:prstGeom>
          <a:ln w="38100">
            <a:solidFill>
              <a:schemeClr val="bg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12">
            <a:extLst>
              <a:ext uri="{FF2B5EF4-FFF2-40B4-BE49-F238E27FC236}">
                <a16:creationId xmlns:a16="http://schemas.microsoft.com/office/drawing/2014/main" id="{51348BFD-08C3-B156-EFD7-6B7A99C2E361}"/>
              </a:ext>
            </a:extLst>
          </p:cNvPr>
          <p:cNvCxnSpPr>
            <a:cxnSpLocks/>
          </p:cNvCxnSpPr>
          <p:nvPr/>
        </p:nvCxnSpPr>
        <p:spPr>
          <a:xfrm rot="5400000" flipH="1" flipV="1">
            <a:off x="5532449" y="1036290"/>
            <a:ext cx="1" cy="2695078"/>
          </a:xfrm>
          <a:prstGeom prst="bentConnector3">
            <a:avLst>
              <a:gd name="adj1" fmla="val -22860000000"/>
            </a:avLst>
          </a:prstGeom>
          <a:ln w="38100">
            <a:solidFill>
              <a:schemeClr val="bg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70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 DOI:</a:t>
            </a:r>
            <a:r>
              <a:rPr lang="en-US" u="sng" dirty="0">
                <a:highlight>
                  <a:srgbClr val="FFFFFF"/>
                </a:highlight>
                <a:hlinkClick r:id="rId3"/>
              </a:rPr>
              <a:t>10.1109/MCSE.2021.3069343</a:t>
            </a:r>
            <a:endParaRPr lang="en-US" dirty="0">
              <a:highlight>
                <a:srgbClr val="FFFFFF"/>
              </a:highlight>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4"/>
              </a:rPr>
              <a:t>10.1016/j.softx.2022.101168</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t>
            </a:r>
            <a:r>
              <a:rPr lang="en-US" b="0" i="1" u="none" strike="noStrike" dirty="0">
                <a:solidFill>
                  <a:srgbClr val="222222"/>
                </a:solidFill>
                <a:effectLst/>
                <a:latin typeface="Arial" panose="020B0604020202020204" pitchFamily="34" charset="0"/>
                <a:hlinkClick r:id="rId5"/>
              </a:rPr>
              <a:t>arXiv:2401.03378</a:t>
            </a:r>
            <a:r>
              <a:rPr lang="en-US" b="0" i="0" u="none" strike="noStrike" dirty="0">
                <a:solidFill>
                  <a:srgbClr val="222222"/>
                </a:solidFill>
                <a:effectLst/>
                <a:highlight>
                  <a:srgbClr val="FFFFFF"/>
                </a:highlight>
                <a:latin typeface="Arial" panose="020B0604020202020204" pitchFamily="34" charset="0"/>
                <a:hlinkClick r:id="rId5"/>
              </a:rPr>
              <a:t> </a:t>
            </a:r>
            <a:r>
              <a:rPr lang="en-US" b="0" i="0" u="none" strike="noStrike" dirty="0">
                <a:solidFill>
                  <a:srgbClr val="222222"/>
                </a:solidFill>
                <a:effectLst/>
                <a:highlight>
                  <a:srgbClr val="FFFFFF"/>
                </a:highlight>
                <a:latin typeface="Arial" panose="020B0604020202020204" pitchFamily="34" charset="0"/>
              </a:rPr>
              <a:t>(2024).</a:t>
            </a:r>
          </a:p>
          <a:p>
            <a:pPr>
              <a:lnSpc>
                <a:spcPct val="110000"/>
              </a:lnSpc>
            </a:pPr>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 DOI:</a:t>
            </a:r>
            <a:r>
              <a:rPr lang="en-US" dirty="0">
                <a:highlight>
                  <a:srgbClr val="FFFFFF"/>
                </a:highlight>
                <a:hlinkClick r:id="rId6"/>
              </a:rPr>
              <a:t>10.1007/978-3-031-06156-1_13</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7"/>
              </a:rPr>
              <a:t>10.1016/j.future.2023.07.014</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4867</TotalTime>
  <Words>3029</Words>
  <Application>Microsoft Office PowerPoint</Application>
  <PresentationFormat>Custom</PresentationFormat>
  <Paragraphs>559</Paragraphs>
  <Slides>36</Slides>
  <Notes>4</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444</cp:revision>
  <cp:lastPrinted>2017-11-02T18:35:01Z</cp:lastPrinted>
  <dcterms:created xsi:type="dcterms:W3CDTF">2018-11-06T17:28:56Z</dcterms:created>
  <dcterms:modified xsi:type="dcterms:W3CDTF">2026-08-02T19:11:54Z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