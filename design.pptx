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41"/>
  </p:notesMasterIdLst>
  <p:handoutMasterIdLst>
    <p:handoutMasterId r:id="rId42"/>
  </p:handoutMasterIdLst>
  <p:sldIdLst>
    <p:sldId id="5601" r:id="rId5"/>
    <p:sldId id="320" r:id="rId6"/>
    <p:sldId id="5590" r:id="rId7"/>
    <p:sldId id="5577" r:id="rId8"/>
    <p:sldId id="5591" r:id="rId9"/>
    <p:sldId id="5593" r:id="rId10"/>
    <p:sldId id="5579" r:id="rId11"/>
    <p:sldId id="5682" r:id="rId12"/>
    <p:sldId id="5683" r:id="rId13"/>
    <p:sldId id="5580" r:id="rId14"/>
    <p:sldId id="5684" r:id="rId15"/>
    <p:sldId id="5576" r:id="rId16"/>
    <p:sldId id="5570" r:id="rId17"/>
    <p:sldId id="5584" r:id="rId18"/>
    <p:sldId id="5585" r:id="rId19"/>
    <p:sldId id="5587" r:id="rId20"/>
    <p:sldId id="5586" r:id="rId21"/>
    <p:sldId id="641" r:id="rId22"/>
    <p:sldId id="5600" r:id="rId23"/>
    <p:sldId id="642" r:id="rId24"/>
    <p:sldId id="5595" r:id="rId25"/>
    <p:sldId id="677" r:id="rId26"/>
    <p:sldId id="5560" r:id="rId27"/>
    <p:sldId id="5567" r:id="rId28"/>
    <p:sldId id="5673" r:id="rId29"/>
    <p:sldId id="5681" r:id="rId30"/>
    <p:sldId id="5675" r:id="rId31"/>
    <p:sldId id="275" r:id="rId32"/>
    <p:sldId id="5679" r:id="rId33"/>
    <p:sldId id="5680" r:id="rId34"/>
    <p:sldId id="276" r:id="rId35"/>
    <p:sldId id="5632" r:id="rId36"/>
    <p:sldId id="277" r:id="rId37"/>
    <p:sldId id="5631" r:id="rId38"/>
    <p:sldId id="674" r:id="rId39"/>
    <p:sldId id="5628" r:id="rId40"/>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95" autoAdjust="0"/>
    <p:restoredTop sz="96571" autoAdjust="0"/>
  </p:normalViewPr>
  <p:slideViewPr>
    <p:cSldViewPr snapToGrid="0" showGuides="1">
      <p:cViewPr varScale="1">
        <p:scale>
          <a:sx n="106" d="100"/>
          <a:sy n="106" d="100"/>
        </p:scale>
        <p:origin x="192" y="544"/>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19</a:t>
            </a:fld>
            <a:endParaRPr lang="en-US"/>
          </a:p>
        </p:txBody>
      </p:sp>
    </p:spTree>
    <p:extLst>
      <p:ext uri="{BB962C8B-B14F-4D97-AF65-F5344CB8AC3E}">
        <p14:creationId xmlns:p14="http://schemas.microsoft.com/office/powerpoint/2010/main" val="2382299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changing</a:t>
            </a:r>
            <a:r>
              <a:rPr lang="en-US" baseline="0" dirty="0"/>
              <a:t> the block size to adjust to the cache memory</a:t>
            </a:r>
          </a:p>
          <a:p>
            <a:r>
              <a:rPr lang="en-US" baseline="0" dirty="0"/>
              <a:t>And point-to-point </a:t>
            </a:r>
            <a:r>
              <a:rPr lang="en-US" baseline="0" dirty="0" err="1"/>
              <a:t>Vs</a:t>
            </a:r>
            <a:r>
              <a:rPr lang="en-US" baseline="0" dirty="0"/>
              <a:t> collectives depending upon the scale of the problem</a:t>
            </a:r>
            <a:endParaRPr lang="en-US" dirty="0"/>
          </a:p>
        </p:txBody>
      </p:sp>
      <p:sp>
        <p:nvSpPr>
          <p:cNvPr id="4" name="Slide Number Placeholder 3"/>
          <p:cNvSpPr>
            <a:spLocks noGrp="1"/>
          </p:cNvSpPr>
          <p:nvPr>
            <p:ph type="sldNum" sz="quarter" idx="10"/>
          </p:nvPr>
        </p:nvSpPr>
        <p:spPr/>
        <p:txBody>
          <a:bodyPr/>
          <a:lstStyle/>
          <a:p>
            <a:fld id="{6E363A66-168C-0143-BD3D-B116B7B003A5}" type="slidenum">
              <a:rPr lang="en-US" smtClean="0"/>
              <a:t>20</a:t>
            </a:fld>
            <a:endParaRPr lang="en-US"/>
          </a:p>
        </p:txBody>
      </p:sp>
    </p:spTree>
    <p:extLst>
      <p:ext uri="{BB962C8B-B14F-4D97-AF65-F5344CB8AC3E}">
        <p14:creationId xmlns:p14="http://schemas.microsoft.com/office/powerpoint/2010/main" val="4155945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437472-F350-E648-BF73-5FBCC1A166B4}" type="slidenum">
              <a:rPr lang="en-US" smtClean="0"/>
              <a:t>34</a:t>
            </a:fld>
            <a:endParaRPr lang="en-US"/>
          </a:p>
        </p:txBody>
      </p:sp>
    </p:spTree>
    <p:extLst>
      <p:ext uri="{BB962C8B-B14F-4D97-AF65-F5344CB8AC3E}">
        <p14:creationId xmlns:p14="http://schemas.microsoft.com/office/powerpoint/2010/main" val="2456362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437472-F350-E648-BF73-5FBCC1A166B4}" type="slidenum">
              <a:rPr lang="en-US" smtClean="0"/>
              <a:t>36</a:t>
            </a:fld>
            <a:endParaRPr lang="en-US"/>
          </a:p>
        </p:txBody>
      </p:sp>
    </p:spTree>
    <p:extLst>
      <p:ext uri="{BB962C8B-B14F-4D97-AF65-F5344CB8AC3E}">
        <p14:creationId xmlns:p14="http://schemas.microsoft.com/office/powerpoint/2010/main" val="319341497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s://cass.community/" TargetMode="External"/><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2.png"/><Relationship Id="rId10"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pic>
        <p:nvPicPr>
          <p:cNvPr id="10" name="Picture 4">
            <a:extLst>
              <a:ext uri="{FF2B5EF4-FFF2-40B4-BE49-F238E27FC236}">
                <a16:creationId xmlns:a16="http://schemas.microsoft.com/office/drawing/2014/main" id="{87D2793C-01C6-B180-3495-5A2067445539}"/>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92630" y="3341111"/>
            <a:ext cx="1005840" cy="23384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3984D22-2BE9-C684-93D1-920B201DC418}"/>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24" name="TextBox 23">
            <a:extLst>
              <a:ext uri="{FF2B5EF4-FFF2-40B4-BE49-F238E27FC236}">
                <a16:creationId xmlns:a16="http://schemas.microsoft.com/office/drawing/2014/main" id="{9EA65A86-1694-D0BE-3C46-045E2B00D094}"/>
              </a:ext>
            </a:extLst>
          </p:cNvPr>
          <p:cNvSpPr txBox="1"/>
          <p:nvPr userDrawn="1"/>
        </p:nvSpPr>
        <p:spPr>
          <a:xfrm>
            <a:off x="110789" y="2295151"/>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CASS - </a:t>
            </a:r>
            <a:r>
              <a:rPr lang="en-US" b="1" i="0" u="none" strike="noStrike" kern="1200" dirty="0">
                <a:solidFill>
                  <a:schemeClr val="tx1"/>
                </a:solidFill>
                <a:effectLst/>
                <a:latin typeface="Arial" charset="0"/>
                <a:ea typeface="+mn-ea"/>
                <a:cs typeface="Arial" charset="0"/>
                <a:hlinkClick r:id="rId5"/>
              </a:rPr>
              <a:t>Consortium for the Advancement of Scientific Software</a:t>
            </a:r>
            <a:r>
              <a:rPr lang="en-US" b="1" dirty="0"/>
              <a:t> </a:t>
            </a:r>
          </a:p>
        </p:txBody>
      </p:sp>
      <p:sp>
        <p:nvSpPr>
          <p:cNvPr id="26" name="TextBox 25">
            <a:extLst>
              <a:ext uri="{FF2B5EF4-FFF2-40B4-BE49-F238E27FC236}">
                <a16:creationId xmlns:a16="http://schemas.microsoft.com/office/drawing/2014/main" id="{64D46951-9F99-A303-D249-27B751A562DB}"/>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7" name="Group 26">
            <a:extLst>
              <a:ext uri="{FF2B5EF4-FFF2-40B4-BE49-F238E27FC236}">
                <a16:creationId xmlns:a16="http://schemas.microsoft.com/office/drawing/2014/main" id="{CC665AB1-818C-15F6-A435-7A7C14109262}"/>
              </a:ext>
            </a:extLst>
          </p:cNvPr>
          <p:cNvGrpSpPr/>
          <p:nvPr userDrawn="1"/>
        </p:nvGrpSpPr>
        <p:grpSpPr>
          <a:xfrm>
            <a:off x="355043" y="5027111"/>
            <a:ext cx="2237149" cy="457200"/>
            <a:chOff x="343050" y="5128711"/>
            <a:chExt cx="2237149" cy="457200"/>
          </a:xfrm>
        </p:grpSpPr>
        <p:pic>
          <p:nvPicPr>
            <p:cNvPr id="28" name="Picture 27">
              <a:extLst>
                <a:ext uri="{FF2B5EF4-FFF2-40B4-BE49-F238E27FC236}">
                  <a16:creationId xmlns:a16="http://schemas.microsoft.com/office/drawing/2014/main" id="{D8D4DA06-93FC-7C79-22C0-69CD6E71946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9" name="Picture 28" descr="A picture containing shape&#10;&#10;Description automatically generated">
              <a:extLst>
                <a:ext uri="{FF2B5EF4-FFF2-40B4-BE49-F238E27FC236}">
                  <a16:creationId xmlns:a16="http://schemas.microsoft.com/office/drawing/2014/main" id="{3A576A20-C17C-D6D5-507F-A7C5D2EE03B7}"/>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8" name="Picture 7">
            <a:extLst>
              <a:ext uri="{FF2B5EF4-FFF2-40B4-BE49-F238E27FC236}">
                <a16:creationId xmlns:a16="http://schemas.microsoft.com/office/drawing/2014/main" id="{74B4BBC9-1119-9703-C1C0-7A18791767C0}"/>
              </a:ext>
            </a:extLst>
          </p:cNvPr>
          <p:cNvPicPr>
            <a:picLocks noChangeAspect="1"/>
          </p:cNvPicPr>
          <p:nvPr userDrawn="1"/>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Tree>
    <p:extLst>
      <p:ext uri="{BB962C8B-B14F-4D97-AF65-F5344CB8AC3E}">
        <p14:creationId xmlns:p14="http://schemas.microsoft.com/office/powerpoint/2010/main" val="480410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4251378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8F49DD1-DDB5-AB43-B311-7649AD474C82}" type="datetimeFigureOut">
              <a:rPr lang="en-US" smtClean="0"/>
              <a:t>8/3/25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B3D163-D76A-5F4F-A4CE-5FA8F639A976}" type="slidenum">
              <a:rPr lang="en-US" smtClean="0"/>
              <a:t>‹#›</a:t>
            </a:fld>
            <a:endParaRPr lang="en-US"/>
          </a:p>
        </p:txBody>
      </p:sp>
    </p:spTree>
    <p:extLst>
      <p:ext uri="{BB962C8B-B14F-4D97-AF65-F5344CB8AC3E}">
        <p14:creationId xmlns:p14="http://schemas.microsoft.com/office/powerpoint/2010/main" val="416232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ubtitle and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38" y="114140"/>
            <a:ext cx="11173090" cy="995363"/>
          </a:xfrm>
        </p:spPr>
        <p:txBody>
          <a:bodyPr anchor="b"/>
          <a:lstStyle>
            <a:lvl1pPr marL="0" marR="0" indent="0" algn="l" defTabSz="914103" rtl="0" eaLnBrk="1" fontAlgn="auto" latinLnBrk="0" hangingPunct="1">
              <a:lnSpc>
                <a:spcPct val="90000"/>
              </a:lnSpc>
              <a:spcBef>
                <a:spcPct val="0"/>
              </a:spcBef>
              <a:spcAft>
                <a:spcPts val="0"/>
              </a:spcAft>
              <a:buClrTx/>
              <a:buSzTx/>
              <a:buFontTx/>
              <a:buNone/>
              <a:tabLst/>
              <a:defRPr/>
            </a:lvl1pPr>
          </a:lstStyle>
          <a:p>
            <a:r>
              <a:rPr lang="en-US" dirty="0"/>
              <a:t>BASIC CONTENT SLIDE</a:t>
            </a:r>
            <a:br>
              <a:rPr lang="en-US" dirty="0"/>
            </a:br>
            <a:r>
              <a:rPr lang="en-US" dirty="0"/>
              <a:t>one or two lines for headline</a:t>
            </a:r>
          </a:p>
        </p:txBody>
      </p:sp>
      <p:sp>
        <p:nvSpPr>
          <p:cNvPr id="6" name="Slide Number Placeholder 5"/>
          <p:cNvSpPr>
            <a:spLocks noGrp="1"/>
          </p:cNvSpPr>
          <p:nvPr>
            <p:ph type="sldNum" sz="quarter" idx="12"/>
          </p:nvPr>
        </p:nvSpPr>
        <p:spPr/>
        <p:txBody>
          <a:bodyPr/>
          <a:lstStyle/>
          <a:p>
            <a:fld id="{9CF5EF28-261C-FD41-A360-1A380056DD17}" type="slidenum">
              <a:rPr lang="en-US" smtClean="0"/>
              <a:t>‹#›</a:t>
            </a:fld>
            <a:endParaRPr lang="en-US"/>
          </a:p>
        </p:txBody>
      </p:sp>
      <p:sp>
        <p:nvSpPr>
          <p:cNvPr id="18" name="Content Placeholder 17">
            <a:extLst>
              <a:ext uri="{FF2B5EF4-FFF2-40B4-BE49-F238E27FC236}">
                <a16:creationId xmlns:a16="http://schemas.microsoft.com/office/drawing/2014/main" id="{E476E8C9-921B-17FC-9AEA-348F1AA2B0FF}"/>
              </a:ext>
            </a:extLst>
          </p:cNvPr>
          <p:cNvSpPr>
            <a:spLocks noGrp="1"/>
          </p:cNvSpPr>
          <p:nvPr>
            <p:ph sz="quarter" idx="14" hasCustomPrompt="1"/>
          </p:nvPr>
        </p:nvSpPr>
        <p:spPr>
          <a:xfrm>
            <a:off x="609441" y="1293128"/>
            <a:ext cx="11173089" cy="5065232"/>
          </a:xfrm>
        </p:spPr>
        <p:txBody>
          <a:body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8660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ubtitle and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marR="0" indent="0" algn="l" defTabSz="914103" rtl="0" eaLnBrk="1" fontAlgn="auto" latinLnBrk="0" hangingPunct="1">
              <a:lnSpc>
                <a:spcPct val="90000"/>
              </a:lnSpc>
              <a:spcBef>
                <a:spcPct val="0"/>
              </a:spcBef>
              <a:spcAft>
                <a:spcPts val="0"/>
              </a:spcAft>
              <a:buClrTx/>
              <a:buSzTx/>
              <a:buFontTx/>
              <a:buNone/>
              <a:tabLst/>
              <a:defRPr/>
            </a:lvl1pPr>
          </a:lstStyle>
          <a:p>
            <a:r>
              <a:rPr lang="en-US" dirty="0"/>
              <a:t>BASIC CONTENT SLIDE</a:t>
            </a:r>
            <a:br>
              <a:rPr lang="en-US" dirty="0"/>
            </a:br>
            <a:r>
              <a:rPr lang="en-US" dirty="0"/>
              <a:t>one or two lines for headline</a:t>
            </a:r>
          </a:p>
        </p:txBody>
      </p:sp>
      <p:sp>
        <p:nvSpPr>
          <p:cNvPr id="6" name="Slide Number Placeholder 5"/>
          <p:cNvSpPr>
            <a:spLocks noGrp="1"/>
          </p:cNvSpPr>
          <p:nvPr>
            <p:ph type="sldNum" sz="quarter" idx="12"/>
          </p:nvPr>
        </p:nvSpPr>
        <p:spPr/>
        <p:txBody>
          <a:bodyPr/>
          <a:lstStyle>
            <a:lvl1pPr>
              <a:defRPr sz="1600"/>
            </a:lvl1pPr>
          </a:lstStyle>
          <a:p>
            <a:fld id="{9CF5EF28-261C-FD41-A360-1A380056DD17}" type="slidenum">
              <a:rPr lang="en-US" smtClean="0"/>
              <a:pPr/>
              <a:t>‹#›</a:t>
            </a:fld>
            <a:endParaRPr lang="en-US" dirty="0"/>
          </a:p>
        </p:txBody>
      </p:sp>
      <p:sp>
        <p:nvSpPr>
          <p:cNvPr id="16" name="Text Placeholder 15">
            <a:extLst>
              <a:ext uri="{FF2B5EF4-FFF2-40B4-BE49-F238E27FC236}">
                <a16:creationId xmlns:a16="http://schemas.microsoft.com/office/drawing/2014/main" id="{5E61F04F-3CF4-D566-EF9D-9CDCD0B98108}"/>
              </a:ext>
            </a:extLst>
          </p:cNvPr>
          <p:cNvSpPr>
            <a:spLocks noGrp="1"/>
          </p:cNvSpPr>
          <p:nvPr>
            <p:ph type="body" sz="quarter" idx="13" hasCustomPrompt="1"/>
          </p:nvPr>
        </p:nvSpPr>
        <p:spPr>
          <a:xfrm>
            <a:off x="609441" y="1325033"/>
            <a:ext cx="11173090" cy="584200"/>
          </a:xfrm>
        </p:spPr>
        <p:txBody>
          <a:bodyPr>
            <a:noAutofit/>
          </a:bodyPr>
          <a:lstStyle>
            <a:lvl1pPr marL="0" indent="0">
              <a:buNone/>
              <a:defRPr sz="2666" b="1" i="0" baseline="0">
                <a:solidFill>
                  <a:schemeClr val="accent2"/>
                </a:solidFill>
                <a:latin typeface="Arial" panose="020B0604020202020204" pitchFamily="34" charset="0"/>
              </a:defRPr>
            </a:lvl1pPr>
          </a:lstStyle>
          <a:p>
            <a:pPr lvl="0"/>
            <a:r>
              <a:rPr lang="en-US" dirty="0"/>
              <a:t>Slide subtitle sentence case. Optional: delete as needed</a:t>
            </a:r>
          </a:p>
        </p:txBody>
      </p:sp>
      <p:sp>
        <p:nvSpPr>
          <p:cNvPr id="18" name="Content Placeholder 17">
            <a:extLst>
              <a:ext uri="{FF2B5EF4-FFF2-40B4-BE49-F238E27FC236}">
                <a16:creationId xmlns:a16="http://schemas.microsoft.com/office/drawing/2014/main" id="{E476E8C9-921B-17FC-9AEA-348F1AA2B0FF}"/>
              </a:ext>
            </a:extLst>
          </p:cNvPr>
          <p:cNvSpPr>
            <a:spLocks noGrp="1"/>
          </p:cNvSpPr>
          <p:nvPr>
            <p:ph sz="quarter" idx="14" hasCustomPrompt="1"/>
          </p:nvPr>
        </p:nvSpPr>
        <p:spPr>
          <a:xfrm>
            <a:off x="609441" y="1909235"/>
            <a:ext cx="9751060" cy="4364567"/>
          </a:xfrm>
        </p:spPr>
        <p:txBody>
          <a:bodyPr/>
          <a:lstStyle/>
          <a:p>
            <a:pPr lvl="0"/>
            <a:r>
              <a:rPr lang="en-US" dirty="0"/>
              <a:t>Click to add 1st-level bullet. Click an icon below to add table, graph or other imagery.</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295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37" r:id="rId3"/>
    <p:sldLayoutId id="2147483939" r:id="rId4"/>
    <p:sldLayoutId id="2147483950" r:id="rId5"/>
    <p:sldLayoutId id="2147483940" r:id="rId6"/>
    <p:sldLayoutId id="2147483941" r:id="rId7"/>
    <p:sldLayoutId id="2147483952" r:id="rId8"/>
    <p:sldLayoutId id="2147483955" r:id="rId9"/>
    <p:sldLayoutId id="2147483956" r:id="rId10"/>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enterprisersproject.com/article/2020/6/technical-debt-explained-plain-english" TargetMode="External"/><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Flash-X/Flash-X/blob/ylee/try_pushTile_spark/source/physics/Hydro/HydroMain/Spark/Hydro_interface.ini"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7C6EFC9D-D056-0758-BDF8-BAB7A5CB5554}"/>
              </a:ext>
            </a:extLst>
          </p:cNvPr>
          <p:cNvSpPr>
            <a:spLocks noGrp="1"/>
          </p:cNvSpPr>
          <p:nvPr>
            <p:ph type="ctrTitle"/>
          </p:nvPr>
        </p:nvSpPr>
        <p:spPr/>
        <p:txBody>
          <a:bodyPr/>
          <a:lstStyle/>
          <a:p>
            <a:r>
              <a:rPr lang="en-US" dirty="0"/>
              <a:t>Scientific Software Design</a:t>
            </a:r>
          </a:p>
        </p:txBody>
      </p:sp>
      <p:sp>
        <p:nvSpPr>
          <p:cNvPr id="3" name="Subtitle 2">
            <a:extLst>
              <a:ext uri="{FF2B5EF4-FFF2-40B4-BE49-F238E27FC236}">
                <a16:creationId xmlns:a16="http://schemas.microsoft.com/office/drawing/2014/main" id="{115D6CAC-8B77-472D-91BE-E47FFB7E8C7A}"/>
              </a:ext>
            </a:extLst>
          </p:cNvPr>
          <p:cNvSpPr>
            <a:spLocks noGrp="1"/>
          </p:cNvSpPr>
          <p:nvPr>
            <p:ph type="body" sz="quarter" idx="10"/>
          </p:nvPr>
        </p:nvSpPr>
        <p:spPr/>
        <p:txBody>
          <a:bodyPr/>
          <a:lstStyle/>
          <a:p>
            <a:endParaRPr lang="en-US" dirty="0">
              <a:solidFill>
                <a:srgbClr val="111111"/>
              </a:solidFill>
              <a:latin typeface="+mn-lt"/>
            </a:endParaRPr>
          </a:p>
        </p:txBody>
      </p:sp>
      <p:sp>
        <p:nvSpPr>
          <p:cNvPr id="6" name="Text Placeholder 5">
            <a:extLst>
              <a:ext uri="{FF2B5EF4-FFF2-40B4-BE49-F238E27FC236}">
                <a16:creationId xmlns:a16="http://schemas.microsoft.com/office/drawing/2014/main" id="{45350191-BDAE-1AFC-C26A-B8F1EB4E82F4}"/>
              </a:ext>
            </a:extLst>
          </p:cNvPr>
          <p:cNvSpPr>
            <a:spLocks noGrp="1"/>
          </p:cNvSpPr>
          <p:nvPr>
            <p:ph type="body" sz="quarter" idx="11"/>
          </p:nvPr>
        </p:nvSpPr>
        <p:spPr>
          <a:xfrm>
            <a:off x="3176924" y="2085870"/>
            <a:ext cx="2034531" cy="424732"/>
          </a:xfrm>
        </p:spPr>
        <p:txBody>
          <a:bodyPr/>
          <a:lstStyle/>
          <a:p>
            <a:r>
              <a:rPr lang="en-US" dirty="0"/>
              <a:t>Anshu Dubey</a:t>
            </a:r>
          </a:p>
        </p:txBody>
      </p:sp>
      <p:sp>
        <p:nvSpPr>
          <p:cNvPr id="8" name="Text Placeholder 7">
            <a:extLst>
              <a:ext uri="{FF2B5EF4-FFF2-40B4-BE49-F238E27FC236}">
                <a16:creationId xmlns:a16="http://schemas.microsoft.com/office/drawing/2014/main" id="{E212497A-1AA2-20D2-4610-7F728D5C612B}"/>
              </a:ext>
            </a:extLst>
          </p:cNvPr>
          <p:cNvSpPr>
            <a:spLocks noGrp="1"/>
          </p:cNvSpPr>
          <p:nvPr>
            <p:ph type="body" sz="quarter" idx="12"/>
          </p:nvPr>
        </p:nvSpPr>
        <p:spPr>
          <a:xfrm>
            <a:off x="5233071" y="2134517"/>
            <a:ext cx="1690167" cy="376085"/>
          </a:xfrm>
        </p:spPr>
        <p:txBody>
          <a:bodyPr/>
          <a:lstStyle/>
          <a:p>
            <a:r>
              <a:rPr lang="en-US" dirty="0"/>
              <a:t>(she/her)</a:t>
            </a:r>
          </a:p>
        </p:txBody>
      </p:sp>
      <p:sp>
        <p:nvSpPr>
          <p:cNvPr id="9" name="Text Placeholder 8">
            <a:extLst>
              <a:ext uri="{FF2B5EF4-FFF2-40B4-BE49-F238E27FC236}">
                <a16:creationId xmlns:a16="http://schemas.microsoft.com/office/drawing/2014/main" id="{B73D3AE9-9DC1-97B7-A7C7-B8155E1C52F1}"/>
              </a:ext>
            </a:extLst>
          </p:cNvPr>
          <p:cNvSpPr>
            <a:spLocks noGrp="1"/>
          </p:cNvSpPr>
          <p:nvPr>
            <p:ph type="body" sz="quarter" idx="13"/>
          </p:nvPr>
        </p:nvSpPr>
        <p:spPr/>
        <p:txBody>
          <a:bodyPr/>
          <a:lstStyle/>
          <a:p>
            <a:r>
              <a:rPr lang="en-US" dirty="0"/>
              <a:t>Argonne National Laboratory</a:t>
            </a:r>
          </a:p>
        </p:txBody>
      </p:sp>
      <p:sp>
        <p:nvSpPr>
          <p:cNvPr id="10" name="Text Placeholder 9">
            <a:extLst>
              <a:ext uri="{FF2B5EF4-FFF2-40B4-BE49-F238E27FC236}">
                <a16:creationId xmlns:a16="http://schemas.microsoft.com/office/drawing/2014/main" id="{0782C515-0750-9E3D-2C19-E510E11E1CB0}"/>
              </a:ext>
            </a:extLst>
          </p:cNvPr>
          <p:cNvSpPr>
            <a:spLocks noGrp="1"/>
          </p:cNvSpPr>
          <p:nvPr>
            <p:ph type="body" sz="quarter" idx="14"/>
          </p:nvPr>
        </p:nvSpPr>
        <p:spPr>
          <a:xfrm>
            <a:off x="3176925" y="3161813"/>
            <a:ext cx="8292316" cy="646331"/>
          </a:xfrm>
        </p:spPr>
        <p:txBody>
          <a:bodyPr/>
          <a:lstStyle/>
          <a:p>
            <a:pPr>
              <a:spcBef>
                <a:spcPts val="2800"/>
              </a:spcBef>
            </a:pPr>
            <a:r>
              <a:rPr lang="en-US" sz="2000" b="0" i="0" dirty="0">
                <a:solidFill>
                  <a:srgbClr val="111111"/>
                </a:solidFill>
                <a:effectLst/>
                <a:latin typeface="+mn-lt"/>
              </a:rPr>
              <a:t>Software Productivity and Sustainability track @ Argonne Training Program on Extreme-Scale Computing summer school</a:t>
            </a:r>
          </a:p>
        </p:txBody>
      </p:sp>
      <p:sp>
        <p:nvSpPr>
          <p:cNvPr id="11" name="Text Placeholder 10">
            <a:extLst>
              <a:ext uri="{FF2B5EF4-FFF2-40B4-BE49-F238E27FC236}">
                <a16:creationId xmlns:a16="http://schemas.microsoft.com/office/drawing/2014/main" id="{F0362F62-5C7E-EE79-280C-5C56945C7D62}"/>
              </a:ext>
            </a:extLst>
          </p:cNvPr>
          <p:cNvSpPr>
            <a:spLocks noGrp="1"/>
          </p:cNvSpPr>
          <p:nvPr>
            <p:ph type="body" sz="quarter" idx="15"/>
          </p:nvPr>
        </p:nvSpPr>
        <p:spPr>
          <a:xfrm>
            <a:off x="3176924" y="4386948"/>
            <a:ext cx="8292316" cy="369332"/>
          </a:xfrm>
        </p:spPr>
        <p:txBody>
          <a:bodyPr/>
          <a:lstStyle/>
          <a:p>
            <a:r>
              <a:rPr lang="en-US" sz="2000" dirty="0">
                <a:latin typeface="+mn-lt"/>
              </a:rPr>
              <a:t>Contributors: Anshu Dubey (ANL), David E. </a:t>
            </a:r>
            <a:r>
              <a:rPr lang="en-US" sz="2000" dirty="0" err="1">
                <a:latin typeface="+mn-lt"/>
              </a:rPr>
              <a:t>Bernholdt</a:t>
            </a:r>
            <a:r>
              <a:rPr lang="en-US" sz="2000" dirty="0">
                <a:latin typeface="+mn-lt"/>
              </a:rPr>
              <a:t> (ORNL) </a:t>
            </a:r>
          </a:p>
        </p:txBody>
      </p:sp>
    </p:spTree>
    <p:extLst>
      <p:ext uri="{BB962C8B-B14F-4D97-AF65-F5344CB8AC3E}">
        <p14:creationId xmlns:p14="http://schemas.microsoft.com/office/powerpoint/2010/main" val="2052365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and Todd Gamblin, Software Productivity and Sustainability track, in Argonne Training Program on Extreme-Scale Computing, St. Charles, Illinois, 2024. DOI: </a:t>
            </a: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03017-A750-F726-3A1A-1F298D2510CB}"/>
              </a:ext>
            </a:extLst>
          </p:cNvPr>
          <p:cNvSpPr>
            <a:spLocks noGrp="1"/>
          </p:cNvSpPr>
          <p:nvPr>
            <p:ph idx="1"/>
          </p:nvPr>
        </p:nvSpPr>
        <p:spPr>
          <a:xfrm>
            <a:off x="264160" y="1179530"/>
            <a:ext cx="11369809" cy="5463866"/>
          </a:xfrm>
        </p:spPr>
        <p:txBody>
          <a:bodyPr>
            <a:normAutofit fontScale="92500" lnSpcReduction="10000"/>
          </a:bodyPr>
          <a:lstStyle/>
          <a:p>
            <a:r>
              <a:rPr lang="en-US" dirty="0"/>
              <a:t>Investing some thought in design of software makes it possible to maintain, reuse and extend it</a:t>
            </a:r>
          </a:p>
          <a:p>
            <a:r>
              <a:rPr lang="en-US" dirty="0"/>
              <a:t>Even if some research software begins its life as a one-off use case, it often gets reused</a:t>
            </a:r>
          </a:p>
          <a:p>
            <a:pPr lvl="1"/>
            <a:r>
              <a:rPr lang="en-US" dirty="0"/>
              <a:t>Without proper design it is likely to accrete features haphazardly and become a monstrosity</a:t>
            </a:r>
          </a:p>
          <a:p>
            <a:pPr lvl="2"/>
            <a:r>
              <a:rPr lang="en-US" dirty="0"/>
              <a:t>Acquires a lot of technical debt in the process</a:t>
            </a:r>
          </a:p>
          <a:p>
            <a:pPr marL="684212" lvl="2" indent="0">
              <a:buNone/>
            </a:pPr>
            <a:endParaRPr lang="en-US" dirty="0"/>
          </a:p>
          <a:p>
            <a:pPr marL="684212" lvl="2" indent="0">
              <a:buNone/>
            </a:pPr>
            <a:endParaRPr lang="en-US" dirty="0"/>
          </a:p>
          <a:p>
            <a:pPr marL="684212" lvl="2" indent="0">
              <a:buNone/>
            </a:pPr>
            <a:endParaRPr lang="en-US" dirty="0"/>
          </a:p>
          <a:p>
            <a:pPr marL="684212" lvl="2" indent="0">
              <a:buNone/>
            </a:pPr>
            <a:endParaRPr lang="en-US" dirty="0"/>
          </a:p>
          <a:p>
            <a:pPr marL="684212" lvl="2" indent="0">
              <a:buNone/>
            </a:pPr>
            <a:endParaRPr lang="en-US" dirty="0"/>
          </a:p>
          <a:p>
            <a:pPr lvl="1"/>
            <a:r>
              <a:rPr lang="en-US" dirty="0"/>
              <a:t>Many projects have had this happen </a:t>
            </a:r>
          </a:p>
          <a:p>
            <a:pPr lvl="1"/>
            <a:r>
              <a:rPr lang="en-US" dirty="0"/>
              <a:t>Most end up with a hard reset and start over again</a:t>
            </a:r>
          </a:p>
          <a:p>
            <a:r>
              <a:rPr lang="en-US" dirty="0"/>
              <a:t>In this module we will cover general design principles and those that are tailored for scientific software</a:t>
            </a:r>
          </a:p>
          <a:p>
            <a:r>
              <a:rPr lang="en-US" dirty="0"/>
              <a:t>We will also work through two use cases</a:t>
            </a:r>
          </a:p>
          <a:p>
            <a:pPr lvl="1"/>
            <a:endParaRPr lang="en-US" dirty="0"/>
          </a:p>
          <a:p>
            <a:pPr lvl="1"/>
            <a:endParaRPr lang="en-US" dirty="0"/>
          </a:p>
        </p:txBody>
      </p:sp>
      <p:pic>
        <p:nvPicPr>
          <p:cNvPr id="5" name="Picture 4">
            <a:extLst>
              <a:ext uri="{FF2B5EF4-FFF2-40B4-BE49-F238E27FC236}">
                <a16:creationId xmlns:a16="http://schemas.microsoft.com/office/drawing/2014/main" id="{99A98424-DF69-F563-EAF8-0B9FA5C1E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6740" y="2820811"/>
            <a:ext cx="7772400" cy="1433854"/>
          </a:xfrm>
          <a:prstGeom prst="rect">
            <a:avLst/>
          </a:prstGeom>
        </p:spPr>
      </p:pic>
      <p:sp>
        <p:nvSpPr>
          <p:cNvPr id="6" name="TextBox 5">
            <a:extLst>
              <a:ext uri="{FF2B5EF4-FFF2-40B4-BE49-F238E27FC236}">
                <a16:creationId xmlns:a16="http://schemas.microsoft.com/office/drawing/2014/main" id="{76BCF9A1-D400-15E1-16EA-AD709D26B994}"/>
              </a:ext>
            </a:extLst>
          </p:cNvPr>
          <p:cNvSpPr txBox="1"/>
          <p:nvPr/>
        </p:nvSpPr>
        <p:spPr>
          <a:xfrm>
            <a:off x="2325511" y="4065382"/>
            <a:ext cx="8046690" cy="378565"/>
          </a:xfrm>
          <a:prstGeom prst="rect">
            <a:avLst/>
          </a:prstGeom>
          <a:noFill/>
        </p:spPr>
        <p:txBody>
          <a:bodyPr wrap="none" lIns="118872" tIns="91440" rIns="118872" bIns="91440" rtlCol="0" anchor="ctr" anchorCtr="0">
            <a:spAutoFit/>
          </a:bodyPr>
          <a:lstStyle/>
          <a:p>
            <a:pPr algn="l">
              <a:lnSpc>
                <a:spcPct val="90000"/>
              </a:lnSpc>
            </a:pPr>
            <a:r>
              <a:rPr lang="en-US" sz="1400" dirty="0"/>
              <a:t> definition from </a:t>
            </a:r>
            <a:r>
              <a:rPr lang="en-US" sz="1400" dirty="0">
                <a:hlinkClick r:id="rId3"/>
              </a:rPr>
              <a:t>https://enterprisersproject.com/article/2020/6/technical-debt-explained-plain-english</a:t>
            </a:r>
            <a:endParaRPr lang="en-US" sz="1400" dirty="0"/>
          </a:p>
        </p:txBody>
      </p:sp>
      <p:sp>
        <p:nvSpPr>
          <p:cNvPr id="2" name="Title 1">
            <a:extLst>
              <a:ext uri="{FF2B5EF4-FFF2-40B4-BE49-F238E27FC236}">
                <a16:creationId xmlns:a16="http://schemas.microsoft.com/office/drawing/2014/main" id="{21A7FE85-F68E-DA20-11B5-9FB90BB9AF7B}"/>
              </a:ext>
            </a:extLst>
          </p:cNvPr>
          <p:cNvSpPr>
            <a:spLocks noGrp="1"/>
          </p:cNvSpPr>
          <p:nvPr>
            <p:ph type="title"/>
          </p:nvPr>
        </p:nvSpPr>
        <p:spPr>
          <a:xfrm>
            <a:off x="365760" y="411480"/>
            <a:ext cx="11372473" cy="914400"/>
          </a:xfrm>
        </p:spPr>
        <p:txBody>
          <a:bodyPr/>
          <a:lstStyle/>
          <a:p>
            <a:r>
              <a:rPr lang="en-US" dirty="0"/>
              <a:t>Introduction</a:t>
            </a:r>
          </a:p>
        </p:txBody>
      </p:sp>
    </p:spTree>
    <p:extLst>
      <p:ext uri="{BB962C8B-B14F-4D97-AF65-F5344CB8AC3E}">
        <p14:creationId xmlns:p14="http://schemas.microsoft.com/office/powerpoint/2010/main" val="332447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885C9-0085-AB61-AB08-70EECA001F0C}"/>
              </a:ext>
            </a:extLst>
          </p:cNvPr>
          <p:cNvSpPr>
            <a:spLocks noGrp="1"/>
          </p:cNvSpPr>
          <p:nvPr>
            <p:ph type="title"/>
          </p:nvPr>
        </p:nvSpPr>
        <p:spPr/>
        <p:txBody>
          <a:bodyPr/>
          <a:lstStyle/>
          <a:p>
            <a:r>
              <a:rPr lang="en-US" dirty="0"/>
              <a:t>Designing Software – High Level Phases</a:t>
            </a:r>
          </a:p>
        </p:txBody>
      </p:sp>
      <p:sp>
        <p:nvSpPr>
          <p:cNvPr id="4" name="Rounded Rectangle 3">
            <a:extLst>
              <a:ext uri="{FF2B5EF4-FFF2-40B4-BE49-F238E27FC236}">
                <a16:creationId xmlns:a16="http://schemas.microsoft.com/office/drawing/2014/main" id="{1FA50980-32EC-326F-85DD-3CF03094F555}"/>
              </a:ext>
            </a:extLst>
          </p:cNvPr>
          <p:cNvSpPr/>
          <p:nvPr/>
        </p:nvSpPr>
        <p:spPr>
          <a:xfrm>
            <a:off x="357782" y="2204476"/>
            <a:ext cx="3036711"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Features and capabilities</a:t>
            </a:r>
          </a:p>
          <a:p>
            <a:pPr marL="342900" indent="-342900">
              <a:buFont typeface="Wingdings" pitchFamily="2" charset="2"/>
              <a:buChar char="q"/>
            </a:pPr>
            <a:r>
              <a:rPr lang="en-US" sz="2400" dirty="0"/>
              <a:t>Constraints</a:t>
            </a:r>
          </a:p>
          <a:p>
            <a:pPr marL="342900" indent="-342900">
              <a:buFont typeface="Wingdings" pitchFamily="2" charset="2"/>
              <a:buChar char="q"/>
            </a:pPr>
            <a:r>
              <a:rPr lang="en-US" sz="2400" dirty="0"/>
              <a:t>Limitations</a:t>
            </a:r>
          </a:p>
          <a:p>
            <a:pPr marL="342900" indent="-342900">
              <a:buFont typeface="Wingdings" pitchFamily="2" charset="2"/>
              <a:buChar char="q"/>
            </a:pPr>
            <a:r>
              <a:rPr lang="en-US" sz="2400" dirty="0"/>
              <a:t>Target users</a:t>
            </a:r>
          </a:p>
          <a:p>
            <a:pPr marL="342900" indent="-342900">
              <a:buFont typeface="Wingdings" pitchFamily="2" charset="2"/>
              <a:buChar char="q"/>
            </a:pPr>
            <a:r>
              <a:rPr lang="en-US" sz="2400" dirty="0"/>
              <a:t>Other …..</a:t>
            </a:r>
          </a:p>
        </p:txBody>
      </p:sp>
      <p:sp>
        <p:nvSpPr>
          <p:cNvPr id="5" name="TextBox 4">
            <a:extLst>
              <a:ext uri="{FF2B5EF4-FFF2-40B4-BE49-F238E27FC236}">
                <a16:creationId xmlns:a16="http://schemas.microsoft.com/office/drawing/2014/main" id="{FA0D9DE4-2E38-ADA4-2111-58E62395D1CF}"/>
              </a:ext>
            </a:extLst>
          </p:cNvPr>
          <p:cNvSpPr txBox="1"/>
          <p:nvPr/>
        </p:nvSpPr>
        <p:spPr>
          <a:xfrm>
            <a:off x="827790" y="1253483"/>
            <a:ext cx="2243819" cy="1098762"/>
          </a:xfrm>
          <a:prstGeom prst="rect">
            <a:avLst/>
          </a:prstGeom>
          <a:noFill/>
        </p:spPr>
        <p:txBody>
          <a:bodyPr wrap="none" lIns="118872" tIns="91440" rIns="118872" bIns="91440" rtlCol="0" anchor="ctr" anchorCtr="0">
            <a:spAutoFit/>
          </a:bodyPr>
          <a:lstStyle/>
          <a:p>
            <a:pPr>
              <a:lnSpc>
                <a:spcPct val="90000"/>
              </a:lnSpc>
            </a:pPr>
            <a:r>
              <a:rPr lang="en-US" sz="2400" dirty="0"/>
              <a:t>Requirements </a:t>
            </a:r>
          </a:p>
          <a:p>
            <a:pPr>
              <a:lnSpc>
                <a:spcPct val="90000"/>
              </a:lnSpc>
            </a:pPr>
            <a:r>
              <a:rPr lang="en-US" sz="2400" dirty="0"/>
              <a:t>gathering</a:t>
            </a:r>
          </a:p>
          <a:p>
            <a:pPr algn="l">
              <a:lnSpc>
                <a:spcPct val="90000"/>
              </a:lnSpc>
            </a:pPr>
            <a:endParaRPr lang="en-US" dirty="0"/>
          </a:p>
        </p:txBody>
      </p:sp>
      <p:sp>
        <p:nvSpPr>
          <p:cNvPr id="6" name="Rounded Rectangle 5">
            <a:extLst>
              <a:ext uri="{FF2B5EF4-FFF2-40B4-BE49-F238E27FC236}">
                <a16:creationId xmlns:a16="http://schemas.microsoft.com/office/drawing/2014/main" id="{4C39241D-5C09-4307-67AD-F23DB0AB60AA}"/>
              </a:ext>
            </a:extLst>
          </p:cNvPr>
          <p:cNvSpPr/>
          <p:nvPr/>
        </p:nvSpPr>
        <p:spPr>
          <a:xfrm>
            <a:off x="3579447" y="2204476"/>
            <a:ext cx="3617417"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design space</a:t>
            </a:r>
          </a:p>
          <a:p>
            <a:pPr marL="342900" indent="-342900">
              <a:buFont typeface="Wingdings" pitchFamily="2" charset="2"/>
              <a:buChar char="q"/>
            </a:pPr>
            <a:r>
              <a:rPr lang="en-US" sz="2400" dirty="0"/>
              <a:t>Decompose into high level components</a:t>
            </a:r>
          </a:p>
          <a:p>
            <a:pPr marL="342900" indent="-342900">
              <a:buFont typeface="Wingdings" pitchFamily="2" charset="2"/>
              <a:buChar char="q"/>
            </a:pPr>
            <a:r>
              <a:rPr lang="en-US" sz="2400" dirty="0"/>
              <a:t>Bin components into types</a:t>
            </a:r>
          </a:p>
        </p:txBody>
      </p:sp>
      <p:sp>
        <p:nvSpPr>
          <p:cNvPr id="7" name="TextBox 6">
            <a:extLst>
              <a:ext uri="{FF2B5EF4-FFF2-40B4-BE49-F238E27FC236}">
                <a16:creationId xmlns:a16="http://schemas.microsoft.com/office/drawing/2014/main" id="{2633D9E3-0DB7-838E-127A-B1FC97FE7133}"/>
              </a:ext>
            </a:extLst>
          </p:cNvPr>
          <p:cNvSpPr txBox="1"/>
          <p:nvPr/>
        </p:nvSpPr>
        <p:spPr>
          <a:xfrm>
            <a:off x="4163653" y="1431575"/>
            <a:ext cx="2449004" cy="766364"/>
          </a:xfrm>
          <a:prstGeom prst="rect">
            <a:avLst/>
          </a:prstGeom>
          <a:noFill/>
        </p:spPr>
        <p:txBody>
          <a:bodyPr wrap="none" lIns="118872" tIns="91440" rIns="118872" bIns="91440" rtlCol="0" anchor="ctr" anchorCtr="0">
            <a:spAutoFit/>
          </a:bodyPr>
          <a:lstStyle/>
          <a:p>
            <a:pPr>
              <a:lnSpc>
                <a:spcPct val="90000"/>
              </a:lnSpc>
            </a:pPr>
            <a:r>
              <a:rPr lang="en-US" sz="2400" dirty="0"/>
              <a:t> Decomposition </a:t>
            </a:r>
          </a:p>
          <a:p>
            <a:pPr algn="l">
              <a:lnSpc>
                <a:spcPct val="90000"/>
              </a:lnSpc>
            </a:pPr>
            <a:endParaRPr lang="en-US" dirty="0"/>
          </a:p>
        </p:txBody>
      </p:sp>
      <p:sp>
        <p:nvSpPr>
          <p:cNvPr id="8" name="Rounded Rectangle 7">
            <a:extLst>
              <a:ext uri="{FF2B5EF4-FFF2-40B4-BE49-F238E27FC236}">
                <a16:creationId xmlns:a16="http://schemas.microsoft.com/office/drawing/2014/main" id="{AB44A520-B698-3423-B712-EB569E19AB6A}"/>
              </a:ext>
            </a:extLst>
          </p:cNvPr>
          <p:cNvSpPr/>
          <p:nvPr/>
        </p:nvSpPr>
        <p:spPr>
          <a:xfrm>
            <a:off x="7435818" y="2204476"/>
            <a:ext cx="3868204" cy="3485124"/>
          </a:xfrm>
          <a:prstGeom prst="roundRect">
            <a:avLst/>
          </a:prstGeom>
          <a:solidFill>
            <a:schemeClr val="accent3"/>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marL="342900" indent="-342900">
              <a:buFont typeface="Wingdings" pitchFamily="2" charset="2"/>
              <a:buChar char="q"/>
            </a:pPr>
            <a:r>
              <a:rPr lang="en-US" sz="2400" dirty="0"/>
              <a:t>Understand component hierarchy</a:t>
            </a:r>
          </a:p>
          <a:p>
            <a:pPr marL="342900" indent="-342900">
              <a:buFont typeface="Wingdings" pitchFamily="2" charset="2"/>
              <a:buChar char="q"/>
            </a:pPr>
            <a:r>
              <a:rPr lang="en-US" sz="2400" dirty="0"/>
              <a:t>Figure out connectivity among components </a:t>
            </a:r>
          </a:p>
          <a:p>
            <a:pPr marL="342900" indent="-342900">
              <a:buFont typeface="Wingdings" pitchFamily="2" charset="2"/>
              <a:buChar char="q"/>
            </a:pPr>
            <a:r>
              <a:rPr lang="en-US" sz="2400" dirty="0"/>
              <a:t>Articulate dependencies</a:t>
            </a:r>
          </a:p>
        </p:txBody>
      </p:sp>
      <p:sp>
        <p:nvSpPr>
          <p:cNvPr id="10" name="TextBox 9">
            <a:extLst>
              <a:ext uri="{FF2B5EF4-FFF2-40B4-BE49-F238E27FC236}">
                <a16:creationId xmlns:a16="http://schemas.microsoft.com/office/drawing/2014/main" id="{69FE6956-13C8-A349-28BA-03AEB7764C04}"/>
              </a:ext>
            </a:extLst>
          </p:cNvPr>
          <p:cNvSpPr txBox="1"/>
          <p:nvPr/>
        </p:nvSpPr>
        <p:spPr>
          <a:xfrm>
            <a:off x="8311628" y="1398929"/>
            <a:ext cx="1918410" cy="766364"/>
          </a:xfrm>
          <a:prstGeom prst="rect">
            <a:avLst/>
          </a:prstGeom>
          <a:noFill/>
        </p:spPr>
        <p:txBody>
          <a:bodyPr wrap="none" lIns="118872" tIns="91440" rIns="118872" bIns="91440" rtlCol="0" anchor="ctr" anchorCtr="0">
            <a:spAutoFit/>
          </a:bodyPr>
          <a:lstStyle/>
          <a:p>
            <a:pPr>
              <a:lnSpc>
                <a:spcPct val="90000"/>
              </a:lnSpc>
            </a:pPr>
            <a:r>
              <a:rPr lang="en-US" sz="2400" dirty="0"/>
              <a:t>Connectivity</a:t>
            </a:r>
          </a:p>
          <a:p>
            <a:pPr algn="l">
              <a:lnSpc>
                <a:spcPct val="90000"/>
              </a:lnSpc>
            </a:pPr>
            <a:endParaRPr lang="en-US" dirty="0"/>
          </a:p>
        </p:txBody>
      </p:sp>
    </p:spTree>
    <p:extLst>
      <p:ext uri="{BB962C8B-B14F-4D97-AF65-F5344CB8AC3E}">
        <p14:creationId xmlns:p14="http://schemas.microsoft.com/office/powerpoint/2010/main" val="1703872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7A2BF5-DB7A-E642-B501-8F10E157011B}"/>
              </a:ext>
            </a:extLst>
          </p:cNvPr>
          <p:cNvSpPr>
            <a:spLocks noGrp="1"/>
          </p:cNvSpPr>
          <p:nvPr>
            <p:ph type="title"/>
          </p:nvPr>
        </p:nvSpPr>
        <p:spPr>
          <a:xfrm>
            <a:off x="408175" y="325677"/>
            <a:ext cx="11372473" cy="914400"/>
          </a:xfrm>
        </p:spPr>
        <p:txBody>
          <a:bodyPr/>
          <a:lstStyle/>
          <a:p>
            <a:r>
              <a:rPr lang="en-US" dirty="0"/>
              <a:t>Simple Use Case</a:t>
            </a:r>
          </a:p>
        </p:txBody>
      </p:sp>
      <p:pic>
        <p:nvPicPr>
          <p:cNvPr id="9" name="Picture 8">
            <a:extLst>
              <a:ext uri="{FF2B5EF4-FFF2-40B4-BE49-F238E27FC236}">
                <a16:creationId xmlns:a16="http://schemas.microsoft.com/office/drawing/2014/main" id="{AE2A18EF-B7B7-3BFF-3446-1640D1EE8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5850" y="774477"/>
            <a:ext cx="6422975" cy="5636714"/>
          </a:xfrm>
          <a:prstGeom prst="rect">
            <a:avLst/>
          </a:prstGeom>
        </p:spPr>
      </p:pic>
      <p:sp>
        <p:nvSpPr>
          <p:cNvPr id="7" name="Content Placeholder 2">
            <a:extLst>
              <a:ext uri="{FF2B5EF4-FFF2-40B4-BE49-F238E27FC236}">
                <a16:creationId xmlns:a16="http://schemas.microsoft.com/office/drawing/2014/main" id="{14B3EC23-1E23-7B12-7FBA-74C62ABC42A1}"/>
              </a:ext>
            </a:extLst>
          </p:cNvPr>
          <p:cNvSpPr>
            <a:spLocks noGrp="1"/>
          </p:cNvSpPr>
          <p:nvPr>
            <p:ph idx="1"/>
          </p:nvPr>
        </p:nvSpPr>
        <p:spPr>
          <a:xfrm>
            <a:off x="140410" y="895609"/>
            <a:ext cx="6196222" cy="5636714"/>
          </a:xfrm>
        </p:spPr>
        <p:txBody>
          <a:bodyPr>
            <a:normAutofit fontScale="77500" lnSpcReduction="20000"/>
          </a:bodyPr>
          <a:lstStyle/>
          <a:p>
            <a:r>
              <a:rPr lang="en-US" sz="2800" dirty="0"/>
              <a:t>Many applications combine mesh and particles</a:t>
            </a:r>
          </a:p>
          <a:p>
            <a:pPr lvl="1"/>
            <a:r>
              <a:rPr lang="en-US" sz="2400" dirty="0"/>
              <a:t>Particles have positions associated with them</a:t>
            </a:r>
          </a:p>
          <a:p>
            <a:pPr lvl="1"/>
            <a:r>
              <a:rPr lang="en-US" sz="2400" dirty="0"/>
              <a:t>They interchange physical quantities with the mesh</a:t>
            </a:r>
          </a:p>
          <a:p>
            <a:pPr lvl="1"/>
            <a:r>
              <a:rPr lang="en-US" sz="2400" dirty="0"/>
              <a:t>They change positions based on interactions</a:t>
            </a:r>
          </a:p>
          <a:p>
            <a:r>
              <a:rPr lang="en-US" sz="2800" dirty="0"/>
              <a:t>We will build a uniformly discretized 2D cartesian mesh and initialize with a lattice of particles</a:t>
            </a:r>
          </a:p>
          <a:p>
            <a:pPr lvl="1"/>
            <a:r>
              <a:rPr lang="en-US" sz="2400" dirty="0"/>
              <a:t>We will divide the mesh into blocks</a:t>
            </a:r>
          </a:p>
          <a:p>
            <a:pPr lvl="1"/>
            <a:r>
              <a:rPr lang="en-US" sz="2400" dirty="0"/>
              <a:t>We will associate each particle with a single block</a:t>
            </a:r>
          </a:p>
          <a:p>
            <a:pPr lvl="1"/>
            <a:r>
              <a:rPr lang="en-US" sz="2400" dirty="0"/>
              <a:t>We will move particles to different locations which may change the block they are associated with </a:t>
            </a:r>
          </a:p>
          <a:p>
            <a:pPr lvl="1"/>
            <a:r>
              <a:rPr lang="en-US" sz="2600" dirty="0"/>
              <a:t>We will need to handle particles that leave the domain</a:t>
            </a:r>
          </a:p>
          <a:p>
            <a:r>
              <a:rPr lang="en-US" sz="2800" dirty="0"/>
              <a:t>To make sure that we are doing it correctly we need</a:t>
            </a:r>
          </a:p>
          <a:p>
            <a:pPr lvl="1"/>
            <a:r>
              <a:rPr lang="en-US" sz="2400" dirty="0"/>
              <a:t>Ways of verifying that particle is associated with the right block</a:t>
            </a:r>
          </a:p>
          <a:p>
            <a:endParaRPr lang="en-US" dirty="0"/>
          </a:p>
        </p:txBody>
      </p:sp>
    </p:spTree>
    <p:extLst>
      <p:ext uri="{BB962C8B-B14F-4D97-AF65-F5344CB8AC3E}">
        <p14:creationId xmlns:p14="http://schemas.microsoft.com/office/powerpoint/2010/main" val="387887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A06E-A4E1-9519-6CEC-5B4B39A0E042}"/>
              </a:ext>
            </a:extLst>
          </p:cNvPr>
          <p:cNvSpPr>
            <a:spLocks noGrp="1"/>
          </p:cNvSpPr>
          <p:nvPr>
            <p:ph type="title"/>
          </p:nvPr>
        </p:nvSpPr>
        <p:spPr/>
        <p:txBody>
          <a:bodyPr/>
          <a:lstStyle/>
          <a:p>
            <a:r>
              <a:rPr lang="en-US" dirty="0"/>
              <a:t>Requirements gathering </a:t>
            </a:r>
          </a:p>
        </p:txBody>
      </p:sp>
      <p:sp>
        <p:nvSpPr>
          <p:cNvPr id="3" name="Content Placeholder 2">
            <a:extLst>
              <a:ext uri="{FF2B5EF4-FFF2-40B4-BE49-F238E27FC236}">
                <a16:creationId xmlns:a16="http://schemas.microsoft.com/office/drawing/2014/main" id="{AA632C3A-E42B-55EE-B676-A76A379F5AD8}"/>
              </a:ext>
            </a:extLst>
          </p:cNvPr>
          <p:cNvSpPr>
            <a:spLocks noGrp="1"/>
          </p:cNvSpPr>
          <p:nvPr>
            <p:ph idx="1"/>
          </p:nvPr>
        </p:nvSpPr>
        <p:spPr>
          <a:xfrm>
            <a:off x="1135018" y="1432558"/>
            <a:ext cx="9242695" cy="4489269"/>
          </a:xfrm>
        </p:spPr>
        <p:txBody>
          <a:bodyPr/>
          <a:lstStyle/>
          <a:p>
            <a:r>
              <a:rPr lang="en-US" sz="2800" dirty="0"/>
              <a:t>Components we need</a:t>
            </a:r>
          </a:p>
          <a:p>
            <a:pPr lvl="1"/>
            <a:r>
              <a:rPr lang="en-US" dirty="0"/>
              <a:t>Mesh generator – with mesh divided into blocks</a:t>
            </a:r>
          </a:p>
          <a:p>
            <a:pPr lvl="1"/>
            <a:r>
              <a:rPr lang="en-US" dirty="0"/>
              <a:t>Particles generator – in a 2D lattice</a:t>
            </a:r>
          </a:p>
          <a:p>
            <a:pPr lvl="1"/>
            <a:r>
              <a:rPr lang="en-US" dirty="0"/>
              <a:t>For each particle ability to locate the block  on which the particle resides</a:t>
            </a:r>
          </a:p>
          <a:p>
            <a:pPr lvl="1"/>
            <a:r>
              <a:rPr lang="en-US" dirty="0"/>
              <a:t>Making the particles change position</a:t>
            </a:r>
          </a:p>
          <a:p>
            <a:r>
              <a:rPr lang="en-US" sz="2800" dirty="0"/>
              <a:t>To verify that we are doing it correctly we need to make sure that </a:t>
            </a:r>
          </a:p>
          <a:p>
            <a:pPr lvl="1"/>
            <a:r>
              <a:rPr lang="en-US" dirty="0"/>
              <a:t>The mesh is generated correctly</a:t>
            </a:r>
          </a:p>
          <a:p>
            <a:pPr lvl="1"/>
            <a:r>
              <a:rPr lang="en-US" dirty="0"/>
              <a:t>The particles are initialized in a lattice and associated with blocks correctly</a:t>
            </a:r>
          </a:p>
          <a:p>
            <a:pPr lvl="1"/>
            <a:r>
              <a:rPr lang="en-US" dirty="0"/>
              <a:t>After moving the particles change their associations correctly</a:t>
            </a:r>
          </a:p>
          <a:p>
            <a:pPr lvl="1"/>
            <a:endParaRPr lang="en-US" dirty="0"/>
          </a:p>
          <a:p>
            <a:pPr lvl="1"/>
            <a:endParaRPr lang="en-US" dirty="0"/>
          </a:p>
          <a:p>
            <a:pPr lvl="1"/>
            <a:endParaRPr lang="en-US" sz="2400" dirty="0"/>
          </a:p>
          <a:p>
            <a:endParaRPr lang="en-US" dirty="0"/>
          </a:p>
        </p:txBody>
      </p:sp>
    </p:spTree>
    <p:extLst>
      <p:ext uri="{BB962C8B-B14F-4D97-AF65-F5344CB8AC3E}">
        <p14:creationId xmlns:p14="http://schemas.microsoft.com/office/powerpoint/2010/main" val="1028985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D41C-1F2F-0CD9-BD98-5C268144F0F1}"/>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86A1A1D-89C4-8A73-4364-CBEAE0130AEC}"/>
              </a:ext>
            </a:extLst>
          </p:cNvPr>
          <p:cNvSpPr>
            <a:spLocks noGrp="1"/>
          </p:cNvSpPr>
          <p:nvPr>
            <p:ph idx="1"/>
          </p:nvPr>
        </p:nvSpPr>
        <p:spPr>
          <a:xfrm>
            <a:off x="365760" y="1029546"/>
            <a:ext cx="4352996" cy="4798907"/>
          </a:xfrm>
        </p:spPr>
        <p:txBody>
          <a:bodyPr/>
          <a:lstStyle/>
          <a:p>
            <a:pPr marL="0" indent="0" algn="ctr">
              <a:buNone/>
            </a:pPr>
            <a:r>
              <a:rPr lang="en-US" dirty="0"/>
              <a:t>This is a small design space</a:t>
            </a:r>
          </a:p>
          <a:p>
            <a:pPr>
              <a:buClr>
                <a:srgbClr val="C00000"/>
              </a:buClr>
              <a:buFont typeface="Wingdings" pitchFamily="2" charset="2"/>
              <a:buChar char="q"/>
            </a:pPr>
            <a:r>
              <a:rPr lang="en-US" dirty="0"/>
              <a:t>Several requirements can directly map to components </a:t>
            </a:r>
          </a:p>
          <a:p>
            <a:pPr lvl="1">
              <a:buClr>
                <a:srgbClr val="C00000"/>
              </a:buClr>
              <a:buFont typeface="Wingdings" pitchFamily="2" charset="2"/>
              <a:buChar char="q"/>
            </a:pPr>
            <a:r>
              <a:rPr lang="en-US" dirty="0"/>
              <a:t>Driver</a:t>
            </a:r>
          </a:p>
          <a:p>
            <a:pPr lvl="1">
              <a:buClr>
                <a:srgbClr val="C00000"/>
              </a:buClr>
              <a:buFont typeface="Wingdings" pitchFamily="2" charset="2"/>
              <a:buChar char="q"/>
            </a:pPr>
            <a:r>
              <a:rPr lang="en-US" dirty="0"/>
              <a:t>Mesh initialization </a:t>
            </a:r>
          </a:p>
          <a:p>
            <a:pPr lvl="2">
              <a:buClr>
                <a:srgbClr val="C00000"/>
              </a:buClr>
              <a:buFont typeface="Wingdings" pitchFamily="2" charset="2"/>
              <a:buChar char="q"/>
            </a:pPr>
            <a:r>
              <a:rPr lang="en-US" dirty="0"/>
              <a:t>Data structure</a:t>
            </a:r>
          </a:p>
          <a:p>
            <a:pPr lvl="2">
              <a:buClr>
                <a:srgbClr val="C00000"/>
              </a:buClr>
              <a:buFont typeface="Wingdings" pitchFamily="2" charset="2"/>
              <a:buChar char="q"/>
            </a:pPr>
            <a:r>
              <a:rPr lang="en-US" dirty="0"/>
              <a:t>Division into blocks</a:t>
            </a:r>
          </a:p>
          <a:p>
            <a:pPr lvl="1">
              <a:buClr>
                <a:srgbClr val="C00000"/>
              </a:buClr>
              <a:buFont typeface="Wingdings" pitchFamily="2" charset="2"/>
              <a:buChar char="q"/>
            </a:pPr>
            <a:r>
              <a:rPr lang="en-US" dirty="0"/>
              <a:t>Particle initialization</a:t>
            </a:r>
          </a:p>
          <a:p>
            <a:pPr lvl="2">
              <a:buClr>
                <a:srgbClr val="C00000"/>
              </a:buClr>
              <a:buFont typeface="Wingdings" pitchFamily="2" charset="2"/>
              <a:buChar char="q"/>
            </a:pPr>
            <a:r>
              <a:rPr lang="en-US" dirty="0"/>
              <a:t>Position</a:t>
            </a:r>
          </a:p>
          <a:p>
            <a:pPr lvl="2">
              <a:buClr>
                <a:srgbClr val="C00000"/>
              </a:buClr>
              <a:buFont typeface="Wingdings" pitchFamily="2" charset="2"/>
              <a:buChar char="q"/>
            </a:pPr>
            <a:r>
              <a:rPr lang="en-US" dirty="0"/>
              <a:t>Association with a mesh block</a:t>
            </a:r>
          </a:p>
          <a:p>
            <a:pPr lvl="1">
              <a:buClr>
                <a:srgbClr val="C00000"/>
              </a:buClr>
              <a:buFont typeface="Wingdings" pitchFamily="2" charset="2"/>
              <a:buChar char="q"/>
            </a:pPr>
            <a:r>
              <a:rPr lang="en-US" dirty="0"/>
              <a:t>Particle mover</a:t>
            </a:r>
          </a:p>
          <a:p>
            <a:pPr lvl="1">
              <a:buClr>
                <a:srgbClr val="C00000"/>
              </a:buClr>
              <a:buFont typeface="Wingdings" pitchFamily="2" charset="2"/>
              <a:buChar char="q"/>
            </a:pPr>
            <a:r>
              <a:rPr lang="en-US" dirty="0"/>
              <a:t>Tests</a:t>
            </a:r>
          </a:p>
          <a:p>
            <a:endParaRPr lang="en-US" dirty="0"/>
          </a:p>
          <a:p>
            <a:pPr lvl="2"/>
            <a:endParaRPr lang="en-US" dirty="0"/>
          </a:p>
        </p:txBody>
      </p:sp>
      <p:sp>
        <p:nvSpPr>
          <p:cNvPr id="4" name="Content Placeholder 2">
            <a:extLst>
              <a:ext uri="{FF2B5EF4-FFF2-40B4-BE49-F238E27FC236}">
                <a16:creationId xmlns:a16="http://schemas.microsoft.com/office/drawing/2014/main" id="{0591D631-CE85-82AC-5579-D9B9D0EDD0CE}"/>
              </a:ext>
            </a:extLst>
          </p:cNvPr>
          <p:cNvSpPr txBox="1">
            <a:spLocks/>
          </p:cNvSpPr>
          <p:nvPr/>
        </p:nvSpPr>
        <p:spPr bwMode="auto">
          <a:xfrm>
            <a:off x="5455004" y="1119293"/>
            <a:ext cx="6368061" cy="47091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dirty="0"/>
              <a:t>Binning components</a:t>
            </a:r>
          </a:p>
          <a:p>
            <a:r>
              <a:rPr lang="en-US" dirty="0"/>
              <a:t>Infrastructure Components</a:t>
            </a:r>
          </a:p>
          <a:p>
            <a:pPr lvl="1"/>
            <a:r>
              <a:rPr lang="en-US" dirty="0"/>
              <a:t>Driver</a:t>
            </a:r>
          </a:p>
          <a:p>
            <a:pPr lvl="1"/>
            <a:r>
              <a:rPr lang="en-US" dirty="0"/>
              <a:t>Initialization </a:t>
            </a:r>
          </a:p>
          <a:p>
            <a:pPr lvl="2"/>
            <a:r>
              <a:rPr lang="en-US" dirty="0"/>
              <a:t>Mesh with division into blocks</a:t>
            </a:r>
          </a:p>
          <a:p>
            <a:pPr lvl="2"/>
            <a:r>
              <a:rPr lang="en-US" dirty="0"/>
              <a:t>Particles position</a:t>
            </a:r>
          </a:p>
          <a:p>
            <a:pPr lvl="1"/>
            <a:r>
              <a:rPr lang="en-US" dirty="0"/>
              <a:t>Association with a mesh block</a:t>
            </a:r>
          </a:p>
          <a:p>
            <a:r>
              <a:rPr lang="en-US" dirty="0"/>
              <a:t>Components that are specific to one instance</a:t>
            </a:r>
          </a:p>
          <a:p>
            <a:pPr lvl="1"/>
            <a:r>
              <a:rPr lang="en-US" dirty="0"/>
              <a:t>Boundary conditions</a:t>
            </a:r>
          </a:p>
          <a:p>
            <a:pPr lvl="1"/>
            <a:r>
              <a:rPr lang="en-US" dirty="0"/>
              <a:t>Particle mover</a:t>
            </a:r>
          </a:p>
          <a:p>
            <a:r>
              <a:rPr lang="en-US" dirty="0"/>
              <a:t>Components for verification</a:t>
            </a:r>
          </a:p>
          <a:p>
            <a:pPr lvl="1"/>
            <a:endParaRPr lang="en-US" dirty="0"/>
          </a:p>
          <a:p>
            <a:pPr lvl="1"/>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2702291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450C-5429-6C6E-5867-0F803BFDD8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8899B-BF1B-EF94-C9A0-7764CB5E413A}"/>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0DF55154-42DE-1595-8C42-31E990B6E005}"/>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47685814-4814-9814-E74A-F49EE2585673}"/>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B64C423A-B7D9-A3A5-9C66-2894DC7B4D88}"/>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F451F16B-1633-415F-2BEE-DE694257DEB4}"/>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3" name="Rectangle 2">
            <a:extLst>
              <a:ext uri="{FF2B5EF4-FFF2-40B4-BE49-F238E27FC236}">
                <a16:creationId xmlns:a16="http://schemas.microsoft.com/office/drawing/2014/main" id="{9CB9A908-7FFB-BC30-386C-AE77FF2F5AD1}"/>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C1B10381-0DAC-293A-82CE-B28EB74A76CB}"/>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4AE30AD2-BC3B-6244-AC0D-5787C8A7FCBD}"/>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E4F7EFA0-2A7B-D943-7B1C-D3C320828C99}"/>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3A87DCA7-4EAE-0954-B88E-DF9B6EB0FC42}"/>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CFE0E477-FFEF-E86E-D554-32EED54E37F5}"/>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6AE2294B-870D-52DC-EDCB-AC69C8875525}"/>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C6799F7F-2DB4-245C-EB50-D84F3FA4EB0F}"/>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58A2EE25-94FB-EAC8-47E8-747FBB4DBCAB}"/>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976D14F5-C90A-1669-B299-BC599546666C}"/>
              </a:ext>
            </a:extLst>
          </p:cNvPr>
          <p:cNvCxnSpPr>
            <a:cxnSpLocks/>
            <a:stCxn id="4" idx="0"/>
            <a:endCxn id="11" idx="0"/>
          </p:cNvCxnSpPr>
          <p:nvPr/>
        </p:nvCxnSpPr>
        <p:spPr>
          <a:xfrm rot="5400000" flipH="1" flipV="1">
            <a:off x="5529007" y="3027920"/>
            <a:ext cx="8638" cy="2696829"/>
          </a:xfrm>
          <a:prstGeom prst="bentConnector3">
            <a:avLst>
              <a:gd name="adj1" fmla="val 2746446"/>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7596D6FC-230D-276E-C6AA-2859572AB3D9}"/>
              </a:ext>
            </a:extLst>
          </p:cNvPr>
          <p:cNvCxnSpPr>
            <a:cxnSpLocks/>
            <a:stCxn id="5" idx="2"/>
            <a:endCxn id="3" idx="2"/>
          </p:cNvCxnSpPr>
          <p:nvPr/>
        </p:nvCxnSpPr>
        <p:spPr>
          <a:xfrm rot="5400000" flipH="1" flipV="1">
            <a:off x="5532449" y="1036290"/>
            <a:ext cx="1" cy="2695078"/>
          </a:xfrm>
          <a:prstGeom prst="bentConnector3">
            <a:avLst>
              <a:gd name="adj1" fmla="val -228600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068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EEA6-972A-3027-A122-2D1F660F0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E10E4-2E1B-BEF9-42F7-A6D4F111AF56}"/>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A0016C90-5C85-5777-320F-7F1B32A80830}"/>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16A256B3-2234-9426-F2E7-5114BC9D5B88}"/>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E039520F-A862-6204-8F84-FD434236EA4F}"/>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00C8B7F9-92E3-1A5B-1458-A130A8011979}"/>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5" name="Rectangle 14">
            <a:extLst>
              <a:ext uri="{FF2B5EF4-FFF2-40B4-BE49-F238E27FC236}">
                <a16:creationId xmlns:a16="http://schemas.microsoft.com/office/drawing/2014/main" id="{B27102B7-49F9-C64F-488E-A89B1CAD28FA}"/>
              </a:ext>
            </a:extLst>
          </p:cNvPr>
          <p:cNvSpPr/>
          <p:nvPr/>
        </p:nvSpPr>
        <p:spPr>
          <a:xfrm>
            <a:off x="10378241" y="2853266"/>
            <a:ext cx="1514299" cy="1151467"/>
          </a:xfrm>
          <a:prstGeom prst="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sp>
        <p:nvSpPr>
          <p:cNvPr id="3" name="Rectangle 2">
            <a:extLst>
              <a:ext uri="{FF2B5EF4-FFF2-40B4-BE49-F238E27FC236}">
                <a16:creationId xmlns:a16="http://schemas.microsoft.com/office/drawing/2014/main" id="{DFBBAEA1-17CF-27B1-D944-5A53B510086C}"/>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01CDFA76-EB6F-E893-4E91-A679D6997897}"/>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7CAF103B-48F6-C9D4-D780-B66168C419B3}"/>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2AA44C57-8AC9-60D2-009C-43426B5BD953}"/>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5C86A593-B933-7BF1-E6E9-D783475AFF2D}"/>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73E75E8E-D7D2-DD74-DFF6-D9E1154C784F}"/>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9C9CF480-AFE5-5595-8879-9CAC40438CD3}"/>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5958C28A-DCA2-ECBF-92CF-102D55D18391}"/>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C44DF687-F297-E48F-E005-F3B946669CF4}"/>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5">
            <a:extLst>
              <a:ext uri="{FF2B5EF4-FFF2-40B4-BE49-F238E27FC236}">
                <a16:creationId xmlns:a16="http://schemas.microsoft.com/office/drawing/2014/main" id="{92C210B1-B9F6-0709-0F49-AD4B5164DE41}"/>
              </a:ext>
            </a:extLst>
          </p:cNvPr>
          <p:cNvCxnSpPr>
            <a:cxnSpLocks/>
            <a:stCxn id="4" idx="0"/>
            <a:endCxn id="11" idx="0"/>
          </p:cNvCxnSpPr>
          <p:nvPr/>
        </p:nvCxnSpPr>
        <p:spPr>
          <a:xfrm rot="5400000" flipH="1" flipV="1">
            <a:off x="5529007" y="3027920"/>
            <a:ext cx="8638" cy="2696829"/>
          </a:xfrm>
          <a:prstGeom prst="bentConnector3">
            <a:avLst>
              <a:gd name="adj1" fmla="val 2746446"/>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AD25F83D-2464-C599-14FF-D75B426E7438}"/>
              </a:ext>
            </a:extLst>
          </p:cNvPr>
          <p:cNvCxnSpPr>
            <a:cxnSpLocks/>
            <a:stCxn id="5" idx="2"/>
            <a:endCxn id="3" idx="2"/>
          </p:cNvCxnSpPr>
          <p:nvPr/>
        </p:nvCxnSpPr>
        <p:spPr>
          <a:xfrm rot="5400000" flipH="1" flipV="1">
            <a:off x="5532449" y="1036290"/>
            <a:ext cx="1" cy="2695078"/>
          </a:xfrm>
          <a:prstGeom prst="bentConnector3">
            <a:avLst>
              <a:gd name="adj1" fmla="val -228600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7739049-D89F-BD67-E865-03EF3D40CEE0}"/>
              </a:ext>
            </a:extLst>
          </p:cNvPr>
          <p:cNvCxnSpPr>
            <a:cxnSpLocks/>
            <a:stCxn id="15" idx="1"/>
            <a:endCxn id="8" idx="0"/>
          </p:cNvCxnSpPr>
          <p:nvPr/>
        </p:nvCxnSpPr>
        <p:spPr>
          <a:xfrm flipH="1">
            <a:off x="9270463" y="3429000"/>
            <a:ext cx="1107778" cy="923986"/>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CF34F45-FDA4-B961-CC14-A8BC701C497B}"/>
              </a:ext>
            </a:extLst>
          </p:cNvPr>
          <p:cNvCxnSpPr>
            <a:stCxn id="15" idx="1"/>
            <a:endCxn id="3" idx="3"/>
          </p:cNvCxnSpPr>
          <p:nvPr/>
        </p:nvCxnSpPr>
        <p:spPr>
          <a:xfrm flipH="1" flipV="1">
            <a:off x="7865918" y="1808095"/>
            <a:ext cx="2512323" cy="162090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1CF4C96-0C9C-13F4-3DE9-E7CFB1941D34}"/>
              </a:ext>
            </a:extLst>
          </p:cNvPr>
          <p:cNvCxnSpPr>
            <a:stCxn id="15" idx="1"/>
            <a:endCxn id="5" idx="2"/>
          </p:cNvCxnSpPr>
          <p:nvPr/>
        </p:nvCxnSpPr>
        <p:spPr>
          <a:xfrm flipH="1" flipV="1">
            <a:off x="4184911" y="2383829"/>
            <a:ext cx="6193330" cy="104517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BF2538-7ECE-1025-C0AB-C0CA7DEBE390}"/>
              </a:ext>
            </a:extLst>
          </p:cNvPr>
          <p:cNvCxnSpPr>
            <a:stCxn id="15" idx="1"/>
            <a:endCxn id="4" idx="0"/>
          </p:cNvCxnSpPr>
          <p:nvPr/>
        </p:nvCxnSpPr>
        <p:spPr>
          <a:xfrm flipH="1">
            <a:off x="4184912" y="3429000"/>
            <a:ext cx="6193329"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5E39D90-0A4E-D406-9F63-3C072B4E7EF6}"/>
              </a:ext>
            </a:extLst>
          </p:cNvPr>
          <p:cNvCxnSpPr>
            <a:stCxn id="15" idx="1"/>
          </p:cNvCxnSpPr>
          <p:nvPr/>
        </p:nvCxnSpPr>
        <p:spPr>
          <a:xfrm flipH="1">
            <a:off x="6785811" y="3429000"/>
            <a:ext cx="3592430"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709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AE883-856A-9179-F3D3-F2497D15FC2D}"/>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989279D3-B80F-8530-261E-E5E2AB75C171}"/>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3A568FFD-E545-9339-B2DF-228BB36AB6CE}"/>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6FD137E0-559A-87C9-44A4-CC05DDF1ABF4}"/>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190B5BC9-4149-266B-9864-EA6BCB153E61}"/>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3" name="Rectangle 2">
            <a:extLst>
              <a:ext uri="{FF2B5EF4-FFF2-40B4-BE49-F238E27FC236}">
                <a16:creationId xmlns:a16="http://schemas.microsoft.com/office/drawing/2014/main" id="{E65906D5-5E62-000D-5246-7DCBAFA27D74}"/>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CAA4550F-B60C-BF4E-FBF2-2C299A159C43}"/>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0886CAB5-0F55-A787-5279-509E54FE2F01}"/>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6BBD4162-CCBE-B683-4440-89085B17406D}"/>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472C5EC9-3693-28C8-2E10-80A6226D02DB}"/>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852D635F-D606-98A3-4718-E66450201CB2}"/>
              </a:ext>
            </a:extLst>
          </p:cNvPr>
          <p:cNvCxnSpPr>
            <a:cxnSpLocks/>
            <a:stCxn id="12" idx="3"/>
            <a:endCxn id="3" idx="2"/>
          </p:cNvCxnSpPr>
          <p:nvPr/>
        </p:nvCxnSpPr>
        <p:spPr>
          <a:xfrm flipV="1">
            <a:off x="2177423" y="2383828"/>
            <a:ext cx="4702566" cy="112077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3C7B99F7-B610-090B-4755-2F0FB2D9ED86}"/>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709C99C6-8193-980A-422C-217DB668500C}"/>
              </a:ext>
            </a:extLst>
          </p:cNvPr>
          <p:cNvCxnSpPr>
            <a:stCxn id="12" idx="3"/>
            <a:endCxn id="11" idx="0"/>
          </p:cNvCxnSpPr>
          <p:nvPr/>
        </p:nvCxnSpPr>
        <p:spPr>
          <a:xfrm>
            <a:off x="2177423" y="3504603"/>
            <a:ext cx="4704318" cy="867412"/>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B1EC21AA-9763-28D5-0628-EE0291E54977}"/>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3F4D8C93-45C2-2622-724C-22C57C3BE547}"/>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50D21390-2027-02CE-74EF-625E3B1DEDA3}"/>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72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3B1-4A1F-B568-2A07-90C4C4D3B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DDDE2-A34E-56EC-B1EA-F7745C861E97}"/>
              </a:ext>
            </a:extLst>
          </p:cNvPr>
          <p:cNvSpPr>
            <a:spLocks noGrp="1"/>
          </p:cNvSpPr>
          <p:nvPr>
            <p:ph type="title"/>
          </p:nvPr>
        </p:nvSpPr>
        <p:spPr/>
        <p:txBody>
          <a:bodyPr/>
          <a:lstStyle/>
          <a:p>
            <a:r>
              <a:rPr lang="en-US" dirty="0"/>
              <a:t>Connectivity</a:t>
            </a:r>
          </a:p>
        </p:txBody>
      </p:sp>
      <p:sp>
        <p:nvSpPr>
          <p:cNvPr id="4" name="Rectangle 3">
            <a:extLst>
              <a:ext uri="{FF2B5EF4-FFF2-40B4-BE49-F238E27FC236}">
                <a16:creationId xmlns:a16="http://schemas.microsoft.com/office/drawing/2014/main" id="{6DCB1B5A-A5DB-EC76-455C-84E41F7965C0}"/>
              </a:ext>
            </a:extLst>
          </p:cNvPr>
          <p:cNvSpPr/>
          <p:nvPr/>
        </p:nvSpPr>
        <p:spPr>
          <a:xfrm>
            <a:off x="3329693" y="4380653"/>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Initialization of </a:t>
            </a:r>
          </a:p>
          <a:p>
            <a:pPr algn="ctr">
              <a:lnSpc>
                <a:spcPct val="90000"/>
              </a:lnSpc>
            </a:pPr>
            <a:r>
              <a:rPr lang="en-US" sz="2000" dirty="0">
                <a:solidFill>
                  <a:schemeClr val="bg1"/>
                </a:solidFill>
              </a:rPr>
              <a:t>Particle positions</a:t>
            </a:r>
          </a:p>
        </p:txBody>
      </p:sp>
      <p:sp>
        <p:nvSpPr>
          <p:cNvPr id="5" name="Rectangle 4">
            <a:extLst>
              <a:ext uri="{FF2B5EF4-FFF2-40B4-BE49-F238E27FC236}">
                <a16:creationId xmlns:a16="http://schemas.microsoft.com/office/drawing/2014/main" id="{DE3E1A43-1562-69CB-37FF-A1A7D9A614E9}"/>
              </a:ext>
            </a:extLst>
          </p:cNvPr>
          <p:cNvSpPr/>
          <p:nvPr/>
        </p:nvSpPr>
        <p:spPr>
          <a:xfrm>
            <a:off x="3329692" y="1232362"/>
            <a:ext cx="1710437"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generation </a:t>
            </a:r>
          </a:p>
        </p:txBody>
      </p:sp>
      <p:sp>
        <p:nvSpPr>
          <p:cNvPr id="8" name="Rectangle 7">
            <a:extLst>
              <a:ext uri="{FF2B5EF4-FFF2-40B4-BE49-F238E27FC236}">
                <a16:creationId xmlns:a16="http://schemas.microsoft.com/office/drawing/2014/main" id="{4CE5479E-B770-50B3-8039-C14AF09CB7E3}"/>
              </a:ext>
            </a:extLst>
          </p:cNvPr>
          <p:cNvSpPr/>
          <p:nvPr/>
        </p:nvSpPr>
        <p:spPr>
          <a:xfrm>
            <a:off x="8519134" y="4352986"/>
            <a:ext cx="1502658"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Particle mover</a:t>
            </a:r>
          </a:p>
        </p:txBody>
      </p:sp>
      <p:sp>
        <p:nvSpPr>
          <p:cNvPr id="9" name="Rectangle 8">
            <a:extLst>
              <a:ext uri="{FF2B5EF4-FFF2-40B4-BE49-F238E27FC236}">
                <a16:creationId xmlns:a16="http://schemas.microsoft.com/office/drawing/2014/main" id="{AA2FADE6-3D67-B86B-9CC4-3A7669A4C1AB}"/>
              </a:ext>
            </a:extLst>
          </p:cNvPr>
          <p:cNvSpPr/>
          <p:nvPr/>
        </p:nvSpPr>
        <p:spPr>
          <a:xfrm>
            <a:off x="8465930" y="1232360"/>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5" name="Rectangle 14">
            <a:extLst>
              <a:ext uri="{FF2B5EF4-FFF2-40B4-BE49-F238E27FC236}">
                <a16:creationId xmlns:a16="http://schemas.microsoft.com/office/drawing/2014/main" id="{77FBB3DA-B8CC-4BD0-84E3-BB1E1076B4F3}"/>
              </a:ext>
            </a:extLst>
          </p:cNvPr>
          <p:cNvSpPr/>
          <p:nvPr/>
        </p:nvSpPr>
        <p:spPr>
          <a:xfrm>
            <a:off x="10378241" y="2853266"/>
            <a:ext cx="1514299" cy="1151467"/>
          </a:xfrm>
          <a:prstGeom prst="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sp>
        <p:nvSpPr>
          <p:cNvPr id="3" name="Rectangle 2">
            <a:extLst>
              <a:ext uri="{FF2B5EF4-FFF2-40B4-BE49-F238E27FC236}">
                <a16:creationId xmlns:a16="http://schemas.microsoft.com/office/drawing/2014/main" id="{8ECE5B30-B082-D739-8AF3-92C4F84CF605}"/>
              </a:ext>
            </a:extLst>
          </p:cNvPr>
          <p:cNvSpPr/>
          <p:nvPr/>
        </p:nvSpPr>
        <p:spPr>
          <a:xfrm>
            <a:off x="5894060" y="1232361"/>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 decomposition </a:t>
            </a:r>
          </a:p>
        </p:txBody>
      </p:sp>
      <p:sp>
        <p:nvSpPr>
          <p:cNvPr id="11" name="Rectangle 10">
            <a:extLst>
              <a:ext uri="{FF2B5EF4-FFF2-40B4-BE49-F238E27FC236}">
                <a16:creationId xmlns:a16="http://schemas.microsoft.com/office/drawing/2014/main" id="{5B9B555F-8E34-9B1E-6264-0985D7D69A84}"/>
              </a:ext>
            </a:extLst>
          </p:cNvPr>
          <p:cNvSpPr/>
          <p:nvPr/>
        </p:nvSpPr>
        <p:spPr>
          <a:xfrm>
            <a:off x="5895812" y="4372015"/>
            <a:ext cx="1971858"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Block association</a:t>
            </a:r>
          </a:p>
        </p:txBody>
      </p:sp>
      <p:sp>
        <p:nvSpPr>
          <p:cNvPr id="12" name="Rectangle 11">
            <a:extLst>
              <a:ext uri="{FF2B5EF4-FFF2-40B4-BE49-F238E27FC236}">
                <a16:creationId xmlns:a16="http://schemas.microsoft.com/office/drawing/2014/main" id="{00D6CC02-2B1F-BF9F-401C-3BE77A499FBA}"/>
              </a:ext>
            </a:extLst>
          </p:cNvPr>
          <p:cNvSpPr/>
          <p:nvPr/>
        </p:nvSpPr>
        <p:spPr>
          <a:xfrm>
            <a:off x="663124" y="2928869"/>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cxnSp>
        <p:nvCxnSpPr>
          <p:cNvPr id="36" name="Elbow Connector 35">
            <a:extLst>
              <a:ext uri="{FF2B5EF4-FFF2-40B4-BE49-F238E27FC236}">
                <a16:creationId xmlns:a16="http://schemas.microsoft.com/office/drawing/2014/main" id="{01491B44-CEB0-0BFA-1977-80728F59A4B3}"/>
              </a:ext>
            </a:extLst>
          </p:cNvPr>
          <p:cNvCxnSpPr>
            <a:stCxn id="12" idx="0"/>
            <a:endCxn id="5" idx="1"/>
          </p:cNvCxnSpPr>
          <p:nvPr/>
        </p:nvCxnSpPr>
        <p:spPr>
          <a:xfrm rot="5400000" flipH="1" flipV="1">
            <a:off x="1814597" y="1413774"/>
            <a:ext cx="1120773" cy="1909418"/>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98F3497A-8D91-EE95-945B-025E23108A06}"/>
              </a:ext>
            </a:extLst>
          </p:cNvPr>
          <p:cNvCxnSpPr>
            <a:stCxn id="12" idx="2"/>
            <a:endCxn id="4" idx="1"/>
          </p:cNvCxnSpPr>
          <p:nvPr/>
        </p:nvCxnSpPr>
        <p:spPr>
          <a:xfrm rot="16200000" flipH="1">
            <a:off x="1936958" y="3563651"/>
            <a:ext cx="876051" cy="1909419"/>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9CBF5949-BCEB-4878-B5E5-0C7D1B268177}"/>
              </a:ext>
            </a:extLst>
          </p:cNvPr>
          <p:cNvCxnSpPr>
            <a:cxnSpLocks/>
            <a:stCxn id="12" idx="3"/>
            <a:endCxn id="3" idx="2"/>
          </p:cNvCxnSpPr>
          <p:nvPr/>
        </p:nvCxnSpPr>
        <p:spPr>
          <a:xfrm flipV="1">
            <a:off x="2177423" y="2383828"/>
            <a:ext cx="4702566" cy="112077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A9754D01-81FE-3C0E-0C7C-12967F3DB4C8}"/>
              </a:ext>
            </a:extLst>
          </p:cNvPr>
          <p:cNvCxnSpPr>
            <a:stCxn id="5" idx="0"/>
            <a:endCxn id="9" idx="0"/>
          </p:cNvCxnSpPr>
          <p:nvPr/>
        </p:nvCxnSpPr>
        <p:spPr>
          <a:xfrm rot="5400000" flipH="1" flipV="1">
            <a:off x="6703994" y="-1286723"/>
            <a:ext cx="2" cy="5038169"/>
          </a:xfrm>
          <a:prstGeom prst="bentConnector3">
            <a:avLst>
              <a:gd name="adj1" fmla="val 11430100000"/>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598057BD-C8D2-72AB-CF01-48A0F34B8F47}"/>
              </a:ext>
            </a:extLst>
          </p:cNvPr>
          <p:cNvCxnSpPr>
            <a:stCxn id="12" idx="3"/>
            <a:endCxn id="11" idx="0"/>
          </p:cNvCxnSpPr>
          <p:nvPr/>
        </p:nvCxnSpPr>
        <p:spPr>
          <a:xfrm>
            <a:off x="2177423" y="3504603"/>
            <a:ext cx="4704318" cy="867412"/>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3E69F91D-CC7D-6666-5F0D-02FBE5BE91D8}"/>
              </a:ext>
            </a:extLst>
          </p:cNvPr>
          <p:cNvCxnSpPr>
            <a:stCxn id="12" idx="3"/>
            <a:endCxn id="8" idx="0"/>
          </p:cNvCxnSpPr>
          <p:nvPr/>
        </p:nvCxnSpPr>
        <p:spPr>
          <a:xfrm>
            <a:off x="2177423" y="3504603"/>
            <a:ext cx="7093040" cy="848383"/>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21CE6769-8500-C303-26DF-553E6CB1DF38}"/>
              </a:ext>
            </a:extLst>
          </p:cNvPr>
          <p:cNvCxnSpPr>
            <a:stCxn id="8" idx="1"/>
            <a:endCxn id="9" idx="1"/>
          </p:cNvCxnSpPr>
          <p:nvPr/>
        </p:nvCxnSpPr>
        <p:spPr>
          <a:xfrm rot="10800000">
            <a:off x="8465930" y="1808094"/>
            <a:ext cx="53204" cy="3120626"/>
          </a:xfrm>
          <a:prstGeom prst="bentConnector3">
            <a:avLst>
              <a:gd name="adj1" fmla="val 529667"/>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39CD2621-1B35-7B08-E822-7C24523A6417}"/>
              </a:ext>
            </a:extLst>
          </p:cNvPr>
          <p:cNvCxnSpPr>
            <a:stCxn id="8" idx="2"/>
            <a:endCxn id="11" idx="2"/>
          </p:cNvCxnSpPr>
          <p:nvPr/>
        </p:nvCxnSpPr>
        <p:spPr>
          <a:xfrm rot="5400000">
            <a:off x="8066588" y="4319606"/>
            <a:ext cx="19029" cy="2388722"/>
          </a:xfrm>
          <a:prstGeom prst="bentConnector3">
            <a:avLst>
              <a:gd name="adj1" fmla="val 1301324"/>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71250D1-A54C-3FBB-BF29-C231153739DF}"/>
              </a:ext>
            </a:extLst>
          </p:cNvPr>
          <p:cNvCxnSpPr>
            <a:cxnSpLocks/>
          </p:cNvCxnSpPr>
          <p:nvPr/>
        </p:nvCxnSpPr>
        <p:spPr>
          <a:xfrm flipH="1">
            <a:off x="9270463" y="3429000"/>
            <a:ext cx="1107778" cy="923986"/>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DC6490F-B25D-C70F-F63B-B4241E3D420E}"/>
              </a:ext>
            </a:extLst>
          </p:cNvPr>
          <p:cNvCxnSpPr/>
          <p:nvPr/>
        </p:nvCxnSpPr>
        <p:spPr>
          <a:xfrm flipH="1" flipV="1">
            <a:off x="7865918" y="1808095"/>
            <a:ext cx="2512323" cy="162090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5D06348-7EC6-2ED4-87C6-AD445863511B}"/>
              </a:ext>
            </a:extLst>
          </p:cNvPr>
          <p:cNvCxnSpPr/>
          <p:nvPr/>
        </p:nvCxnSpPr>
        <p:spPr>
          <a:xfrm flipH="1" flipV="1">
            <a:off x="4184911" y="2383829"/>
            <a:ext cx="6193330" cy="104517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3CC7A3A-36FE-BDC4-91C0-776CC09CB180}"/>
              </a:ext>
            </a:extLst>
          </p:cNvPr>
          <p:cNvCxnSpPr/>
          <p:nvPr/>
        </p:nvCxnSpPr>
        <p:spPr>
          <a:xfrm flipH="1">
            <a:off x="4184912" y="3429000"/>
            <a:ext cx="6193329"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2C015A6-DD9F-3759-66C7-D589368390C2}"/>
              </a:ext>
            </a:extLst>
          </p:cNvPr>
          <p:cNvCxnSpPr/>
          <p:nvPr/>
        </p:nvCxnSpPr>
        <p:spPr>
          <a:xfrm flipH="1">
            <a:off x="6785811" y="3429000"/>
            <a:ext cx="3592430" cy="951653"/>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387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105AD-BD02-18EE-81DD-20B8E1374444}"/>
              </a:ext>
            </a:extLst>
          </p:cNvPr>
          <p:cNvSpPr>
            <a:spLocks noGrp="1"/>
          </p:cNvSpPr>
          <p:nvPr>
            <p:ph type="title"/>
          </p:nvPr>
        </p:nvSpPr>
        <p:spPr/>
        <p:txBody>
          <a:bodyPr/>
          <a:lstStyle/>
          <a:p>
            <a:r>
              <a:rPr lang="en-US" dirty="0"/>
              <a:t>Research Software Challenges</a:t>
            </a:r>
          </a:p>
        </p:txBody>
      </p:sp>
      <p:sp>
        <p:nvSpPr>
          <p:cNvPr id="3" name="Content Placeholder 2">
            <a:extLst>
              <a:ext uri="{FF2B5EF4-FFF2-40B4-BE49-F238E27FC236}">
                <a16:creationId xmlns:a16="http://schemas.microsoft.com/office/drawing/2014/main" id="{1C191047-BA2C-4ACC-7601-558D32B2666C}"/>
              </a:ext>
            </a:extLst>
          </p:cNvPr>
          <p:cNvSpPr>
            <a:spLocks noGrp="1"/>
          </p:cNvSpPr>
          <p:nvPr>
            <p:ph idx="1"/>
          </p:nvPr>
        </p:nvSpPr>
        <p:spPr>
          <a:xfrm>
            <a:off x="6579490" y="1736215"/>
            <a:ext cx="5469833" cy="3886352"/>
          </a:xfrm>
        </p:spPr>
        <p:txBody>
          <a:bodyPr/>
          <a:lstStyle/>
          <a:p>
            <a:r>
              <a:rPr lang="en-US" dirty="0"/>
              <a:t>Many</a:t>
            </a:r>
            <a:r>
              <a:rPr lang="en-US" sz="2400" dirty="0"/>
              <a:t>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a:t>
            </a:r>
          </a:p>
          <a:p>
            <a:endParaRPr lang="en-US" dirty="0"/>
          </a:p>
        </p:txBody>
      </p:sp>
      <p:grpSp>
        <p:nvGrpSpPr>
          <p:cNvPr id="4" name="Group 3">
            <a:extLst>
              <a:ext uri="{FF2B5EF4-FFF2-40B4-BE49-F238E27FC236}">
                <a16:creationId xmlns:a16="http://schemas.microsoft.com/office/drawing/2014/main" id="{08CE7F93-E896-2CD5-EFC6-29F7E53784BF}"/>
              </a:ext>
            </a:extLst>
          </p:cNvPr>
          <p:cNvGrpSpPr/>
          <p:nvPr/>
        </p:nvGrpSpPr>
        <p:grpSpPr>
          <a:xfrm>
            <a:off x="269970" y="1687125"/>
            <a:ext cx="6067194" cy="2923603"/>
            <a:chOff x="2176244" y="1817067"/>
            <a:chExt cx="4826771" cy="3142742"/>
          </a:xfrm>
        </p:grpSpPr>
        <p:sp>
          <p:nvSpPr>
            <p:cNvPr id="5" name="Oval 4">
              <a:extLst>
                <a:ext uri="{FF2B5EF4-FFF2-40B4-BE49-F238E27FC236}">
                  <a16:creationId xmlns:a16="http://schemas.microsoft.com/office/drawing/2014/main" id="{17DE098D-2514-988B-969D-C0701269A8E3}"/>
                </a:ext>
              </a:extLst>
            </p:cNvPr>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6" name="Oval 5">
              <a:extLst>
                <a:ext uri="{FF2B5EF4-FFF2-40B4-BE49-F238E27FC236}">
                  <a16:creationId xmlns:a16="http://schemas.microsoft.com/office/drawing/2014/main" id="{9969E183-5E7B-40C3-C69F-7E7F2E4B354D}"/>
                </a:ext>
              </a:extLst>
            </p:cNvPr>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C238C6E7-504F-D418-77ED-EE08B698678C}"/>
                </a:ext>
              </a:extLst>
            </p:cNvPr>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359B4A93-46F5-F54C-4521-5F441780AE11}"/>
                </a:ext>
              </a:extLst>
            </p:cNvPr>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7BD0B991-7672-F256-C0EE-5A822DB50ECE}"/>
                </a:ext>
              </a:extLst>
            </p:cNvPr>
            <p:cNvCxnSpPr>
              <a:cxnSpLocks/>
              <a:stCxn id="5" idx="6"/>
              <a:endCxn id="6"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57370E24-CC2D-9094-10BF-6F1AF8F84DF2}"/>
                </a:ext>
              </a:extLst>
            </p:cNvPr>
            <p:cNvCxnSpPr>
              <a:cxnSpLocks/>
              <a:stCxn id="6" idx="4"/>
              <a:endCxn id="7"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90D80839-06B2-CBCA-378D-51A31698D7F8}"/>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206A2679-94E8-A783-7065-88C4BC14CA92}"/>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169E4E-6764-BFFF-F8D2-4D73E14EEF62}"/>
                </a:ext>
              </a:extLst>
            </p:cNvPr>
            <p:cNvCxnSpPr>
              <a:cxnSpLocks/>
              <a:stCxn id="6" idx="2"/>
              <a:endCxn id="8"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506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5E0AA-F303-404B-99A5-8E88C983825E}"/>
              </a:ext>
            </a:extLst>
          </p:cNvPr>
          <p:cNvSpPr>
            <a:spLocks noGrp="1"/>
          </p:cNvSpPr>
          <p:nvPr>
            <p:ph type="title"/>
          </p:nvPr>
        </p:nvSpPr>
        <p:spPr/>
        <p:txBody>
          <a:bodyPr/>
          <a:lstStyle/>
          <a:p>
            <a:r>
              <a:rPr lang="en-US" dirty="0"/>
              <a:t>Additional Considerations for Research Software</a:t>
            </a:r>
          </a:p>
        </p:txBody>
      </p:sp>
      <p:sp>
        <p:nvSpPr>
          <p:cNvPr id="4" name="Rounded Rectangle 3">
            <a:extLst>
              <a:ext uri="{FF2B5EF4-FFF2-40B4-BE49-F238E27FC236}">
                <a16:creationId xmlns:a16="http://schemas.microsoft.com/office/drawing/2014/main" id="{E5BBE479-B16C-D94F-BC94-6B60F0645C44}"/>
              </a:ext>
            </a:extLst>
          </p:cNvPr>
          <p:cNvSpPr/>
          <p:nvPr/>
        </p:nvSpPr>
        <p:spPr>
          <a:xfrm>
            <a:off x="64698" y="1037968"/>
            <a:ext cx="5721178" cy="5029200"/>
          </a:xfrm>
          <a:prstGeom prst="roundRect">
            <a:avLst/>
          </a:prstGeom>
          <a:solidFill>
            <a:schemeClr val="accent2">
              <a:lumMod val="40000"/>
              <a:lumOff val="6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50000"/>
                  </a:schemeClr>
                </a:solidFill>
              </a:rPr>
              <a:t>Considerations</a:t>
            </a:r>
          </a:p>
          <a:p>
            <a:pPr>
              <a:lnSpc>
                <a:spcPct val="90000"/>
              </a:lnSpc>
            </a:pPr>
            <a:endParaRPr lang="en-US" sz="2000" b="1"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Multidisciplinary </a:t>
            </a:r>
          </a:p>
          <a:p>
            <a:pPr marL="800100" lvl="1" indent="-342900">
              <a:lnSpc>
                <a:spcPct val="90000"/>
              </a:lnSpc>
              <a:buFont typeface="Wingdings" pitchFamily="2" charset="2"/>
              <a:buChar char="q"/>
            </a:pPr>
            <a:r>
              <a:rPr lang="en-US" sz="2000" dirty="0">
                <a:solidFill>
                  <a:schemeClr val="accent2">
                    <a:lumMod val="50000"/>
                  </a:schemeClr>
                </a:solidFill>
              </a:rPr>
              <a:t>Many facets of knowledge</a:t>
            </a:r>
          </a:p>
          <a:p>
            <a:pPr marL="800100" lvl="1" indent="-342900">
              <a:lnSpc>
                <a:spcPct val="90000"/>
              </a:lnSpc>
              <a:buFont typeface="Wingdings" pitchFamily="2" charset="2"/>
              <a:buChar char="q"/>
            </a:pPr>
            <a:r>
              <a:rPr lang="en-US" sz="2000" dirty="0">
                <a:solidFill>
                  <a:schemeClr val="accent2">
                    <a:lumMod val="50000"/>
                  </a:schemeClr>
                </a:solidFill>
              </a:rPr>
              <a:t>To know everything is not feasible</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Two types of code components</a:t>
            </a:r>
          </a:p>
          <a:p>
            <a:pPr marL="800100" lvl="1" indent="-342900">
              <a:lnSpc>
                <a:spcPct val="90000"/>
              </a:lnSpc>
              <a:buFont typeface="Wingdings" pitchFamily="2" charset="2"/>
              <a:buChar char="q"/>
            </a:pPr>
            <a:r>
              <a:rPr lang="en-US" sz="2000" dirty="0">
                <a:solidFill>
                  <a:schemeClr val="accent2">
                    <a:lumMod val="50000"/>
                  </a:schemeClr>
                </a:solidFill>
              </a:rPr>
              <a:t>Infrastructure (mesh/IO/runtime …)</a:t>
            </a:r>
          </a:p>
          <a:p>
            <a:pPr marL="800100" lvl="1" indent="-342900">
              <a:lnSpc>
                <a:spcPct val="90000"/>
              </a:lnSpc>
              <a:buFont typeface="Wingdings" pitchFamily="2" charset="2"/>
              <a:buChar char="q"/>
            </a:pPr>
            <a:r>
              <a:rPr lang="en-US" sz="2000" dirty="0">
                <a:solidFill>
                  <a:schemeClr val="accent2">
                    <a:lumMod val="50000"/>
                  </a:schemeClr>
                </a:solidFill>
              </a:rPr>
              <a:t>Science models (numerical methods)</a:t>
            </a:r>
          </a:p>
          <a:p>
            <a:pPr marL="800100" lvl="1" indent="-342900">
              <a:lnSpc>
                <a:spcPct val="90000"/>
              </a:lnSpc>
              <a:buFont typeface="Wingdings" pitchFamily="2" charset="2"/>
              <a:buChar char="q"/>
            </a:pPr>
            <a:endParaRPr lang="en-US" sz="2000" dirty="0">
              <a:solidFill>
                <a:schemeClr val="accent2">
                  <a:lumMod val="50000"/>
                </a:schemeClr>
              </a:solidFill>
            </a:endParaRPr>
          </a:p>
          <a:p>
            <a:pPr marL="342900" indent="-342900">
              <a:lnSpc>
                <a:spcPct val="90000"/>
              </a:lnSpc>
              <a:buFont typeface="Wingdings" pitchFamily="2" charset="2"/>
              <a:buChar char="q"/>
            </a:pPr>
            <a:r>
              <a:rPr lang="en-US" sz="2000" dirty="0">
                <a:solidFill>
                  <a:schemeClr val="accent2">
                    <a:lumMod val="50000"/>
                  </a:schemeClr>
                </a:solidFill>
              </a:rPr>
              <a:t>Codes grow</a:t>
            </a:r>
          </a:p>
          <a:p>
            <a:pPr marL="800100" lvl="1" indent="-342900">
              <a:lnSpc>
                <a:spcPct val="90000"/>
              </a:lnSpc>
              <a:buFont typeface="Wingdings" pitchFamily="2" charset="2"/>
              <a:buChar char="q"/>
            </a:pPr>
            <a:r>
              <a:rPr lang="en-US" sz="2000" dirty="0">
                <a:solidFill>
                  <a:schemeClr val="accent2">
                    <a:lumMod val="50000"/>
                  </a:schemeClr>
                </a:solidFill>
              </a:rPr>
              <a:t>New ideas =&gt; new features</a:t>
            </a:r>
          </a:p>
          <a:p>
            <a:pPr marL="800100" lvl="1" indent="-342900">
              <a:lnSpc>
                <a:spcPct val="90000"/>
              </a:lnSpc>
              <a:buFont typeface="Wingdings" pitchFamily="2" charset="2"/>
              <a:buChar char="q"/>
            </a:pPr>
            <a:r>
              <a:rPr lang="en-US" sz="2000" dirty="0">
                <a:solidFill>
                  <a:schemeClr val="accent2">
                    <a:lumMod val="50000"/>
                  </a:schemeClr>
                </a:solidFill>
              </a:rPr>
              <a:t>Code reuse by others </a:t>
            </a:r>
          </a:p>
          <a:p>
            <a:pPr marL="342900" indent="-342900">
              <a:lnSpc>
                <a:spcPct val="90000"/>
              </a:lnSpc>
              <a:buFont typeface="Wingdings" pitchFamily="2" charset="2"/>
              <a:buChar char="q"/>
            </a:pPr>
            <a:endParaRPr lang="en-US" sz="2000" dirty="0">
              <a:solidFill>
                <a:schemeClr val="accent5">
                  <a:lumMod val="50000"/>
                </a:schemeClr>
              </a:solidFill>
            </a:endParaRPr>
          </a:p>
          <a:p>
            <a:pPr marL="342900" indent="-342900">
              <a:lnSpc>
                <a:spcPct val="90000"/>
              </a:lnSpc>
              <a:buFont typeface="Wingdings" pitchFamily="2" charset="2"/>
              <a:buChar char="q"/>
            </a:pPr>
            <a:endParaRPr lang="en-US" sz="2000" dirty="0">
              <a:solidFill>
                <a:schemeClr val="accent5">
                  <a:lumMod val="50000"/>
                </a:schemeClr>
              </a:solidFill>
            </a:endParaRPr>
          </a:p>
        </p:txBody>
      </p:sp>
      <p:sp>
        <p:nvSpPr>
          <p:cNvPr id="5" name="Rounded Rectangle 4">
            <a:extLst>
              <a:ext uri="{FF2B5EF4-FFF2-40B4-BE49-F238E27FC236}">
                <a16:creationId xmlns:a16="http://schemas.microsoft.com/office/drawing/2014/main" id="{7DC70085-0AD4-7C45-92D4-B6627442268A}"/>
              </a:ext>
            </a:extLst>
          </p:cNvPr>
          <p:cNvSpPr/>
          <p:nvPr/>
        </p:nvSpPr>
        <p:spPr>
          <a:xfrm>
            <a:off x="5883736" y="1059936"/>
            <a:ext cx="5721178" cy="5029200"/>
          </a:xfrm>
          <a:prstGeom prst="roundRect">
            <a:avLst/>
          </a:prstGeom>
          <a:solidFill>
            <a:schemeClr val="accent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b="1" dirty="0">
                <a:solidFill>
                  <a:schemeClr val="accent2">
                    <a:lumMod val="40000"/>
                    <a:lumOff val="60000"/>
                  </a:schemeClr>
                </a:solidFill>
              </a:rPr>
              <a:t>Design Implications</a:t>
            </a:r>
          </a:p>
          <a:p>
            <a:pPr algn="ctr">
              <a:lnSpc>
                <a:spcPct val="90000"/>
              </a:lnSpc>
            </a:pPr>
            <a:endParaRPr lang="en-US" sz="2000" b="1"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Separation of Concerns</a:t>
            </a:r>
          </a:p>
          <a:p>
            <a:pPr marL="800100" lvl="1" indent="-342900">
              <a:lnSpc>
                <a:spcPct val="90000"/>
              </a:lnSpc>
              <a:buFont typeface="Wingdings" pitchFamily="2" charset="2"/>
              <a:buChar char="q"/>
            </a:pPr>
            <a:r>
              <a:rPr lang="en-US" sz="2000" dirty="0">
                <a:solidFill>
                  <a:schemeClr val="accent2">
                    <a:lumMod val="40000"/>
                    <a:lumOff val="60000"/>
                  </a:schemeClr>
                </a:solidFill>
              </a:rPr>
              <a:t>Shield developers from unnecessary complexities</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Work with different lifecycles</a:t>
            </a:r>
          </a:p>
          <a:p>
            <a:pPr marL="800100" lvl="1" indent="-342900">
              <a:lnSpc>
                <a:spcPct val="90000"/>
              </a:lnSpc>
              <a:buFont typeface="Wingdings" pitchFamily="2" charset="2"/>
              <a:buChar char="q"/>
            </a:pPr>
            <a:r>
              <a:rPr lang="en-US" sz="2000" dirty="0">
                <a:solidFill>
                  <a:schemeClr val="accent2">
                    <a:lumMod val="40000"/>
                    <a:lumOff val="60000"/>
                  </a:schemeClr>
                </a:solidFill>
              </a:rPr>
              <a:t>Long-lasting vs quick changing</a:t>
            </a:r>
          </a:p>
          <a:p>
            <a:pPr marL="800100" lvl="1" indent="-342900">
              <a:lnSpc>
                <a:spcPct val="90000"/>
              </a:lnSpc>
              <a:buFont typeface="Wingdings" pitchFamily="2" charset="2"/>
              <a:buChar char="q"/>
            </a:pPr>
            <a:r>
              <a:rPr lang="en-US" sz="2000" dirty="0">
                <a:solidFill>
                  <a:schemeClr val="accent2">
                    <a:lumMod val="40000"/>
                    <a:lumOff val="60000"/>
                  </a:schemeClr>
                </a:solidFill>
              </a:rPr>
              <a:t>Logically vs mathematically complex</a:t>
            </a:r>
          </a:p>
          <a:p>
            <a:pPr marL="800100" lvl="1" indent="-342900">
              <a:lnSpc>
                <a:spcPct val="90000"/>
              </a:lnSpc>
              <a:buFont typeface="Wingdings" pitchFamily="2" charset="2"/>
              <a:buChar char="q"/>
            </a:pPr>
            <a:endParaRPr lang="en-US" sz="2000" dirty="0">
              <a:solidFill>
                <a:schemeClr val="accent2">
                  <a:lumMod val="40000"/>
                  <a:lumOff val="60000"/>
                </a:schemeClr>
              </a:solidFill>
            </a:endParaRPr>
          </a:p>
          <a:p>
            <a:pPr marL="342900" indent="-342900">
              <a:lnSpc>
                <a:spcPct val="90000"/>
              </a:lnSpc>
              <a:buFont typeface="Wingdings" pitchFamily="2" charset="2"/>
              <a:buChar char="q"/>
            </a:pPr>
            <a:r>
              <a:rPr lang="en-US" sz="2000" dirty="0">
                <a:solidFill>
                  <a:schemeClr val="accent2">
                    <a:lumMod val="40000"/>
                    <a:lumOff val="60000"/>
                  </a:schemeClr>
                </a:solidFill>
              </a:rPr>
              <a:t>Extensibility built in</a:t>
            </a:r>
          </a:p>
          <a:p>
            <a:pPr marL="800100" lvl="1" indent="-342900">
              <a:lnSpc>
                <a:spcPct val="90000"/>
              </a:lnSpc>
              <a:buFont typeface="Wingdings" pitchFamily="2" charset="2"/>
              <a:buChar char="q"/>
            </a:pPr>
            <a:r>
              <a:rPr lang="en-US" sz="2000" dirty="0">
                <a:solidFill>
                  <a:schemeClr val="accent2">
                    <a:lumMod val="40000"/>
                    <a:lumOff val="60000"/>
                  </a:schemeClr>
                </a:solidFill>
              </a:rPr>
              <a:t>Ease of adding new capabilities</a:t>
            </a:r>
          </a:p>
          <a:p>
            <a:pPr marL="800100" lvl="1" indent="-342900">
              <a:lnSpc>
                <a:spcPct val="90000"/>
              </a:lnSpc>
              <a:buFont typeface="Wingdings" pitchFamily="2" charset="2"/>
              <a:buChar char="q"/>
            </a:pPr>
            <a:r>
              <a:rPr lang="en-US" sz="2000" dirty="0">
                <a:solidFill>
                  <a:schemeClr val="accent2">
                    <a:lumMod val="40000"/>
                    <a:lumOff val="60000"/>
                  </a:schemeClr>
                </a:solidFill>
              </a:rPr>
              <a:t>Customizing existing capabilities</a:t>
            </a:r>
          </a:p>
          <a:p>
            <a:pPr marL="800100" lvl="1" indent="-342900">
              <a:lnSpc>
                <a:spcPct val="90000"/>
              </a:lnSpc>
              <a:buFont typeface="Wingdings" pitchFamily="2" charset="2"/>
              <a:buChar char="q"/>
            </a:pPr>
            <a:endParaRPr lang="en-US" sz="2000" dirty="0">
              <a:solidFill>
                <a:schemeClr val="accent5">
                  <a:lumMod val="40000"/>
                  <a:lumOff val="60000"/>
                </a:schemeClr>
              </a:solidFill>
            </a:endParaRPr>
          </a:p>
          <a:p>
            <a:pPr algn="ctr">
              <a:lnSpc>
                <a:spcPct val="90000"/>
              </a:lnSpc>
            </a:pPr>
            <a:endParaRPr lang="en-US" sz="2000" dirty="0">
              <a:solidFill>
                <a:schemeClr val="bg1"/>
              </a:solidFill>
            </a:endParaRPr>
          </a:p>
        </p:txBody>
      </p:sp>
      <p:sp>
        <p:nvSpPr>
          <p:cNvPr id="6" name="Right Arrow 5">
            <a:extLst>
              <a:ext uri="{FF2B5EF4-FFF2-40B4-BE49-F238E27FC236}">
                <a16:creationId xmlns:a16="http://schemas.microsoft.com/office/drawing/2014/main" id="{9B686305-E74E-EB44-801D-1C14E473827F}"/>
              </a:ext>
            </a:extLst>
          </p:cNvPr>
          <p:cNvSpPr/>
          <p:nvPr/>
        </p:nvSpPr>
        <p:spPr>
          <a:xfrm>
            <a:off x="5166497" y="2165025"/>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Right Arrow 6">
            <a:extLst>
              <a:ext uri="{FF2B5EF4-FFF2-40B4-BE49-F238E27FC236}">
                <a16:creationId xmlns:a16="http://schemas.microsoft.com/office/drawing/2014/main" id="{6CFC44B4-B5D6-5949-8DAA-80AD31E8FBAB}"/>
              </a:ext>
            </a:extLst>
          </p:cNvPr>
          <p:cNvSpPr/>
          <p:nvPr/>
        </p:nvSpPr>
        <p:spPr>
          <a:xfrm>
            <a:off x="5166496" y="3250154"/>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 name="Right Arrow 7">
            <a:extLst>
              <a:ext uri="{FF2B5EF4-FFF2-40B4-BE49-F238E27FC236}">
                <a16:creationId xmlns:a16="http://schemas.microsoft.com/office/drawing/2014/main" id="{993BB968-F9E4-1E45-80DC-477122F2D2FF}"/>
              </a:ext>
            </a:extLst>
          </p:cNvPr>
          <p:cNvSpPr/>
          <p:nvPr/>
        </p:nvSpPr>
        <p:spPr>
          <a:xfrm>
            <a:off x="5071006" y="4360409"/>
            <a:ext cx="1149179" cy="531341"/>
          </a:xfrm>
          <a:prstGeom prst="rightArrow">
            <a:avLst/>
          </a:prstGeom>
          <a:solidFill>
            <a:schemeClr val="accent2">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276755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6DD86-AD27-9B67-E405-85C81A481C24}"/>
              </a:ext>
            </a:extLst>
          </p:cNvPr>
          <p:cNvSpPr>
            <a:spLocks noGrp="1"/>
          </p:cNvSpPr>
          <p:nvPr>
            <p:ph type="title"/>
          </p:nvPr>
        </p:nvSpPr>
        <p:spPr/>
        <p:txBody>
          <a:bodyPr/>
          <a:lstStyle/>
          <a:p>
            <a:r>
              <a:rPr lang="en-US" dirty="0"/>
              <a:t>More Complex Application Design – </a:t>
            </a:r>
            <a:r>
              <a:rPr lang="en-US" dirty="0" err="1"/>
              <a:t>Sedov</a:t>
            </a:r>
            <a:r>
              <a:rPr lang="en-US" dirty="0"/>
              <a:t> Blast Wave</a:t>
            </a:r>
            <a:br>
              <a:rPr lang="en-US" dirty="0"/>
            </a:br>
            <a:endParaRPr lang="en-US" dirty="0"/>
          </a:p>
        </p:txBody>
      </p:sp>
      <p:pic>
        <p:nvPicPr>
          <p:cNvPr id="4" name="Picture 17" descr="&#10;sedov_pm3.png                                                  00238215Macintosh HD                   B746699A:">
            <a:extLst>
              <a:ext uri="{FF2B5EF4-FFF2-40B4-BE49-F238E27FC236}">
                <a16:creationId xmlns:a16="http://schemas.microsoft.com/office/drawing/2014/main" id="{525C433C-2878-C8D3-22FB-9973AF79D7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l="10492" t="8498" r="26555" b="9293"/>
          <a:stretch>
            <a:fillRect/>
          </a:stretch>
        </p:blipFill>
        <p:spPr bwMode="auto">
          <a:xfrm>
            <a:off x="1016654" y="3304089"/>
            <a:ext cx="3209089" cy="314243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ounded Rectangle 4">
            <a:extLst>
              <a:ext uri="{FF2B5EF4-FFF2-40B4-BE49-F238E27FC236}">
                <a16:creationId xmlns:a16="http://schemas.microsoft.com/office/drawing/2014/main" id="{9D73C691-1C18-175B-F248-2AD87723C5BF}"/>
              </a:ext>
            </a:extLst>
          </p:cNvPr>
          <p:cNvSpPr/>
          <p:nvPr/>
        </p:nvSpPr>
        <p:spPr>
          <a:xfrm>
            <a:off x="772160" y="1202813"/>
            <a:ext cx="5410266" cy="1698431"/>
          </a:xfrm>
          <a:prstGeom prst="roundRect">
            <a:avLst/>
          </a:prstGeom>
          <a:solidFill>
            <a:schemeClr val="accent5">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000" b="1" dirty="0">
                <a:solidFill>
                  <a:schemeClr val="bg1"/>
                </a:solidFill>
              </a:rPr>
              <a:t>Description</a:t>
            </a:r>
          </a:p>
          <a:p>
            <a:pPr>
              <a:lnSpc>
                <a:spcPct val="90000"/>
              </a:lnSpc>
            </a:pPr>
            <a:endParaRPr lang="en-US" sz="2000" b="1" dirty="0">
              <a:solidFill>
                <a:schemeClr val="bg1"/>
              </a:solidFill>
            </a:endParaRPr>
          </a:p>
          <a:p>
            <a:pPr>
              <a:lnSpc>
                <a:spcPct val="90000"/>
              </a:lnSpc>
            </a:pPr>
            <a:r>
              <a:rPr lang="en-US" sz="2000" dirty="0">
                <a:solidFill>
                  <a:schemeClr val="bg1"/>
                </a:solidFill>
              </a:rPr>
              <a:t>High pressure at the center cause a shock to moves out in a circle. High resolution is needed only at and near the shock</a:t>
            </a:r>
          </a:p>
        </p:txBody>
      </p:sp>
      <p:sp>
        <p:nvSpPr>
          <p:cNvPr id="6" name="Content Placeholder 2">
            <a:extLst>
              <a:ext uri="{FF2B5EF4-FFF2-40B4-BE49-F238E27FC236}">
                <a16:creationId xmlns:a16="http://schemas.microsoft.com/office/drawing/2014/main" id="{DF01B2E5-4098-B6B1-3360-034A76C375FA}"/>
              </a:ext>
            </a:extLst>
          </p:cNvPr>
          <p:cNvSpPr>
            <a:spLocks noGrp="1"/>
          </p:cNvSpPr>
          <p:nvPr>
            <p:ph idx="1"/>
          </p:nvPr>
        </p:nvSpPr>
        <p:spPr>
          <a:xfrm>
            <a:off x="6467743" y="1123343"/>
            <a:ext cx="4985173" cy="4611314"/>
          </a:xfrm>
        </p:spPr>
        <p:txBody>
          <a:bodyPr/>
          <a:lstStyle/>
          <a:p>
            <a:pPr marL="0" indent="0" algn="ctr">
              <a:buNone/>
            </a:pPr>
            <a:r>
              <a:rPr lang="en-US" b="1" dirty="0"/>
              <a:t>Requirements </a:t>
            </a:r>
          </a:p>
          <a:p>
            <a:r>
              <a:rPr lang="en-US" dirty="0"/>
              <a:t>Adaptive mesh refinement</a:t>
            </a:r>
          </a:p>
          <a:p>
            <a:pPr lvl="1"/>
            <a:r>
              <a:rPr lang="en-US" dirty="0"/>
              <a:t>Easiest with finite volume methods</a:t>
            </a:r>
          </a:p>
          <a:p>
            <a:r>
              <a:rPr lang="en-US" dirty="0"/>
              <a:t>Driver</a:t>
            </a:r>
          </a:p>
          <a:p>
            <a:r>
              <a:rPr lang="en-US" dirty="0"/>
              <a:t>I/O</a:t>
            </a:r>
          </a:p>
          <a:p>
            <a:r>
              <a:rPr lang="en-US" dirty="0"/>
              <a:t>Initial condition</a:t>
            </a:r>
          </a:p>
          <a:p>
            <a:r>
              <a:rPr lang="en-US" dirty="0"/>
              <a:t>Boundary condition</a:t>
            </a:r>
          </a:p>
          <a:p>
            <a:r>
              <a:rPr lang="en-US" dirty="0"/>
              <a:t>Shock Hydrodynamics</a:t>
            </a:r>
          </a:p>
          <a:p>
            <a:r>
              <a:rPr lang="en-US" dirty="0"/>
              <a:t>Ideal gas equation of state</a:t>
            </a:r>
          </a:p>
          <a:p>
            <a:r>
              <a:rPr lang="en-US" dirty="0"/>
              <a:t>Method of verification</a:t>
            </a:r>
          </a:p>
          <a:p>
            <a:pPr lvl="1"/>
            <a:endParaRPr lang="en-US" dirty="0"/>
          </a:p>
          <a:p>
            <a:pPr marL="684212" lvl="2" indent="0">
              <a:buNone/>
            </a:pPr>
            <a:endParaRPr lang="en-US" dirty="0"/>
          </a:p>
          <a:p>
            <a:pPr lvl="1"/>
            <a:endParaRPr lang="en-US" dirty="0"/>
          </a:p>
        </p:txBody>
      </p:sp>
    </p:spTree>
    <p:extLst>
      <p:ext uri="{BB962C8B-B14F-4D97-AF65-F5344CB8AC3E}">
        <p14:creationId xmlns:p14="http://schemas.microsoft.com/office/powerpoint/2010/main" val="314248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3AE14-E448-7BB2-D527-0B26AA17C5EE}"/>
              </a:ext>
            </a:extLst>
          </p:cNvPr>
          <p:cNvSpPr>
            <a:spLocks noGrp="1"/>
          </p:cNvSpPr>
          <p:nvPr>
            <p:ph type="title"/>
          </p:nvPr>
        </p:nvSpPr>
        <p:spPr/>
        <p:txBody>
          <a:bodyPr/>
          <a:lstStyle/>
          <a:p>
            <a:r>
              <a:rPr lang="en-US" dirty="0"/>
              <a:t>Deeper Dive into Requirements</a:t>
            </a:r>
          </a:p>
        </p:txBody>
      </p:sp>
      <p:sp>
        <p:nvSpPr>
          <p:cNvPr id="3" name="Content Placeholder 2">
            <a:extLst>
              <a:ext uri="{FF2B5EF4-FFF2-40B4-BE49-F238E27FC236}">
                <a16:creationId xmlns:a16="http://schemas.microsoft.com/office/drawing/2014/main" id="{7234CC62-0743-7AB7-1EC0-AD6705540627}"/>
              </a:ext>
            </a:extLst>
          </p:cNvPr>
          <p:cNvSpPr>
            <a:spLocks noGrp="1"/>
          </p:cNvSpPr>
          <p:nvPr>
            <p:ph idx="1"/>
          </p:nvPr>
        </p:nvSpPr>
        <p:spPr>
          <a:xfrm>
            <a:off x="450592" y="1229359"/>
            <a:ext cx="10273852" cy="5137573"/>
          </a:xfrm>
        </p:spPr>
        <p:txBody>
          <a:bodyPr/>
          <a:lstStyle/>
          <a:p>
            <a:r>
              <a:rPr lang="en-US" dirty="0"/>
              <a:t>Adaptive mesh refinement </a:t>
            </a:r>
            <a:r>
              <a:rPr lang="en-US" dirty="0">
                <a:sym typeface="Wingdings" panose="05000000000000000000" pitchFamily="2" charset="2"/>
              </a:rPr>
              <a:t></a:t>
            </a:r>
            <a:r>
              <a:rPr lang="en-US" dirty="0"/>
              <a:t> divide domain into blocks</a:t>
            </a:r>
          </a:p>
          <a:p>
            <a:pPr lvl="1"/>
            <a:r>
              <a:rPr lang="en-US" dirty="0"/>
              <a:t>Blocks need halos to be filled with values from neighbors or boundary conditions</a:t>
            </a:r>
          </a:p>
          <a:p>
            <a:pPr lvl="2"/>
            <a:r>
              <a:rPr lang="en-US" dirty="0"/>
              <a:t>At fine-coarse boundaries there is interpolation and restriction</a:t>
            </a:r>
          </a:p>
          <a:p>
            <a:pPr lvl="1"/>
            <a:r>
              <a:rPr lang="en-US" dirty="0"/>
              <a:t>Blocks are dynamic, go in and out of existence</a:t>
            </a:r>
          </a:p>
          <a:p>
            <a:pPr lvl="1"/>
            <a:r>
              <a:rPr lang="en-US" dirty="0"/>
              <a:t>Conservation needs reconciliation at fine-coarse boundaries</a:t>
            </a:r>
          </a:p>
          <a:p>
            <a:r>
              <a:rPr lang="en-US" dirty="0"/>
              <a:t>Shock hydrodynamics</a:t>
            </a:r>
          </a:p>
          <a:p>
            <a:pPr lvl="1"/>
            <a:r>
              <a:rPr lang="en-US" dirty="0"/>
              <a:t>Solver for Euler’s equations at discontinuities</a:t>
            </a:r>
          </a:p>
          <a:p>
            <a:pPr lvl="1"/>
            <a:r>
              <a:rPr lang="en-US" dirty="0"/>
              <a:t>EOS provides closure</a:t>
            </a:r>
          </a:p>
          <a:p>
            <a:pPr lvl="1"/>
            <a:r>
              <a:rPr lang="en-US" dirty="0"/>
              <a:t>Riemann solver</a:t>
            </a:r>
          </a:p>
          <a:p>
            <a:pPr lvl="1"/>
            <a:r>
              <a:rPr lang="en-US" dirty="0"/>
              <a:t>Halo cells are fine-coarse boundaries need EOS after interpolation</a:t>
            </a:r>
          </a:p>
          <a:p>
            <a:r>
              <a:rPr lang="en-US" dirty="0"/>
              <a:t>Method of verification</a:t>
            </a:r>
          </a:p>
          <a:p>
            <a:pPr lvl="1"/>
            <a:r>
              <a:rPr lang="en-US" dirty="0"/>
              <a:t>An indirect way of checking – shock distance traveled can be computed analytically</a:t>
            </a:r>
          </a:p>
          <a:p>
            <a:endParaRPr lang="en-US" dirty="0"/>
          </a:p>
        </p:txBody>
      </p:sp>
    </p:spTree>
    <p:extLst>
      <p:ext uri="{BB962C8B-B14F-4D97-AF65-F5344CB8AC3E}">
        <p14:creationId xmlns:p14="http://schemas.microsoft.com/office/powerpoint/2010/main" val="364874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7C93-979B-EF55-4109-2B0A4F2C2D71}"/>
              </a:ext>
            </a:extLst>
          </p:cNvPr>
          <p:cNvSpPr>
            <a:spLocks noGrp="1"/>
          </p:cNvSpPr>
          <p:nvPr>
            <p:ph type="title"/>
          </p:nvPr>
        </p:nvSpPr>
        <p:spPr/>
        <p:txBody>
          <a:bodyPr/>
          <a:lstStyle/>
          <a:p>
            <a:r>
              <a:rPr lang="en-US" dirty="0"/>
              <a:t>Components</a:t>
            </a:r>
          </a:p>
        </p:txBody>
      </p:sp>
      <p:sp>
        <p:nvSpPr>
          <p:cNvPr id="3" name="Content Placeholder 2">
            <a:extLst>
              <a:ext uri="{FF2B5EF4-FFF2-40B4-BE49-F238E27FC236}">
                <a16:creationId xmlns:a16="http://schemas.microsoft.com/office/drawing/2014/main" id="{C8AA873F-398D-29B2-A7D6-B628F8F14EEC}"/>
              </a:ext>
            </a:extLst>
          </p:cNvPr>
          <p:cNvSpPr>
            <a:spLocks noGrp="1"/>
          </p:cNvSpPr>
          <p:nvPr>
            <p:ph idx="1"/>
          </p:nvPr>
        </p:nvSpPr>
        <p:spPr>
          <a:xfrm>
            <a:off x="5848794" y="417223"/>
            <a:ext cx="5686237" cy="4736045"/>
          </a:xfrm>
        </p:spPr>
        <p:txBody>
          <a:bodyPr/>
          <a:lstStyle/>
          <a:p>
            <a:pPr marL="0" indent="0">
              <a:buNone/>
            </a:pPr>
            <a:r>
              <a:rPr lang="en-US" b="1" dirty="0"/>
              <a:t>Deeper Dive into some Components</a:t>
            </a:r>
          </a:p>
          <a:p>
            <a:r>
              <a:rPr lang="en-US" dirty="0"/>
              <a:t>Driver</a:t>
            </a:r>
          </a:p>
          <a:p>
            <a:pPr lvl="1"/>
            <a:r>
              <a:rPr lang="en-US" dirty="0"/>
              <a:t>Iterate over blocks</a:t>
            </a:r>
          </a:p>
          <a:p>
            <a:pPr lvl="1"/>
            <a:r>
              <a:rPr lang="en-US" dirty="0"/>
              <a:t>Implement connectivity</a:t>
            </a:r>
          </a:p>
          <a:p>
            <a:r>
              <a:rPr lang="en-US" dirty="0"/>
              <a:t>Mesh </a:t>
            </a:r>
          </a:p>
          <a:p>
            <a:pPr lvl="1"/>
            <a:r>
              <a:rPr lang="en-US" dirty="0"/>
              <a:t>Data containers</a:t>
            </a:r>
          </a:p>
          <a:p>
            <a:pPr lvl="1"/>
            <a:r>
              <a:rPr lang="en-US" dirty="0"/>
              <a:t>Halo cell fill, including application of boundary conditions</a:t>
            </a:r>
          </a:p>
          <a:p>
            <a:pPr lvl="1"/>
            <a:r>
              <a:rPr lang="en-US" dirty="0"/>
              <a:t>Reconciliation of quantities at fine-coarse block boundaries</a:t>
            </a:r>
          </a:p>
          <a:p>
            <a:pPr lvl="1"/>
            <a:r>
              <a:rPr lang="en-US" dirty="0"/>
              <a:t>Re-mesh when refinement patterns change</a:t>
            </a:r>
          </a:p>
          <a:p>
            <a:r>
              <a:rPr lang="en-US" dirty="0"/>
              <a:t>I/O</a:t>
            </a:r>
          </a:p>
          <a:p>
            <a:pPr lvl="1"/>
            <a:r>
              <a:rPr lang="en-US" dirty="0"/>
              <a:t>Getting runtime parameters and possibly initial conditions</a:t>
            </a:r>
          </a:p>
          <a:p>
            <a:pPr lvl="1"/>
            <a:r>
              <a:rPr lang="en-US" dirty="0"/>
              <a:t>Writing checkpoint and analysis data</a:t>
            </a:r>
          </a:p>
        </p:txBody>
      </p:sp>
      <p:sp>
        <p:nvSpPr>
          <p:cNvPr id="4" name="Content Placeholder 2">
            <a:extLst>
              <a:ext uri="{FF2B5EF4-FFF2-40B4-BE49-F238E27FC236}">
                <a16:creationId xmlns:a16="http://schemas.microsoft.com/office/drawing/2014/main" id="{C2745C9D-C83C-9672-418A-997D74409054}"/>
              </a:ext>
            </a:extLst>
          </p:cNvPr>
          <p:cNvSpPr txBox="1">
            <a:spLocks/>
          </p:cNvSpPr>
          <p:nvPr/>
        </p:nvSpPr>
        <p:spPr bwMode="auto">
          <a:xfrm>
            <a:off x="450592" y="1123343"/>
            <a:ext cx="4985173" cy="46113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230188" indent="-230188" algn="l" rtl="0" eaLnBrk="1" fontAlgn="base" hangingPunct="1">
              <a:lnSpc>
                <a:spcPct val="90000"/>
              </a:lnSpc>
              <a:spcBef>
                <a:spcPts val="1400"/>
              </a:spcBef>
              <a:spcAft>
                <a:spcPct val="0"/>
              </a:spcAft>
              <a:buClr>
                <a:srgbClr val="C00000"/>
              </a:buClr>
              <a:buFont typeface="Wingdings" pitchFamily="2" charset="2"/>
              <a:buChar char="q"/>
              <a:defRPr sz="2400" kern="1200">
                <a:solidFill>
                  <a:schemeClr val="tx1"/>
                </a:solidFill>
                <a:latin typeface="Arial" panose="020B0604020202020204" pitchFamily="34" charset="0"/>
                <a:ea typeface="+mn-ea"/>
                <a:cs typeface="Arial" panose="020B0604020202020204" pitchFamily="34" charset="0"/>
              </a:defRPr>
            </a:lvl1pPr>
            <a:lvl2pPr marL="625475" indent="-279400" algn="l" rtl="0" eaLnBrk="1" fontAlgn="base" hangingPunct="1">
              <a:lnSpc>
                <a:spcPct val="90000"/>
              </a:lnSpc>
              <a:spcBef>
                <a:spcPts val="800"/>
              </a:spcBef>
              <a:spcAft>
                <a:spcPct val="0"/>
              </a:spcAft>
              <a:buClr>
                <a:srgbClr val="C00000"/>
              </a:buClr>
              <a:buFont typeface="Wingdings" pitchFamily="2" charset="2"/>
              <a:buChar char="q"/>
              <a:defRPr sz="2000" kern="1200">
                <a:solidFill>
                  <a:schemeClr val="tx1"/>
                </a:solidFill>
                <a:latin typeface="Arial" panose="020B0604020202020204" pitchFamily="34" charset="0"/>
                <a:ea typeface="+mn-ea"/>
                <a:cs typeface="Arial" panose="020B0604020202020204" pitchFamily="34" charset="0"/>
              </a:defRPr>
            </a:lvl2pPr>
            <a:lvl3pPr marL="914400" indent="-230188" algn="l" rtl="0" eaLnBrk="1" fontAlgn="base" hangingPunct="1">
              <a:lnSpc>
                <a:spcPct val="90000"/>
              </a:lnSpc>
              <a:spcBef>
                <a:spcPts val="800"/>
              </a:spcBef>
              <a:spcAft>
                <a:spcPct val="0"/>
              </a:spcAft>
              <a:buClr>
                <a:srgbClr val="C00000"/>
              </a:buClr>
              <a:buFont typeface="Wingdings" pitchFamily="2" charset="2"/>
              <a:buChar char="q"/>
              <a:defRPr sz="1800" kern="1200">
                <a:solidFill>
                  <a:schemeClr val="tx1"/>
                </a:solidFill>
                <a:latin typeface="Arial" panose="020B0604020202020204" pitchFamily="34" charset="0"/>
                <a:ea typeface="+mn-ea"/>
                <a:cs typeface="Arial" panose="020B0604020202020204" pitchFamily="34" charset="0"/>
              </a:defRPr>
            </a:lvl3pPr>
            <a:lvl4pPr marL="1144588" indent="-173038" algn="l" rtl="0" eaLnBrk="1" fontAlgn="base" hangingPunct="1">
              <a:lnSpc>
                <a:spcPct val="90000"/>
              </a:lnSpc>
              <a:spcBef>
                <a:spcPts val="8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4pPr>
            <a:lvl5pPr marL="1482725" indent="-222250" algn="l" rtl="0" eaLnBrk="1" fontAlgn="base" hangingPunct="1">
              <a:lnSpc>
                <a:spcPct val="90000"/>
              </a:lnSpc>
              <a:spcBef>
                <a:spcPts val="600"/>
              </a:spcBef>
              <a:spcAft>
                <a:spcPct val="0"/>
              </a:spcAft>
              <a:buClr>
                <a:srgbClr val="C00000"/>
              </a:buClr>
              <a:buFont typeface="Wingdings" pitchFamily="2" charset="2"/>
              <a:buChar char="q"/>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Wingdings" pitchFamily="2" charset="2"/>
              <a:buNone/>
            </a:pPr>
            <a:r>
              <a:rPr lang="en-US" b="1" dirty="0"/>
              <a:t>Binned Components</a:t>
            </a:r>
          </a:p>
          <a:p>
            <a:r>
              <a:rPr lang="en-US" dirty="0"/>
              <a:t>Unchanging or slow changing infrastructure</a:t>
            </a:r>
          </a:p>
          <a:p>
            <a:pPr lvl="1"/>
            <a:r>
              <a:rPr lang="en-US" dirty="0"/>
              <a:t>Mesh</a:t>
            </a:r>
          </a:p>
          <a:p>
            <a:pPr lvl="1"/>
            <a:r>
              <a:rPr lang="en-US" dirty="0"/>
              <a:t>I/O</a:t>
            </a:r>
          </a:p>
          <a:p>
            <a:pPr lvl="1"/>
            <a:r>
              <a:rPr lang="en-US" dirty="0"/>
              <a:t>Driver</a:t>
            </a:r>
          </a:p>
          <a:p>
            <a:pPr lvl="1"/>
            <a:r>
              <a:rPr lang="en-US" dirty="0"/>
              <a:t>Comparison utility -- testing</a:t>
            </a:r>
          </a:p>
          <a:p>
            <a:r>
              <a:rPr lang="en-US" dirty="0"/>
              <a:t>Components evolving with research – physics solvers</a:t>
            </a:r>
          </a:p>
          <a:p>
            <a:pPr lvl="1"/>
            <a:r>
              <a:rPr lang="en-US" dirty="0"/>
              <a:t>Initial and boundary conditions</a:t>
            </a:r>
          </a:p>
          <a:p>
            <a:pPr lvl="1"/>
            <a:r>
              <a:rPr lang="en-US" dirty="0"/>
              <a:t>Hydrodynamics</a:t>
            </a:r>
          </a:p>
          <a:p>
            <a:pPr lvl="1"/>
            <a:r>
              <a:rPr lang="en-US" dirty="0"/>
              <a:t>EOS</a:t>
            </a:r>
          </a:p>
          <a:p>
            <a:pPr lvl="1"/>
            <a:endParaRPr lang="en-US" dirty="0"/>
          </a:p>
        </p:txBody>
      </p:sp>
    </p:spTree>
    <p:extLst>
      <p:ext uri="{BB962C8B-B14F-4D97-AF65-F5344CB8AC3E}">
        <p14:creationId xmlns:p14="http://schemas.microsoft.com/office/powerpoint/2010/main" val="3121996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2D979-DEC6-FE50-5CA2-2211F314A2F0}"/>
              </a:ext>
            </a:extLst>
          </p:cNvPr>
          <p:cNvSpPr>
            <a:spLocks noGrp="1"/>
          </p:cNvSpPr>
          <p:nvPr>
            <p:ph type="title"/>
          </p:nvPr>
        </p:nvSpPr>
        <p:spPr/>
        <p:txBody>
          <a:bodyPr/>
          <a:lstStyle/>
          <a:p>
            <a:r>
              <a:rPr lang="en-US" dirty="0"/>
              <a:t>Connectivity</a:t>
            </a:r>
          </a:p>
        </p:txBody>
      </p:sp>
      <p:sp>
        <p:nvSpPr>
          <p:cNvPr id="5" name="Rectangle 4">
            <a:extLst>
              <a:ext uri="{FF2B5EF4-FFF2-40B4-BE49-F238E27FC236}">
                <a16:creationId xmlns:a16="http://schemas.microsoft.com/office/drawing/2014/main" id="{073C3604-3BE4-3987-2FC0-94A24BFFF76A}"/>
              </a:ext>
            </a:extLst>
          </p:cNvPr>
          <p:cNvSpPr/>
          <p:nvPr/>
        </p:nvSpPr>
        <p:spPr>
          <a:xfrm>
            <a:off x="3104667" y="1406876"/>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Mesh</a:t>
            </a:r>
          </a:p>
        </p:txBody>
      </p:sp>
      <p:sp>
        <p:nvSpPr>
          <p:cNvPr id="6" name="Rectangle 5">
            <a:extLst>
              <a:ext uri="{FF2B5EF4-FFF2-40B4-BE49-F238E27FC236}">
                <a16:creationId xmlns:a16="http://schemas.microsoft.com/office/drawing/2014/main" id="{D202CB90-005C-1ED7-004A-A3E93C40BC3D}"/>
              </a:ext>
            </a:extLst>
          </p:cNvPr>
          <p:cNvSpPr/>
          <p:nvPr/>
        </p:nvSpPr>
        <p:spPr>
          <a:xfrm>
            <a:off x="3104668" y="4161767"/>
            <a:ext cx="1354666" cy="1151466"/>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I/O</a:t>
            </a:r>
          </a:p>
        </p:txBody>
      </p:sp>
      <p:sp>
        <p:nvSpPr>
          <p:cNvPr id="8" name="Rectangle 7">
            <a:extLst>
              <a:ext uri="{FF2B5EF4-FFF2-40B4-BE49-F238E27FC236}">
                <a16:creationId xmlns:a16="http://schemas.microsoft.com/office/drawing/2014/main" id="{BC2EE776-07F1-7626-0470-B8DFF279B207}"/>
              </a:ext>
            </a:extLst>
          </p:cNvPr>
          <p:cNvSpPr/>
          <p:nvPr/>
        </p:nvSpPr>
        <p:spPr>
          <a:xfrm>
            <a:off x="5173558" y="1406875"/>
            <a:ext cx="2081461"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Initial conditions</a:t>
            </a:r>
          </a:p>
        </p:txBody>
      </p:sp>
      <p:sp>
        <p:nvSpPr>
          <p:cNvPr id="10" name="Rectangle 9">
            <a:extLst>
              <a:ext uri="{FF2B5EF4-FFF2-40B4-BE49-F238E27FC236}">
                <a16:creationId xmlns:a16="http://schemas.microsoft.com/office/drawing/2014/main" id="{78820EAD-DA36-8931-80F9-2EC57E7E0B98}"/>
              </a:ext>
            </a:extLst>
          </p:cNvPr>
          <p:cNvSpPr/>
          <p:nvPr/>
        </p:nvSpPr>
        <p:spPr>
          <a:xfrm>
            <a:off x="7969241" y="1406875"/>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Boundary conditions</a:t>
            </a:r>
          </a:p>
        </p:txBody>
      </p:sp>
      <p:sp>
        <p:nvSpPr>
          <p:cNvPr id="11" name="Rectangle 10">
            <a:extLst>
              <a:ext uri="{FF2B5EF4-FFF2-40B4-BE49-F238E27FC236}">
                <a16:creationId xmlns:a16="http://schemas.microsoft.com/office/drawing/2014/main" id="{68E9402E-E2BE-60E5-059D-D660163B87C7}"/>
              </a:ext>
            </a:extLst>
          </p:cNvPr>
          <p:cNvSpPr/>
          <p:nvPr/>
        </p:nvSpPr>
        <p:spPr>
          <a:xfrm>
            <a:off x="1037552" y="2720380"/>
            <a:ext cx="1514299" cy="1151467"/>
          </a:xfrm>
          <a:prstGeom prst="rect">
            <a:avLst/>
          </a:prstGeom>
          <a:solidFill>
            <a:schemeClr val="accent3">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Driver</a:t>
            </a:r>
          </a:p>
        </p:txBody>
      </p:sp>
      <p:sp>
        <p:nvSpPr>
          <p:cNvPr id="20" name="Rectangle 19">
            <a:extLst>
              <a:ext uri="{FF2B5EF4-FFF2-40B4-BE49-F238E27FC236}">
                <a16:creationId xmlns:a16="http://schemas.microsoft.com/office/drawing/2014/main" id="{D4491153-3D9E-1ABD-5F37-C120E3C07400}"/>
              </a:ext>
            </a:extLst>
          </p:cNvPr>
          <p:cNvSpPr/>
          <p:nvPr/>
        </p:nvSpPr>
        <p:spPr>
          <a:xfrm>
            <a:off x="5173557" y="4161765"/>
            <a:ext cx="2081462"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Hydrodynamics</a:t>
            </a:r>
          </a:p>
        </p:txBody>
      </p:sp>
      <p:sp>
        <p:nvSpPr>
          <p:cNvPr id="21" name="Rectangle 20">
            <a:extLst>
              <a:ext uri="{FF2B5EF4-FFF2-40B4-BE49-F238E27FC236}">
                <a16:creationId xmlns:a16="http://schemas.microsoft.com/office/drawing/2014/main" id="{5815E1CA-2134-6506-0621-B2F4FD25E1B7}"/>
              </a:ext>
            </a:extLst>
          </p:cNvPr>
          <p:cNvSpPr/>
          <p:nvPr/>
        </p:nvSpPr>
        <p:spPr>
          <a:xfrm>
            <a:off x="7969242" y="4161764"/>
            <a:ext cx="1514299" cy="1151467"/>
          </a:xfrm>
          <a:prstGeom prst="rect">
            <a:avLst/>
          </a:prstGeom>
          <a:solidFill>
            <a:srgbClr val="7030A0"/>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EOS</a:t>
            </a:r>
          </a:p>
        </p:txBody>
      </p:sp>
      <p:cxnSp>
        <p:nvCxnSpPr>
          <p:cNvPr id="4" name="Elbow Connector 3">
            <a:extLst>
              <a:ext uri="{FF2B5EF4-FFF2-40B4-BE49-F238E27FC236}">
                <a16:creationId xmlns:a16="http://schemas.microsoft.com/office/drawing/2014/main" id="{7AAA52EF-D223-A281-CE1B-5232CF825680}"/>
              </a:ext>
            </a:extLst>
          </p:cNvPr>
          <p:cNvCxnSpPr>
            <a:stCxn id="11" idx="0"/>
          </p:cNvCxnSpPr>
          <p:nvPr/>
        </p:nvCxnSpPr>
        <p:spPr>
          <a:xfrm rot="5400000" flipH="1" flipV="1">
            <a:off x="2080798" y="1696512"/>
            <a:ext cx="737772" cy="1309965"/>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E169C7E3-0A27-A57F-A56A-79D04EFF6F69}"/>
              </a:ext>
            </a:extLst>
          </p:cNvPr>
          <p:cNvCxnSpPr>
            <a:stCxn id="11" idx="2"/>
            <a:endCxn id="6" idx="1"/>
          </p:cNvCxnSpPr>
          <p:nvPr/>
        </p:nvCxnSpPr>
        <p:spPr>
          <a:xfrm rot="16200000" flipH="1">
            <a:off x="2016859" y="3649690"/>
            <a:ext cx="865653" cy="1309966"/>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C283E849-E0D8-F20A-433B-68E63FEB8155}"/>
              </a:ext>
            </a:extLst>
          </p:cNvPr>
          <p:cNvCxnSpPr>
            <a:stCxn id="11" idx="3"/>
            <a:endCxn id="20" idx="0"/>
          </p:cNvCxnSpPr>
          <p:nvPr/>
        </p:nvCxnSpPr>
        <p:spPr>
          <a:xfrm>
            <a:off x="2551851" y="3296114"/>
            <a:ext cx="3662437" cy="865651"/>
          </a:xfrm>
          <a:prstGeom prst="bentConnector2">
            <a:avLst/>
          </a:prstGeom>
          <a:ln w="3810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2E244C6-E141-6F4E-511D-F60A2347A83C}"/>
              </a:ext>
            </a:extLst>
          </p:cNvPr>
          <p:cNvCxnSpPr>
            <a:stCxn id="20" idx="3"/>
            <a:endCxn id="21" idx="1"/>
          </p:cNvCxnSpPr>
          <p:nvPr/>
        </p:nvCxnSpPr>
        <p:spPr>
          <a:xfrm flipV="1">
            <a:off x="7255019" y="4737498"/>
            <a:ext cx="714223" cy="1"/>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C087F956-8F21-D0F5-3138-B73C9391A744}"/>
              </a:ext>
            </a:extLst>
          </p:cNvPr>
          <p:cNvCxnSpPr>
            <a:stCxn id="5" idx="2"/>
            <a:endCxn id="21" idx="0"/>
          </p:cNvCxnSpPr>
          <p:nvPr/>
        </p:nvCxnSpPr>
        <p:spPr>
          <a:xfrm rot="16200000" flipH="1">
            <a:off x="5492394" y="927765"/>
            <a:ext cx="1603421" cy="4864575"/>
          </a:xfrm>
          <a:prstGeom prst="bentConnector3">
            <a:avLst>
              <a:gd name="adj1" fmla="val 66508"/>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E6C2C823-19C1-AFAA-A352-47CDCF755DBF}"/>
              </a:ext>
            </a:extLst>
          </p:cNvPr>
          <p:cNvCxnSpPr>
            <a:stCxn id="5" idx="0"/>
            <a:endCxn id="10" idx="0"/>
          </p:cNvCxnSpPr>
          <p:nvPr/>
        </p:nvCxnSpPr>
        <p:spPr>
          <a:xfrm rot="5400000" flipH="1" flipV="1">
            <a:off x="6294104" y="-1025411"/>
            <a:ext cx="1" cy="4864574"/>
          </a:xfrm>
          <a:prstGeom prst="bentConnector3">
            <a:avLst>
              <a:gd name="adj1" fmla="val 22860100000"/>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66AF15F-8721-6D49-C3E5-568A897434FF}"/>
              </a:ext>
            </a:extLst>
          </p:cNvPr>
          <p:cNvCxnSpPr>
            <a:stCxn id="5" idx="3"/>
            <a:endCxn id="8" idx="1"/>
          </p:cNvCxnSpPr>
          <p:nvPr/>
        </p:nvCxnSpPr>
        <p:spPr>
          <a:xfrm flipV="1">
            <a:off x="4618966" y="1982609"/>
            <a:ext cx="554592" cy="1"/>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2E995D6C-FE0C-99F8-8097-065664F21916}"/>
              </a:ext>
            </a:extLst>
          </p:cNvPr>
          <p:cNvSpPr/>
          <p:nvPr/>
        </p:nvSpPr>
        <p:spPr>
          <a:xfrm>
            <a:off x="10378241" y="2853266"/>
            <a:ext cx="1514299" cy="1151467"/>
          </a:xfrm>
          <a:prstGeom prst="rect">
            <a:avLst/>
          </a:prstGeom>
          <a:solidFill>
            <a:schemeClr val="accent5">
              <a:lumMod val="75000"/>
            </a:schemeClr>
          </a:solidFill>
          <a:ln w="38100">
            <a:solidFill>
              <a:schemeClr val="tx2">
                <a:lumMod val="75000"/>
              </a:schemeClr>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Tests</a:t>
            </a:r>
          </a:p>
        </p:txBody>
      </p:sp>
      <p:cxnSp>
        <p:nvCxnSpPr>
          <p:cNvPr id="30" name="Straight Arrow Connector 29">
            <a:extLst>
              <a:ext uri="{FF2B5EF4-FFF2-40B4-BE49-F238E27FC236}">
                <a16:creationId xmlns:a16="http://schemas.microsoft.com/office/drawing/2014/main" id="{06D32AF3-9ABA-8F8A-A387-1B013C759701}"/>
              </a:ext>
            </a:extLst>
          </p:cNvPr>
          <p:cNvCxnSpPr>
            <a:stCxn id="28" idx="1"/>
            <a:endCxn id="5" idx="2"/>
          </p:cNvCxnSpPr>
          <p:nvPr/>
        </p:nvCxnSpPr>
        <p:spPr>
          <a:xfrm flipH="1" flipV="1">
            <a:off x="3861817" y="2558343"/>
            <a:ext cx="6516424" cy="87065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DB496B5-27B5-19C1-D9FB-11610197C7D5}"/>
              </a:ext>
            </a:extLst>
          </p:cNvPr>
          <p:cNvCxnSpPr>
            <a:stCxn id="28" idx="1"/>
            <a:endCxn id="6" idx="0"/>
          </p:cNvCxnSpPr>
          <p:nvPr/>
        </p:nvCxnSpPr>
        <p:spPr>
          <a:xfrm flipH="1">
            <a:off x="3782001" y="3429000"/>
            <a:ext cx="6596240" cy="732767"/>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8480AB6-0E08-760E-A563-60DF8A8A88F3}"/>
              </a:ext>
            </a:extLst>
          </p:cNvPr>
          <p:cNvCxnSpPr>
            <a:stCxn id="28" idx="1"/>
            <a:endCxn id="21" idx="0"/>
          </p:cNvCxnSpPr>
          <p:nvPr/>
        </p:nvCxnSpPr>
        <p:spPr>
          <a:xfrm flipH="1">
            <a:off x="8726392" y="3429000"/>
            <a:ext cx="1651849" cy="732764"/>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7429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1708778" y="1762304"/>
            <a:ext cx="3709959" cy="4017451"/>
            <a:chOff x="-314717" y="643786"/>
            <a:chExt cx="4946614" cy="5356602"/>
          </a:xfrm>
        </p:grpSpPr>
        <p:sp>
          <p:nvSpPr>
            <p:cNvPr id="4" name="TextBox 3"/>
            <p:cNvSpPr txBox="1"/>
            <p:nvPr/>
          </p:nvSpPr>
          <p:spPr>
            <a:xfrm>
              <a:off x="1082915" y="643786"/>
              <a:ext cx="2161276"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Requirements</a:t>
              </a:r>
            </a:p>
          </p:txBody>
        </p:sp>
        <p:sp>
          <p:nvSpPr>
            <p:cNvPr id="8" name="TextBox 7"/>
            <p:cNvSpPr txBox="1"/>
            <p:nvPr/>
          </p:nvSpPr>
          <p:spPr>
            <a:xfrm>
              <a:off x="-314717" y="1661953"/>
              <a:ext cx="4946614" cy="492443"/>
            </a:xfrm>
            <a:prstGeom prst="rect">
              <a:avLst/>
            </a:prstGeom>
            <a:solidFill>
              <a:srgbClr val="DF6474"/>
            </a:solidFill>
            <a:ln>
              <a:solidFill>
                <a:schemeClr val="tx1"/>
              </a:solidFill>
            </a:ln>
          </p:spPr>
          <p:txBody>
            <a:bodyPr wrap="square" rtlCol="0">
              <a:spAutoFit/>
            </a:bodyPr>
            <a:lstStyle/>
            <a:p>
              <a:r>
                <a:rPr lang="en-US" dirty="0"/>
                <a:t>Software Architecture API  Design</a:t>
              </a:r>
            </a:p>
          </p:txBody>
        </p:sp>
        <p:sp>
          <p:nvSpPr>
            <p:cNvPr id="10" name="TextBox 9"/>
            <p:cNvSpPr txBox="1"/>
            <p:nvPr/>
          </p:nvSpPr>
          <p:spPr>
            <a:xfrm>
              <a:off x="1317335" y="2878282"/>
              <a:ext cx="1682512"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Implement</a:t>
              </a:r>
            </a:p>
          </p:txBody>
        </p:sp>
        <p:sp>
          <p:nvSpPr>
            <p:cNvPr id="11" name="TextBox 10"/>
            <p:cNvSpPr txBox="1"/>
            <p:nvPr/>
          </p:nvSpPr>
          <p:spPr>
            <a:xfrm>
              <a:off x="1753309" y="3705933"/>
              <a:ext cx="810564" cy="492443"/>
            </a:xfrm>
            <a:prstGeom prst="rect">
              <a:avLst/>
            </a:prstGeom>
            <a:solidFill>
              <a:srgbClr val="DF6474"/>
            </a:solidFill>
            <a:ln>
              <a:solidFill>
                <a:schemeClr val="tx1"/>
              </a:solidFill>
            </a:ln>
          </p:spPr>
          <p:txBody>
            <a:bodyPr wrap="none" rtlCol="0">
              <a:spAutoFit/>
            </a:bodyPr>
            <a:lstStyle/>
            <a:p>
              <a:r>
                <a:rPr lang="en-US" dirty="0"/>
                <a:t>Test</a:t>
              </a:r>
            </a:p>
          </p:txBody>
        </p:sp>
        <p:sp>
          <p:nvSpPr>
            <p:cNvPr id="12" name="TextBox 11"/>
            <p:cNvSpPr txBox="1"/>
            <p:nvPr/>
          </p:nvSpPr>
          <p:spPr>
            <a:xfrm>
              <a:off x="1469618" y="4687727"/>
              <a:ext cx="1408934" cy="492443"/>
            </a:xfrm>
            <a:prstGeom prst="rect">
              <a:avLst/>
            </a:prstGeom>
            <a:solidFill>
              <a:schemeClr val="accent1">
                <a:lumMod val="20000"/>
                <a:lumOff val="80000"/>
              </a:schemeClr>
            </a:solidFill>
            <a:ln>
              <a:solidFill>
                <a:schemeClr val="tx1"/>
              </a:solidFill>
            </a:ln>
          </p:spPr>
          <p:txBody>
            <a:bodyPr wrap="none" rtlCol="0">
              <a:spAutoFit/>
            </a:bodyPr>
            <a:lstStyle/>
            <a:p>
              <a:r>
                <a:rPr lang="en-US" dirty="0"/>
                <a:t>Maintain</a:t>
              </a:r>
            </a:p>
          </p:txBody>
        </p:sp>
        <p:sp>
          <p:nvSpPr>
            <p:cNvPr id="13" name="TextBox 12"/>
            <p:cNvSpPr txBox="1"/>
            <p:nvPr/>
          </p:nvSpPr>
          <p:spPr>
            <a:xfrm>
              <a:off x="1435421" y="5507945"/>
              <a:ext cx="1477328" cy="492443"/>
            </a:xfrm>
            <a:prstGeom prst="rect">
              <a:avLst/>
            </a:prstGeom>
            <a:solidFill>
              <a:srgbClr val="DF6474"/>
            </a:solidFill>
            <a:ln>
              <a:solidFill>
                <a:schemeClr val="tx1"/>
              </a:solidFill>
            </a:ln>
          </p:spPr>
          <p:txBody>
            <a:bodyPr wrap="none" rtlCol="0">
              <a:spAutoFit/>
            </a:bodyPr>
            <a:lstStyle/>
            <a:p>
              <a:r>
                <a:rPr lang="en-US" dirty="0"/>
                <a:t>Augment</a:t>
              </a:r>
            </a:p>
          </p:txBody>
        </p:sp>
        <p:cxnSp>
          <p:nvCxnSpPr>
            <p:cNvPr id="21" name="Straight Arrow Connector 20"/>
            <p:cNvCxnSpPr>
              <a:cxnSpLocks/>
              <a:stCxn id="4" idx="2"/>
              <a:endCxn id="8" idx="0"/>
            </p:cNvCxnSpPr>
            <p:nvPr/>
          </p:nvCxnSpPr>
          <p:spPr>
            <a:xfrm flipH="1">
              <a:off x="2158591" y="1136229"/>
              <a:ext cx="4963" cy="52572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cxnSpLocks/>
              <a:stCxn id="8" idx="2"/>
              <a:endCxn id="10" idx="0"/>
            </p:cNvCxnSpPr>
            <p:nvPr/>
          </p:nvCxnSpPr>
          <p:spPr>
            <a:xfrm>
              <a:off x="2158591" y="2154396"/>
              <a:ext cx="1" cy="7238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cxnSpLocks/>
              <a:stCxn id="10" idx="2"/>
              <a:endCxn id="11" idx="0"/>
            </p:cNvCxnSpPr>
            <p:nvPr/>
          </p:nvCxnSpPr>
          <p:spPr>
            <a:xfrm>
              <a:off x="2158591" y="3370725"/>
              <a:ext cx="0" cy="33520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cxnSpLocks/>
              <a:stCxn id="11" idx="2"/>
              <a:endCxn id="12" idx="0"/>
            </p:cNvCxnSpPr>
            <p:nvPr/>
          </p:nvCxnSpPr>
          <p:spPr>
            <a:xfrm>
              <a:off x="2158591" y="4198376"/>
              <a:ext cx="15493" cy="48935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cxnSpLocks/>
              <a:stCxn id="12" idx="2"/>
              <a:endCxn id="13" idx="0"/>
            </p:cNvCxnSpPr>
            <p:nvPr/>
          </p:nvCxnSpPr>
          <p:spPr>
            <a:xfrm>
              <a:off x="2174085" y="5180169"/>
              <a:ext cx="0" cy="327776"/>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310296" y="1774641"/>
            <a:ext cx="2020861" cy="4019171"/>
            <a:chOff x="5164498" y="592290"/>
            <a:chExt cx="1460230" cy="5021045"/>
          </a:xfrm>
        </p:grpSpPr>
        <p:sp>
          <p:nvSpPr>
            <p:cNvPr id="14" name="TextBox 13"/>
            <p:cNvSpPr txBox="1"/>
            <p:nvPr/>
          </p:nvSpPr>
          <p:spPr>
            <a:xfrm>
              <a:off x="5361852" y="592290"/>
              <a:ext cx="1084058"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Model</a:t>
              </a:r>
            </a:p>
          </p:txBody>
        </p:sp>
        <p:sp>
          <p:nvSpPr>
            <p:cNvPr id="15" name="TextBox 14"/>
            <p:cNvSpPr txBox="1"/>
            <p:nvPr/>
          </p:nvSpPr>
          <p:spPr>
            <a:xfrm>
              <a:off x="5532838" y="1524766"/>
              <a:ext cx="742084" cy="492443"/>
            </a:xfrm>
            <a:prstGeom prst="rect">
              <a:avLst/>
            </a:prstGeom>
            <a:solidFill>
              <a:srgbClr val="DF6474"/>
            </a:solidFill>
            <a:ln>
              <a:solidFill>
                <a:schemeClr val="tx1"/>
              </a:solidFill>
            </a:ln>
          </p:spPr>
          <p:txBody>
            <a:bodyPr wrap="none" rtlCol="0">
              <a:spAutoFit/>
            </a:bodyPr>
            <a:lstStyle/>
            <a:p>
              <a:r>
                <a:rPr lang="en-US" dirty="0"/>
                <a:t>API</a:t>
              </a:r>
            </a:p>
          </p:txBody>
        </p:sp>
        <p:sp>
          <p:nvSpPr>
            <p:cNvPr id="16" name="TextBox 15"/>
            <p:cNvSpPr txBox="1"/>
            <p:nvPr/>
          </p:nvSpPr>
          <p:spPr>
            <a:xfrm>
              <a:off x="5210370" y="2666866"/>
              <a:ext cx="1374735" cy="861775"/>
            </a:xfrm>
            <a:prstGeom prst="rect">
              <a:avLst/>
            </a:prstGeom>
            <a:solidFill>
              <a:schemeClr val="accent3">
                <a:lumMod val="20000"/>
                <a:lumOff val="80000"/>
              </a:schemeClr>
            </a:solidFill>
            <a:ln>
              <a:solidFill>
                <a:schemeClr val="tx1"/>
              </a:solidFill>
            </a:ln>
          </p:spPr>
          <p:txBody>
            <a:bodyPr wrap="none" rtlCol="0">
              <a:spAutoFit/>
            </a:bodyPr>
            <a:lstStyle/>
            <a:p>
              <a:r>
                <a:rPr lang="en-US" dirty="0"/>
                <a:t>Design</a:t>
              </a:r>
            </a:p>
            <a:p>
              <a:r>
                <a:rPr lang="en-US" dirty="0"/>
                <a:t>Develop</a:t>
              </a:r>
            </a:p>
          </p:txBody>
        </p:sp>
        <p:sp>
          <p:nvSpPr>
            <p:cNvPr id="18" name="TextBox 17"/>
            <p:cNvSpPr txBox="1"/>
            <p:nvPr/>
          </p:nvSpPr>
          <p:spPr>
            <a:xfrm>
              <a:off x="5225813" y="3935140"/>
              <a:ext cx="1334811" cy="492443"/>
            </a:xfrm>
            <a:prstGeom prst="rect">
              <a:avLst/>
            </a:prstGeom>
            <a:solidFill>
              <a:schemeClr val="accent3">
                <a:lumMod val="20000"/>
                <a:lumOff val="80000"/>
              </a:schemeClr>
            </a:solidFill>
            <a:ln>
              <a:solidFill>
                <a:schemeClr val="tx1"/>
              </a:solidFill>
            </a:ln>
          </p:spPr>
          <p:txBody>
            <a:bodyPr wrap="none" rtlCol="0">
              <a:spAutoFit/>
            </a:bodyPr>
            <a:lstStyle/>
            <a:p>
              <a:r>
                <a:rPr lang="en-US" dirty="0"/>
                <a:t>Validate</a:t>
              </a:r>
            </a:p>
          </p:txBody>
        </p:sp>
        <p:sp>
          <p:nvSpPr>
            <p:cNvPr id="19" name="TextBox 18"/>
            <p:cNvSpPr txBox="1"/>
            <p:nvPr/>
          </p:nvSpPr>
          <p:spPr>
            <a:xfrm>
              <a:off x="5164498" y="5120893"/>
              <a:ext cx="1460230" cy="492442"/>
            </a:xfrm>
            <a:prstGeom prst="rect">
              <a:avLst/>
            </a:prstGeom>
            <a:solidFill>
              <a:srgbClr val="DF6474"/>
            </a:solidFill>
            <a:ln>
              <a:solidFill>
                <a:schemeClr val="tx1"/>
              </a:solidFill>
            </a:ln>
          </p:spPr>
          <p:txBody>
            <a:bodyPr wrap="none" rtlCol="0">
              <a:spAutoFit/>
            </a:bodyPr>
            <a:lstStyle/>
            <a:p>
              <a:r>
                <a:rPr lang="en-US" dirty="0"/>
                <a:t>Integrate</a:t>
              </a:r>
            </a:p>
          </p:txBody>
        </p:sp>
        <p:cxnSp>
          <p:nvCxnSpPr>
            <p:cNvPr id="33" name="Straight Arrow Connector 32"/>
            <p:cNvCxnSpPr>
              <a:cxnSpLocks/>
              <a:stCxn id="14" idx="2"/>
              <a:endCxn id="15" idx="0"/>
            </p:cNvCxnSpPr>
            <p:nvPr/>
          </p:nvCxnSpPr>
          <p:spPr>
            <a:xfrm flipH="1">
              <a:off x="5903880" y="1084732"/>
              <a:ext cx="1" cy="44003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cxnSpLocks/>
              <a:stCxn id="15" idx="2"/>
              <a:endCxn id="16" idx="0"/>
            </p:cNvCxnSpPr>
            <p:nvPr/>
          </p:nvCxnSpPr>
          <p:spPr>
            <a:xfrm flipH="1">
              <a:off x="5897738" y="2017209"/>
              <a:ext cx="6143" cy="64965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cxnSpLocks/>
              <a:stCxn id="16" idx="2"/>
              <a:endCxn id="18" idx="0"/>
            </p:cNvCxnSpPr>
            <p:nvPr/>
          </p:nvCxnSpPr>
          <p:spPr>
            <a:xfrm flipH="1">
              <a:off x="5893218" y="3528641"/>
              <a:ext cx="4520" cy="40649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a:cxnSpLocks/>
              <a:stCxn id="18" idx="2"/>
              <a:endCxn id="19" idx="0"/>
            </p:cNvCxnSpPr>
            <p:nvPr/>
          </p:nvCxnSpPr>
          <p:spPr>
            <a:xfrm>
              <a:off x="5893219" y="4427583"/>
              <a:ext cx="1395" cy="69330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cxnSp>
        <p:nvCxnSpPr>
          <p:cNvPr id="68" name="Elbow Connector 67"/>
          <p:cNvCxnSpPr>
            <a:cxnSpLocks/>
            <a:stCxn id="13" idx="1"/>
            <a:endCxn id="8" idx="1"/>
          </p:cNvCxnSpPr>
          <p:nvPr/>
        </p:nvCxnSpPr>
        <p:spPr>
          <a:xfrm rot="10800000">
            <a:off x="1708779" y="2710595"/>
            <a:ext cx="1312603" cy="2884494"/>
          </a:xfrm>
          <a:prstGeom prst="bentConnector3">
            <a:avLst>
              <a:gd name="adj1" fmla="val 117416"/>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0" name="Elbow Connector 69"/>
          <p:cNvCxnSpPr>
            <a:cxnSpLocks/>
            <a:stCxn id="18" idx="3"/>
            <a:endCxn id="16" idx="3"/>
          </p:cNvCxnSpPr>
          <p:nvPr/>
        </p:nvCxnSpPr>
        <p:spPr>
          <a:xfrm flipV="1">
            <a:off x="7242441" y="3780178"/>
            <a:ext cx="33881" cy="867390"/>
          </a:xfrm>
          <a:prstGeom prst="bentConnector3">
            <a:avLst>
              <a:gd name="adj1" fmla="val 774714"/>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76016" y="1122844"/>
            <a:ext cx="1544012" cy="369332"/>
          </a:xfrm>
          <a:prstGeom prst="rect">
            <a:avLst/>
          </a:prstGeom>
          <a:noFill/>
        </p:spPr>
        <p:txBody>
          <a:bodyPr wrap="none" rtlCol="0">
            <a:spAutoFit/>
          </a:bodyPr>
          <a:lstStyle/>
          <a:p>
            <a:r>
              <a:rPr lang="en-US" dirty="0"/>
              <a:t>Infrastructure</a:t>
            </a:r>
          </a:p>
        </p:txBody>
      </p:sp>
      <p:sp>
        <p:nvSpPr>
          <p:cNvPr id="75" name="TextBox 74"/>
          <p:cNvSpPr txBox="1"/>
          <p:nvPr/>
        </p:nvSpPr>
        <p:spPr>
          <a:xfrm>
            <a:off x="5310296" y="1138269"/>
            <a:ext cx="1377300" cy="369332"/>
          </a:xfrm>
          <a:prstGeom prst="rect">
            <a:avLst/>
          </a:prstGeom>
          <a:noFill/>
        </p:spPr>
        <p:txBody>
          <a:bodyPr wrap="none" rtlCol="0">
            <a:spAutoFit/>
          </a:bodyPr>
          <a:lstStyle/>
          <a:p>
            <a:r>
              <a:rPr lang="en-US" dirty="0"/>
              <a:t>Capabilities</a:t>
            </a:r>
          </a:p>
        </p:txBody>
      </p:sp>
      <p:cxnSp>
        <p:nvCxnSpPr>
          <p:cNvPr id="77" name="Elbow Connector 76"/>
          <p:cNvCxnSpPr>
            <a:cxnSpLocks/>
            <a:stCxn id="19" idx="1"/>
            <a:endCxn id="13" idx="3"/>
          </p:cNvCxnSpPr>
          <p:nvPr/>
        </p:nvCxnSpPr>
        <p:spPr>
          <a:xfrm rot="10800000">
            <a:off x="4129378" y="5595089"/>
            <a:ext cx="1180919" cy="163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1" name="Elbow Connector 80"/>
          <p:cNvCxnSpPr>
            <a:cxnSpLocks/>
            <a:stCxn id="8" idx="3"/>
            <a:endCxn id="15" idx="1"/>
          </p:cNvCxnSpPr>
          <p:nvPr/>
        </p:nvCxnSpPr>
        <p:spPr>
          <a:xfrm>
            <a:off x="5418737" y="2710595"/>
            <a:ext cx="401317" cy="7552"/>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84" name="Elbow Connector 83"/>
          <p:cNvCxnSpPr>
            <a:cxnSpLocks/>
            <a:stCxn id="11" idx="1"/>
            <a:endCxn id="4" idx="1"/>
          </p:cNvCxnSpPr>
          <p:nvPr/>
        </p:nvCxnSpPr>
        <p:spPr>
          <a:xfrm rot="10800000">
            <a:off x="2757003" y="1946970"/>
            <a:ext cx="502795" cy="2296610"/>
          </a:xfrm>
          <a:prstGeom prst="bentConnector3">
            <a:avLst>
              <a:gd name="adj1" fmla="val 35186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 name="Elbow Connector 2"/>
          <p:cNvCxnSpPr>
            <a:cxnSpLocks/>
            <a:stCxn id="19" idx="1"/>
            <a:endCxn id="11" idx="3"/>
          </p:cNvCxnSpPr>
          <p:nvPr/>
        </p:nvCxnSpPr>
        <p:spPr>
          <a:xfrm rot="10800000">
            <a:off x="3867720" y="4243581"/>
            <a:ext cx="1442576" cy="1353141"/>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4" name="Title 1">
            <a:extLst>
              <a:ext uri="{FF2B5EF4-FFF2-40B4-BE49-F238E27FC236}">
                <a16:creationId xmlns:a16="http://schemas.microsoft.com/office/drawing/2014/main" id="{A172EDB7-CE70-8B47-8CF0-8A8FF97B00F5}"/>
              </a:ext>
            </a:extLst>
          </p:cNvPr>
          <p:cNvSpPr>
            <a:spLocks noGrp="1"/>
          </p:cNvSpPr>
          <p:nvPr>
            <p:ph type="title"/>
          </p:nvPr>
        </p:nvSpPr>
        <p:spPr>
          <a:xfrm>
            <a:off x="484042" y="219522"/>
            <a:ext cx="9652508" cy="615799"/>
          </a:xfrm>
        </p:spPr>
        <p:txBody>
          <a:bodyPr/>
          <a:lstStyle/>
          <a:p>
            <a:r>
              <a:rPr lang="en-US" dirty="0"/>
              <a:t>A Design Model for Separation of Concerns</a:t>
            </a:r>
          </a:p>
        </p:txBody>
      </p:sp>
    </p:spTree>
    <p:extLst>
      <p:ext uri="{BB962C8B-B14F-4D97-AF65-F5344CB8AC3E}">
        <p14:creationId xmlns:p14="http://schemas.microsoft.com/office/powerpoint/2010/main" val="1164973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Rectangle 10"/>
          <p:cNvSpPr>
            <a:spLocks noChangeArrowheads="1"/>
          </p:cNvSpPr>
          <p:nvPr/>
        </p:nvSpPr>
        <p:spPr bwMode="auto">
          <a:xfrm>
            <a:off x="1134300" y="2377899"/>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1134300" y="3587404"/>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2907483" y="1197373"/>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2880626" y="3566208"/>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1150315" y="1193277"/>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2449092" y="1622312"/>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1791696" y="3235372"/>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2880626" y="2192650"/>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1791696" y="2051346"/>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2449092" y="3964670"/>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0603171" cy="617451"/>
          </a:xfrm>
        </p:spPr>
        <p:txBody>
          <a:bodyPr>
            <a:noAutofit/>
          </a:bodyPr>
          <a:lstStyle/>
          <a:p>
            <a:r>
              <a:rPr lang="en-US" dirty="0"/>
              <a:t>Exploring design space – Abstractions</a:t>
            </a:r>
          </a:p>
        </p:txBody>
      </p:sp>
      <p:sp>
        <p:nvSpPr>
          <p:cNvPr id="4" name="TextBox 3">
            <a:extLst>
              <a:ext uri="{FF2B5EF4-FFF2-40B4-BE49-F238E27FC236}">
                <a16:creationId xmlns:a16="http://schemas.microsoft.com/office/drawing/2014/main" id="{38553666-1900-2B75-8B0E-235AF58DE75B}"/>
              </a:ext>
            </a:extLst>
          </p:cNvPr>
          <p:cNvSpPr txBox="1"/>
          <p:nvPr/>
        </p:nvSpPr>
        <p:spPr>
          <a:xfrm>
            <a:off x="4565171" y="2515682"/>
            <a:ext cx="1368580" cy="683264"/>
          </a:xfrm>
          <a:prstGeom prst="rect">
            <a:avLst/>
          </a:prstGeom>
          <a:noFill/>
        </p:spPr>
        <p:txBody>
          <a:bodyPr wrap="none" lIns="118872" tIns="91440" rIns="118872" bIns="91440" rtlCol="0" anchor="ctr" anchorCtr="0">
            <a:spAutoFit/>
          </a:bodyPr>
          <a:lstStyle/>
          <a:p>
            <a:pPr algn="l">
              <a:lnSpc>
                <a:spcPct val="90000"/>
              </a:lnSpc>
            </a:pPr>
            <a:r>
              <a:rPr lang="en-US" dirty="0"/>
              <a:t>base</a:t>
            </a:r>
          </a:p>
          <a:p>
            <a:pPr algn="l">
              <a:lnSpc>
                <a:spcPct val="90000"/>
              </a:lnSpc>
            </a:pPr>
            <a:r>
              <a:rPr lang="en-US" dirty="0"/>
              <a:t>abstraction</a:t>
            </a:r>
          </a:p>
        </p:txBody>
      </p:sp>
      <p:cxnSp>
        <p:nvCxnSpPr>
          <p:cNvPr id="6" name="Straight Arrow Connector 5">
            <a:extLst>
              <a:ext uri="{FF2B5EF4-FFF2-40B4-BE49-F238E27FC236}">
                <a16:creationId xmlns:a16="http://schemas.microsoft.com/office/drawing/2014/main" id="{3ADA2093-38D0-DE4C-ACEF-EC2E4394A465}"/>
              </a:ext>
            </a:extLst>
          </p:cNvPr>
          <p:cNvCxnSpPr>
            <a:stCxn id="4" idx="1"/>
          </p:cNvCxnSpPr>
          <p:nvPr/>
        </p:nvCxnSpPr>
        <p:spPr>
          <a:xfrm flipH="1">
            <a:off x="4279440" y="2857314"/>
            <a:ext cx="285731"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DD4263B-CCBD-ADC6-2EEE-6691E44E51EC}"/>
              </a:ext>
            </a:extLst>
          </p:cNvPr>
          <p:cNvSpPr>
            <a:spLocks noGrp="1"/>
          </p:cNvSpPr>
          <p:nvPr>
            <p:ph idx="1"/>
          </p:nvPr>
        </p:nvSpPr>
        <p:spPr>
          <a:xfrm>
            <a:off x="6745575" y="850204"/>
            <a:ext cx="4780827" cy="3214633"/>
          </a:xfrm>
        </p:spPr>
        <p:txBody>
          <a:bodyPr>
            <a:normAutofit fontScale="92500" lnSpcReduction="10000"/>
          </a:bodyPr>
          <a:lstStyle/>
          <a:p>
            <a:pPr marL="0" indent="0">
              <a:buNone/>
            </a:pPr>
            <a:r>
              <a:rPr lang="en-US" b="1" dirty="0"/>
              <a:t>Constraints</a:t>
            </a:r>
          </a:p>
          <a:p>
            <a:r>
              <a:rPr lang="en-US" dirty="0"/>
              <a:t>Only infrastructure components have global view</a:t>
            </a:r>
          </a:p>
          <a:p>
            <a:r>
              <a:rPr lang="en-US" dirty="0"/>
              <a:t>All physics solvers have block view only </a:t>
            </a:r>
          </a:p>
          <a:p>
            <a:pPr marL="0" indent="0">
              <a:buNone/>
            </a:pPr>
            <a:r>
              <a:rPr lang="en-US" b="1" dirty="0"/>
              <a:t>Other Design Considerations</a:t>
            </a:r>
          </a:p>
          <a:p>
            <a:r>
              <a:rPr lang="en-US" dirty="0"/>
              <a:t>Data scoping</a:t>
            </a:r>
          </a:p>
          <a:p>
            <a:r>
              <a:rPr lang="en-US" dirty="0"/>
              <a:t>Interfaces in the API</a:t>
            </a:r>
          </a:p>
        </p:txBody>
      </p:sp>
      <p:sp>
        <p:nvSpPr>
          <p:cNvPr id="12" name="Rectangle 11">
            <a:extLst>
              <a:ext uri="{FF2B5EF4-FFF2-40B4-BE49-F238E27FC236}">
                <a16:creationId xmlns:a16="http://schemas.microsoft.com/office/drawing/2014/main" id="{EE143440-86F8-9879-21C5-00C0F7D87A6F}"/>
              </a:ext>
            </a:extLst>
          </p:cNvPr>
          <p:cNvSpPr/>
          <p:nvPr/>
        </p:nvSpPr>
        <p:spPr>
          <a:xfrm>
            <a:off x="6867099" y="4096070"/>
            <a:ext cx="3804356" cy="1740032"/>
          </a:xfrm>
          <a:prstGeom prst="rect">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r>
              <a:rPr lang="en-US" sz="2000" dirty="0">
                <a:solidFill>
                  <a:schemeClr val="bg1"/>
                </a:solidFill>
              </a:rPr>
              <a:t>Minimal Mesh API</a:t>
            </a:r>
          </a:p>
          <a:p>
            <a:pPr marL="342900" indent="-342900">
              <a:lnSpc>
                <a:spcPct val="90000"/>
              </a:lnSpc>
              <a:buFont typeface="Arial" panose="020B0604020202020204" pitchFamily="34" charset="0"/>
              <a:buChar char="•"/>
            </a:pPr>
            <a:r>
              <a:rPr lang="en-US" sz="2000" dirty="0" err="1">
                <a:solidFill>
                  <a:schemeClr val="bg1"/>
                </a:solidFill>
              </a:rPr>
              <a:t>Initialize_mesh</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Halo_fill</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Access_to_data_containers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Reconcile_fluxes</a:t>
            </a:r>
            <a:endParaRPr lang="en-US" sz="2000" dirty="0">
              <a:solidFill>
                <a:schemeClr val="bg1"/>
              </a:solidFill>
            </a:endParaRPr>
          </a:p>
          <a:p>
            <a:pPr marL="342900" indent="-342900">
              <a:lnSpc>
                <a:spcPct val="90000"/>
              </a:lnSpc>
              <a:buFont typeface="Arial" panose="020B0604020202020204" pitchFamily="34" charset="0"/>
              <a:buChar char="•"/>
            </a:pPr>
            <a:r>
              <a:rPr lang="en-US" sz="2000" dirty="0" err="1">
                <a:solidFill>
                  <a:schemeClr val="bg1"/>
                </a:solidFill>
              </a:rPr>
              <a:t>Regrid</a:t>
            </a:r>
            <a:endParaRPr lang="en-US" sz="2000" dirty="0">
              <a:solidFill>
                <a:schemeClr val="bg1"/>
              </a:solidFill>
            </a:endParaRPr>
          </a:p>
        </p:txBody>
      </p:sp>
    </p:spTree>
    <p:extLst>
      <p:ext uri="{BB962C8B-B14F-4D97-AF65-F5344CB8AC3E}">
        <p14:creationId xmlns:p14="http://schemas.microsoft.com/office/powerpoint/2010/main" val="2184627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1">
            <a:extLst>
              <a:ext uri="{FF2B5EF4-FFF2-40B4-BE49-F238E27FC236}">
                <a16:creationId xmlns:a16="http://schemas.microsoft.com/office/drawing/2014/main" id="{412877D0-69D4-A74F-9A17-B09CB79DECF7}"/>
              </a:ext>
            </a:extLst>
          </p:cNvPr>
          <p:cNvSpPr>
            <a:spLocks noGrp="1"/>
          </p:cNvSpPr>
          <p:nvPr>
            <p:ph type="title"/>
          </p:nvPr>
        </p:nvSpPr>
        <p:spPr>
          <a:xfrm>
            <a:off x="320509" y="174106"/>
            <a:ext cx="11579048" cy="622548"/>
          </a:xfrm>
        </p:spPr>
        <p:txBody>
          <a:bodyPr>
            <a:noAutofit/>
          </a:bodyPr>
          <a:lstStyle/>
          <a:p>
            <a:r>
              <a:rPr lang="en-US" dirty="0"/>
              <a:t>Separation of Concerns Applied</a:t>
            </a:r>
          </a:p>
        </p:txBody>
      </p:sp>
      <p:grpSp>
        <p:nvGrpSpPr>
          <p:cNvPr id="12" name="Group 11">
            <a:extLst>
              <a:ext uri="{FF2B5EF4-FFF2-40B4-BE49-F238E27FC236}">
                <a16:creationId xmlns:a16="http://schemas.microsoft.com/office/drawing/2014/main" id="{64C4AB58-57DD-6B57-DB90-5B4F17A291B2}"/>
              </a:ext>
            </a:extLst>
          </p:cNvPr>
          <p:cNvGrpSpPr/>
          <p:nvPr/>
        </p:nvGrpSpPr>
        <p:grpSpPr>
          <a:xfrm>
            <a:off x="1523456" y="1836367"/>
            <a:ext cx="7708602" cy="3185266"/>
            <a:chOff x="2513012" y="2815216"/>
            <a:chExt cx="7708602" cy="3185266"/>
          </a:xfrm>
        </p:grpSpPr>
        <p:sp>
          <p:nvSpPr>
            <p:cNvPr id="18440" name="Rectangle 10"/>
            <p:cNvSpPr>
              <a:spLocks noChangeArrowheads="1"/>
            </p:cNvSpPr>
            <p:nvPr/>
          </p:nvSpPr>
          <p:spPr bwMode="auto">
            <a:xfrm>
              <a:off x="2513012" y="4003303"/>
              <a:ext cx="1314792" cy="857473"/>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Real view : A </a:t>
              </a:r>
            </a:p>
            <a:p>
              <a:r>
                <a:rPr lang="en-US" sz="1350" dirty="0"/>
                <a:t>whole domain </a:t>
              </a:r>
            </a:p>
            <a:p>
              <a:r>
                <a:rPr lang="en-US" sz="1350" dirty="0"/>
                <a:t>with many </a:t>
              </a:r>
            </a:p>
            <a:p>
              <a:r>
                <a:rPr lang="en-US" sz="1350" dirty="0"/>
                <a:t>operators</a:t>
              </a:r>
            </a:p>
          </p:txBody>
        </p:sp>
        <p:sp>
          <p:nvSpPr>
            <p:cNvPr id="18441" name="Rectangle 11"/>
            <p:cNvSpPr>
              <a:spLocks noChangeArrowheads="1"/>
            </p:cNvSpPr>
            <p:nvPr/>
          </p:nvSpPr>
          <p:spPr bwMode="auto">
            <a:xfrm>
              <a:off x="2513012" y="5212808"/>
              <a:ext cx="1314792" cy="754532"/>
            </a:xfrm>
            <a:prstGeom prst="rect">
              <a:avLst/>
            </a:prstGeom>
            <a:solidFill>
              <a:srgbClr val="FF9900"/>
            </a:solidFill>
            <a:ln w="9525">
              <a:solidFill>
                <a:srgbClr val="000000"/>
              </a:solidFill>
              <a:round/>
              <a:headEnd/>
              <a:tailEnd/>
            </a:ln>
          </p:spPr>
          <p:txBody>
            <a:bodyPr wrap="none" anchor="ctr">
              <a:prstTxWarp prst="textNoShape">
                <a:avLst/>
              </a:prstTxWarp>
            </a:bodyPr>
            <a:lstStyle/>
            <a:p>
              <a:r>
                <a:rPr lang="en-US" sz="1350" dirty="0"/>
                <a:t>Functional </a:t>
              </a:r>
            </a:p>
            <a:p>
              <a:r>
                <a:rPr lang="en-US" sz="1350" dirty="0"/>
                <a:t>decomposition</a:t>
              </a:r>
            </a:p>
            <a:p>
              <a:endParaRPr lang="en-US" sz="1350" dirty="0"/>
            </a:p>
          </p:txBody>
        </p:sp>
        <p:sp>
          <p:nvSpPr>
            <p:cNvPr id="18436" name="Rectangle 4"/>
            <p:cNvSpPr>
              <a:spLocks noChangeArrowheads="1"/>
            </p:cNvSpPr>
            <p:nvPr/>
          </p:nvSpPr>
          <p:spPr bwMode="auto">
            <a:xfrm>
              <a:off x="4286195" y="2822777"/>
              <a:ext cx="1371957" cy="858069"/>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domain sections </a:t>
              </a:r>
            </a:p>
            <a:p>
              <a:r>
                <a:rPr lang="en-US" sz="1350" dirty="0"/>
                <a:t>as stand-alone </a:t>
              </a:r>
            </a:p>
            <a:p>
              <a:r>
                <a:rPr lang="en-US" sz="1350" dirty="0"/>
                <a:t>computation unit </a:t>
              </a:r>
            </a:p>
            <a:p>
              <a:endParaRPr lang="en-US" sz="1350" dirty="0"/>
            </a:p>
          </p:txBody>
        </p:sp>
        <p:sp>
          <p:nvSpPr>
            <p:cNvPr id="39" name="Rectangle 11"/>
            <p:cNvSpPr>
              <a:spLocks noChangeArrowheads="1"/>
            </p:cNvSpPr>
            <p:nvPr/>
          </p:nvSpPr>
          <p:spPr bwMode="auto">
            <a:xfrm>
              <a:off x="4259338" y="5191612"/>
              <a:ext cx="1389442" cy="808870"/>
            </a:xfrm>
            <a:prstGeom prst="rect">
              <a:avLst/>
            </a:prstGeom>
            <a:solidFill>
              <a:schemeClr val="accent2">
                <a:lumMod val="40000"/>
                <a:lumOff val="60000"/>
              </a:schemeClr>
            </a:solidFill>
            <a:ln w="9525">
              <a:solidFill>
                <a:srgbClr val="000000"/>
              </a:solidFill>
              <a:round/>
              <a:headEnd/>
              <a:tailEnd/>
            </a:ln>
          </p:spPr>
          <p:txBody>
            <a:bodyPr wrap="none" anchor="ctr">
              <a:prstTxWarp prst="textNoShape">
                <a:avLst/>
              </a:prstTxWarp>
            </a:bodyPr>
            <a:lstStyle/>
            <a:p>
              <a:r>
                <a:rPr lang="en-US" sz="1350" dirty="0"/>
                <a:t>collection of</a:t>
              </a:r>
            </a:p>
            <a:p>
              <a:r>
                <a:rPr lang="en-US" sz="1350" dirty="0"/>
                <a:t>components </a:t>
              </a:r>
            </a:p>
          </p:txBody>
        </p:sp>
        <p:sp>
          <p:nvSpPr>
            <p:cNvPr id="50" name="Rectangle 11"/>
            <p:cNvSpPr>
              <a:spLocks noChangeArrowheads="1"/>
            </p:cNvSpPr>
            <p:nvPr/>
          </p:nvSpPr>
          <p:spPr bwMode="auto">
            <a:xfrm>
              <a:off x="2529027" y="2818681"/>
              <a:ext cx="1298777" cy="858069"/>
            </a:xfrm>
            <a:prstGeom prst="rect">
              <a:avLst/>
            </a:prstGeom>
            <a:solidFill>
              <a:srgbClr val="FF9900"/>
            </a:solidFill>
            <a:ln w="9525">
              <a:solidFill>
                <a:srgbClr val="000000"/>
              </a:solidFill>
              <a:round/>
              <a:headEnd/>
              <a:tailEnd/>
            </a:ln>
          </p:spPr>
          <p:txBody>
            <a:bodyPr wrap="none" anchor="ctr">
              <a:prstTxWarp prst="textNoShape">
                <a:avLst/>
              </a:prstTxWarp>
            </a:bodyPr>
            <a:lstStyle/>
            <a:p>
              <a:endParaRPr lang="en-US" sz="1350" dirty="0"/>
            </a:p>
            <a:p>
              <a:r>
                <a:rPr lang="en-US" sz="1350" dirty="0"/>
                <a:t>Spatial</a:t>
              </a:r>
            </a:p>
            <a:p>
              <a:r>
                <a:rPr lang="en-US" sz="1350" dirty="0"/>
                <a:t>decomposition</a:t>
              </a:r>
            </a:p>
            <a:p>
              <a:endParaRPr lang="en-US" sz="1350" dirty="0"/>
            </a:p>
          </p:txBody>
        </p:sp>
        <p:cxnSp>
          <p:nvCxnSpPr>
            <p:cNvPr id="48" name="Straight Arrow Connector 47"/>
            <p:cNvCxnSpPr>
              <a:stCxn id="50" idx="3"/>
              <a:endCxn id="18436" idx="1"/>
            </p:cNvCxnSpPr>
            <p:nvPr/>
          </p:nvCxnSpPr>
          <p:spPr>
            <a:xfrm>
              <a:off x="3827804" y="3247716"/>
              <a:ext cx="458391" cy="40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cxnSpLocks/>
              <a:stCxn id="18440" idx="2"/>
              <a:endCxn id="18441" idx="0"/>
            </p:cNvCxnSpPr>
            <p:nvPr/>
          </p:nvCxnSpPr>
          <p:spPr>
            <a:xfrm>
              <a:off x="3170408" y="4860776"/>
              <a:ext cx="0" cy="352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36" name="Group 35"/>
            <p:cNvGrpSpPr>
              <a:grpSpLocks noChangeAspect="1"/>
            </p:cNvGrpSpPr>
            <p:nvPr/>
          </p:nvGrpSpPr>
          <p:grpSpPr>
            <a:xfrm>
              <a:off x="4259338" y="3818054"/>
              <a:ext cx="1343047" cy="1236350"/>
              <a:chOff x="755444" y="554451"/>
              <a:chExt cx="5884201" cy="5852160"/>
            </a:xfrm>
          </p:grpSpPr>
          <p:grpSp>
            <p:nvGrpSpPr>
              <p:cNvPr id="37" name="Group 36"/>
              <p:cNvGrpSpPr/>
              <p:nvPr/>
            </p:nvGrpSpPr>
            <p:grpSpPr>
              <a:xfrm>
                <a:off x="755444" y="554451"/>
                <a:ext cx="5884201" cy="5852160"/>
                <a:chOff x="3637559" y="1828800"/>
                <a:chExt cx="3677641" cy="3657600"/>
              </a:xfrm>
            </p:grpSpPr>
            <p:sp>
              <p:nvSpPr>
                <p:cNvPr id="64" name="Rectangle 63"/>
                <p:cNvSpPr/>
                <p:nvPr/>
              </p:nvSpPr>
              <p:spPr>
                <a:xfrm>
                  <a:off x="3657600" y="1828800"/>
                  <a:ext cx="3657600" cy="3657600"/>
                </a:xfrm>
                <a:prstGeom prst="rect">
                  <a:avLst/>
                </a:prstGeom>
                <a:no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65" name="Straight Connector 64"/>
                <p:cNvCxnSpPr>
                  <a:stCxn id="64" idx="0"/>
                  <a:endCxn id="64" idx="2"/>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548640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58521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6215189"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475488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402336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4389120"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64" idx="1"/>
                  <a:endCxn id="64" idx="3"/>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657600" y="43891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657600" y="40233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a:off x="3657600" y="365760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a:off x="3657600" y="292608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p:nvPr/>
              </p:nvCxnSpPr>
              <p:spPr>
                <a:xfrm>
                  <a:off x="3657600" y="256032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a:off x="3657600" y="219456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a:off x="6588492"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a:off x="6951521"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1" name="Straight Connector 80"/>
                <p:cNvCxnSpPr/>
                <p:nvPr/>
              </p:nvCxnSpPr>
              <p:spPr>
                <a:xfrm>
                  <a:off x="5103956" y="1828800"/>
                  <a:ext cx="0" cy="365760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2" name="Straight Connector 81"/>
                <p:cNvCxnSpPr/>
                <p:nvPr/>
              </p:nvCxnSpPr>
              <p:spPr>
                <a:xfrm>
                  <a:off x="3637559" y="514008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3637559" y="4774329"/>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p:nvPr/>
              </p:nvCxnSpPr>
              <p:spPr>
                <a:xfrm>
                  <a:off x="3657600" y="3291840"/>
                  <a:ext cx="3657600"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8" name="Group 37"/>
              <p:cNvGrpSpPr/>
              <p:nvPr/>
            </p:nvGrpSpPr>
            <p:grpSpPr>
              <a:xfrm>
                <a:off x="1372723" y="1152144"/>
                <a:ext cx="4671432" cy="4671760"/>
                <a:chOff x="914400" y="914400"/>
                <a:chExt cx="2919657" cy="2919850"/>
              </a:xfrm>
            </p:grpSpPr>
            <p:sp>
              <p:nvSpPr>
                <p:cNvPr id="40" name="Rectangle 39"/>
                <p:cNvSpPr/>
                <p:nvPr/>
              </p:nvSpPr>
              <p:spPr>
                <a:xfrm>
                  <a:off x="914400" y="914400"/>
                  <a:ext cx="2919657" cy="2919850"/>
                </a:xfrm>
                <a:prstGeom prst="rect">
                  <a:avLst/>
                </a:prstGeom>
                <a:noFill/>
                <a:ln w="254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cxnSp>
              <p:nvCxnSpPr>
                <p:cNvPr id="41" name="Straight Connector 40"/>
                <p:cNvCxnSpPr>
                  <a:stCxn id="40" idx="0"/>
                  <a:endCxn id="40" idx="2"/>
                </p:cNvCxnSpPr>
                <p:nvPr/>
              </p:nvCxnSpPr>
              <p:spPr>
                <a:xfrm>
                  <a:off x="237422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274320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1089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3471989"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201168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128016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1645920" y="914400"/>
                  <a:ext cx="0" cy="291985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40" idx="1"/>
                  <a:endCxn id="40" idx="3"/>
                </p:cNvCxnSpPr>
                <p:nvPr/>
              </p:nvCxnSpPr>
              <p:spPr>
                <a:xfrm>
                  <a:off x="914400" y="2374325"/>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914400" y="34747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914400" y="31089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914400" y="274320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914400" y="201168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914400" y="164592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914400" y="1280160"/>
                  <a:ext cx="2919657"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18432" name="Group 18431">
              <a:extLst>
                <a:ext uri="{FF2B5EF4-FFF2-40B4-BE49-F238E27FC236}">
                  <a16:creationId xmlns:a16="http://schemas.microsoft.com/office/drawing/2014/main" id="{33BAF6AC-235F-CA49-BA4A-A2D39CA4619E}"/>
                </a:ext>
              </a:extLst>
            </p:cNvPr>
            <p:cNvGrpSpPr/>
            <p:nvPr/>
          </p:nvGrpSpPr>
          <p:grpSpPr>
            <a:xfrm>
              <a:off x="5658152" y="2815216"/>
              <a:ext cx="1878978" cy="865034"/>
              <a:chOff x="4687400" y="1874389"/>
              <a:chExt cx="1878978" cy="865034"/>
            </a:xfrm>
          </p:grpSpPr>
          <p:sp>
            <p:nvSpPr>
              <p:cNvPr id="45" name="Rectangle 11"/>
              <p:cNvSpPr>
                <a:spLocks noChangeArrowheads="1"/>
              </p:cNvSpPr>
              <p:nvPr/>
            </p:nvSpPr>
            <p:spPr bwMode="auto">
              <a:xfrm>
                <a:off x="5086940" y="1874389"/>
                <a:ext cx="1479438" cy="865034"/>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Parallelization</a:t>
                </a:r>
              </a:p>
              <a:p>
                <a:r>
                  <a:rPr lang="en-US" sz="1350" dirty="0"/>
                  <a:t>and scaling</a:t>
                </a:r>
              </a:p>
              <a:p>
                <a:r>
                  <a:rPr lang="en-US" sz="1350" dirty="0"/>
                  <a:t>optimization</a:t>
                </a:r>
              </a:p>
              <a:p>
                <a:endParaRPr lang="en-US" sz="1350" dirty="0"/>
              </a:p>
            </p:txBody>
          </p:sp>
          <p:cxnSp>
            <p:nvCxnSpPr>
              <p:cNvPr id="7" name="Straight Arrow Connector 6">
                <a:extLst>
                  <a:ext uri="{FF2B5EF4-FFF2-40B4-BE49-F238E27FC236}">
                    <a16:creationId xmlns:a16="http://schemas.microsoft.com/office/drawing/2014/main" id="{CA3C2FED-4441-0A47-BA46-6EEDF90149B1}"/>
                  </a:ext>
                </a:extLst>
              </p:cNvPr>
              <p:cNvCxnSpPr>
                <a:stCxn id="18436" idx="3"/>
                <a:endCxn id="45" idx="1"/>
              </p:cNvCxnSpPr>
              <p:nvPr/>
            </p:nvCxnSpPr>
            <p:spPr>
              <a:xfrm flipV="1">
                <a:off x="4687400" y="2306906"/>
                <a:ext cx="399540" cy="4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433" name="Group 18432">
              <a:extLst>
                <a:ext uri="{FF2B5EF4-FFF2-40B4-BE49-F238E27FC236}">
                  <a16:creationId xmlns:a16="http://schemas.microsoft.com/office/drawing/2014/main" id="{4B3861FC-15EF-0741-88B3-FDADB9E03747}"/>
                </a:ext>
              </a:extLst>
            </p:cNvPr>
            <p:cNvGrpSpPr/>
            <p:nvPr/>
          </p:nvGrpSpPr>
          <p:grpSpPr>
            <a:xfrm>
              <a:off x="5648780" y="5191612"/>
              <a:ext cx="1888350" cy="808870"/>
              <a:chOff x="4678028" y="4250785"/>
              <a:chExt cx="1888350" cy="808870"/>
            </a:xfrm>
          </p:grpSpPr>
          <p:sp>
            <p:nvSpPr>
              <p:cNvPr id="18437" name="Rectangle 6"/>
              <p:cNvSpPr>
                <a:spLocks noChangeArrowheads="1"/>
              </p:cNvSpPr>
              <p:nvPr/>
            </p:nvSpPr>
            <p:spPr bwMode="auto">
              <a:xfrm>
                <a:off x="5086940" y="4250785"/>
                <a:ext cx="1479438" cy="808870"/>
              </a:xfrm>
              <a:prstGeom prst="rect">
                <a:avLst/>
              </a:prstGeom>
              <a:solidFill>
                <a:schemeClr val="accent5">
                  <a:lumMod val="60000"/>
                  <a:lumOff val="40000"/>
                </a:schemeClr>
              </a:solidFill>
              <a:ln w="9525">
                <a:solidFill>
                  <a:srgbClr val="000000"/>
                </a:solidFill>
                <a:round/>
                <a:headEnd/>
                <a:tailEnd/>
              </a:ln>
            </p:spPr>
            <p:txBody>
              <a:bodyPr wrap="none" anchor="ctr">
                <a:prstTxWarp prst="textNoShape">
                  <a:avLst/>
                </a:prstTxWarp>
              </a:bodyPr>
              <a:lstStyle/>
              <a:p>
                <a:endParaRPr lang="en-US" sz="1350" dirty="0"/>
              </a:p>
              <a:p>
                <a:r>
                  <a:rPr lang="en-US" sz="1350" dirty="0"/>
                  <a:t>Memory</a:t>
                </a:r>
              </a:p>
              <a:p>
                <a:r>
                  <a:rPr lang="en-US" sz="1350" dirty="0"/>
                  <a:t>access and </a:t>
                </a:r>
              </a:p>
              <a:p>
                <a:r>
                  <a:rPr lang="en-US" sz="1350" dirty="0"/>
                  <a:t>compute</a:t>
                </a:r>
              </a:p>
              <a:p>
                <a:r>
                  <a:rPr lang="en-US" sz="1350" dirty="0"/>
                  <a:t>optimization</a:t>
                </a:r>
              </a:p>
              <a:p>
                <a:endParaRPr lang="en-US" sz="1350" dirty="0"/>
              </a:p>
            </p:txBody>
          </p:sp>
          <p:cxnSp>
            <p:nvCxnSpPr>
              <p:cNvPr id="10" name="Straight Arrow Connector 9">
                <a:extLst>
                  <a:ext uri="{FF2B5EF4-FFF2-40B4-BE49-F238E27FC236}">
                    <a16:creationId xmlns:a16="http://schemas.microsoft.com/office/drawing/2014/main" id="{3D61A312-128E-454A-BBFE-0814F16984F6}"/>
                  </a:ext>
                </a:extLst>
              </p:cNvPr>
              <p:cNvCxnSpPr>
                <a:stCxn id="39" idx="3"/>
                <a:endCxn id="18437" idx="1"/>
              </p:cNvCxnSpPr>
              <p:nvPr/>
            </p:nvCxnSpPr>
            <p:spPr>
              <a:xfrm>
                <a:off x="4678028" y="4655220"/>
                <a:ext cx="4089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28" name="Straight Arrow Connector 27">
              <a:extLst>
                <a:ext uri="{FF2B5EF4-FFF2-40B4-BE49-F238E27FC236}">
                  <a16:creationId xmlns:a16="http://schemas.microsoft.com/office/drawing/2014/main" id="{725590E0-7BC0-704F-B0F3-4F58F1C8C610}"/>
                </a:ext>
              </a:extLst>
            </p:cNvPr>
            <p:cNvCxnSpPr>
              <a:stCxn id="18440" idx="0"/>
              <a:endCxn id="50" idx="2"/>
            </p:cNvCxnSpPr>
            <p:nvPr/>
          </p:nvCxnSpPr>
          <p:spPr>
            <a:xfrm flipV="1">
              <a:off x="3170408" y="3676750"/>
              <a:ext cx="8008" cy="3265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BDA4B49-F1D3-4D44-B681-00A0C7EE8C61}"/>
                </a:ext>
              </a:extLst>
            </p:cNvPr>
            <p:cNvCxnSpPr>
              <a:stCxn id="18441" idx="3"/>
              <a:endCxn id="39" idx="1"/>
            </p:cNvCxnSpPr>
            <p:nvPr/>
          </p:nvCxnSpPr>
          <p:spPr>
            <a:xfrm>
              <a:off x="3827804" y="5590074"/>
              <a:ext cx="431534" cy="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F99ABAB-132E-894D-B0EF-BF48DCC63C3F}"/>
                </a:ext>
              </a:extLst>
            </p:cNvPr>
            <p:cNvSpPr txBox="1"/>
            <p:nvPr/>
          </p:nvSpPr>
          <p:spPr>
            <a:xfrm>
              <a:off x="6016690" y="3786976"/>
              <a:ext cx="194566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 </a:t>
              </a:r>
            </a:p>
            <a:p>
              <a:pPr algn="l">
                <a:lnSpc>
                  <a:spcPct val="90000"/>
                </a:lnSpc>
              </a:pPr>
              <a:r>
                <a:rPr lang="en-US" dirty="0"/>
                <a:t>domain experts </a:t>
              </a:r>
            </a:p>
            <a:p>
              <a:pPr algn="l">
                <a:lnSpc>
                  <a:spcPct val="90000"/>
                </a:lnSpc>
              </a:pPr>
              <a:r>
                <a:rPr lang="en-US" dirty="0"/>
                <a:t>and applied </a:t>
              </a:r>
            </a:p>
            <a:p>
              <a:pPr algn="l">
                <a:lnSpc>
                  <a:spcPct val="90000"/>
                </a:lnSpc>
              </a:pPr>
              <a:r>
                <a:rPr lang="en-US" dirty="0"/>
                <a:t>mathematicians</a:t>
              </a:r>
            </a:p>
          </p:txBody>
        </p:sp>
        <p:sp>
          <p:nvSpPr>
            <p:cNvPr id="3" name="Left Arrow 2">
              <a:extLst>
                <a:ext uri="{FF2B5EF4-FFF2-40B4-BE49-F238E27FC236}">
                  <a16:creationId xmlns:a16="http://schemas.microsoft.com/office/drawing/2014/main" id="{99C3632D-DEB6-CD4A-90C6-72DC51CD71D9}"/>
                </a:ext>
              </a:extLst>
            </p:cNvPr>
            <p:cNvSpPr/>
            <p:nvPr/>
          </p:nvSpPr>
          <p:spPr>
            <a:xfrm rot="-1800000">
              <a:off x="5658152" y="4860776"/>
              <a:ext cx="436260" cy="193628"/>
            </a:xfrm>
            <a:prstGeom prst="leftArrow">
              <a:avLst/>
            </a:prstGeom>
            <a:solidFill>
              <a:schemeClr val="tx2">
                <a:lumMod val="50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4" name="TextBox 3">
              <a:extLst>
                <a:ext uri="{FF2B5EF4-FFF2-40B4-BE49-F238E27FC236}">
                  <a16:creationId xmlns:a16="http://schemas.microsoft.com/office/drawing/2014/main" id="{8C9C4127-71FD-7945-9AC1-5B1CA0927B18}"/>
                </a:ext>
              </a:extLst>
            </p:cNvPr>
            <p:cNvSpPr txBox="1"/>
            <p:nvPr/>
          </p:nvSpPr>
          <p:spPr>
            <a:xfrm>
              <a:off x="8340073" y="3902880"/>
              <a:ext cx="1881541" cy="1181862"/>
            </a:xfrm>
            <a:prstGeom prst="rect">
              <a:avLst/>
            </a:prstGeom>
            <a:noFill/>
          </p:spPr>
          <p:txBody>
            <a:bodyPr wrap="none" lIns="118872" tIns="91440" rIns="118872" bIns="91440" rtlCol="0" anchor="ctr" anchorCtr="0">
              <a:spAutoFit/>
            </a:bodyPr>
            <a:lstStyle/>
            <a:p>
              <a:pPr algn="l">
                <a:lnSpc>
                  <a:spcPct val="90000"/>
                </a:lnSpc>
              </a:pPr>
              <a:r>
                <a:rPr lang="en-US" dirty="0"/>
                <a:t>Implemented by</a:t>
              </a:r>
            </a:p>
            <a:p>
              <a:pPr algn="l">
                <a:lnSpc>
                  <a:spcPct val="90000"/>
                </a:lnSpc>
              </a:pPr>
              <a:r>
                <a:rPr lang="en-US" dirty="0"/>
                <a:t>software and </a:t>
              </a:r>
            </a:p>
            <a:p>
              <a:pPr algn="l">
                <a:lnSpc>
                  <a:spcPct val="90000"/>
                </a:lnSpc>
              </a:pPr>
              <a:r>
                <a:rPr lang="en-US" dirty="0"/>
                <a:t>performance</a:t>
              </a:r>
            </a:p>
            <a:p>
              <a:pPr algn="l">
                <a:lnSpc>
                  <a:spcPct val="90000"/>
                </a:lnSpc>
              </a:pPr>
              <a:r>
                <a:rPr lang="en-US" dirty="0"/>
                <a:t>engineers</a:t>
              </a:r>
            </a:p>
          </p:txBody>
        </p:sp>
        <p:sp>
          <p:nvSpPr>
            <p:cNvPr id="5" name="Down Arrow 4">
              <a:extLst>
                <a:ext uri="{FF2B5EF4-FFF2-40B4-BE49-F238E27FC236}">
                  <a16:creationId xmlns:a16="http://schemas.microsoft.com/office/drawing/2014/main" id="{28A62EF0-D9D7-7741-88AF-0EA6352EC5B8}"/>
                </a:ext>
              </a:extLst>
            </p:cNvPr>
            <p:cNvSpPr/>
            <p:nvPr/>
          </p:nvSpPr>
          <p:spPr>
            <a:xfrm rot="-3600000">
              <a:off x="7920360" y="3154709"/>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87" name="Down Arrow 86">
              <a:extLst>
                <a:ext uri="{FF2B5EF4-FFF2-40B4-BE49-F238E27FC236}">
                  <a16:creationId xmlns:a16="http://schemas.microsoft.com/office/drawing/2014/main" id="{74877546-FCBD-C14E-A5E8-C20AE75CA18E}"/>
                </a:ext>
              </a:extLst>
            </p:cNvPr>
            <p:cNvSpPr/>
            <p:nvPr/>
          </p:nvSpPr>
          <p:spPr>
            <a:xfrm rot="14400000">
              <a:off x="7987502" y="4884793"/>
              <a:ext cx="166884" cy="901210"/>
            </a:xfrm>
            <a:prstGeom prst="downArrow">
              <a:avLst/>
            </a:prstGeom>
            <a:solidFill>
              <a:schemeClr val="tx1"/>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Tree>
    <p:extLst>
      <p:ext uri="{BB962C8B-B14F-4D97-AF65-F5344CB8AC3E}">
        <p14:creationId xmlns:p14="http://schemas.microsoft.com/office/powerpoint/2010/main" val="1427080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85EA-0E8F-C746-87E2-C283B4540007}"/>
              </a:ext>
            </a:extLst>
          </p:cNvPr>
          <p:cNvSpPr>
            <a:spLocks noGrp="1"/>
          </p:cNvSpPr>
          <p:nvPr>
            <p:ph type="title"/>
          </p:nvPr>
        </p:nvSpPr>
        <p:spPr/>
        <p:txBody>
          <a:bodyPr/>
          <a:lstStyle/>
          <a:p>
            <a:r>
              <a:rPr lang="en-US" dirty="0"/>
              <a:t>Takeaways so far</a:t>
            </a:r>
          </a:p>
        </p:txBody>
      </p:sp>
      <p:sp>
        <p:nvSpPr>
          <p:cNvPr id="3" name="Content Placeholder 2">
            <a:extLst>
              <a:ext uri="{FF2B5EF4-FFF2-40B4-BE49-F238E27FC236}">
                <a16:creationId xmlns:a16="http://schemas.microsoft.com/office/drawing/2014/main" id="{FC84114E-9B93-6946-8537-70EC13595158}"/>
              </a:ext>
            </a:extLst>
          </p:cNvPr>
          <p:cNvSpPr>
            <a:spLocks noGrp="1"/>
          </p:cNvSpPr>
          <p:nvPr>
            <p:ph idx="1"/>
          </p:nvPr>
        </p:nvSpPr>
        <p:spPr>
          <a:xfrm>
            <a:off x="1009908" y="1602953"/>
            <a:ext cx="9790364" cy="4445723"/>
          </a:xfrm>
        </p:spPr>
        <p:txBody>
          <a:bodyPr/>
          <a:lstStyle/>
          <a:p>
            <a:r>
              <a:rPr lang="en-US" sz="2800" dirty="0">
                <a:solidFill>
                  <a:schemeClr val="tx1">
                    <a:lumMod val="95000"/>
                    <a:lumOff val="5000"/>
                  </a:schemeClr>
                </a:solidFill>
              </a:rPr>
              <a:t>Differentiate between slow changing and fast changing components of your code</a:t>
            </a:r>
          </a:p>
          <a:p>
            <a:r>
              <a:rPr lang="en-US" sz="2800" dirty="0">
                <a:solidFill>
                  <a:schemeClr val="tx1">
                    <a:lumMod val="95000"/>
                    <a:lumOff val="5000"/>
                  </a:schemeClr>
                </a:solidFill>
              </a:rPr>
              <a:t>Understand the requirements of your infrastructure</a:t>
            </a:r>
          </a:p>
          <a:p>
            <a:r>
              <a:rPr lang="en-US" sz="2800" dirty="0">
                <a:solidFill>
                  <a:schemeClr val="tx1">
                    <a:lumMod val="95000"/>
                    <a:lumOff val="5000"/>
                  </a:schemeClr>
                </a:solidFill>
              </a:rPr>
              <a:t>Implement separation of concerns</a:t>
            </a:r>
          </a:p>
          <a:p>
            <a:r>
              <a:rPr lang="en-US" sz="2800" dirty="0">
                <a:solidFill>
                  <a:schemeClr val="tx1">
                    <a:lumMod val="95000"/>
                    <a:lumOff val="5000"/>
                  </a:schemeClr>
                </a:solidFill>
              </a:rPr>
              <a:t>Design with portability, extensibility, reproducibility and maintainability in mind</a:t>
            </a:r>
          </a:p>
          <a:p>
            <a:pPr marL="0" indent="0">
              <a:buNone/>
            </a:pPr>
            <a:endParaRPr lang="en-US" dirty="0"/>
          </a:p>
        </p:txBody>
      </p:sp>
    </p:spTree>
    <p:extLst>
      <p:ext uri="{BB962C8B-B14F-4D97-AF65-F5344CB8AC3E}">
        <p14:creationId xmlns:p14="http://schemas.microsoft.com/office/powerpoint/2010/main" val="1066609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969AAFBA-E7D9-0542-BEAD-C2722F011739}"/>
              </a:ext>
            </a:extLst>
          </p:cNvPr>
          <p:cNvSpPr txBox="1">
            <a:spLocks/>
          </p:cNvSpPr>
          <p:nvPr/>
        </p:nvSpPr>
        <p:spPr>
          <a:xfrm>
            <a:off x="608719" y="1128060"/>
            <a:ext cx="8650062" cy="550134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Wingdings" panose="05000000000000000000" pitchFamily="2" charset="2"/>
              <a:buNone/>
              <a:defRPr sz="2800" kern="1200">
                <a:solidFill>
                  <a:schemeClr val="tx1">
                    <a:tint val="75000"/>
                  </a:schemeClr>
                </a:solidFill>
                <a:latin typeface="Arial" panose="020B0604020202020204" pitchFamily="34" charset="0"/>
                <a:ea typeface="+mn-ea"/>
                <a:cs typeface="Arial" panose="020B0604020202020204" pitchFamily="34" charset="0"/>
              </a:defRPr>
            </a:lvl1pPr>
            <a:lvl2pPr marL="342900" indent="0" algn="ctr" defTabSz="914400" rtl="0" eaLnBrk="1" latinLnBrk="0" hangingPunct="1">
              <a:spcBef>
                <a:spcPct val="20000"/>
              </a:spcBef>
              <a:buFont typeface="Wingdings" panose="05000000000000000000" pitchFamily="2" charset="2"/>
              <a:buNone/>
              <a:defRPr sz="2400" kern="1200">
                <a:solidFill>
                  <a:schemeClr val="tx1">
                    <a:tint val="75000"/>
                  </a:schemeClr>
                </a:solidFill>
                <a:latin typeface="Arial" panose="020B0604020202020204" pitchFamily="34" charset="0"/>
                <a:ea typeface="+mn-ea"/>
                <a:cs typeface="Arial" panose="020B0604020202020204" pitchFamily="34" charset="0"/>
              </a:defRPr>
            </a:lvl2pPr>
            <a:lvl3pPr marL="685800" indent="0" algn="ctr" defTabSz="914400" rtl="0" eaLnBrk="1" latinLnBrk="0" hangingPunct="1">
              <a:spcBef>
                <a:spcPct val="20000"/>
              </a:spcBef>
              <a:buFont typeface="Wingdings" panose="05000000000000000000" pitchFamily="2" charset="2"/>
              <a:buNone/>
              <a:defRPr sz="2000" kern="1200">
                <a:solidFill>
                  <a:schemeClr val="tx1">
                    <a:tint val="75000"/>
                  </a:schemeClr>
                </a:solidFill>
                <a:latin typeface="Arial" panose="020B0604020202020204" pitchFamily="34" charset="0"/>
                <a:ea typeface="+mn-ea"/>
                <a:cs typeface="Arial" panose="020B0604020202020204" pitchFamily="34" charset="0"/>
              </a:defRPr>
            </a:lvl3pPr>
            <a:lvl4pPr marL="10287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4pPr>
            <a:lvl5pPr marL="1371600" indent="0" algn="ctr" defTabSz="914400" rtl="0" eaLnBrk="1" latinLnBrk="0" hangingPunct="1">
              <a:spcBef>
                <a:spcPct val="20000"/>
              </a:spcBef>
              <a:buFont typeface="Wingdings" panose="05000000000000000000" pitchFamily="2" charset="2"/>
              <a:buNone/>
              <a:defRPr sz="1800" kern="1200">
                <a:solidFill>
                  <a:schemeClr val="tx1">
                    <a:tint val="75000"/>
                  </a:schemeClr>
                </a:solidFill>
                <a:latin typeface="Arial" panose="020B0604020202020204" pitchFamily="34" charset="0"/>
                <a:ea typeface="+mn-ea"/>
                <a:cs typeface="Arial" panose="020B0604020202020204" pitchFamily="34" charset="0"/>
              </a:defRPr>
            </a:lvl5pPr>
            <a:lvl6pPr marL="17145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057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24003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p>
          <a:p>
            <a:pPr marL="457200" indent="-457200" algn="l">
              <a:buFont typeface="Wingdings" pitchFamily="2" charset="2"/>
              <a:buChar char="q"/>
            </a:pPr>
            <a:endParaRPr lang="en-US" dirty="0">
              <a:solidFill>
                <a:schemeClr val="tx1"/>
              </a:solidFill>
            </a:endParaRPr>
          </a:p>
          <a:p>
            <a:pPr marL="457200" indent="-457200" algn="l">
              <a:buFont typeface="Wingdings" pitchFamily="2" charset="2"/>
              <a:buChar char="q"/>
            </a:pPr>
            <a:endParaRPr lang="en-US" dirty="0">
              <a:solidFill>
                <a:schemeClr val="tx1"/>
              </a:solidFill>
            </a:endParaRPr>
          </a:p>
          <a:p>
            <a:pPr algn="l"/>
            <a:endParaRPr lang="en-US" dirty="0">
              <a:solidFill>
                <a:schemeClr val="tx1"/>
              </a:solidFill>
            </a:endParaRPr>
          </a:p>
        </p:txBody>
      </p:sp>
      <p:grpSp>
        <p:nvGrpSpPr>
          <p:cNvPr id="2" name="Group 1">
            <a:extLst>
              <a:ext uri="{FF2B5EF4-FFF2-40B4-BE49-F238E27FC236}">
                <a16:creationId xmlns:a16="http://schemas.microsoft.com/office/drawing/2014/main" id="{F7D43C75-6652-9D43-A7CD-0183D0CEBCD5}"/>
              </a:ext>
            </a:extLst>
          </p:cNvPr>
          <p:cNvGrpSpPr/>
          <p:nvPr/>
        </p:nvGrpSpPr>
        <p:grpSpPr>
          <a:xfrm>
            <a:off x="608157" y="2416928"/>
            <a:ext cx="6067194" cy="2923603"/>
            <a:chOff x="2176244" y="1817067"/>
            <a:chExt cx="4826771" cy="3142742"/>
          </a:xfrm>
        </p:grpSpPr>
        <p:sp>
          <p:nvSpPr>
            <p:cNvPr id="7" name="Oval 6"/>
            <p:cNvSpPr/>
            <p:nvPr/>
          </p:nvSpPr>
          <p:spPr>
            <a:xfrm>
              <a:off x="3546363" y="1817067"/>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Scientific Understanding</a:t>
              </a:r>
            </a:p>
          </p:txBody>
        </p:sp>
        <p:sp>
          <p:nvSpPr>
            <p:cNvPr id="14" name="Oval 13"/>
            <p:cNvSpPr/>
            <p:nvPr/>
          </p:nvSpPr>
          <p:spPr>
            <a:xfrm>
              <a:off x="5349748" y="2965465"/>
              <a:ext cx="1653267" cy="1001145"/>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15" name="Oval 14"/>
            <p:cNvSpPr/>
            <p:nvPr/>
          </p:nvSpPr>
          <p:spPr>
            <a:xfrm>
              <a:off x="3576979" y="3958663"/>
              <a:ext cx="19961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16" name="Oval 15"/>
            <p:cNvSpPr/>
            <p:nvPr/>
          </p:nvSpPr>
          <p:spPr>
            <a:xfrm>
              <a:off x="2176244" y="2965464"/>
              <a:ext cx="1653268" cy="1001146"/>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18" name="Curved Connector 17"/>
            <p:cNvCxnSpPr>
              <a:cxnSpLocks/>
              <a:stCxn id="7" idx="6"/>
              <a:endCxn id="14" idx="0"/>
            </p:cNvCxnSpPr>
            <p:nvPr/>
          </p:nvCxnSpPr>
          <p:spPr>
            <a:xfrm>
              <a:off x="5542531" y="2317640"/>
              <a:ext cx="633851" cy="64782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p:cNvCxnSpPr>
              <a:cxnSpLocks/>
              <a:stCxn id="14" idx="4"/>
              <a:endCxn id="15" idx="6"/>
            </p:cNvCxnSpPr>
            <p:nvPr/>
          </p:nvCxnSpPr>
          <p:spPr>
            <a:xfrm rot="5400000">
              <a:off x="5628452" y="3911307"/>
              <a:ext cx="492626" cy="60323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p:cNvCxnSpPr>
              <a:stCxn id="15" idx="2"/>
              <a:endCxn id="16"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23"/>
            <p:cNvCxnSpPr>
              <a:stCxn id="16" idx="0"/>
              <a:endCxn id="7"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cxnSpLocks/>
              <a:stCxn id="14" idx="2"/>
              <a:endCxn id="16" idx="6"/>
            </p:cNvCxnSpPr>
            <p:nvPr/>
          </p:nvCxnSpPr>
          <p:spPr>
            <a:xfrm flipH="1" flipV="1">
              <a:off x="3829512" y="3466037"/>
              <a:ext cx="1520236"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73FEECD-EE88-E040-895C-0240D635E635}"/>
              </a:ext>
            </a:extLst>
          </p:cNvPr>
          <p:cNvGrpSpPr/>
          <p:nvPr/>
        </p:nvGrpSpPr>
        <p:grpSpPr>
          <a:xfrm>
            <a:off x="7013943" y="2416928"/>
            <a:ext cx="4265142" cy="3524330"/>
            <a:chOff x="6979801" y="729343"/>
            <a:chExt cx="4265142" cy="3524330"/>
          </a:xfrm>
        </p:grpSpPr>
        <p:cxnSp>
          <p:nvCxnSpPr>
            <p:cNvPr id="9" name="Straight Arrow Connector 8">
              <a:extLst>
                <a:ext uri="{FF2B5EF4-FFF2-40B4-BE49-F238E27FC236}">
                  <a16:creationId xmlns:a16="http://schemas.microsoft.com/office/drawing/2014/main" id="{74C943FE-45EB-EF4A-A9C9-DBCCA64BE107}"/>
                </a:ext>
              </a:extLst>
            </p:cNvPr>
            <p:cNvCxnSpPr/>
            <p:nvPr/>
          </p:nvCxnSpPr>
          <p:spPr>
            <a:xfrm>
              <a:off x="7402286" y="3725330"/>
              <a:ext cx="384265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9EE4B5B6-D325-DA4A-9BFD-BCFD54BA1E1E}"/>
                </a:ext>
              </a:extLst>
            </p:cNvPr>
            <p:cNvCxnSpPr/>
            <p:nvPr/>
          </p:nvCxnSpPr>
          <p:spPr>
            <a:xfrm flipV="1">
              <a:off x="7424057" y="729343"/>
              <a:ext cx="0" cy="299598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D803AAA-CB4F-1144-8B15-F5B2C8FB7A51}"/>
                </a:ext>
              </a:extLst>
            </p:cNvPr>
            <p:cNvSpPr txBox="1"/>
            <p:nvPr/>
          </p:nvSpPr>
          <p:spPr>
            <a:xfrm>
              <a:off x="8290189" y="3819708"/>
              <a:ext cx="2253437" cy="433965"/>
            </a:xfrm>
            <a:prstGeom prst="rect">
              <a:avLst/>
            </a:prstGeom>
            <a:noFill/>
          </p:spPr>
          <p:txBody>
            <a:bodyPr wrap="none" lIns="118872" tIns="91440" rIns="118872" bIns="91440" rtlCol="0" anchor="ctr" anchorCtr="0">
              <a:spAutoFit/>
            </a:bodyPr>
            <a:lstStyle/>
            <a:p>
              <a:pPr algn="l">
                <a:lnSpc>
                  <a:spcPct val="90000"/>
                </a:lnSpc>
              </a:pPr>
              <a:r>
                <a:rPr lang="en-US" dirty="0"/>
                <a:t>Platform complexity</a:t>
              </a:r>
            </a:p>
          </p:txBody>
        </p:sp>
        <p:sp>
          <p:nvSpPr>
            <p:cNvPr id="25" name="TextBox 24">
              <a:extLst>
                <a:ext uri="{FF2B5EF4-FFF2-40B4-BE49-F238E27FC236}">
                  <a16:creationId xmlns:a16="http://schemas.microsoft.com/office/drawing/2014/main" id="{1F2B8E5A-6747-6840-9AB5-298CEE998CFB}"/>
                </a:ext>
              </a:extLst>
            </p:cNvPr>
            <p:cNvSpPr txBox="1"/>
            <p:nvPr/>
          </p:nvSpPr>
          <p:spPr>
            <a:xfrm rot="-5400000">
              <a:off x="6046587" y="2061274"/>
              <a:ext cx="2304733" cy="438305"/>
            </a:xfrm>
            <a:prstGeom prst="rect">
              <a:avLst/>
            </a:prstGeom>
            <a:noFill/>
          </p:spPr>
          <p:txBody>
            <a:bodyPr wrap="square" lIns="118872" tIns="91440" rIns="118872" bIns="91440" rtlCol="0" anchor="ctr" anchorCtr="0">
              <a:spAutoFit/>
            </a:bodyPr>
            <a:lstStyle/>
            <a:p>
              <a:pPr algn="l">
                <a:lnSpc>
                  <a:spcPct val="90000"/>
                </a:lnSpc>
              </a:pPr>
              <a:r>
                <a:rPr lang="en-US" dirty="0"/>
                <a:t>Software complexity</a:t>
              </a:r>
            </a:p>
          </p:txBody>
        </p:sp>
        <p:cxnSp>
          <p:nvCxnSpPr>
            <p:cNvPr id="27" name="Straight Connector 26">
              <a:extLst>
                <a:ext uri="{FF2B5EF4-FFF2-40B4-BE49-F238E27FC236}">
                  <a16:creationId xmlns:a16="http://schemas.microsoft.com/office/drawing/2014/main" id="{F0944214-B922-DE4E-8201-F097C1607D13}"/>
                </a:ext>
              </a:extLst>
            </p:cNvPr>
            <p:cNvCxnSpPr/>
            <p:nvPr/>
          </p:nvCxnSpPr>
          <p:spPr>
            <a:xfrm flipV="1">
              <a:off x="7871254" y="1865870"/>
              <a:ext cx="271849" cy="1401184"/>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6CC992-F868-F041-8AF1-1C98255A058E}"/>
                </a:ext>
              </a:extLst>
            </p:cNvPr>
            <p:cNvCxnSpPr>
              <a:cxnSpLocks/>
            </p:cNvCxnSpPr>
            <p:nvPr/>
          </p:nvCxnSpPr>
          <p:spPr>
            <a:xfrm flipV="1">
              <a:off x="8113046" y="868682"/>
              <a:ext cx="2759259" cy="1012232"/>
            </a:xfrm>
            <a:prstGeom prst="line">
              <a:avLst/>
            </a:prstGeom>
            <a:ln w="53975">
              <a:solidFill>
                <a:srgbClr val="7030A0"/>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5D10778-614C-0842-B0F5-17C22D27A489}"/>
                </a:ext>
              </a:extLst>
            </p:cNvPr>
            <p:cNvSpPr txBox="1"/>
            <p:nvPr/>
          </p:nvSpPr>
          <p:spPr>
            <a:xfrm>
              <a:off x="8063618" y="1663931"/>
              <a:ext cx="271849" cy="433965"/>
            </a:xfrm>
            <a:prstGeom prst="rect">
              <a:avLst/>
            </a:prstGeom>
            <a:noFill/>
          </p:spPr>
          <p:txBody>
            <a:bodyPr wrap="square" lIns="118872" tIns="91440" rIns="118872" bIns="91440" rtlCol="0" anchor="ctr" anchorCtr="0">
              <a:spAutoFit/>
            </a:bodyPr>
            <a:lstStyle/>
            <a:p>
              <a:pPr algn="l">
                <a:lnSpc>
                  <a:spcPct val="90000"/>
                </a:lnSpc>
              </a:pPr>
              <a:endParaRPr lang="en-US" dirty="0"/>
            </a:p>
          </p:txBody>
        </p:sp>
        <p:sp>
          <p:nvSpPr>
            <p:cNvPr id="32" name="TextBox 31">
              <a:extLst>
                <a:ext uri="{FF2B5EF4-FFF2-40B4-BE49-F238E27FC236}">
                  <a16:creationId xmlns:a16="http://schemas.microsoft.com/office/drawing/2014/main" id="{F5FBECCC-FDD4-DE4B-A88C-B7AF2B546EAE}"/>
                </a:ext>
              </a:extLst>
            </p:cNvPr>
            <p:cNvSpPr txBox="1"/>
            <p:nvPr/>
          </p:nvSpPr>
          <p:spPr>
            <a:xfrm>
              <a:off x="8453742" y="2528855"/>
              <a:ext cx="1407052" cy="932563"/>
            </a:xfrm>
            <a:prstGeom prst="rect">
              <a:avLst/>
            </a:prstGeom>
            <a:noFill/>
          </p:spPr>
          <p:txBody>
            <a:bodyPr wrap="none" lIns="118872" tIns="91440" rIns="118872" bIns="91440" rtlCol="0" anchor="ctr" anchorCtr="0">
              <a:spAutoFit/>
            </a:bodyPr>
            <a:lstStyle/>
            <a:p>
              <a:pPr algn="l">
                <a:lnSpc>
                  <a:spcPct val="90000"/>
                </a:lnSpc>
              </a:pPr>
              <a:r>
                <a:rPr lang="en-US" dirty="0"/>
                <a:t>Distributed </a:t>
              </a:r>
            </a:p>
            <a:p>
              <a:pPr algn="l">
                <a:lnSpc>
                  <a:spcPct val="90000"/>
                </a:lnSpc>
              </a:pPr>
              <a:r>
                <a:rPr lang="en-US" dirty="0"/>
                <a:t>memory</a:t>
              </a:r>
            </a:p>
            <a:p>
              <a:pPr algn="l">
                <a:lnSpc>
                  <a:spcPct val="90000"/>
                </a:lnSpc>
              </a:pPr>
              <a:r>
                <a:rPr lang="en-US" dirty="0"/>
                <a:t>model</a:t>
              </a:r>
            </a:p>
          </p:txBody>
        </p:sp>
        <p:sp>
          <p:nvSpPr>
            <p:cNvPr id="33" name="Left Arrow 32">
              <a:extLst>
                <a:ext uri="{FF2B5EF4-FFF2-40B4-BE49-F238E27FC236}">
                  <a16:creationId xmlns:a16="http://schemas.microsoft.com/office/drawing/2014/main" id="{6032F769-EB60-3346-ADD9-4B2D1BB53B93}"/>
                </a:ext>
              </a:extLst>
            </p:cNvPr>
            <p:cNvSpPr/>
            <p:nvPr/>
          </p:nvSpPr>
          <p:spPr>
            <a:xfrm>
              <a:off x="7990874" y="2889070"/>
              <a:ext cx="437831" cy="218824"/>
            </a:xfrm>
            <a:prstGeom prst="leftArrow">
              <a:avLst/>
            </a:prstGeom>
            <a:solidFill>
              <a:schemeClr val="accent4"/>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34" name="TextBox 33">
              <a:extLst>
                <a:ext uri="{FF2B5EF4-FFF2-40B4-BE49-F238E27FC236}">
                  <a16:creationId xmlns:a16="http://schemas.microsoft.com/office/drawing/2014/main" id="{C346DD6B-4509-764A-AE45-5F142DE3C708}"/>
                </a:ext>
              </a:extLst>
            </p:cNvPr>
            <p:cNvSpPr txBox="1"/>
            <p:nvPr/>
          </p:nvSpPr>
          <p:spPr>
            <a:xfrm>
              <a:off x="9327147" y="1554669"/>
              <a:ext cx="1817421" cy="683264"/>
            </a:xfrm>
            <a:prstGeom prst="rect">
              <a:avLst/>
            </a:prstGeom>
            <a:noFill/>
          </p:spPr>
          <p:txBody>
            <a:bodyPr wrap="none" lIns="118872" tIns="91440" rIns="118872" bIns="91440" rtlCol="0" anchor="ctr" anchorCtr="0">
              <a:spAutoFit/>
            </a:bodyPr>
            <a:lstStyle/>
            <a:p>
              <a:pPr algn="l">
                <a:lnSpc>
                  <a:spcPct val="90000"/>
                </a:lnSpc>
              </a:pPr>
              <a:r>
                <a:rPr lang="en-US" dirty="0"/>
                <a:t>Heterogeneous</a:t>
              </a:r>
            </a:p>
            <a:p>
              <a:pPr algn="l">
                <a:lnSpc>
                  <a:spcPct val="90000"/>
                </a:lnSpc>
              </a:pPr>
              <a:r>
                <a:rPr lang="en-US" dirty="0"/>
                <a:t>models</a:t>
              </a:r>
            </a:p>
          </p:txBody>
        </p:sp>
        <p:sp>
          <p:nvSpPr>
            <p:cNvPr id="36" name="Up Arrow 35">
              <a:extLst>
                <a:ext uri="{FF2B5EF4-FFF2-40B4-BE49-F238E27FC236}">
                  <a16:creationId xmlns:a16="http://schemas.microsoft.com/office/drawing/2014/main" id="{F0879347-097A-CF4B-B62B-6EAB93ABA995}"/>
                </a:ext>
              </a:extLst>
            </p:cNvPr>
            <p:cNvSpPr/>
            <p:nvPr/>
          </p:nvSpPr>
          <p:spPr>
            <a:xfrm>
              <a:off x="9980612" y="1267396"/>
              <a:ext cx="156950" cy="322396"/>
            </a:xfrm>
            <a:prstGeom prst="upArrow">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grpSp>
      <p:sp>
        <p:nvSpPr>
          <p:cNvPr id="6" name="Title 1">
            <a:extLst>
              <a:ext uri="{FF2B5EF4-FFF2-40B4-BE49-F238E27FC236}">
                <a16:creationId xmlns:a16="http://schemas.microsoft.com/office/drawing/2014/main" id="{50E4DB40-020F-13AF-1116-399F2265801B}"/>
              </a:ext>
            </a:extLst>
          </p:cNvPr>
          <p:cNvSpPr txBox="1">
            <a:spLocks/>
          </p:cNvSpPr>
          <p:nvPr/>
        </p:nvSpPr>
        <p:spPr bwMode="auto">
          <a:xfrm>
            <a:off x="365760" y="411480"/>
            <a:ext cx="11372473" cy="91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a:lstStyle>
          <a:p>
            <a:r>
              <a:rPr lang="en-US" dirty="0"/>
              <a:t>New Paradigm Because of Platform Heterogeneity</a:t>
            </a:r>
          </a:p>
        </p:txBody>
      </p:sp>
    </p:spTree>
    <p:extLst>
      <p:ext uri="{BB962C8B-B14F-4D97-AF65-F5344CB8AC3E}">
        <p14:creationId xmlns:p14="http://schemas.microsoft.com/office/powerpoint/2010/main" val="808971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marL="342900" indent="-342900">
              <a:lnSpc>
                <a:spcPct val="90000"/>
              </a:lnSpc>
              <a:buFont typeface="Arial" panose="020B0604020202020204" pitchFamily="34" charset="0"/>
              <a:buChar char="•"/>
            </a:pPr>
            <a:r>
              <a:rPr lang="en-US" sz="2000" dirty="0">
                <a:solidFill>
                  <a:schemeClr val="bg1"/>
                </a:solidFill>
              </a:rPr>
              <a:t>Figuring out the map</a:t>
            </a:r>
          </a:p>
          <a:p>
            <a:pPr marL="800100" lvl="1" indent="-342900">
              <a:lnSpc>
                <a:spcPct val="90000"/>
              </a:lnSpc>
              <a:buFont typeface="Arial" panose="020B0604020202020204" pitchFamily="34" charset="0"/>
              <a:buChar char="•"/>
            </a:pPr>
            <a:r>
              <a:rPr lang="en-US" sz="2000" dirty="0">
                <a:solidFill>
                  <a:schemeClr val="bg1"/>
                </a:solidFill>
              </a:rPr>
              <a:t>Expression of dependencies </a:t>
            </a:r>
          </a:p>
          <a:p>
            <a:pPr marL="800100" lvl="1" indent="-342900">
              <a:lnSpc>
                <a:spcPct val="90000"/>
              </a:lnSpc>
              <a:buFont typeface="Arial" panose="020B0604020202020204" pitchFamily="34" charset="0"/>
              <a:buChar char="•"/>
            </a:pPr>
            <a:r>
              <a:rPr lang="en-US" sz="2000" dirty="0">
                <a:solidFill>
                  <a:schemeClr val="bg1"/>
                </a:solidFill>
              </a:rPr>
              <a:t>Cost models</a:t>
            </a:r>
          </a:p>
          <a:p>
            <a:pPr marL="342900" indent="-342900">
              <a:lnSpc>
                <a:spcPct val="90000"/>
              </a:lnSpc>
              <a:buFont typeface="Arial" panose="020B0604020202020204" pitchFamily="34" charset="0"/>
              <a:buChar char="•"/>
            </a:pPr>
            <a:r>
              <a:rPr lang="en-US" sz="2000" dirty="0">
                <a:solidFill>
                  <a:schemeClr val="bg1"/>
                </a:solidFill>
              </a:rPr>
              <a:t>Expressing the map</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r>
              <a:rPr lang="en-US" sz="2000" dirty="0">
                <a:solidFill>
                  <a:schemeClr val="bg1"/>
                </a:solidFill>
              </a:rPr>
              <a:t>Moving between devices</a:t>
            </a:r>
          </a:p>
          <a:p>
            <a:pPr marL="800100" lvl="1" indent="-342900">
              <a:lnSpc>
                <a:spcPct val="90000"/>
              </a:lnSpc>
              <a:buFont typeface="Arial" panose="020B0604020202020204" pitchFamily="34" charset="0"/>
              <a:buChar char="•"/>
            </a:pPr>
            <a:r>
              <a:rPr lang="en-US" sz="2000" dirty="0">
                <a:solidFill>
                  <a:schemeClr val="bg1"/>
                </a:solidFill>
              </a:rPr>
              <a:t>Launching work at the destination</a:t>
            </a:r>
          </a:p>
          <a:p>
            <a:pPr marL="800100" lvl="1" indent="-342900">
              <a:lnSpc>
                <a:spcPct val="90000"/>
              </a:lnSpc>
              <a:buFont typeface="Arial" panose="020B0604020202020204" pitchFamily="34" charset="0"/>
              <a:buChar char="•"/>
            </a:pPr>
            <a:r>
              <a:rPr lang="en-US" sz="2000" dirty="0">
                <a:solidFill>
                  <a:schemeClr val="bg1"/>
                </a:solidFill>
              </a:rPr>
              <a:t>Hiding latency of movement</a:t>
            </a:r>
          </a:p>
          <a:p>
            <a:pPr marL="342900" indent="-342900">
              <a:lnSpc>
                <a:spcPct val="90000"/>
              </a:lnSpc>
              <a:buFont typeface="Arial" panose="020B0604020202020204" pitchFamily="34" charset="0"/>
              <a:buChar char="•"/>
            </a:pPr>
            <a:r>
              <a:rPr lang="en-US" sz="2000" dirty="0">
                <a:solidFill>
                  <a:schemeClr val="bg1"/>
                </a:solidFill>
              </a:rPr>
              <a:t>Moving data off node </a:t>
            </a: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marL="342900" indent="-342900">
              <a:lnSpc>
                <a:spcPct val="90000"/>
              </a:lnSpc>
              <a:buFont typeface="Arial" panose="020B0604020202020204" pitchFamily="34" charset="0"/>
              <a:buChar char="•"/>
            </a:pPr>
            <a:r>
              <a:rPr lang="en-US" sz="2000" dirty="0">
                <a:solidFill>
                  <a:schemeClr val="bg1"/>
                </a:solidFill>
              </a:rPr>
              <a:t>Minimize maintained variants of source suitable for all computational devices</a:t>
            </a:r>
          </a:p>
          <a:p>
            <a:pPr marL="342900" indent="-342900">
              <a:lnSpc>
                <a:spcPct val="90000"/>
              </a:lnSpc>
              <a:buFont typeface="Arial" panose="020B0604020202020204" pitchFamily="34" charset="0"/>
              <a:buChar char="•"/>
            </a:pPr>
            <a:r>
              <a:rPr lang="en-US" sz="2000" dirty="0">
                <a:solidFill>
                  <a:schemeClr val="bg1"/>
                </a:solidFill>
              </a:rPr>
              <a:t>Reconcile differences in data structures</a:t>
            </a:r>
          </a:p>
        </p:txBody>
      </p:sp>
      <p:sp>
        <p:nvSpPr>
          <p:cNvPr id="5" name="TextBox 4">
            <a:extLst>
              <a:ext uri="{FF2B5EF4-FFF2-40B4-BE49-F238E27FC236}">
                <a16:creationId xmlns:a16="http://schemas.microsoft.com/office/drawing/2014/main" id="{98DB4760-90FA-132B-409F-E983E94F182F}"/>
              </a:ext>
            </a:extLst>
          </p:cNvPr>
          <p:cNvSpPr txBox="1"/>
          <p:nvPr/>
        </p:nvSpPr>
        <p:spPr>
          <a:xfrm>
            <a:off x="6702931" y="3736302"/>
            <a:ext cx="4584204" cy="1846659"/>
          </a:xfrm>
          <a:prstGeom prst="rect">
            <a:avLst/>
          </a:prstGeom>
          <a:noFill/>
        </p:spPr>
        <p:txBody>
          <a:bodyPr wrap="none" lIns="118872" tIns="91440" rIns="118872" bIns="91440" rtlCol="0" anchor="ctr" anchorCtr="0">
            <a:spAutoFit/>
          </a:bodyPr>
          <a:lstStyle/>
          <a:p>
            <a:pPr algn="l">
              <a:lnSpc>
                <a:spcPct val="90000"/>
              </a:lnSpc>
            </a:pPr>
            <a:r>
              <a:rPr lang="en-US" sz="2400" dirty="0"/>
              <a:t>So, what do we need?</a:t>
            </a:r>
          </a:p>
          <a:p>
            <a:pPr algn="l">
              <a:lnSpc>
                <a:spcPct val="90000"/>
              </a:lnSpc>
            </a:pPr>
            <a:endParaRPr lang="en-US" sz="2400" dirty="0"/>
          </a:p>
          <a:p>
            <a:pPr marL="285750" indent="-285750" algn="l">
              <a:lnSpc>
                <a:spcPct val="90000"/>
              </a:lnSpc>
              <a:buFont typeface="Arial" panose="020B0604020202020204" pitchFamily="34" charset="0"/>
              <a:buChar char="•"/>
            </a:pPr>
            <a:r>
              <a:rPr lang="en-US" sz="2400" dirty="0"/>
              <a:t>Abstractions layers </a:t>
            </a:r>
          </a:p>
          <a:p>
            <a:pPr marL="285750" indent="-285750" algn="l">
              <a:lnSpc>
                <a:spcPct val="90000"/>
              </a:lnSpc>
              <a:buFont typeface="Arial" panose="020B0604020202020204" pitchFamily="34" charset="0"/>
              <a:buChar char="•"/>
            </a:pPr>
            <a:r>
              <a:rPr lang="en-US" sz="2400" dirty="0"/>
              <a:t>Code transformation tools</a:t>
            </a:r>
          </a:p>
          <a:p>
            <a:pPr marL="285750" indent="-285750" algn="l">
              <a:lnSpc>
                <a:spcPct val="90000"/>
              </a:lnSpc>
              <a:buFont typeface="Arial" panose="020B0604020202020204" pitchFamily="34" charset="0"/>
              <a:buChar char="•"/>
            </a:pPr>
            <a:r>
              <a:rPr lang="en-US" sz="2400" dirty="0"/>
              <a:t>Data movement orchestrators</a:t>
            </a:r>
          </a:p>
        </p:txBody>
      </p:sp>
    </p:spTree>
    <p:extLst>
      <p:ext uri="{BB962C8B-B14F-4D97-AF65-F5344CB8AC3E}">
        <p14:creationId xmlns:p14="http://schemas.microsoft.com/office/powerpoint/2010/main" val="313743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3B40-7A22-89F8-6BB1-6167FDBA30F2}"/>
              </a:ext>
            </a:extLst>
          </p:cNvPr>
          <p:cNvSpPr>
            <a:spLocks noGrp="1"/>
          </p:cNvSpPr>
          <p:nvPr>
            <p:ph type="title"/>
          </p:nvPr>
        </p:nvSpPr>
        <p:spPr/>
        <p:txBody>
          <a:bodyPr/>
          <a:lstStyle/>
          <a:p>
            <a:r>
              <a:rPr lang="en-US" dirty="0"/>
              <a:t>Mechanisms Needed by the Code: Example of Flash-X</a:t>
            </a:r>
          </a:p>
        </p:txBody>
      </p:sp>
      <p:sp>
        <p:nvSpPr>
          <p:cNvPr id="4" name="Rounded Rectangle 3">
            <a:extLst>
              <a:ext uri="{FF2B5EF4-FFF2-40B4-BE49-F238E27FC236}">
                <a16:creationId xmlns:a16="http://schemas.microsoft.com/office/drawing/2014/main" id="{471E77FC-1631-5458-51D2-E734CEC850D0}"/>
              </a:ext>
            </a:extLst>
          </p:cNvPr>
          <p:cNvSpPr/>
          <p:nvPr/>
        </p:nvSpPr>
        <p:spPr>
          <a:xfrm>
            <a:off x="522156" y="3874008"/>
            <a:ext cx="5266944" cy="2220468"/>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map work to computational targets</a:t>
            </a:r>
          </a:p>
          <a:p>
            <a:pPr>
              <a:lnSpc>
                <a:spcPct val="90000"/>
              </a:lnSpc>
            </a:pPr>
            <a:endParaRPr lang="en-US" sz="2400" dirty="0">
              <a:solidFill>
                <a:schemeClr val="bg1"/>
              </a:solidFill>
            </a:endParaRPr>
          </a:p>
          <a:p>
            <a:pPr algn="ctr">
              <a:lnSpc>
                <a:spcPct val="90000"/>
              </a:lnSpc>
            </a:pPr>
            <a:r>
              <a:rPr lang="en-US" sz="2400" dirty="0">
                <a:solidFill>
                  <a:schemeClr val="bg1"/>
                </a:solidFill>
              </a:rPr>
              <a:t>DSL for recipes with code generator</a:t>
            </a:r>
          </a:p>
        </p:txBody>
      </p:sp>
      <p:sp>
        <p:nvSpPr>
          <p:cNvPr id="7" name="Rounded Rectangle 6">
            <a:extLst>
              <a:ext uri="{FF2B5EF4-FFF2-40B4-BE49-F238E27FC236}">
                <a16:creationId xmlns:a16="http://schemas.microsoft.com/office/drawing/2014/main" id="{92BFB06A-BBA4-8BFB-FC00-AF67220E1D1D}"/>
              </a:ext>
            </a:extLst>
          </p:cNvPr>
          <p:cNvSpPr/>
          <p:nvPr/>
        </p:nvSpPr>
        <p:spPr>
          <a:xfrm>
            <a:off x="6130988" y="1106424"/>
            <a:ext cx="5266944" cy="2220468"/>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move work and data to computational targets</a:t>
            </a:r>
          </a:p>
          <a:p>
            <a:pPr marL="342900" indent="-342900">
              <a:lnSpc>
                <a:spcPct val="90000"/>
              </a:lnSpc>
              <a:buFont typeface="Arial" panose="020B0604020202020204" pitchFamily="34" charset="0"/>
              <a:buChar char="•"/>
            </a:pPr>
            <a:endParaRPr lang="en-US" sz="2400" dirty="0">
              <a:solidFill>
                <a:schemeClr val="bg1"/>
              </a:solidFill>
            </a:endParaRPr>
          </a:p>
          <a:p>
            <a:pPr algn="ctr">
              <a:lnSpc>
                <a:spcPct val="90000"/>
              </a:lnSpc>
            </a:pPr>
            <a:r>
              <a:rPr lang="en-US" sz="2400" dirty="0">
                <a:solidFill>
                  <a:schemeClr val="bg1"/>
                </a:solidFill>
              </a:rPr>
              <a:t>    Domain specific runtime</a:t>
            </a:r>
            <a:endParaRPr lang="en-US" sz="2000" dirty="0">
              <a:solidFill>
                <a:schemeClr val="bg1"/>
              </a:solidFill>
            </a:endParaRPr>
          </a:p>
        </p:txBody>
      </p:sp>
      <p:sp>
        <p:nvSpPr>
          <p:cNvPr id="8" name="Rounded Rectangle 7">
            <a:extLst>
              <a:ext uri="{FF2B5EF4-FFF2-40B4-BE49-F238E27FC236}">
                <a16:creationId xmlns:a16="http://schemas.microsoft.com/office/drawing/2014/main" id="{EF43E14F-733F-9C60-C28A-99FD74738BE7}"/>
              </a:ext>
            </a:extLst>
          </p:cNvPr>
          <p:cNvSpPr/>
          <p:nvPr/>
        </p:nvSpPr>
        <p:spPr>
          <a:xfrm>
            <a:off x="523744" y="1106424"/>
            <a:ext cx="5266944" cy="2220468"/>
          </a:xfrm>
          <a:prstGeom prst="roundRect">
            <a:avLst/>
          </a:prstGeom>
          <a:solidFill>
            <a:schemeClr val="accent4">
              <a:lumMod val="75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nSpc>
                <a:spcPct val="90000"/>
              </a:lnSpc>
            </a:pPr>
            <a:r>
              <a:rPr lang="en-US" sz="2400" dirty="0">
                <a:solidFill>
                  <a:schemeClr val="bg1"/>
                </a:solidFill>
              </a:rPr>
              <a:t>Mechanisms to unify expression of computation</a:t>
            </a:r>
          </a:p>
          <a:p>
            <a:pPr>
              <a:lnSpc>
                <a:spcPct val="90000"/>
              </a:lnSpc>
            </a:pPr>
            <a:endParaRPr lang="en-US" sz="2400" dirty="0">
              <a:solidFill>
                <a:schemeClr val="bg1"/>
              </a:solidFill>
            </a:endParaRPr>
          </a:p>
          <a:p>
            <a:pPr algn="ctr">
              <a:lnSpc>
                <a:spcPct val="90000"/>
              </a:lnSpc>
            </a:pPr>
            <a:r>
              <a:rPr lang="en-US" sz="2400" dirty="0">
                <a:solidFill>
                  <a:schemeClr val="bg1"/>
                </a:solidFill>
              </a:rPr>
              <a:t>   Macros with inheritance </a:t>
            </a:r>
          </a:p>
        </p:txBody>
      </p:sp>
      <p:sp>
        <p:nvSpPr>
          <p:cNvPr id="5" name="Rounded Rectangle 4">
            <a:extLst>
              <a:ext uri="{FF2B5EF4-FFF2-40B4-BE49-F238E27FC236}">
                <a16:creationId xmlns:a16="http://schemas.microsoft.com/office/drawing/2014/main" id="{03F4EA3B-2D5D-C05D-E165-FA8F8EF12B71}"/>
              </a:ext>
            </a:extLst>
          </p:cNvPr>
          <p:cNvSpPr/>
          <p:nvPr/>
        </p:nvSpPr>
        <p:spPr>
          <a:xfrm>
            <a:off x="6130988" y="3874008"/>
            <a:ext cx="5266944" cy="2220468"/>
          </a:xfrm>
          <a:prstGeom prst="roundRect">
            <a:avLst/>
          </a:prstGeom>
          <a:solidFill>
            <a:schemeClr val="accent5">
              <a:lumMod val="50000"/>
            </a:schemeClr>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400" dirty="0">
              <a:solidFill>
                <a:schemeClr val="bg1"/>
              </a:solidFill>
            </a:endParaRPr>
          </a:p>
          <a:p>
            <a:pPr algn="ctr">
              <a:lnSpc>
                <a:spcPct val="90000"/>
              </a:lnSpc>
            </a:pPr>
            <a:r>
              <a:rPr lang="en-US" sz="2400" dirty="0">
                <a:solidFill>
                  <a:schemeClr val="bg1"/>
                </a:solidFill>
              </a:rPr>
              <a:t>Composability in the source</a:t>
            </a:r>
          </a:p>
          <a:p>
            <a:pPr algn="ctr">
              <a:lnSpc>
                <a:spcPct val="90000"/>
              </a:lnSpc>
            </a:pPr>
            <a:r>
              <a:rPr lang="en-US" sz="2400" dirty="0">
                <a:solidFill>
                  <a:schemeClr val="bg1"/>
                </a:solidFill>
              </a:rPr>
              <a:t>A toolset of each mechanism</a:t>
            </a:r>
          </a:p>
          <a:p>
            <a:pPr algn="ctr">
              <a:lnSpc>
                <a:spcPct val="90000"/>
              </a:lnSpc>
            </a:pPr>
            <a:r>
              <a:rPr lang="en-US" sz="2400" dirty="0">
                <a:solidFill>
                  <a:schemeClr val="bg1"/>
                </a:solidFill>
              </a:rPr>
              <a:t>Independent tool sets</a:t>
            </a:r>
          </a:p>
          <a:p>
            <a:pPr algn="ctr">
              <a:lnSpc>
                <a:spcPct val="90000"/>
              </a:lnSpc>
            </a:pPr>
            <a:endParaRPr lang="en-US" sz="2400" dirty="0">
              <a:solidFill>
                <a:schemeClr val="bg1"/>
              </a:solidFill>
            </a:endParaRPr>
          </a:p>
          <a:p>
            <a:pPr algn="ctr">
              <a:lnSpc>
                <a:spcPct val="90000"/>
              </a:lnSpc>
            </a:pPr>
            <a:r>
              <a:rPr lang="en-US" sz="2400" dirty="0">
                <a:solidFill>
                  <a:schemeClr val="bg1"/>
                </a:solidFill>
              </a:rPr>
              <a:t> </a:t>
            </a:r>
          </a:p>
        </p:txBody>
      </p:sp>
    </p:spTree>
    <p:extLst>
      <p:ext uri="{BB962C8B-B14F-4D97-AF65-F5344CB8AC3E}">
        <p14:creationId xmlns:p14="http://schemas.microsoft.com/office/powerpoint/2010/main" val="3072973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Tree>
    <p:extLst>
      <p:ext uri="{BB962C8B-B14F-4D97-AF65-F5344CB8AC3E}">
        <p14:creationId xmlns:p14="http://schemas.microsoft.com/office/powerpoint/2010/main" val="3076692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Tree>
    <p:extLst>
      <p:ext uri="{BB962C8B-B14F-4D97-AF65-F5344CB8AC3E}">
        <p14:creationId xmlns:p14="http://schemas.microsoft.com/office/powerpoint/2010/main" val="158912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E2E0-9DA3-3D91-D9AC-F0F883FF40DC}"/>
              </a:ext>
            </a:extLst>
          </p:cNvPr>
          <p:cNvSpPr>
            <a:spLocks noGrp="1"/>
          </p:cNvSpPr>
          <p:nvPr>
            <p:ph type="title"/>
          </p:nvPr>
        </p:nvSpPr>
        <p:spPr>
          <a:xfrm>
            <a:off x="618582" y="19144"/>
            <a:ext cx="10512862" cy="1325218"/>
          </a:xfrm>
        </p:spPr>
        <p:txBody>
          <a:bodyPr/>
          <a:lstStyle/>
          <a:p>
            <a:r>
              <a:rPr lang="en-US" dirty="0"/>
              <a:t>State of Practice – Abstractions and Runtimes</a:t>
            </a:r>
          </a:p>
        </p:txBody>
      </p:sp>
      <p:sp>
        <p:nvSpPr>
          <p:cNvPr id="3" name="Content Placeholder 2">
            <a:extLst>
              <a:ext uri="{FF2B5EF4-FFF2-40B4-BE49-F238E27FC236}">
                <a16:creationId xmlns:a16="http://schemas.microsoft.com/office/drawing/2014/main" id="{53446683-6988-1141-6445-EC432AAC23E6}"/>
              </a:ext>
            </a:extLst>
          </p:cNvPr>
          <p:cNvSpPr>
            <a:spLocks noGrp="1"/>
          </p:cNvSpPr>
          <p:nvPr>
            <p:ph idx="1"/>
          </p:nvPr>
        </p:nvSpPr>
        <p:spPr>
          <a:xfrm>
            <a:off x="618582" y="1055227"/>
            <a:ext cx="10512862" cy="3757332"/>
          </a:xfrm>
        </p:spPr>
        <p:txBody>
          <a:bodyPr>
            <a:normAutofit/>
          </a:bodyPr>
          <a:lstStyle/>
          <a:p>
            <a:r>
              <a:rPr lang="en-US" dirty="0"/>
              <a:t>Still very focused on GPU</a:t>
            </a:r>
          </a:p>
          <a:p>
            <a:pPr lvl="1"/>
            <a:r>
              <a:rPr lang="en-US" dirty="0"/>
              <a:t>Majority of ECP applications park their data on the GPU and just work there</a:t>
            </a:r>
          </a:p>
          <a:p>
            <a:r>
              <a:rPr lang="en-US" dirty="0"/>
              <a:t>Abstractions -- data structures and parallelization of loops </a:t>
            </a:r>
          </a:p>
          <a:p>
            <a:r>
              <a:rPr lang="en-US" dirty="0"/>
              <a:t>Limitations</a:t>
            </a:r>
          </a:p>
          <a:p>
            <a:pPr lvl="1"/>
            <a:r>
              <a:rPr lang="en-US" dirty="0"/>
              <a:t>No way to handle algorithmic variants in a unified way</a:t>
            </a:r>
          </a:p>
          <a:p>
            <a:pPr lvl="1"/>
            <a:r>
              <a:rPr lang="en-US" dirty="0"/>
              <a:t>No way to transfer domain knowledge based possible optimizations to the tools</a:t>
            </a:r>
          </a:p>
          <a:p>
            <a:r>
              <a:rPr lang="en-US" dirty="0"/>
              <a:t>None of the prevalent languages allow a good way to define data locality</a:t>
            </a:r>
          </a:p>
          <a:p>
            <a:pPr lvl="1"/>
            <a:r>
              <a:rPr lang="en-US" dirty="0"/>
              <a:t>Boutique HPC languages like chapel do – but chicken and egg problem with adoption</a:t>
            </a:r>
          </a:p>
          <a:p>
            <a:endParaRPr lang="en-US" dirty="0"/>
          </a:p>
        </p:txBody>
      </p:sp>
      <p:sp>
        <p:nvSpPr>
          <p:cNvPr id="5" name="Rectangle 4">
            <a:extLst>
              <a:ext uri="{FF2B5EF4-FFF2-40B4-BE49-F238E27FC236}">
                <a16:creationId xmlns:a16="http://schemas.microsoft.com/office/drawing/2014/main" id="{3E5C2FF0-973B-B600-067C-C1EA53AFB4FE}"/>
              </a:ext>
            </a:extLst>
          </p:cNvPr>
          <p:cNvSpPr/>
          <p:nvPr/>
        </p:nvSpPr>
        <p:spPr>
          <a:xfrm>
            <a:off x="1614003" y="4788753"/>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holy grail for scientists – write equation and generate code</a:t>
            </a:r>
          </a:p>
        </p:txBody>
      </p:sp>
      <p:sp>
        <p:nvSpPr>
          <p:cNvPr id="6" name="Rectangle 5">
            <a:extLst>
              <a:ext uri="{FF2B5EF4-FFF2-40B4-BE49-F238E27FC236}">
                <a16:creationId xmlns:a16="http://schemas.microsoft.com/office/drawing/2014/main" id="{A28BA85B-9464-EA29-2DC2-27EDB4AE3F06}"/>
              </a:ext>
            </a:extLst>
          </p:cNvPr>
          <p:cNvSpPr/>
          <p:nvPr/>
        </p:nvSpPr>
        <p:spPr>
          <a:xfrm>
            <a:off x="3612970" y="5802774"/>
            <a:ext cx="3997935" cy="4387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there another way?</a:t>
            </a:r>
          </a:p>
        </p:txBody>
      </p:sp>
      <p:sp>
        <p:nvSpPr>
          <p:cNvPr id="7" name="Rectangle 6">
            <a:extLst>
              <a:ext uri="{FF2B5EF4-FFF2-40B4-BE49-F238E27FC236}">
                <a16:creationId xmlns:a16="http://schemas.microsoft.com/office/drawing/2014/main" id="{30BA514D-7A50-87B9-9355-EA0D70DED958}"/>
              </a:ext>
            </a:extLst>
          </p:cNvPr>
          <p:cNvSpPr/>
          <p:nvPr/>
        </p:nvSpPr>
        <p:spPr>
          <a:xfrm>
            <a:off x="1614003" y="5215797"/>
            <a:ext cx="7995869" cy="3543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Very limited success in some domains</a:t>
            </a:r>
          </a:p>
        </p:txBody>
      </p:sp>
      <p:sp>
        <p:nvSpPr>
          <p:cNvPr id="8" name="Rectangle 7">
            <a:extLst>
              <a:ext uri="{FF2B5EF4-FFF2-40B4-BE49-F238E27FC236}">
                <a16:creationId xmlns:a16="http://schemas.microsoft.com/office/drawing/2014/main" id="{8F69E808-06F7-8E0A-B7F1-0CC2F3F5FD78}"/>
              </a:ext>
            </a:extLst>
          </p:cNvPr>
          <p:cNvSpPr/>
          <p:nvPr/>
        </p:nvSpPr>
        <p:spPr>
          <a:xfrm>
            <a:off x="2136853" y="1577037"/>
            <a:ext cx="6353171" cy="268535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199" b="1" dirty="0"/>
              <a:t>We have been developing one for Flash-X – started under ECP and TEAMS, continuing with RAPIDS and ENAF</a:t>
            </a:r>
          </a:p>
        </p:txBody>
      </p:sp>
    </p:spTree>
    <p:extLst>
      <p:ext uri="{BB962C8B-B14F-4D97-AF65-F5344CB8AC3E}">
        <p14:creationId xmlns:p14="http://schemas.microsoft.com/office/powerpoint/2010/main" val="3757042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965E-2217-D7F3-4536-0F6A593AAC23}"/>
              </a:ext>
            </a:extLst>
          </p:cNvPr>
          <p:cNvSpPr>
            <a:spLocks noGrp="1"/>
          </p:cNvSpPr>
          <p:nvPr>
            <p:ph type="title"/>
          </p:nvPr>
        </p:nvSpPr>
        <p:spPr/>
        <p:txBody>
          <a:bodyPr/>
          <a:lstStyle/>
          <a:p>
            <a:r>
              <a:rPr lang="en-US" dirty="0"/>
              <a:t>ORCHA: Overview</a:t>
            </a:r>
          </a:p>
        </p:txBody>
      </p:sp>
      <p:sp>
        <p:nvSpPr>
          <p:cNvPr id="3" name="Content Placeholder 2">
            <a:extLst>
              <a:ext uri="{FF2B5EF4-FFF2-40B4-BE49-F238E27FC236}">
                <a16:creationId xmlns:a16="http://schemas.microsoft.com/office/drawing/2014/main" id="{D586863E-3354-5B53-A293-E4EE4E51BD53}"/>
              </a:ext>
            </a:extLst>
          </p:cNvPr>
          <p:cNvSpPr>
            <a:spLocks noGrp="1"/>
          </p:cNvSpPr>
          <p:nvPr>
            <p:ph sz="quarter" idx="14"/>
          </p:nvPr>
        </p:nvSpPr>
        <p:spPr>
          <a:xfrm>
            <a:off x="609440" y="1293685"/>
            <a:ext cx="11173089" cy="2525179"/>
          </a:xfrm>
        </p:spPr>
        <p:txBody>
          <a:bodyPr>
            <a:normAutofit fontScale="92500" lnSpcReduction="10000"/>
          </a:bodyPr>
          <a:lstStyle/>
          <a:p>
            <a:r>
              <a:rPr lang="en-US" dirty="0"/>
              <a:t>ORCHA consists of three tools: CG-Kit, </a:t>
            </a:r>
            <a:r>
              <a:rPr lang="en-US" dirty="0" err="1"/>
              <a:t>Macroprocessor</a:t>
            </a:r>
            <a:r>
              <a:rPr lang="en-US" dirty="0"/>
              <a:t>, and </a:t>
            </a:r>
            <a:r>
              <a:rPr lang="en-US" dirty="0" err="1"/>
              <a:t>Milhoja</a:t>
            </a:r>
            <a:endParaRPr lang="en-US" baseline="30000" dirty="0"/>
          </a:p>
          <a:p>
            <a:r>
              <a:rPr lang="en-US" dirty="0"/>
              <a:t>A user expresses the control flow of the simulation in a “recipe”</a:t>
            </a:r>
          </a:p>
          <a:p>
            <a:r>
              <a:rPr lang="en-US" dirty="0"/>
              <a:t>CG-Kit reads and parses the given recipe, statically optimizes the control flow graph</a:t>
            </a:r>
          </a:p>
          <a:p>
            <a:r>
              <a:rPr lang="en-US" dirty="0" err="1"/>
              <a:t>Macroprocessor</a:t>
            </a:r>
            <a:r>
              <a:rPr lang="en-US" dirty="0"/>
              <a:t> selects the right definition for the target and translates the static physics code (similar to what </a:t>
            </a:r>
            <a:r>
              <a:rPr lang="en-US" dirty="0" err="1"/>
              <a:t>Kokkos</a:t>
            </a:r>
            <a:r>
              <a:rPr lang="en-US" dirty="0"/>
              <a:t>/</a:t>
            </a:r>
            <a:r>
              <a:rPr lang="en-US" dirty="0" err="1"/>
              <a:t>AMReX</a:t>
            </a:r>
            <a:r>
              <a:rPr lang="en-US" dirty="0"/>
              <a:t> do for C++ codes)</a:t>
            </a:r>
          </a:p>
          <a:p>
            <a:r>
              <a:rPr lang="en-US" dirty="0" err="1"/>
              <a:t>Milhoja</a:t>
            </a:r>
            <a:r>
              <a:rPr lang="en-US" dirty="0"/>
              <a:t> handles data transfers and kernel launching</a:t>
            </a:r>
          </a:p>
        </p:txBody>
      </p:sp>
      <p:sp>
        <p:nvSpPr>
          <p:cNvPr id="5" name="Rounded Rectangle 4">
            <a:extLst>
              <a:ext uri="{FF2B5EF4-FFF2-40B4-BE49-F238E27FC236}">
                <a16:creationId xmlns:a16="http://schemas.microsoft.com/office/drawing/2014/main" id="{3E4C4A87-DBE1-9EBC-A1E3-51B2118B84AD}"/>
              </a:ext>
            </a:extLst>
          </p:cNvPr>
          <p:cNvSpPr/>
          <p:nvPr/>
        </p:nvSpPr>
        <p:spPr>
          <a:xfrm>
            <a:off x="406296" y="3818864"/>
            <a:ext cx="11480798" cy="551185"/>
          </a:xfrm>
          <a:prstGeom prst="roundRect">
            <a:avLst/>
          </a:prstGeom>
          <a:solidFill>
            <a:schemeClr val="tx2">
              <a:lumMod val="75000"/>
            </a:schemeClr>
          </a:solidFill>
          <a:ln w="19050">
            <a:solidFill>
              <a:schemeClr val="accent1">
                <a:lumMod val="50000"/>
              </a:schemeClr>
            </a:solidFill>
            <a:miter lim="800000"/>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182832" tIns="182832" rIns="182832" bIns="182832" numCol="1" spcCol="0" rtlCol="0" fromWordArt="0" anchor="ctr" anchorCtr="0" forceAA="0" compatLnSpc="1">
            <a:prstTxWarp prst="textNoShape">
              <a:avLst/>
            </a:prstTxWarp>
            <a:noAutofit/>
          </a:bodyPr>
          <a:lstStyle/>
          <a:p>
            <a:pPr algn="l">
              <a:lnSpc>
                <a:spcPct val="90000"/>
              </a:lnSpc>
            </a:pPr>
            <a:r>
              <a:rPr lang="en-US" sz="2399" dirty="0">
                <a:solidFill>
                  <a:schemeClr val="bg1"/>
                </a:solidFill>
              </a:rPr>
              <a:t>The magic component that puts everything together – Flash-X-</a:t>
            </a:r>
            <a:r>
              <a:rPr lang="en-US" sz="2399" dirty="0" err="1">
                <a:solidFill>
                  <a:schemeClr val="bg1"/>
                </a:solidFill>
              </a:rPr>
              <a:t>RecipeTools</a:t>
            </a:r>
            <a:endParaRPr lang="en-US" sz="2399" dirty="0">
              <a:solidFill>
                <a:schemeClr val="bg1"/>
              </a:solidFill>
            </a:endParaRPr>
          </a:p>
        </p:txBody>
      </p:sp>
      <p:sp>
        <p:nvSpPr>
          <p:cNvPr id="6" name="Content Placeholder 2">
            <a:extLst>
              <a:ext uri="{FF2B5EF4-FFF2-40B4-BE49-F238E27FC236}">
                <a16:creationId xmlns:a16="http://schemas.microsoft.com/office/drawing/2014/main" id="{382B427C-188F-861A-8FFF-817790ABB49E}"/>
              </a:ext>
            </a:extLst>
          </p:cNvPr>
          <p:cNvSpPr txBox="1">
            <a:spLocks/>
          </p:cNvSpPr>
          <p:nvPr/>
        </p:nvSpPr>
        <p:spPr bwMode="auto">
          <a:xfrm>
            <a:off x="609439" y="4587528"/>
            <a:ext cx="11173089" cy="1756514"/>
          </a:xfrm>
          <a:prstGeom prst="rect">
            <a:avLst/>
          </a:prstGeom>
          <a:noFill/>
          <a:ln w="9525">
            <a:noFill/>
            <a:miter lim="800000"/>
            <a:headEnd/>
            <a:tailEnd/>
          </a:ln>
        </p:spPr>
        <p:txBody>
          <a:bodyPr vert="horz" wrap="square" lIns="91416" tIns="45708" rIns="91416" bIns="45708" numCol="1" anchor="t" anchorCtr="0" compatLnSpc="1">
            <a:prstTxWarp prst="textNoShape">
              <a:avLst/>
            </a:prstTxWarp>
            <a:normAutofit/>
          </a:bodyPr>
          <a:lstStyle>
            <a:lvl1pPr marL="228600" indent="-228600" algn="l" rtl="0" eaLnBrk="1" fontAlgn="base" hangingPunct="1">
              <a:lnSpc>
                <a:spcPct val="90000"/>
              </a:lnSpc>
              <a:spcBef>
                <a:spcPts val="1400"/>
              </a:spcBef>
              <a:spcAft>
                <a:spcPct val="0"/>
              </a:spcAft>
              <a:buClr>
                <a:schemeClr val="tx1"/>
              </a:buClr>
              <a:buSzPct val="90000"/>
              <a:buFont typeface="Century Gothic" panose="020B0502020202020204" pitchFamily="34" charset="0"/>
              <a:buChar char="•"/>
              <a:defRPr sz="2000" kern="1200">
                <a:solidFill>
                  <a:schemeClr val="tx1"/>
                </a:solidFill>
                <a:latin typeface="+mn-lt"/>
                <a:ea typeface="+mn-ea"/>
                <a:cs typeface="+mn-cs"/>
              </a:defRPr>
            </a:lvl1pPr>
            <a:lvl2pPr marL="571500" indent="-22860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800" kern="1200">
                <a:solidFill>
                  <a:schemeClr val="tx1"/>
                </a:solidFill>
                <a:latin typeface="+mn-lt"/>
                <a:ea typeface="+mn-ea"/>
                <a:cs typeface="+mn-cs"/>
              </a:defRPr>
            </a:lvl2pPr>
            <a:lvl3pPr marL="857250" indent="-17145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6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9" dirty="0"/>
              <a:t>These are the application specific parts of ORCHA – need to be developed for each application</a:t>
            </a:r>
          </a:p>
          <a:p>
            <a:r>
              <a:rPr lang="en-US" sz="1999" dirty="0"/>
              <a:t>They do code generation for application specific task functions and data packets</a:t>
            </a:r>
          </a:p>
          <a:p>
            <a:r>
              <a:rPr lang="en-US" sz="1999" dirty="0"/>
              <a:t>Key design choice to avoid having to change applications intrusively to become compatible with ORCHA </a:t>
            </a:r>
          </a:p>
          <a:p>
            <a:endParaRPr lang="en-US" sz="1999" baseline="30000" dirty="0"/>
          </a:p>
        </p:txBody>
      </p:sp>
    </p:spTree>
    <p:extLst>
      <p:ext uri="{BB962C8B-B14F-4D97-AF65-F5344CB8AC3E}">
        <p14:creationId xmlns:p14="http://schemas.microsoft.com/office/powerpoint/2010/main" val="3017180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CAC70B-330C-7868-21A9-B34624C0E643}"/>
              </a:ext>
            </a:extLst>
          </p:cNvPr>
          <p:cNvSpPr txBox="1">
            <a:spLocks/>
          </p:cNvSpPr>
          <p:nvPr/>
        </p:nvSpPr>
        <p:spPr>
          <a:xfrm>
            <a:off x="653094" y="52532"/>
            <a:ext cx="10512862" cy="792908"/>
          </a:xfrm>
          <a:prstGeom prst="rect">
            <a:avLst/>
          </a:prstGeom>
        </p:spPr>
        <p:txBody>
          <a:bodyPr vert="horz" lIns="91416" tIns="45708" rIns="91416" bIns="45708" rtlCol="0" anchor="ctr">
            <a:normAutofit fontScale="85000" lnSpcReduction="10000"/>
          </a:bodyPr>
          <a:lstStyle>
            <a:lvl1pPr algn="l" defTabSz="914400" rtl="0" eaLnBrk="1" latinLnBrk="0" hangingPunct="1">
              <a:lnSpc>
                <a:spcPct val="90000"/>
              </a:lnSpc>
              <a:spcBef>
                <a:spcPct val="0"/>
              </a:spcBef>
              <a:buNone/>
              <a:defRPr sz="4000" b="1" i="0" kern="1200" baseline="0">
                <a:solidFill>
                  <a:schemeClr val="tx1"/>
                </a:solidFill>
                <a:latin typeface="+mj-lt"/>
                <a:ea typeface="+mj-ea"/>
                <a:cs typeface="+mj-cs"/>
              </a:defRPr>
            </a:lvl1pPr>
          </a:lstStyle>
          <a:p>
            <a:r>
              <a:rPr lang="en-US" sz="3999" dirty="0"/>
              <a:t>Orthogonal Axes of Challenges and Optimization</a:t>
            </a:r>
          </a:p>
        </p:txBody>
      </p:sp>
      <p:sp>
        <p:nvSpPr>
          <p:cNvPr id="8" name="Content Placeholder 2">
            <a:extLst>
              <a:ext uri="{FF2B5EF4-FFF2-40B4-BE49-F238E27FC236}">
                <a16:creationId xmlns:a16="http://schemas.microsoft.com/office/drawing/2014/main" id="{3E6B596F-A447-C996-0328-EDB66F73B864}"/>
              </a:ext>
            </a:extLst>
          </p:cNvPr>
          <p:cNvSpPr txBox="1">
            <a:spLocks/>
          </p:cNvSpPr>
          <p:nvPr/>
        </p:nvSpPr>
        <p:spPr>
          <a:xfrm>
            <a:off x="837981" y="812226"/>
            <a:ext cx="10512862" cy="924548"/>
          </a:xfrm>
          <a:prstGeom prst="rect">
            <a:avLst/>
          </a:prstGeom>
        </p:spPr>
        <p:txBody>
          <a:bodyPr vert="horz" lIns="91416" tIns="45708" rIns="91416" bIns="45708" rtlCol="0">
            <a:normAutofit fontScale="925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399" dirty="0"/>
              <a:t>Have a way of rearranging data locality and moving data and computation</a:t>
            </a:r>
          </a:p>
          <a:p>
            <a:pPr lvl="2"/>
            <a:r>
              <a:rPr lang="en-US" sz="1999" dirty="0"/>
              <a:t>Let the human-in-the-loop dictate this</a:t>
            </a:r>
          </a:p>
        </p:txBody>
      </p:sp>
      <p:sp>
        <p:nvSpPr>
          <p:cNvPr id="9" name="Rounded Rectangle 8">
            <a:extLst>
              <a:ext uri="{FF2B5EF4-FFF2-40B4-BE49-F238E27FC236}">
                <a16:creationId xmlns:a16="http://schemas.microsoft.com/office/drawing/2014/main" id="{BF6B6299-B0A5-E470-E82C-2B981677601B}"/>
              </a:ext>
            </a:extLst>
          </p:cNvPr>
          <p:cNvSpPr/>
          <p:nvPr/>
        </p:nvSpPr>
        <p:spPr>
          <a:xfrm>
            <a:off x="373893" y="1754186"/>
            <a:ext cx="5265572" cy="1903355"/>
          </a:xfrm>
          <a:prstGeom prst="roundRect">
            <a:avLst/>
          </a:prstGeom>
          <a:solidFill>
            <a:schemeClr val="accent1">
              <a:lumMod val="75000"/>
            </a:schemeClr>
          </a:solidFill>
          <a:ln>
            <a:no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a:solidFill>
                  <a:schemeClr val="bg1"/>
                </a:solidFill>
              </a:rPr>
              <a:t>CG-Kit – recipes in python</a:t>
            </a:r>
          </a:p>
          <a:p>
            <a:pPr>
              <a:lnSpc>
                <a:spcPct val="90000"/>
              </a:lnSpc>
            </a:pPr>
            <a:r>
              <a:rPr lang="en-US" sz="2399" dirty="0">
                <a:solidFill>
                  <a:schemeClr val="bg1"/>
                </a:solidFill>
              </a:rPr>
              <a:t> -- templates for different variants</a:t>
            </a:r>
          </a:p>
          <a:p>
            <a:pPr>
              <a:lnSpc>
                <a:spcPct val="90000"/>
              </a:lnSpc>
            </a:pPr>
            <a:r>
              <a:rPr lang="en-US" sz="2399" dirty="0">
                <a:solidFill>
                  <a:schemeClr val="bg1"/>
                </a:solidFill>
              </a:rPr>
              <a:t> -- express where to compute what</a:t>
            </a:r>
          </a:p>
          <a:p>
            <a:pPr>
              <a:lnSpc>
                <a:spcPct val="90000"/>
              </a:lnSpc>
            </a:pPr>
            <a:r>
              <a:rPr lang="en-US" sz="2399" dirty="0">
                <a:solidFill>
                  <a:schemeClr val="bg1"/>
                </a:solidFill>
              </a:rPr>
              <a:t> --  emit code in Fortran/C/C++</a:t>
            </a:r>
          </a:p>
        </p:txBody>
      </p:sp>
      <p:sp>
        <p:nvSpPr>
          <p:cNvPr id="10" name="Rounded Rectangle 9">
            <a:extLst>
              <a:ext uri="{FF2B5EF4-FFF2-40B4-BE49-F238E27FC236}">
                <a16:creationId xmlns:a16="http://schemas.microsoft.com/office/drawing/2014/main" id="{AC39B286-BF3B-3780-5905-393DC60A509C}"/>
              </a:ext>
            </a:extLst>
          </p:cNvPr>
          <p:cNvSpPr/>
          <p:nvPr/>
        </p:nvSpPr>
        <p:spPr>
          <a:xfrm>
            <a:off x="5781839" y="1736774"/>
            <a:ext cx="6033091" cy="1920767"/>
          </a:xfrm>
          <a:prstGeom prst="roundRect">
            <a:avLst/>
          </a:prstGeom>
          <a:solidFill>
            <a:srgbClr val="7030A0"/>
          </a:solidFill>
          <a:ln>
            <a:solidFill>
              <a:srgbClr val="0070C0"/>
            </a:solidFill>
          </a:ln>
          <a:effectLst>
            <a:outerShdw blurRad="44450" dist="27940" dir="5400000" algn="ctr">
              <a:srgbClr val="000000">
                <a:alpha val="32000"/>
              </a:srgbClr>
            </a:outerShdw>
          </a:effectLst>
        </p:spPr>
        <p:txBody>
          <a:bodyPr rot="0" spcFirstLastPara="0" vertOverflow="overflow" horzOverflow="overflow" vert="horz" wrap="square" lIns="121819" tIns="60909" rIns="121819" bIns="60909" numCol="1" spcCol="0" rtlCol="0" fromWordArt="0" anchor="ctr" anchorCtr="0" forceAA="0" compatLnSpc="1">
            <a:prstTxWarp prst="textNoShape">
              <a:avLst/>
            </a:prstTxWarp>
            <a:noAutofit/>
          </a:bodyPr>
          <a:lstStyle/>
          <a:p>
            <a:pPr>
              <a:lnSpc>
                <a:spcPct val="90000"/>
              </a:lnSpc>
            </a:pPr>
            <a:r>
              <a:rPr lang="en-US" sz="2399" dirty="0" err="1">
                <a:solidFill>
                  <a:schemeClr val="bg1"/>
                </a:solidFill>
              </a:rPr>
              <a:t>Milhoja</a:t>
            </a:r>
            <a:r>
              <a:rPr lang="en-US" sz="2399" dirty="0">
                <a:solidFill>
                  <a:schemeClr val="bg1"/>
                </a:solidFill>
              </a:rPr>
              <a:t> – flatten/decompose data and move it to the target</a:t>
            </a:r>
          </a:p>
          <a:p>
            <a:pPr>
              <a:lnSpc>
                <a:spcPct val="90000"/>
              </a:lnSpc>
            </a:pPr>
            <a:r>
              <a:rPr lang="en-US" sz="2399" dirty="0">
                <a:solidFill>
                  <a:schemeClr val="bg1"/>
                </a:solidFill>
              </a:rPr>
              <a:t>  -- combine data into one data packet</a:t>
            </a:r>
          </a:p>
          <a:p>
            <a:pPr>
              <a:lnSpc>
                <a:spcPct val="90000"/>
              </a:lnSpc>
            </a:pPr>
            <a:r>
              <a:rPr lang="en-US" sz="2399" dirty="0">
                <a:solidFill>
                  <a:schemeClr val="bg1"/>
                </a:solidFill>
              </a:rPr>
              <a:t>  -- decompose into smaller computational sections if needed</a:t>
            </a:r>
          </a:p>
        </p:txBody>
      </p:sp>
      <p:sp>
        <p:nvSpPr>
          <p:cNvPr id="11" name="Content Placeholder 2">
            <a:extLst>
              <a:ext uri="{FF2B5EF4-FFF2-40B4-BE49-F238E27FC236}">
                <a16:creationId xmlns:a16="http://schemas.microsoft.com/office/drawing/2014/main" id="{610F3005-4EA2-8FE8-1602-266BE3E25DBA}"/>
              </a:ext>
            </a:extLst>
          </p:cNvPr>
          <p:cNvSpPr>
            <a:spLocks noGrp="1"/>
          </p:cNvSpPr>
          <p:nvPr>
            <p:ph idx="1"/>
          </p:nvPr>
        </p:nvSpPr>
        <p:spPr>
          <a:xfrm>
            <a:off x="373894" y="3859873"/>
            <a:ext cx="4831876" cy="2272221"/>
          </a:xfrm>
        </p:spPr>
        <p:txBody>
          <a:bodyPr>
            <a:normAutofit fontScale="92500" lnSpcReduction="10000"/>
          </a:bodyPr>
          <a:lstStyle/>
          <a:p>
            <a:r>
              <a:rPr lang="en-US" dirty="0"/>
              <a:t>If tools only execute what they are told to, they are simpler</a:t>
            </a:r>
          </a:p>
          <a:p>
            <a:r>
              <a:rPr lang="en-US" dirty="0"/>
              <a:t>Code generation is our friend – especially when it is simple forward map</a:t>
            </a:r>
          </a:p>
          <a:p>
            <a:pPr lvl="1"/>
            <a:r>
              <a:rPr lang="en-US" dirty="0"/>
              <a:t>And is not entangled with the details of the arithmetic</a:t>
            </a:r>
          </a:p>
          <a:p>
            <a:pPr lvl="2"/>
            <a:endParaRPr lang="en-US" dirty="0"/>
          </a:p>
          <a:p>
            <a:endParaRPr lang="en-US" dirty="0"/>
          </a:p>
        </p:txBody>
      </p:sp>
      <p:sp>
        <p:nvSpPr>
          <p:cNvPr id="2" name="Content Placeholder 2">
            <a:extLst>
              <a:ext uri="{FF2B5EF4-FFF2-40B4-BE49-F238E27FC236}">
                <a16:creationId xmlns:a16="http://schemas.microsoft.com/office/drawing/2014/main" id="{99519F2D-5C66-6848-E527-51079EDC4E54}"/>
              </a:ext>
            </a:extLst>
          </p:cNvPr>
          <p:cNvSpPr txBox="1">
            <a:spLocks/>
          </p:cNvSpPr>
          <p:nvPr/>
        </p:nvSpPr>
        <p:spPr>
          <a:xfrm>
            <a:off x="6094413" y="3859872"/>
            <a:ext cx="5076202" cy="2582882"/>
          </a:xfrm>
          <a:prstGeom prst="rect">
            <a:avLst/>
          </a:prstGeom>
        </p:spPr>
        <p:txBody>
          <a:bodyPr vert="horz" lIns="91416" tIns="45708" rIns="91416" bIns="45708" rtlCol="0">
            <a:normAutofit fontScale="92500" lnSpcReduction="10000"/>
          </a:bodyPr>
          <a:lstStyle>
            <a:lvl1pPr marL="228600" indent="-228600" algn="l" defTabSz="914400" rtl="0" eaLnBrk="1" latinLnBrk="0" hangingPunct="1">
              <a:lnSpc>
                <a:spcPct val="90000"/>
              </a:lnSpc>
              <a:spcBef>
                <a:spcPts val="1000"/>
              </a:spcBef>
              <a:buClr>
                <a:schemeClr val="accent2">
                  <a:lumMod val="75000"/>
                </a:schemeClr>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lumMod val="75000"/>
                </a:schemeClr>
              </a:buClr>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lumMod val="75000"/>
                </a:schemeClr>
              </a:buClr>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lumMod val="75000"/>
                </a:schemeClr>
              </a:buClr>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799" dirty="0"/>
              <a:t>If N blocks are sent to the device we need N copies of all block-wise scratch</a:t>
            </a:r>
          </a:p>
          <a:p>
            <a:r>
              <a:rPr lang="en-US" sz="2799" dirty="0"/>
              <a:t>For all data items we need device pointers</a:t>
            </a:r>
          </a:p>
          <a:p>
            <a:r>
              <a:rPr lang="en-US" sz="2799" dirty="0"/>
              <a:t>Code internally decorated with directives</a:t>
            </a:r>
          </a:p>
          <a:p>
            <a:pPr marL="914126" lvl="2" indent="0">
              <a:buNone/>
            </a:pPr>
            <a:endParaRPr lang="en-US" sz="1999" dirty="0"/>
          </a:p>
          <a:p>
            <a:endParaRPr lang="en-US" sz="2799" dirty="0"/>
          </a:p>
        </p:txBody>
      </p:sp>
    </p:spTree>
    <p:extLst>
      <p:ext uri="{BB962C8B-B14F-4D97-AF65-F5344CB8AC3E}">
        <p14:creationId xmlns:p14="http://schemas.microsoft.com/office/powerpoint/2010/main" val="303022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56AA-AF32-23F8-0F8F-A64808F0B724}"/>
              </a:ext>
            </a:extLst>
          </p:cNvPr>
          <p:cNvSpPr>
            <a:spLocks noGrp="1"/>
          </p:cNvSpPr>
          <p:nvPr>
            <p:ph type="title"/>
          </p:nvPr>
        </p:nvSpPr>
        <p:spPr>
          <a:xfrm>
            <a:off x="837981" y="365924"/>
            <a:ext cx="10512862" cy="661398"/>
          </a:xfrm>
        </p:spPr>
        <p:txBody>
          <a:bodyPr/>
          <a:lstStyle/>
          <a:p>
            <a:r>
              <a:rPr lang="en-US" dirty="0"/>
              <a:t>Code Generators</a:t>
            </a:r>
          </a:p>
        </p:txBody>
      </p:sp>
      <p:sp>
        <p:nvSpPr>
          <p:cNvPr id="3" name="Content Placeholder 2">
            <a:extLst>
              <a:ext uri="{FF2B5EF4-FFF2-40B4-BE49-F238E27FC236}">
                <a16:creationId xmlns:a16="http://schemas.microsoft.com/office/drawing/2014/main" id="{EE469064-0777-7B98-BAEE-C0A6DE72545A}"/>
              </a:ext>
            </a:extLst>
          </p:cNvPr>
          <p:cNvSpPr>
            <a:spLocks noGrp="1"/>
          </p:cNvSpPr>
          <p:nvPr>
            <p:ph idx="1"/>
          </p:nvPr>
        </p:nvSpPr>
        <p:spPr>
          <a:xfrm>
            <a:off x="837981" y="1313409"/>
            <a:ext cx="9021080" cy="4876282"/>
          </a:xfrm>
        </p:spPr>
        <p:txBody>
          <a:bodyPr>
            <a:normAutofit/>
          </a:bodyPr>
          <a:lstStyle/>
          <a:p>
            <a:r>
              <a:rPr lang="en-US" dirty="0"/>
              <a:t>Two Classes</a:t>
            </a:r>
          </a:p>
          <a:p>
            <a:pPr lvl="1"/>
            <a:r>
              <a:rPr lang="en-US" dirty="0"/>
              <a:t>Data packet generators</a:t>
            </a:r>
          </a:p>
          <a:p>
            <a:pPr lvl="2"/>
            <a:r>
              <a:rPr lang="en-US" dirty="0"/>
              <a:t>Parse the interface files </a:t>
            </a:r>
          </a:p>
          <a:p>
            <a:pPr lvl="2"/>
            <a:r>
              <a:rPr lang="en-US" dirty="0"/>
              <a:t>Collect all data to be put into a data packet</a:t>
            </a:r>
          </a:p>
          <a:p>
            <a:pPr lvl="2"/>
            <a:r>
              <a:rPr lang="en-US" dirty="0"/>
              <a:t>Generate code that will flatten all data into data packets</a:t>
            </a:r>
          </a:p>
          <a:p>
            <a:pPr lvl="1"/>
            <a:r>
              <a:rPr lang="en-US" dirty="0"/>
              <a:t>Task function generators</a:t>
            </a:r>
          </a:p>
          <a:p>
            <a:pPr lvl="2"/>
            <a:r>
              <a:rPr lang="en-US" dirty="0"/>
              <a:t>Consolidate functions to be invoked </a:t>
            </a:r>
          </a:p>
          <a:p>
            <a:pPr lvl="2"/>
            <a:r>
              <a:rPr lang="en-US" dirty="0"/>
              <a:t>Bookended by internode communication</a:t>
            </a:r>
          </a:p>
          <a:p>
            <a:pPr lvl="2"/>
            <a:r>
              <a:rPr lang="en-US" dirty="0"/>
              <a:t>Unpack data packets</a:t>
            </a:r>
          </a:p>
          <a:p>
            <a:r>
              <a:rPr lang="en-US" dirty="0"/>
              <a:t>Decorate interface definitions with needed metadata</a:t>
            </a:r>
          </a:p>
          <a:p>
            <a:pPr marL="914126" lvl="2" indent="0">
              <a:buNone/>
            </a:pPr>
            <a:r>
              <a:rPr lang="en-US" dirty="0">
                <a:hlinkClick r:id="rId2"/>
              </a:rPr>
              <a:t>Example</a:t>
            </a:r>
            <a:r>
              <a:rPr lang="en-US" dirty="0"/>
              <a:t>  -- </a:t>
            </a:r>
            <a:r>
              <a:rPr lang="en-US" sz="1600" i="1" dirty="0"/>
              <a:t>this link will work only if you have access to the Flash-X code repository. Please email flash-x@lists.cels.anl.gov with your </a:t>
            </a:r>
            <a:r>
              <a:rPr lang="en-US" sz="1600" i="1" dirty="0" err="1"/>
              <a:t>github</a:t>
            </a:r>
            <a:r>
              <a:rPr lang="en-US" sz="1600" i="1" dirty="0"/>
              <a:t> username to get access</a:t>
            </a:r>
          </a:p>
        </p:txBody>
      </p:sp>
    </p:spTree>
    <p:extLst>
      <p:ext uri="{BB962C8B-B14F-4D97-AF65-F5344CB8AC3E}">
        <p14:creationId xmlns:p14="http://schemas.microsoft.com/office/powerpoint/2010/main" val="2202442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1A28-2712-48AC-D669-A8E627C21E8F}"/>
              </a:ext>
            </a:extLst>
          </p:cNvPr>
          <p:cNvSpPr>
            <a:spLocks noGrp="1"/>
          </p:cNvSpPr>
          <p:nvPr>
            <p:ph type="title"/>
          </p:nvPr>
        </p:nvSpPr>
        <p:spPr/>
        <p:txBody>
          <a:bodyPr/>
          <a:lstStyle/>
          <a:p>
            <a:r>
              <a:rPr lang="en-US" dirty="0"/>
              <a:t>ORCHA: Workflow</a:t>
            </a:r>
          </a:p>
        </p:txBody>
      </p:sp>
      <p:grpSp>
        <p:nvGrpSpPr>
          <p:cNvPr id="28" name="Group 27">
            <a:extLst>
              <a:ext uri="{FF2B5EF4-FFF2-40B4-BE49-F238E27FC236}">
                <a16:creationId xmlns:a16="http://schemas.microsoft.com/office/drawing/2014/main" id="{D246687A-4FBD-6B7C-BFBE-5D657B184611}"/>
              </a:ext>
            </a:extLst>
          </p:cNvPr>
          <p:cNvGrpSpPr/>
          <p:nvPr/>
        </p:nvGrpSpPr>
        <p:grpSpPr>
          <a:xfrm>
            <a:off x="862594" y="1338558"/>
            <a:ext cx="10463637" cy="4957004"/>
            <a:chOff x="671732" y="860329"/>
            <a:chExt cx="7849772" cy="3718721"/>
          </a:xfrm>
        </p:grpSpPr>
        <p:cxnSp>
          <p:nvCxnSpPr>
            <p:cNvPr id="5" name="Straight Arrow Connector 4">
              <a:extLst>
                <a:ext uri="{FF2B5EF4-FFF2-40B4-BE49-F238E27FC236}">
                  <a16:creationId xmlns:a16="http://schemas.microsoft.com/office/drawing/2014/main" id="{21335FF7-18AB-5ECF-4E4B-AA8424DB28BB}"/>
                </a:ext>
              </a:extLst>
            </p:cNvPr>
            <p:cNvCxnSpPr>
              <a:cxnSpLocks/>
              <a:stCxn id="6" idx="3"/>
              <a:endCxn id="7" idx="2"/>
            </p:cNvCxnSpPr>
            <p:nvPr/>
          </p:nvCxnSpPr>
          <p:spPr>
            <a:xfrm>
              <a:off x="1962444" y="1962441"/>
              <a:ext cx="37631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Folded Corner 5">
              <a:extLst>
                <a:ext uri="{FF2B5EF4-FFF2-40B4-BE49-F238E27FC236}">
                  <a16:creationId xmlns:a16="http://schemas.microsoft.com/office/drawing/2014/main" id="{8F001A7A-DA5A-4029-8E70-F402AEF5275E}"/>
                </a:ext>
              </a:extLst>
            </p:cNvPr>
            <p:cNvSpPr/>
            <p:nvPr/>
          </p:nvSpPr>
          <p:spPr>
            <a:xfrm>
              <a:off x="914401" y="1491175"/>
              <a:ext cx="1048043" cy="942532"/>
            </a:xfrm>
            <a:prstGeom prst="foldedCorner">
              <a:avLst>
                <a:gd name="adj" fmla="val 24130"/>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User-written Recipe</a:t>
              </a:r>
            </a:p>
          </p:txBody>
        </p:sp>
        <p:sp>
          <p:nvSpPr>
            <p:cNvPr id="7" name="Round Diagonal Corner Rectangle 6">
              <a:extLst>
                <a:ext uri="{FF2B5EF4-FFF2-40B4-BE49-F238E27FC236}">
                  <a16:creationId xmlns:a16="http://schemas.microsoft.com/office/drawing/2014/main" id="{753202BC-07D9-5793-FB26-9A20CF172093}"/>
                </a:ext>
              </a:extLst>
            </p:cNvPr>
            <p:cNvSpPr/>
            <p:nvPr/>
          </p:nvSpPr>
          <p:spPr>
            <a:xfrm>
              <a:off x="2338755" y="1617783"/>
              <a:ext cx="1807698" cy="689316"/>
            </a:xfrm>
            <a:prstGeom prst="round2DiagRect">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Flash-X </a:t>
              </a:r>
              <a:r>
                <a:rPr lang="en-US" sz="1600" dirty="0" err="1"/>
                <a:t>RecipeTools</a:t>
              </a:r>
              <a:r>
                <a:rPr lang="en-US" sz="1600" dirty="0"/>
                <a:t> (CG-Kit)</a:t>
              </a:r>
            </a:p>
          </p:txBody>
        </p:sp>
        <p:sp>
          <p:nvSpPr>
            <p:cNvPr id="8" name="Multidocument 7">
              <a:extLst>
                <a:ext uri="{FF2B5EF4-FFF2-40B4-BE49-F238E27FC236}">
                  <a16:creationId xmlns:a16="http://schemas.microsoft.com/office/drawing/2014/main" id="{A586A7CF-13D9-CC0B-8060-E087B999A4C7}"/>
                </a:ext>
              </a:extLst>
            </p:cNvPr>
            <p:cNvSpPr/>
            <p:nvPr/>
          </p:nvSpPr>
          <p:spPr>
            <a:xfrm>
              <a:off x="671732" y="2730065"/>
              <a:ext cx="1930791" cy="997857"/>
            </a:xfrm>
            <a:prstGeom prst="flowChartMultidocumen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67" dirty="0"/>
                <a:t>Flash-X Source Code (with Macros)</a:t>
              </a:r>
            </a:p>
          </p:txBody>
        </p:sp>
        <p:sp>
          <p:nvSpPr>
            <p:cNvPr id="9" name="Round Diagonal Corner Rectangle 8">
              <a:extLst>
                <a:ext uri="{FF2B5EF4-FFF2-40B4-BE49-F238E27FC236}">
                  <a16:creationId xmlns:a16="http://schemas.microsoft.com/office/drawing/2014/main" id="{C28D1C51-FB7F-3CAF-A0A4-04AE738F373E}"/>
                </a:ext>
              </a:extLst>
            </p:cNvPr>
            <p:cNvSpPr/>
            <p:nvPr/>
          </p:nvSpPr>
          <p:spPr>
            <a:xfrm>
              <a:off x="4522764" y="1617783"/>
              <a:ext cx="1807698" cy="689316"/>
            </a:xfrm>
            <a:prstGeom prst="round2DiagRect">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Milhoja</a:t>
              </a:r>
              <a:r>
                <a:rPr lang="en-US" sz="1600" dirty="0"/>
                <a:t> Code Generator</a:t>
              </a:r>
            </a:p>
          </p:txBody>
        </p:sp>
        <p:sp>
          <p:nvSpPr>
            <p:cNvPr id="10" name="Round Diagonal Corner Rectangle 9">
              <a:extLst>
                <a:ext uri="{FF2B5EF4-FFF2-40B4-BE49-F238E27FC236}">
                  <a16:creationId xmlns:a16="http://schemas.microsoft.com/office/drawing/2014/main" id="{1C5C6028-BAF1-CAB4-C26A-9B2AFC24ACF4}"/>
                </a:ext>
              </a:extLst>
            </p:cNvPr>
            <p:cNvSpPr/>
            <p:nvPr/>
          </p:nvSpPr>
          <p:spPr>
            <a:xfrm>
              <a:off x="3355145" y="2884335"/>
              <a:ext cx="1807698" cy="689316"/>
            </a:xfrm>
            <a:prstGeom prst="round2DiagRect">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Macroprocessor</a:t>
              </a:r>
              <a:endParaRPr lang="en-US" sz="1600" dirty="0"/>
            </a:p>
          </p:txBody>
        </p:sp>
        <p:cxnSp>
          <p:nvCxnSpPr>
            <p:cNvPr id="11" name="Straight Arrow Connector 10">
              <a:extLst>
                <a:ext uri="{FF2B5EF4-FFF2-40B4-BE49-F238E27FC236}">
                  <a16:creationId xmlns:a16="http://schemas.microsoft.com/office/drawing/2014/main" id="{2DD9FCE6-1C02-33BC-F135-D90520E52899}"/>
                </a:ext>
              </a:extLst>
            </p:cNvPr>
            <p:cNvCxnSpPr>
              <a:cxnSpLocks/>
              <a:stCxn id="8" idx="3"/>
              <a:endCxn id="10" idx="2"/>
            </p:cNvCxnSpPr>
            <p:nvPr/>
          </p:nvCxnSpPr>
          <p:spPr>
            <a:xfrm flipV="1">
              <a:off x="2602523" y="3228993"/>
              <a:ext cx="75262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Folded Corner 11">
              <a:extLst>
                <a:ext uri="{FF2B5EF4-FFF2-40B4-BE49-F238E27FC236}">
                  <a16:creationId xmlns:a16="http://schemas.microsoft.com/office/drawing/2014/main" id="{C01DBB11-2426-D789-726E-D76F5F3014A2}"/>
                </a:ext>
              </a:extLst>
            </p:cNvPr>
            <p:cNvSpPr/>
            <p:nvPr/>
          </p:nvSpPr>
          <p:spPr>
            <a:xfrm>
              <a:off x="7149904" y="860329"/>
              <a:ext cx="1371600" cy="942533"/>
            </a:xfrm>
            <a:prstGeom prst="foldedCorner">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MainDriver</a:t>
              </a:r>
              <a:r>
                <a:rPr lang="en-US" sz="1600" dirty="0">
                  <a:solidFill>
                    <a:schemeClr val="tx1"/>
                  </a:solidFill>
                </a:rPr>
                <a:t> (invoke </a:t>
              </a:r>
              <a:r>
                <a:rPr lang="en-US" sz="1600" dirty="0" err="1">
                  <a:solidFill>
                    <a:schemeClr val="tx1"/>
                  </a:solidFill>
                </a:rPr>
                <a:t>Milhoja</a:t>
              </a:r>
              <a:r>
                <a:rPr lang="en-US" sz="1600" dirty="0">
                  <a:solidFill>
                    <a:schemeClr val="tx1"/>
                  </a:solidFill>
                </a:rPr>
                <a:t> Runtime)</a:t>
              </a:r>
            </a:p>
          </p:txBody>
        </p:sp>
        <p:cxnSp>
          <p:nvCxnSpPr>
            <p:cNvPr id="13" name="Straight Arrow Connector 12">
              <a:extLst>
                <a:ext uri="{FF2B5EF4-FFF2-40B4-BE49-F238E27FC236}">
                  <a16:creationId xmlns:a16="http://schemas.microsoft.com/office/drawing/2014/main" id="{CBD2E589-A51E-F669-EAC0-142B3DC5B36C}"/>
                </a:ext>
              </a:extLst>
            </p:cNvPr>
            <p:cNvCxnSpPr>
              <a:cxnSpLocks/>
              <a:stCxn id="7" idx="0"/>
              <a:endCxn id="9" idx="2"/>
            </p:cNvCxnSpPr>
            <p:nvPr/>
          </p:nvCxnSpPr>
          <p:spPr>
            <a:xfrm>
              <a:off x="4146453" y="1962441"/>
              <a:ext cx="37631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Folded Corner 13">
              <a:extLst>
                <a:ext uri="{FF2B5EF4-FFF2-40B4-BE49-F238E27FC236}">
                  <a16:creationId xmlns:a16="http://schemas.microsoft.com/office/drawing/2014/main" id="{B46C2B5C-485F-6CFD-1566-9F5FB5460E72}"/>
                </a:ext>
              </a:extLst>
            </p:cNvPr>
            <p:cNvSpPr/>
            <p:nvPr/>
          </p:nvSpPr>
          <p:spPr>
            <a:xfrm>
              <a:off x="7149904" y="1969471"/>
              <a:ext cx="1371600" cy="558311"/>
            </a:xfrm>
            <a:prstGeom prst="foldedCorner">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TaskFunctions</a:t>
              </a:r>
              <a:endParaRPr lang="en-US" sz="1600" dirty="0">
                <a:solidFill>
                  <a:schemeClr val="tx1"/>
                </a:solidFill>
              </a:endParaRPr>
            </a:p>
          </p:txBody>
        </p:sp>
        <p:sp>
          <p:nvSpPr>
            <p:cNvPr id="15" name="Folded Corner 14">
              <a:extLst>
                <a:ext uri="{FF2B5EF4-FFF2-40B4-BE49-F238E27FC236}">
                  <a16:creationId xmlns:a16="http://schemas.microsoft.com/office/drawing/2014/main" id="{F6D606E0-ADA0-059F-13E6-CCC897C3A5A7}"/>
                </a:ext>
              </a:extLst>
            </p:cNvPr>
            <p:cNvSpPr/>
            <p:nvPr/>
          </p:nvSpPr>
          <p:spPr>
            <a:xfrm>
              <a:off x="7149904" y="2600316"/>
              <a:ext cx="1371600" cy="558311"/>
            </a:xfrm>
            <a:prstGeom prst="foldedCorner">
              <a:avLst/>
            </a:prstGeom>
            <a:solidFill>
              <a:schemeClr val="accent3">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DataPackets</a:t>
              </a:r>
              <a:endParaRPr lang="en-US" sz="1600" dirty="0">
                <a:solidFill>
                  <a:schemeClr val="tx1"/>
                </a:solidFill>
              </a:endParaRPr>
            </a:p>
          </p:txBody>
        </p:sp>
        <p:cxnSp>
          <p:nvCxnSpPr>
            <p:cNvPr id="16" name="Elbow Connector 15">
              <a:extLst>
                <a:ext uri="{FF2B5EF4-FFF2-40B4-BE49-F238E27FC236}">
                  <a16:creationId xmlns:a16="http://schemas.microsoft.com/office/drawing/2014/main" id="{81142D70-93A0-8221-3FC3-AF846C120F48}"/>
                </a:ext>
              </a:extLst>
            </p:cNvPr>
            <p:cNvCxnSpPr>
              <a:cxnSpLocks/>
              <a:stCxn id="9" idx="0"/>
              <a:endCxn id="14" idx="1"/>
            </p:cNvCxnSpPr>
            <p:nvPr/>
          </p:nvCxnSpPr>
          <p:spPr>
            <a:xfrm>
              <a:off x="6330462" y="1962441"/>
              <a:ext cx="819442" cy="286186"/>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6">
              <a:extLst>
                <a:ext uri="{FF2B5EF4-FFF2-40B4-BE49-F238E27FC236}">
                  <a16:creationId xmlns:a16="http://schemas.microsoft.com/office/drawing/2014/main" id="{A29E602D-17E3-A61B-47F6-FB37F47E743A}"/>
                </a:ext>
              </a:extLst>
            </p:cNvPr>
            <p:cNvCxnSpPr>
              <a:cxnSpLocks/>
              <a:stCxn id="9" idx="0"/>
              <a:endCxn id="15" idx="1"/>
            </p:cNvCxnSpPr>
            <p:nvPr/>
          </p:nvCxnSpPr>
          <p:spPr>
            <a:xfrm>
              <a:off x="6330462" y="1962441"/>
              <a:ext cx="819442" cy="917031"/>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EF4EBB62-35E0-F5BC-0FAB-1D48EA87F709}"/>
                </a:ext>
              </a:extLst>
            </p:cNvPr>
            <p:cNvCxnSpPr>
              <a:cxnSpLocks/>
              <a:stCxn id="7" idx="3"/>
              <a:endCxn id="12" idx="1"/>
            </p:cNvCxnSpPr>
            <p:nvPr/>
          </p:nvCxnSpPr>
          <p:spPr>
            <a:xfrm rot="5400000" flipH="1" flipV="1">
              <a:off x="5053161" y="-478960"/>
              <a:ext cx="286187" cy="3907300"/>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7BD997E-ED50-07EA-3F20-EB9D7E5FAE38}"/>
                </a:ext>
              </a:extLst>
            </p:cNvPr>
            <p:cNvCxnSpPr>
              <a:cxnSpLocks/>
              <a:stCxn id="10" idx="0"/>
            </p:cNvCxnSpPr>
            <p:nvPr/>
          </p:nvCxnSpPr>
          <p:spPr>
            <a:xfrm flipV="1">
              <a:off x="5162843" y="1969471"/>
              <a:ext cx="1378636" cy="1259522"/>
            </a:xfrm>
            <a:prstGeom prst="bentConnector3">
              <a:avLst>
                <a:gd name="adj1" fmla="val 10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8E763E96-0903-D2C7-2BF3-48A97F1AC0B4}"/>
                </a:ext>
              </a:extLst>
            </p:cNvPr>
            <p:cNvCxnSpPr>
              <a:cxnSpLocks/>
              <a:stCxn id="12" idx="3"/>
              <a:endCxn id="21" idx="3"/>
            </p:cNvCxnSpPr>
            <p:nvPr/>
          </p:nvCxnSpPr>
          <p:spPr>
            <a:xfrm flipH="1">
              <a:off x="7948642" y="1331596"/>
              <a:ext cx="572862" cy="2297852"/>
            </a:xfrm>
            <a:prstGeom prst="bentConnector3">
              <a:avLst>
                <a:gd name="adj1" fmla="val -39905"/>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B2D145D9-964B-FC79-7F33-0E4555B97A50}"/>
                </a:ext>
              </a:extLst>
            </p:cNvPr>
            <p:cNvSpPr/>
            <p:nvPr/>
          </p:nvSpPr>
          <p:spPr>
            <a:xfrm>
              <a:off x="6740183" y="3429330"/>
              <a:ext cx="1208459" cy="400235"/>
            </a:xfrm>
            <a:prstGeom prst="round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Compiler</a:t>
              </a:r>
            </a:p>
          </p:txBody>
        </p:sp>
        <p:cxnSp>
          <p:nvCxnSpPr>
            <p:cNvPr id="22" name="Elbow Connector 21">
              <a:extLst>
                <a:ext uri="{FF2B5EF4-FFF2-40B4-BE49-F238E27FC236}">
                  <a16:creationId xmlns:a16="http://schemas.microsoft.com/office/drawing/2014/main" id="{B1635785-C277-1085-A57A-D4B647904995}"/>
                </a:ext>
              </a:extLst>
            </p:cNvPr>
            <p:cNvCxnSpPr>
              <a:cxnSpLocks/>
              <a:stCxn id="14" idx="3"/>
              <a:endCxn id="21" idx="3"/>
            </p:cNvCxnSpPr>
            <p:nvPr/>
          </p:nvCxnSpPr>
          <p:spPr>
            <a:xfrm flipH="1">
              <a:off x="7948642" y="2248627"/>
              <a:ext cx="572862" cy="1380821"/>
            </a:xfrm>
            <a:prstGeom prst="bentConnector3">
              <a:avLst>
                <a:gd name="adj1" fmla="val -39905"/>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0ADEB6CE-9D61-1A88-F097-A7E93081D64A}"/>
                </a:ext>
              </a:extLst>
            </p:cNvPr>
            <p:cNvCxnSpPr>
              <a:cxnSpLocks/>
              <a:stCxn id="15" idx="3"/>
              <a:endCxn id="21" idx="3"/>
            </p:cNvCxnSpPr>
            <p:nvPr/>
          </p:nvCxnSpPr>
          <p:spPr>
            <a:xfrm flipH="1">
              <a:off x="7948642" y="2879472"/>
              <a:ext cx="572862" cy="749976"/>
            </a:xfrm>
            <a:prstGeom prst="bentConnector3">
              <a:avLst>
                <a:gd name="adj1" fmla="val -39905"/>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26960B64-452F-64FB-A15D-097FEF8A14C7}"/>
                </a:ext>
              </a:extLst>
            </p:cNvPr>
            <p:cNvSpPr/>
            <p:nvPr/>
          </p:nvSpPr>
          <p:spPr>
            <a:xfrm>
              <a:off x="6740182" y="4083053"/>
              <a:ext cx="1208459" cy="400235"/>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Executable</a:t>
              </a:r>
            </a:p>
          </p:txBody>
        </p:sp>
        <p:cxnSp>
          <p:nvCxnSpPr>
            <p:cNvPr id="25" name="Straight Arrow Connector 24">
              <a:extLst>
                <a:ext uri="{FF2B5EF4-FFF2-40B4-BE49-F238E27FC236}">
                  <a16:creationId xmlns:a16="http://schemas.microsoft.com/office/drawing/2014/main" id="{92CC6F26-1537-AC22-3A42-2384E02B51FF}"/>
                </a:ext>
              </a:extLst>
            </p:cNvPr>
            <p:cNvCxnSpPr>
              <a:cxnSpLocks/>
              <a:stCxn id="21" idx="2"/>
              <a:endCxn id="24" idx="0"/>
            </p:cNvCxnSpPr>
            <p:nvPr/>
          </p:nvCxnSpPr>
          <p:spPr>
            <a:xfrm flipH="1">
              <a:off x="7344412" y="3829565"/>
              <a:ext cx="1" cy="2534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6844534-97DE-A872-B404-185D7C45478C}"/>
                </a:ext>
              </a:extLst>
            </p:cNvPr>
            <p:cNvCxnSpPr>
              <a:cxnSpLocks/>
              <a:stCxn id="24" idx="1"/>
              <a:endCxn id="27" idx="0"/>
            </p:cNvCxnSpPr>
            <p:nvPr/>
          </p:nvCxnSpPr>
          <p:spPr>
            <a:xfrm flipH="1" flipV="1">
              <a:off x="6101861" y="4283170"/>
              <a:ext cx="638321"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 Diagonal Corner Rectangle 26">
              <a:extLst>
                <a:ext uri="{FF2B5EF4-FFF2-40B4-BE49-F238E27FC236}">
                  <a16:creationId xmlns:a16="http://schemas.microsoft.com/office/drawing/2014/main" id="{5012E39B-4F69-3CB7-3B1F-AE16EA714C35}"/>
                </a:ext>
              </a:extLst>
            </p:cNvPr>
            <p:cNvSpPr/>
            <p:nvPr/>
          </p:nvSpPr>
          <p:spPr>
            <a:xfrm>
              <a:off x="4522764" y="3987290"/>
              <a:ext cx="1579097" cy="591760"/>
            </a:xfrm>
            <a:prstGeom prst="round2DiagRect">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t>Milhoja</a:t>
              </a:r>
              <a:r>
                <a:rPr lang="en-US" sz="1600" dirty="0"/>
                <a:t> Runtime</a:t>
              </a:r>
            </a:p>
          </p:txBody>
        </p:sp>
      </p:grpSp>
    </p:spTree>
    <p:extLst>
      <p:ext uri="{BB962C8B-B14F-4D97-AF65-F5344CB8AC3E}">
        <p14:creationId xmlns:p14="http://schemas.microsoft.com/office/powerpoint/2010/main" val="3818626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F664-1C54-8E0F-EFB2-A53639D25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94206-B356-805A-4104-D9800F56F8A8}"/>
              </a:ext>
            </a:extLst>
          </p:cNvPr>
          <p:cNvSpPr>
            <a:spLocks noGrp="1"/>
          </p:cNvSpPr>
          <p:nvPr>
            <p:ph type="title"/>
          </p:nvPr>
        </p:nvSpPr>
        <p:spPr>
          <a:xfrm>
            <a:off x="407784" y="149599"/>
            <a:ext cx="11173090" cy="678381"/>
          </a:xfrm>
        </p:spPr>
        <p:txBody>
          <a:bodyPr/>
          <a:lstStyle/>
          <a:p>
            <a:r>
              <a:rPr lang="en-US" dirty="0"/>
              <a:t>ORCHA: Example 1</a:t>
            </a:r>
          </a:p>
        </p:txBody>
      </p:sp>
      <p:sp>
        <p:nvSpPr>
          <p:cNvPr id="3" name="Content Placeholder 2">
            <a:extLst>
              <a:ext uri="{FF2B5EF4-FFF2-40B4-BE49-F238E27FC236}">
                <a16:creationId xmlns:a16="http://schemas.microsoft.com/office/drawing/2014/main" id="{AB3B3D7C-B97E-7E36-CFA3-17768F209E48}"/>
              </a:ext>
            </a:extLst>
          </p:cNvPr>
          <p:cNvSpPr>
            <a:spLocks noGrp="1"/>
          </p:cNvSpPr>
          <p:nvPr>
            <p:ph sz="quarter" idx="14"/>
          </p:nvPr>
        </p:nvSpPr>
        <p:spPr>
          <a:xfrm>
            <a:off x="507868" y="848726"/>
            <a:ext cx="5353523" cy="738724"/>
          </a:xfrm>
        </p:spPr>
        <p:txBody>
          <a:bodyPr/>
          <a:lstStyle/>
          <a:p>
            <a:r>
              <a:rPr lang="en-US" dirty="0"/>
              <a:t>Sedov explosion test</a:t>
            </a:r>
          </a:p>
          <a:p>
            <a:pPr lvl="1"/>
            <a:r>
              <a:rPr lang="en-US" dirty="0"/>
              <a:t>Hydrodynamics with an ideal-gas EOS</a:t>
            </a:r>
          </a:p>
          <a:p>
            <a:pPr lvl="1"/>
            <a:endParaRPr lang="en-US" dirty="0"/>
          </a:p>
        </p:txBody>
      </p:sp>
      <p:sp>
        <p:nvSpPr>
          <p:cNvPr id="4" name="Folded Corner 3">
            <a:extLst>
              <a:ext uri="{FF2B5EF4-FFF2-40B4-BE49-F238E27FC236}">
                <a16:creationId xmlns:a16="http://schemas.microsoft.com/office/drawing/2014/main" id="{2131A15A-CCF9-23B3-AB26-BFD2C55764DF}"/>
              </a:ext>
            </a:extLst>
          </p:cNvPr>
          <p:cNvSpPr/>
          <p:nvPr/>
        </p:nvSpPr>
        <p:spPr>
          <a:xfrm>
            <a:off x="1274239" y="2000401"/>
            <a:ext cx="5793342" cy="1195508"/>
          </a:xfrm>
          <a:prstGeom prst="foldedCorner">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33" dirty="0">
                <a:solidFill>
                  <a:schemeClr val="tx1"/>
                </a:solidFill>
                <a:latin typeface="Monaco" pitchFamily="2" charset="77"/>
              </a:rPr>
              <a:t>Begin</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HydroBegin</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dep(Root)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HydroCompute</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a:t>
            </a:r>
            <a:r>
              <a:rPr lang="en-US" sz="1333" dirty="0" err="1">
                <a:solidFill>
                  <a:schemeClr val="tx1"/>
                </a:solidFill>
                <a:latin typeface="Monaco" pitchFamily="2" charset="77"/>
              </a:rPr>
              <a:t>HydroBegin</a:t>
            </a:r>
            <a:r>
              <a:rPr lang="en-US" sz="1333" dirty="0">
                <a:solidFill>
                  <a:schemeClr val="tx1"/>
                </a:solidFill>
                <a:latin typeface="Monaco" pitchFamily="2" charset="77"/>
              </a:rPr>
              <a:t>)</a:t>
            </a:r>
          </a:p>
          <a:p>
            <a:r>
              <a:rPr lang="en-US" sz="1333" dirty="0">
                <a:solidFill>
                  <a:schemeClr val="tx1"/>
                </a:solidFill>
                <a:latin typeface="Monaco" pitchFamily="2" charset="77"/>
              </a:rPr>
              <a:t>End</a:t>
            </a:r>
          </a:p>
        </p:txBody>
      </p:sp>
      <p:grpSp>
        <p:nvGrpSpPr>
          <p:cNvPr id="8" name="Group 7">
            <a:extLst>
              <a:ext uri="{FF2B5EF4-FFF2-40B4-BE49-F238E27FC236}">
                <a16:creationId xmlns:a16="http://schemas.microsoft.com/office/drawing/2014/main" id="{28FC4160-4E71-5EFB-1AC4-61B699757463}"/>
              </a:ext>
            </a:extLst>
          </p:cNvPr>
          <p:cNvGrpSpPr/>
          <p:nvPr/>
        </p:nvGrpSpPr>
        <p:grpSpPr>
          <a:xfrm>
            <a:off x="9343236" y="1600468"/>
            <a:ext cx="1971227" cy="2524099"/>
            <a:chOff x="6808965" y="1855797"/>
            <a:chExt cx="1478805" cy="1893567"/>
          </a:xfrm>
        </p:grpSpPr>
        <p:sp>
          <p:nvSpPr>
            <p:cNvPr id="46" name="Rounded Rectangle 45">
              <a:extLst>
                <a:ext uri="{FF2B5EF4-FFF2-40B4-BE49-F238E27FC236}">
                  <a16:creationId xmlns:a16="http://schemas.microsoft.com/office/drawing/2014/main" id="{36BDCCA9-F094-CE1F-3E1E-826EBD4AB461}"/>
                </a:ext>
              </a:extLst>
            </p:cNvPr>
            <p:cNvSpPr/>
            <p:nvPr/>
          </p:nvSpPr>
          <p:spPr>
            <a:xfrm>
              <a:off x="6920937" y="1855797"/>
              <a:ext cx="1254863" cy="29293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Begin</a:t>
              </a:r>
            </a:p>
          </p:txBody>
        </p:sp>
        <p:grpSp>
          <p:nvGrpSpPr>
            <p:cNvPr id="48" name="Group 47">
              <a:extLst>
                <a:ext uri="{FF2B5EF4-FFF2-40B4-BE49-F238E27FC236}">
                  <a16:creationId xmlns:a16="http://schemas.microsoft.com/office/drawing/2014/main" id="{ACAD94ED-CDB9-76D0-AF42-0D1F2CCD445E}"/>
                </a:ext>
              </a:extLst>
            </p:cNvPr>
            <p:cNvGrpSpPr/>
            <p:nvPr/>
          </p:nvGrpSpPr>
          <p:grpSpPr>
            <a:xfrm>
              <a:off x="6808965" y="2424540"/>
              <a:ext cx="1478805" cy="758233"/>
              <a:chOff x="7702144" y="1616967"/>
              <a:chExt cx="1617697" cy="855689"/>
            </a:xfrm>
          </p:grpSpPr>
          <p:sp>
            <p:nvSpPr>
              <p:cNvPr id="58" name="Snip Diagonal Corner Rectangle 57">
                <a:extLst>
                  <a:ext uri="{FF2B5EF4-FFF2-40B4-BE49-F238E27FC236}">
                    <a16:creationId xmlns:a16="http://schemas.microsoft.com/office/drawing/2014/main" id="{50F9C8A2-DD1C-D4F6-43A7-275AC698BE1E}"/>
                  </a:ext>
                </a:extLst>
              </p:cNvPr>
              <p:cNvSpPr/>
              <p:nvPr/>
            </p:nvSpPr>
            <p:spPr>
              <a:xfrm>
                <a:off x="7702144" y="1616968"/>
                <a:ext cx="1617697" cy="855688"/>
              </a:xfrm>
              <a:prstGeom prst="snip2DiagRect">
                <a:avLst>
                  <a:gd name="adj1" fmla="val 0"/>
                  <a:gd name="adj2" fmla="val 24063"/>
                </a:avLst>
              </a:prstGeom>
              <a:solidFill>
                <a:srgbClr val="C2F1C8"/>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TaskFuncion</a:t>
                </a:r>
                <a:r>
                  <a:rPr lang="en-US" sz="1200" dirty="0">
                    <a:solidFill>
                      <a:schemeClr val="tx1"/>
                    </a:solidFill>
                  </a:rPr>
                  <a:t> A</a:t>
                </a:r>
              </a:p>
              <a:p>
                <a:pPr marL="228525" indent="-228525">
                  <a:buFontTx/>
                  <a:buChar char="-"/>
                </a:pPr>
                <a:r>
                  <a:rPr lang="en-US" sz="933" dirty="0" err="1">
                    <a:solidFill>
                      <a:schemeClr val="tx1"/>
                    </a:solidFill>
                  </a:rPr>
                  <a:t>HydroBegin_GPU</a:t>
                </a:r>
                <a:endParaRPr lang="en-US" sz="933" dirty="0">
                  <a:solidFill>
                    <a:schemeClr val="tx1"/>
                  </a:solidFill>
                </a:endParaRPr>
              </a:p>
              <a:p>
                <a:pPr marL="228525" indent="-228525">
                  <a:buFontTx/>
                  <a:buChar char="-"/>
                </a:pPr>
                <a:r>
                  <a:rPr lang="en-US" sz="933" dirty="0" err="1">
                    <a:solidFill>
                      <a:schemeClr val="tx1"/>
                    </a:solidFill>
                  </a:rPr>
                  <a:t>HydroCompute_GPU</a:t>
                </a:r>
                <a:endParaRPr lang="en-US" sz="933" dirty="0">
                  <a:solidFill>
                    <a:schemeClr val="tx1"/>
                  </a:solidFill>
                </a:endParaRPr>
              </a:p>
            </p:txBody>
          </p:sp>
          <p:sp>
            <p:nvSpPr>
              <p:cNvPr id="59" name="Rectangle 58">
                <a:extLst>
                  <a:ext uri="{FF2B5EF4-FFF2-40B4-BE49-F238E27FC236}">
                    <a16:creationId xmlns:a16="http://schemas.microsoft.com/office/drawing/2014/main" id="{A7F708C3-39CA-A085-2069-D7DC16DA37FC}"/>
                  </a:ext>
                </a:extLst>
              </p:cNvPr>
              <p:cNvSpPr/>
              <p:nvPr/>
            </p:nvSpPr>
            <p:spPr>
              <a:xfrm>
                <a:off x="7702156" y="1616967"/>
                <a:ext cx="1617685" cy="247001"/>
              </a:xfrm>
              <a:prstGeom prst="rect">
                <a:avLst/>
              </a:prstGeom>
              <a:solidFill>
                <a:srgbClr val="C2F1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DataPacket</a:t>
                </a:r>
                <a:r>
                  <a:rPr lang="en-US" sz="1400" dirty="0">
                    <a:solidFill>
                      <a:schemeClr val="tx1"/>
                    </a:solidFill>
                  </a:rPr>
                  <a:t> A</a:t>
                </a:r>
              </a:p>
            </p:txBody>
          </p:sp>
        </p:grpSp>
        <p:sp>
          <p:nvSpPr>
            <p:cNvPr id="50" name="Rounded Rectangle 49">
              <a:extLst>
                <a:ext uri="{FF2B5EF4-FFF2-40B4-BE49-F238E27FC236}">
                  <a16:creationId xmlns:a16="http://schemas.microsoft.com/office/drawing/2014/main" id="{09747ADC-CA83-C48B-85ED-10DAC830F73D}"/>
                </a:ext>
              </a:extLst>
            </p:cNvPr>
            <p:cNvSpPr/>
            <p:nvPr/>
          </p:nvSpPr>
          <p:spPr>
            <a:xfrm>
              <a:off x="6920937" y="3456425"/>
              <a:ext cx="1254863" cy="29293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End</a:t>
              </a:r>
            </a:p>
          </p:txBody>
        </p:sp>
        <p:cxnSp>
          <p:nvCxnSpPr>
            <p:cNvPr id="51" name="Straight Arrow Connector 50">
              <a:extLst>
                <a:ext uri="{FF2B5EF4-FFF2-40B4-BE49-F238E27FC236}">
                  <a16:creationId xmlns:a16="http://schemas.microsoft.com/office/drawing/2014/main" id="{42E1A560-B64E-C0BF-FE41-8F763DDC54B6}"/>
                </a:ext>
              </a:extLst>
            </p:cNvPr>
            <p:cNvCxnSpPr>
              <a:cxnSpLocks/>
              <a:stCxn id="46" idx="2"/>
              <a:endCxn id="59" idx="0"/>
            </p:cNvCxnSpPr>
            <p:nvPr/>
          </p:nvCxnSpPr>
          <p:spPr>
            <a:xfrm>
              <a:off x="7548369" y="2148736"/>
              <a:ext cx="4" cy="2758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8A7183F-4344-F082-6A40-C0E4FC2E7A1E}"/>
                </a:ext>
              </a:extLst>
            </p:cNvPr>
            <p:cNvCxnSpPr>
              <a:cxnSpLocks/>
              <a:stCxn id="58" idx="1"/>
              <a:endCxn id="50" idx="0"/>
            </p:cNvCxnSpPr>
            <p:nvPr/>
          </p:nvCxnSpPr>
          <p:spPr>
            <a:xfrm>
              <a:off x="7548368" y="3182773"/>
              <a:ext cx="1" cy="27365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Right Arrow 64">
            <a:extLst>
              <a:ext uri="{FF2B5EF4-FFF2-40B4-BE49-F238E27FC236}">
                <a16:creationId xmlns:a16="http://schemas.microsoft.com/office/drawing/2014/main" id="{3654617C-029D-DE88-3976-13BDDA27D0D9}"/>
              </a:ext>
            </a:extLst>
          </p:cNvPr>
          <p:cNvSpPr/>
          <p:nvPr/>
        </p:nvSpPr>
        <p:spPr>
          <a:xfrm>
            <a:off x="7717860" y="1926454"/>
            <a:ext cx="927459" cy="800361"/>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0A50446D-8102-C9E5-8D92-B6C853A6C8C0}"/>
              </a:ext>
            </a:extLst>
          </p:cNvPr>
          <p:cNvSpPr txBox="1"/>
          <p:nvPr/>
        </p:nvSpPr>
        <p:spPr>
          <a:xfrm>
            <a:off x="1174066" y="1587450"/>
            <a:ext cx="2428237" cy="379557"/>
          </a:xfrm>
          <a:prstGeom prst="rect">
            <a:avLst/>
          </a:prstGeom>
          <a:noFill/>
        </p:spPr>
        <p:txBody>
          <a:bodyPr wrap="none" rtlCol="0">
            <a:spAutoFit/>
          </a:bodyPr>
          <a:lstStyle/>
          <a:p>
            <a:r>
              <a:rPr lang="en-US" sz="1866" b="1" dirty="0"/>
              <a:t>Recipe (user input):</a:t>
            </a:r>
          </a:p>
        </p:txBody>
      </p:sp>
      <p:sp>
        <p:nvSpPr>
          <p:cNvPr id="70" name="TextBox 69">
            <a:extLst>
              <a:ext uri="{FF2B5EF4-FFF2-40B4-BE49-F238E27FC236}">
                <a16:creationId xmlns:a16="http://schemas.microsoft.com/office/drawing/2014/main" id="{55BD67A0-57E8-C1D2-FD6D-2A174A1E93BC}"/>
              </a:ext>
            </a:extLst>
          </p:cNvPr>
          <p:cNvSpPr txBox="1"/>
          <p:nvPr/>
        </p:nvSpPr>
        <p:spPr>
          <a:xfrm>
            <a:off x="8394884" y="1225804"/>
            <a:ext cx="3796846" cy="379557"/>
          </a:xfrm>
          <a:prstGeom prst="rect">
            <a:avLst/>
          </a:prstGeom>
          <a:noFill/>
        </p:spPr>
        <p:txBody>
          <a:bodyPr wrap="none" rtlCol="0">
            <a:spAutoFit/>
          </a:bodyPr>
          <a:lstStyle/>
          <a:p>
            <a:r>
              <a:rPr lang="en-US" sz="1866" b="1" dirty="0"/>
              <a:t>Generated / transformed codes:</a:t>
            </a:r>
          </a:p>
        </p:txBody>
      </p:sp>
      <p:sp>
        <p:nvSpPr>
          <p:cNvPr id="6" name="Content Placeholder 2">
            <a:extLst>
              <a:ext uri="{FF2B5EF4-FFF2-40B4-BE49-F238E27FC236}">
                <a16:creationId xmlns:a16="http://schemas.microsoft.com/office/drawing/2014/main" id="{9DBA389E-5884-2FB7-41E6-C666A74B9307}"/>
              </a:ext>
            </a:extLst>
          </p:cNvPr>
          <p:cNvSpPr txBox="1">
            <a:spLocks/>
          </p:cNvSpPr>
          <p:nvPr/>
        </p:nvSpPr>
        <p:spPr bwMode="auto">
          <a:xfrm>
            <a:off x="46586" y="3520689"/>
            <a:ext cx="8643365" cy="2934927"/>
          </a:xfrm>
          <a:prstGeom prst="rect">
            <a:avLst/>
          </a:prstGeom>
          <a:noFill/>
          <a:ln w="9525">
            <a:noFill/>
            <a:miter lim="800000"/>
            <a:headEnd/>
            <a:tailEnd/>
          </a:ln>
        </p:spPr>
        <p:txBody>
          <a:bodyPr vert="horz" wrap="square" lIns="91416" tIns="45708" rIns="91416" bIns="45708" numCol="1" anchor="t" anchorCtr="0" compatLnSpc="1">
            <a:prstTxWarp prst="textNoShape">
              <a:avLst/>
            </a:prstTxWarp>
            <a:normAutofit/>
          </a:bodyPr>
          <a:lstStyle>
            <a:lvl1pPr marL="228600" indent="-228600" algn="l" rtl="0" eaLnBrk="1" fontAlgn="base" hangingPunct="1">
              <a:lnSpc>
                <a:spcPct val="90000"/>
              </a:lnSpc>
              <a:spcBef>
                <a:spcPts val="1400"/>
              </a:spcBef>
              <a:spcAft>
                <a:spcPct val="0"/>
              </a:spcAft>
              <a:buClr>
                <a:schemeClr val="tx1"/>
              </a:buClr>
              <a:buSzPct val="90000"/>
              <a:buFont typeface="Century Gothic" panose="020B0502020202020204" pitchFamily="34" charset="0"/>
              <a:buChar char="•"/>
              <a:defRPr sz="2000" kern="1200">
                <a:solidFill>
                  <a:schemeClr val="tx1"/>
                </a:solidFill>
                <a:latin typeface="+mn-lt"/>
                <a:ea typeface="+mn-ea"/>
                <a:cs typeface="+mn-cs"/>
              </a:defRPr>
            </a:lvl1pPr>
            <a:lvl2pPr marL="571500" indent="-22860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800" kern="1200">
                <a:solidFill>
                  <a:schemeClr val="tx1"/>
                </a:solidFill>
                <a:latin typeface="+mn-lt"/>
                <a:ea typeface="+mn-ea"/>
                <a:cs typeface="+mn-cs"/>
              </a:defRPr>
            </a:lvl2pPr>
            <a:lvl3pPr marL="857250" indent="-17145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6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9" dirty="0"/>
              <a:t>Hydro exposes  2 interfaces to ORCHA</a:t>
            </a:r>
          </a:p>
          <a:p>
            <a:r>
              <a:rPr lang="en-US" sz="1999" dirty="0"/>
              <a:t>Every exposed interface is required to be thread-safe for the whole call-stack, and should be </a:t>
            </a:r>
            <a:r>
              <a:rPr lang="en-US" sz="1999" dirty="0" err="1"/>
              <a:t>compilable</a:t>
            </a:r>
            <a:r>
              <a:rPr lang="en-US" sz="1999" dirty="0"/>
              <a:t> for the target</a:t>
            </a:r>
          </a:p>
          <a:p>
            <a:r>
              <a:rPr lang="en-US" sz="1999" dirty="0"/>
              <a:t>In the file where the interfaces are defined we annotations as comments provide complete inventory of data that is needed for the computation</a:t>
            </a:r>
          </a:p>
          <a:p>
            <a:r>
              <a:rPr lang="en-US" sz="1999" dirty="0" err="1"/>
              <a:t>Recipetools</a:t>
            </a:r>
            <a:r>
              <a:rPr lang="en-US" sz="1999" dirty="0"/>
              <a:t> recursively parse the annotations, cumulate all the data that is part of one </a:t>
            </a:r>
            <a:r>
              <a:rPr lang="en-US" sz="1999" dirty="0" err="1"/>
              <a:t>taskfunction</a:t>
            </a:r>
            <a:r>
              <a:rPr lang="en-US" sz="1999" dirty="0"/>
              <a:t> and generate code for assembling data packets and task functions</a:t>
            </a:r>
          </a:p>
          <a:p>
            <a:endParaRPr lang="en-US" sz="1999" dirty="0"/>
          </a:p>
          <a:p>
            <a:pPr marL="0" indent="0">
              <a:buNone/>
            </a:pPr>
            <a:endParaRPr lang="en-US" sz="1999" baseline="30000" dirty="0"/>
          </a:p>
        </p:txBody>
      </p:sp>
      <p:sp>
        <p:nvSpPr>
          <p:cNvPr id="7" name="TextBox 6">
            <a:extLst>
              <a:ext uri="{FF2B5EF4-FFF2-40B4-BE49-F238E27FC236}">
                <a16:creationId xmlns:a16="http://schemas.microsoft.com/office/drawing/2014/main" id="{D9529446-71D0-2C59-E126-300E2F3465E5}"/>
              </a:ext>
            </a:extLst>
          </p:cNvPr>
          <p:cNvSpPr txBox="1"/>
          <p:nvPr/>
        </p:nvSpPr>
        <p:spPr>
          <a:xfrm>
            <a:off x="9675569" y="4293771"/>
            <a:ext cx="2215292" cy="1815793"/>
          </a:xfrm>
          <a:prstGeom prst="rect">
            <a:avLst/>
          </a:prstGeom>
          <a:noFill/>
        </p:spPr>
        <p:txBody>
          <a:bodyPr wrap="square" rtlCol="0">
            <a:spAutoFit/>
          </a:bodyPr>
          <a:lstStyle/>
          <a:p>
            <a:endParaRPr lang="en-US" sz="1866" dirty="0"/>
          </a:p>
          <a:p>
            <a:r>
              <a:rPr lang="en-US" sz="1866" dirty="0"/>
              <a:t>A </a:t>
            </a:r>
            <a:r>
              <a:rPr lang="en-US" sz="1866" dirty="0" err="1"/>
              <a:t>DataPacket</a:t>
            </a:r>
            <a:r>
              <a:rPr lang="en-US" sz="1866" dirty="0"/>
              <a:t> can collect </a:t>
            </a:r>
            <a:r>
              <a:rPr lang="en-US" sz="1866" i="1" dirty="0"/>
              <a:t>N</a:t>
            </a:r>
            <a:r>
              <a:rPr lang="en-US" sz="1866" dirty="0"/>
              <a:t> AMR blocks, where </a:t>
            </a:r>
            <a:r>
              <a:rPr lang="en-US" sz="1866" i="1" dirty="0"/>
              <a:t>N</a:t>
            </a:r>
            <a:r>
              <a:rPr lang="en-US" sz="1866" dirty="0"/>
              <a:t> is a runtime parameter</a:t>
            </a:r>
          </a:p>
        </p:txBody>
      </p:sp>
    </p:spTree>
    <p:extLst>
      <p:ext uri="{BB962C8B-B14F-4D97-AF65-F5344CB8AC3E}">
        <p14:creationId xmlns:p14="http://schemas.microsoft.com/office/powerpoint/2010/main" val="958608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FC120-E83C-24C6-E374-4CC459097747}"/>
              </a:ext>
            </a:extLst>
          </p:cNvPr>
          <p:cNvSpPr>
            <a:spLocks noGrp="1"/>
          </p:cNvSpPr>
          <p:nvPr>
            <p:ph type="title"/>
          </p:nvPr>
        </p:nvSpPr>
        <p:spPr/>
        <p:txBody>
          <a:bodyPr/>
          <a:lstStyle/>
          <a:p>
            <a:r>
              <a:rPr lang="en-US" dirty="0"/>
              <a:t>ORCHA: Example 2</a:t>
            </a:r>
          </a:p>
        </p:txBody>
      </p:sp>
      <p:sp>
        <p:nvSpPr>
          <p:cNvPr id="3" name="Content Placeholder 2">
            <a:extLst>
              <a:ext uri="{FF2B5EF4-FFF2-40B4-BE49-F238E27FC236}">
                <a16:creationId xmlns:a16="http://schemas.microsoft.com/office/drawing/2014/main" id="{43B6FEDA-54F0-441F-D41F-254AB08028FD}"/>
              </a:ext>
            </a:extLst>
          </p:cNvPr>
          <p:cNvSpPr>
            <a:spLocks noGrp="1"/>
          </p:cNvSpPr>
          <p:nvPr>
            <p:ph sz="quarter" idx="14"/>
          </p:nvPr>
        </p:nvSpPr>
        <p:spPr>
          <a:xfrm>
            <a:off x="609440" y="1307128"/>
            <a:ext cx="11173089" cy="5063913"/>
          </a:xfrm>
        </p:spPr>
        <p:txBody>
          <a:bodyPr/>
          <a:lstStyle/>
          <a:p>
            <a:r>
              <a:rPr lang="en-US" dirty="0"/>
              <a:t>Cellular detonation</a:t>
            </a:r>
          </a:p>
          <a:p>
            <a:pPr lvl="1"/>
            <a:r>
              <a:rPr lang="en-US" dirty="0"/>
              <a:t>Hydrodynamics, nuclear burn, and Helmholtz EOS are needed</a:t>
            </a:r>
          </a:p>
        </p:txBody>
      </p:sp>
      <p:sp>
        <p:nvSpPr>
          <p:cNvPr id="4" name="Folded Corner 3">
            <a:extLst>
              <a:ext uri="{FF2B5EF4-FFF2-40B4-BE49-F238E27FC236}">
                <a16:creationId xmlns:a16="http://schemas.microsoft.com/office/drawing/2014/main" id="{805488DF-E882-01DB-DE83-4DA9AAF81CE8}"/>
              </a:ext>
            </a:extLst>
          </p:cNvPr>
          <p:cNvSpPr/>
          <p:nvPr/>
        </p:nvSpPr>
        <p:spPr>
          <a:xfrm>
            <a:off x="709613" y="2510762"/>
            <a:ext cx="5827899" cy="1590651"/>
          </a:xfrm>
          <a:prstGeom prst="foldedCorner">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33" dirty="0">
                <a:solidFill>
                  <a:schemeClr val="tx1"/>
                </a:solidFill>
                <a:latin typeface="Monaco" pitchFamily="2" charset="77"/>
              </a:rPr>
              <a:t>Begin</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HydroBegin</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dep(Root)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HydroCompute</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a:t>
            </a:r>
            <a:r>
              <a:rPr lang="en-US" sz="1333" dirty="0" err="1">
                <a:solidFill>
                  <a:schemeClr val="tx1"/>
                </a:solidFill>
                <a:latin typeface="Monaco" pitchFamily="2" charset="77"/>
              </a:rPr>
              <a:t>HydroBegin</a:t>
            </a:r>
            <a:r>
              <a:rPr lang="en-US" sz="1333" dirty="0">
                <a:solidFill>
                  <a:schemeClr val="tx1"/>
                </a:solidFill>
                <a:latin typeface="Monaco" pitchFamily="2" charset="77"/>
              </a:rPr>
              <a: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BurnCompute</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dep(</a:t>
            </a:r>
            <a:r>
              <a:rPr lang="en-US" sz="1333" dirty="0" err="1">
                <a:solidFill>
                  <a:schemeClr val="tx1"/>
                </a:solidFill>
                <a:latin typeface="Monaco" pitchFamily="2" charset="77"/>
              </a:rPr>
              <a:t>HydroCompute</a:t>
            </a:r>
            <a:r>
              <a:rPr lang="en-US" sz="1333" dirty="0">
                <a:solidFill>
                  <a:schemeClr val="tx1"/>
                </a:solidFill>
                <a:latin typeface="Monaco" pitchFamily="2" charset="77"/>
              </a:rPr>
              <a: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BurnUpdate</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dep(</a:t>
            </a:r>
            <a:r>
              <a:rPr lang="en-US" sz="1333" dirty="0" err="1">
                <a:solidFill>
                  <a:schemeClr val="tx1"/>
                </a:solidFill>
                <a:latin typeface="Monaco" pitchFamily="2" charset="77"/>
              </a:rPr>
              <a:t>BurnCompute</a:t>
            </a:r>
            <a:r>
              <a:rPr lang="en-US" sz="1333" dirty="0">
                <a:solidFill>
                  <a:schemeClr val="tx1"/>
                </a:solidFill>
                <a:latin typeface="Monaco" pitchFamily="2" charset="77"/>
              </a:rPr>
              <a:t>)</a:t>
            </a:r>
          </a:p>
          <a:p>
            <a:r>
              <a:rPr lang="en-US" sz="1333" dirty="0">
                <a:solidFill>
                  <a:schemeClr val="tx1"/>
                </a:solidFill>
                <a:latin typeface="Monaco" pitchFamily="2" charset="77"/>
              </a:rPr>
              <a:t>End</a:t>
            </a:r>
          </a:p>
        </p:txBody>
      </p:sp>
      <p:grpSp>
        <p:nvGrpSpPr>
          <p:cNvPr id="5" name="Group 4">
            <a:extLst>
              <a:ext uri="{FF2B5EF4-FFF2-40B4-BE49-F238E27FC236}">
                <a16:creationId xmlns:a16="http://schemas.microsoft.com/office/drawing/2014/main" id="{6B5893DF-E5B9-283A-9910-F3802B4EFDE6}"/>
              </a:ext>
            </a:extLst>
          </p:cNvPr>
          <p:cNvGrpSpPr/>
          <p:nvPr/>
        </p:nvGrpSpPr>
        <p:grpSpPr>
          <a:xfrm>
            <a:off x="9076244" y="2474645"/>
            <a:ext cx="1971227" cy="3857302"/>
            <a:chOff x="6808956" y="1855797"/>
            <a:chExt cx="1478805" cy="2893730"/>
          </a:xfrm>
        </p:grpSpPr>
        <p:sp>
          <p:nvSpPr>
            <p:cNvPr id="46" name="Rounded Rectangle 45">
              <a:extLst>
                <a:ext uri="{FF2B5EF4-FFF2-40B4-BE49-F238E27FC236}">
                  <a16:creationId xmlns:a16="http://schemas.microsoft.com/office/drawing/2014/main" id="{6285FABD-94DE-78A8-7CBE-07BEB3CE8526}"/>
                </a:ext>
              </a:extLst>
            </p:cNvPr>
            <p:cNvSpPr/>
            <p:nvPr/>
          </p:nvSpPr>
          <p:spPr>
            <a:xfrm>
              <a:off x="6920937" y="1855797"/>
              <a:ext cx="1254863" cy="29293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Begin</a:t>
              </a:r>
            </a:p>
          </p:txBody>
        </p:sp>
        <p:grpSp>
          <p:nvGrpSpPr>
            <p:cNvPr id="48" name="Group 47">
              <a:extLst>
                <a:ext uri="{FF2B5EF4-FFF2-40B4-BE49-F238E27FC236}">
                  <a16:creationId xmlns:a16="http://schemas.microsoft.com/office/drawing/2014/main" id="{CE932B40-2784-C319-EB1F-B6F47B11DADA}"/>
                </a:ext>
              </a:extLst>
            </p:cNvPr>
            <p:cNvGrpSpPr/>
            <p:nvPr/>
          </p:nvGrpSpPr>
          <p:grpSpPr>
            <a:xfrm>
              <a:off x="6808956" y="2417938"/>
              <a:ext cx="1478805" cy="758233"/>
              <a:chOff x="7702144" y="1616967"/>
              <a:chExt cx="1617697" cy="855689"/>
            </a:xfrm>
          </p:grpSpPr>
          <p:sp>
            <p:nvSpPr>
              <p:cNvPr id="58" name="Snip Diagonal Corner Rectangle 57">
                <a:extLst>
                  <a:ext uri="{FF2B5EF4-FFF2-40B4-BE49-F238E27FC236}">
                    <a16:creationId xmlns:a16="http://schemas.microsoft.com/office/drawing/2014/main" id="{1755D7F2-7D75-3D48-4DCA-0B96360FA4FC}"/>
                  </a:ext>
                </a:extLst>
              </p:cNvPr>
              <p:cNvSpPr/>
              <p:nvPr/>
            </p:nvSpPr>
            <p:spPr>
              <a:xfrm>
                <a:off x="7702144" y="1616968"/>
                <a:ext cx="1617697" cy="855688"/>
              </a:xfrm>
              <a:prstGeom prst="snip2DiagRect">
                <a:avLst>
                  <a:gd name="adj1" fmla="val 0"/>
                  <a:gd name="adj2" fmla="val 24063"/>
                </a:avLst>
              </a:prstGeom>
              <a:solidFill>
                <a:srgbClr val="C2F1C8"/>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TaskFuncion</a:t>
                </a:r>
                <a:r>
                  <a:rPr lang="en-US" sz="1200" dirty="0">
                    <a:solidFill>
                      <a:schemeClr val="tx1"/>
                    </a:solidFill>
                  </a:rPr>
                  <a:t> A</a:t>
                </a:r>
              </a:p>
              <a:p>
                <a:pPr marL="228525" indent="-228525">
                  <a:buFontTx/>
                  <a:buChar char="-"/>
                </a:pPr>
                <a:r>
                  <a:rPr lang="en-US" sz="933" dirty="0" err="1">
                    <a:solidFill>
                      <a:schemeClr val="tx1"/>
                    </a:solidFill>
                  </a:rPr>
                  <a:t>HydroBegin_GPU</a:t>
                </a:r>
                <a:endParaRPr lang="en-US" sz="933" dirty="0">
                  <a:solidFill>
                    <a:schemeClr val="tx1"/>
                  </a:solidFill>
                </a:endParaRPr>
              </a:p>
              <a:p>
                <a:pPr marL="228525" indent="-228525">
                  <a:buFontTx/>
                  <a:buChar char="-"/>
                </a:pPr>
                <a:r>
                  <a:rPr lang="en-US" sz="933" dirty="0" err="1">
                    <a:solidFill>
                      <a:schemeClr val="tx1"/>
                    </a:solidFill>
                  </a:rPr>
                  <a:t>HydroCompute_GPU</a:t>
                </a:r>
                <a:endParaRPr lang="en-US" sz="933" dirty="0">
                  <a:solidFill>
                    <a:schemeClr val="tx1"/>
                  </a:solidFill>
                </a:endParaRPr>
              </a:p>
            </p:txBody>
          </p:sp>
          <p:sp>
            <p:nvSpPr>
              <p:cNvPr id="59" name="Rectangle 58">
                <a:extLst>
                  <a:ext uri="{FF2B5EF4-FFF2-40B4-BE49-F238E27FC236}">
                    <a16:creationId xmlns:a16="http://schemas.microsoft.com/office/drawing/2014/main" id="{97188553-C1CD-D211-8C11-199D9717124A}"/>
                  </a:ext>
                </a:extLst>
              </p:cNvPr>
              <p:cNvSpPr/>
              <p:nvPr/>
            </p:nvSpPr>
            <p:spPr>
              <a:xfrm>
                <a:off x="7702156" y="1616967"/>
                <a:ext cx="1617685" cy="247001"/>
              </a:xfrm>
              <a:prstGeom prst="rect">
                <a:avLst/>
              </a:prstGeom>
              <a:solidFill>
                <a:srgbClr val="C2F1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DataPacket</a:t>
                </a:r>
                <a:r>
                  <a:rPr lang="en-US" sz="1400" dirty="0">
                    <a:solidFill>
                      <a:schemeClr val="tx1"/>
                    </a:solidFill>
                  </a:rPr>
                  <a:t> A</a:t>
                </a:r>
              </a:p>
            </p:txBody>
          </p:sp>
        </p:grpSp>
        <p:grpSp>
          <p:nvGrpSpPr>
            <p:cNvPr id="49" name="Group 48">
              <a:extLst>
                <a:ext uri="{FF2B5EF4-FFF2-40B4-BE49-F238E27FC236}">
                  <a16:creationId xmlns:a16="http://schemas.microsoft.com/office/drawing/2014/main" id="{3DFB138B-17B5-F613-A624-2B2A89F338ED}"/>
                </a:ext>
              </a:extLst>
            </p:cNvPr>
            <p:cNvGrpSpPr/>
            <p:nvPr/>
          </p:nvGrpSpPr>
          <p:grpSpPr>
            <a:xfrm>
              <a:off x="6808970" y="3457416"/>
              <a:ext cx="1478791" cy="758233"/>
              <a:chOff x="7665951" y="1605528"/>
              <a:chExt cx="1617697" cy="855689"/>
            </a:xfrm>
          </p:grpSpPr>
          <p:sp>
            <p:nvSpPr>
              <p:cNvPr id="56" name="Snip Diagonal Corner Rectangle 55">
                <a:extLst>
                  <a:ext uri="{FF2B5EF4-FFF2-40B4-BE49-F238E27FC236}">
                    <a16:creationId xmlns:a16="http://schemas.microsoft.com/office/drawing/2014/main" id="{F1BD4809-B9DC-1C9A-0B54-3751B0F7B731}"/>
                  </a:ext>
                </a:extLst>
              </p:cNvPr>
              <p:cNvSpPr/>
              <p:nvPr/>
            </p:nvSpPr>
            <p:spPr>
              <a:xfrm>
                <a:off x="7665951" y="1605528"/>
                <a:ext cx="1617697" cy="855689"/>
              </a:xfrm>
              <a:prstGeom prst="snip2DiagRect">
                <a:avLst>
                  <a:gd name="adj1" fmla="val 0"/>
                  <a:gd name="adj2" fmla="val 24063"/>
                </a:avLst>
              </a:prstGeom>
              <a:solidFill>
                <a:srgbClr val="C1E5F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TaskFunction</a:t>
                </a:r>
                <a:r>
                  <a:rPr lang="en-US" sz="1200" dirty="0">
                    <a:solidFill>
                      <a:schemeClr val="tx1"/>
                    </a:solidFill>
                  </a:rPr>
                  <a:t> B</a:t>
                </a:r>
              </a:p>
              <a:p>
                <a:pPr marL="228525" indent="-228525">
                  <a:buFontTx/>
                  <a:buChar char="-"/>
                </a:pPr>
                <a:r>
                  <a:rPr lang="en-US" sz="933" dirty="0" err="1">
                    <a:solidFill>
                      <a:schemeClr val="tx1"/>
                    </a:solidFill>
                  </a:rPr>
                  <a:t>BurnCompute_CPU</a:t>
                </a:r>
                <a:endParaRPr lang="en-US" sz="933" dirty="0">
                  <a:solidFill>
                    <a:schemeClr val="tx1"/>
                  </a:solidFill>
                </a:endParaRPr>
              </a:p>
              <a:p>
                <a:pPr marL="228525" indent="-228525">
                  <a:buFontTx/>
                  <a:buChar char="-"/>
                </a:pPr>
                <a:r>
                  <a:rPr lang="en-US" sz="933" dirty="0" err="1">
                    <a:solidFill>
                      <a:schemeClr val="tx1"/>
                    </a:solidFill>
                  </a:rPr>
                  <a:t>BurnUpdate_CPU</a:t>
                </a:r>
                <a:endParaRPr lang="en-US" sz="933" dirty="0">
                  <a:solidFill>
                    <a:schemeClr val="tx1"/>
                  </a:solidFill>
                </a:endParaRPr>
              </a:p>
            </p:txBody>
          </p:sp>
          <p:sp>
            <p:nvSpPr>
              <p:cNvPr id="57" name="Rectangle 56">
                <a:extLst>
                  <a:ext uri="{FF2B5EF4-FFF2-40B4-BE49-F238E27FC236}">
                    <a16:creationId xmlns:a16="http://schemas.microsoft.com/office/drawing/2014/main" id="{CECF61FE-3EE4-B71D-1CEE-DF2B63F60A3C}"/>
                  </a:ext>
                </a:extLst>
              </p:cNvPr>
              <p:cNvSpPr/>
              <p:nvPr/>
            </p:nvSpPr>
            <p:spPr>
              <a:xfrm>
                <a:off x="7665963" y="1609961"/>
                <a:ext cx="1617685" cy="247001"/>
              </a:xfrm>
              <a:prstGeom prst="rect">
                <a:avLst/>
              </a:prstGeom>
              <a:solidFill>
                <a:srgbClr val="C1E5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TileWrapper</a:t>
                </a:r>
                <a:r>
                  <a:rPr lang="en-US" sz="1400" dirty="0">
                    <a:solidFill>
                      <a:schemeClr val="tx1"/>
                    </a:solidFill>
                  </a:rPr>
                  <a:t> B</a:t>
                </a:r>
              </a:p>
            </p:txBody>
          </p:sp>
        </p:grpSp>
        <p:sp>
          <p:nvSpPr>
            <p:cNvPr id="50" name="Rounded Rectangle 49">
              <a:extLst>
                <a:ext uri="{FF2B5EF4-FFF2-40B4-BE49-F238E27FC236}">
                  <a16:creationId xmlns:a16="http://schemas.microsoft.com/office/drawing/2014/main" id="{8BC7944B-B530-3A57-18A1-420334EEDE35}"/>
                </a:ext>
              </a:extLst>
            </p:cNvPr>
            <p:cNvSpPr/>
            <p:nvPr/>
          </p:nvSpPr>
          <p:spPr>
            <a:xfrm>
              <a:off x="6920936" y="4456588"/>
              <a:ext cx="1254863" cy="29293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End</a:t>
              </a:r>
            </a:p>
          </p:txBody>
        </p:sp>
        <p:cxnSp>
          <p:nvCxnSpPr>
            <p:cNvPr id="51" name="Straight Arrow Connector 50">
              <a:extLst>
                <a:ext uri="{FF2B5EF4-FFF2-40B4-BE49-F238E27FC236}">
                  <a16:creationId xmlns:a16="http://schemas.microsoft.com/office/drawing/2014/main" id="{D5BB16DD-D496-206F-4203-E430BE0C385C}"/>
                </a:ext>
              </a:extLst>
            </p:cNvPr>
            <p:cNvCxnSpPr>
              <a:cxnSpLocks/>
              <a:stCxn id="46" idx="2"/>
              <a:endCxn id="59" idx="0"/>
            </p:cNvCxnSpPr>
            <p:nvPr/>
          </p:nvCxnSpPr>
          <p:spPr>
            <a:xfrm flipH="1">
              <a:off x="7548364" y="2148736"/>
              <a:ext cx="5" cy="2692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61AB4692-28FB-F1CA-95FD-A62D2C31962F}"/>
                </a:ext>
              </a:extLst>
            </p:cNvPr>
            <p:cNvCxnSpPr>
              <a:cxnSpLocks/>
              <a:stCxn id="58" idx="1"/>
              <a:endCxn id="57" idx="0"/>
            </p:cNvCxnSpPr>
            <p:nvPr/>
          </p:nvCxnSpPr>
          <p:spPr>
            <a:xfrm>
              <a:off x="7548359" y="3176171"/>
              <a:ext cx="12" cy="28517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4D38FCC-DF03-A8A2-575E-72AFA77BE766}"/>
                </a:ext>
              </a:extLst>
            </p:cNvPr>
            <p:cNvCxnSpPr>
              <a:cxnSpLocks/>
              <a:stCxn id="56" idx="1"/>
              <a:endCxn id="50" idx="0"/>
            </p:cNvCxnSpPr>
            <p:nvPr/>
          </p:nvCxnSpPr>
          <p:spPr>
            <a:xfrm>
              <a:off x="7548364" y="4215649"/>
              <a:ext cx="4" cy="2409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Right Arrow 64">
            <a:extLst>
              <a:ext uri="{FF2B5EF4-FFF2-40B4-BE49-F238E27FC236}">
                <a16:creationId xmlns:a16="http://schemas.microsoft.com/office/drawing/2014/main" id="{0C585F77-7CCE-E4F6-60AD-035BFD9CFE3E}"/>
              </a:ext>
            </a:extLst>
          </p:cNvPr>
          <p:cNvSpPr/>
          <p:nvPr/>
        </p:nvSpPr>
        <p:spPr>
          <a:xfrm>
            <a:off x="6723041" y="2905909"/>
            <a:ext cx="927459" cy="800361"/>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489E9FBB-504E-5BAB-4998-2CFC4EBE7A8B}"/>
              </a:ext>
            </a:extLst>
          </p:cNvPr>
          <p:cNvSpPr txBox="1"/>
          <p:nvPr/>
        </p:nvSpPr>
        <p:spPr>
          <a:xfrm>
            <a:off x="609439" y="2136713"/>
            <a:ext cx="2428237" cy="379557"/>
          </a:xfrm>
          <a:prstGeom prst="rect">
            <a:avLst/>
          </a:prstGeom>
          <a:noFill/>
        </p:spPr>
        <p:txBody>
          <a:bodyPr wrap="none" rtlCol="0">
            <a:spAutoFit/>
          </a:bodyPr>
          <a:lstStyle/>
          <a:p>
            <a:r>
              <a:rPr lang="en-US" sz="1866" b="1" dirty="0"/>
              <a:t>Recipe (user input):</a:t>
            </a:r>
          </a:p>
        </p:txBody>
      </p:sp>
      <p:sp>
        <p:nvSpPr>
          <p:cNvPr id="70" name="TextBox 69">
            <a:extLst>
              <a:ext uri="{FF2B5EF4-FFF2-40B4-BE49-F238E27FC236}">
                <a16:creationId xmlns:a16="http://schemas.microsoft.com/office/drawing/2014/main" id="{42AFF918-43A6-4BBC-0C7A-6B5E4F48BF26}"/>
              </a:ext>
            </a:extLst>
          </p:cNvPr>
          <p:cNvSpPr txBox="1"/>
          <p:nvPr/>
        </p:nvSpPr>
        <p:spPr>
          <a:xfrm>
            <a:off x="8127902" y="2099981"/>
            <a:ext cx="3663832" cy="379557"/>
          </a:xfrm>
          <a:prstGeom prst="rect">
            <a:avLst/>
          </a:prstGeom>
          <a:noFill/>
        </p:spPr>
        <p:txBody>
          <a:bodyPr wrap="none" rtlCol="0">
            <a:spAutoFit/>
          </a:bodyPr>
          <a:lstStyle/>
          <a:p>
            <a:r>
              <a:rPr lang="en-US" sz="1866" b="1" dirty="0"/>
              <a:t>Generated / transformed code:</a:t>
            </a:r>
          </a:p>
        </p:txBody>
      </p:sp>
      <p:sp>
        <p:nvSpPr>
          <p:cNvPr id="8" name="Content Placeholder 2">
            <a:extLst>
              <a:ext uri="{FF2B5EF4-FFF2-40B4-BE49-F238E27FC236}">
                <a16:creationId xmlns:a16="http://schemas.microsoft.com/office/drawing/2014/main" id="{BBBD8D9E-D00B-1BC8-F4AB-C2B0F22A6D9C}"/>
              </a:ext>
            </a:extLst>
          </p:cNvPr>
          <p:cNvSpPr txBox="1">
            <a:spLocks/>
          </p:cNvSpPr>
          <p:nvPr/>
        </p:nvSpPr>
        <p:spPr bwMode="auto">
          <a:xfrm>
            <a:off x="440670" y="4453994"/>
            <a:ext cx="7074269" cy="2332602"/>
          </a:xfrm>
          <a:prstGeom prst="rect">
            <a:avLst/>
          </a:prstGeom>
          <a:noFill/>
          <a:ln w="9525">
            <a:noFill/>
            <a:miter lim="800000"/>
            <a:headEnd/>
            <a:tailEnd/>
          </a:ln>
        </p:spPr>
        <p:txBody>
          <a:bodyPr vert="horz" wrap="square" lIns="91416" tIns="45708" rIns="91416" bIns="45708" numCol="1" anchor="t" anchorCtr="0" compatLnSpc="1">
            <a:prstTxWarp prst="textNoShape">
              <a:avLst/>
            </a:prstTxWarp>
            <a:normAutofit/>
          </a:bodyPr>
          <a:lstStyle>
            <a:lvl1pPr marL="228600" indent="-228600" algn="l" rtl="0" eaLnBrk="1" fontAlgn="base" hangingPunct="1">
              <a:lnSpc>
                <a:spcPct val="90000"/>
              </a:lnSpc>
              <a:spcBef>
                <a:spcPts val="1400"/>
              </a:spcBef>
              <a:spcAft>
                <a:spcPct val="0"/>
              </a:spcAft>
              <a:buClr>
                <a:schemeClr val="tx1"/>
              </a:buClr>
              <a:buSzPct val="90000"/>
              <a:buFont typeface="Century Gothic" panose="020B0502020202020204" pitchFamily="34" charset="0"/>
              <a:buChar char="•"/>
              <a:defRPr sz="2000" kern="1200">
                <a:solidFill>
                  <a:schemeClr val="tx1"/>
                </a:solidFill>
                <a:latin typeface="+mn-lt"/>
                <a:ea typeface="+mn-ea"/>
                <a:cs typeface="+mn-cs"/>
              </a:defRPr>
            </a:lvl1pPr>
            <a:lvl2pPr marL="571500" indent="-22860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800" kern="1200">
                <a:solidFill>
                  <a:schemeClr val="tx1"/>
                </a:solidFill>
                <a:latin typeface="+mn-lt"/>
                <a:ea typeface="+mn-ea"/>
                <a:cs typeface="+mn-cs"/>
              </a:defRPr>
            </a:lvl2pPr>
            <a:lvl3pPr marL="857250" indent="-171450" algn="l" rtl="0" eaLnBrk="1" fontAlgn="base" hangingPunct="1">
              <a:lnSpc>
                <a:spcPct val="90000"/>
              </a:lnSpc>
              <a:spcBef>
                <a:spcPts val="800"/>
              </a:spcBef>
              <a:spcAft>
                <a:spcPct val="0"/>
              </a:spcAft>
              <a:buClr>
                <a:schemeClr val="tx1"/>
              </a:buClr>
              <a:buSzPct val="90000"/>
              <a:buFont typeface="Century Gothic" panose="020B0502020202020204" pitchFamily="34" charset="0"/>
              <a:buChar char="•"/>
              <a:defRPr sz="16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999" dirty="0"/>
              <a:t>Burn exposes 2  interfaces to ORCHA</a:t>
            </a:r>
          </a:p>
          <a:p>
            <a:r>
              <a:rPr lang="en-US" sz="1999" dirty="0"/>
              <a:t>Can only run on CPU – third party library  dependence</a:t>
            </a:r>
          </a:p>
          <a:p>
            <a:r>
              <a:rPr lang="en-US" sz="1999" dirty="0"/>
              <a:t>EOS needs to compiled for both CPU and GPU, both Hydro and Burn call </a:t>
            </a:r>
          </a:p>
          <a:p>
            <a:endParaRPr lang="en-US" sz="1999" dirty="0"/>
          </a:p>
          <a:p>
            <a:pPr marL="0" indent="0">
              <a:buNone/>
            </a:pPr>
            <a:endParaRPr lang="en-US" sz="1999" baseline="30000" dirty="0"/>
          </a:p>
        </p:txBody>
      </p:sp>
    </p:spTree>
    <p:extLst>
      <p:ext uri="{BB962C8B-B14F-4D97-AF65-F5344CB8AC3E}">
        <p14:creationId xmlns:p14="http://schemas.microsoft.com/office/powerpoint/2010/main" val="27274317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B027B-95CE-0460-F319-2D8BAA840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DCAF4-28FE-27B8-5915-FDC20BD807C8}"/>
              </a:ext>
            </a:extLst>
          </p:cNvPr>
          <p:cNvSpPr>
            <a:spLocks noGrp="1"/>
          </p:cNvSpPr>
          <p:nvPr>
            <p:ph type="title"/>
          </p:nvPr>
        </p:nvSpPr>
        <p:spPr/>
        <p:txBody>
          <a:bodyPr/>
          <a:lstStyle/>
          <a:p>
            <a:r>
              <a:rPr lang="en-US" dirty="0"/>
              <a:t>ORCHA: Example 2</a:t>
            </a:r>
          </a:p>
        </p:txBody>
      </p:sp>
      <p:sp>
        <p:nvSpPr>
          <p:cNvPr id="3" name="Content Placeholder 2">
            <a:extLst>
              <a:ext uri="{FF2B5EF4-FFF2-40B4-BE49-F238E27FC236}">
                <a16:creationId xmlns:a16="http://schemas.microsoft.com/office/drawing/2014/main" id="{A3E11810-4A78-2C86-6019-385B1DF7709B}"/>
              </a:ext>
            </a:extLst>
          </p:cNvPr>
          <p:cNvSpPr>
            <a:spLocks noGrp="1"/>
          </p:cNvSpPr>
          <p:nvPr>
            <p:ph sz="quarter" idx="14"/>
          </p:nvPr>
        </p:nvSpPr>
        <p:spPr/>
        <p:txBody>
          <a:bodyPr/>
          <a:lstStyle/>
          <a:p>
            <a:r>
              <a:rPr lang="en-US" dirty="0"/>
              <a:t>Cellular detonation</a:t>
            </a:r>
          </a:p>
          <a:p>
            <a:pPr lvl="1"/>
            <a:r>
              <a:rPr lang="en-US" dirty="0"/>
              <a:t>Hydrodynamics, nuclear burn, and Helmholtz EOS are needed</a:t>
            </a:r>
          </a:p>
          <a:p>
            <a:pPr lvl="1"/>
            <a:endParaRPr lang="en-US" dirty="0"/>
          </a:p>
        </p:txBody>
      </p:sp>
      <p:sp>
        <p:nvSpPr>
          <p:cNvPr id="4" name="Folded Corner 3">
            <a:extLst>
              <a:ext uri="{FF2B5EF4-FFF2-40B4-BE49-F238E27FC236}">
                <a16:creationId xmlns:a16="http://schemas.microsoft.com/office/drawing/2014/main" id="{55037CF9-1868-0DDE-3136-0720DF95821C}"/>
              </a:ext>
            </a:extLst>
          </p:cNvPr>
          <p:cNvSpPr/>
          <p:nvPr/>
        </p:nvSpPr>
        <p:spPr>
          <a:xfrm>
            <a:off x="709613" y="2633674"/>
            <a:ext cx="5827899" cy="1590651"/>
          </a:xfrm>
          <a:prstGeom prst="foldedCorner">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333" dirty="0">
                <a:solidFill>
                  <a:schemeClr val="tx1"/>
                </a:solidFill>
                <a:latin typeface="Monaco" pitchFamily="2" charset="77"/>
              </a:rPr>
              <a:t>Begin</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HydroBegin</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dep(Root)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HydroCompute</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a:t>
            </a:r>
            <a:r>
              <a:rPr lang="en-US" sz="1333" b="1" dirty="0">
                <a:solidFill>
                  <a:srgbClr val="00B050"/>
                </a:solidFill>
                <a:latin typeface="Monaco" pitchFamily="2" charset="77"/>
              </a:rPr>
              <a:t>GPU</a:t>
            </a:r>
            <a:r>
              <a:rPr lang="en-US" sz="1333" dirty="0">
                <a:solidFill>
                  <a:schemeClr val="tx1"/>
                </a:solidFill>
                <a:latin typeface="Monaco" pitchFamily="2" charset="77"/>
              </a:rPr>
              <a:t>]), dep(</a:t>
            </a:r>
            <a:r>
              <a:rPr lang="en-US" sz="1333" dirty="0" err="1">
                <a:solidFill>
                  <a:schemeClr val="tx1"/>
                </a:solidFill>
                <a:latin typeface="Monaco" pitchFamily="2" charset="77"/>
              </a:rPr>
              <a:t>HydroBegin</a:t>
            </a:r>
            <a:r>
              <a:rPr lang="en-US" sz="1333" dirty="0">
                <a:solidFill>
                  <a:schemeClr val="tx1"/>
                </a:solidFill>
                <a:latin typeface="Monaco" pitchFamily="2" charset="77"/>
              </a:rPr>
              <a: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BurnCompute</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dep(</a:t>
            </a:r>
            <a:r>
              <a:rPr lang="en-US" sz="1333" dirty="0" err="1">
                <a:solidFill>
                  <a:schemeClr val="tx1"/>
                </a:solidFill>
                <a:latin typeface="Monaco" pitchFamily="2" charset="77"/>
              </a:rPr>
              <a:t>HydroCompute</a:t>
            </a:r>
            <a:r>
              <a:rPr lang="en-US" sz="1333" dirty="0">
                <a:solidFill>
                  <a:schemeClr val="tx1"/>
                </a:solidFill>
                <a:latin typeface="Monaco" pitchFamily="2" charset="77"/>
              </a:rPr>
              <a:t>)</a:t>
            </a:r>
          </a:p>
          <a:p>
            <a:r>
              <a:rPr lang="en-US" sz="1333" dirty="0">
                <a:solidFill>
                  <a:schemeClr val="tx1"/>
                </a:solidFill>
                <a:latin typeface="Monaco" pitchFamily="2" charset="77"/>
              </a:rPr>
              <a:t>    </a:t>
            </a:r>
            <a:r>
              <a:rPr lang="en-US" sz="1333" dirty="0" err="1">
                <a:solidFill>
                  <a:schemeClr val="tx1"/>
                </a:solidFill>
                <a:latin typeface="Monaco" pitchFamily="2" charset="77"/>
              </a:rPr>
              <a:t>addNode</a:t>
            </a:r>
            <a:r>
              <a:rPr lang="en-US" sz="1333" dirty="0">
                <a:solidFill>
                  <a:schemeClr val="tx1"/>
                </a:solidFill>
                <a:latin typeface="Monaco" pitchFamily="2" charset="77"/>
              </a:rPr>
              <a:t>(</a:t>
            </a:r>
            <a:r>
              <a:rPr lang="en-US" sz="1333" dirty="0" err="1">
                <a:solidFill>
                  <a:schemeClr val="tx1"/>
                </a:solidFill>
                <a:latin typeface="Monaco" pitchFamily="2" charset="77"/>
              </a:rPr>
              <a:t>BurnUpdate</a:t>
            </a:r>
            <a:r>
              <a:rPr lang="en-US" sz="1333" dirty="0">
                <a:solidFill>
                  <a:schemeClr val="tx1"/>
                </a:solidFill>
                <a:latin typeface="Monaco" pitchFamily="2" charset="77"/>
              </a:rPr>
              <a:t>, </a:t>
            </a:r>
            <a:r>
              <a:rPr lang="en-US" sz="1333" b="1" dirty="0">
                <a:solidFill>
                  <a:srgbClr val="0070C0"/>
                </a:solidFill>
                <a:latin typeface="Monaco" pitchFamily="2" charset="77"/>
              </a:rPr>
              <a:t>CPU</a:t>
            </a:r>
            <a:r>
              <a:rPr lang="en-US" sz="1333" dirty="0">
                <a:solidFill>
                  <a:schemeClr val="tx1"/>
                </a:solidFill>
                <a:latin typeface="Monaco" pitchFamily="2" charset="77"/>
              </a:rPr>
              <a:t>), dep(</a:t>
            </a:r>
            <a:r>
              <a:rPr lang="en-US" sz="1333" dirty="0" err="1">
                <a:solidFill>
                  <a:schemeClr val="tx1"/>
                </a:solidFill>
                <a:latin typeface="Monaco" pitchFamily="2" charset="77"/>
              </a:rPr>
              <a:t>BurnCompute</a:t>
            </a:r>
            <a:r>
              <a:rPr lang="en-US" sz="1333" dirty="0">
                <a:solidFill>
                  <a:schemeClr val="tx1"/>
                </a:solidFill>
                <a:latin typeface="Monaco" pitchFamily="2" charset="77"/>
              </a:rPr>
              <a:t>)</a:t>
            </a:r>
          </a:p>
          <a:p>
            <a:r>
              <a:rPr lang="en-US" sz="1333" dirty="0">
                <a:solidFill>
                  <a:schemeClr val="tx1"/>
                </a:solidFill>
                <a:latin typeface="Monaco" pitchFamily="2" charset="77"/>
              </a:rPr>
              <a:t>End</a:t>
            </a:r>
          </a:p>
        </p:txBody>
      </p:sp>
      <p:grpSp>
        <p:nvGrpSpPr>
          <p:cNvPr id="45" name="Group 44">
            <a:extLst>
              <a:ext uri="{FF2B5EF4-FFF2-40B4-BE49-F238E27FC236}">
                <a16:creationId xmlns:a16="http://schemas.microsoft.com/office/drawing/2014/main" id="{8E228A7D-83F5-B849-5423-CC924E0A5C31}"/>
              </a:ext>
            </a:extLst>
          </p:cNvPr>
          <p:cNvGrpSpPr/>
          <p:nvPr/>
        </p:nvGrpSpPr>
        <p:grpSpPr>
          <a:xfrm>
            <a:off x="7870573" y="2474645"/>
            <a:ext cx="4252551" cy="3857302"/>
            <a:chOff x="5165771" y="1098312"/>
            <a:chExt cx="3898316" cy="3265664"/>
          </a:xfrm>
        </p:grpSpPr>
        <p:sp>
          <p:nvSpPr>
            <p:cNvPr id="46" name="Rounded Rectangle 45">
              <a:extLst>
                <a:ext uri="{FF2B5EF4-FFF2-40B4-BE49-F238E27FC236}">
                  <a16:creationId xmlns:a16="http://schemas.microsoft.com/office/drawing/2014/main" id="{65C51493-9697-DB27-C776-2CE91FEAB2A5}"/>
                </a:ext>
              </a:extLst>
            </p:cNvPr>
            <p:cNvSpPr/>
            <p:nvPr/>
          </p:nvSpPr>
          <p:spPr>
            <a:xfrm>
              <a:off x="6407846" y="1098312"/>
              <a:ext cx="1533379" cy="330591"/>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Begin</a:t>
              </a:r>
            </a:p>
          </p:txBody>
        </p:sp>
        <p:grpSp>
          <p:nvGrpSpPr>
            <p:cNvPr id="47" name="Group 46">
              <a:extLst>
                <a:ext uri="{FF2B5EF4-FFF2-40B4-BE49-F238E27FC236}">
                  <a16:creationId xmlns:a16="http://schemas.microsoft.com/office/drawing/2014/main" id="{CE9D0127-51AC-A629-5891-3827976CA1AA}"/>
                </a:ext>
              </a:extLst>
            </p:cNvPr>
            <p:cNvGrpSpPr/>
            <p:nvPr/>
          </p:nvGrpSpPr>
          <p:grpSpPr>
            <a:xfrm>
              <a:off x="7257080" y="1716061"/>
              <a:ext cx="1807007" cy="855689"/>
              <a:chOff x="7702144" y="1616967"/>
              <a:chExt cx="1617697" cy="855689"/>
            </a:xfrm>
          </p:grpSpPr>
          <p:sp>
            <p:nvSpPr>
              <p:cNvPr id="60" name="Snip Diagonal Corner Rectangle 59">
                <a:extLst>
                  <a:ext uri="{FF2B5EF4-FFF2-40B4-BE49-F238E27FC236}">
                    <a16:creationId xmlns:a16="http://schemas.microsoft.com/office/drawing/2014/main" id="{3B923502-A9D5-A430-E9D7-4AB334452C59}"/>
                  </a:ext>
                </a:extLst>
              </p:cNvPr>
              <p:cNvSpPr/>
              <p:nvPr/>
            </p:nvSpPr>
            <p:spPr>
              <a:xfrm>
                <a:off x="7702144" y="1616967"/>
                <a:ext cx="1617697" cy="855689"/>
              </a:xfrm>
              <a:prstGeom prst="snip2DiagRect">
                <a:avLst>
                  <a:gd name="adj1" fmla="val 0"/>
                  <a:gd name="adj2" fmla="val 24063"/>
                </a:avLst>
              </a:prstGeom>
              <a:solidFill>
                <a:srgbClr val="C1E5F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TaskFunction</a:t>
                </a:r>
                <a:r>
                  <a:rPr lang="en-US" sz="1200" dirty="0">
                    <a:solidFill>
                      <a:schemeClr val="tx1"/>
                    </a:solidFill>
                  </a:rPr>
                  <a:t> B</a:t>
                </a:r>
              </a:p>
              <a:p>
                <a:pPr marL="228525" indent="-228525">
                  <a:buFontTx/>
                  <a:buChar char="-"/>
                </a:pPr>
                <a:r>
                  <a:rPr lang="en-US" sz="933" dirty="0" err="1">
                    <a:solidFill>
                      <a:schemeClr val="tx1"/>
                    </a:solidFill>
                  </a:rPr>
                  <a:t>HydroBegin_CPU</a:t>
                </a:r>
                <a:endParaRPr lang="en-US" sz="933" dirty="0">
                  <a:solidFill>
                    <a:schemeClr val="tx1"/>
                  </a:solidFill>
                </a:endParaRPr>
              </a:p>
              <a:p>
                <a:pPr marL="228525" indent="-228525">
                  <a:buFontTx/>
                  <a:buChar char="-"/>
                </a:pPr>
                <a:r>
                  <a:rPr lang="en-US" sz="933" dirty="0" err="1">
                    <a:solidFill>
                      <a:schemeClr val="tx1"/>
                    </a:solidFill>
                  </a:rPr>
                  <a:t>HydroCompute_CPU</a:t>
                </a:r>
                <a:endParaRPr lang="en-US" sz="933" dirty="0">
                  <a:solidFill>
                    <a:schemeClr val="tx1"/>
                  </a:solidFill>
                </a:endParaRPr>
              </a:p>
            </p:txBody>
          </p:sp>
          <p:sp>
            <p:nvSpPr>
              <p:cNvPr id="61" name="Rectangle 60">
                <a:extLst>
                  <a:ext uri="{FF2B5EF4-FFF2-40B4-BE49-F238E27FC236}">
                    <a16:creationId xmlns:a16="http://schemas.microsoft.com/office/drawing/2014/main" id="{F9FB83F7-03E6-726E-855B-AC20E0CE3FB0}"/>
                  </a:ext>
                </a:extLst>
              </p:cNvPr>
              <p:cNvSpPr/>
              <p:nvPr/>
            </p:nvSpPr>
            <p:spPr>
              <a:xfrm>
                <a:off x="7702156" y="1616967"/>
                <a:ext cx="1617685" cy="247001"/>
              </a:xfrm>
              <a:prstGeom prst="rect">
                <a:avLst/>
              </a:prstGeom>
              <a:solidFill>
                <a:srgbClr val="C1E5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TileWrapper</a:t>
                </a:r>
                <a:r>
                  <a:rPr lang="en-US" sz="1400" dirty="0">
                    <a:solidFill>
                      <a:schemeClr val="tx1"/>
                    </a:solidFill>
                  </a:rPr>
                  <a:t> B</a:t>
                </a:r>
              </a:p>
            </p:txBody>
          </p:sp>
        </p:grpSp>
        <p:grpSp>
          <p:nvGrpSpPr>
            <p:cNvPr id="48" name="Group 47">
              <a:extLst>
                <a:ext uri="{FF2B5EF4-FFF2-40B4-BE49-F238E27FC236}">
                  <a16:creationId xmlns:a16="http://schemas.microsoft.com/office/drawing/2014/main" id="{433283F6-D823-9377-BE97-46EE3A605699}"/>
                </a:ext>
              </a:extLst>
            </p:cNvPr>
            <p:cNvGrpSpPr/>
            <p:nvPr/>
          </p:nvGrpSpPr>
          <p:grpSpPr>
            <a:xfrm>
              <a:off x="5165771" y="1716061"/>
              <a:ext cx="1807024" cy="855689"/>
              <a:chOff x="7702144" y="1616967"/>
              <a:chExt cx="1617697" cy="855689"/>
            </a:xfrm>
          </p:grpSpPr>
          <p:sp>
            <p:nvSpPr>
              <p:cNvPr id="58" name="Snip Diagonal Corner Rectangle 57">
                <a:extLst>
                  <a:ext uri="{FF2B5EF4-FFF2-40B4-BE49-F238E27FC236}">
                    <a16:creationId xmlns:a16="http://schemas.microsoft.com/office/drawing/2014/main" id="{7D2CCCAC-D07F-1DC1-6FCF-2C515F75E073}"/>
                  </a:ext>
                </a:extLst>
              </p:cNvPr>
              <p:cNvSpPr/>
              <p:nvPr/>
            </p:nvSpPr>
            <p:spPr>
              <a:xfrm>
                <a:off x="7702144" y="1616968"/>
                <a:ext cx="1617697" cy="855688"/>
              </a:xfrm>
              <a:prstGeom prst="snip2DiagRect">
                <a:avLst>
                  <a:gd name="adj1" fmla="val 0"/>
                  <a:gd name="adj2" fmla="val 24063"/>
                </a:avLst>
              </a:prstGeom>
              <a:solidFill>
                <a:srgbClr val="C2F1C8"/>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TaskFunction</a:t>
                </a:r>
                <a:r>
                  <a:rPr lang="en-US" sz="1200" dirty="0">
                    <a:solidFill>
                      <a:schemeClr val="tx1"/>
                    </a:solidFill>
                  </a:rPr>
                  <a:t> A</a:t>
                </a:r>
              </a:p>
              <a:p>
                <a:pPr marL="228525" indent="-228525">
                  <a:buFontTx/>
                  <a:buChar char="-"/>
                </a:pPr>
                <a:r>
                  <a:rPr lang="en-US" sz="933" dirty="0" err="1">
                    <a:solidFill>
                      <a:schemeClr val="tx1"/>
                    </a:solidFill>
                  </a:rPr>
                  <a:t>HydroBegin_GPU</a:t>
                </a:r>
                <a:endParaRPr lang="en-US" sz="933" dirty="0">
                  <a:solidFill>
                    <a:schemeClr val="tx1"/>
                  </a:solidFill>
                </a:endParaRPr>
              </a:p>
              <a:p>
                <a:pPr marL="228525" indent="-228525">
                  <a:buFontTx/>
                  <a:buChar char="-"/>
                </a:pPr>
                <a:r>
                  <a:rPr lang="en-US" sz="933" dirty="0" err="1">
                    <a:solidFill>
                      <a:schemeClr val="tx1"/>
                    </a:solidFill>
                  </a:rPr>
                  <a:t>HydroCompute_GPU</a:t>
                </a:r>
                <a:endParaRPr lang="en-US" sz="933" dirty="0">
                  <a:solidFill>
                    <a:schemeClr val="tx1"/>
                  </a:solidFill>
                </a:endParaRPr>
              </a:p>
            </p:txBody>
          </p:sp>
          <p:sp>
            <p:nvSpPr>
              <p:cNvPr id="59" name="Rectangle 58">
                <a:extLst>
                  <a:ext uri="{FF2B5EF4-FFF2-40B4-BE49-F238E27FC236}">
                    <a16:creationId xmlns:a16="http://schemas.microsoft.com/office/drawing/2014/main" id="{962110A2-1CE6-284F-82B7-2D3A6A0DA88A}"/>
                  </a:ext>
                </a:extLst>
              </p:cNvPr>
              <p:cNvSpPr/>
              <p:nvPr/>
            </p:nvSpPr>
            <p:spPr>
              <a:xfrm>
                <a:off x="7702156" y="1616967"/>
                <a:ext cx="1617685" cy="247001"/>
              </a:xfrm>
              <a:prstGeom prst="rect">
                <a:avLst/>
              </a:prstGeom>
              <a:solidFill>
                <a:srgbClr val="C2F1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DataPacket</a:t>
                </a:r>
                <a:r>
                  <a:rPr lang="en-US" sz="1400" dirty="0">
                    <a:solidFill>
                      <a:schemeClr val="tx1"/>
                    </a:solidFill>
                  </a:rPr>
                  <a:t> A</a:t>
                </a:r>
              </a:p>
            </p:txBody>
          </p:sp>
        </p:grpSp>
        <p:grpSp>
          <p:nvGrpSpPr>
            <p:cNvPr id="49" name="Group 48">
              <a:extLst>
                <a:ext uri="{FF2B5EF4-FFF2-40B4-BE49-F238E27FC236}">
                  <a16:creationId xmlns:a16="http://schemas.microsoft.com/office/drawing/2014/main" id="{DE4EDD30-F185-AB33-C4F3-DFF7311F3E34}"/>
                </a:ext>
              </a:extLst>
            </p:cNvPr>
            <p:cNvGrpSpPr/>
            <p:nvPr/>
          </p:nvGrpSpPr>
          <p:grpSpPr>
            <a:xfrm>
              <a:off x="6271028" y="2905789"/>
              <a:ext cx="1807007" cy="855689"/>
              <a:chOff x="7665951" y="1605528"/>
              <a:chExt cx="1617697" cy="855689"/>
            </a:xfrm>
          </p:grpSpPr>
          <p:sp>
            <p:nvSpPr>
              <p:cNvPr id="56" name="Snip Diagonal Corner Rectangle 55">
                <a:extLst>
                  <a:ext uri="{FF2B5EF4-FFF2-40B4-BE49-F238E27FC236}">
                    <a16:creationId xmlns:a16="http://schemas.microsoft.com/office/drawing/2014/main" id="{241FD885-07E1-9D48-DFA1-CD31F20543BE}"/>
                  </a:ext>
                </a:extLst>
              </p:cNvPr>
              <p:cNvSpPr/>
              <p:nvPr/>
            </p:nvSpPr>
            <p:spPr>
              <a:xfrm>
                <a:off x="7665951" y="1605528"/>
                <a:ext cx="1617697" cy="855689"/>
              </a:xfrm>
              <a:prstGeom prst="snip2DiagRect">
                <a:avLst>
                  <a:gd name="adj1" fmla="val 0"/>
                  <a:gd name="adj2" fmla="val 24063"/>
                </a:avLst>
              </a:prstGeom>
              <a:solidFill>
                <a:srgbClr val="C1E5F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dirty="0">
                  <a:solidFill>
                    <a:schemeClr val="tx1"/>
                  </a:solidFill>
                </a:endParaRPr>
              </a:p>
              <a:p>
                <a:r>
                  <a:rPr lang="en-US" sz="1200" dirty="0" err="1">
                    <a:solidFill>
                      <a:schemeClr val="tx1"/>
                    </a:solidFill>
                  </a:rPr>
                  <a:t>TaskFunction</a:t>
                </a:r>
                <a:r>
                  <a:rPr lang="en-US" sz="1200" dirty="0">
                    <a:solidFill>
                      <a:schemeClr val="tx1"/>
                    </a:solidFill>
                  </a:rPr>
                  <a:t> C</a:t>
                </a:r>
              </a:p>
              <a:p>
                <a:pPr marL="228525" indent="-228525">
                  <a:buFontTx/>
                  <a:buChar char="-"/>
                </a:pPr>
                <a:r>
                  <a:rPr lang="en-US" sz="933" dirty="0" err="1">
                    <a:solidFill>
                      <a:schemeClr val="tx1"/>
                    </a:solidFill>
                  </a:rPr>
                  <a:t>BurnCompute_CPU</a:t>
                </a:r>
                <a:endParaRPr lang="en-US" sz="933" dirty="0">
                  <a:solidFill>
                    <a:schemeClr val="tx1"/>
                  </a:solidFill>
                </a:endParaRPr>
              </a:p>
              <a:p>
                <a:pPr marL="228525" indent="-228525">
                  <a:buFontTx/>
                  <a:buChar char="-"/>
                </a:pPr>
                <a:r>
                  <a:rPr lang="en-US" sz="933" dirty="0" err="1">
                    <a:solidFill>
                      <a:schemeClr val="tx1"/>
                    </a:solidFill>
                  </a:rPr>
                  <a:t>BurnUpdate_CPU</a:t>
                </a:r>
                <a:endParaRPr lang="en-US" sz="933" dirty="0">
                  <a:solidFill>
                    <a:schemeClr val="tx1"/>
                  </a:solidFill>
                </a:endParaRPr>
              </a:p>
            </p:txBody>
          </p:sp>
          <p:sp>
            <p:nvSpPr>
              <p:cNvPr id="57" name="Rectangle 56">
                <a:extLst>
                  <a:ext uri="{FF2B5EF4-FFF2-40B4-BE49-F238E27FC236}">
                    <a16:creationId xmlns:a16="http://schemas.microsoft.com/office/drawing/2014/main" id="{AA4E5C68-09CF-DB28-E2F7-BEA26F9D6EB4}"/>
                  </a:ext>
                </a:extLst>
              </p:cNvPr>
              <p:cNvSpPr/>
              <p:nvPr/>
            </p:nvSpPr>
            <p:spPr>
              <a:xfrm>
                <a:off x="7665963" y="1609961"/>
                <a:ext cx="1617685" cy="247001"/>
              </a:xfrm>
              <a:prstGeom prst="rect">
                <a:avLst/>
              </a:prstGeom>
              <a:solidFill>
                <a:srgbClr val="C1E5F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TileWrapper</a:t>
                </a:r>
                <a:r>
                  <a:rPr lang="en-US" sz="1400" dirty="0">
                    <a:solidFill>
                      <a:schemeClr val="tx1"/>
                    </a:solidFill>
                  </a:rPr>
                  <a:t> C</a:t>
                </a:r>
              </a:p>
            </p:txBody>
          </p:sp>
        </p:grpSp>
        <p:sp>
          <p:nvSpPr>
            <p:cNvPr id="50" name="Rounded Rectangle 49">
              <a:extLst>
                <a:ext uri="{FF2B5EF4-FFF2-40B4-BE49-F238E27FC236}">
                  <a16:creationId xmlns:a16="http://schemas.microsoft.com/office/drawing/2014/main" id="{ECF7E98C-4A44-B32D-58FB-D45F6C04FF35}"/>
                </a:ext>
              </a:extLst>
            </p:cNvPr>
            <p:cNvSpPr/>
            <p:nvPr/>
          </p:nvSpPr>
          <p:spPr>
            <a:xfrm>
              <a:off x="6407844" y="4033385"/>
              <a:ext cx="1533379" cy="330591"/>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ORCHA End</a:t>
              </a:r>
            </a:p>
          </p:txBody>
        </p:sp>
        <p:cxnSp>
          <p:nvCxnSpPr>
            <p:cNvPr id="51" name="Straight Arrow Connector 50">
              <a:extLst>
                <a:ext uri="{FF2B5EF4-FFF2-40B4-BE49-F238E27FC236}">
                  <a16:creationId xmlns:a16="http://schemas.microsoft.com/office/drawing/2014/main" id="{9D7ACC9E-B733-16AB-7747-5C0B4FA06222}"/>
                </a:ext>
              </a:extLst>
            </p:cNvPr>
            <p:cNvCxnSpPr>
              <a:cxnSpLocks/>
              <a:stCxn id="46" idx="2"/>
              <a:endCxn id="59" idx="0"/>
            </p:cNvCxnSpPr>
            <p:nvPr/>
          </p:nvCxnSpPr>
          <p:spPr>
            <a:xfrm flipH="1">
              <a:off x="6069290" y="1428903"/>
              <a:ext cx="1105246" cy="287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DE2694E-DE7E-DEAA-4726-A351DC5FE191}"/>
                </a:ext>
              </a:extLst>
            </p:cNvPr>
            <p:cNvCxnSpPr>
              <a:cxnSpLocks/>
              <a:stCxn id="46" idx="2"/>
              <a:endCxn id="61" idx="0"/>
            </p:cNvCxnSpPr>
            <p:nvPr/>
          </p:nvCxnSpPr>
          <p:spPr>
            <a:xfrm>
              <a:off x="7174536" y="1428903"/>
              <a:ext cx="986054" cy="287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866C873-0C62-2710-35C5-05580069F9FC}"/>
                </a:ext>
              </a:extLst>
            </p:cNvPr>
            <p:cNvCxnSpPr>
              <a:cxnSpLocks/>
              <a:stCxn id="58" idx="1"/>
              <a:endCxn id="57" idx="0"/>
            </p:cNvCxnSpPr>
            <p:nvPr/>
          </p:nvCxnSpPr>
          <p:spPr>
            <a:xfrm>
              <a:off x="6069284" y="2571750"/>
              <a:ext cx="1105254" cy="3384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77F50FF-BE00-82A2-3BB4-096C910103AE}"/>
                </a:ext>
              </a:extLst>
            </p:cNvPr>
            <p:cNvCxnSpPr>
              <a:cxnSpLocks/>
              <a:stCxn id="60" idx="1"/>
              <a:endCxn id="57" idx="0"/>
            </p:cNvCxnSpPr>
            <p:nvPr/>
          </p:nvCxnSpPr>
          <p:spPr>
            <a:xfrm flipH="1">
              <a:off x="7174538" y="2571750"/>
              <a:ext cx="986046" cy="3384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71875FE-D11A-0A6F-045F-BEB78FFDF546}"/>
                </a:ext>
              </a:extLst>
            </p:cNvPr>
            <p:cNvCxnSpPr>
              <a:cxnSpLocks/>
              <a:stCxn id="56" idx="1"/>
              <a:endCxn id="50" idx="0"/>
            </p:cNvCxnSpPr>
            <p:nvPr/>
          </p:nvCxnSpPr>
          <p:spPr>
            <a:xfrm>
              <a:off x="7174530" y="3761478"/>
              <a:ext cx="5" cy="2719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Right Arrow 64">
            <a:extLst>
              <a:ext uri="{FF2B5EF4-FFF2-40B4-BE49-F238E27FC236}">
                <a16:creationId xmlns:a16="http://schemas.microsoft.com/office/drawing/2014/main" id="{1B32D444-CF87-493B-42D6-010ECF40EDCB}"/>
              </a:ext>
            </a:extLst>
          </p:cNvPr>
          <p:cNvSpPr/>
          <p:nvPr/>
        </p:nvSpPr>
        <p:spPr>
          <a:xfrm>
            <a:off x="6723041" y="3028820"/>
            <a:ext cx="927459" cy="800361"/>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descr="A screenshot of a computer&#10;&#10;Description automatically generated with medium confidence">
            <a:extLst>
              <a:ext uri="{FF2B5EF4-FFF2-40B4-BE49-F238E27FC236}">
                <a16:creationId xmlns:a16="http://schemas.microsoft.com/office/drawing/2014/main" id="{857087F0-0E0F-B11C-7854-07FE1337FAFA}"/>
              </a:ext>
            </a:extLst>
          </p:cNvPr>
          <p:cNvPicPr>
            <a:picLocks noChangeAspect="1"/>
          </p:cNvPicPr>
          <p:nvPr/>
        </p:nvPicPr>
        <p:blipFill>
          <a:blip r:embed="rId3"/>
          <a:stretch>
            <a:fillRect/>
          </a:stretch>
        </p:blipFill>
        <p:spPr>
          <a:xfrm>
            <a:off x="1080319" y="4731155"/>
            <a:ext cx="6631668" cy="1722150"/>
          </a:xfrm>
          <a:prstGeom prst="rect">
            <a:avLst/>
          </a:prstGeom>
        </p:spPr>
      </p:pic>
      <p:sp>
        <p:nvSpPr>
          <p:cNvPr id="68" name="Right Arrow 67">
            <a:extLst>
              <a:ext uri="{FF2B5EF4-FFF2-40B4-BE49-F238E27FC236}">
                <a16:creationId xmlns:a16="http://schemas.microsoft.com/office/drawing/2014/main" id="{AD61F05D-F22A-8DC5-28D8-A6F6EE9176B5}"/>
              </a:ext>
            </a:extLst>
          </p:cNvPr>
          <p:cNvSpPr/>
          <p:nvPr/>
        </p:nvSpPr>
        <p:spPr>
          <a:xfrm rot="8927370">
            <a:off x="7531356" y="4913534"/>
            <a:ext cx="927459" cy="800361"/>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F56161AE-4DBD-DE63-9940-E88F8230E777}"/>
              </a:ext>
            </a:extLst>
          </p:cNvPr>
          <p:cNvSpPr txBox="1"/>
          <p:nvPr/>
        </p:nvSpPr>
        <p:spPr>
          <a:xfrm>
            <a:off x="609439" y="2259625"/>
            <a:ext cx="2428237" cy="379557"/>
          </a:xfrm>
          <a:prstGeom prst="rect">
            <a:avLst/>
          </a:prstGeom>
          <a:noFill/>
        </p:spPr>
        <p:txBody>
          <a:bodyPr wrap="none" rtlCol="0">
            <a:spAutoFit/>
          </a:bodyPr>
          <a:lstStyle/>
          <a:p>
            <a:r>
              <a:rPr lang="en-US" sz="1866" b="1" dirty="0"/>
              <a:t>Recipe (user input):</a:t>
            </a:r>
          </a:p>
        </p:txBody>
      </p:sp>
      <p:sp>
        <p:nvSpPr>
          <p:cNvPr id="70" name="TextBox 69">
            <a:extLst>
              <a:ext uri="{FF2B5EF4-FFF2-40B4-BE49-F238E27FC236}">
                <a16:creationId xmlns:a16="http://schemas.microsoft.com/office/drawing/2014/main" id="{60F8B8E4-3D27-E067-3B30-17E79C20A3EF}"/>
              </a:ext>
            </a:extLst>
          </p:cNvPr>
          <p:cNvSpPr txBox="1"/>
          <p:nvPr/>
        </p:nvSpPr>
        <p:spPr>
          <a:xfrm>
            <a:off x="8127902" y="2099981"/>
            <a:ext cx="3663832" cy="379557"/>
          </a:xfrm>
          <a:prstGeom prst="rect">
            <a:avLst/>
          </a:prstGeom>
          <a:noFill/>
        </p:spPr>
        <p:txBody>
          <a:bodyPr wrap="none" rtlCol="0">
            <a:spAutoFit/>
          </a:bodyPr>
          <a:lstStyle/>
          <a:p>
            <a:r>
              <a:rPr lang="en-US" sz="1866" b="1" dirty="0"/>
              <a:t>Generated / transformed code:</a:t>
            </a:r>
          </a:p>
        </p:txBody>
      </p:sp>
      <p:sp>
        <p:nvSpPr>
          <p:cNvPr id="71" name="TextBox 70">
            <a:extLst>
              <a:ext uri="{FF2B5EF4-FFF2-40B4-BE49-F238E27FC236}">
                <a16:creationId xmlns:a16="http://schemas.microsoft.com/office/drawing/2014/main" id="{649D3346-50BF-254C-E472-EABF981FB459}"/>
              </a:ext>
            </a:extLst>
          </p:cNvPr>
          <p:cNvSpPr txBox="1"/>
          <p:nvPr/>
        </p:nvSpPr>
        <p:spPr>
          <a:xfrm>
            <a:off x="849500" y="4366920"/>
            <a:ext cx="3973130" cy="379557"/>
          </a:xfrm>
          <a:prstGeom prst="rect">
            <a:avLst/>
          </a:prstGeom>
          <a:noFill/>
        </p:spPr>
        <p:txBody>
          <a:bodyPr wrap="none" rtlCol="0">
            <a:spAutoFit/>
          </a:bodyPr>
          <a:lstStyle/>
          <a:p>
            <a:pPr defTabSz="609402" fontAlgn="auto">
              <a:spcBef>
                <a:spcPts val="0"/>
              </a:spcBef>
              <a:spcAft>
                <a:spcPts val="0"/>
              </a:spcAft>
              <a:defRPr/>
            </a:pPr>
            <a:r>
              <a:rPr lang="en-US" sz="1866" b="1" dirty="0"/>
              <a:t>Runtime: </a:t>
            </a:r>
            <a:r>
              <a:rPr lang="en-US" sz="1600" b="1" dirty="0">
                <a:solidFill>
                  <a:srgbClr val="000000"/>
                </a:solidFill>
                <a:latin typeface="Arial" panose="020B0604020202020204"/>
                <a:cs typeface="+mn-cs"/>
              </a:rPr>
              <a:t>(GPU + CPU)</a:t>
            </a:r>
            <a:r>
              <a:rPr lang="en-US" sz="1600" b="1" baseline="-25000" dirty="0">
                <a:solidFill>
                  <a:srgbClr val="000000"/>
                </a:solidFill>
                <a:latin typeface="Arial" panose="020B0604020202020204"/>
                <a:cs typeface="+mn-cs"/>
              </a:rPr>
              <a:t>Hydro</a:t>
            </a:r>
            <a:r>
              <a:rPr lang="en-US" sz="1600" b="1" dirty="0">
                <a:solidFill>
                  <a:srgbClr val="000000"/>
                </a:solidFill>
                <a:latin typeface="Arial" panose="020B0604020202020204"/>
                <a:cs typeface="+mn-cs"/>
              </a:rPr>
              <a:t> </a:t>
            </a:r>
            <a:r>
              <a:rPr lang="en-US" sz="1600" b="1" dirty="0">
                <a:solidFill>
                  <a:srgbClr val="000000"/>
                </a:solidFill>
                <a:latin typeface="-webkit-standard"/>
                <a:cs typeface="+mn-cs"/>
              </a:rPr>
              <a:t>→ (CPU)</a:t>
            </a:r>
            <a:r>
              <a:rPr lang="en-US" sz="1600" b="1" baseline="-25000" dirty="0">
                <a:solidFill>
                  <a:srgbClr val="000000"/>
                </a:solidFill>
                <a:latin typeface="-webkit-standard"/>
                <a:cs typeface="+mn-cs"/>
              </a:rPr>
              <a:t>Burn</a:t>
            </a:r>
            <a:endParaRPr lang="en-US" sz="1600" b="1" baseline="-25000" dirty="0">
              <a:solidFill>
                <a:srgbClr val="000000"/>
              </a:solidFill>
              <a:latin typeface="Arial" panose="020B0604020202020204"/>
              <a:cs typeface="+mn-cs"/>
            </a:endParaRPr>
          </a:p>
        </p:txBody>
      </p:sp>
    </p:spTree>
    <p:extLst>
      <p:ext uri="{BB962C8B-B14F-4D97-AF65-F5344CB8AC3E}">
        <p14:creationId xmlns:p14="http://schemas.microsoft.com/office/powerpoint/2010/main" val="29253867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0FE5BE-D6D7-42CF-8A5E-D501516A65A8}"/>
              </a:ext>
            </a:extLst>
          </p:cNvPr>
          <p:cNvSpPr>
            <a:spLocks noGrp="1"/>
          </p:cNvSpPr>
          <p:nvPr>
            <p:ph type="title"/>
          </p:nvPr>
        </p:nvSpPr>
        <p:spPr>
          <a:xfrm>
            <a:off x="365125" y="243840"/>
            <a:ext cx="11372473" cy="914400"/>
          </a:xfrm>
        </p:spPr>
        <p:txBody>
          <a:bodyPr/>
          <a:lstStyle/>
          <a:p>
            <a:r>
              <a:rPr lang="en-US" dirty="0"/>
              <a:t>Final takeaways</a:t>
            </a:r>
          </a:p>
        </p:txBody>
      </p:sp>
      <p:sp>
        <p:nvSpPr>
          <p:cNvPr id="4" name="Content Placeholder 3">
            <a:extLst>
              <a:ext uri="{FF2B5EF4-FFF2-40B4-BE49-F238E27FC236}">
                <a16:creationId xmlns:a16="http://schemas.microsoft.com/office/drawing/2014/main" id="{9EAF9B28-68BD-45D5-89A7-A961B5872359}"/>
              </a:ext>
            </a:extLst>
          </p:cNvPr>
          <p:cNvSpPr>
            <a:spLocks noGrp="1"/>
          </p:cNvSpPr>
          <p:nvPr>
            <p:ph idx="1"/>
          </p:nvPr>
        </p:nvSpPr>
        <p:spPr>
          <a:xfrm>
            <a:off x="365125" y="1106112"/>
            <a:ext cx="11369675" cy="5050848"/>
          </a:xfrm>
        </p:spPr>
        <p:txBody>
          <a:bodyPr/>
          <a:lstStyle/>
          <a:p>
            <a:r>
              <a:rPr lang="en-US" dirty="0"/>
              <a:t>Requirements gathering and intentional design are indispensable for sustainable software development</a:t>
            </a:r>
          </a:p>
          <a:p>
            <a:r>
              <a:rPr lang="en-US" dirty="0"/>
              <a:t>Many books and online resources available for good design principles</a:t>
            </a:r>
          </a:p>
          <a:p>
            <a:r>
              <a:rPr lang="en-US" dirty="0"/>
              <a:t>Research software poses additional constraints on design because of its exploratory nature</a:t>
            </a:r>
          </a:p>
          <a:p>
            <a:pPr lvl="1"/>
            <a:r>
              <a:rPr lang="en-US" dirty="0"/>
              <a:t>Scientific research software has further challenges</a:t>
            </a:r>
          </a:p>
          <a:p>
            <a:pPr lvl="1"/>
            <a:r>
              <a:rPr lang="en-US" dirty="0"/>
              <a:t>High performance computing research software has even more challenges</a:t>
            </a:r>
          </a:p>
          <a:p>
            <a:pPr lvl="1"/>
            <a:r>
              <a:rPr lang="en-US" dirty="0"/>
              <a:t>That are further exacerbated by the ubiquity of accelerators in platforms</a:t>
            </a:r>
          </a:p>
          <a:p>
            <a:r>
              <a:rPr lang="en-US" dirty="0"/>
              <a:t>Separation of concerns at various granularities, and abstractions enable sustainable software design </a:t>
            </a:r>
          </a:p>
          <a:p>
            <a:pPr marL="0" indent="0">
              <a:buNone/>
            </a:pPr>
            <a:endParaRPr lang="en-US" dirty="0"/>
          </a:p>
        </p:txBody>
      </p:sp>
    </p:spTree>
    <p:extLst>
      <p:ext uri="{BB962C8B-B14F-4D97-AF65-F5344CB8AC3E}">
        <p14:creationId xmlns:p14="http://schemas.microsoft.com/office/powerpoint/2010/main" val="1822663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59406-1F2C-B19F-479A-AB38B22507A3}"/>
              </a:ext>
            </a:extLst>
          </p:cNvPr>
          <p:cNvSpPr>
            <a:spLocks noGrp="1"/>
          </p:cNvSpPr>
          <p:nvPr>
            <p:ph type="title"/>
          </p:nvPr>
        </p:nvSpPr>
        <p:spPr/>
        <p:txBody>
          <a:bodyPr/>
          <a:lstStyle/>
          <a:p>
            <a:r>
              <a:rPr lang="en-US" dirty="0"/>
              <a:t>References</a:t>
            </a:r>
          </a:p>
        </p:txBody>
      </p:sp>
      <p:sp>
        <p:nvSpPr>
          <p:cNvPr id="4" name="Content Placeholder 3">
            <a:extLst>
              <a:ext uri="{FF2B5EF4-FFF2-40B4-BE49-F238E27FC236}">
                <a16:creationId xmlns:a16="http://schemas.microsoft.com/office/drawing/2014/main" id="{CDCE61D6-B78D-878D-CD15-F31D4119BD65}"/>
              </a:ext>
            </a:extLst>
          </p:cNvPr>
          <p:cNvSpPr>
            <a:spLocks noGrp="1"/>
          </p:cNvSpPr>
          <p:nvPr>
            <p:ph sz="quarter" idx="14"/>
          </p:nvPr>
        </p:nvSpPr>
        <p:spPr>
          <a:xfrm>
            <a:off x="621473" y="1258433"/>
            <a:ext cx="9751060" cy="4364567"/>
          </a:xfrm>
        </p:spPr>
        <p:txBody>
          <a:bodyPr>
            <a:normAutofit fontScale="85000" lnSpcReduction="20000"/>
          </a:bodyPr>
          <a:lstStyle/>
          <a:p>
            <a:endParaRPr lang="en-US" b="0" i="0" u="none" strike="noStrike" dirty="0">
              <a:solidFill>
                <a:srgbClr val="222222"/>
              </a:solidFill>
              <a:effectLst/>
              <a:highlight>
                <a:srgbClr val="FFFFFF"/>
              </a:highlight>
              <a:latin typeface="Arial" panose="020B0604020202020204" pitchFamily="34" charset="0"/>
            </a:endParaRPr>
          </a:p>
          <a:p>
            <a:r>
              <a:rPr lang="en-US" dirty="0">
                <a:highlight>
                  <a:srgbClr val="FFFFFF"/>
                </a:highlight>
              </a:rPr>
              <a:t>Dubey Anshu, “</a:t>
            </a:r>
            <a:r>
              <a:rPr lang="en-US" b="1" dirty="0">
                <a:highlight>
                  <a:srgbClr val="FFFFFF"/>
                </a:highlight>
              </a:rPr>
              <a:t>Insights from the software design of a </a:t>
            </a:r>
            <a:r>
              <a:rPr lang="en-US" b="1" dirty="0" err="1">
                <a:highlight>
                  <a:srgbClr val="FFFFFF"/>
                </a:highlight>
              </a:rPr>
              <a:t>multiphysics</a:t>
            </a:r>
            <a:r>
              <a:rPr lang="en-US" b="1" dirty="0">
                <a:highlight>
                  <a:srgbClr val="FFFFFF"/>
                </a:highlight>
              </a:rPr>
              <a:t> multicomponent scientific code</a:t>
            </a:r>
            <a:r>
              <a:rPr lang="en-US" dirty="0">
                <a:highlight>
                  <a:srgbClr val="FFFFFF"/>
                </a:highlight>
              </a:rPr>
              <a:t>” Computing in Science &amp; Engineering, 2021</a:t>
            </a:r>
          </a:p>
          <a:p>
            <a:r>
              <a:rPr lang="en-US" b="0" i="0" u="none" strike="noStrike" dirty="0">
                <a:solidFill>
                  <a:srgbClr val="222222"/>
                </a:solidFill>
                <a:effectLst/>
                <a:highlight>
                  <a:srgbClr val="FFFFFF"/>
                </a:highlight>
                <a:latin typeface="Arial" panose="020B0604020202020204" pitchFamily="34" charset="0"/>
              </a:rPr>
              <a:t>Dubey, Anshu, et al. "</a:t>
            </a:r>
            <a:r>
              <a:rPr lang="en-US" b="1" i="0" u="none" strike="noStrike" dirty="0">
                <a:solidFill>
                  <a:srgbClr val="222222"/>
                </a:solidFill>
                <a:effectLst/>
                <a:highlight>
                  <a:srgbClr val="FFFFFF"/>
                </a:highlight>
                <a:latin typeface="Arial" panose="020B0604020202020204" pitchFamily="34" charset="0"/>
              </a:rPr>
              <a:t>Flash-X: A </a:t>
            </a:r>
            <a:r>
              <a:rPr lang="en-US" b="1" i="0" u="none" strike="noStrike" dirty="0" err="1">
                <a:solidFill>
                  <a:srgbClr val="222222"/>
                </a:solidFill>
                <a:effectLst/>
                <a:highlight>
                  <a:srgbClr val="FFFFFF"/>
                </a:highlight>
                <a:latin typeface="Arial" panose="020B0604020202020204" pitchFamily="34" charset="0"/>
              </a:rPr>
              <a:t>multiphysics</a:t>
            </a:r>
            <a:r>
              <a:rPr lang="en-US" b="1" i="0" u="none" strike="noStrike" dirty="0">
                <a:solidFill>
                  <a:srgbClr val="222222"/>
                </a:solidFill>
                <a:effectLst/>
                <a:highlight>
                  <a:srgbClr val="FFFFFF"/>
                </a:highlight>
                <a:latin typeface="Arial" panose="020B0604020202020204" pitchFamily="34" charset="0"/>
              </a:rPr>
              <a:t> simulation software instrument.</a:t>
            </a:r>
            <a:r>
              <a:rPr lang="en-US" b="0" i="0" u="none" strike="noStrike" dirty="0">
                <a:solidFill>
                  <a:srgbClr val="222222"/>
                </a:solidFill>
                <a:effectLst/>
                <a:highlight>
                  <a:srgbClr val="FFFFFF"/>
                </a:highlight>
                <a:latin typeface="Arial" panose="020B0604020202020204" pitchFamily="34" charset="0"/>
              </a:rPr>
              <a:t>" </a:t>
            </a:r>
            <a:r>
              <a:rPr lang="en-US" b="0" i="1" u="none" strike="noStrike" dirty="0" err="1">
                <a:solidFill>
                  <a:srgbClr val="222222"/>
                </a:solidFill>
                <a:effectLst/>
                <a:latin typeface="Arial" panose="020B0604020202020204" pitchFamily="34" charset="0"/>
              </a:rPr>
              <a:t>SoftwareX</a:t>
            </a:r>
            <a:r>
              <a:rPr lang="en-US" b="0" i="0" u="none" strike="noStrike" dirty="0">
                <a:solidFill>
                  <a:srgbClr val="222222"/>
                </a:solidFill>
                <a:effectLst/>
                <a:highlight>
                  <a:srgbClr val="FFFFFF"/>
                </a:highlight>
                <a:latin typeface="Arial" panose="020B0604020202020204" pitchFamily="34" charset="0"/>
              </a:rPr>
              <a:t> 19 (2022): 101168.</a:t>
            </a:r>
          </a:p>
          <a:p>
            <a:r>
              <a:rPr lang="en-US" b="0" i="0" u="none" strike="noStrike" dirty="0">
                <a:solidFill>
                  <a:srgbClr val="222222"/>
                </a:solidFill>
                <a:effectLst/>
                <a:highlight>
                  <a:srgbClr val="FFFFFF"/>
                </a:highlight>
                <a:latin typeface="Arial" panose="020B0604020202020204" pitchFamily="34" charset="0"/>
              </a:rPr>
              <a:t>Rudi, Johann, et al. "</a:t>
            </a:r>
            <a:r>
              <a:rPr lang="en-US" b="1" i="0" u="none" strike="noStrike" dirty="0">
                <a:solidFill>
                  <a:srgbClr val="222222"/>
                </a:solidFill>
                <a:effectLst/>
                <a:highlight>
                  <a:srgbClr val="FFFFFF"/>
                </a:highlight>
                <a:latin typeface="Arial" panose="020B0604020202020204" pitchFamily="34" charset="0"/>
              </a:rPr>
              <a:t>CG-Kit: Code Generation Toolkit for Performant and Maintainable Variants of Source Code Applied to Flash-X Hydrodynamics Simulations.</a:t>
            </a:r>
            <a:r>
              <a:rPr lang="en-US" b="0" i="0" u="none" strike="noStrike" dirty="0">
                <a:solidFill>
                  <a:srgbClr val="222222"/>
                </a:solidFill>
                <a:effectLst/>
                <a:highlight>
                  <a:srgbClr val="FFFFFF"/>
                </a:highlight>
                <a:latin typeface="Arial" panose="020B0604020202020204" pitchFamily="34" charset="0"/>
              </a:rPr>
              <a:t>" </a:t>
            </a:r>
            <a:r>
              <a:rPr lang="en-US" b="0" i="1" u="none" strike="noStrike" dirty="0" err="1">
                <a:solidFill>
                  <a:srgbClr val="222222"/>
                </a:solidFill>
                <a:effectLst/>
                <a:latin typeface="Arial" panose="020B0604020202020204" pitchFamily="34" charset="0"/>
              </a:rPr>
              <a:t>arXiv</a:t>
            </a:r>
            <a:r>
              <a:rPr lang="en-US" b="0" i="1" u="none" strike="noStrike" dirty="0">
                <a:solidFill>
                  <a:srgbClr val="222222"/>
                </a:solidFill>
                <a:effectLst/>
                <a:latin typeface="Arial" panose="020B0604020202020204" pitchFamily="34" charset="0"/>
              </a:rPr>
              <a:t> preprint arXiv:2401.03378</a:t>
            </a:r>
            <a:r>
              <a:rPr lang="en-US" b="0" i="0" u="none" strike="noStrike" dirty="0">
                <a:solidFill>
                  <a:srgbClr val="222222"/>
                </a:solidFill>
                <a:effectLst/>
                <a:highlight>
                  <a:srgbClr val="FFFFFF"/>
                </a:highlight>
                <a:latin typeface="Arial" panose="020B0604020202020204" pitchFamily="34" charset="0"/>
              </a:rPr>
              <a:t> (2024).</a:t>
            </a:r>
          </a:p>
          <a:p>
            <a:r>
              <a:rPr lang="en-US" b="0" i="0" u="none" strike="noStrike" dirty="0">
                <a:solidFill>
                  <a:srgbClr val="222222"/>
                </a:solidFill>
                <a:effectLst/>
                <a:highlight>
                  <a:srgbClr val="FFFFFF"/>
                </a:highlight>
                <a:latin typeface="Arial" panose="020B0604020202020204" pitchFamily="34" charset="0"/>
              </a:rPr>
              <a:t>O’Neal, Jared, et al. "</a:t>
            </a:r>
            <a:r>
              <a:rPr lang="en-US" b="1" i="0" u="none" strike="noStrike" dirty="0">
                <a:solidFill>
                  <a:srgbClr val="222222"/>
                </a:solidFill>
                <a:effectLst/>
                <a:highlight>
                  <a:srgbClr val="FFFFFF"/>
                </a:highlight>
                <a:latin typeface="Arial" panose="020B0604020202020204" pitchFamily="34" charset="0"/>
              </a:rPr>
              <a:t>Domain-specific runtime to orchestrate computation on heterogeneous platforms.</a:t>
            </a:r>
            <a:r>
              <a:rPr lang="en-US" b="0" i="0" u="none" strike="noStrike" dirty="0">
                <a:solidFill>
                  <a:srgbClr val="222222"/>
                </a:solidFill>
                <a:effectLst/>
                <a:highlight>
                  <a:srgbClr val="FFFFFF"/>
                </a:highlight>
                <a:latin typeface="Arial" panose="020B0604020202020204" pitchFamily="34" charset="0"/>
              </a:rPr>
              <a:t>" </a:t>
            </a:r>
            <a:r>
              <a:rPr lang="en-US" b="0" i="1" u="none" strike="noStrike" dirty="0">
                <a:solidFill>
                  <a:srgbClr val="222222"/>
                </a:solidFill>
                <a:effectLst/>
                <a:latin typeface="Arial" panose="020B0604020202020204" pitchFamily="34" charset="0"/>
              </a:rPr>
              <a:t>European Conference on Parallel Processing</a:t>
            </a:r>
            <a:r>
              <a:rPr lang="en-US" b="0" i="0" u="none" strike="noStrike" dirty="0">
                <a:solidFill>
                  <a:srgbClr val="222222"/>
                </a:solidFill>
                <a:effectLst/>
                <a:highlight>
                  <a:srgbClr val="FFFFFF"/>
                </a:highlight>
                <a:latin typeface="Arial" panose="020B0604020202020204" pitchFamily="34" charset="0"/>
              </a:rPr>
              <a:t>. Cham: Springer International Publishing, 2021.</a:t>
            </a:r>
          </a:p>
          <a:p>
            <a:r>
              <a:rPr lang="en-US" b="0" i="0" u="none" strike="noStrike" dirty="0">
                <a:solidFill>
                  <a:srgbClr val="222222"/>
                </a:solidFill>
                <a:effectLst/>
                <a:highlight>
                  <a:srgbClr val="FFFFFF"/>
                </a:highlight>
                <a:latin typeface="Arial" panose="020B0604020202020204" pitchFamily="34" charset="0"/>
              </a:rPr>
              <a:t>Dubey, </a:t>
            </a:r>
            <a:r>
              <a:rPr lang="en-US" b="0" i="0" u="none" strike="noStrike" dirty="0" err="1">
                <a:solidFill>
                  <a:srgbClr val="222222"/>
                </a:solidFill>
                <a:effectLst/>
                <a:highlight>
                  <a:srgbClr val="FFFFFF"/>
                </a:highlight>
                <a:latin typeface="Arial" panose="020B0604020202020204" pitchFamily="34" charset="0"/>
              </a:rPr>
              <a:t>Anshu</a:t>
            </a:r>
            <a:r>
              <a:rPr lang="en-US" b="0" i="0" u="none" strike="noStrike" dirty="0">
                <a:solidFill>
                  <a:srgbClr val="222222"/>
                </a:solidFill>
                <a:effectLst/>
                <a:highlight>
                  <a:srgbClr val="FFFFFF"/>
                </a:highlight>
                <a:latin typeface="Arial" panose="020B0604020202020204" pitchFamily="34" charset="0"/>
              </a:rPr>
              <a:t>, et al. "</a:t>
            </a:r>
            <a:r>
              <a:rPr lang="en-US" b="1" i="0" u="none" strike="noStrike" dirty="0">
                <a:solidFill>
                  <a:srgbClr val="222222"/>
                </a:solidFill>
                <a:effectLst/>
                <a:highlight>
                  <a:srgbClr val="FFFFFF"/>
                </a:highlight>
                <a:latin typeface="Arial" panose="020B0604020202020204" pitchFamily="34" charset="0"/>
              </a:rPr>
              <a:t>A tool and a methodology to use macros for abstracting variations in code for different computational demands.</a:t>
            </a:r>
            <a:r>
              <a:rPr lang="en-US" b="0" i="0" u="none" strike="noStrike" dirty="0">
                <a:solidFill>
                  <a:srgbClr val="222222"/>
                </a:solidFill>
                <a:effectLst/>
                <a:highlight>
                  <a:srgbClr val="FFFFFF"/>
                </a:highlight>
                <a:latin typeface="Arial" panose="020B0604020202020204" pitchFamily="34" charset="0"/>
              </a:rPr>
              <a:t>" </a:t>
            </a:r>
            <a:r>
              <a:rPr lang="en-US" b="0" i="1" u="none" strike="noStrike" dirty="0">
                <a:solidFill>
                  <a:srgbClr val="222222"/>
                </a:solidFill>
                <a:effectLst/>
                <a:latin typeface="Arial" panose="020B0604020202020204" pitchFamily="34" charset="0"/>
              </a:rPr>
              <a:t>Future Generation Computer Systems</a:t>
            </a:r>
            <a:r>
              <a:rPr lang="en-US" b="0" i="0" u="none" strike="noStrike" dirty="0">
                <a:solidFill>
                  <a:srgbClr val="222222"/>
                </a:solidFill>
                <a:effectLst/>
                <a:highlight>
                  <a:srgbClr val="FFFFFF"/>
                </a:highlight>
                <a:latin typeface="Arial" panose="020B0604020202020204" pitchFamily="34" charset="0"/>
              </a:rPr>
              <a:t> (2023).</a:t>
            </a:r>
            <a:endParaRPr lang="en-US" dirty="0"/>
          </a:p>
        </p:txBody>
      </p:sp>
      <p:sp>
        <p:nvSpPr>
          <p:cNvPr id="6" name="Slide Number Placeholder 5">
            <a:extLst>
              <a:ext uri="{FF2B5EF4-FFF2-40B4-BE49-F238E27FC236}">
                <a16:creationId xmlns:a16="http://schemas.microsoft.com/office/drawing/2014/main" id="{B501455D-ABED-80A5-3890-16D0E5B8BA07}"/>
              </a:ext>
            </a:extLst>
          </p:cNvPr>
          <p:cNvSpPr>
            <a:spLocks noGrp="1"/>
          </p:cNvSpPr>
          <p:nvPr>
            <p:ph type="sldNum" sz="quarter" idx="12"/>
          </p:nvPr>
        </p:nvSpPr>
        <p:spPr/>
        <p:txBody>
          <a:bodyPr/>
          <a:lstStyle/>
          <a:p>
            <a:fld id="{9CF5EF28-261C-FD41-A360-1A380056DD17}" type="slidenum">
              <a:rPr lang="en-US" smtClean="0"/>
              <a:pPr/>
              <a:t>36</a:t>
            </a:fld>
            <a:endParaRPr lang="en-US" dirty="0"/>
          </a:p>
        </p:txBody>
      </p:sp>
    </p:spTree>
    <p:extLst>
      <p:ext uri="{BB962C8B-B14F-4D97-AF65-F5344CB8AC3E}">
        <p14:creationId xmlns:p14="http://schemas.microsoft.com/office/powerpoint/2010/main" val="3030598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4817</TotalTime>
  <Words>2994</Words>
  <Application>Microsoft Macintosh PowerPoint</Application>
  <PresentationFormat>Custom</PresentationFormat>
  <Paragraphs>560</Paragraphs>
  <Slides>36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-webkit-standard</vt:lpstr>
      <vt:lpstr>Arial</vt:lpstr>
      <vt:lpstr>Arial Black</vt:lpstr>
      <vt:lpstr>Calibri</vt:lpstr>
      <vt:lpstr>Monaco</vt:lpstr>
      <vt:lpstr>Wingdings</vt:lpstr>
      <vt:lpstr>Presentations (Wide Screen)</vt:lpstr>
      <vt:lpstr>Scientific Software Design</vt:lpstr>
      <vt:lpstr>License, Citation and Acknowledgements</vt:lpstr>
      <vt:lpstr>Introduction</vt:lpstr>
      <vt:lpstr>Designing Software – High Level Phases</vt:lpstr>
      <vt:lpstr>Simple Use Case</vt:lpstr>
      <vt:lpstr>Requirements gathering </vt:lpstr>
      <vt:lpstr>Decomposition</vt:lpstr>
      <vt:lpstr>Connectivity</vt:lpstr>
      <vt:lpstr>Connectivity</vt:lpstr>
      <vt:lpstr>Connectivity</vt:lpstr>
      <vt:lpstr>Connectivity</vt:lpstr>
      <vt:lpstr>Research Software Challenges</vt:lpstr>
      <vt:lpstr>Additional Considerations for Research Software</vt:lpstr>
      <vt:lpstr>More Complex Application Design – Sedov Blast Wave </vt:lpstr>
      <vt:lpstr>Deeper Dive into Requirements</vt:lpstr>
      <vt:lpstr>Components</vt:lpstr>
      <vt:lpstr>Connectivity</vt:lpstr>
      <vt:lpstr>A Design Model for Separation of Concerns</vt:lpstr>
      <vt:lpstr>Exploring design space – Abstractions</vt:lpstr>
      <vt:lpstr>Separation of Concerns Applied</vt:lpstr>
      <vt:lpstr>Takeaways so far</vt:lpstr>
      <vt:lpstr>PowerPoint Presentation</vt:lpstr>
      <vt:lpstr>Mechanisms Needed by the Code </vt:lpstr>
      <vt:lpstr>Mechanisms Needed by the Code: Example of Flash-X</vt:lpstr>
      <vt:lpstr>State of Practice – Abstractions and Runtimes</vt:lpstr>
      <vt:lpstr>State of Practice – Abstractions and Runtimes</vt:lpstr>
      <vt:lpstr>State of Practice – Abstractions and Runtimes</vt:lpstr>
      <vt:lpstr>ORCHA: Overview</vt:lpstr>
      <vt:lpstr>PowerPoint Presentation</vt:lpstr>
      <vt:lpstr>Code Generators</vt:lpstr>
      <vt:lpstr>ORCHA: Workflow</vt:lpstr>
      <vt:lpstr>ORCHA: Example 1</vt:lpstr>
      <vt:lpstr>ORCHA: Example 2</vt:lpstr>
      <vt:lpstr>ORCHA: Example 2</vt:lpstr>
      <vt:lpstr>Final takeaways</vt:lpstr>
      <vt:lpstr>References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Dubey, Anshu</cp:lastModifiedBy>
  <cp:revision>418</cp:revision>
  <cp:lastPrinted>2017-11-02T18:35:01Z</cp:lastPrinted>
  <dcterms:created xsi:type="dcterms:W3CDTF">2018-11-06T17:28:56Z</dcterms:created>
  <dcterms:modified xsi:type="dcterms:W3CDTF">2025-08-03T20:01:43Z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