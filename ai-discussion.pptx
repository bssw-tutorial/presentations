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12"/>
  </p:notesMasterIdLst>
  <p:handoutMasterIdLst>
    <p:handoutMasterId r:id="rId13"/>
  </p:handoutMasterIdLst>
  <p:sldIdLst>
    <p:sldId id="1859" r:id="rId5"/>
    <p:sldId id="1863" r:id="rId6"/>
    <p:sldId id="1864" r:id="rId7"/>
    <p:sldId id="1865" r:id="rId8"/>
    <p:sldId id="1869" r:id="rId9"/>
    <p:sldId id="1868" r:id="rId10"/>
    <p:sldId id="1867" r:id="rId11"/>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64" autoAdjust="0"/>
    <p:restoredTop sz="96571" autoAdjust="0"/>
  </p:normalViewPr>
  <p:slideViewPr>
    <p:cSldViewPr snapToGrid="0" showGuides="1">
      <p:cViewPr varScale="1">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8/13/2026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8/13/2026</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hyperlink" Target="https://cass.community/" TargetMode="External"/><Relationship Id="rId4" Type="http://schemas.microsoft.com/office/2007/relationships/hdphoto" Target="../media/hdphoto1.wdp"/><Relationship Id="rId9" Type="http://schemas.openxmlformats.org/officeDocument/2006/relationships/hyperlink" Target="https://pesoproject.org/" TargetMode="Externa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hyperlink" Target="https://cass.community/" TargetMode="External"/><Relationship Id="rId4" Type="http://schemas.openxmlformats.org/officeDocument/2006/relationships/image" Target="../media/image1.png"/><Relationship Id="rId9" Type="http://schemas.openxmlformats.org/officeDocument/2006/relationships/hyperlink" Target="https://pesoproject.org/"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8" name="Picture 7">
            <a:extLst>
              <a:ext uri="{FF2B5EF4-FFF2-40B4-BE49-F238E27FC236}">
                <a16:creationId xmlns:a16="http://schemas.microsoft.com/office/drawing/2014/main" id="{80966B56-FE91-7E43-C245-5C5A7A2A9D4D}"/>
              </a:ext>
            </a:extLst>
          </p:cNvPr>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39" name="Picture 38">
            <a:extLst>
              <a:ext uri="{FF2B5EF4-FFF2-40B4-BE49-F238E27FC236}">
                <a16:creationId xmlns:a16="http://schemas.microsoft.com/office/drawing/2014/main" id="{51935EF4-178D-44D6-4B7D-24F69985C1CF}"/>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6061" y="158509"/>
            <a:ext cx="2109916" cy="905256"/>
          </a:xfrm>
          <a:prstGeom prst="rect">
            <a:avLst/>
          </a:prstGeom>
        </p:spPr>
      </p:pic>
      <p:sp>
        <p:nvSpPr>
          <p:cNvPr id="40" name="TextBox 39">
            <a:extLst>
              <a:ext uri="{FF2B5EF4-FFF2-40B4-BE49-F238E27FC236}">
                <a16:creationId xmlns:a16="http://schemas.microsoft.com/office/drawing/2014/main" id="{74918F9C-3629-6809-9AA8-7E7844225048}"/>
              </a:ext>
            </a:extLst>
          </p:cNvPr>
          <p:cNvSpPr txBox="1"/>
          <p:nvPr userDrawn="1"/>
        </p:nvSpPr>
        <p:spPr>
          <a:xfrm>
            <a:off x="778940"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41" name="TextBox 40">
            <a:extLst>
              <a:ext uri="{FF2B5EF4-FFF2-40B4-BE49-F238E27FC236}">
                <a16:creationId xmlns:a16="http://schemas.microsoft.com/office/drawing/2014/main" id="{B764AD3E-82AC-BA71-BFAE-4F2D5228B58C}"/>
              </a:ext>
            </a:extLst>
          </p:cNvPr>
          <p:cNvSpPr txBox="1"/>
          <p:nvPr userDrawn="1"/>
        </p:nvSpPr>
        <p:spPr>
          <a:xfrm>
            <a:off x="863899" y="2646131"/>
            <a:ext cx="974241"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 of</a:t>
            </a:r>
          </a:p>
        </p:txBody>
      </p:sp>
      <p:sp>
        <p:nvSpPr>
          <p:cNvPr id="42" name="TextBox 41">
            <a:extLst>
              <a:ext uri="{FF2B5EF4-FFF2-40B4-BE49-F238E27FC236}">
                <a16:creationId xmlns:a16="http://schemas.microsoft.com/office/drawing/2014/main" id="{7B2BFBD3-2A3F-3491-AE35-C48CB2EE1259}"/>
              </a:ext>
            </a:extLst>
          </p:cNvPr>
          <p:cNvSpPr txBox="1"/>
          <p:nvPr userDrawn="1"/>
        </p:nvSpPr>
        <p:spPr>
          <a:xfrm>
            <a:off x="449522"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43" name="Group 42">
            <a:extLst>
              <a:ext uri="{FF2B5EF4-FFF2-40B4-BE49-F238E27FC236}">
                <a16:creationId xmlns:a16="http://schemas.microsoft.com/office/drawing/2014/main" id="{F4848D1F-CB11-C95C-E085-662702BD1EB5}"/>
              </a:ext>
            </a:extLst>
          </p:cNvPr>
          <p:cNvGrpSpPr/>
          <p:nvPr userDrawn="1"/>
        </p:nvGrpSpPr>
        <p:grpSpPr>
          <a:xfrm>
            <a:off x="232445" y="5027111"/>
            <a:ext cx="2237149" cy="457200"/>
            <a:chOff x="343050" y="5128711"/>
            <a:chExt cx="2237149" cy="457200"/>
          </a:xfrm>
        </p:grpSpPr>
        <p:pic>
          <p:nvPicPr>
            <p:cNvPr id="44" name="Picture 43">
              <a:extLst>
                <a:ext uri="{FF2B5EF4-FFF2-40B4-BE49-F238E27FC236}">
                  <a16:creationId xmlns:a16="http://schemas.microsoft.com/office/drawing/2014/main" id="{30605FD7-94FE-67F6-D66E-F7A7DF78FBC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45" name="Picture 44" descr="A picture containing shape&#10;&#10;Description automatically generated">
              <a:extLst>
                <a:ext uri="{FF2B5EF4-FFF2-40B4-BE49-F238E27FC236}">
                  <a16:creationId xmlns:a16="http://schemas.microsoft.com/office/drawing/2014/main" id="{0C1990C9-EB52-3C9A-245A-50CBF8115FE1}"/>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pic>
        <p:nvPicPr>
          <p:cNvPr id="46" name="Picture 2" descr="A picture containing graphics, logo, font, symbol&#10;&#10;Description automatically generated">
            <a:extLst>
              <a:ext uri="{FF2B5EF4-FFF2-40B4-BE49-F238E27FC236}">
                <a16:creationId xmlns:a16="http://schemas.microsoft.com/office/drawing/2014/main" id="{5307E9F5-7E2B-FD8A-CC67-0E7B95B4B37D}"/>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930395" y="1892144"/>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12BD9802-276C-70F8-0450-87F61091670A}"/>
              </a:ext>
            </a:extLst>
          </p:cNvPr>
          <p:cNvSpPr txBox="1"/>
          <p:nvPr userDrawn="1"/>
        </p:nvSpPr>
        <p:spPr>
          <a:xfrm>
            <a:off x="535283" y="2345298"/>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9"/>
              </a:rPr>
              <a:t>https://pesoproject.org</a:t>
            </a:r>
            <a:endParaRPr lang="en-US" sz="1050" i="1" dirty="0"/>
          </a:p>
        </p:txBody>
      </p:sp>
      <p:sp>
        <p:nvSpPr>
          <p:cNvPr id="48" name="TextBox 47">
            <a:extLst>
              <a:ext uri="{FF2B5EF4-FFF2-40B4-BE49-F238E27FC236}">
                <a16:creationId xmlns:a16="http://schemas.microsoft.com/office/drawing/2014/main" id="{0DCFA416-C1FC-C7D7-AA8B-47D3522F5C28}"/>
              </a:ext>
            </a:extLst>
          </p:cNvPr>
          <p:cNvSpPr txBox="1"/>
          <p:nvPr userDrawn="1"/>
        </p:nvSpPr>
        <p:spPr>
          <a:xfrm>
            <a:off x="48264"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0"/>
              </a:rPr>
              <a:t>https://cass.community</a:t>
            </a:r>
            <a:endParaRPr lang="en-US" sz="1200" i="1" dirty="0"/>
          </a:p>
        </p:txBody>
      </p:sp>
      <p:pic>
        <p:nvPicPr>
          <p:cNvPr id="49" name="Picture 48" descr="A picture containing arrow&#10;&#10;AI-generated content may be incorrect.">
            <a:extLst>
              <a:ext uri="{FF2B5EF4-FFF2-40B4-BE49-F238E27FC236}">
                <a16:creationId xmlns:a16="http://schemas.microsoft.com/office/drawing/2014/main" id="{BBC3DFB2-1E4B-59CB-58DE-14ACE4F01EF7}"/>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32002" y="2974535"/>
            <a:ext cx="1238034" cy="1128739"/>
          </a:xfrm>
          <a:prstGeom prst="rect">
            <a:avLst/>
          </a:prstGeom>
        </p:spPr>
      </p:pic>
    </p:spTree>
    <p:extLst>
      <p:ext uri="{BB962C8B-B14F-4D97-AF65-F5344CB8AC3E}">
        <p14:creationId xmlns:p14="http://schemas.microsoft.com/office/powerpoint/2010/main" val="7690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6" name="Picture 5">
            <a:extLst>
              <a:ext uri="{FF2B5EF4-FFF2-40B4-BE49-F238E27FC236}">
                <a16:creationId xmlns:a16="http://schemas.microsoft.com/office/drawing/2014/main" id="{0CA6E43C-9F87-C86D-A76D-A8F81B4B652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6061" y="158509"/>
            <a:ext cx="2109916" cy="905256"/>
          </a:xfrm>
          <a:prstGeom prst="rect">
            <a:avLst/>
          </a:prstGeom>
        </p:spPr>
      </p:pic>
      <p:sp>
        <p:nvSpPr>
          <p:cNvPr id="7" name="TextBox 6">
            <a:extLst>
              <a:ext uri="{FF2B5EF4-FFF2-40B4-BE49-F238E27FC236}">
                <a16:creationId xmlns:a16="http://schemas.microsoft.com/office/drawing/2014/main" id="{5249B28E-F953-42E3-3FF3-10DBAD389DB0}"/>
              </a:ext>
            </a:extLst>
          </p:cNvPr>
          <p:cNvSpPr txBox="1"/>
          <p:nvPr userDrawn="1"/>
        </p:nvSpPr>
        <p:spPr>
          <a:xfrm>
            <a:off x="778940" y="1454246"/>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8" name="TextBox 7">
            <a:extLst>
              <a:ext uri="{FF2B5EF4-FFF2-40B4-BE49-F238E27FC236}">
                <a16:creationId xmlns:a16="http://schemas.microsoft.com/office/drawing/2014/main" id="{26B1F13B-DB34-8E09-8886-D65B25DDCA8B}"/>
              </a:ext>
            </a:extLst>
          </p:cNvPr>
          <p:cNvSpPr txBox="1"/>
          <p:nvPr userDrawn="1"/>
        </p:nvSpPr>
        <p:spPr>
          <a:xfrm>
            <a:off x="863899" y="2646131"/>
            <a:ext cx="974241" cy="350865"/>
          </a:xfrm>
          <a:prstGeom prst="rect">
            <a:avLst/>
          </a:prstGeom>
          <a:noFill/>
        </p:spPr>
        <p:txBody>
          <a:bodyPr wrap="none" lIns="118872" tIns="91440" rIns="118872" bIns="91440" rtlCol="0" anchor="ctr" anchorCtr="0">
            <a:spAutoFit/>
          </a:bodyPr>
          <a:lstStyle/>
          <a:p>
            <a:pPr algn="l">
              <a:lnSpc>
                <a:spcPct val="90000"/>
              </a:lnSpc>
            </a:pPr>
            <a:r>
              <a:rPr lang="en-US" sz="1200" i="1" dirty="0"/>
              <a:t>Member of</a:t>
            </a:r>
          </a:p>
        </p:txBody>
      </p:sp>
      <p:sp>
        <p:nvSpPr>
          <p:cNvPr id="9" name="TextBox 8">
            <a:extLst>
              <a:ext uri="{FF2B5EF4-FFF2-40B4-BE49-F238E27FC236}">
                <a16:creationId xmlns:a16="http://schemas.microsoft.com/office/drawing/2014/main" id="{CF7400E1-CF65-0807-2769-C568A13015C6}"/>
              </a:ext>
            </a:extLst>
          </p:cNvPr>
          <p:cNvSpPr txBox="1"/>
          <p:nvPr userDrawn="1"/>
        </p:nvSpPr>
        <p:spPr>
          <a:xfrm>
            <a:off x="449522" y="4624321"/>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10" name="Group 9">
            <a:extLst>
              <a:ext uri="{FF2B5EF4-FFF2-40B4-BE49-F238E27FC236}">
                <a16:creationId xmlns:a16="http://schemas.microsoft.com/office/drawing/2014/main" id="{2F98E142-1030-AEF2-4514-C348DAB76F27}"/>
              </a:ext>
            </a:extLst>
          </p:cNvPr>
          <p:cNvGrpSpPr/>
          <p:nvPr userDrawn="1"/>
        </p:nvGrpSpPr>
        <p:grpSpPr>
          <a:xfrm>
            <a:off x="232445" y="5027111"/>
            <a:ext cx="2237149" cy="457200"/>
            <a:chOff x="343050" y="5128711"/>
            <a:chExt cx="2237149" cy="457200"/>
          </a:xfrm>
        </p:grpSpPr>
        <p:pic>
          <p:nvPicPr>
            <p:cNvPr id="11" name="Picture 10">
              <a:extLst>
                <a:ext uri="{FF2B5EF4-FFF2-40B4-BE49-F238E27FC236}">
                  <a16:creationId xmlns:a16="http://schemas.microsoft.com/office/drawing/2014/main" id="{3A590056-0CFC-F443-E68E-C1CFA114ABC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5" name="Picture 14" descr="A picture containing shape&#10;&#10;Description automatically generated">
              <a:extLst>
                <a:ext uri="{FF2B5EF4-FFF2-40B4-BE49-F238E27FC236}">
                  <a16:creationId xmlns:a16="http://schemas.microsoft.com/office/drawing/2014/main" id="{B0B7B05E-4A9D-FFF5-786C-E5B7D97CC18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pic>
        <p:nvPicPr>
          <p:cNvPr id="17" name="Picture 2" descr="A picture containing graphics, logo, font, symbol&#10;&#10;Description automatically generated">
            <a:extLst>
              <a:ext uri="{FF2B5EF4-FFF2-40B4-BE49-F238E27FC236}">
                <a16:creationId xmlns:a16="http://schemas.microsoft.com/office/drawing/2014/main" id="{A09466AB-F88B-AD1D-7763-A151D1C25951}"/>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930395" y="1892144"/>
            <a:ext cx="841248" cy="52337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F01A4ABF-6FC0-4B72-D8A5-4A3E69EFE214}"/>
              </a:ext>
            </a:extLst>
          </p:cNvPr>
          <p:cNvSpPr txBox="1"/>
          <p:nvPr userDrawn="1"/>
        </p:nvSpPr>
        <p:spPr>
          <a:xfrm>
            <a:off x="535283" y="2345298"/>
            <a:ext cx="1631472" cy="337015"/>
          </a:xfrm>
          <a:prstGeom prst="rect">
            <a:avLst/>
          </a:prstGeom>
          <a:noFill/>
        </p:spPr>
        <p:txBody>
          <a:bodyPr wrap="none" lIns="118872" tIns="91440" rIns="118872" bIns="91440" rtlCol="0" anchor="ctr" anchorCtr="0">
            <a:spAutoFit/>
          </a:bodyPr>
          <a:lstStyle/>
          <a:p>
            <a:pPr algn="l">
              <a:lnSpc>
                <a:spcPct val="90000"/>
              </a:lnSpc>
            </a:pPr>
            <a:r>
              <a:rPr lang="en-US" sz="1050" i="1" dirty="0">
                <a:hlinkClick r:id="rId9"/>
              </a:rPr>
              <a:t>https://pesoproject.org</a:t>
            </a:r>
            <a:endParaRPr lang="en-US" sz="1050" i="1" dirty="0"/>
          </a:p>
        </p:txBody>
      </p:sp>
      <p:sp>
        <p:nvSpPr>
          <p:cNvPr id="20" name="TextBox 19">
            <a:extLst>
              <a:ext uri="{FF2B5EF4-FFF2-40B4-BE49-F238E27FC236}">
                <a16:creationId xmlns:a16="http://schemas.microsoft.com/office/drawing/2014/main" id="{6DB022F4-F380-6EEB-273E-37FC41233A38}"/>
              </a:ext>
            </a:extLst>
          </p:cNvPr>
          <p:cNvSpPr txBox="1"/>
          <p:nvPr userDrawn="1"/>
        </p:nvSpPr>
        <p:spPr>
          <a:xfrm>
            <a:off x="48264" y="4011401"/>
            <a:ext cx="2605511" cy="655564"/>
          </a:xfrm>
          <a:prstGeom prst="rect">
            <a:avLst/>
          </a:prstGeom>
          <a:noFill/>
        </p:spPr>
        <p:txBody>
          <a:bodyPr wrap="square" lIns="118872" tIns="91440" rIns="118872" bIns="91440" rtlCol="0" anchor="ctr" anchorCtr="0">
            <a:spAutoFit/>
          </a:bodyPr>
          <a:lstStyle/>
          <a:p>
            <a:pPr algn="ctr">
              <a:lnSpc>
                <a:spcPct val="90000"/>
              </a:lnSpc>
            </a:pPr>
            <a:r>
              <a:rPr lang="en-US" sz="1200" i="1" dirty="0"/>
              <a:t>Consortium for the Advancement of Scientific Software</a:t>
            </a:r>
            <a:br>
              <a:rPr lang="en-US" sz="1200" i="1" dirty="0"/>
            </a:br>
            <a:r>
              <a:rPr lang="en-US" sz="1000" i="1" dirty="0">
                <a:hlinkClick r:id="rId10"/>
              </a:rPr>
              <a:t>https://cass.community</a:t>
            </a:r>
            <a:endParaRPr lang="en-US" sz="1200" i="1" dirty="0"/>
          </a:p>
        </p:txBody>
      </p:sp>
      <p:pic>
        <p:nvPicPr>
          <p:cNvPr id="21" name="Picture 20" descr="A picture containing arrow&#10;&#10;AI-generated content may be incorrect.">
            <a:extLst>
              <a:ext uri="{FF2B5EF4-FFF2-40B4-BE49-F238E27FC236}">
                <a16:creationId xmlns:a16="http://schemas.microsoft.com/office/drawing/2014/main" id="{5E4E7A72-5673-B174-7A06-800610621F29}"/>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32002" y="2974535"/>
            <a:ext cx="1238034" cy="1128739"/>
          </a:xfrm>
          <a:prstGeom prst="rect">
            <a:avLst/>
          </a:prstGeom>
        </p:spPr>
      </p:pic>
    </p:spTree>
    <p:extLst>
      <p:ext uri="{BB962C8B-B14F-4D97-AF65-F5344CB8AC3E}">
        <p14:creationId xmlns:p14="http://schemas.microsoft.com/office/powerpoint/2010/main" val="107125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3" r:id="rId1"/>
    <p:sldLayoutId id="2147483952"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doi.org/10.6084/m9.figshare.3313991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D424-A667-46AE-4FD2-92C429F03955}"/>
              </a:ext>
            </a:extLst>
          </p:cNvPr>
          <p:cNvSpPr>
            <a:spLocks noGrp="1"/>
          </p:cNvSpPr>
          <p:nvPr>
            <p:ph type="ctrTitle"/>
          </p:nvPr>
        </p:nvSpPr>
        <p:spPr/>
        <p:txBody>
          <a:bodyPr/>
          <a:lstStyle/>
          <a:p>
            <a:r>
              <a:rPr lang="en-US" dirty="0"/>
              <a:t>AI for Software Development and Maintenance</a:t>
            </a:r>
          </a:p>
        </p:txBody>
      </p:sp>
      <p:sp>
        <p:nvSpPr>
          <p:cNvPr id="4" name="Text Placeholder 3">
            <a:extLst>
              <a:ext uri="{FF2B5EF4-FFF2-40B4-BE49-F238E27FC236}">
                <a16:creationId xmlns:a16="http://schemas.microsoft.com/office/drawing/2014/main" id="{8E36A7A1-F680-92C6-F3A1-5D7F255B135E}"/>
              </a:ext>
            </a:extLst>
          </p:cNvPr>
          <p:cNvSpPr>
            <a:spLocks noGrp="1"/>
          </p:cNvSpPr>
          <p:nvPr>
            <p:ph type="body" sz="quarter" idx="11"/>
          </p:nvPr>
        </p:nvSpPr>
        <p:spPr>
          <a:xfrm>
            <a:off x="3176924" y="2085870"/>
            <a:ext cx="2752677" cy="424732"/>
          </a:xfrm>
        </p:spPr>
        <p:txBody>
          <a:bodyPr/>
          <a:lstStyle/>
          <a:p>
            <a:r>
              <a:rPr lang="en-US" dirty="0"/>
              <a:t>David E. Bernholdt</a:t>
            </a:r>
          </a:p>
        </p:txBody>
      </p:sp>
      <p:sp>
        <p:nvSpPr>
          <p:cNvPr id="5" name="Text Placeholder 4">
            <a:extLst>
              <a:ext uri="{FF2B5EF4-FFF2-40B4-BE49-F238E27FC236}">
                <a16:creationId xmlns:a16="http://schemas.microsoft.com/office/drawing/2014/main" id="{1EA6297E-8D90-11A0-FC14-35A285467E5A}"/>
              </a:ext>
            </a:extLst>
          </p:cNvPr>
          <p:cNvSpPr>
            <a:spLocks noGrp="1"/>
          </p:cNvSpPr>
          <p:nvPr>
            <p:ph type="body" sz="quarter" idx="12"/>
          </p:nvPr>
        </p:nvSpPr>
        <p:spPr>
          <a:xfrm>
            <a:off x="5909437" y="2134517"/>
            <a:ext cx="1690167" cy="376085"/>
          </a:xfrm>
        </p:spPr>
        <p:txBody>
          <a:bodyPr/>
          <a:lstStyle/>
          <a:p>
            <a:r>
              <a:rPr lang="en-US" dirty="0"/>
              <a:t>(he/him)</a:t>
            </a:r>
          </a:p>
        </p:txBody>
      </p:sp>
      <p:sp>
        <p:nvSpPr>
          <p:cNvPr id="6" name="Text Placeholder 5">
            <a:extLst>
              <a:ext uri="{FF2B5EF4-FFF2-40B4-BE49-F238E27FC236}">
                <a16:creationId xmlns:a16="http://schemas.microsoft.com/office/drawing/2014/main" id="{D3C34BE2-2AC9-6E78-5645-4833849B1A63}"/>
              </a:ext>
            </a:extLst>
          </p:cNvPr>
          <p:cNvSpPr>
            <a:spLocks noGrp="1"/>
          </p:cNvSpPr>
          <p:nvPr>
            <p:ph type="body" sz="quarter" idx="13"/>
          </p:nvPr>
        </p:nvSpPr>
        <p:spPr/>
        <p:txBody>
          <a:bodyPr/>
          <a:lstStyle/>
          <a:p>
            <a:r>
              <a:rPr lang="en-US" dirty="0"/>
              <a:t>Oak Ridge National Laboratory</a:t>
            </a:r>
          </a:p>
        </p:txBody>
      </p:sp>
      <p:sp>
        <p:nvSpPr>
          <p:cNvPr id="7" name="Text Placeholder 6">
            <a:extLst>
              <a:ext uri="{FF2B5EF4-FFF2-40B4-BE49-F238E27FC236}">
                <a16:creationId xmlns:a16="http://schemas.microsoft.com/office/drawing/2014/main" id="{FEC7102F-7E34-103F-335F-B318D257216D}"/>
              </a:ext>
            </a:extLst>
          </p:cNvPr>
          <p:cNvSpPr>
            <a:spLocks noGrp="1"/>
          </p:cNvSpPr>
          <p:nvPr>
            <p:ph type="body" sz="quarter" idx="14"/>
          </p:nvPr>
        </p:nvSpPr>
        <p:spPr>
          <a:xfrm>
            <a:off x="3176925" y="2972888"/>
            <a:ext cx="8292316" cy="646331"/>
          </a:xfrm>
        </p:spPr>
        <p:txBody>
          <a:bodyPr/>
          <a:lstStyle/>
          <a:p>
            <a:pPr>
              <a:spcBef>
                <a:spcPts val="2800"/>
              </a:spcBef>
            </a:pPr>
            <a:r>
              <a:rPr lang="en-US" dirty="0"/>
              <a:t>Software Sustainability track @ Argonne Training Program on Extreme-Scale Computing summer school</a:t>
            </a:r>
            <a:endParaRPr lang="en-US" sz="2000" b="0" i="0" dirty="0">
              <a:solidFill>
                <a:srgbClr val="111111"/>
              </a:solidFill>
              <a:effectLst/>
              <a:latin typeface="+mn-lt"/>
            </a:endParaRPr>
          </a:p>
        </p:txBody>
      </p:sp>
      <p:sp>
        <p:nvSpPr>
          <p:cNvPr id="8" name="Text Placeholder 7">
            <a:extLst>
              <a:ext uri="{FF2B5EF4-FFF2-40B4-BE49-F238E27FC236}">
                <a16:creationId xmlns:a16="http://schemas.microsoft.com/office/drawing/2014/main" id="{E95D1AF7-A6BA-7684-426F-60FFD7CB9E17}"/>
              </a:ext>
            </a:extLst>
          </p:cNvPr>
          <p:cNvSpPr>
            <a:spLocks noGrp="1"/>
          </p:cNvSpPr>
          <p:nvPr>
            <p:ph type="body" sz="quarter" idx="15"/>
          </p:nvPr>
        </p:nvSpPr>
        <p:spPr>
          <a:xfrm>
            <a:off x="3176924" y="4257408"/>
            <a:ext cx="8292316" cy="369332"/>
          </a:xfrm>
        </p:spPr>
        <p:txBody>
          <a:bodyPr/>
          <a:lstStyle/>
          <a:p>
            <a:endParaRPr lang="en-US" sz="2000" dirty="0"/>
          </a:p>
        </p:txBody>
      </p:sp>
      <p:sp>
        <p:nvSpPr>
          <p:cNvPr id="10" name="Text Placeholder 9">
            <a:extLst>
              <a:ext uri="{FF2B5EF4-FFF2-40B4-BE49-F238E27FC236}">
                <a16:creationId xmlns:a16="http://schemas.microsoft.com/office/drawing/2014/main" id="{7BC551D1-A9E0-FE59-9346-863EA304E48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8706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411282"/>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868482"/>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David E. Bernholdt, Software Sustainability track, in Argonne Training Program on Extreme-Scale Computing, St. Charles, Illinois, 2026. DOI: </a:t>
            </a:r>
            <a:r>
              <a:rPr lang="en-US" sz="1600" dirty="0">
                <a:hlinkClick r:id="rId4"/>
              </a:rPr>
              <a:t>10.6084/m9.figshare.33139910</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Next-Generation Scientific Software Technologies (NGSST) and Scientific Discovery through Advanced Computing (</a:t>
            </a:r>
            <a:r>
              <a:rPr lang="en-US" sz="1400" dirty="0" err="1"/>
              <a:t>SciDAC</a:t>
            </a:r>
            <a:r>
              <a:rPr lang="en-US" sz="1400" dirty="0"/>
              <a:t>) programs.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C442-6CEC-8526-A0FD-5EDEE69B1F67}"/>
              </a:ext>
            </a:extLst>
          </p:cNvPr>
          <p:cNvSpPr>
            <a:spLocks noGrp="1"/>
          </p:cNvSpPr>
          <p:nvPr>
            <p:ph type="title"/>
          </p:nvPr>
        </p:nvSpPr>
        <p:spPr/>
        <p:txBody>
          <a:bodyPr/>
          <a:lstStyle/>
          <a:p>
            <a:r>
              <a:rPr lang="en-US" dirty="0"/>
              <a:t>AI is a New Tool for Scientific Software, and Rapidly Evolving</a:t>
            </a:r>
          </a:p>
        </p:txBody>
      </p:sp>
      <p:sp>
        <p:nvSpPr>
          <p:cNvPr id="3" name="Content Placeholder 2">
            <a:extLst>
              <a:ext uri="{FF2B5EF4-FFF2-40B4-BE49-F238E27FC236}">
                <a16:creationId xmlns:a16="http://schemas.microsoft.com/office/drawing/2014/main" id="{981E462A-3D4B-BB88-FB60-99E290710920}"/>
              </a:ext>
            </a:extLst>
          </p:cNvPr>
          <p:cNvSpPr>
            <a:spLocks noGrp="1"/>
          </p:cNvSpPr>
          <p:nvPr>
            <p:ph idx="1"/>
          </p:nvPr>
        </p:nvSpPr>
        <p:spPr/>
        <p:txBody>
          <a:bodyPr/>
          <a:lstStyle/>
          <a:p>
            <a:r>
              <a:rPr lang="en-US" dirty="0"/>
              <a:t>This session is meant to be an exploration of current usage (or not) of AI tools in developing and maintaining scientific software, and resulting experiences (good or bad)</a:t>
            </a:r>
          </a:p>
          <a:p>
            <a:pPr lvl="1"/>
            <a:r>
              <a:rPr lang="en-US" dirty="0"/>
              <a:t>Focus on using AI in conjunction with the software per se, distinct from from using AI tools as part of the scientific approach (e.g., hypothesis generation, research assistant, surrogate models, classification, analysis, etc.)</a:t>
            </a:r>
          </a:p>
          <a:p>
            <a:r>
              <a:rPr lang="en-US" dirty="0"/>
              <a:t>I am not advocating for any particular approach or usage model</a:t>
            </a:r>
          </a:p>
          <a:p>
            <a:r>
              <a:rPr lang="en-US" dirty="0"/>
              <a:t>This session is short, so we won’t be able to have detailed discussions</a:t>
            </a:r>
          </a:p>
          <a:p>
            <a:pPr lvl="1"/>
            <a:r>
              <a:rPr lang="en-US" dirty="0"/>
              <a:t>Mostly looking for shows of hands</a:t>
            </a:r>
          </a:p>
          <a:p>
            <a:pPr lvl="1"/>
            <a:r>
              <a:rPr lang="en-US" dirty="0"/>
              <a:t>With a few examples or clarifying comments (keep them brief)</a:t>
            </a:r>
          </a:p>
        </p:txBody>
      </p:sp>
    </p:spTree>
    <p:extLst>
      <p:ext uri="{BB962C8B-B14F-4D97-AF65-F5344CB8AC3E}">
        <p14:creationId xmlns:p14="http://schemas.microsoft.com/office/powerpoint/2010/main" val="4053055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C2744-2C76-C08A-FBDB-382AFBA69759}"/>
              </a:ext>
            </a:extLst>
          </p:cNvPr>
          <p:cNvSpPr>
            <a:spLocks noGrp="1"/>
          </p:cNvSpPr>
          <p:nvPr>
            <p:ph type="title"/>
          </p:nvPr>
        </p:nvSpPr>
        <p:spPr/>
        <p:txBody>
          <a:bodyPr/>
          <a:lstStyle/>
          <a:p>
            <a:r>
              <a:rPr lang="en-US" dirty="0"/>
              <a:t>What are you Using (or Experimenting with) AI For?</a:t>
            </a:r>
          </a:p>
        </p:txBody>
      </p:sp>
      <p:sp>
        <p:nvSpPr>
          <p:cNvPr id="3" name="Content Placeholder 2">
            <a:extLst>
              <a:ext uri="{FF2B5EF4-FFF2-40B4-BE49-F238E27FC236}">
                <a16:creationId xmlns:a16="http://schemas.microsoft.com/office/drawing/2014/main" id="{2CEB4401-A1A8-6436-1057-A6B6C82B0303}"/>
              </a:ext>
            </a:extLst>
          </p:cNvPr>
          <p:cNvSpPr>
            <a:spLocks noGrp="1"/>
          </p:cNvSpPr>
          <p:nvPr>
            <p:ph idx="1"/>
          </p:nvPr>
        </p:nvSpPr>
        <p:spPr>
          <a:xfrm>
            <a:off x="365760" y="1194922"/>
            <a:ext cx="11369809" cy="4047778"/>
          </a:xfrm>
        </p:spPr>
        <p:txBody>
          <a:bodyPr/>
          <a:lstStyle/>
          <a:p>
            <a:r>
              <a:rPr lang="en-US" dirty="0"/>
              <a:t>Understanding existing code</a:t>
            </a:r>
          </a:p>
          <a:p>
            <a:r>
              <a:rPr lang="en-US" dirty="0"/>
              <a:t>Debugging code</a:t>
            </a:r>
          </a:p>
          <a:p>
            <a:r>
              <a:rPr lang="en-US" dirty="0"/>
              <a:t>Performance engineering</a:t>
            </a:r>
          </a:p>
          <a:p>
            <a:r>
              <a:rPr lang="en-US" dirty="0"/>
              <a:t>Peripheral maintenance tasks</a:t>
            </a:r>
          </a:p>
          <a:p>
            <a:pPr lvl="1">
              <a:spcBef>
                <a:spcPts val="200"/>
              </a:spcBef>
            </a:pPr>
            <a:r>
              <a:rPr lang="en-US" dirty="0"/>
              <a:t>E.g., documentation and other tasks that don’t directly involve the code itself</a:t>
            </a:r>
          </a:p>
          <a:p>
            <a:r>
              <a:rPr lang="en-US" dirty="0"/>
              <a:t>Code reviews</a:t>
            </a:r>
          </a:p>
          <a:p>
            <a:r>
              <a:rPr lang="en-US" dirty="0"/>
              <a:t>Modifying or generating code</a:t>
            </a:r>
          </a:p>
          <a:p>
            <a:pPr lvl="1">
              <a:spcBef>
                <a:spcPts val="200"/>
              </a:spcBef>
            </a:pPr>
            <a:r>
              <a:rPr lang="en-US" dirty="0"/>
              <a:t>Test generation</a:t>
            </a:r>
          </a:p>
          <a:p>
            <a:pPr lvl="1">
              <a:spcBef>
                <a:spcPts val="200"/>
              </a:spcBef>
            </a:pPr>
            <a:r>
              <a:rPr lang="en-US" dirty="0"/>
              <a:t>Refactoring code (i.e., changing code without changing functionality)</a:t>
            </a:r>
          </a:p>
          <a:p>
            <a:pPr lvl="1">
              <a:spcBef>
                <a:spcPts val="200"/>
              </a:spcBef>
            </a:pPr>
            <a:r>
              <a:rPr lang="en-US" dirty="0"/>
              <a:t>Adding new features</a:t>
            </a:r>
          </a:p>
          <a:p>
            <a:pPr lvl="1">
              <a:spcBef>
                <a:spcPts val="200"/>
              </a:spcBef>
            </a:pPr>
            <a:r>
              <a:rPr lang="en-US" dirty="0"/>
              <a:t>Implementation advice (e.g., investigating algorithms, getting help with APIs, etc.) </a:t>
            </a:r>
          </a:p>
          <a:p>
            <a:pPr lvl="1">
              <a:spcBef>
                <a:spcPts val="200"/>
              </a:spcBef>
            </a:pPr>
            <a:r>
              <a:rPr lang="en-US" dirty="0"/>
              <a:t>Generating non-trivial new code bases from scratch (i.e., vibe coding)</a:t>
            </a:r>
          </a:p>
          <a:p>
            <a:r>
              <a:rPr lang="en-US" dirty="0"/>
              <a:t>Other uses</a:t>
            </a:r>
          </a:p>
        </p:txBody>
      </p:sp>
    </p:spTree>
    <p:extLst>
      <p:ext uri="{BB962C8B-B14F-4D97-AF65-F5344CB8AC3E}">
        <p14:creationId xmlns:p14="http://schemas.microsoft.com/office/powerpoint/2010/main" val="136885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BD9B0-F835-7E54-CEB2-6CDA40790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4789D-00C7-D723-9DAB-EA7682A7DFED}"/>
              </a:ext>
            </a:extLst>
          </p:cNvPr>
          <p:cNvSpPr>
            <a:spLocks noGrp="1"/>
          </p:cNvSpPr>
          <p:nvPr>
            <p:ph type="title"/>
          </p:nvPr>
        </p:nvSpPr>
        <p:spPr/>
        <p:txBody>
          <a:bodyPr/>
          <a:lstStyle/>
          <a:p>
            <a:r>
              <a:rPr lang="en-US" dirty="0"/>
              <a:t>AI in Projects?</a:t>
            </a:r>
          </a:p>
        </p:txBody>
      </p:sp>
      <p:sp>
        <p:nvSpPr>
          <p:cNvPr id="3" name="Content Placeholder 2">
            <a:extLst>
              <a:ext uri="{FF2B5EF4-FFF2-40B4-BE49-F238E27FC236}">
                <a16:creationId xmlns:a16="http://schemas.microsoft.com/office/drawing/2014/main" id="{EF78A02C-AB0D-8767-6F3E-776E6FCCEE97}"/>
              </a:ext>
            </a:extLst>
          </p:cNvPr>
          <p:cNvSpPr>
            <a:spLocks noGrp="1"/>
          </p:cNvSpPr>
          <p:nvPr>
            <p:ph idx="1"/>
          </p:nvPr>
        </p:nvSpPr>
        <p:spPr>
          <a:xfrm>
            <a:off x="365760" y="939201"/>
            <a:ext cx="11369809" cy="4047778"/>
          </a:xfrm>
        </p:spPr>
        <p:txBody>
          <a:bodyPr/>
          <a:lstStyle/>
          <a:p>
            <a:r>
              <a:rPr lang="en-US" b="1" dirty="0"/>
              <a:t>Level of formality</a:t>
            </a:r>
          </a:p>
          <a:p>
            <a:pPr lvl="1"/>
            <a:r>
              <a:rPr lang="en-US" dirty="0"/>
              <a:t>My AI activities are for personal use only – nobody else has access to the results</a:t>
            </a:r>
          </a:p>
          <a:p>
            <a:pPr lvl="1"/>
            <a:r>
              <a:rPr lang="en-US" dirty="0"/>
              <a:t>My AI activities relate to a larger project, but nobody else knows (or cares) that I’m using AI</a:t>
            </a:r>
          </a:p>
          <a:p>
            <a:pPr lvl="1"/>
            <a:r>
              <a:rPr lang="en-US" dirty="0"/>
              <a:t>Some or all of my project team is using AI, but there are no project-level policies or strategies</a:t>
            </a:r>
          </a:p>
          <a:p>
            <a:pPr lvl="1"/>
            <a:r>
              <a:rPr lang="en-US" dirty="0"/>
              <a:t>My project has discussed? defined? documented? AI usage strategies and/or policies</a:t>
            </a:r>
          </a:p>
          <a:p>
            <a:r>
              <a:rPr lang="en-US" b="1" dirty="0"/>
              <a:t>Acceptance of AI-generated code</a:t>
            </a:r>
          </a:p>
          <a:p>
            <a:pPr lvl="1"/>
            <a:r>
              <a:rPr lang="en-US" dirty="0"/>
              <a:t>My project will not accept it (e.g., licensing concerns, ethical concerns, etc.)</a:t>
            </a:r>
          </a:p>
          <a:p>
            <a:pPr lvl="1"/>
            <a:r>
              <a:rPr lang="en-US" dirty="0"/>
              <a:t>My project accepts it without any special annotation or acknowledgment</a:t>
            </a:r>
          </a:p>
          <a:p>
            <a:pPr lvl="1"/>
            <a:r>
              <a:rPr lang="en-US" dirty="0"/>
              <a:t>My project accepts it only if it is clearly marked as such</a:t>
            </a:r>
          </a:p>
          <a:p>
            <a:r>
              <a:rPr lang="en-US" dirty="0"/>
              <a:t>AI-code gets more?  less? similar? scrutiny than human-written code in my project</a:t>
            </a:r>
          </a:p>
          <a:p>
            <a:r>
              <a:rPr lang="en-US" dirty="0"/>
              <a:t>I’m aware of the legal implications of AI-generated code</a:t>
            </a:r>
          </a:p>
          <a:p>
            <a:pPr lvl="1"/>
            <a:r>
              <a:rPr lang="en-US" dirty="0"/>
              <a:t>Copyrightability and licensing</a:t>
            </a:r>
          </a:p>
          <a:p>
            <a:pPr lvl="1"/>
            <a:r>
              <a:rPr lang="en-US" dirty="0"/>
              <a:t>Concerns over licensing of training sources</a:t>
            </a:r>
          </a:p>
        </p:txBody>
      </p:sp>
    </p:spTree>
    <p:extLst>
      <p:ext uri="{BB962C8B-B14F-4D97-AF65-F5344CB8AC3E}">
        <p14:creationId xmlns:p14="http://schemas.microsoft.com/office/powerpoint/2010/main" val="3914113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BFC4-5778-C3A0-AE9B-8D7EAF834DD3}"/>
              </a:ext>
            </a:extLst>
          </p:cNvPr>
          <p:cNvSpPr>
            <a:spLocks noGrp="1"/>
          </p:cNvSpPr>
          <p:nvPr>
            <p:ph type="title"/>
          </p:nvPr>
        </p:nvSpPr>
        <p:spPr/>
        <p:txBody>
          <a:bodyPr/>
          <a:lstStyle/>
          <a:p>
            <a:r>
              <a:rPr lang="en-US" dirty="0"/>
              <a:t>Your Experience of AI for Software Maintenance and Development, to Date?</a:t>
            </a:r>
          </a:p>
        </p:txBody>
      </p:sp>
      <p:sp>
        <p:nvSpPr>
          <p:cNvPr id="3" name="Content Placeholder 2">
            <a:extLst>
              <a:ext uri="{FF2B5EF4-FFF2-40B4-BE49-F238E27FC236}">
                <a16:creationId xmlns:a16="http://schemas.microsoft.com/office/drawing/2014/main" id="{FACD0B69-BDC1-86DC-0BE7-B1CCA49AA532}"/>
              </a:ext>
            </a:extLst>
          </p:cNvPr>
          <p:cNvSpPr>
            <a:spLocks noGrp="1"/>
          </p:cNvSpPr>
          <p:nvPr>
            <p:ph idx="1"/>
          </p:nvPr>
        </p:nvSpPr>
        <p:spPr/>
        <p:txBody>
          <a:bodyPr/>
          <a:lstStyle/>
          <a:p>
            <a:r>
              <a:rPr lang="en-US" dirty="0"/>
              <a:t>I’m using commercial? free/open? LLMs</a:t>
            </a:r>
          </a:p>
          <a:p>
            <a:r>
              <a:rPr lang="en-US" dirty="0"/>
              <a:t>I’m using general? specialist (i.e., code-focused)? LLMs</a:t>
            </a:r>
          </a:p>
          <a:p>
            <a:pPr>
              <a:spcBef>
                <a:spcPts val="2800"/>
              </a:spcBef>
            </a:pPr>
            <a:r>
              <a:rPr lang="en-US" dirty="0"/>
              <a:t>The good?</a:t>
            </a:r>
          </a:p>
          <a:p>
            <a:r>
              <a:rPr lang="en-US" dirty="0"/>
              <a:t>The bad?</a:t>
            </a:r>
          </a:p>
          <a:p>
            <a:pPr>
              <a:spcBef>
                <a:spcPts val="2800"/>
              </a:spcBef>
            </a:pPr>
            <a:r>
              <a:rPr lang="en-US" dirty="0"/>
              <a:t>Is it hype or is it real?</a:t>
            </a:r>
          </a:p>
          <a:p>
            <a:r>
              <a:rPr lang="en-US" dirty="0"/>
              <a:t>Does AI </a:t>
            </a:r>
            <a:r>
              <a:rPr lang="en-US" i="1" dirty="0"/>
              <a:t>for software maintenance and development </a:t>
            </a:r>
            <a:r>
              <a:rPr lang="en-US" dirty="0"/>
              <a:t>help or hurt your science, overall?</a:t>
            </a:r>
          </a:p>
          <a:p>
            <a:pPr>
              <a:spcBef>
                <a:spcPts val="2800"/>
              </a:spcBef>
            </a:pPr>
            <a:r>
              <a:rPr lang="en-US" dirty="0"/>
              <a:t>I wish…</a:t>
            </a:r>
          </a:p>
        </p:txBody>
      </p:sp>
    </p:spTree>
    <p:extLst>
      <p:ext uri="{BB962C8B-B14F-4D97-AF65-F5344CB8AC3E}">
        <p14:creationId xmlns:p14="http://schemas.microsoft.com/office/powerpoint/2010/main" val="312987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7DEA9-6DCA-80AE-20A9-98FE3B7C0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2079F-4A03-4D15-6A6F-75E2936BF3C3}"/>
              </a:ext>
            </a:extLst>
          </p:cNvPr>
          <p:cNvSpPr>
            <a:spLocks noGrp="1"/>
          </p:cNvSpPr>
          <p:nvPr>
            <p:ph type="title"/>
          </p:nvPr>
        </p:nvSpPr>
        <p:spPr/>
        <p:txBody>
          <a:bodyPr/>
          <a:lstStyle/>
          <a:p>
            <a:r>
              <a:rPr lang="en-US" dirty="0"/>
              <a:t>Final Discussion</a:t>
            </a:r>
          </a:p>
        </p:txBody>
      </p:sp>
      <p:sp>
        <p:nvSpPr>
          <p:cNvPr id="3" name="Content Placeholder 2">
            <a:extLst>
              <a:ext uri="{FF2B5EF4-FFF2-40B4-BE49-F238E27FC236}">
                <a16:creationId xmlns:a16="http://schemas.microsoft.com/office/drawing/2014/main" id="{7FBA17D7-ECBE-4604-A10C-2C9D92C9FC14}"/>
              </a:ext>
            </a:extLst>
          </p:cNvPr>
          <p:cNvSpPr>
            <a:spLocks noGrp="1"/>
          </p:cNvSpPr>
          <p:nvPr>
            <p:ph idx="1"/>
          </p:nvPr>
        </p:nvSpPr>
        <p:spPr/>
        <p:txBody>
          <a:bodyPr/>
          <a:lstStyle/>
          <a:p>
            <a:pPr marL="0" indent="0">
              <a:spcBef>
                <a:spcPts val="2800"/>
              </a:spcBef>
              <a:buNone/>
            </a:pPr>
            <a:r>
              <a:rPr lang="en-US" b="1" dirty="0"/>
              <a:t>Strawman</a:t>
            </a:r>
          </a:p>
          <a:p>
            <a:pPr marL="0" indent="0">
              <a:buNone/>
            </a:pPr>
            <a:r>
              <a:rPr lang="en-US" b="1" i="1" dirty="0"/>
              <a:t>The availability of AI tools doesn’t fundamentally change our expectations of “good” scientific software and “good” development/maintenance practices – it merely changes how they might be achieved</a:t>
            </a:r>
          </a:p>
          <a:p>
            <a:pPr>
              <a:spcBef>
                <a:spcPts val="2800"/>
              </a:spcBef>
            </a:pPr>
            <a:r>
              <a:rPr lang="en-US" dirty="0"/>
              <a:t>If you disagree, what expectations need to change to accommodate AI?</a:t>
            </a:r>
          </a:p>
          <a:p>
            <a:r>
              <a:rPr lang="en-US" dirty="0"/>
              <a:t>If you agree, what should we be doing to ensure we produce good software with AI help?</a:t>
            </a:r>
          </a:p>
        </p:txBody>
      </p:sp>
    </p:spTree>
    <p:extLst>
      <p:ext uri="{BB962C8B-B14F-4D97-AF65-F5344CB8AC3E}">
        <p14:creationId xmlns:p14="http://schemas.microsoft.com/office/powerpoint/2010/main" val="1209302283"/>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2.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4412</TotalTime>
  <Words>938</Words>
  <Application>Microsoft Office PowerPoint</Application>
  <PresentationFormat>Custom</PresentationFormat>
  <Paragraphs>66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Arial Black</vt:lpstr>
      <vt:lpstr>Calibri</vt:lpstr>
      <vt:lpstr>Presentations (Wide Screen)</vt:lpstr>
      <vt:lpstr>AI for Software Development and Maintenance</vt:lpstr>
      <vt:lpstr>License, Citation and Acknowledgements</vt:lpstr>
      <vt:lpstr>AI is a New Tool for Scientific Software, and Rapidly Evolving</vt:lpstr>
      <vt:lpstr>What are you Using (or Experimenting with) AI For?</vt:lpstr>
      <vt:lpstr>AI in Projects?</vt:lpstr>
      <vt:lpstr>Your Experience of AI for Software Maintenance and Development, to Date?</vt:lpstr>
      <vt:lpstr>Final Discussion</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537</cp:revision>
  <cp:lastPrinted>2017-11-02T18:35:01Z</cp:lastPrinted>
  <dcterms:created xsi:type="dcterms:W3CDTF">2018-11-06T17:28:56Z</dcterms:created>
  <dcterms:modified xsi:type="dcterms:W3CDTF">2026-08-13T13:42:28Z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