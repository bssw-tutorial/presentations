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1.xml" ContentType="application/vnd.openxmlformats-officedocument.presentationml.tags+xml"/>
  <Override PartName="/ppt/notesSlides/notesSlide14.xml" ContentType="application/vnd.openxmlformats-officedocument.presentationml.notesSlide+xml"/>
  <Override PartName="/ppt/tags/tag2.xml" ContentType="application/vnd.openxmlformats-officedocument.presentationml.tags+xml"/>
  <Override PartName="/ppt/notesSlides/notesSlide15.xml" ContentType="application/vnd.openxmlformats-officedocument.presentationml.notesSlide+xml"/>
  <Override PartName="/ppt/tags/tag3.xml" ContentType="application/vnd.openxmlformats-officedocument.presentationml.tags+xml"/>
  <Override PartName="/ppt/notesSlides/notesSlide16.xml" ContentType="application/vnd.openxmlformats-officedocument.presentationml.notesSlide+xml"/>
  <Override PartName="/ppt/tags/tag4.xml" ContentType="application/vnd.openxmlformats-officedocument.presentationml.tags+xml"/>
  <Override PartName="/ppt/notesSlides/notesSlide17.xml" ContentType="application/vnd.openxmlformats-officedocument.presentationml.notesSlide+xml"/>
  <Override PartName="/ppt/tags/tag5.xml" ContentType="application/vnd.openxmlformats-officedocument.presentationml.tags+xml"/>
  <Override PartName="/ppt/notesSlides/notesSlide18.xml" ContentType="application/vnd.openxmlformats-officedocument.presentationml.notesSlide+xml"/>
  <Override PartName="/ppt/tags/tag6.xml" ContentType="application/vnd.openxmlformats-officedocument.presentationml.tags+xml"/>
  <Override PartName="/ppt/notesSlides/notesSlide19.xml" ContentType="application/vnd.openxmlformats-officedocument.presentationml.notesSlide+xml"/>
  <Override PartName="/ppt/tags/tag7.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8.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35" r:id="rId4"/>
  </p:sldMasterIdLst>
  <p:notesMasterIdLst>
    <p:notesMasterId r:id="rId85"/>
  </p:notesMasterIdLst>
  <p:handoutMasterIdLst>
    <p:handoutMasterId r:id="rId86"/>
  </p:handoutMasterIdLst>
  <p:sldIdLst>
    <p:sldId id="5601" r:id="rId5"/>
    <p:sldId id="5695" r:id="rId6"/>
    <p:sldId id="5590" r:id="rId7"/>
    <p:sldId id="5577" r:id="rId8"/>
    <p:sldId id="5591" r:id="rId9"/>
    <p:sldId id="5593" r:id="rId10"/>
    <p:sldId id="5579" r:id="rId11"/>
    <p:sldId id="5683" r:id="rId12"/>
    <p:sldId id="5684" r:id="rId13"/>
    <p:sldId id="5580" r:id="rId14"/>
    <p:sldId id="5685" r:id="rId15"/>
    <p:sldId id="5689" r:id="rId16"/>
    <p:sldId id="1880" r:id="rId17"/>
    <p:sldId id="1882" r:id="rId18"/>
    <p:sldId id="1881" r:id="rId19"/>
    <p:sldId id="1883" r:id="rId20"/>
    <p:sldId id="1872" r:id="rId21"/>
    <p:sldId id="1888" r:id="rId22"/>
    <p:sldId id="1887" r:id="rId23"/>
    <p:sldId id="1886" r:id="rId24"/>
    <p:sldId id="1885" r:id="rId25"/>
    <p:sldId id="1889" r:id="rId26"/>
    <p:sldId id="1891" r:id="rId27"/>
    <p:sldId id="1890" r:id="rId28"/>
    <p:sldId id="1892" r:id="rId29"/>
    <p:sldId id="1893" r:id="rId30"/>
    <p:sldId id="1896" r:id="rId31"/>
    <p:sldId id="5690" r:id="rId32"/>
    <p:sldId id="5687" r:id="rId33"/>
    <p:sldId id="5688" r:id="rId34"/>
    <p:sldId id="5691" r:id="rId35"/>
    <p:sldId id="5692" r:id="rId36"/>
    <p:sldId id="5576" r:id="rId37"/>
    <p:sldId id="5572" r:id="rId38"/>
    <p:sldId id="5570" r:id="rId39"/>
    <p:sldId id="5584" r:id="rId40"/>
    <p:sldId id="5585" r:id="rId41"/>
    <p:sldId id="5587" r:id="rId42"/>
    <p:sldId id="5586" r:id="rId43"/>
    <p:sldId id="5596" r:id="rId44"/>
    <p:sldId id="5597" r:id="rId45"/>
    <p:sldId id="5598" r:id="rId46"/>
    <p:sldId id="5599" r:id="rId47"/>
    <p:sldId id="641" r:id="rId48"/>
    <p:sldId id="5600" r:id="rId49"/>
    <p:sldId id="642" r:id="rId50"/>
    <p:sldId id="5595" r:id="rId51"/>
    <p:sldId id="1884" r:id="rId52"/>
    <p:sldId id="1897" r:id="rId53"/>
    <p:sldId id="1898" r:id="rId54"/>
    <p:sldId id="1855" r:id="rId55"/>
    <p:sldId id="1864" r:id="rId56"/>
    <p:sldId id="1863" r:id="rId57"/>
    <p:sldId id="1867" r:id="rId58"/>
    <p:sldId id="1868" r:id="rId59"/>
    <p:sldId id="1865" r:id="rId60"/>
    <p:sldId id="1866" r:id="rId61"/>
    <p:sldId id="486" r:id="rId62"/>
    <p:sldId id="1869" r:id="rId63"/>
    <p:sldId id="1895" r:id="rId64"/>
    <p:sldId id="299" r:id="rId65"/>
    <p:sldId id="677" r:id="rId66"/>
    <p:sldId id="5673" r:id="rId67"/>
    <p:sldId id="5681" r:id="rId68"/>
    <p:sldId id="5557" r:id="rId69"/>
    <p:sldId id="5558" r:id="rId70"/>
    <p:sldId id="5559" r:id="rId71"/>
    <p:sldId id="5560" r:id="rId72"/>
    <p:sldId id="5561" r:id="rId73"/>
    <p:sldId id="5562" r:id="rId74"/>
    <p:sldId id="5563" r:id="rId75"/>
    <p:sldId id="5675" r:id="rId76"/>
    <p:sldId id="5567" r:id="rId77"/>
    <p:sldId id="5638" r:id="rId78"/>
    <p:sldId id="657" r:id="rId79"/>
    <p:sldId id="5693" r:id="rId80"/>
    <p:sldId id="5649" r:id="rId81"/>
    <p:sldId id="5694" r:id="rId82"/>
    <p:sldId id="5678" r:id="rId83"/>
    <p:sldId id="5682" r:id="rId84"/>
  </p:sldIdLst>
  <p:sldSz cx="12188825" cy="6858000"/>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888" userDrawn="1">
          <p15:clr>
            <a:srgbClr val="A4A3A4"/>
          </p15:clr>
        </p15:guide>
        <p15:guide id="2" pos="3839" userDrawn="1">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39C2F"/>
    <a:srgbClr val="C59C27"/>
    <a:srgbClr val="D13940"/>
    <a:srgbClr val="EF9A1A"/>
    <a:srgbClr val="907262"/>
    <a:srgbClr val="B3CD1F"/>
    <a:srgbClr val="43B1E5"/>
    <a:srgbClr val="00B8BB"/>
    <a:srgbClr val="426FB6"/>
    <a:srgbClr val="13AA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270" autoAdjust="0"/>
    <p:restoredTop sz="96571" autoAdjust="0"/>
  </p:normalViewPr>
  <p:slideViewPr>
    <p:cSldViewPr snapToGrid="0" showGuides="1">
      <p:cViewPr>
        <p:scale>
          <a:sx n="105" d="100"/>
          <a:sy n="105" d="100"/>
        </p:scale>
        <p:origin x="1194" y="150"/>
      </p:cViewPr>
      <p:guideLst>
        <p:guide orient="horz" pos="888"/>
        <p:guide pos="3839"/>
      </p:guideLst>
    </p:cSldViewPr>
  </p:slideViewPr>
  <p:notesTextViewPr>
    <p:cViewPr>
      <p:scale>
        <a:sx n="1" d="1"/>
        <a:sy n="1" d="1"/>
      </p:scale>
      <p:origin x="0" y="0"/>
    </p:cViewPr>
  </p:notesTextViewPr>
  <p:sorterViewPr>
    <p:cViewPr varScale="1">
      <p:scale>
        <a:sx n="1" d="1"/>
        <a:sy n="1" d="1"/>
      </p:scale>
      <p:origin x="0" y="0"/>
    </p:cViewPr>
  </p:sorterViewPr>
  <p:notesViewPr>
    <p:cSldViewPr snapToGrid="0" showGuides="1">
      <p:cViewPr varScale="1">
        <p:scale>
          <a:sx n="55" d="100"/>
          <a:sy n="55" d="100"/>
        </p:scale>
        <p:origin x="-1472" y="-64"/>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theme" Target="theme/theme1.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tableStyles" Target="tableStyles.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presProps" Target="presProps.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vl1pPr>
          </a:lstStyle>
          <a:p>
            <a:fld id="{0B842F42-2CE9-4E35-95C1-410DC08A50B1}" type="datetimeFigureOut">
              <a:rPr lang="en-US" smtClean="0"/>
              <a:t>10/26/2025</a:t>
            </a:fld>
            <a:endParaRPr lang="en-US"/>
          </a:p>
        </p:txBody>
      </p:sp>
      <p:sp>
        <p:nvSpPr>
          <p:cNvPr id="4" name="Footer Placeholder 3"/>
          <p:cNvSpPr>
            <a:spLocks noGrp="1"/>
          </p:cNvSpPr>
          <p:nvPr>
            <p:ph type="ftr" sz="quarter" idx="2"/>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a:defRPr sz="1200"/>
            </a:lvl1pPr>
          </a:lstStyle>
          <a:p>
            <a:fld id="{26F2E89A-4FDF-4617-8DDF-BE2769EE821E}" type="slidenum">
              <a:rPr lang="en-US" smtClean="0"/>
              <a:t>‹#›</a:t>
            </a:fld>
            <a:endParaRPr lang="en-US"/>
          </a:p>
        </p:txBody>
      </p:sp>
    </p:spTree>
    <p:extLst>
      <p:ext uri="{BB962C8B-B14F-4D97-AF65-F5344CB8AC3E}">
        <p14:creationId xmlns:p14="http://schemas.microsoft.com/office/powerpoint/2010/main" val="25792619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5138"/>
          </a:xfrm>
          <a:prstGeom prst="rect">
            <a:avLst/>
          </a:prstGeom>
        </p:spPr>
        <p:txBody>
          <a:bodyPr vert="horz" lIns="91440" tIns="45720" rIns="91440" bIns="45720" rtlCol="0"/>
          <a:lstStyle>
            <a:lvl1pPr algn="r">
              <a:defRPr sz="1200"/>
            </a:lvl1pPr>
          </a:lstStyle>
          <a:p>
            <a:fld id="{6F282904-F315-4730-8D91-37D99E141A6F}" type="datetimeFigureOut">
              <a:rPr lang="en-US" smtClean="0"/>
              <a:t>10/26/2025</a:t>
            </a:fld>
            <a:endParaRPr lang="en-US"/>
          </a:p>
        </p:txBody>
      </p:sp>
      <p:sp>
        <p:nvSpPr>
          <p:cNvPr id="4" name="Slide Image Placeholder 3"/>
          <p:cNvSpPr>
            <a:spLocks noGrp="1" noRot="1" noChangeAspect="1"/>
          </p:cNvSpPr>
          <p:nvPr>
            <p:ph type="sldImg" idx="2"/>
          </p:nvPr>
        </p:nvSpPr>
        <p:spPr>
          <a:xfrm>
            <a:off x="407988" y="696913"/>
            <a:ext cx="6194425" cy="34861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lIns="91440" tIns="45720" rIns="91440" bIns="45720" rtlCol="0" anchor="b"/>
          <a:lstStyle>
            <a:lvl1pPr algn="r">
              <a:defRPr sz="1200"/>
            </a:lvl1pPr>
          </a:lstStyle>
          <a:p>
            <a:fld id="{54E672D7-8E2D-4611-973D-F4591A707C34}" type="slidenum">
              <a:rPr lang="en-US" smtClean="0"/>
              <a:t>‹#›</a:t>
            </a:fld>
            <a:endParaRPr lang="en-US"/>
          </a:p>
        </p:txBody>
      </p:sp>
    </p:spTree>
    <p:extLst>
      <p:ext uri="{BB962C8B-B14F-4D97-AF65-F5344CB8AC3E}">
        <p14:creationId xmlns:p14="http://schemas.microsoft.com/office/powerpoint/2010/main" val="17013578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672D7-8E2D-4611-973D-F4591A707C34}" type="slidenum">
              <a:rPr lang="en-US" smtClean="0"/>
              <a:t>17</a:t>
            </a:fld>
            <a:endParaRPr lang="en-US"/>
          </a:p>
        </p:txBody>
      </p:sp>
    </p:spTree>
    <p:extLst>
      <p:ext uri="{BB962C8B-B14F-4D97-AF65-F5344CB8AC3E}">
        <p14:creationId xmlns:p14="http://schemas.microsoft.com/office/powerpoint/2010/main" val="39876822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672D7-8E2D-4611-973D-F4591A707C34}" type="slidenum">
              <a:rPr lang="en-US" smtClean="0"/>
              <a:t>18</a:t>
            </a:fld>
            <a:endParaRPr lang="en-US"/>
          </a:p>
        </p:txBody>
      </p:sp>
    </p:spTree>
    <p:extLst>
      <p:ext uri="{BB962C8B-B14F-4D97-AF65-F5344CB8AC3E}">
        <p14:creationId xmlns:p14="http://schemas.microsoft.com/office/powerpoint/2010/main" val="42351423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672D7-8E2D-4611-973D-F4591A707C34}" type="slidenum">
              <a:rPr lang="en-US" smtClean="0"/>
              <a:t>19</a:t>
            </a:fld>
            <a:endParaRPr lang="en-US"/>
          </a:p>
        </p:txBody>
      </p:sp>
    </p:spTree>
    <p:extLst>
      <p:ext uri="{BB962C8B-B14F-4D97-AF65-F5344CB8AC3E}">
        <p14:creationId xmlns:p14="http://schemas.microsoft.com/office/powerpoint/2010/main" val="42475210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672D7-8E2D-4611-973D-F4591A707C34}" type="slidenum">
              <a:rPr lang="en-US" smtClean="0"/>
              <a:t>20</a:t>
            </a:fld>
            <a:endParaRPr lang="en-US"/>
          </a:p>
        </p:txBody>
      </p:sp>
    </p:spTree>
    <p:extLst>
      <p:ext uri="{BB962C8B-B14F-4D97-AF65-F5344CB8AC3E}">
        <p14:creationId xmlns:p14="http://schemas.microsoft.com/office/powerpoint/2010/main" val="7050390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672D7-8E2D-4611-973D-F4591A707C34}" type="slidenum">
              <a:rPr lang="en-US" smtClean="0"/>
              <a:t>21</a:t>
            </a:fld>
            <a:endParaRPr lang="en-US"/>
          </a:p>
        </p:txBody>
      </p:sp>
    </p:spTree>
    <p:extLst>
      <p:ext uri="{BB962C8B-B14F-4D97-AF65-F5344CB8AC3E}">
        <p14:creationId xmlns:p14="http://schemas.microsoft.com/office/powerpoint/2010/main" val="28666874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672D7-8E2D-4611-973D-F4591A707C34}" type="slidenum">
              <a:rPr lang="en-US" smtClean="0"/>
              <a:t>22</a:t>
            </a:fld>
            <a:endParaRPr lang="en-US"/>
          </a:p>
        </p:txBody>
      </p:sp>
    </p:spTree>
    <p:extLst>
      <p:ext uri="{BB962C8B-B14F-4D97-AF65-F5344CB8AC3E}">
        <p14:creationId xmlns:p14="http://schemas.microsoft.com/office/powerpoint/2010/main" val="25607189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672D7-8E2D-4611-973D-F4591A707C34}" type="slidenum">
              <a:rPr lang="en-US" smtClean="0"/>
              <a:t>23</a:t>
            </a:fld>
            <a:endParaRPr lang="en-US"/>
          </a:p>
        </p:txBody>
      </p:sp>
    </p:spTree>
    <p:extLst>
      <p:ext uri="{BB962C8B-B14F-4D97-AF65-F5344CB8AC3E}">
        <p14:creationId xmlns:p14="http://schemas.microsoft.com/office/powerpoint/2010/main" val="8968626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672D7-8E2D-4611-973D-F4591A707C34}" type="slidenum">
              <a:rPr lang="en-US" smtClean="0"/>
              <a:t>24</a:t>
            </a:fld>
            <a:endParaRPr lang="en-US"/>
          </a:p>
        </p:txBody>
      </p:sp>
    </p:spTree>
    <p:extLst>
      <p:ext uri="{BB962C8B-B14F-4D97-AF65-F5344CB8AC3E}">
        <p14:creationId xmlns:p14="http://schemas.microsoft.com/office/powerpoint/2010/main" val="38159967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of changing</a:t>
            </a:r>
            <a:r>
              <a:rPr lang="en-US" baseline="0" dirty="0"/>
              <a:t> the block size to adjust to the cache memory</a:t>
            </a:r>
          </a:p>
          <a:p>
            <a:r>
              <a:rPr lang="en-US" baseline="0" dirty="0"/>
              <a:t>And point-to-point </a:t>
            </a:r>
            <a:r>
              <a:rPr lang="en-US" baseline="0" dirty="0" err="1"/>
              <a:t>Vs</a:t>
            </a:r>
            <a:r>
              <a:rPr lang="en-US" baseline="0" dirty="0"/>
              <a:t> collectives depending upon the scale of the problem</a:t>
            </a:r>
            <a:endParaRPr lang="en-US" dirty="0"/>
          </a:p>
        </p:txBody>
      </p:sp>
      <p:sp>
        <p:nvSpPr>
          <p:cNvPr id="4" name="Slide Number Placeholder 3"/>
          <p:cNvSpPr>
            <a:spLocks noGrp="1"/>
          </p:cNvSpPr>
          <p:nvPr>
            <p:ph type="sldNum" sz="quarter" idx="10"/>
          </p:nvPr>
        </p:nvSpPr>
        <p:spPr/>
        <p:txBody>
          <a:bodyPr/>
          <a:lstStyle/>
          <a:p>
            <a:fld id="{6E363A66-168C-0143-BD3D-B116B7B003A5}" type="slidenum">
              <a:rPr lang="en-US" smtClean="0"/>
              <a:t>45</a:t>
            </a:fld>
            <a:endParaRPr lang="en-US"/>
          </a:p>
        </p:txBody>
      </p:sp>
    </p:spTree>
    <p:extLst>
      <p:ext uri="{BB962C8B-B14F-4D97-AF65-F5344CB8AC3E}">
        <p14:creationId xmlns:p14="http://schemas.microsoft.com/office/powerpoint/2010/main" val="38808852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of changing</a:t>
            </a:r>
            <a:r>
              <a:rPr lang="en-US" baseline="0" dirty="0"/>
              <a:t> the block size to adjust to the cache memory</a:t>
            </a:r>
          </a:p>
          <a:p>
            <a:r>
              <a:rPr lang="en-US" baseline="0" dirty="0"/>
              <a:t>And point-to-point </a:t>
            </a:r>
            <a:r>
              <a:rPr lang="en-US" baseline="0" dirty="0" err="1"/>
              <a:t>Vs</a:t>
            </a:r>
            <a:r>
              <a:rPr lang="en-US" baseline="0" dirty="0"/>
              <a:t> collectives depending upon the scale of the problem</a:t>
            </a:r>
            <a:endParaRPr lang="en-US" dirty="0"/>
          </a:p>
        </p:txBody>
      </p:sp>
      <p:sp>
        <p:nvSpPr>
          <p:cNvPr id="4" name="Slide Number Placeholder 3"/>
          <p:cNvSpPr>
            <a:spLocks noGrp="1"/>
          </p:cNvSpPr>
          <p:nvPr>
            <p:ph type="sldNum" sz="quarter" idx="10"/>
          </p:nvPr>
        </p:nvSpPr>
        <p:spPr/>
        <p:txBody>
          <a:bodyPr/>
          <a:lstStyle/>
          <a:p>
            <a:fld id="{6E363A66-168C-0143-BD3D-B116B7B003A5}" type="slidenum">
              <a:rPr lang="en-US" smtClean="0"/>
              <a:t>46</a:t>
            </a:fld>
            <a:endParaRPr lang="en-US"/>
          </a:p>
        </p:txBody>
      </p:sp>
    </p:spTree>
    <p:extLst>
      <p:ext uri="{BB962C8B-B14F-4D97-AF65-F5344CB8AC3E}">
        <p14:creationId xmlns:p14="http://schemas.microsoft.com/office/powerpoint/2010/main" val="26153531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672D7-8E2D-4611-973D-F4591A707C34}" type="slidenum">
              <a:rPr lang="en-US" smtClean="0"/>
              <a:t>48</a:t>
            </a:fld>
            <a:endParaRPr lang="en-US"/>
          </a:p>
        </p:txBody>
      </p:sp>
    </p:spTree>
    <p:extLst>
      <p:ext uri="{BB962C8B-B14F-4D97-AF65-F5344CB8AC3E}">
        <p14:creationId xmlns:p14="http://schemas.microsoft.com/office/powerpoint/2010/main" val="2359543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672D7-8E2D-4611-973D-F4591A707C34}" type="slidenum">
              <a:rPr lang="en-US" smtClean="0"/>
              <a:t>49</a:t>
            </a:fld>
            <a:endParaRPr lang="en-US"/>
          </a:p>
        </p:txBody>
      </p:sp>
    </p:spTree>
    <p:extLst>
      <p:ext uri="{BB962C8B-B14F-4D97-AF65-F5344CB8AC3E}">
        <p14:creationId xmlns:p14="http://schemas.microsoft.com/office/powerpoint/2010/main" val="11945580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672D7-8E2D-4611-973D-F4591A707C34}" type="slidenum">
              <a:rPr lang="en-US" smtClean="0"/>
              <a:t>50</a:t>
            </a:fld>
            <a:endParaRPr lang="en-US"/>
          </a:p>
        </p:txBody>
      </p:sp>
    </p:spTree>
    <p:extLst>
      <p:ext uri="{BB962C8B-B14F-4D97-AF65-F5344CB8AC3E}">
        <p14:creationId xmlns:p14="http://schemas.microsoft.com/office/powerpoint/2010/main" val="38713508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Once those basic unit tests are done, we can create a unit test at the next level.  Here, the </a:t>
            </a:r>
            <a:r>
              <a:rPr lang="en-US" sz="1200" kern="1200" dirty="0" err="1">
                <a:solidFill>
                  <a:schemeClr val="tx1"/>
                </a:solidFill>
                <a:effectLst/>
                <a:latin typeface="+mn-lt"/>
                <a:ea typeface="+mn-ea"/>
                <a:cs typeface="+mn-cs"/>
              </a:rPr>
              <a:t>Sedov</a:t>
            </a:r>
            <a:r>
              <a:rPr lang="en-US" sz="1200" kern="1200" dirty="0">
                <a:solidFill>
                  <a:schemeClr val="tx1"/>
                </a:solidFill>
                <a:effectLst/>
                <a:latin typeface="+mn-lt"/>
                <a:ea typeface="+mn-ea"/>
                <a:cs typeface="+mn-cs"/>
              </a:rPr>
              <a:t> blast wave is simulated using the cell grid and equation of state previously tested.  The </a:t>
            </a:r>
            <a:r>
              <a:rPr lang="en-US" sz="1200" kern="1200" dirty="0" err="1">
                <a:solidFill>
                  <a:schemeClr val="tx1"/>
                </a:solidFill>
                <a:effectLst/>
                <a:latin typeface="+mn-lt"/>
                <a:ea typeface="+mn-ea"/>
                <a:cs typeface="+mn-cs"/>
              </a:rPr>
              <a:t>Sedov</a:t>
            </a:r>
            <a:r>
              <a:rPr lang="en-US" sz="1200" kern="1200" dirty="0">
                <a:solidFill>
                  <a:schemeClr val="tx1"/>
                </a:solidFill>
                <a:effectLst/>
                <a:latin typeface="+mn-lt"/>
                <a:ea typeface="+mn-ea"/>
                <a:cs typeface="+mn-cs"/>
              </a:rPr>
              <a:t> wave has a known analytical solution, which provides an error estimate for the implementation.  Out-of-tolerance errors at this stage indicate a problem specific to hydrodynamics, since the cells and equation of state are already tested.  In addition, plotting errors vs. space and time helps to train graduate students.</a:t>
            </a:r>
          </a:p>
        </p:txBody>
      </p:sp>
      <p:sp>
        <p:nvSpPr>
          <p:cNvPr id="4" name="Slide Number Placeholder 3"/>
          <p:cNvSpPr>
            <a:spLocks noGrp="1"/>
          </p:cNvSpPr>
          <p:nvPr>
            <p:ph type="sldNum" sz="quarter" idx="5"/>
          </p:nvPr>
        </p:nvSpPr>
        <p:spPr/>
        <p:txBody>
          <a:bodyPr/>
          <a:lstStyle/>
          <a:p>
            <a:fld id="{54E672D7-8E2D-4611-973D-F4591A707C34}" type="slidenum">
              <a:rPr lang="en-US" smtClean="0"/>
              <a:t>51</a:t>
            </a:fld>
            <a:endParaRPr lang="en-US"/>
          </a:p>
        </p:txBody>
      </p:sp>
    </p:spTree>
    <p:extLst>
      <p:ext uri="{BB962C8B-B14F-4D97-AF65-F5344CB8AC3E}">
        <p14:creationId xmlns:p14="http://schemas.microsoft.com/office/powerpoint/2010/main" val="29812165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54E672D7-8E2D-4611-973D-F4591A707C34}" type="slidenum">
              <a:rPr lang="en-US" smtClean="0"/>
              <a:t>52</a:t>
            </a:fld>
            <a:endParaRPr lang="en-US"/>
          </a:p>
        </p:txBody>
      </p:sp>
    </p:spTree>
    <p:extLst>
      <p:ext uri="{BB962C8B-B14F-4D97-AF65-F5344CB8AC3E}">
        <p14:creationId xmlns:p14="http://schemas.microsoft.com/office/powerpoint/2010/main" val="41460541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t>
            </a:r>
          </a:p>
        </p:txBody>
      </p:sp>
      <p:sp>
        <p:nvSpPr>
          <p:cNvPr id="4" name="Slide Number Placeholder 3"/>
          <p:cNvSpPr>
            <a:spLocks noGrp="1"/>
          </p:cNvSpPr>
          <p:nvPr>
            <p:ph type="sldNum" sz="quarter" idx="5"/>
          </p:nvPr>
        </p:nvSpPr>
        <p:spPr/>
        <p:txBody>
          <a:bodyPr/>
          <a:lstStyle/>
          <a:p>
            <a:fld id="{54E672D7-8E2D-4611-973D-F4591A707C34}" type="slidenum">
              <a:rPr lang="en-US" smtClean="0"/>
              <a:t>53</a:t>
            </a:fld>
            <a:endParaRPr lang="en-US"/>
          </a:p>
        </p:txBody>
      </p:sp>
    </p:spTree>
    <p:extLst>
      <p:ext uri="{BB962C8B-B14F-4D97-AF65-F5344CB8AC3E}">
        <p14:creationId xmlns:p14="http://schemas.microsoft.com/office/powerpoint/2010/main" val="39447562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t>
            </a:r>
          </a:p>
        </p:txBody>
      </p:sp>
      <p:sp>
        <p:nvSpPr>
          <p:cNvPr id="4" name="Slide Number Placeholder 3"/>
          <p:cNvSpPr>
            <a:spLocks noGrp="1"/>
          </p:cNvSpPr>
          <p:nvPr>
            <p:ph type="sldNum" sz="quarter" idx="5"/>
          </p:nvPr>
        </p:nvSpPr>
        <p:spPr/>
        <p:txBody>
          <a:bodyPr/>
          <a:lstStyle/>
          <a:p>
            <a:fld id="{54E672D7-8E2D-4611-973D-F4591A707C34}" type="slidenum">
              <a:rPr lang="en-US" smtClean="0"/>
              <a:t>54</a:t>
            </a:fld>
            <a:endParaRPr lang="en-US"/>
          </a:p>
        </p:txBody>
      </p:sp>
    </p:spTree>
    <p:extLst>
      <p:ext uri="{BB962C8B-B14F-4D97-AF65-F5344CB8AC3E}">
        <p14:creationId xmlns:p14="http://schemas.microsoft.com/office/powerpoint/2010/main" val="23992059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t>
            </a:r>
          </a:p>
        </p:txBody>
      </p:sp>
      <p:sp>
        <p:nvSpPr>
          <p:cNvPr id="4" name="Slide Number Placeholder 3"/>
          <p:cNvSpPr>
            <a:spLocks noGrp="1"/>
          </p:cNvSpPr>
          <p:nvPr>
            <p:ph type="sldNum" sz="quarter" idx="5"/>
          </p:nvPr>
        </p:nvSpPr>
        <p:spPr/>
        <p:txBody>
          <a:bodyPr/>
          <a:lstStyle/>
          <a:p>
            <a:fld id="{54E672D7-8E2D-4611-973D-F4591A707C34}" type="slidenum">
              <a:rPr lang="en-US" smtClean="0"/>
              <a:t>55</a:t>
            </a:fld>
            <a:endParaRPr lang="en-US"/>
          </a:p>
        </p:txBody>
      </p:sp>
    </p:spTree>
    <p:extLst>
      <p:ext uri="{BB962C8B-B14F-4D97-AF65-F5344CB8AC3E}">
        <p14:creationId xmlns:p14="http://schemas.microsoft.com/office/powerpoint/2010/main" val="32691189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t>
            </a:r>
          </a:p>
        </p:txBody>
      </p:sp>
      <p:sp>
        <p:nvSpPr>
          <p:cNvPr id="4" name="Slide Number Placeholder 3"/>
          <p:cNvSpPr>
            <a:spLocks noGrp="1"/>
          </p:cNvSpPr>
          <p:nvPr>
            <p:ph type="sldNum" sz="quarter" idx="5"/>
          </p:nvPr>
        </p:nvSpPr>
        <p:spPr/>
        <p:txBody>
          <a:bodyPr/>
          <a:lstStyle/>
          <a:p>
            <a:fld id="{54E672D7-8E2D-4611-973D-F4591A707C34}" type="slidenum">
              <a:rPr lang="en-US" smtClean="0"/>
              <a:t>56</a:t>
            </a:fld>
            <a:endParaRPr lang="en-US"/>
          </a:p>
        </p:txBody>
      </p:sp>
    </p:spTree>
    <p:extLst>
      <p:ext uri="{BB962C8B-B14F-4D97-AF65-F5344CB8AC3E}">
        <p14:creationId xmlns:p14="http://schemas.microsoft.com/office/powerpoint/2010/main" val="5111102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t>
            </a:r>
          </a:p>
        </p:txBody>
      </p:sp>
      <p:sp>
        <p:nvSpPr>
          <p:cNvPr id="4" name="Slide Number Placeholder 3"/>
          <p:cNvSpPr>
            <a:spLocks noGrp="1"/>
          </p:cNvSpPr>
          <p:nvPr>
            <p:ph type="sldNum" sz="quarter" idx="5"/>
          </p:nvPr>
        </p:nvSpPr>
        <p:spPr/>
        <p:txBody>
          <a:bodyPr/>
          <a:lstStyle/>
          <a:p>
            <a:fld id="{54E672D7-8E2D-4611-973D-F4591A707C34}" type="slidenum">
              <a:rPr lang="en-US" smtClean="0"/>
              <a:t>57</a:t>
            </a:fld>
            <a:endParaRPr lang="en-US"/>
          </a:p>
        </p:txBody>
      </p:sp>
    </p:spTree>
    <p:extLst>
      <p:ext uri="{BB962C8B-B14F-4D97-AF65-F5344CB8AC3E}">
        <p14:creationId xmlns:p14="http://schemas.microsoft.com/office/powerpoint/2010/main" val="31074814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54E672D7-8E2D-4611-973D-F4591A707C34}" type="slidenum">
              <a:rPr lang="en-US" smtClean="0"/>
              <a:t>58</a:t>
            </a:fld>
            <a:endParaRPr lang="en-US"/>
          </a:p>
        </p:txBody>
      </p:sp>
    </p:spTree>
    <p:extLst>
      <p:ext uri="{BB962C8B-B14F-4D97-AF65-F5344CB8AC3E}">
        <p14:creationId xmlns:p14="http://schemas.microsoft.com/office/powerpoint/2010/main" val="11793709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t>
            </a:r>
          </a:p>
        </p:txBody>
      </p:sp>
      <p:sp>
        <p:nvSpPr>
          <p:cNvPr id="4" name="Slide Number Placeholder 3"/>
          <p:cNvSpPr>
            <a:spLocks noGrp="1"/>
          </p:cNvSpPr>
          <p:nvPr>
            <p:ph type="sldNum" sz="quarter" idx="5"/>
          </p:nvPr>
        </p:nvSpPr>
        <p:spPr/>
        <p:txBody>
          <a:bodyPr/>
          <a:lstStyle/>
          <a:p>
            <a:fld id="{54E672D7-8E2D-4611-973D-F4591A707C34}" type="slidenum">
              <a:rPr lang="en-US" smtClean="0"/>
              <a:t>59</a:t>
            </a:fld>
            <a:endParaRPr lang="en-US"/>
          </a:p>
        </p:txBody>
      </p:sp>
    </p:spTree>
    <p:extLst>
      <p:ext uri="{BB962C8B-B14F-4D97-AF65-F5344CB8AC3E}">
        <p14:creationId xmlns:p14="http://schemas.microsoft.com/office/powerpoint/2010/main" val="42798483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t>
            </a:r>
          </a:p>
        </p:txBody>
      </p:sp>
      <p:sp>
        <p:nvSpPr>
          <p:cNvPr id="4" name="Slide Number Placeholder 3"/>
          <p:cNvSpPr>
            <a:spLocks noGrp="1"/>
          </p:cNvSpPr>
          <p:nvPr>
            <p:ph type="sldNum" sz="quarter" idx="5"/>
          </p:nvPr>
        </p:nvSpPr>
        <p:spPr/>
        <p:txBody>
          <a:bodyPr/>
          <a:lstStyle/>
          <a:p>
            <a:fld id="{54E672D7-8E2D-4611-973D-F4591A707C34}" type="slidenum">
              <a:rPr lang="en-US" smtClean="0"/>
              <a:t>60</a:t>
            </a:fld>
            <a:endParaRPr lang="en-US"/>
          </a:p>
        </p:txBody>
      </p:sp>
    </p:spTree>
    <p:extLst>
      <p:ext uri="{BB962C8B-B14F-4D97-AF65-F5344CB8AC3E}">
        <p14:creationId xmlns:p14="http://schemas.microsoft.com/office/powerpoint/2010/main" val="13866618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Here's an example from the E3SM code, the </a:t>
            </a:r>
            <a:r>
              <a:rPr lang="en-US" sz="1200" kern="1200" dirty="0" err="1">
                <a:solidFill>
                  <a:schemeClr val="tx1"/>
                </a:solidFill>
                <a:effectLst/>
                <a:latin typeface="+mn-lt"/>
                <a:ea typeface="+mn-ea"/>
                <a:cs typeface="+mn-cs"/>
              </a:rPr>
              <a:t>Exascale</a:t>
            </a:r>
            <a:r>
              <a:rPr lang="en-US" sz="1200" kern="1200" dirty="0">
                <a:solidFill>
                  <a:schemeClr val="tx1"/>
                </a:solidFill>
                <a:effectLst/>
                <a:latin typeface="+mn-lt"/>
                <a:ea typeface="+mn-ea"/>
                <a:cs typeface="+mn-cs"/>
              </a:rPr>
              <a:t> Earth System Model.  Although advanced now, it originated in a combination of Fortran codes dealing with various aspects of climate modeling.  The project came together from a collection of independent projects and development practices. They imposed structure on the code through the use of Fortran modules. However, the focus was on running whole models, so their architecture and testing strategies evolved to work with that goal. That led to an unforeseen difficulty. For several sections of the code, even the simplest modification would take running the entire model to test. This meant enqueuing the job in a batch queue that would take non-trivial amount of time to run. What was missing was granular testing. And it wasn’t easy to separate out code sections for testing independently because one Fortran module gets data from another, that in turn gets data from yet another and so on … This is an example of a methodology used to generate an independent test for a code section. </a:t>
            </a:r>
          </a:p>
          <a:p>
            <a:endParaRPr lang="en-US" sz="1200" kern="1200" dirty="0">
              <a:solidFill>
                <a:schemeClr val="tx1"/>
              </a:solidFill>
              <a:effectLst/>
              <a:latin typeface="+mn-lt"/>
              <a:ea typeface="+mn-ea"/>
              <a:cs typeface="+mn-cs"/>
            </a:endParaRPr>
          </a:p>
          <a:p>
            <a:pPr marL="228600" indent="-228600">
              <a:buAutoNum type="alphaLcParenR"/>
            </a:pPr>
            <a:r>
              <a:rPr lang="en-US" sz="1200" kern="1200" dirty="0">
                <a:solidFill>
                  <a:schemeClr val="tx1"/>
                </a:solidFill>
                <a:effectLst/>
                <a:latin typeface="+mn-lt"/>
                <a:ea typeface="+mn-ea"/>
                <a:cs typeface="+mn-cs"/>
              </a:rPr>
              <a:t>Review the dependencies. Here the model needs to be at a certain ”state” to invoke the target code.</a:t>
            </a:r>
          </a:p>
          <a:p>
            <a:pPr marL="228600" indent="-228600">
              <a:buAutoNum type="alphaLcParenR"/>
            </a:pPr>
            <a:r>
              <a:rPr lang="en-US" sz="1200" kern="1200" dirty="0">
                <a:solidFill>
                  <a:schemeClr val="tx1"/>
                </a:solidFill>
                <a:effectLst/>
                <a:latin typeface="+mn-lt"/>
                <a:ea typeface="+mn-ea"/>
                <a:cs typeface="+mn-cs"/>
              </a:rPr>
              <a:t>Look for dependencies on Fortran data modules that are outside the sub-tree containing the source code for this section</a:t>
            </a:r>
          </a:p>
          <a:p>
            <a:pPr marL="228600" indent="-228600">
              <a:buAutoNum type="alphaLcParenR"/>
            </a:pPr>
            <a:r>
              <a:rPr lang="en-US" sz="1200" kern="1200" dirty="0">
                <a:solidFill>
                  <a:schemeClr val="tx1"/>
                </a:solidFill>
                <a:effectLst/>
                <a:latin typeface="+mn-lt"/>
                <a:ea typeface="+mn-ea"/>
                <a:cs typeface="+mn-cs"/>
              </a:rPr>
              <a:t>For each of the data modules determine where the dependencies can be pruned. </a:t>
            </a:r>
          </a:p>
          <a:p>
            <a:r>
              <a:rPr lang="en-US" sz="1200" kern="1200" dirty="0">
                <a:solidFill>
                  <a:schemeClr val="tx1"/>
                </a:solidFill>
                <a:effectLst/>
                <a:latin typeface="+mn-lt"/>
                <a:ea typeface="+mn-ea"/>
                <a:cs typeface="+mn-cs"/>
              </a:rPr>
              <a:t>d) Run the full model and capture the “state” just before the invocation of the target section.</a:t>
            </a:r>
          </a:p>
          <a:p>
            <a:r>
              <a:rPr lang="en-US" sz="1200" kern="1200" dirty="0">
                <a:solidFill>
                  <a:schemeClr val="tx1"/>
                </a:solidFill>
                <a:effectLst/>
                <a:latin typeface="+mn-lt"/>
                <a:ea typeface="+mn-ea"/>
                <a:cs typeface="+mn-cs"/>
              </a:rPr>
              <a:t>e) Create a separate working directory for the test</a:t>
            </a:r>
          </a:p>
          <a:p>
            <a:r>
              <a:rPr lang="en-US" sz="1200" kern="1200" dirty="0">
                <a:solidFill>
                  <a:schemeClr val="tx1"/>
                </a:solidFill>
                <a:effectLst/>
                <a:latin typeface="+mn-lt"/>
                <a:ea typeface="+mn-ea"/>
                <a:cs typeface="+mn-cs"/>
              </a:rPr>
              <a:t>f) In this working area create soft links to the files that have dependencies</a:t>
            </a:r>
          </a:p>
          <a:p>
            <a:r>
              <a:rPr lang="en-US" sz="1200" kern="1200" dirty="0">
                <a:solidFill>
                  <a:schemeClr val="tx1"/>
                </a:solidFill>
                <a:effectLst/>
                <a:latin typeface="+mn-lt"/>
                <a:ea typeface="+mn-ea"/>
                <a:cs typeface="+mn-cs"/>
              </a:rPr>
              <a:t>g) Where the dependence is to be pruned create a copy of the corresponding file in the working area and modify it as needed.</a:t>
            </a:r>
          </a:p>
          <a:p>
            <a:r>
              <a:rPr lang="en-US" sz="1200" kern="1200" dirty="0">
                <a:solidFill>
                  <a:schemeClr val="tx1"/>
                </a:solidFill>
                <a:effectLst/>
                <a:latin typeface="+mn-lt"/>
                <a:ea typeface="+mn-ea"/>
                <a:cs typeface="+mn-cs"/>
              </a:rPr>
              <a:t>e) Create a test driver to load the state and exercise the unit.</a:t>
            </a:r>
          </a:p>
          <a:p>
            <a:r>
              <a:rPr lang="en-US" sz="1200" kern="1200" dirty="0">
                <a:solidFill>
                  <a:schemeClr val="tx1"/>
                </a:solidFill>
                <a:effectLst/>
                <a:latin typeface="+mn-lt"/>
                <a:ea typeface="+mn-ea"/>
                <a:cs typeface="+mn-cs"/>
              </a:rPr>
              <a:t>d) If extra functions from the code were accessed, these were </a:t>
            </a:r>
            <a:r>
              <a:rPr lang="en-US" sz="1200" kern="1200" dirty="0" err="1">
                <a:solidFill>
                  <a:schemeClr val="tx1"/>
                </a:solidFill>
                <a:effectLst/>
                <a:latin typeface="+mn-lt"/>
                <a:ea typeface="+mn-ea"/>
                <a:cs typeface="+mn-cs"/>
              </a:rPr>
              <a:t>sym</a:t>
            </a:r>
            <a:r>
              <a:rPr lang="en-US" sz="1200" kern="1200" dirty="0">
                <a:solidFill>
                  <a:schemeClr val="tx1"/>
                </a:solidFill>
                <a:effectLst/>
                <a:latin typeface="+mn-lt"/>
                <a:ea typeface="+mn-ea"/>
                <a:cs typeface="+mn-cs"/>
              </a:rPr>
              <a:t>-linked into the test directory.  Here, the branch at the right represents some helper functions that can be imported easily.</a:t>
            </a:r>
          </a:p>
          <a:p>
            <a:r>
              <a:rPr lang="en-US" sz="1200" kern="1200" dirty="0">
                <a:solidFill>
                  <a:schemeClr val="tx1"/>
                </a:solidFill>
                <a:effectLst/>
                <a:latin typeface="+mn-lt"/>
                <a:ea typeface="+mn-ea"/>
                <a:cs typeface="+mn-cs"/>
              </a:rPr>
              <a:t>e) That doesn't always work.  The red dot represents a module with lots of dependencies - not needed for this test.  In these cases, the module was modified to remove unnecessary dependencies.</a:t>
            </a:r>
          </a:p>
          <a:p>
            <a:r>
              <a:rPr lang="en-US" sz="1200" kern="1200" dirty="0">
                <a:solidFill>
                  <a:schemeClr val="tx1"/>
                </a:solidFill>
                <a:effectLst/>
                <a:latin typeface="+mn-lt"/>
                <a:ea typeface="+mn-ea"/>
                <a:cs typeface="+mn-cs"/>
              </a:rPr>
              <a:t>f) With all the code dependencies sorted out, the test driver itself becomes an isolated unit.  For this example, the original test took hours to run through the batch queue of a cluster.  The new unit test ran in 20 seconds on a developer's laptop.</a:t>
            </a:r>
          </a:p>
        </p:txBody>
      </p:sp>
      <p:sp>
        <p:nvSpPr>
          <p:cNvPr id="4" name="Slide Number Placeholder 3"/>
          <p:cNvSpPr>
            <a:spLocks noGrp="1"/>
          </p:cNvSpPr>
          <p:nvPr>
            <p:ph type="sldNum" sz="quarter" idx="5"/>
          </p:nvPr>
        </p:nvSpPr>
        <p:spPr/>
        <p:txBody>
          <a:bodyPr/>
          <a:lstStyle/>
          <a:p>
            <a:fld id="{54E672D7-8E2D-4611-973D-F4591A707C34}" type="slidenum">
              <a:rPr lang="en-US" smtClean="0"/>
              <a:t>61</a:t>
            </a:fld>
            <a:endParaRPr lang="en-US"/>
          </a:p>
        </p:txBody>
      </p:sp>
    </p:spTree>
    <p:extLst>
      <p:ext uri="{BB962C8B-B14F-4D97-AF65-F5344CB8AC3E}">
        <p14:creationId xmlns:p14="http://schemas.microsoft.com/office/powerpoint/2010/main" val="17385237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Various forms :: CUDE, HIP, </a:t>
            </a:r>
            <a:r>
              <a:rPr lang="en-US" dirty="0" err="1"/>
              <a:t>OpenACC</a:t>
            </a:r>
            <a:r>
              <a:rPr lang="en-US" dirty="0"/>
              <a:t>, OpenMP, </a:t>
            </a:r>
            <a:r>
              <a:rPr lang="en-US" dirty="0" err="1"/>
              <a:t>OneAPI</a:t>
            </a:r>
            <a:r>
              <a:rPr lang="en-US" dirty="0"/>
              <a:t>, SYCL </a:t>
            </a:r>
            <a:r>
              <a:rPr lang="en-US" dirty="0" err="1"/>
              <a:t>etc</a:t>
            </a:r>
            <a:r>
              <a:rPr lang="en-US" dirty="0"/>
              <a:t> </a:t>
            </a:r>
            <a:r>
              <a:rPr lang="en-US" dirty="0" err="1"/>
              <a:t>etc</a:t>
            </a:r>
            <a:endParaRPr lang="en-US" dirty="0"/>
          </a:p>
        </p:txBody>
      </p:sp>
      <p:sp>
        <p:nvSpPr>
          <p:cNvPr id="4" name="Slide Number Placeholder 3"/>
          <p:cNvSpPr>
            <a:spLocks noGrp="1"/>
          </p:cNvSpPr>
          <p:nvPr>
            <p:ph type="sldNum" sz="quarter" idx="5"/>
          </p:nvPr>
        </p:nvSpPr>
        <p:spPr/>
        <p:txBody>
          <a:bodyPr/>
          <a:lstStyle/>
          <a:p>
            <a:fld id="{54E672D7-8E2D-4611-973D-F4591A707C34}" type="slidenum">
              <a:rPr lang="en-US" smtClean="0"/>
              <a:t>65</a:t>
            </a:fld>
            <a:endParaRPr lang="en-US"/>
          </a:p>
        </p:txBody>
      </p:sp>
    </p:spTree>
    <p:extLst>
      <p:ext uri="{BB962C8B-B14F-4D97-AF65-F5344CB8AC3E}">
        <p14:creationId xmlns:p14="http://schemas.microsoft.com/office/powerpoint/2010/main" val="10693789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accelerator systems these days have mechanisms for sharing (reading/writing) memory between host and device.  Easy, but generally not the most performant approach</a:t>
            </a:r>
          </a:p>
          <a:p>
            <a:r>
              <a:rPr lang="en-US" dirty="0"/>
              <a:t>confounding differences between systems with regard to how well that sharing is supported.</a:t>
            </a:r>
          </a:p>
          <a:p>
            <a:r>
              <a:rPr lang="en-US" dirty="0"/>
              <a:t>Task based examples – Legion, </a:t>
            </a:r>
            <a:r>
              <a:rPr lang="en-US" dirty="0" err="1"/>
              <a:t>PaRSEC</a:t>
            </a:r>
            <a:r>
              <a:rPr lang="en-US" dirty="0"/>
              <a:t>, HPX, </a:t>
            </a:r>
            <a:r>
              <a:rPr lang="en-US" dirty="0" err="1"/>
              <a:t>StarPU</a:t>
            </a:r>
            <a:r>
              <a:rPr lang="en-US" dirty="0"/>
              <a:t>, Charm++</a:t>
            </a:r>
          </a:p>
        </p:txBody>
      </p:sp>
      <p:sp>
        <p:nvSpPr>
          <p:cNvPr id="4" name="Slide Number Placeholder 3"/>
          <p:cNvSpPr>
            <a:spLocks noGrp="1"/>
          </p:cNvSpPr>
          <p:nvPr>
            <p:ph type="sldNum" sz="quarter" idx="5"/>
          </p:nvPr>
        </p:nvSpPr>
        <p:spPr/>
        <p:txBody>
          <a:bodyPr/>
          <a:lstStyle/>
          <a:p>
            <a:fld id="{54E672D7-8E2D-4611-973D-F4591A707C34}" type="slidenum">
              <a:rPr lang="en-US" smtClean="0"/>
              <a:t>70</a:t>
            </a:fld>
            <a:endParaRPr lang="en-US"/>
          </a:p>
        </p:txBody>
      </p:sp>
    </p:spTree>
    <p:extLst>
      <p:ext uri="{BB962C8B-B14F-4D97-AF65-F5344CB8AC3E}">
        <p14:creationId xmlns:p14="http://schemas.microsoft.com/office/powerpoint/2010/main" val="202441061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6" Type="http://schemas.microsoft.com/office/2007/relationships/hdphoto" Target="../media/hdphoto2.wdp"/><Relationship Id="rId5" Type="http://schemas.openxmlformats.org/officeDocument/2006/relationships/image" Target="../media/image3.png"/><Relationship Id="rId4" Type="http://schemas.microsoft.com/office/2007/relationships/hdphoto" Target="../media/hdphoto1.wdp"/></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6" Type="http://schemas.microsoft.com/office/2007/relationships/hdphoto" Target="../media/hdphoto2.wdp"/><Relationship Id="rId5" Type="http://schemas.openxmlformats.org/officeDocument/2006/relationships/image" Target="../media/image3.png"/><Relationship Id="rId4" Type="http://schemas.microsoft.com/office/2007/relationships/hdphoto" Target="../media/hdphoto1.wdp"/><Relationship Id="rId9"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4.png"/><Relationship Id="rId12" Type="http://schemas.openxmlformats.org/officeDocument/2006/relationships/hyperlink" Target="https://cass.community/" TargetMode="External"/><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7.png"/><Relationship Id="rId11" Type="http://schemas.openxmlformats.org/officeDocument/2006/relationships/hyperlink" Target="https://rapids.lbl.gov/" TargetMode="External"/><Relationship Id="rId5" Type="http://schemas.microsoft.com/office/2007/relationships/hdphoto" Target="../media/hdphoto1.wdp"/><Relationship Id="rId10" Type="http://schemas.openxmlformats.org/officeDocument/2006/relationships/hyperlink" Target="https://pesoproject.org/" TargetMode="External"/><Relationship Id="rId4" Type="http://schemas.openxmlformats.org/officeDocument/2006/relationships/image" Target="../media/image2.png"/><Relationship Id="rId9"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7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E2177C6-060C-4445-8C10-ADA6D3CE5F74}"/>
              </a:ext>
            </a:extLst>
          </p:cNvPr>
          <p:cNvSpPr/>
          <p:nvPr userDrawn="1"/>
        </p:nvSpPr>
        <p:spPr>
          <a:xfrm>
            <a:off x="0" y="6186396"/>
            <a:ext cx="12188825" cy="671604"/>
          </a:xfrm>
          <a:prstGeom prst="rect">
            <a:avLst/>
          </a:prstGeom>
          <a:solidFill>
            <a:schemeClr val="accent1">
              <a:lumMod val="75000"/>
            </a:schemeClr>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548640" tIns="45720" rIns="45720" bIns="45720" numCol="1" spcCol="0" rtlCol="0" fromWordArt="0" anchor="ctr" anchorCtr="0" forceAA="0" compatLnSpc="1">
            <a:prstTxWarp prst="textNoShape">
              <a:avLst/>
            </a:prstTxWarp>
            <a:noAutofit/>
          </a:bodyPr>
          <a:lstStyle/>
          <a:p>
            <a:pPr algn="l">
              <a:lnSpc>
                <a:spcPct val="90000"/>
              </a:lnSpc>
            </a:pPr>
            <a:r>
              <a:rPr lang="en-US" sz="1600" dirty="0">
                <a:ln>
                  <a:noFill/>
                </a:ln>
                <a:solidFill>
                  <a:schemeClr val="bg1"/>
                </a:solidFill>
              </a:rPr>
              <a:t>exascaleproject.org</a:t>
            </a:r>
          </a:p>
        </p:txBody>
      </p:sp>
      <p:sp>
        <p:nvSpPr>
          <p:cNvPr id="22" name="Rectangle 21"/>
          <p:cNvSpPr/>
          <p:nvPr userDrawn="1"/>
        </p:nvSpPr>
        <p:spPr>
          <a:xfrm>
            <a:off x="8305800" y="5921829"/>
            <a:ext cx="3883025" cy="936171"/>
          </a:xfrm>
          <a:prstGeom prst="rect">
            <a:avLst/>
          </a:prstGeom>
          <a:no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lnSpc>
                <a:spcPct val="90000"/>
              </a:lnSpc>
            </a:pPr>
            <a:endParaRPr lang="en-US" dirty="0">
              <a:solidFill>
                <a:schemeClr val="tx1"/>
              </a:solidFill>
            </a:endParaRPr>
          </a:p>
        </p:txBody>
      </p:sp>
      <p:sp>
        <p:nvSpPr>
          <p:cNvPr id="2" name="Title 1"/>
          <p:cNvSpPr>
            <a:spLocks noGrp="1"/>
          </p:cNvSpPr>
          <p:nvPr userDrawn="1">
            <p:ph type="ctrTitle"/>
          </p:nvPr>
        </p:nvSpPr>
        <p:spPr>
          <a:xfrm>
            <a:off x="3177633" y="503144"/>
            <a:ext cx="8292316" cy="1030930"/>
          </a:xfrm>
        </p:spPr>
        <p:txBody>
          <a:bodyPr anchor="b"/>
          <a:lstStyle>
            <a:lvl1pPr algn="l">
              <a:defRPr sz="3200" b="1">
                <a:solidFill>
                  <a:schemeClr val="tx1"/>
                </a:solidFill>
                <a:latin typeface="+mn-lt"/>
              </a:defRPr>
            </a:lvl1pPr>
          </a:lstStyle>
          <a:p>
            <a:r>
              <a:rPr lang="en-US"/>
              <a:t>Click to edit Master title style</a:t>
            </a:r>
            <a:endParaRPr lang="en-US" dirty="0"/>
          </a:p>
        </p:txBody>
      </p:sp>
      <p:sp>
        <p:nvSpPr>
          <p:cNvPr id="3" name="Subtitle 2"/>
          <p:cNvSpPr>
            <a:spLocks noGrp="1"/>
          </p:cNvSpPr>
          <p:nvPr userDrawn="1">
            <p:ph type="subTitle" idx="1"/>
          </p:nvPr>
        </p:nvSpPr>
        <p:spPr>
          <a:xfrm>
            <a:off x="3177632" y="2085962"/>
            <a:ext cx="8292317" cy="2855300"/>
          </a:xfrm>
        </p:spPr>
        <p:txBody>
          <a:bodyPr lIns="109728"/>
          <a:lstStyle>
            <a:lvl1pPr marL="0" indent="0" algn="l">
              <a:buNone/>
              <a:defRPr sz="2400">
                <a:solidFill>
                  <a:schemeClr val="tx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0639" y="483164"/>
            <a:ext cx="2050840" cy="935496"/>
          </a:xfrm>
          <a:prstGeom prst="rect">
            <a:avLst/>
          </a:prstGeom>
        </p:spPr>
      </p:pic>
      <p:pic>
        <p:nvPicPr>
          <p:cNvPr id="16" name="Picture 15"/>
          <p:cNvPicPr>
            <a:picLocks noChangeAspect="1"/>
          </p:cNvPicPr>
          <p:nvPr userDrawn="1"/>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7289921" y="6322747"/>
            <a:ext cx="2409477" cy="401008"/>
          </a:xfrm>
          <a:prstGeom prst="rect">
            <a:avLst/>
          </a:prstGeom>
        </p:spPr>
      </p:pic>
      <p:pic>
        <p:nvPicPr>
          <p:cNvPr id="17" name="Picture 16"/>
          <p:cNvPicPr>
            <a:picLocks noChangeAspect="1"/>
          </p:cNvPicPr>
          <p:nvPr userDrawn="1"/>
        </p:nvPicPr>
        <p:blipFill rotWithShape="1">
          <a:blip r:embed="rId5" cstate="print">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rcRect b="70693"/>
          <a:stretch/>
        </p:blipFill>
        <p:spPr>
          <a:xfrm>
            <a:off x="10204521" y="6307740"/>
            <a:ext cx="1367541" cy="428915"/>
          </a:xfrm>
          <a:prstGeom prst="rect">
            <a:avLst/>
          </a:prstGeom>
        </p:spPr>
      </p:pic>
      <p:pic>
        <p:nvPicPr>
          <p:cNvPr id="8" name="Picture 7" descr="A picture containing shape&#10;&#10;Description automatically generated">
            <a:extLst>
              <a:ext uri="{FF2B5EF4-FFF2-40B4-BE49-F238E27FC236}">
                <a16:creationId xmlns:a16="http://schemas.microsoft.com/office/drawing/2014/main" id="{C432A180-7341-4E28-8C2B-73F9AB53D13F}"/>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331810" y="1848659"/>
            <a:ext cx="2108499" cy="914400"/>
          </a:xfrm>
          <a:prstGeom prst="rect">
            <a:avLst/>
          </a:prstGeom>
        </p:spPr>
      </p:pic>
    </p:spTree>
    <p:extLst>
      <p:ext uri="{BB962C8B-B14F-4D97-AF65-F5344CB8AC3E}">
        <p14:creationId xmlns:p14="http://schemas.microsoft.com/office/powerpoint/2010/main" val="324926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8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E2177C6-060C-4445-8C10-ADA6D3CE5F74}"/>
              </a:ext>
            </a:extLst>
          </p:cNvPr>
          <p:cNvSpPr/>
          <p:nvPr userDrawn="1"/>
        </p:nvSpPr>
        <p:spPr>
          <a:xfrm>
            <a:off x="0" y="6186396"/>
            <a:ext cx="12188825" cy="671604"/>
          </a:xfrm>
          <a:prstGeom prst="rect">
            <a:avLst/>
          </a:prstGeom>
          <a:solidFill>
            <a:schemeClr val="accent1">
              <a:lumMod val="75000"/>
            </a:schemeClr>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548640" tIns="45720" rIns="45720" bIns="45720" numCol="1" spcCol="0" rtlCol="0" fromWordArt="0" anchor="ctr" anchorCtr="0" forceAA="0" compatLnSpc="1">
            <a:prstTxWarp prst="textNoShape">
              <a:avLst/>
            </a:prstTxWarp>
            <a:noAutofit/>
          </a:bodyPr>
          <a:lstStyle/>
          <a:p>
            <a:pPr algn="l">
              <a:lnSpc>
                <a:spcPct val="90000"/>
              </a:lnSpc>
            </a:pPr>
            <a:r>
              <a:rPr lang="en-US" sz="1600" dirty="0">
                <a:ln>
                  <a:noFill/>
                </a:ln>
                <a:solidFill>
                  <a:schemeClr val="bg1"/>
                </a:solidFill>
              </a:rPr>
              <a:t>exascaleproject.org</a:t>
            </a:r>
          </a:p>
        </p:txBody>
      </p:sp>
      <p:sp>
        <p:nvSpPr>
          <p:cNvPr id="22" name="Rectangle 21"/>
          <p:cNvSpPr/>
          <p:nvPr userDrawn="1"/>
        </p:nvSpPr>
        <p:spPr>
          <a:xfrm>
            <a:off x="8305800" y="5921829"/>
            <a:ext cx="3883025" cy="936171"/>
          </a:xfrm>
          <a:prstGeom prst="rect">
            <a:avLst/>
          </a:prstGeom>
          <a:no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lnSpc>
                <a:spcPct val="90000"/>
              </a:lnSpc>
            </a:pPr>
            <a:endParaRPr lang="en-US" dirty="0">
              <a:solidFill>
                <a:schemeClr val="tx1"/>
              </a:solidFill>
            </a:endParaRPr>
          </a:p>
        </p:txBody>
      </p:sp>
      <p:sp>
        <p:nvSpPr>
          <p:cNvPr id="2" name="Title 1"/>
          <p:cNvSpPr>
            <a:spLocks noGrp="1"/>
          </p:cNvSpPr>
          <p:nvPr userDrawn="1">
            <p:ph type="ctrTitle"/>
          </p:nvPr>
        </p:nvSpPr>
        <p:spPr>
          <a:xfrm>
            <a:off x="3177633" y="503144"/>
            <a:ext cx="8292316" cy="1030930"/>
          </a:xfrm>
        </p:spPr>
        <p:txBody>
          <a:bodyPr anchor="b"/>
          <a:lstStyle>
            <a:lvl1pPr algn="l">
              <a:defRPr sz="3200" b="1">
                <a:solidFill>
                  <a:schemeClr val="tx1"/>
                </a:solidFill>
                <a:latin typeface="+mn-lt"/>
              </a:defRPr>
            </a:lvl1pPr>
          </a:lstStyle>
          <a:p>
            <a:r>
              <a:rPr lang="en-US"/>
              <a:t>Click to edit Master title style</a:t>
            </a:r>
            <a:endParaRPr lang="en-US" dirty="0"/>
          </a:p>
        </p:txBody>
      </p:sp>
      <p:sp>
        <p:nvSpPr>
          <p:cNvPr id="3" name="Subtitle 2"/>
          <p:cNvSpPr>
            <a:spLocks noGrp="1"/>
          </p:cNvSpPr>
          <p:nvPr userDrawn="1">
            <p:ph type="subTitle" idx="1"/>
          </p:nvPr>
        </p:nvSpPr>
        <p:spPr>
          <a:xfrm>
            <a:off x="3177632" y="2085962"/>
            <a:ext cx="8292317" cy="2855300"/>
          </a:xfrm>
        </p:spPr>
        <p:txBody>
          <a:bodyPr lIns="109728"/>
          <a:lstStyle>
            <a:lvl1pPr marL="0" indent="0" algn="l">
              <a:buNone/>
              <a:defRPr sz="2400">
                <a:solidFill>
                  <a:schemeClr val="tx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2749" y="483164"/>
            <a:ext cx="2050840" cy="935496"/>
          </a:xfrm>
          <a:prstGeom prst="rect">
            <a:avLst/>
          </a:prstGeom>
        </p:spPr>
      </p:pic>
      <p:pic>
        <p:nvPicPr>
          <p:cNvPr id="16" name="Picture 15"/>
          <p:cNvPicPr>
            <a:picLocks noChangeAspect="1"/>
          </p:cNvPicPr>
          <p:nvPr userDrawn="1"/>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7289921" y="6322747"/>
            <a:ext cx="2409477" cy="401008"/>
          </a:xfrm>
          <a:prstGeom prst="rect">
            <a:avLst/>
          </a:prstGeom>
        </p:spPr>
      </p:pic>
      <p:pic>
        <p:nvPicPr>
          <p:cNvPr id="17" name="Picture 16"/>
          <p:cNvPicPr>
            <a:picLocks noChangeAspect="1"/>
          </p:cNvPicPr>
          <p:nvPr userDrawn="1"/>
        </p:nvPicPr>
        <p:blipFill rotWithShape="1">
          <a:blip r:embed="rId5" cstate="print">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rcRect b="70693"/>
          <a:stretch/>
        </p:blipFill>
        <p:spPr>
          <a:xfrm>
            <a:off x="10204521" y="6307740"/>
            <a:ext cx="1367541" cy="428915"/>
          </a:xfrm>
          <a:prstGeom prst="rect">
            <a:avLst/>
          </a:prstGeom>
        </p:spPr>
      </p:pic>
      <p:pic>
        <p:nvPicPr>
          <p:cNvPr id="8" name="Picture 7" descr="A picture containing shape&#10;&#10;Description automatically generated">
            <a:extLst>
              <a:ext uri="{FF2B5EF4-FFF2-40B4-BE49-F238E27FC236}">
                <a16:creationId xmlns:a16="http://schemas.microsoft.com/office/drawing/2014/main" id="{C432A180-7341-4E28-8C2B-73F9AB53D13F}"/>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333920" y="1848659"/>
            <a:ext cx="2108499" cy="914400"/>
          </a:xfrm>
          <a:prstGeom prst="rect">
            <a:avLst/>
          </a:prstGeom>
        </p:spPr>
      </p:pic>
      <p:pic>
        <p:nvPicPr>
          <p:cNvPr id="13" name="Picture 2" descr="https://licensebuttons.net/l/by/4.0/88x31.png">
            <a:extLst>
              <a:ext uri="{FF2B5EF4-FFF2-40B4-BE49-F238E27FC236}">
                <a16:creationId xmlns:a16="http://schemas.microsoft.com/office/drawing/2014/main" id="{FAFD7D99-41CA-4FD0-9396-9C5659F22045}"/>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969069" y="5841262"/>
            <a:ext cx="838200" cy="295275"/>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9D022D1C-99FF-490C-8690-D8081D33C0AF}"/>
              </a:ext>
            </a:extLst>
          </p:cNvPr>
          <p:cNvSpPr txBox="1"/>
          <p:nvPr userDrawn="1"/>
        </p:nvSpPr>
        <p:spPr>
          <a:xfrm>
            <a:off x="1810964" y="5776533"/>
            <a:ext cx="1171114" cy="424732"/>
          </a:xfrm>
          <a:prstGeom prst="rect">
            <a:avLst/>
          </a:prstGeom>
          <a:noFill/>
        </p:spPr>
        <p:txBody>
          <a:bodyPr wrap="square" rtlCol="0">
            <a:spAutoFit/>
          </a:bodyPr>
          <a:lstStyle/>
          <a:p>
            <a:pPr algn="ctr">
              <a:lnSpc>
                <a:spcPct val="90000"/>
              </a:lnSpc>
            </a:pPr>
            <a:r>
              <a:rPr lang="en-US" sz="1200" dirty="0"/>
              <a:t>See slide 2 for license details</a:t>
            </a:r>
          </a:p>
        </p:txBody>
      </p:sp>
      <p:pic>
        <p:nvPicPr>
          <p:cNvPr id="15" name="Picture 14">
            <a:extLst>
              <a:ext uri="{FF2B5EF4-FFF2-40B4-BE49-F238E27FC236}">
                <a16:creationId xmlns:a16="http://schemas.microsoft.com/office/drawing/2014/main" id="{C554CDC7-44CF-4751-9869-0265C8E01840}"/>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333211" y="3189686"/>
            <a:ext cx="2109916" cy="905256"/>
          </a:xfrm>
          <a:prstGeom prst="rect">
            <a:avLst/>
          </a:prstGeom>
        </p:spPr>
      </p:pic>
    </p:spTree>
    <p:extLst>
      <p:ext uri="{BB962C8B-B14F-4D97-AF65-F5344CB8AC3E}">
        <p14:creationId xmlns:p14="http://schemas.microsoft.com/office/powerpoint/2010/main" val="4512282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2473" cy="914400"/>
          </a:xfrm>
        </p:spPr>
        <p:txBody>
          <a:bodyPr anchor="t" anchorCtr="0"/>
          <a:lstStyle/>
          <a:p>
            <a:r>
              <a:rPr lang="en-US"/>
              <a:t>Click to edit Master title style</a:t>
            </a:r>
            <a:endParaRPr lang="en-US" dirty="0"/>
          </a:p>
        </p:txBody>
      </p:sp>
      <p:sp>
        <p:nvSpPr>
          <p:cNvPr id="3" name="Content Placeholder 2"/>
          <p:cNvSpPr>
            <a:spLocks noGrp="1"/>
          </p:cNvSpPr>
          <p:nvPr>
            <p:ph idx="1" hasCustomPrompt="1"/>
          </p:nvPr>
        </p:nvSpPr>
        <p:spPr>
          <a:xfrm>
            <a:off x="365760" y="1737360"/>
            <a:ext cx="11369809" cy="404777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marL="1482725" indent="-222250">
              <a:buFont typeface="Arial" panose="020B0604020202020204" pitchFamily="34" charset="0"/>
              <a:buChar cha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level0.4	</a:t>
            </a:r>
          </a:p>
        </p:txBody>
      </p:sp>
    </p:spTree>
    <p:extLst>
      <p:ext uri="{BB962C8B-B14F-4D97-AF65-F5344CB8AC3E}">
        <p14:creationId xmlns:p14="http://schemas.microsoft.com/office/powerpoint/2010/main" val="12092206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5136" cy="9144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hasCustomPrompt="1"/>
          </p:nvPr>
        </p:nvSpPr>
        <p:spPr>
          <a:xfrm>
            <a:off x="457200" y="1737360"/>
            <a:ext cx="5588582" cy="821190"/>
          </a:xfrm>
          <a:solidFill>
            <a:schemeClr val="accent1">
              <a:lumMod val="40000"/>
              <a:lumOff val="60000"/>
            </a:schemeClr>
          </a:solidFill>
          <a:ln w="19050">
            <a:solidFill>
              <a:schemeClr val="tx2">
                <a:lumMod val="60000"/>
                <a:lumOff val="40000"/>
              </a:schemeClr>
            </a:solidFill>
          </a:ln>
        </p:spPr>
        <p:txBody>
          <a:bodyPr anchor="b"/>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558550"/>
            <a:ext cx="5588582" cy="3373229"/>
          </a:xfrm>
          <a:noFill/>
          <a:ln w="19050">
            <a:gradFill flip="none" rotWithShape="1">
              <a:gsLst>
                <a:gs pos="0">
                  <a:schemeClr val="bg1">
                    <a:alpha val="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tileRect/>
            </a:gradFill>
          </a:ln>
        </p:spPr>
        <p:txBody>
          <a:bodyPr/>
          <a:lstStyle>
            <a:lvl1pPr>
              <a:defRPr sz="2000"/>
            </a:lvl1pPr>
            <a:lvl2pPr>
              <a:defRPr sz="1800"/>
            </a:lvl2pPr>
            <a:lvl3pPr>
              <a:defRPr sz="1600"/>
            </a:lvl3pPr>
            <a:lvl4pPr>
              <a:defRPr sz="1400"/>
            </a:lvl4pPr>
            <a:lvl5pPr marL="1482725" indent="-222250">
              <a:buFont typeface="Arial" panose="020B0604020202020204" pitchFamily="34" charset="0"/>
              <a:buChar cha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8914" y="1737360"/>
            <a:ext cx="5531934" cy="821190"/>
          </a:xfrm>
          <a:solidFill>
            <a:schemeClr val="accent1">
              <a:lumMod val="40000"/>
              <a:lumOff val="60000"/>
            </a:schemeClr>
          </a:solidFill>
          <a:ln w="19050">
            <a:solidFill>
              <a:schemeClr val="tx2">
                <a:lumMod val="60000"/>
                <a:lumOff val="40000"/>
              </a:schemeClr>
            </a:solidFill>
          </a:ln>
        </p:spPr>
        <p:txBody>
          <a:bodyPr anchor="b"/>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8914" y="2558550"/>
            <a:ext cx="5531934" cy="3373229"/>
          </a:xfrm>
          <a:noFill/>
          <a:ln w="19050">
            <a:gradFill flip="none" rotWithShape="1">
              <a:gsLst>
                <a:gs pos="0">
                  <a:schemeClr val="bg1">
                    <a:alpha val="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tileRect/>
            </a:gradFill>
          </a:ln>
        </p:spPr>
        <p:txBody>
          <a:bodyPr/>
          <a:lstStyle>
            <a:lvl1pPr>
              <a:defRPr sz="2000"/>
            </a:lvl1pPr>
            <a:lvl2pPr>
              <a:defRPr sz="1800"/>
            </a:lvl2pPr>
            <a:lvl3pPr>
              <a:defRPr sz="1600"/>
            </a:lvl3pPr>
            <a:lvl4pPr>
              <a:defRPr sz="1400"/>
            </a:lvl4pPr>
            <a:lvl5pPr marL="1482725" indent="-222250">
              <a:defRPr lang="en-US" sz="1600" kern="1200" dirty="0">
                <a:solidFill>
                  <a:schemeClr val="tx1"/>
                </a:solidFill>
                <a:latin typeface="+mn-lt"/>
                <a:ea typeface="+mn-ea"/>
                <a:cs typeface="+mn-cs"/>
              </a:defRPr>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748649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ad chart">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7465488" cy="810738"/>
          </a:xfrm>
        </p:spPr>
        <p:txBody>
          <a:bodyPr/>
          <a:lstStyle>
            <a:lvl1pPr>
              <a:defRPr sz="2400"/>
            </a:lvl1pPr>
          </a:lstStyle>
          <a:p>
            <a:r>
              <a:rPr lang="en-US"/>
              <a:t>Click to edit Master title style</a:t>
            </a:r>
            <a:endParaRPr lang="en-US" dirty="0"/>
          </a:p>
        </p:txBody>
      </p:sp>
      <p:sp>
        <p:nvSpPr>
          <p:cNvPr id="3" name="Text Placeholder 2"/>
          <p:cNvSpPr>
            <a:spLocks noGrp="1"/>
          </p:cNvSpPr>
          <p:nvPr>
            <p:ph type="body" idx="1" hasCustomPrompt="1"/>
          </p:nvPr>
        </p:nvSpPr>
        <p:spPr>
          <a:xfrm>
            <a:off x="448056" y="1316736"/>
            <a:ext cx="5605272" cy="347472"/>
          </a:xfrm>
          <a:solidFill>
            <a:schemeClr val="accent3"/>
          </a:solidFill>
          <a:ln w="19050">
            <a:solidFill>
              <a:schemeClr val="tx2">
                <a:lumMod val="60000"/>
                <a:lumOff val="40000"/>
              </a:schemeClr>
            </a:solidFill>
          </a:ln>
        </p:spPr>
        <p:txBody>
          <a:bodyPr anchor="ctr"/>
          <a:lstStyle>
            <a:lvl1pPr marL="0" indent="0">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hasCustomPrompt="1"/>
          </p:nvPr>
        </p:nvSpPr>
        <p:spPr>
          <a:xfrm>
            <a:off x="448056" y="1655064"/>
            <a:ext cx="5605272" cy="1316736"/>
          </a:xfrm>
          <a:noFill/>
          <a:ln w="19050">
            <a:gradFill flip="none" rotWithShape="1">
              <a:gsLst>
                <a:gs pos="0">
                  <a:schemeClr val="bg1">
                    <a:alpha val="0"/>
                  </a:schemeClr>
                </a:gs>
                <a:gs pos="100000">
                  <a:schemeClr val="accent3"/>
                </a:gs>
              </a:gsLst>
              <a:lin ang="16200000" scaled="1"/>
              <a:tileRect/>
            </a:gradFill>
          </a:ln>
        </p:spPr>
        <p:txBody>
          <a:bodyPr/>
          <a:lstStyle>
            <a:lvl1pPr>
              <a:defRPr sz="1800"/>
            </a:lvl1pPr>
            <a:lvl2pPr>
              <a:defRPr sz="1600"/>
            </a:lvl2pPr>
            <a:lvl3pPr>
              <a:defRPr sz="1400"/>
            </a:lvl3pPr>
            <a:lvl4pPr>
              <a:defRPr sz="1200"/>
            </a:lvl4pPr>
            <a:lvl5pPr marL="1482725" indent="-222250">
              <a:buFont typeface="Arial" panose="020B0604020202020204" pitchFamily="34" charset="0"/>
              <a:buChar char="•"/>
              <a:defRPr sz="14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p:txBody>
      </p:sp>
      <p:sp>
        <p:nvSpPr>
          <p:cNvPr id="5" name="Text Placeholder 4"/>
          <p:cNvSpPr>
            <a:spLocks noGrp="1"/>
          </p:cNvSpPr>
          <p:nvPr>
            <p:ph type="body" sz="quarter" idx="3" hasCustomPrompt="1"/>
          </p:nvPr>
        </p:nvSpPr>
        <p:spPr>
          <a:xfrm>
            <a:off x="6153912" y="1316736"/>
            <a:ext cx="5605272" cy="347472"/>
          </a:xfrm>
          <a:solidFill>
            <a:schemeClr val="accent3"/>
          </a:solidFill>
          <a:ln w="19050">
            <a:solidFill>
              <a:schemeClr val="tx2">
                <a:lumMod val="60000"/>
                <a:lumOff val="40000"/>
              </a:schemeClr>
            </a:solidFill>
          </a:ln>
        </p:spPr>
        <p:txBody>
          <a:bodyPr anchor="ctr"/>
          <a:lstStyle>
            <a:lvl1pPr marL="0" indent="0">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hasCustomPrompt="1"/>
          </p:nvPr>
        </p:nvSpPr>
        <p:spPr>
          <a:xfrm>
            <a:off x="6153912" y="1655064"/>
            <a:ext cx="5605272" cy="1316736"/>
          </a:xfrm>
          <a:noFill/>
          <a:ln w="19050">
            <a:gradFill flip="none" rotWithShape="1">
              <a:gsLst>
                <a:gs pos="0">
                  <a:schemeClr val="bg1">
                    <a:alpha val="0"/>
                  </a:schemeClr>
                </a:gs>
                <a:gs pos="100000">
                  <a:schemeClr val="accent3"/>
                </a:gs>
              </a:gsLst>
              <a:lin ang="16200000" scaled="1"/>
              <a:tileRect/>
            </a:gradFill>
          </a:ln>
        </p:spPr>
        <p:txBody>
          <a:bodyPr/>
          <a:lstStyle>
            <a:lvl1pPr>
              <a:defRPr sz="1800"/>
            </a:lvl1pPr>
            <a:lvl2pPr>
              <a:defRPr sz="1600"/>
            </a:lvl2pPr>
            <a:lvl3pPr>
              <a:defRPr sz="1400"/>
            </a:lvl3pPr>
            <a:lvl4pPr>
              <a:defRPr sz="1200"/>
            </a:lvl4pPr>
            <a:lvl5pPr marL="1482725" indent="-222250">
              <a:defRPr lang="en-US" sz="1400" kern="1200" dirty="0">
                <a:solidFill>
                  <a:schemeClr val="tx1"/>
                </a:solidFill>
                <a:latin typeface="+mn-lt"/>
                <a:ea typeface="+mn-ea"/>
                <a:cs typeface="+mn-cs"/>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p:txBody>
      </p:sp>
      <p:sp>
        <p:nvSpPr>
          <p:cNvPr id="10" name="Text Placeholder 9">
            <a:extLst>
              <a:ext uri="{FF2B5EF4-FFF2-40B4-BE49-F238E27FC236}">
                <a16:creationId xmlns:a16="http://schemas.microsoft.com/office/drawing/2014/main" id="{1AC1494F-06BF-478E-BCF5-6FCC755EF91F}"/>
              </a:ext>
            </a:extLst>
          </p:cNvPr>
          <p:cNvSpPr>
            <a:spLocks noGrp="1"/>
          </p:cNvSpPr>
          <p:nvPr>
            <p:ph type="body" sz="quarter" idx="10" hasCustomPrompt="1"/>
          </p:nvPr>
        </p:nvSpPr>
        <p:spPr>
          <a:xfrm>
            <a:off x="447675" y="3438144"/>
            <a:ext cx="5605463" cy="338138"/>
          </a:xfrm>
          <a:solidFill>
            <a:schemeClr val="accent3"/>
          </a:solidFill>
          <a:ln w="19050">
            <a:solidFill>
              <a:schemeClr val="tx2">
                <a:lumMod val="60000"/>
                <a:lumOff val="40000"/>
              </a:schemeClr>
            </a:solidFill>
            <a:miter lim="800000"/>
            <a:headEnd/>
            <a:tailEnd/>
          </a:ln>
        </p:spPr>
        <p:txBody>
          <a:bodyPr vert="horz" wrap="square" lIns="91440" tIns="45720" rIns="91440" bIns="45720" numCol="1" anchor="ctr" anchorCtr="0" compatLnSpc="1">
            <a:prstTxWarp prst="textNoShape">
              <a:avLst/>
            </a:prstTxWarp>
            <a:noAutofit/>
          </a:bodyPr>
          <a:lstStyle>
            <a:lvl1pPr marL="0" indent="0">
              <a:buNone/>
              <a:defRPr lang="en-US" sz="1800" b="0" smtClean="0">
                <a:solidFill>
                  <a:schemeClr val="bg1"/>
                </a:solidFill>
              </a:defRPr>
            </a:lvl1pPr>
            <a:lvl2pPr>
              <a:defRPr lang="en-US" b="1" smtClean="0">
                <a:solidFill>
                  <a:schemeClr val="bg1"/>
                </a:solidFill>
              </a:defRPr>
            </a:lvl2pPr>
            <a:lvl3pPr>
              <a:defRPr lang="en-US" b="1" smtClean="0">
                <a:solidFill>
                  <a:schemeClr val="bg1"/>
                </a:solidFill>
              </a:defRPr>
            </a:lvl3pPr>
            <a:lvl4pPr>
              <a:defRPr lang="en-US" b="1" smtClean="0">
                <a:solidFill>
                  <a:schemeClr val="bg1"/>
                </a:solidFill>
              </a:defRPr>
            </a:lvl4pPr>
            <a:lvl5pPr>
              <a:defRPr lang="en-US" b="1">
                <a:solidFill>
                  <a:schemeClr val="bg1"/>
                </a:solidFill>
              </a:defRPr>
            </a:lvl5pPr>
          </a:lstStyle>
          <a:p>
            <a:pPr marL="230188" lvl="0" indent="-230188"/>
            <a:r>
              <a:rPr lang="en-US" dirty="0"/>
              <a:t>Click to edit Master text styles</a:t>
            </a:r>
          </a:p>
        </p:txBody>
      </p:sp>
      <p:sp>
        <p:nvSpPr>
          <p:cNvPr id="12" name="Text Placeholder 11">
            <a:extLst>
              <a:ext uri="{FF2B5EF4-FFF2-40B4-BE49-F238E27FC236}">
                <a16:creationId xmlns:a16="http://schemas.microsoft.com/office/drawing/2014/main" id="{DE13F5F8-5DA4-4A7D-94FF-19BFEBF090FD}"/>
              </a:ext>
            </a:extLst>
          </p:cNvPr>
          <p:cNvSpPr>
            <a:spLocks noGrp="1"/>
          </p:cNvSpPr>
          <p:nvPr>
            <p:ph type="body" sz="quarter" idx="11" hasCustomPrompt="1"/>
          </p:nvPr>
        </p:nvSpPr>
        <p:spPr>
          <a:xfrm>
            <a:off x="6153150" y="3438144"/>
            <a:ext cx="5605463" cy="338138"/>
          </a:xfrm>
          <a:solidFill>
            <a:schemeClr val="accent3"/>
          </a:solidFill>
          <a:ln w="19050">
            <a:solidFill>
              <a:schemeClr val="tx2">
                <a:lumMod val="60000"/>
                <a:lumOff val="40000"/>
              </a:schemeClr>
            </a:solidFill>
            <a:miter lim="800000"/>
            <a:headEnd/>
            <a:tailEnd/>
          </a:ln>
        </p:spPr>
        <p:txBody>
          <a:bodyPr vert="horz" wrap="square" lIns="91440" tIns="45720" rIns="91440" bIns="45720" numCol="1" anchor="ctr" anchorCtr="0" compatLnSpc="1">
            <a:prstTxWarp prst="textNoShape">
              <a:avLst/>
            </a:prstTxWarp>
            <a:noAutofit/>
          </a:bodyPr>
          <a:lstStyle>
            <a:lvl1pPr marL="0" indent="0">
              <a:buNone/>
              <a:defRPr lang="en-US" sz="1800" b="0" smtClean="0">
                <a:solidFill>
                  <a:schemeClr val="bg1"/>
                </a:solidFill>
              </a:defRPr>
            </a:lvl1pPr>
            <a:lvl2pPr>
              <a:defRPr lang="en-US" b="1" smtClean="0">
                <a:solidFill>
                  <a:schemeClr val="bg1"/>
                </a:solidFill>
              </a:defRPr>
            </a:lvl2pPr>
            <a:lvl3pPr>
              <a:defRPr lang="en-US" b="1" smtClean="0">
                <a:solidFill>
                  <a:schemeClr val="bg1"/>
                </a:solidFill>
              </a:defRPr>
            </a:lvl3pPr>
            <a:lvl4pPr>
              <a:defRPr lang="en-US" b="1" smtClean="0">
                <a:solidFill>
                  <a:schemeClr val="bg1"/>
                </a:solidFill>
              </a:defRPr>
            </a:lvl4pPr>
            <a:lvl5pPr>
              <a:defRPr lang="en-US" b="1">
                <a:solidFill>
                  <a:schemeClr val="bg1"/>
                </a:solidFill>
              </a:defRPr>
            </a:lvl5pPr>
          </a:lstStyle>
          <a:p>
            <a:pPr marL="230188" lvl="0" indent="-230188"/>
            <a:r>
              <a:rPr lang="en-US" dirty="0"/>
              <a:t>Click to edit Master text styles</a:t>
            </a:r>
          </a:p>
        </p:txBody>
      </p:sp>
      <p:sp>
        <p:nvSpPr>
          <p:cNvPr id="14" name="Text Placeholder 13">
            <a:extLst>
              <a:ext uri="{FF2B5EF4-FFF2-40B4-BE49-F238E27FC236}">
                <a16:creationId xmlns:a16="http://schemas.microsoft.com/office/drawing/2014/main" id="{11508C29-BEAF-4D1B-85C7-62D86B9A99F0}"/>
              </a:ext>
            </a:extLst>
          </p:cNvPr>
          <p:cNvSpPr>
            <a:spLocks noGrp="1"/>
          </p:cNvSpPr>
          <p:nvPr>
            <p:ph type="body" sz="quarter" idx="12"/>
          </p:nvPr>
        </p:nvSpPr>
        <p:spPr>
          <a:xfrm>
            <a:off x="447675" y="3776472"/>
            <a:ext cx="5605463" cy="1316736"/>
          </a:xfrm>
          <a:noFill/>
          <a:ln w="19050">
            <a:gradFill flip="none" rotWithShape="1">
              <a:gsLst>
                <a:gs pos="0">
                  <a:schemeClr val="bg1">
                    <a:alpha val="0"/>
                  </a:schemeClr>
                </a:gs>
                <a:gs pos="100000">
                  <a:schemeClr val="accent3"/>
                </a:gs>
              </a:gsLst>
              <a:lin ang="16200000" scaled="1"/>
              <a:tileRect/>
            </a:gradFill>
            <a:miter lim="800000"/>
            <a:headEnd/>
            <a:tailEnd/>
          </a:ln>
        </p:spPr>
        <p:txBody>
          <a:bodyPr vert="horz" wrap="square" lIns="91440" tIns="45720" rIns="91440" bIns="45720" numCol="1" anchor="t" anchorCtr="0" compatLnSpc="1">
            <a:prstTxWarp prst="textNoShape">
              <a:avLst/>
            </a:prstTxWarp>
            <a:noAutofit/>
          </a:bodyPr>
          <a:lstStyle>
            <a:lvl1pPr>
              <a:defRPr lang="en-US" sz="1800" smtClean="0"/>
            </a:lvl1pPr>
            <a:lvl2pPr>
              <a:defRPr lang="en-US" sz="1600" smtClean="0"/>
            </a:lvl2pPr>
            <a:lvl3pPr>
              <a:defRPr lang="en-US" sz="1400" smtClean="0"/>
            </a:lvl3pPr>
            <a:lvl4pPr>
              <a:defRPr lang="en-US" sz="1200" smtClean="0"/>
            </a:lvl4pPr>
            <a:lvl5pPr>
              <a:defRPr lang="en-US" sz="1400"/>
            </a:lvl5pPr>
          </a:lstStyle>
          <a:p>
            <a:pPr lvl="0"/>
            <a:r>
              <a:rPr lang="en-US"/>
              <a:t>Edit Master text styles</a:t>
            </a:r>
          </a:p>
          <a:p>
            <a:pPr lvl="1"/>
            <a:r>
              <a:rPr lang="en-US"/>
              <a:t>Second level</a:t>
            </a:r>
          </a:p>
          <a:p>
            <a:pPr lvl="2"/>
            <a:r>
              <a:rPr lang="en-US"/>
              <a:t>Third level</a:t>
            </a:r>
          </a:p>
        </p:txBody>
      </p:sp>
      <p:sp>
        <p:nvSpPr>
          <p:cNvPr id="16" name="Text Placeholder 15">
            <a:extLst>
              <a:ext uri="{FF2B5EF4-FFF2-40B4-BE49-F238E27FC236}">
                <a16:creationId xmlns:a16="http://schemas.microsoft.com/office/drawing/2014/main" id="{DA42C277-CD07-4855-BE2B-F5804018ECD9}"/>
              </a:ext>
            </a:extLst>
          </p:cNvPr>
          <p:cNvSpPr>
            <a:spLocks noGrp="1"/>
          </p:cNvSpPr>
          <p:nvPr>
            <p:ph type="body" sz="quarter" idx="13"/>
          </p:nvPr>
        </p:nvSpPr>
        <p:spPr>
          <a:xfrm>
            <a:off x="6153150" y="3776472"/>
            <a:ext cx="5605463" cy="1316736"/>
          </a:xfrm>
          <a:noFill/>
          <a:ln w="19050">
            <a:gradFill flip="none" rotWithShape="1">
              <a:gsLst>
                <a:gs pos="0">
                  <a:schemeClr val="bg1">
                    <a:alpha val="0"/>
                  </a:schemeClr>
                </a:gs>
                <a:gs pos="100000">
                  <a:schemeClr val="accent3"/>
                </a:gs>
              </a:gsLst>
              <a:lin ang="16200000" scaled="1"/>
              <a:tileRect/>
            </a:gradFill>
            <a:miter lim="800000"/>
            <a:headEnd/>
            <a:tailEnd/>
          </a:ln>
        </p:spPr>
        <p:txBody>
          <a:bodyPr vert="horz" wrap="square" lIns="91440" tIns="45720" rIns="91440" bIns="45720" numCol="1" anchor="t" anchorCtr="0" compatLnSpc="1">
            <a:prstTxWarp prst="textNoShape">
              <a:avLst/>
            </a:prstTxWarp>
            <a:noAutofit/>
          </a:bodyPr>
          <a:lstStyle>
            <a:lvl1pPr>
              <a:defRPr lang="en-US" sz="1800" smtClean="0"/>
            </a:lvl1pPr>
            <a:lvl2pPr>
              <a:defRPr lang="en-US" sz="1600" smtClean="0"/>
            </a:lvl2pPr>
            <a:lvl3pPr>
              <a:defRPr lang="en-US" sz="1400" smtClean="0"/>
            </a:lvl3pPr>
            <a:lvl4pPr>
              <a:defRPr lang="en-US" sz="1200" smtClean="0"/>
            </a:lvl4pPr>
            <a:lvl5pPr>
              <a:defRPr lang="en-US" sz="1400"/>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754637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5136" cy="914400"/>
          </a:xfrm>
        </p:spPr>
        <p:txBody>
          <a:bodyPr/>
          <a:lstStyle/>
          <a:p>
            <a:r>
              <a:rPr lang="en-US"/>
              <a:t>Click to edit Master title style</a:t>
            </a:r>
            <a:endParaRPr lang="en-US" dirty="0"/>
          </a:p>
        </p:txBody>
      </p:sp>
    </p:spTree>
    <p:extLst>
      <p:ext uri="{BB962C8B-B14F-4D97-AF65-F5344CB8AC3E}">
        <p14:creationId xmlns:p14="http://schemas.microsoft.com/office/powerpoint/2010/main" val="6121090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5136" cy="914400"/>
          </a:xfrm>
        </p:spPr>
        <p:txBody>
          <a:bodyPr/>
          <a:lstStyle/>
          <a:p>
            <a:r>
              <a:rPr lang="en-US"/>
              <a:t>Click to edit Master title style</a:t>
            </a:r>
            <a:endParaRPr lang="en-US" dirty="0"/>
          </a:p>
        </p:txBody>
      </p:sp>
    </p:spTree>
    <p:extLst>
      <p:ext uri="{BB962C8B-B14F-4D97-AF65-F5344CB8AC3E}">
        <p14:creationId xmlns:p14="http://schemas.microsoft.com/office/powerpoint/2010/main" val="21988677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162" y="2130428"/>
            <a:ext cx="10360501" cy="1470025"/>
          </a:xfrm>
        </p:spPr>
        <p:txBody>
          <a:bodyPr/>
          <a:lstStyle/>
          <a:p>
            <a:r>
              <a:rPr lang="en-US"/>
              <a:t>Click to edit Master title style</a:t>
            </a:r>
          </a:p>
        </p:txBody>
      </p:sp>
      <p:sp>
        <p:nvSpPr>
          <p:cNvPr id="3" name="Subtitle 2"/>
          <p:cNvSpPr>
            <a:spLocks noGrp="1"/>
          </p:cNvSpPr>
          <p:nvPr>
            <p:ph type="subTitle" idx="1"/>
          </p:nvPr>
        </p:nvSpPr>
        <p:spPr>
          <a:xfrm>
            <a:off x="1828324" y="3886200"/>
            <a:ext cx="8532178"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7102482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9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E2177C6-060C-4445-8C10-ADA6D3CE5F74}"/>
              </a:ext>
            </a:extLst>
          </p:cNvPr>
          <p:cNvSpPr/>
          <p:nvPr userDrawn="1"/>
        </p:nvSpPr>
        <p:spPr>
          <a:xfrm>
            <a:off x="0" y="6186396"/>
            <a:ext cx="12188825" cy="671604"/>
          </a:xfrm>
          <a:prstGeom prst="rect">
            <a:avLst/>
          </a:prstGeom>
          <a:solidFill>
            <a:schemeClr val="accent1">
              <a:lumMod val="75000"/>
            </a:schemeClr>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548640" tIns="45720" rIns="45720" bIns="45720" numCol="1" spcCol="0" rtlCol="0" fromWordArt="0" anchor="ctr" anchorCtr="0" forceAA="0" compatLnSpc="1">
            <a:prstTxWarp prst="textNoShape">
              <a:avLst/>
            </a:prstTxWarp>
            <a:noAutofit/>
          </a:bodyPr>
          <a:lstStyle/>
          <a:p>
            <a:pPr algn="l">
              <a:lnSpc>
                <a:spcPct val="90000"/>
              </a:lnSpc>
            </a:pPr>
            <a:endParaRPr lang="en-US" sz="1600" dirty="0">
              <a:ln>
                <a:noFill/>
              </a:ln>
              <a:solidFill>
                <a:schemeClr val="bg1"/>
              </a:solidFill>
            </a:endParaRPr>
          </a:p>
        </p:txBody>
      </p:sp>
      <p:sp>
        <p:nvSpPr>
          <p:cNvPr id="22" name="Rectangle 21"/>
          <p:cNvSpPr/>
          <p:nvPr userDrawn="1"/>
        </p:nvSpPr>
        <p:spPr>
          <a:xfrm>
            <a:off x="8305800" y="5921829"/>
            <a:ext cx="3883025" cy="936171"/>
          </a:xfrm>
          <a:prstGeom prst="rect">
            <a:avLst/>
          </a:prstGeom>
          <a:no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lnSpc>
                <a:spcPct val="90000"/>
              </a:lnSpc>
            </a:pPr>
            <a:endParaRPr lang="en-US" dirty="0">
              <a:solidFill>
                <a:schemeClr val="tx1"/>
              </a:solidFill>
            </a:endParaRPr>
          </a:p>
        </p:txBody>
      </p:sp>
      <p:sp>
        <p:nvSpPr>
          <p:cNvPr id="2" name="Title 1"/>
          <p:cNvSpPr>
            <a:spLocks noGrp="1"/>
          </p:cNvSpPr>
          <p:nvPr userDrawn="1">
            <p:ph type="ctrTitle"/>
          </p:nvPr>
        </p:nvSpPr>
        <p:spPr>
          <a:xfrm>
            <a:off x="3177633" y="503144"/>
            <a:ext cx="8292316" cy="1030930"/>
          </a:xfrm>
        </p:spPr>
        <p:txBody>
          <a:bodyPr anchor="b"/>
          <a:lstStyle>
            <a:lvl1pPr algn="l">
              <a:defRPr sz="3200" b="1">
                <a:solidFill>
                  <a:schemeClr val="tx1"/>
                </a:solidFill>
                <a:latin typeface="+mn-lt"/>
              </a:defRPr>
            </a:lvl1pPr>
          </a:lstStyle>
          <a:p>
            <a:r>
              <a:rPr lang="en-US" dirty="0"/>
              <a:t>Click to edit Master title style</a:t>
            </a:r>
          </a:p>
        </p:txBody>
      </p:sp>
      <p:pic>
        <p:nvPicPr>
          <p:cNvPr id="13" name="Picture 2" descr="https://licensebuttons.net/l/by/4.0/88x31.png">
            <a:extLst>
              <a:ext uri="{FF2B5EF4-FFF2-40B4-BE49-F238E27FC236}">
                <a16:creationId xmlns:a16="http://schemas.microsoft.com/office/drawing/2014/main" id="{FAFD7D99-41CA-4FD0-9396-9C5659F2204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69069" y="5841262"/>
            <a:ext cx="838200" cy="295275"/>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9D022D1C-99FF-490C-8690-D8081D33C0AF}"/>
              </a:ext>
            </a:extLst>
          </p:cNvPr>
          <p:cNvSpPr txBox="1"/>
          <p:nvPr userDrawn="1"/>
        </p:nvSpPr>
        <p:spPr>
          <a:xfrm>
            <a:off x="1810964" y="5776533"/>
            <a:ext cx="1171114" cy="424732"/>
          </a:xfrm>
          <a:prstGeom prst="rect">
            <a:avLst/>
          </a:prstGeom>
          <a:noFill/>
        </p:spPr>
        <p:txBody>
          <a:bodyPr wrap="square" rtlCol="0">
            <a:spAutoFit/>
          </a:bodyPr>
          <a:lstStyle/>
          <a:p>
            <a:pPr algn="ctr">
              <a:lnSpc>
                <a:spcPct val="90000"/>
              </a:lnSpc>
            </a:pPr>
            <a:r>
              <a:rPr lang="en-US" sz="1200" dirty="0"/>
              <a:t>See slide 2 for license details</a:t>
            </a:r>
          </a:p>
        </p:txBody>
      </p:sp>
      <p:sp>
        <p:nvSpPr>
          <p:cNvPr id="6" name="Text Placeholder 5">
            <a:extLst>
              <a:ext uri="{FF2B5EF4-FFF2-40B4-BE49-F238E27FC236}">
                <a16:creationId xmlns:a16="http://schemas.microsoft.com/office/drawing/2014/main" id="{516372F2-F09E-4139-B638-4F1B290B77B9}"/>
              </a:ext>
            </a:extLst>
          </p:cNvPr>
          <p:cNvSpPr>
            <a:spLocks noGrp="1"/>
          </p:cNvSpPr>
          <p:nvPr>
            <p:ph type="body" sz="quarter" idx="10" hasCustomPrompt="1"/>
          </p:nvPr>
        </p:nvSpPr>
        <p:spPr>
          <a:xfrm>
            <a:off x="9335896" y="5913283"/>
            <a:ext cx="2852929" cy="262814"/>
          </a:xfrm>
        </p:spPr>
        <p:txBody>
          <a:bodyPr/>
          <a:lstStyle>
            <a:lvl1pPr marL="0" indent="0" algn="r">
              <a:buNone/>
              <a:defRPr sz="1200"/>
            </a:lvl1pPr>
          </a:lstStyle>
          <a:p>
            <a:pPr lvl="0"/>
            <a:r>
              <a:rPr lang="en-US" dirty="0"/>
              <a:t>R&amp;R number (if required)</a:t>
            </a:r>
          </a:p>
        </p:txBody>
      </p:sp>
      <p:sp>
        <p:nvSpPr>
          <p:cNvPr id="9" name="Text Placeholder 8">
            <a:extLst>
              <a:ext uri="{FF2B5EF4-FFF2-40B4-BE49-F238E27FC236}">
                <a16:creationId xmlns:a16="http://schemas.microsoft.com/office/drawing/2014/main" id="{7A08ED72-5D36-44C1-A3D6-C72E158E1FA6}"/>
              </a:ext>
            </a:extLst>
          </p:cNvPr>
          <p:cNvSpPr>
            <a:spLocks noGrp="1"/>
          </p:cNvSpPr>
          <p:nvPr>
            <p:ph type="body" sz="quarter" idx="11" hasCustomPrompt="1"/>
          </p:nvPr>
        </p:nvSpPr>
        <p:spPr>
          <a:xfrm>
            <a:off x="3176924" y="2085870"/>
            <a:ext cx="2427268" cy="424732"/>
          </a:xfrm>
        </p:spPr>
        <p:txBody>
          <a:bodyPr wrap="none">
            <a:spAutoFit/>
          </a:bodyPr>
          <a:lstStyle>
            <a:lvl1pPr marL="0" indent="0">
              <a:buNone/>
              <a:defRPr u="sng"/>
            </a:lvl1pPr>
          </a:lstStyle>
          <a:p>
            <a:pPr lvl="0"/>
            <a:r>
              <a:rPr lang="en-US" dirty="0"/>
              <a:t>Presenter Name</a:t>
            </a:r>
          </a:p>
        </p:txBody>
      </p:sp>
      <p:sp>
        <p:nvSpPr>
          <p:cNvPr id="11" name="Text Placeholder 10">
            <a:extLst>
              <a:ext uri="{FF2B5EF4-FFF2-40B4-BE49-F238E27FC236}">
                <a16:creationId xmlns:a16="http://schemas.microsoft.com/office/drawing/2014/main" id="{07C2C5E0-3F9A-4B6C-82C6-FEE7176DA8DC}"/>
              </a:ext>
            </a:extLst>
          </p:cNvPr>
          <p:cNvSpPr>
            <a:spLocks noGrp="1"/>
          </p:cNvSpPr>
          <p:nvPr>
            <p:ph type="body" sz="quarter" idx="12" hasCustomPrompt="1"/>
          </p:nvPr>
        </p:nvSpPr>
        <p:spPr>
          <a:xfrm>
            <a:off x="5667411" y="2134517"/>
            <a:ext cx="1690167" cy="376085"/>
          </a:xfrm>
        </p:spPr>
        <p:txBody>
          <a:bodyPr>
            <a:spAutoFit/>
          </a:bodyPr>
          <a:lstStyle>
            <a:lvl1pPr marL="0" indent="0">
              <a:buNone/>
              <a:defRPr sz="2000"/>
            </a:lvl1pPr>
          </a:lstStyle>
          <a:p>
            <a:pPr lvl="0"/>
            <a:r>
              <a:rPr lang="en-US" dirty="0"/>
              <a:t>(pronouns)</a:t>
            </a:r>
          </a:p>
        </p:txBody>
      </p:sp>
      <p:sp>
        <p:nvSpPr>
          <p:cNvPr id="20" name="Text Placeholder 10">
            <a:extLst>
              <a:ext uri="{FF2B5EF4-FFF2-40B4-BE49-F238E27FC236}">
                <a16:creationId xmlns:a16="http://schemas.microsoft.com/office/drawing/2014/main" id="{6EE16D41-009C-4DB1-A6DF-FEBADC8C343B}"/>
              </a:ext>
            </a:extLst>
          </p:cNvPr>
          <p:cNvSpPr>
            <a:spLocks noGrp="1"/>
          </p:cNvSpPr>
          <p:nvPr>
            <p:ph type="body" sz="quarter" idx="13" hasCustomPrompt="1"/>
          </p:nvPr>
        </p:nvSpPr>
        <p:spPr>
          <a:xfrm>
            <a:off x="3176924" y="2459716"/>
            <a:ext cx="8292315" cy="369332"/>
          </a:xfrm>
        </p:spPr>
        <p:txBody>
          <a:bodyPr wrap="square">
            <a:spAutoFit/>
          </a:bodyPr>
          <a:lstStyle>
            <a:lvl1pPr marL="0" indent="0">
              <a:buNone/>
              <a:defRPr sz="2000"/>
            </a:lvl1pPr>
          </a:lstStyle>
          <a:p>
            <a:pPr lvl="0"/>
            <a:r>
              <a:rPr lang="en-US" dirty="0"/>
              <a:t>Long affiliation</a:t>
            </a:r>
          </a:p>
        </p:txBody>
      </p:sp>
      <p:sp>
        <p:nvSpPr>
          <p:cNvPr id="21" name="Text Placeholder 10">
            <a:extLst>
              <a:ext uri="{FF2B5EF4-FFF2-40B4-BE49-F238E27FC236}">
                <a16:creationId xmlns:a16="http://schemas.microsoft.com/office/drawing/2014/main" id="{8E791C6E-DB06-44D1-AB4E-AA0EF8215FBB}"/>
              </a:ext>
            </a:extLst>
          </p:cNvPr>
          <p:cNvSpPr>
            <a:spLocks noGrp="1"/>
          </p:cNvSpPr>
          <p:nvPr>
            <p:ph type="body" sz="quarter" idx="14" hasCustomPrompt="1"/>
          </p:nvPr>
        </p:nvSpPr>
        <p:spPr>
          <a:xfrm>
            <a:off x="3176925" y="3161813"/>
            <a:ext cx="8292316" cy="369332"/>
          </a:xfrm>
        </p:spPr>
        <p:txBody>
          <a:bodyPr wrap="square">
            <a:spAutoFit/>
          </a:bodyPr>
          <a:lstStyle>
            <a:lvl1pPr marL="0" indent="0">
              <a:buNone/>
              <a:defRPr sz="2000"/>
            </a:lvl1pPr>
          </a:lstStyle>
          <a:p>
            <a:pPr lvl="0"/>
            <a:r>
              <a:rPr lang="en-US" dirty="0"/>
              <a:t>Tutorial title @ Venue</a:t>
            </a:r>
          </a:p>
        </p:txBody>
      </p:sp>
      <p:sp>
        <p:nvSpPr>
          <p:cNvPr id="23" name="Text Placeholder 10">
            <a:extLst>
              <a:ext uri="{FF2B5EF4-FFF2-40B4-BE49-F238E27FC236}">
                <a16:creationId xmlns:a16="http://schemas.microsoft.com/office/drawing/2014/main" id="{AA4CD3CE-55B5-4132-9AC3-B94506768C36}"/>
              </a:ext>
            </a:extLst>
          </p:cNvPr>
          <p:cNvSpPr>
            <a:spLocks noGrp="1"/>
          </p:cNvSpPr>
          <p:nvPr>
            <p:ph type="body" sz="quarter" idx="15" hasCustomPrompt="1"/>
          </p:nvPr>
        </p:nvSpPr>
        <p:spPr>
          <a:xfrm>
            <a:off x="3176924" y="3792588"/>
            <a:ext cx="8292316" cy="646331"/>
          </a:xfrm>
        </p:spPr>
        <p:txBody>
          <a:bodyPr wrap="square">
            <a:spAutoFit/>
          </a:bodyPr>
          <a:lstStyle>
            <a:lvl1pPr marL="0" indent="0">
              <a:buNone/>
              <a:defRPr sz="2000"/>
            </a:lvl1pPr>
          </a:lstStyle>
          <a:p>
            <a:pPr>
              <a:spcBef>
                <a:spcPts val="2800"/>
              </a:spcBef>
            </a:pPr>
            <a:r>
              <a:rPr lang="en-US" sz="2000" dirty="0"/>
              <a:t>Contributors: Contributor Name (short affiliation), … in alphabetical order</a:t>
            </a:r>
          </a:p>
        </p:txBody>
      </p:sp>
      <p:pic>
        <p:nvPicPr>
          <p:cNvPr id="3" name="Picture 2">
            <a:extLst>
              <a:ext uri="{FF2B5EF4-FFF2-40B4-BE49-F238E27FC236}">
                <a16:creationId xmlns:a16="http://schemas.microsoft.com/office/drawing/2014/main" id="{E5A81C43-A5B9-D933-9CA0-B9EBBA5B629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18659" y="158509"/>
            <a:ext cx="2109916" cy="905256"/>
          </a:xfrm>
          <a:prstGeom prst="rect">
            <a:avLst/>
          </a:prstGeom>
        </p:spPr>
      </p:pic>
      <p:pic>
        <p:nvPicPr>
          <p:cNvPr id="8" name="Picture 7">
            <a:extLst>
              <a:ext uri="{FF2B5EF4-FFF2-40B4-BE49-F238E27FC236}">
                <a16:creationId xmlns:a16="http://schemas.microsoft.com/office/drawing/2014/main" id="{74B4BBC9-1119-9703-C1C0-7A18791767C0}"/>
              </a:ext>
            </a:extLst>
          </p:cNvPr>
          <p:cNvPicPr>
            <a:picLocks noChangeAspect="1"/>
          </p:cNvPicPr>
          <p:nvPr userDrawn="1"/>
        </p:nvPicPr>
        <p:blipFill>
          <a:blip r:embed="rId4" cstate="print">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536165" y="6321694"/>
            <a:ext cx="2409477" cy="401008"/>
          </a:xfrm>
          <a:prstGeom prst="rect">
            <a:avLst/>
          </a:prstGeom>
        </p:spPr>
      </p:pic>
      <p:sp>
        <p:nvSpPr>
          <p:cNvPr id="5" name="TextBox 4">
            <a:extLst>
              <a:ext uri="{FF2B5EF4-FFF2-40B4-BE49-F238E27FC236}">
                <a16:creationId xmlns:a16="http://schemas.microsoft.com/office/drawing/2014/main" id="{70DE7CB6-F30F-C5CF-E25E-4391CCD5730D}"/>
              </a:ext>
            </a:extLst>
          </p:cNvPr>
          <p:cNvSpPr txBox="1"/>
          <p:nvPr userDrawn="1"/>
        </p:nvSpPr>
        <p:spPr>
          <a:xfrm>
            <a:off x="901538" y="1454246"/>
            <a:ext cx="1144159" cy="350865"/>
          </a:xfrm>
          <a:prstGeom prst="rect">
            <a:avLst/>
          </a:prstGeom>
          <a:noFill/>
        </p:spPr>
        <p:txBody>
          <a:bodyPr wrap="none" lIns="118872" tIns="91440" rIns="118872" bIns="91440" rtlCol="0" anchor="ctr" anchorCtr="0">
            <a:spAutoFit/>
          </a:bodyPr>
          <a:lstStyle/>
          <a:p>
            <a:pPr algn="l">
              <a:lnSpc>
                <a:spcPct val="90000"/>
              </a:lnSpc>
            </a:pPr>
            <a:r>
              <a:rPr lang="en-US" sz="1200" i="1" dirty="0"/>
              <a:t>Presented by</a:t>
            </a:r>
          </a:p>
        </p:txBody>
      </p:sp>
      <p:sp>
        <p:nvSpPr>
          <p:cNvPr id="7" name="TextBox 6">
            <a:extLst>
              <a:ext uri="{FF2B5EF4-FFF2-40B4-BE49-F238E27FC236}">
                <a16:creationId xmlns:a16="http://schemas.microsoft.com/office/drawing/2014/main" id="{CC09E9D5-5216-A587-FA6B-B65A405C06B8}"/>
              </a:ext>
            </a:extLst>
          </p:cNvPr>
          <p:cNvSpPr txBox="1"/>
          <p:nvPr userDrawn="1"/>
        </p:nvSpPr>
        <p:spPr>
          <a:xfrm>
            <a:off x="948025" y="2646131"/>
            <a:ext cx="1051185" cy="350865"/>
          </a:xfrm>
          <a:prstGeom prst="rect">
            <a:avLst/>
          </a:prstGeom>
          <a:noFill/>
        </p:spPr>
        <p:txBody>
          <a:bodyPr wrap="none" lIns="118872" tIns="91440" rIns="118872" bIns="91440" rtlCol="0" anchor="ctr" anchorCtr="0">
            <a:spAutoFit/>
          </a:bodyPr>
          <a:lstStyle/>
          <a:p>
            <a:pPr algn="l">
              <a:lnSpc>
                <a:spcPct val="90000"/>
              </a:lnSpc>
            </a:pPr>
            <a:r>
              <a:rPr lang="en-US" sz="1200" i="1" dirty="0"/>
              <a:t>Members of</a:t>
            </a:r>
          </a:p>
        </p:txBody>
      </p:sp>
      <p:sp>
        <p:nvSpPr>
          <p:cNvPr id="12" name="TextBox 11">
            <a:extLst>
              <a:ext uri="{FF2B5EF4-FFF2-40B4-BE49-F238E27FC236}">
                <a16:creationId xmlns:a16="http://schemas.microsoft.com/office/drawing/2014/main" id="{E2AEC599-063B-72D6-2F66-83A252291F05}"/>
              </a:ext>
            </a:extLst>
          </p:cNvPr>
          <p:cNvSpPr txBox="1"/>
          <p:nvPr userDrawn="1"/>
        </p:nvSpPr>
        <p:spPr>
          <a:xfrm>
            <a:off x="572120" y="4624321"/>
            <a:ext cx="1802994" cy="350865"/>
          </a:xfrm>
          <a:prstGeom prst="rect">
            <a:avLst/>
          </a:prstGeom>
          <a:noFill/>
        </p:spPr>
        <p:txBody>
          <a:bodyPr wrap="none" lIns="118872" tIns="91440" rIns="118872" bIns="91440" rtlCol="0" anchor="ctr" anchorCtr="0">
            <a:spAutoFit/>
          </a:bodyPr>
          <a:lstStyle/>
          <a:p>
            <a:pPr algn="l">
              <a:lnSpc>
                <a:spcPct val="90000"/>
              </a:lnSpc>
            </a:pPr>
            <a:r>
              <a:rPr lang="en-US" sz="1200" i="1" dirty="0"/>
              <a:t>With prior support from</a:t>
            </a:r>
          </a:p>
        </p:txBody>
      </p:sp>
      <p:grpSp>
        <p:nvGrpSpPr>
          <p:cNvPr id="15" name="Group 14">
            <a:extLst>
              <a:ext uri="{FF2B5EF4-FFF2-40B4-BE49-F238E27FC236}">
                <a16:creationId xmlns:a16="http://schemas.microsoft.com/office/drawing/2014/main" id="{90A37BF6-6462-FB3C-25B7-EBAED4084920}"/>
              </a:ext>
            </a:extLst>
          </p:cNvPr>
          <p:cNvGrpSpPr/>
          <p:nvPr userDrawn="1"/>
        </p:nvGrpSpPr>
        <p:grpSpPr>
          <a:xfrm>
            <a:off x="355043" y="5027111"/>
            <a:ext cx="2237149" cy="457200"/>
            <a:chOff x="343050" y="5128711"/>
            <a:chExt cx="2237149" cy="457200"/>
          </a:xfrm>
        </p:grpSpPr>
        <p:pic>
          <p:nvPicPr>
            <p:cNvPr id="16" name="Picture 15">
              <a:extLst>
                <a:ext uri="{FF2B5EF4-FFF2-40B4-BE49-F238E27FC236}">
                  <a16:creationId xmlns:a16="http://schemas.microsoft.com/office/drawing/2014/main" id="{3CF6C489-330D-1278-20B1-372463970242}"/>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43050" y="5128711"/>
              <a:ext cx="1002296" cy="457200"/>
            </a:xfrm>
            <a:prstGeom prst="rect">
              <a:avLst/>
            </a:prstGeom>
          </p:spPr>
        </p:pic>
        <p:pic>
          <p:nvPicPr>
            <p:cNvPr id="17" name="Picture 16" descr="A picture containing shape&#10;&#10;Description automatically generated">
              <a:extLst>
                <a:ext uri="{FF2B5EF4-FFF2-40B4-BE49-F238E27FC236}">
                  <a16:creationId xmlns:a16="http://schemas.microsoft.com/office/drawing/2014/main" id="{F40C9257-5EAE-C91D-373B-1E76599701D5}"/>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1525950" y="5128711"/>
              <a:ext cx="1054249" cy="457200"/>
            </a:xfrm>
            <a:prstGeom prst="rect">
              <a:avLst/>
            </a:prstGeom>
          </p:spPr>
        </p:pic>
      </p:grpSp>
      <p:grpSp>
        <p:nvGrpSpPr>
          <p:cNvPr id="18" name="Group 17">
            <a:extLst>
              <a:ext uri="{FF2B5EF4-FFF2-40B4-BE49-F238E27FC236}">
                <a16:creationId xmlns:a16="http://schemas.microsoft.com/office/drawing/2014/main" id="{CC6A95BF-1A0C-F1C7-F23F-706A76F87CA6}"/>
              </a:ext>
            </a:extLst>
          </p:cNvPr>
          <p:cNvGrpSpPr/>
          <p:nvPr userDrawn="1"/>
        </p:nvGrpSpPr>
        <p:grpSpPr>
          <a:xfrm>
            <a:off x="-69503" y="1892144"/>
            <a:ext cx="2985270" cy="790169"/>
            <a:chOff x="-69503" y="2214872"/>
            <a:chExt cx="2985270" cy="790169"/>
          </a:xfrm>
        </p:grpSpPr>
        <p:pic>
          <p:nvPicPr>
            <p:cNvPr id="25" name="Picture 4">
              <a:extLst>
                <a:ext uri="{FF2B5EF4-FFF2-40B4-BE49-F238E27FC236}">
                  <a16:creationId xmlns:a16="http://schemas.microsoft.com/office/drawing/2014/main" id="{25B0F52F-61EC-E67A-BEE5-AE883521C737}"/>
                </a:ext>
              </a:extLst>
            </p:cNvPr>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1484438" y="2317122"/>
              <a:ext cx="1371600" cy="318873"/>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 descr="A picture containing graphics, logo, font, symbol&#10;&#10;Description automatically generated">
              <a:extLst>
                <a:ext uri="{FF2B5EF4-FFF2-40B4-BE49-F238E27FC236}">
                  <a16:creationId xmlns:a16="http://schemas.microsoft.com/office/drawing/2014/main" id="{A9BB0698-1E6E-118B-C4E9-35B9D67F5DB9}"/>
                </a:ext>
              </a:extLst>
            </p:cNvPr>
            <p:cNvPicPr>
              <a:picLocks noChangeAspect="1" noChangeArrowheads="1"/>
            </p:cNvPicPr>
            <p:nvPr userDrawn="1"/>
          </p:nvPicPr>
          <p:blipFill>
            <a:blip r:embed="rId9" cstate="print">
              <a:extLst>
                <a:ext uri="{28A0092B-C50C-407E-A947-70E740481C1C}">
                  <a14:useLocalDpi xmlns:a14="http://schemas.microsoft.com/office/drawing/2010/main" val="0"/>
                </a:ext>
              </a:extLst>
            </a:blip>
            <a:srcRect/>
            <a:stretch>
              <a:fillRect/>
            </a:stretch>
          </p:blipFill>
          <p:spPr bwMode="auto">
            <a:xfrm>
              <a:off x="321595" y="2214872"/>
              <a:ext cx="841248" cy="523372"/>
            </a:xfrm>
            <a:prstGeom prst="rect">
              <a:avLst/>
            </a:prstGeom>
            <a:noFill/>
            <a:extLst>
              <a:ext uri="{909E8E84-426E-40DD-AFC4-6F175D3DCCD1}">
                <a14:hiddenFill xmlns:a14="http://schemas.microsoft.com/office/drawing/2010/main">
                  <a:solidFill>
                    <a:srgbClr val="FFFFFF"/>
                  </a:solidFill>
                </a14:hiddenFill>
              </a:ext>
            </a:extLst>
          </p:spPr>
        </p:pic>
        <p:sp>
          <p:nvSpPr>
            <p:cNvPr id="31" name="TextBox 30">
              <a:extLst>
                <a:ext uri="{FF2B5EF4-FFF2-40B4-BE49-F238E27FC236}">
                  <a16:creationId xmlns:a16="http://schemas.microsoft.com/office/drawing/2014/main" id="{D9F57AC4-079D-30A9-F299-0EAF3ECA2772}"/>
                </a:ext>
              </a:extLst>
            </p:cNvPr>
            <p:cNvSpPr txBox="1"/>
            <p:nvPr userDrawn="1"/>
          </p:nvSpPr>
          <p:spPr>
            <a:xfrm>
              <a:off x="-69503" y="2668026"/>
              <a:ext cx="1631472" cy="337015"/>
            </a:xfrm>
            <a:prstGeom prst="rect">
              <a:avLst/>
            </a:prstGeom>
            <a:noFill/>
          </p:spPr>
          <p:txBody>
            <a:bodyPr wrap="none" lIns="118872" tIns="91440" rIns="118872" bIns="91440" rtlCol="0" anchor="ctr" anchorCtr="0">
              <a:spAutoFit/>
            </a:bodyPr>
            <a:lstStyle/>
            <a:p>
              <a:pPr algn="l">
                <a:lnSpc>
                  <a:spcPct val="90000"/>
                </a:lnSpc>
              </a:pPr>
              <a:r>
                <a:rPr lang="en-US" sz="1050" i="1" dirty="0">
                  <a:hlinkClick r:id="rId10"/>
                </a:rPr>
                <a:t>https://pesoproject.org</a:t>
              </a:r>
              <a:endParaRPr lang="en-US" sz="1050" i="1" dirty="0"/>
            </a:p>
          </p:txBody>
        </p:sp>
        <p:sp>
          <p:nvSpPr>
            <p:cNvPr id="32" name="TextBox 31">
              <a:extLst>
                <a:ext uri="{FF2B5EF4-FFF2-40B4-BE49-F238E27FC236}">
                  <a16:creationId xmlns:a16="http://schemas.microsoft.com/office/drawing/2014/main" id="{CA5C2C8A-9502-60F5-68E1-3296B30C2880}"/>
                </a:ext>
              </a:extLst>
            </p:cNvPr>
            <p:cNvSpPr txBox="1"/>
            <p:nvPr userDrawn="1"/>
          </p:nvSpPr>
          <p:spPr>
            <a:xfrm>
              <a:off x="1423755" y="2668026"/>
              <a:ext cx="1492012" cy="337015"/>
            </a:xfrm>
            <a:prstGeom prst="rect">
              <a:avLst/>
            </a:prstGeom>
            <a:noFill/>
          </p:spPr>
          <p:txBody>
            <a:bodyPr wrap="none" lIns="118872" tIns="91440" rIns="118872" bIns="91440" rtlCol="0" anchor="ctr" anchorCtr="0">
              <a:spAutoFit/>
            </a:bodyPr>
            <a:lstStyle/>
            <a:p>
              <a:pPr algn="l">
                <a:lnSpc>
                  <a:spcPct val="90000"/>
                </a:lnSpc>
              </a:pPr>
              <a:r>
                <a:rPr lang="en-US" sz="1050" i="1" dirty="0">
                  <a:hlinkClick r:id="rId11"/>
                </a:rPr>
                <a:t>https://rapids.lbl.gov</a:t>
              </a:r>
              <a:endParaRPr lang="en-US" sz="1050" i="1" dirty="0"/>
            </a:p>
          </p:txBody>
        </p:sp>
      </p:grpSp>
      <p:sp>
        <p:nvSpPr>
          <p:cNvPr id="33" name="TextBox 32">
            <a:extLst>
              <a:ext uri="{FF2B5EF4-FFF2-40B4-BE49-F238E27FC236}">
                <a16:creationId xmlns:a16="http://schemas.microsoft.com/office/drawing/2014/main" id="{A7BFAE79-6B18-E222-E24F-73C71226E876}"/>
              </a:ext>
            </a:extLst>
          </p:cNvPr>
          <p:cNvSpPr txBox="1"/>
          <p:nvPr userDrawn="1"/>
        </p:nvSpPr>
        <p:spPr>
          <a:xfrm>
            <a:off x="166031" y="4011401"/>
            <a:ext cx="2605511" cy="655564"/>
          </a:xfrm>
          <a:prstGeom prst="rect">
            <a:avLst/>
          </a:prstGeom>
          <a:noFill/>
        </p:spPr>
        <p:txBody>
          <a:bodyPr wrap="square" lIns="118872" tIns="91440" rIns="118872" bIns="91440" rtlCol="0" anchor="ctr" anchorCtr="0">
            <a:spAutoFit/>
          </a:bodyPr>
          <a:lstStyle/>
          <a:p>
            <a:pPr algn="ctr">
              <a:lnSpc>
                <a:spcPct val="90000"/>
              </a:lnSpc>
            </a:pPr>
            <a:r>
              <a:rPr lang="en-US" sz="1200" i="1" dirty="0"/>
              <a:t>Consortium for the Advancement of Scientific Software</a:t>
            </a:r>
            <a:br>
              <a:rPr lang="en-US" sz="1200" i="1" dirty="0"/>
            </a:br>
            <a:r>
              <a:rPr lang="en-US" sz="1000" i="1" dirty="0">
                <a:hlinkClick r:id="rId12"/>
              </a:rPr>
              <a:t>https://cass.community</a:t>
            </a:r>
            <a:endParaRPr lang="en-US" sz="1200" i="1" dirty="0"/>
          </a:p>
        </p:txBody>
      </p:sp>
      <p:pic>
        <p:nvPicPr>
          <p:cNvPr id="34" name="Picture 33" descr="A picture containing arrow&#10;&#10;AI-generated content may be incorrect.">
            <a:extLst>
              <a:ext uri="{FF2B5EF4-FFF2-40B4-BE49-F238E27FC236}">
                <a16:creationId xmlns:a16="http://schemas.microsoft.com/office/drawing/2014/main" id="{D88D7312-C802-BE51-9FA0-6A6B23F22C0B}"/>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49769" y="2974535"/>
            <a:ext cx="1238034" cy="1128739"/>
          </a:xfrm>
          <a:prstGeom prst="rect">
            <a:avLst/>
          </a:prstGeom>
        </p:spPr>
      </p:pic>
    </p:spTree>
    <p:extLst>
      <p:ext uri="{BB962C8B-B14F-4D97-AF65-F5344CB8AC3E}">
        <p14:creationId xmlns:p14="http://schemas.microsoft.com/office/powerpoint/2010/main" val="38618942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5_*Title, Subtitle and Bullets">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5E61F04F-3CF4-D566-EF9D-9CDCD0B98108}"/>
              </a:ext>
            </a:extLst>
          </p:cNvPr>
          <p:cNvSpPr>
            <a:spLocks noGrp="1"/>
          </p:cNvSpPr>
          <p:nvPr>
            <p:ph type="body" sz="quarter" idx="13" hasCustomPrompt="1"/>
          </p:nvPr>
        </p:nvSpPr>
        <p:spPr>
          <a:xfrm>
            <a:off x="609441" y="1325033"/>
            <a:ext cx="11173090" cy="584200"/>
          </a:xfrm>
        </p:spPr>
        <p:txBody>
          <a:bodyPr>
            <a:noAutofit/>
          </a:bodyPr>
          <a:lstStyle>
            <a:lvl1pPr marL="0" indent="0">
              <a:buNone/>
              <a:defRPr sz="2666" b="1" i="0" baseline="0">
                <a:solidFill>
                  <a:schemeClr val="accent2"/>
                </a:solidFill>
                <a:latin typeface="Arial" panose="020B0604020202020204" pitchFamily="34" charset="0"/>
              </a:defRPr>
            </a:lvl1pPr>
          </a:lstStyle>
          <a:p>
            <a:pPr lvl="0"/>
            <a:r>
              <a:rPr lang="en-US" dirty="0"/>
              <a:t>Slide subtitle sentence case. Optional: delete as needed</a:t>
            </a:r>
          </a:p>
        </p:txBody>
      </p:sp>
      <p:sp>
        <p:nvSpPr>
          <p:cNvPr id="18" name="Content Placeholder 17">
            <a:extLst>
              <a:ext uri="{FF2B5EF4-FFF2-40B4-BE49-F238E27FC236}">
                <a16:creationId xmlns:a16="http://schemas.microsoft.com/office/drawing/2014/main" id="{E476E8C9-921B-17FC-9AEA-348F1AA2B0FF}"/>
              </a:ext>
            </a:extLst>
          </p:cNvPr>
          <p:cNvSpPr>
            <a:spLocks noGrp="1"/>
          </p:cNvSpPr>
          <p:nvPr>
            <p:ph sz="quarter" idx="14" hasCustomPrompt="1"/>
          </p:nvPr>
        </p:nvSpPr>
        <p:spPr>
          <a:xfrm>
            <a:off x="609441" y="1909235"/>
            <a:ext cx="9751060" cy="4364567"/>
          </a:xfrm>
        </p:spPr>
        <p:txBody>
          <a:bodyPr/>
          <a:lstStyle/>
          <a:p>
            <a:pPr lvl="0"/>
            <a:r>
              <a:rPr lang="en-US" dirty="0"/>
              <a:t>Click to add 1st-level bullet. Click an icon below to add table, graph or other imagery.</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a:extLst>
              <a:ext uri="{FF2B5EF4-FFF2-40B4-BE49-F238E27FC236}">
                <a16:creationId xmlns:a16="http://schemas.microsoft.com/office/drawing/2014/main" id="{0822AC07-3824-1527-347C-F3420A0D978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636131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365760" y="411480"/>
            <a:ext cx="11376442" cy="846953"/>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lvl="0"/>
            <a:r>
              <a:rPr lang="en-US"/>
              <a:t>Click to edit Master title style</a:t>
            </a:r>
            <a:endParaRPr lang="en-US" dirty="0"/>
          </a:p>
        </p:txBody>
      </p:sp>
      <p:sp>
        <p:nvSpPr>
          <p:cNvPr id="1027" name="Text Placeholder 2"/>
          <p:cNvSpPr>
            <a:spLocks noGrp="1"/>
          </p:cNvSpPr>
          <p:nvPr>
            <p:ph type="body" idx="1"/>
          </p:nvPr>
        </p:nvSpPr>
        <p:spPr bwMode="auto">
          <a:xfrm>
            <a:off x="365760" y="1737360"/>
            <a:ext cx="11376442" cy="4040923"/>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256"/>
          <p:cNvSpPr txBox="1">
            <a:spLocks noChangeArrowheads="1"/>
          </p:cNvSpPr>
          <p:nvPr userDrawn="1"/>
        </p:nvSpPr>
        <p:spPr>
          <a:xfrm>
            <a:off x="363828" y="6477000"/>
            <a:ext cx="3315547" cy="182562"/>
          </a:xfrm>
          <a:prstGeom prst="rect">
            <a:avLst/>
          </a:prstGeom>
          <a:ln/>
        </p:spPr>
        <p:txBody>
          <a:bodyPr anchor="ctr"/>
          <a:lstStyle/>
          <a:p>
            <a:pPr algn="l"/>
            <a:r>
              <a:rPr lang="en-US" sz="1000" dirty="0">
                <a:solidFill>
                  <a:schemeClr val="tx1"/>
                </a:solidFill>
                <a:latin typeface="Arial" pitchFamily="34" charset="0"/>
                <a:cs typeface="Arial" pitchFamily="34" charset="0"/>
              </a:rPr>
              <a:t> </a:t>
            </a:r>
          </a:p>
        </p:txBody>
      </p:sp>
      <p:sp>
        <p:nvSpPr>
          <p:cNvPr id="9" name="Rectangle 6"/>
          <p:cNvSpPr>
            <a:spLocks noChangeArrowheads="1"/>
          </p:cNvSpPr>
          <p:nvPr userDrawn="1"/>
        </p:nvSpPr>
        <p:spPr bwMode="auto">
          <a:xfrm flipH="1">
            <a:off x="163374" y="6513051"/>
            <a:ext cx="515635" cy="146511"/>
          </a:xfrm>
          <a:prstGeom prst="rect">
            <a:avLst/>
          </a:prstGeom>
          <a:noFill/>
          <a:ln w="9525">
            <a:noFill/>
            <a:miter lim="800000"/>
            <a:headEnd/>
            <a:tailEnd/>
          </a:ln>
          <a:effectLst/>
        </p:spPr>
        <p:txBody>
          <a:bodyPr lIns="0" tIns="0" rIns="0" bIns="0"/>
          <a:lstStyle/>
          <a:p>
            <a:pPr algn="l" defTabSz="173038">
              <a:lnSpc>
                <a:spcPct val="90000"/>
              </a:lnSpc>
              <a:tabLst>
                <a:tab pos="230188" algn="l"/>
              </a:tabLst>
              <a:defRPr/>
            </a:pPr>
            <a:fld id="{040BB257-551A-4736-B50F-DCF1BA034C06}" type="slidenum">
              <a:rPr lang="en-US" sz="1000" smtClean="0">
                <a:solidFill>
                  <a:schemeClr val="tx1"/>
                </a:solidFill>
                <a:latin typeface="Arial" pitchFamily="34" charset="0"/>
                <a:cs typeface="Arial" pitchFamily="34" charset="0"/>
              </a:rPr>
              <a:pPr algn="l" defTabSz="173038">
                <a:lnSpc>
                  <a:spcPct val="90000"/>
                </a:lnSpc>
                <a:tabLst>
                  <a:tab pos="230188" algn="l"/>
                </a:tabLst>
                <a:defRPr/>
              </a:pPr>
              <a:t>‹#›</a:t>
            </a:fld>
            <a:endParaRPr lang="en-US" sz="1000"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2081848127"/>
      </p:ext>
    </p:extLst>
  </p:cSld>
  <p:clrMap bg1="lt1" tx1="dk1" bg2="lt2" tx2="dk2" accent1="accent1" accent2="accent2" accent3="accent3" accent4="accent4" accent5="accent5" accent6="accent6" hlink="hlink" folHlink="folHlink"/>
  <p:sldLayoutIdLst>
    <p:sldLayoutId id="2147483949" r:id="rId1"/>
    <p:sldLayoutId id="2147483951" r:id="rId2"/>
    <p:sldLayoutId id="2147483937" r:id="rId3"/>
    <p:sldLayoutId id="2147483939" r:id="rId4"/>
    <p:sldLayoutId id="2147483950" r:id="rId5"/>
    <p:sldLayoutId id="2147483940" r:id="rId6"/>
    <p:sldLayoutId id="2147483941" r:id="rId7"/>
    <p:sldLayoutId id="2147483953" r:id="rId8"/>
    <p:sldLayoutId id="2147483954" r:id="rId9"/>
    <p:sldLayoutId id="2147483955" r:id="rId10"/>
  </p:sldLayoutIdLst>
  <p:hf hdr="0" ftr="0" dt="0"/>
  <p:txStyles>
    <p:titleStyle>
      <a:lvl1pPr marL="0" indent="0" algn="l" rtl="0" eaLnBrk="1" fontAlgn="base" hangingPunct="1">
        <a:lnSpc>
          <a:spcPct val="85000"/>
        </a:lnSpc>
        <a:spcBef>
          <a:spcPct val="0"/>
        </a:spcBef>
        <a:spcAft>
          <a:spcPct val="0"/>
        </a:spcAft>
        <a:defRPr sz="2800" b="1" kern="1200" baseline="0">
          <a:solidFill>
            <a:schemeClr val="tx1"/>
          </a:solidFill>
          <a:latin typeface="+mn-lt"/>
          <a:ea typeface="+mj-ea"/>
          <a:cs typeface="+mj-cs"/>
        </a:defRPr>
      </a:lvl1pPr>
      <a:lvl2pPr algn="l" rtl="0" eaLnBrk="1" fontAlgn="base" hangingPunct="1">
        <a:lnSpc>
          <a:spcPct val="85000"/>
        </a:lnSpc>
        <a:spcBef>
          <a:spcPct val="0"/>
        </a:spcBef>
        <a:spcAft>
          <a:spcPct val="0"/>
        </a:spcAft>
        <a:defRPr sz="3000">
          <a:solidFill>
            <a:srgbClr val="006C3A"/>
          </a:solidFill>
          <a:latin typeface="Arial Black" pitchFamily="34" charset="0"/>
        </a:defRPr>
      </a:lvl2pPr>
      <a:lvl3pPr algn="l" rtl="0" eaLnBrk="1" fontAlgn="base" hangingPunct="1">
        <a:lnSpc>
          <a:spcPct val="85000"/>
        </a:lnSpc>
        <a:spcBef>
          <a:spcPct val="0"/>
        </a:spcBef>
        <a:spcAft>
          <a:spcPct val="0"/>
        </a:spcAft>
        <a:defRPr sz="3000">
          <a:solidFill>
            <a:srgbClr val="006C3A"/>
          </a:solidFill>
          <a:latin typeface="Arial Black" pitchFamily="34" charset="0"/>
        </a:defRPr>
      </a:lvl3pPr>
      <a:lvl4pPr algn="l" rtl="0" eaLnBrk="1" fontAlgn="base" hangingPunct="1">
        <a:lnSpc>
          <a:spcPct val="85000"/>
        </a:lnSpc>
        <a:spcBef>
          <a:spcPct val="0"/>
        </a:spcBef>
        <a:spcAft>
          <a:spcPct val="0"/>
        </a:spcAft>
        <a:defRPr sz="3000">
          <a:solidFill>
            <a:srgbClr val="006C3A"/>
          </a:solidFill>
          <a:latin typeface="Arial Black" pitchFamily="34" charset="0"/>
        </a:defRPr>
      </a:lvl4pPr>
      <a:lvl5pPr algn="l" rtl="0" eaLnBrk="1" fontAlgn="base" hangingPunct="1">
        <a:lnSpc>
          <a:spcPct val="85000"/>
        </a:lnSpc>
        <a:spcBef>
          <a:spcPct val="0"/>
        </a:spcBef>
        <a:spcAft>
          <a:spcPct val="0"/>
        </a:spcAft>
        <a:defRPr sz="3000">
          <a:solidFill>
            <a:srgbClr val="006C3A"/>
          </a:solidFill>
          <a:latin typeface="Arial Black" pitchFamily="34" charset="0"/>
        </a:defRPr>
      </a:lvl5pPr>
      <a:lvl6pPr marL="457200" algn="l" rtl="0" eaLnBrk="1" fontAlgn="base" hangingPunct="1">
        <a:lnSpc>
          <a:spcPct val="85000"/>
        </a:lnSpc>
        <a:spcBef>
          <a:spcPct val="0"/>
        </a:spcBef>
        <a:spcAft>
          <a:spcPct val="0"/>
        </a:spcAft>
        <a:defRPr sz="3000">
          <a:solidFill>
            <a:srgbClr val="006C3A"/>
          </a:solidFill>
          <a:latin typeface="Arial Black" pitchFamily="34" charset="0"/>
        </a:defRPr>
      </a:lvl6pPr>
      <a:lvl7pPr marL="914400" algn="l" rtl="0" eaLnBrk="1" fontAlgn="base" hangingPunct="1">
        <a:lnSpc>
          <a:spcPct val="85000"/>
        </a:lnSpc>
        <a:spcBef>
          <a:spcPct val="0"/>
        </a:spcBef>
        <a:spcAft>
          <a:spcPct val="0"/>
        </a:spcAft>
        <a:defRPr sz="3000">
          <a:solidFill>
            <a:srgbClr val="006C3A"/>
          </a:solidFill>
          <a:latin typeface="Arial Black" pitchFamily="34" charset="0"/>
        </a:defRPr>
      </a:lvl7pPr>
      <a:lvl8pPr marL="1371600" algn="l" rtl="0" eaLnBrk="1" fontAlgn="base" hangingPunct="1">
        <a:lnSpc>
          <a:spcPct val="85000"/>
        </a:lnSpc>
        <a:spcBef>
          <a:spcPct val="0"/>
        </a:spcBef>
        <a:spcAft>
          <a:spcPct val="0"/>
        </a:spcAft>
        <a:defRPr sz="3000">
          <a:solidFill>
            <a:srgbClr val="006C3A"/>
          </a:solidFill>
          <a:latin typeface="Arial Black" pitchFamily="34" charset="0"/>
        </a:defRPr>
      </a:lvl8pPr>
      <a:lvl9pPr marL="1828800" algn="l" rtl="0" eaLnBrk="1" fontAlgn="base" hangingPunct="1">
        <a:lnSpc>
          <a:spcPct val="85000"/>
        </a:lnSpc>
        <a:spcBef>
          <a:spcPct val="0"/>
        </a:spcBef>
        <a:spcAft>
          <a:spcPct val="0"/>
        </a:spcAft>
        <a:defRPr sz="3000">
          <a:solidFill>
            <a:srgbClr val="006C3A"/>
          </a:solidFill>
          <a:latin typeface="Arial Black" pitchFamily="34" charset="0"/>
        </a:defRPr>
      </a:lvl9pPr>
    </p:titleStyle>
    <p:bodyStyle>
      <a:lvl1pPr marL="230188" indent="-230188" algn="l" rtl="0" eaLnBrk="1" fontAlgn="base" hangingPunct="1">
        <a:lnSpc>
          <a:spcPct val="90000"/>
        </a:lnSpc>
        <a:spcBef>
          <a:spcPts val="1400"/>
        </a:spcBef>
        <a:spcAft>
          <a:spcPct val="0"/>
        </a:spcAft>
        <a:buClr>
          <a:schemeClr val="tx1"/>
        </a:buClr>
        <a:buFont typeface="Arial" charset="0"/>
        <a:buChar char="•"/>
        <a:defRPr sz="2400" kern="120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hyperlink" Target="http://creativecommons.org/licenses/by-sa/4.0/" TargetMode="External"/><Relationship Id="rId2" Type="http://schemas.openxmlformats.org/officeDocument/2006/relationships/hyperlink" Target="http://creativecommons.org/licenses/by/4.0/" TargetMode="Externa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hyperlink" Target="https://doi.org/10.6084/m9.figshare.30394186"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xml"/><Relationship Id="rId1" Type="http://schemas.openxmlformats.org/officeDocument/2006/relationships/tags" Target="../tags/tag1.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xml"/><Relationship Id="rId1" Type="http://schemas.openxmlformats.org/officeDocument/2006/relationships/tags" Target="../tags/tag2.xml"/><Relationship Id="rId4" Type="http://schemas.openxmlformats.org/officeDocument/2006/relationships/image" Target="../media/image13.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3.xml"/><Relationship Id="rId1" Type="http://schemas.openxmlformats.org/officeDocument/2006/relationships/tags" Target="../tags/tag3.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xml"/><Relationship Id="rId1" Type="http://schemas.openxmlformats.org/officeDocument/2006/relationships/tags" Target="../tags/tag4.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3.xml"/><Relationship Id="rId1" Type="http://schemas.openxmlformats.org/officeDocument/2006/relationships/tags" Target="../tags/tag5.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3.xml"/><Relationship Id="rId1" Type="http://schemas.openxmlformats.org/officeDocument/2006/relationships/tags" Target="../tags/tag6.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3.xml"/><Relationship Id="rId1" Type="http://schemas.openxmlformats.org/officeDocument/2006/relationships/tags" Target="../tags/tag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3.xml"/><Relationship Id="rId1" Type="http://schemas.openxmlformats.org/officeDocument/2006/relationships/tags" Target="../tags/tag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0.xml"/></Relationships>
</file>

<file path=ppt/slides/_rels/slide7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 Id="rId5" Type="http://schemas.openxmlformats.org/officeDocument/2006/relationships/image" Target="../media/image19.png"/><Relationship Id="rId4" Type="http://schemas.openxmlformats.org/officeDocument/2006/relationships/image" Target="../media/image18.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3">
            <a:extLst>
              <a:ext uri="{FF2B5EF4-FFF2-40B4-BE49-F238E27FC236}">
                <a16:creationId xmlns:a16="http://schemas.microsoft.com/office/drawing/2014/main" id="{7C6EFC9D-D056-0758-BDF8-BAB7A5CB5554}"/>
              </a:ext>
            </a:extLst>
          </p:cNvPr>
          <p:cNvSpPr>
            <a:spLocks noGrp="1"/>
          </p:cNvSpPr>
          <p:nvPr>
            <p:ph type="ctrTitle"/>
          </p:nvPr>
        </p:nvSpPr>
        <p:spPr/>
        <p:txBody>
          <a:bodyPr/>
          <a:lstStyle/>
          <a:p>
            <a:r>
              <a:rPr lang="en-US" dirty="0"/>
              <a:t>Responsible Software Development with LLMs</a:t>
            </a:r>
          </a:p>
        </p:txBody>
      </p:sp>
      <p:sp>
        <p:nvSpPr>
          <p:cNvPr id="3" name="Subtitle 2">
            <a:extLst>
              <a:ext uri="{FF2B5EF4-FFF2-40B4-BE49-F238E27FC236}">
                <a16:creationId xmlns:a16="http://schemas.microsoft.com/office/drawing/2014/main" id="{115D6CAC-8B77-472D-91BE-E47FFB7E8C7A}"/>
              </a:ext>
            </a:extLst>
          </p:cNvPr>
          <p:cNvSpPr>
            <a:spLocks noGrp="1"/>
          </p:cNvSpPr>
          <p:nvPr>
            <p:ph type="body" sz="quarter" idx="10"/>
          </p:nvPr>
        </p:nvSpPr>
        <p:spPr/>
        <p:txBody>
          <a:bodyPr/>
          <a:lstStyle/>
          <a:p>
            <a:endParaRPr lang="en-US" dirty="0">
              <a:solidFill>
                <a:srgbClr val="111111"/>
              </a:solidFill>
              <a:latin typeface="+mn-lt"/>
            </a:endParaRPr>
          </a:p>
        </p:txBody>
      </p:sp>
      <p:sp>
        <p:nvSpPr>
          <p:cNvPr id="6" name="Text Placeholder 5">
            <a:extLst>
              <a:ext uri="{FF2B5EF4-FFF2-40B4-BE49-F238E27FC236}">
                <a16:creationId xmlns:a16="http://schemas.microsoft.com/office/drawing/2014/main" id="{45350191-BDAE-1AFC-C26A-B8F1EB4E82F4}"/>
              </a:ext>
            </a:extLst>
          </p:cNvPr>
          <p:cNvSpPr>
            <a:spLocks noGrp="1"/>
          </p:cNvSpPr>
          <p:nvPr>
            <p:ph type="body" sz="quarter" idx="11"/>
          </p:nvPr>
        </p:nvSpPr>
        <p:spPr>
          <a:xfrm>
            <a:off x="3176924" y="2085870"/>
            <a:ext cx="2034531" cy="424732"/>
          </a:xfrm>
        </p:spPr>
        <p:txBody>
          <a:bodyPr/>
          <a:lstStyle/>
          <a:p>
            <a:r>
              <a:rPr lang="en-US" dirty="0"/>
              <a:t>Anshu Dubey</a:t>
            </a:r>
          </a:p>
        </p:txBody>
      </p:sp>
      <p:sp>
        <p:nvSpPr>
          <p:cNvPr id="8" name="Text Placeholder 7">
            <a:extLst>
              <a:ext uri="{FF2B5EF4-FFF2-40B4-BE49-F238E27FC236}">
                <a16:creationId xmlns:a16="http://schemas.microsoft.com/office/drawing/2014/main" id="{E212497A-1AA2-20D2-4610-7F728D5C612B}"/>
              </a:ext>
            </a:extLst>
          </p:cNvPr>
          <p:cNvSpPr>
            <a:spLocks noGrp="1"/>
          </p:cNvSpPr>
          <p:nvPr>
            <p:ph type="body" sz="quarter" idx="12"/>
          </p:nvPr>
        </p:nvSpPr>
        <p:spPr>
          <a:xfrm>
            <a:off x="5233071" y="2134517"/>
            <a:ext cx="1690167" cy="376085"/>
          </a:xfrm>
        </p:spPr>
        <p:txBody>
          <a:bodyPr/>
          <a:lstStyle/>
          <a:p>
            <a:r>
              <a:rPr lang="en-US" dirty="0"/>
              <a:t>(she/her)</a:t>
            </a:r>
          </a:p>
        </p:txBody>
      </p:sp>
      <p:sp>
        <p:nvSpPr>
          <p:cNvPr id="9" name="Text Placeholder 8">
            <a:extLst>
              <a:ext uri="{FF2B5EF4-FFF2-40B4-BE49-F238E27FC236}">
                <a16:creationId xmlns:a16="http://schemas.microsoft.com/office/drawing/2014/main" id="{B73D3AE9-9DC1-97B7-A7C7-B8155E1C52F1}"/>
              </a:ext>
            </a:extLst>
          </p:cNvPr>
          <p:cNvSpPr>
            <a:spLocks noGrp="1"/>
          </p:cNvSpPr>
          <p:nvPr>
            <p:ph type="body" sz="quarter" idx="13"/>
          </p:nvPr>
        </p:nvSpPr>
        <p:spPr/>
        <p:txBody>
          <a:bodyPr/>
          <a:lstStyle/>
          <a:p>
            <a:r>
              <a:rPr lang="en-US" dirty="0"/>
              <a:t>Argonne National Laboratory</a:t>
            </a:r>
          </a:p>
        </p:txBody>
      </p:sp>
      <p:sp>
        <p:nvSpPr>
          <p:cNvPr id="10" name="Text Placeholder 9">
            <a:extLst>
              <a:ext uri="{FF2B5EF4-FFF2-40B4-BE49-F238E27FC236}">
                <a16:creationId xmlns:a16="http://schemas.microsoft.com/office/drawing/2014/main" id="{0782C515-0750-9E3D-2C19-E510E11E1CB0}"/>
              </a:ext>
            </a:extLst>
          </p:cNvPr>
          <p:cNvSpPr>
            <a:spLocks noGrp="1"/>
          </p:cNvSpPr>
          <p:nvPr>
            <p:ph type="body" sz="quarter" idx="14"/>
          </p:nvPr>
        </p:nvSpPr>
        <p:spPr>
          <a:xfrm>
            <a:off x="3176925" y="3161813"/>
            <a:ext cx="8292316" cy="923330"/>
          </a:xfrm>
        </p:spPr>
        <p:txBody>
          <a:bodyPr/>
          <a:lstStyle/>
          <a:p>
            <a:pPr>
              <a:spcBef>
                <a:spcPts val="2800"/>
              </a:spcBef>
            </a:pPr>
            <a:r>
              <a:rPr lang="en-US" dirty="0">
                <a:solidFill>
                  <a:srgbClr val="111111"/>
                </a:solidFill>
              </a:rPr>
              <a:t>Better Software for Reproducible Science tutorial @ The International Conference for High-Performance Computing, Networking, Storage, and Analysis (SC25) conference</a:t>
            </a:r>
          </a:p>
        </p:txBody>
      </p:sp>
      <p:sp>
        <p:nvSpPr>
          <p:cNvPr id="11" name="Text Placeholder 10">
            <a:extLst>
              <a:ext uri="{FF2B5EF4-FFF2-40B4-BE49-F238E27FC236}">
                <a16:creationId xmlns:a16="http://schemas.microsoft.com/office/drawing/2014/main" id="{F0362F62-5C7E-EE79-280C-5C56945C7D62}"/>
              </a:ext>
            </a:extLst>
          </p:cNvPr>
          <p:cNvSpPr>
            <a:spLocks noGrp="1"/>
          </p:cNvSpPr>
          <p:nvPr>
            <p:ph type="body" sz="quarter" idx="15"/>
          </p:nvPr>
        </p:nvSpPr>
        <p:spPr>
          <a:xfrm>
            <a:off x="3176924" y="4386948"/>
            <a:ext cx="8292316" cy="369332"/>
          </a:xfrm>
        </p:spPr>
        <p:txBody>
          <a:bodyPr/>
          <a:lstStyle/>
          <a:p>
            <a:r>
              <a:rPr lang="en-US" sz="2000" dirty="0">
                <a:latin typeface="+mn-lt"/>
              </a:rPr>
              <a:t>Contributors: Anshu Dubey (ANL), David E. Bernholdt (ORNL)	</a:t>
            </a:r>
          </a:p>
        </p:txBody>
      </p:sp>
    </p:spTree>
    <p:extLst>
      <p:ext uri="{BB962C8B-B14F-4D97-AF65-F5344CB8AC3E}">
        <p14:creationId xmlns:p14="http://schemas.microsoft.com/office/powerpoint/2010/main" val="2052365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2C24D-D970-4D40-8F14-D70C10A96304}"/>
              </a:ext>
            </a:extLst>
          </p:cNvPr>
          <p:cNvSpPr>
            <a:spLocks noGrp="1"/>
          </p:cNvSpPr>
          <p:nvPr>
            <p:ph type="title"/>
          </p:nvPr>
        </p:nvSpPr>
        <p:spPr>
          <a:xfrm>
            <a:off x="363096" y="411282"/>
            <a:ext cx="11372473" cy="914400"/>
          </a:xfrm>
        </p:spPr>
        <p:txBody>
          <a:bodyPr/>
          <a:lstStyle/>
          <a:p>
            <a:r>
              <a:rPr lang="en-US" dirty="0"/>
              <a:t>License, Citation and Acknowledgements</a:t>
            </a:r>
          </a:p>
        </p:txBody>
      </p:sp>
      <p:sp>
        <p:nvSpPr>
          <p:cNvPr id="3" name="Content Placeholder 2">
            <a:extLst>
              <a:ext uri="{FF2B5EF4-FFF2-40B4-BE49-F238E27FC236}">
                <a16:creationId xmlns:a16="http://schemas.microsoft.com/office/drawing/2014/main" id="{0385A3AB-B258-4D59-B407-F7D57545A163}"/>
              </a:ext>
            </a:extLst>
          </p:cNvPr>
          <p:cNvSpPr>
            <a:spLocks noGrp="1"/>
          </p:cNvSpPr>
          <p:nvPr>
            <p:ph idx="1"/>
          </p:nvPr>
        </p:nvSpPr>
        <p:spPr>
          <a:xfrm>
            <a:off x="409507" y="868482"/>
            <a:ext cx="11369809" cy="4047778"/>
          </a:xfrm>
        </p:spPr>
        <p:txBody>
          <a:bodyPr/>
          <a:lstStyle/>
          <a:p>
            <a:pPr marL="0" indent="0">
              <a:buNone/>
            </a:pPr>
            <a:r>
              <a:rPr lang="en-US" sz="2000" b="1" dirty="0"/>
              <a:t>License and Citation</a:t>
            </a:r>
          </a:p>
          <a:p>
            <a:pPr>
              <a:spcBef>
                <a:spcPts val="400"/>
              </a:spcBef>
            </a:pPr>
            <a:r>
              <a:rPr lang="en-US" sz="1600" dirty="0"/>
              <a:t>This work is licensed under a </a:t>
            </a:r>
            <a:r>
              <a:rPr lang="en-US" sz="1600" dirty="0">
                <a:hlinkClick r:id="rId2"/>
              </a:rPr>
              <a:t>Creative</a:t>
            </a:r>
            <a:r>
              <a:rPr lang="en-US" sz="1600" dirty="0">
                <a:hlinkClick r:id="rId3"/>
              </a:rPr>
              <a:t> Commons Attribution 4.0 International License</a:t>
            </a:r>
            <a:r>
              <a:rPr lang="en-US" sz="1600" dirty="0"/>
              <a:t> (CC BY 4.0).</a:t>
            </a:r>
          </a:p>
          <a:p>
            <a:pPr>
              <a:spcBef>
                <a:spcPts val="400"/>
              </a:spcBef>
            </a:pPr>
            <a:r>
              <a:rPr lang="en-US" sz="1600" b="1" dirty="0"/>
              <a:t>The requested citation the overall tutorial is: </a:t>
            </a:r>
            <a:r>
              <a:rPr lang="en-US" sz="1600" dirty="0"/>
              <a:t>David E. Bernholdt and Anshu Dubey, Better Software for Reproducible Science tutorial, in The International Conference for High-Performance Computing, Networking, Storage, and Analysis (SC25), St. Louis, Missouri, 2025. DOI: </a:t>
            </a:r>
            <a:r>
              <a:rPr lang="en-US" sz="1600" dirty="0">
                <a:hlinkClick r:id="rId4"/>
              </a:rPr>
              <a:t>10.6084/m9.figshare.30394186</a:t>
            </a:r>
            <a:r>
              <a:rPr lang="en-US" sz="1600" dirty="0"/>
              <a:t>.</a:t>
            </a:r>
            <a:endParaRPr lang="en-US" sz="1600" b="0" i="0" dirty="0">
              <a:solidFill>
                <a:srgbClr val="111111"/>
              </a:solidFill>
              <a:effectLst/>
              <a:latin typeface="+mn-lt"/>
            </a:endParaRPr>
          </a:p>
          <a:p>
            <a:pPr>
              <a:spcBef>
                <a:spcPts val="400"/>
              </a:spcBef>
            </a:pPr>
            <a:r>
              <a:rPr lang="en-US" sz="1600" dirty="0"/>
              <a:t>Individual modules may be cited as </a:t>
            </a:r>
            <a:r>
              <a:rPr lang="en-US" sz="1600" i="1" dirty="0"/>
              <a:t>Speaker, Module Title</a:t>
            </a:r>
            <a:r>
              <a:rPr lang="en-US" sz="1600" dirty="0"/>
              <a:t>, in </a:t>
            </a:r>
            <a:r>
              <a:rPr lang="en-US" sz="1600" b="0" i="1" dirty="0">
                <a:solidFill>
                  <a:srgbClr val="111111"/>
                </a:solidFill>
                <a:effectLst/>
                <a:latin typeface="+mn-lt"/>
              </a:rPr>
              <a:t>Tutorial Title</a:t>
            </a:r>
            <a:r>
              <a:rPr lang="en-US" sz="1600" dirty="0"/>
              <a:t>, …</a:t>
            </a:r>
          </a:p>
          <a:p>
            <a:pPr marL="0" indent="0">
              <a:spcBef>
                <a:spcPts val="800"/>
              </a:spcBef>
              <a:buNone/>
            </a:pPr>
            <a:r>
              <a:rPr lang="en-US" sz="2000" b="1" dirty="0"/>
              <a:t>Acknowledgements</a:t>
            </a:r>
          </a:p>
          <a:p>
            <a:pPr>
              <a:spcBef>
                <a:spcPts val="400"/>
              </a:spcBef>
            </a:pPr>
            <a:r>
              <a:rPr lang="en-US" sz="1400" dirty="0"/>
              <a:t>This work was supported by the U.S. Department of Energy, Office of Science, Office of Advanced Scientific Computing Research, Next-Generation Scientific Software Technologies (NGSST) and Scientific Discovery through Advanced Computing (</a:t>
            </a:r>
            <a:r>
              <a:rPr lang="en-US" sz="1400" dirty="0" err="1"/>
              <a:t>SciDAC</a:t>
            </a:r>
            <a:r>
              <a:rPr lang="en-US" sz="1400"/>
              <a:t>) programs</a:t>
            </a:r>
            <a:r>
              <a:rPr lang="en-US" sz="1400" dirty="0"/>
              <a:t>.</a:t>
            </a:r>
          </a:p>
          <a:p>
            <a:pPr>
              <a:spcBef>
                <a:spcPts val="400"/>
              </a:spcBef>
            </a:pPr>
            <a:r>
              <a:rPr lang="en-US" sz="1400" dirty="0"/>
              <a:t>This work was supported by the U.S. Department of Energy Office of Science, Office of Advanced Scientific Computing Research (ASCR), and by the Exascale Computing Project (17-SC-20-SC), a collaborative effort of the U.S. Department of Energy Office of Science and the National Nuclear Security Administration</a:t>
            </a:r>
            <a:r>
              <a:rPr lang="en-US" sz="1400" i="1" dirty="0"/>
              <a:t>.</a:t>
            </a:r>
          </a:p>
          <a:p>
            <a:pPr>
              <a:spcBef>
                <a:spcPts val="400"/>
              </a:spcBef>
            </a:pPr>
            <a:r>
              <a:rPr lang="en-US" sz="1400" dirty="0"/>
              <a:t>This work was performed in part at the Argonne National Laboratory, which is managed by UChicago Argonne, LLC for the U.S. Department of Energy under Contract No. DE-AC02-06CH11357.</a:t>
            </a:r>
          </a:p>
          <a:p>
            <a:pPr>
              <a:spcBef>
                <a:spcPts val="400"/>
              </a:spcBef>
            </a:pPr>
            <a:r>
              <a:rPr lang="en-US" sz="1400" dirty="0"/>
              <a:t>This work was performed in part at the Lawrence Livermore National Laboratory, which is managed by Lawrence Livermore National Security, LLC for the U.S. Department of Energy under Contract No. DE-AC52-07NA27344.</a:t>
            </a:r>
          </a:p>
          <a:p>
            <a:pPr>
              <a:spcBef>
                <a:spcPts val="400"/>
              </a:spcBef>
            </a:pPr>
            <a:r>
              <a:rPr lang="en-US" sz="1400" dirty="0"/>
              <a:t>This work was performed in part at the Los Alamos National Laboratory, which is managed by Triad National Security, LLC for the U.S. Department of Energy under Contract No.89233218CNA000001</a:t>
            </a:r>
          </a:p>
          <a:p>
            <a:pPr>
              <a:spcBef>
                <a:spcPts val="400"/>
              </a:spcBef>
            </a:pPr>
            <a:r>
              <a:rPr lang="en-US" sz="1400" dirty="0"/>
              <a:t>This work was performed in part at the Oak Ridge National Laboratory, which is managed by UT-Battelle, LLC for the U.S. Department of Energy under Contract No. DE-AC05-00OR22725.</a:t>
            </a:r>
          </a:p>
          <a:p>
            <a:pPr>
              <a:spcBef>
                <a:spcPts val="400"/>
              </a:spcBef>
            </a:pPr>
            <a:r>
              <a:rPr lang="en-US" sz="1400" dirty="0"/>
              <a:t>This work was performed in part at Sandia National Laboratories. Sandia National Laboratories is a multi-mission laboratory managed and operated by National Technology and Engineering Solutions of Sandia, LLC., a wholly owned subsidiary of Honeywell International, Inc., for the U.S. Department of Energy’s National Nuclear Security Administration under contract DE-NA0003525.</a:t>
            </a:r>
          </a:p>
        </p:txBody>
      </p:sp>
      <p:pic>
        <p:nvPicPr>
          <p:cNvPr id="4" name="Picture 2" descr="https://licensebuttons.net/l/by/4.0/88x31.png">
            <a:extLst>
              <a:ext uri="{FF2B5EF4-FFF2-40B4-BE49-F238E27FC236}">
                <a16:creationId xmlns:a16="http://schemas.microsoft.com/office/drawing/2014/main" id="{61840015-22A0-4634-A2DE-AA05F998FD3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30336" y="879673"/>
            <a:ext cx="838200" cy="295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06162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403017-A750-F726-3A1A-1F298D2510CB}"/>
              </a:ext>
            </a:extLst>
          </p:cNvPr>
          <p:cNvSpPr>
            <a:spLocks noGrp="1"/>
          </p:cNvSpPr>
          <p:nvPr>
            <p:ph idx="1"/>
          </p:nvPr>
        </p:nvSpPr>
        <p:spPr>
          <a:xfrm>
            <a:off x="264161" y="1179530"/>
            <a:ext cx="11185718" cy="4933035"/>
          </a:xfrm>
        </p:spPr>
        <p:txBody>
          <a:bodyPr>
            <a:normAutofit lnSpcReduction="10000"/>
          </a:bodyPr>
          <a:lstStyle/>
          <a:p>
            <a:r>
              <a:rPr lang="en-US" dirty="0"/>
              <a:t>Investing some thought in design of software makes it possible to maintain, reuse and extend it</a:t>
            </a:r>
          </a:p>
          <a:p>
            <a:r>
              <a:rPr lang="en-US" dirty="0"/>
              <a:t>Even if some research software begins its life as a one-off use case, it often gets reused</a:t>
            </a:r>
          </a:p>
          <a:p>
            <a:pPr lvl="1"/>
            <a:r>
              <a:rPr lang="en-US" dirty="0"/>
              <a:t>Without proper design it is likely to accrete features haphazardly and become a monstrosity</a:t>
            </a:r>
          </a:p>
          <a:p>
            <a:pPr lvl="2"/>
            <a:r>
              <a:rPr lang="en-US" dirty="0"/>
              <a:t>Acquires a lot of technical debt in the process</a:t>
            </a:r>
          </a:p>
          <a:p>
            <a:pPr lvl="1"/>
            <a:r>
              <a:rPr lang="en-US" dirty="0"/>
              <a:t>Many projects have had this happen </a:t>
            </a:r>
          </a:p>
          <a:p>
            <a:pPr lvl="1"/>
            <a:r>
              <a:rPr lang="en-US" dirty="0"/>
              <a:t>Most end up with a hard reset and start over again</a:t>
            </a:r>
          </a:p>
          <a:p>
            <a:r>
              <a:rPr lang="en-US" dirty="0"/>
              <a:t>Arrival of LLMs and their usefulness in increasing productivity has made this topic even more relevant</a:t>
            </a:r>
          </a:p>
          <a:p>
            <a:r>
              <a:rPr lang="en-US" dirty="0"/>
              <a:t>Rigorous verification is absolutely essential for using LLMs in any coding task.</a:t>
            </a:r>
          </a:p>
          <a:p>
            <a:r>
              <a:rPr lang="en-US" dirty="0"/>
              <a:t>In this module we will cover general design principles with test-driven development, and verification, and apply them to coding with LLM</a:t>
            </a:r>
          </a:p>
        </p:txBody>
      </p:sp>
      <p:sp>
        <p:nvSpPr>
          <p:cNvPr id="2" name="Title 1">
            <a:extLst>
              <a:ext uri="{FF2B5EF4-FFF2-40B4-BE49-F238E27FC236}">
                <a16:creationId xmlns:a16="http://schemas.microsoft.com/office/drawing/2014/main" id="{21A7FE85-F68E-DA20-11B5-9FB90BB9AF7B}"/>
              </a:ext>
            </a:extLst>
          </p:cNvPr>
          <p:cNvSpPr>
            <a:spLocks noGrp="1"/>
          </p:cNvSpPr>
          <p:nvPr>
            <p:ph type="title"/>
          </p:nvPr>
        </p:nvSpPr>
        <p:spPr>
          <a:xfrm>
            <a:off x="365760" y="411480"/>
            <a:ext cx="11372473" cy="914400"/>
          </a:xfrm>
        </p:spPr>
        <p:txBody>
          <a:bodyPr/>
          <a:lstStyle/>
          <a:p>
            <a:r>
              <a:rPr lang="en-US" dirty="0"/>
              <a:t>Introduction</a:t>
            </a:r>
          </a:p>
        </p:txBody>
      </p:sp>
    </p:spTree>
    <p:extLst>
      <p:ext uri="{BB962C8B-B14F-4D97-AF65-F5344CB8AC3E}">
        <p14:creationId xmlns:p14="http://schemas.microsoft.com/office/powerpoint/2010/main" val="11586806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885C9-0085-AB61-AB08-70EECA001F0C}"/>
              </a:ext>
            </a:extLst>
          </p:cNvPr>
          <p:cNvSpPr>
            <a:spLocks noGrp="1"/>
          </p:cNvSpPr>
          <p:nvPr>
            <p:ph type="title"/>
          </p:nvPr>
        </p:nvSpPr>
        <p:spPr/>
        <p:txBody>
          <a:bodyPr/>
          <a:lstStyle/>
          <a:p>
            <a:r>
              <a:rPr lang="en-US" dirty="0"/>
              <a:t>Designing Software – High Level Phases</a:t>
            </a:r>
          </a:p>
        </p:txBody>
      </p:sp>
      <p:sp>
        <p:nvSpPr>
          <p:cNvPr id="4" name="Rounded Rectangle 3">
            <a:extLst>
              <a:ext uri="{FF2B5EF4-FFF2-40B4-BE49-F238E27FC236}">
                <a16:creationId xmlns:a16="http://schemas.microsoft.com/office/drawing/2014/main" id="{1FA50980-32EC-326F-85DD-3CF03094F555}"/>
              </a:ext>
            </a:extLst>
          </p:cNvPr>
          <p:cNvSpPr/>
          <p:nvPr/>
        </p:nvSpPr>
        <p:spPr>
          <a:xfrm>
            <a:off x="357782" y="2204476"/>
            <a:ext cx="3036711" cy="3485124"/>
          </a:xfrm>
          <a:prstGeom prst="roundRect">
            <a:avLst/>
          </a:prstGeom>
          <a:solidFill>
            <a:schemeClr val="accent3"/>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marL="342900" indent="-342900">
              <a:buFont typeface="Wingdings" pitchFamily="2" charset="2"/>
              <a:buChar char="q"/>
            </a:pPr>
            <a:r>
              <a:rPr lang="en-US" sz="2400" dirty="0"/>
              <a:t>Features and capabilities</a:t>
            </a:r>
          </a:p>
          <a:p>
            <a:pPr marL="342900" indent="-342900">
              <a:buFont typeface="Wingdings" pitchFamily="2" charset="2"/>
              <a:buChar char="q"/>
            </a:pPr>
            <a:r>
              <a:rPr lang="en-US" sz="2400" dirty="0"/>
              <a:t>Constraints</a:t>
            </a:r>
          </a:p>
          <a:p>
            <a:pPr marL="342900" indent="-342900">
              <a:buFont typeface="Wingdings" pitchFamily="2" charset="2"/>
              <a:buChar char="q"/>
            </a:pPr>
            <a:r>
              <a:rPr lang="en-US" sz="2400" dirty="0"/>
              <a:t>Limitations</a:t>
            </a:r>
          </a:p>
          <a:p>
            <a:pPr marL="342900" indent="-342900">
              <a:buFont typeface="Wingdings" pitchFamily="2" charset="2"/>
              <a:buChar char="q"/>
            </a:pPr>
            <a:r>
              <a:rPr lang="en-US" sz="2400" dirty="0"/>
              <a:t>Target users</a:t>
            </a:r>
          </a:p>
          <a:p>
            <a:pPr marL="342900" indent="-342900">
              <a:buFont typeface="Wingdings" pitchFamily="2" charset="2"/>
              <a:buChar char="q"/>
            </a:pPr>
            <a:r>
              <a:rPr lang="en-US" sz="2400" dirty="0"/>
              <a:t>Other …..</a:t>
            </a:r>
          </a:p>
        </p:txBody>
      </p:sp>
      <p:sp>
        <p:nvSpPr>
          <p:cNvPr id="5" name="TextBox 4">
            <a:extLst>
              <a:ext uri="{FF2B5EF4-FFF2-40B4-BE49-F238E27FC236}">
                <a16:creationId xmlns:a16="http://schemas.microsoft.com/office/drawing/2014/main" id="{FA0D9DE4-2E38-ADA4-2111-58E62395D1CF}"/>
              </a:ext>
            </a:extLst>
          </p:cNvPr>
          <p:cNvSpPr txBox="1"/>
          <p:nvPr/>
        </p:nvSpPr>
        <p:spPr>
          <a:xfrm>
            <a:off x="827790" y="1253483"/>
            <a:ext cx="2243819" cy="1098762"/>
          </a:xfrm>
          <a:prstGeom prst="rect">
            <a:avLst/>
          </a:prstGeom>
          <a:noFill/>
        </p:spPr>
        <p:txBody>
          <a:bodyPr wrap="none" lIns="118872" tIns="91440" rIns="118872" bIns="91440" rtlCol="0" anchor="ctr" anchorCtr="0">
            <a:spAutoFit/>
          </a:bodyPr>
          <a:lstStyle/>
          <a:p>
            <a:pPr>
              <a:lnSpc>
                <a:spcPct val="90000"/>
              </a:lnSpc>
            </a:pPr>
            <a:r>
              <a:rPr lang="en-US" sz="2400" dirty="0"/>
              <a:t>Requirements </a:t>
            </a:r>
          </a:p>
          <a:p>
            <a:pPr>
              <a:lnSpc>
                <a:spcPct val="90000"/>
              </a:lnSpc>
            </a:pPr>
            <a:r>
              <a:rPr lang="en-US" sz="2400" dirty="0"/>
              <a:t>gathering</a:t>
            </a:r>
          </a:p>
          <a:p>
            <a:pPr algn="l">
              <a:lnSpc>
                <a:spcPct val="90000"/>
              </a:lnSpc>
            </a:pPr>
            <a:endParaRPr lang="en-US" dirty="0"/>
          </a:p>
        </p:txBody>
      </p:sp>
      <p:sp>
        <p:nvSpPr>
          <p:cNvPr id="6" name="Rounded Rectangle 5">
            <a:extLst>
              <a:ext uri="{FF2B5EF4-FFF2-40B4-BE49-F238E27FC236}">
                <a16:creationId xmlns:a16="http://schemas.microsoft.com/office/drawing/2014/main" id="{4C39241D-5C09-4307-67AD-F23DB0AB60AA}"/>
              </a:ext>
            </a:extLst>
          </p:cNvPr>
          <p:cNvSpPr/>
          <p:nvPr/>
        </p:nvSpPr>
        <p:spPr>
          <a:xfrm>
            <a:off x="3579447" y="2204476"/>
            <a:ext cx="3617417" cy="3485124"/>
          </a:xfrm>
          <a:prstGeom prst="roundRect">
            <a:avLst/>
          </a:prstGeom>
          <a:solidFill>
            <a:schemeClr val="accent3"/>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marL="342900" indent="-342900">
              <a:buFont typeface="Wingdings" pitchFamily="2" charset="2"/>
              <a:buChar char="q"/>
            </a:pPr>
            <a:r>
              <a:rPr lang="en-US" sz="2400" dirty="0"/>
              <a:t>Understand design space</a:t>
            </a:r>
          </a:p>
          <a:p>
            <a:pPr marL="342900" indent="-342900">
              <a:buFont typeface="Wingdings" pitchFamily="2" charset="2"/>
              <a:buChar char="q"/>
            </a:pPr>
            <a:r>
              <a:rPr lang="en-US" sz="2400" dirty="0"/>
              <a:t>Decompose into high level components</a:t>
            </a:r>
          </a:p>
          <a:p>
            <a:pPr marL="342900" indent="-342900">
              <a:buFont typeface="Wingdings" pitchFamily="2" charset="2"/>
              <a:buChar char="q"/>
            </a:pPr>
            <a:r>
              <a:rPr lang="en-US" sz="2400" dirty="0"/>
              <a:t>Bin components into types</a:t>
            </a:r>
          </a:p>
        </p:txBody>
      </p:sp>
      <p:sp>
        <p:nvSpPr>
          <p:cNvPr id="7" name="TextBox 6">
            <a:extLst>
              <a:ext uri="{FF2B5EF4-FFF2-40B4-BE49-F238E27FC236}">
                <a16:creationId xmlns:a16="http://schemas.microsoft.com/office/drawing/2014/main" id="{2633D9E3-0DB7-838E-127A-B1FC97FE7133}"/>
              </a:ext>
            </a:extLst>
          </p:cNvPr>
          <p:cNvSpPr txBox="1"/>
          <p:nvPr/>
        </p:nvSpPr>
        <p:spPr>
          <a:xfrm>
            <a:off x="4163653" y="1431575"/>
            <a:ext cx="2449004" cy="766364"/>
          </a:xfrm>
          <a:prstGeom prst="rect">
            <a:avLst/>
          </a:prstGeom>
          <a:noFill/>
        </p:spPr>
        <p:txBody>
          <a:bodyPr wrap="none" lIns="118872" tIns="91440" rIns="118872" bIns="91440" rtlCol="0" anchor="ctr" anchorCtr="0">
            <a:spAutoFit/>
          </a:bodyPr>
          <a:lstStyle/>
          <a:p>
            <a:pPr>
              <a:lnSpc>
                <a:spcPct val="90000"/>
              </a:lnSpc>
            </a:pPr>
            <a:r>
              <a:rPr lang="en-US" sz="2400" dirty="0"/>
              <a:t> Decomposition </a:t>
            </a:r>
          </a:p>
          <a:p>
            <a:pPr algn="l">
              <a:lnSpc>
                <a:spcPct val="90000"/>
              </a:lnSpc>
            </a:pPr>
            <a:endParaRPr lang="en-US" dirty="0"/>
          </a:p>
        </p:txBody>
      </p:sp>
      <p:sp>
        <p:nvSpPr>
          <p:cNvPr id="8" name="Rounded Rectangle 7">
            <a:extLst>
              <a:ext uri="{FF2B5EF4-FFF2-40B4-BE49-F238E27FC236}">
                <a16:creationId xmlns:a16="http://schemas.microsoft.com/office/drawing/2014/main" id="{AB44A520-B698-3423-B712-EB569E19AB6A}"/>
              </a:ext>
            </a:extLst>
          </p:cNvPr>
          <p:cNvSpPr/>
          <p:nvPr/>
        </p:nvSpPr>
        <p:spPr>
          <a:xfrm>
            <a:off x="7435818" y="2204476"/>
            <a:ext cx="3868204" cy="3485124"/>
          </a:xfrm>
          <a:prstGeom prst="roundRect">
            <a:avLst/>
          </a:prstGeom>
          <a:solidFill>
            <a:schemeClr val="accent3"/>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marL="342900" indent="-342900">
              <a:buFont typeface="Wingdings" pitchFamily="2" charset="2"/>
              <a:buChar char="q"/>
            </a:pPr>
            <a:r>
              <a:rPr lang="en-US" sz="2400" dirty="0"/>
              <a:t>Understand component hierarchy</a:t>
            </a:r>
          </a:p>
          <a:p>
            <a:pPr marL="342900" indent="-342900">
              <a:buFont typeface="Wingdings" pitchFamily="2" charset="2"/>
              <a:buChar char="q"/>
            </a:pPr>
            <a:r>
              <a:rPr lang="en-US" sz="2400" dirty="0"/>
              <a:t>Figure out connectivity among components </a:t>
            </a:r>
          </a:p>
          <a:p>
            <a:pPr marL="342900" indent="-342900">
              <a:buFont typeface="Wingdings" pitchFamily="2" charset="2"/>
              <a:buChar char="q"/>
            </a:pPr>
            <a:r>
              <a:rPr lang="en-US" sz="2400" dirty="0"/>
              <a:t>Articulate dependencies</a:t>
            </a:r>
          </a:p>
        </p:txBody>
      </p:sp>
      <p:sp>
        <p:nvSpPr>
          <p:cNvPr id="10" name="TextBox 9">
            <a:extLst>
              <a:ext uri="{FF2B5EF4-FFF2-40B4-BE49-F238E27FC236}">
                <a16:creationId xmlns:a16="http://schemas.microsoft.com/office/drawing/2014/main" id="{69FE6956-13C8-A349-28BA-03AEB7764C04}"/>
              </a:ext>
            </a:extLst>
          </p:cNvPr>
          <p:cNvSpPr txBox="1"/>
          <p:nvPr/>
        </p:nvSpPr>
        <p:spPr>
          <a:xfrm>
            <a:off x="8311628" y="1398929"/>
            <a:ext cx="1918410" cy="766364"/>
          </a:xfrm>
          <a:prstGeom prst="rect">
            <a:avLst/>
          </a:prstGeom>
          <a:noFill/>
        </p:spPr>
        <p:txBody>
          <a:bodyPr wrap="none" lIns="118872" tIns="91440" rIns="118872" bIns="91440" rtlCol="0" anchor="ctr" anchorCtr="0">
            <a:spAutoFit/>
          </a:bodyPr>
          <a:lstStyle/>
          <a:p>
            <a:pPr>
              <a:lnSpc>
                <a:spcPct val="90000"/>
              </a:lnSpc>
            </a:pPr>
            <a:r>
              <a:rPr lang="en-US" sz="2400" dirty="0"/>
              <a:t>Connectivity</a:t>
            </a:r>
          </a:p>
          <a:p>
            <a:pPr algn="l">
              <a:lnSpc>
                <a:spcPct val="90000"/>
              </a:lnSpc>
            </a:pPr>
            <a:endParaRPr lang="en-US" dirty="0"/>
          </a:p>
        </p:txBody>
      </p:sp>
    </p:spTree>
    <p:extLst>
      <p:ext uri="{BB962C8B-B14F-4D97-AF65-F5344CB8AC3E}">
        <p14:creationId xmlns:p14="http://schemas.microsoft.com/office/powerpoint/2010/main" val="3272144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C7A2BF5-DB7A-E642-B501-8F10E157011B}"/>
              </a:ext>
            </a:extLst>
          </p:cNvPr>
          <p:cNvSpPr>
            <a:spLocks noGrp="1"/>
          </p:cNvSpPr>
          <p:nvPr>
            <p:ph type="title"/>
          </p:nvPr>
        </p:nvSpPr>
        <p:spPr>
          <a:xfrm>
            <a:off x="408175" y="325677"/>
            <a:ext cx="11372473" cy="914400"/>
          </a:xfrm>
        </p:spPr>
        <p:txBody>
          <a:bodyPr/>
          <a:lstStyle/>
          <a:p>
            <a:r>
              <a:rPr lang="en-US" dirty="0"/>
              <a:t>Example </a:t>
            </a:r>
          </a:p>
        </p:txBody>
      </p:sp>
      <p:pic>
        <p:nvPicPr>
          <p:cNvPr id="9" name="Picture 8">
            <a:extLst>
              <a:ext uri="{FF2B5EF4-FFF2-40B4-BE49-F238E27FC236}">
                <a16:creationId xmlns:a16="http://schemas.microsoft.com/office/drawing/2014/main" id="{AE2A18EF-B7B7-3BFF-3446-1640D1EE895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65850" y="774477"/>
            <a:ext cx="6422975" cy="5636714"/>
          </a:xfrm>
          <a:prstGeom prst="rect">
            <a:avLst/>
          </a:prstGeom>
        </p:spPr>
      </p:pic>
      <p:sp>
        <p:nvSpPr>
          <p:cNvPr id="7" name="Content Placeholder 2">
            <a:extLst>
              <a:ext uri="{FF2B5EF4-FFF2-40B4-BE49-F238E27FC236}">
                <a16:creationId xmlns:a16="http://schemas.microsoft.com/office/drawing/2014/main" id="{14B3EC23-1E23-7B12-7FBA-74C62ABC42A1}"/>
              </a:ext>
            </a:extLst>
          </p:cNvPr>
          <p:cNvSpPr>
            <a:spLocks noGrp="1"/>
          </p:cNvSpPr>
          <p:nvPr>
            <p:ph idx="1"/>
          </p:nvPr>
        </p:nvSpPr>
        <p:spPr>
          <a:xfrm>
            <a:off x="140410" y="895609"/>
            <a:ext cx="6196222" cy="5636714"/>
          </a:xfrm>
        </p:spPr>
        <p:txBody>
          <a:bodyPr>
            <a:normAutofit fontScale="85000" lnSpcReduction="10000"/>
          </a:bodyPr>
          <a:lstStyle/>
          <a:p>
            <a:r>
              <a:rPr lang="en-US" sz="2800" dirty="0"/>
              <a:t>Many applications combine mesh and particles</a:t>
            </a:r>
          </a:p>
          <a:p>
            <a:pPr lvl="1"/>
            <a:r>
              <a:rPr lang="en-US" sz="2400" dirty="0"/>
              <a:t>Particles have positions associated with them</a:t>
            </a:r>
          </a:p>
          <a:p>
            <a:pPr lvl="1"/>
            <a:r>
              <a:rPr lang="en-US" sz="2400" dirty="0"/>
              <a:t>They interchange physical quantities with the mesh</a:t>
            </a:r>
          </a:p>
          <a:p>
            <a:pPr lvl="1"/>
            <a:r>
              <a:rPr lang="en-US" sz="2400" dirty="0"/>
              <a:t>They change positions based on interactions</a:t>
            </a:r>
          </a:p>
          <a:p>
            <a:r>
              <a:rPr lang="en-US" sz="2800" dirty="0"/>
              <a:t>We will build a uniformly discretized 2D cartesian mesh and initialize with a lattice of particles</a:t>
            </a:r>
          </a:p>
          <a:p>
            <a:pPr lvl="1"/>
            <a:r>
              <a:rPr lang="en-US" sz="2400" dirty="0"/>
              <a:t>We will divide the mesh into blocks</a:t>
            </a:r>
          </a:p>
          <a:p>
            <a:pPr lvl="1"/>
            <a:r>
              <a:rPr lang="en-US" sz="2400" dirty="0"/>
              <a:t>We will associate each particle with a single block</a:t>
            </a:r>
          </a:p>
          <a:p>
            <a:pPr lvl="1"/>
            <a:r>
              <a:rPr lang="en-US" sz="2400" dirty="0"/>
              <a:t>We will move particles to different locations which may change the block they are associated with </a:t>
            </a:r>
          </a:p>
          <a:p>
            <a:pPr lvl="1"/>
            <a:r>
              <a:rPr lang="en-US" sz="2600" dirty="0"/>
              <a:t>We will need to handle particles that leave the domain</a:t>
            </a:r>
          </a:p>
          <a:p>
            <a:endParaRPr lang="en-US" dirty="0"/>
          </a:p>
        </p:txBody>
      </p:sp>
    </p:spTree>
    <p:extLst>
      <p:ext uri="{BB962C8B-B14F-4D97-AF65-F5344CB8AC3E}">
        <p14:creationId xmlns:p14="http://schemas.microsoft.com/office/powerpoint/2010/main" val="38788747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BA06E-A4E1-9519-6CEC-5B4B39A0E042}"/>
              </a:ext>
            </a:extLst>
          </p:cNvPr>
          <p:cNvSpPr>
            <a:spLocks noGrp="1"/>
          </p:cNvSpPr>
          <p:nvPr>
            <p:ph type="title"/>
          </p:nvPr>
        </p:nvSpPr>
        <p:spPr/>
        <p:txBody>
          <a:bodyPr/>
          <a:lstStyle/>
          <a:p>
            <a:r>
              <a:rPr lang="en-US" dirty="0"/>
              <a:t>Requirements Gathering </a:t>
            </a:r>
          </a:p>
        </p:txBody>
      </p:sp>
      <p:sp>
        <p:nvSpPr>
          <p:cNvPr id="3" name="Content Placeholder 2">
            <a:extLst>
              <a:ext uri="{FF2B5EF4-FFF2-40B4-BE49-F238E27FC236}">
                <a16:creationId xmlns:a16="http://schemas.microsoft.com/office/drawing/2014/main" id="{AA632C3A-E42B-55EE-B676-A76A379F5AD8}"/>
              </a:ext>
            </a:extLst>
          </p:cNvPr>
          <p:cNvSpPr>
            <a:spLocks noGrp="1"/>
          </p:cNvSpPr>
          <p:nvPr>
            <p:ph idx="1"/>
          </p:nvPr>
        </p:nvSpPr>
        <p:spPr>
          <a:xfrm>
            <a:off x="1135018" y="1432558"/>
            <a:ext cx="9242695" cy="4489269"/>
          </a:xfrm>
        </p:spPr>
        <p:txBody>
          <a:bodyPr/>
          <a:lstStyle/>
          <a:p>
            <a:r>
              <a:rPr lang="en-US" sz="2800" dirty="0"/>
              <a:t>Components we need</a:t>
            </a:r>
          </a:p>
          <a:p>
            <a:pPr lvl="1"/>
            <a:r>
              <a:rPr lang="en-US" dirty="0"/>
              <a:t>Mesh generator – with mesh divided into blocks</a:t>
            </a:r>
          </a:p>
          <a:p>
            <a:pPr lvl="1"/>
            <a:r>
              <a:rPr lang="en-US" dirty="0"/>
              <a:t>Particles generator – in a 2D lattice</a:t>
            </a:r>
          </a:p>
          <a:p>
            <a:pPr lvl="1"/>
            <a:r>
              <a:rPr lang="en-US" dirty="0"/>
              <a:t>For each particle ability to locate the block  on which the particle resides</a:t>
            </a:r>
          </a:p>
          <a:p>
            <a:pPr lvl="1"/>
            <a:r>
              <a:rPr lang="en-US" dirty="0"/>
              <a:t>Making the particles change position</a:t>
            </a:r>
          </a:p>
          <a:p>
            <a:r>
              <a:rPr lang="en-US" sz="2800" dirty="0"/>
              <a:t>To verify that we are doing it correctly we need to make sure that </a:t>
            </a:r>
          </a:p>
          <a:p>
            <a:pPr lvl="1"/>
            <a:r>
              <a:rPr lang="en-US" dirty="0"/>
              <a:t>The mesh is generated correctly</a:t>
            </a:r>
          </a:p>
          <a:p>
            <a:pPr lvl="1"/>
            <a:r>
              <a:rPr lang="en-US" dirty="0"/>
              <a:t>The particles are initialized in a lattice and associated with blocks correctly</a:t>
            </a:r>
          </a:p>
          <a:p>
            <a:pPr lvl="1"/>
            <a:r>
              <a:rPr lang="en-US" dirty="0"/>
              <a:t>After moving the particles change their associations correctly</a:t>
            </a:r>
          </a:p>
          <a:p>
            <a:pPr lvl="1"/>
            <a:endParaRPr lang="en-US" dirty="0"/>
          </a:p>
          <a:p>
            <a:pPr lvl="1"/>
            <a:endParaRPr lang="en-US" dirty="0"/>
          </a:p>
          <a:p>
            <a:pPr lvl="1"/>
            <a:endParaRPr lang="en-US" sz="2400" dirty="0"/>
          </a:p>
          <a:p>
            <a:endParaRPr lang="en-US" dirty="0"/>
          </a:p>
        </p:txBody>
      </p:sp>
    </p:spTree>
    <p:extLst>
      <p:ext uri="{BB962C8B-B14F-4D97-AF65-F5344CB8AC3E}">
        <p14:creationId xmlns:p14="http://schemas.microsoft.com/office/powerpoint/2010/main" val="10289850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ED41C-1F2F-0CD9-BD98-5C268144F0F1}"/>
              </a:ext>
            </a:extLst>
          </p:cNvPr>
          <p:cNvSpPr>
            <a:spLocks noGrp="1"/>
          </p:cNvSpPr>
          <p:nvPr>
            <p:ph type="title"/>
          </p:nvPr>
        </p:nvSpPr>
        <p:spPr/>
        <p:txBody>
          <a:bodyPr/>
          <a:lstStyle/>
          <a:p>
            <a:r>
              <a:rPr lang="en-US" dirty="0"/>
              <a:t>Decomposition</a:t>
            </a:r>
          </a:p>
        </p:txBody>
      </p:sp>
      <p:sp>
        <p:nvSpPr>
          <p:cNvPr id="3" name="Content Placeholder 2">
            <a:extLst>
              <a:ext uri="{FF2B5EF4-FFF2-40B4-BE49-F238E27FC236}">
                <a16:creationId xmlns:a16="http://schemas.microsoft.com/office/drawing/2014/main" id="{E86A1A1D-89C4-8A73-4364-CBEAE0130AEC}"/>
              </a:ext>
            </a:extLst>
          </p:cNvPr>
          <p:cNvSpPr>
            <a:spLocks noGrp="1"/>
          </p:cNvSpPr>
          <p:nvPr>
            <p:ph idx="1"/>
          </p:nvPr>
        </p:nvSpPr>
        <p:spPr>
          <a:xfrm>
            <a:off x="365760" y="1029546"/>
            <a:ext cx="4352996" cy="4798907"/>
          </a:xfrm>
        </p:spPr>
        <p:txBody>
          <a:bodyPr/>
          <a:lstStyle/>
          <a:p>
            <a:pPr marL="0" indent="0" algn="ctr">
              <a:buNone/>
            </a:pPr>
            <a:r>
              <a:rPr lang="en-US" dirty="0"/>
              <a:t>This is a small design space</a:t>
            </a:r>
          </a:p>
          <a:p>
            <a:pPr>
              <a:buClr>
                <a:srgbClr val="C00000"/>
              </a:buClr>
              <a:buFont typeface="Wingdings" pitchFamily="2" charset="2"/>
              <a:buChar char="q"/>
            </a:pPr>
            <a:r>
              <a:rPr lang="en-US" dirty="0"/>
              <a:t>Several requirements can directly map to components </a:t>
            </a:r>
          </a:p>
          <a:p>
            <a:pPr lvl="1">
              <a:buClr>
                <a:srgbClr val="C00000"/>
              </a:buClr>
              <a:buFont typeface="Wingdings" pitchFamily="2" charset="2"/>
              <a:buChar char="q"/>
            </a:pPr>
            <a:r>
              <a:rPr lang="en-US" dirty="0"/>
              <a:t>Driver</a:t>
            </a:r>
          </a:p>
          <a:p>
            <a:pPr lvl="1">
              <a:buClr>
                <a:srgbClr val="C00000"/>
              </a:buClr>
              <a:buFont typeface="Wingdings" pitchFamily="2" charset="2"/>
              <a:buChar char="q"/>
            </a:pPr>
            <a:r>
              <a:rPr lang="en-US" dirty="0"/>
              <a:t>Mesh initialization </a:t>
            </a:r>
          </a:p>
          <a:p>
            <a:pPr lvl="2">
              <a:buClr>
                <a:srgbClr val="C00000"/>
              </a:buClr>
              <a:buFont typeface="Wingdings" pitchFamily="2" charset="2"/>
              <a:buChar char="q"/>
            </a:pPr>
            <a:r>
              <a:rPr lang="en-US" dirty="0"/>
              <a:t>Data structure</a:t>
            </a:r>
          </a:p>
          <a:p>
            <a:pPr lvl="2">
              <a:buClr>
                <a:srgbClr val="C00000"/>
              </a:buClr>
              <a:buFont typeface="Wingdings" pitchFamily="2" charset="2"/>
              <a:buChar char="q"/>
            </a:pPr>
            <a:r>
              <a:rPr lang="en-US" dirty="0"/>
              <a:t>Division into blocks</a:t>
            </a:r>
          </a:p>
          <a:p>
            <a:pPr lvl="1">
              <a:buClr>
                <a:srgbClr val="C00000"/>
              </a:buClr>
              <a:buFont typeface="Wingdings" pitchFamily="2" charset="2"/>
              <a:buChar char="q"/>
            </a:pPr>
            <a:r>
              <a:rPr lang="en-US" dirty="0"/>
              <a:t>Particle initialization</a:t>
            </a:r>
          </a:p>
          <a:p>
            <a:pPr lvl="2">
              <a:buClr>
                <a:srgbClr val="C00000"/>
              </a:buClr>
              <a:buFont typeface="Wingdings" pitchFamily="2" charset="2"/>
              <a:buChar char="q"/>
            </a:pPr>
            <a:r>
              <a:rPr lang="en-US" dirty="0"/>
              <a:t>Position</a:t>
            </a:r>
          </a:p>
          <a:p>
            <a:pPr lvl="2">
              <a:buClr>
                <a:srgbClr val="C00000"/>
              </a:buClr>
              <a:buFont typeface="Wingdings" pitchFamily="2" charset="2"/>
              <a:buChar char="q"/>
            </a:pPr>
            <a:r>
              <a:rPr lang="en-US" dirty="0"/>
              <a:t>Association with a mesh block</a:t>
            </a:r>
          </a:p>
          <a:p>
            <a:pPr lvl="1">
              <a:buClr>
                <a:srgbClr val="C00000"/>
              </a:buClr>
              <a:buFont typeface="Wingdings" pitchFamily="2" charset="2"/>
              <a:buChar char="q"/>
            </a:pPr>
            <a:r>
              <a:rPr lang="en-US" dirty="0"/>
              <a:t>Particle mover</a:t>
            </a:r>
          </a:p>
          <a:p>
            <a:pPr lvl="1">
              <a:buClr>
                <a:srgbClr val="C00000"/>
              </a:buClr>
              <a:buFont typeface="Wingdings" pitchFamily="2" charset="2"/>
              <a:buChar char="q"/>
            </a:pPr>
            <a:r>
              <a:rPr lang="en-US" dirty="0"/>
              <a:t>Tests</a:t>
            </a:r>
          </a:p>
          <a:p>
            <a:endParaRPr lang="en-US" dirty="0"/>
          </a:p>
          <a:p>
            <a:pPr lvl="2"/>
            <a:endParaRPr lang="en-US" dirty="0"/>
          </a:p>
        </p:txBody>
      </p:sp>
      <p:sp>
        <p:nvSpPr>
          <p:cNvPr id="4" name="Content Placeholder 2">
            <a:extLst>
              <a:ext uri="{FF2B5EF4-FFF2-40B4-BE49-F238E27FC236}">
                <a16:creationId xmlns:a16="http://schemas.microsoft.com/office/drawing/2014/main" id="{0591D631-CE85-82AC-5579-D9B9D0EDD0CE}"/>
              </a:ext>
            </a:extLst>
          </p:cNvPr>
          <p:cNvSpPr txBox="1">
            <a:spLocks/>
          </p:cNvSpPr>
          <p:nvPr/>
        </p:nvSpPr>
        <p:spPr bwMode="auto">
          <a:xfrm>
            <a:off x="5455004" y="1089476"/>
            <a:ext cx="6368061" cy="47091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230188" indent="-230188" algn="l" rtl="0" eaLnBrk="1" fontAlgn="base" hangingPunct="1">
              <a:lnSpc>
                <a:spcPct val="90000"/>
              </a:lnSpc>
              <a:spcBef>
                <a:spcPts val="1400"/>
              </a:spcBef>
              <a:spcAft>
                <a:spcPct val="0"/>
              </a:spcAft>
              <a:buClr>
                <a:srgbClr val="C00000"/>
              </a:buClr>
              <a:buFont typeface="Wingdings" pitchFamily="2" charset="2"/>
              <a:buChar char="q"/>
              <a:defRPr sz="2400" kern="1200">
                <a:solidFill>
                  <a:schemeClr val="tx1"/>
                </a:solidFill>
                <a:latin typeface="Arial" panose="020B0604020202020204" pitchFamily="34" charset="0"/>
                <a:ea typeface="+mn-ea"/>
                <a:cs typeface="Arial" panose="020B0604020202020204" pitchFamily="34" charset="0"/>
              </a:defRPr>
            </a:lvl1pPr>
            <a:lvl2pPr marL="625475" indent="-279400" algn="l" rtl="0" eaLnBrk="1" fontAlgn="base" hangingPunct="1">
              <a:lnSpc>
                <a:spcPct val="90000"/>
              </a:lnSpc>
              <a:spcBef>
                <a:spcPts val="800"/>
              </a:spcBef>
              <a:spcAft>
                <a:spcPct val="0"/>
              </a:spcAft>
              <a:buClr>
                <a:srgbClr val="C00000"/>
              </a:buClr>
              <a:buFont typeface="Wingdings" pitchFamily="2" charset="2"/>
              <a:buChar char="q"/>
              <a:defRPr sz="2000" kern="1200">
                <a:solidFill>
                  <a:schemeClr val="tx1"/>
                </a:solidFill>
                <a:latin typeface="Arial" panose="020B0604020202020204" pitchFamily="34" charset="0"/>
                <a:ea typeface="+mn-ea"/>
                <a:cs typeface="Arial" panose="020B0604020202020204" pitchFamily="34" charset="0"/>
              </a:defRPr>
            </a:lvl2pPr>
            <a:lvl3pPr marL="914400" indent="-230188" algn="l" rtl="0" eaLnBrk="1" fontAlgn="base" hangingPunct="1">
              <a:lnSpc>
                <a:spcPct val="90000"/>
              </a:lnSpc>
              <a:spcBef>
                <a:spcPts val="800"/>
              </a:spcBef>
              <a:spcAft>
                <a:spcPct val="0"/>
              </a:spcAft>
              <a:buClr>
                <a:srgbClr val="C00000"/>
              </a:buClr>
              <a:buFont typeface="Wingdings" pitchFamily="2" charset="2"/>
              <a:buChar char="q"/>
              <a:defRPr sz="1800" kern="1200">
                <a:solidFill>
                  <a:schemeClr val="tx1"/>
                </a:solidFill>
                <a:latin typeface="Arial" panose="020B0604020202020204" pitchFamily="34" charset="0"/>
                <a:ea typeface="+mn-ea"/>
                <a:cs typeface="Arial" panose="020B0604020202020204" pitchFamily="34" charset="0"/>
              </a:defRPr>
            </a:lvl3pPr>
            <a:lvl4pPr marL="1144588" indent="-173038" algn="l" rtl="0" eaLnBrk="1" fontAlgn="base" hangingPunct="1">
              <a:lnSpc>
                <a:spcPct val="90000"/>
              </a:lnSpc>
              <a:spcBef>
                <a:spcPts val="800"/>
              </a:spcBef>
              <a:spcAft>
                <a:spcPct val="0"/>
              </a:spcAft>
              <a:buClr>
                <a:srgbClr val="C00000"/>
              </a:buClr>
              <a:buFont typeface="Wingdings" pitchFamily="2" charset="2"/>
              <a:buChar char="q"/>
              <a:defRPr sz="1600" kern="1200">
                <a:solidFill>
                  <a:schemeClr val="tx1"/>
                </a:solidFill>
                <a:latin typeface="Arial" panose="020B0604020202020204" pitchFamily="34" charset="0"/>
                <a:ea typeface="+mn-ea"/>
                <a:cs typeface="Arial" panose="020B0604020202020204" pitchFamily="34" charset="0"/>
              </a:defRPr>
            </a:lvl4pPr>
            <a:lvl5pPr marL="1482725" indent="-222250" algn="l" rtl="0" eaLnBrk="1" fontAlgn="base" hangingPunct="1">
              <a:lnSpc>
                <a:spcPct val="90000"/>
              </a:lnSpc>
              <a:spcBef>
                <a:spcPts val="600"/>
              </a:spcBef>
              <a:spcAft>
                <a:spcPct val="0"/>
              </a:spcAft>
              <a:buClr>
                <a:srgbClr val="C00000"/>
              </a:buClr>
              <a:buFont typeface="Wingdings" pitchFamily="2" charset="2"/>
              <a:buChar char="q"/>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dirty="0"/>
              <a:t>Binning components</a:t>
            </a:r>
          </a:p>
          <a:p>
            <a:r>
              <a:rPr lang="en-US" dirty="0"/>
              <a:t>Infrastructure Components</a:t>
            </a:r>
          </a:p>
          <a:p>
            <a:pPr lvl="1"/>
            <a:r>
              <a:rPr lang="en-US" dirty="0"/>
              <a:t>Driver</a:t>
            </a:r>
          </a:p>
          <a:p>
            <a:pPr lvl="1"/>
            <a:r>
              <a:rPr lang="en-US" dirty="0"/>
              <a:t>Initialization </a:t>
            </a:r>
          </a:p>
          <a:p>
            <a:pPr lvl="2"/>
            <a:r>
              <a:rPr lang="en-US" dirty="0"/>
              <a:t>Mesh with division into blocks</a:t>
            </a:r>
          </a:p>
          <a:p>
            <a:pPr lvl="2"/>
            <a:r>
              <a:rPr lang="en-US" dirty="0"/>
              <a:t>Particles position</a:t>
            </a:r>
          </a:p>
          <a:p>
            <a:pPr lvl="1"/>
            <a:r>
              <a:rPr lang="en-US" dirty="0"/>
              <a:t>Association with a mesh block</a:t>
            </a:r>
          </a:p>
          <a:p>
            <a:r>
              <a:rPr lang="en-US" dirty="0"/>
              <a:t>Components that are specific to one instance</a:t>
            </a:r>
          </a:p>
          <a:p>
            <a:pPr lvl="1"/>
            <a:r>
              <a:rPr lang="en-US" dirty="0"/>
              <a:t>Boundary conditions</a:t>
            </a:r>
          </a:p>
          <a:p>
            <a:pPr lvl="1"/>
            <a:r>
              <a:rPr lang="en-US" dirty="0"/>
              <a:t>Particle mover</a:t>
            </a:r>
          </a:p>
          <a:p>
            <a:r>
              <a:rPr lang="en-US" dirty="0"/>
              <a:t>Components for verification</a:t>
            </a:r>
          </a:p>
          <a:p>
            <a:pPr lvl="1"/>
            <a:endParaRPr lang="en-US" dirty="0"/>
          </a:p>
          <a:p>
            <a:pPr lvl="1"/>
            <a:endParaRPr lang="en-US" dirty="0"/>
          </a:p>
          <a:p>
            <a:endParaRPr lang="en-US" dirty="0"/>
          </a:p>
          <a:p>
            <a:endParaRPr lang="en-US" dirty="0"/>
          </a:p>
          <a:p>
            <a:pPr lvl="2"/>
            <a:endParaRPr lang="en-US" dirty="0"/>
          </a:p>
        </p:txBody>
      </p:sp>
    </p:spTree>
    <p:extLst>
      <p:ext uri="{BB962C8B-B14F-4D97-AF65-F5344CB8AC3E}">
        <p14:creationId xmlns:p14="http://schemas.microsoft.com/office/powerpoint/2010/main" val="27022918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8450C-5429-6C6E-5867-0F803BFDD8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D8899B-BF1B-EF94-C9A0-7764CB5E413A}"/>
              </a:ext>
            </a:extLst>
          </p:cNvPr>
          <p:cNvSpPr>
            <a:spLocks noGrp="1"/>
          </p:cNvSpPr>
          <p:nvPr>
            <p:ph type="title"/>
          </p:nvPr>
        </p:nvSpPr>
        <p:spPr/>
        <p:txBody>
          <a:bodyPr/>
          <a:lstStyle/>
          <a:p>
            <a:r>
              <a:rPr lang="en-US" dirty="0"/>
              <a:t>Connectivity</a:t>
            </a:r>
          </a:p>
        </p:txBody>
      </p:sp>
      <p:sp>
        <p:nvSpPr>
          <p:cNvPr id="4" name="Rectangle 3">
            <a:extLst>
              <a:ext uri="{FF2B5EF4-FFF2-40B4-BE49-F238E27FC236}">
                <a16:creationId xmlns:a16="http://schemas.microsoft.com/office/drawing/2014/main" id="{0DF55154-42DE-1595-8C42-31E990B6E005}"/>
              </a:ext>
            </a:extLst>
          </p:cNvPr>
          <p:cNvSpPr/>
          <p:nvPr/>
        </p:nvSpPr>
        <p:spPr>
          <a:xfrm>
            <a:off x="3329693" y="4380653"/>
            <a:ext cx="1710437"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Initialization of </a:t>
            </a:r>
          </a:p>
          <a:p>
            <a:pPr algn="ctr">
              <a:lnSpc>
                <a:spcPct val="90000"/>
              </a:lnSpc>
            </a:pPr>
            <a:r>
              <a:rPr lang="en-US" sz="2000" dirty="0">
                <a:solidFill>
                  <a:schemeClr val="bg1"/>
                </a:solidFill>
              </a:rPr>
              <a:t>Particle positions</a:t>
            </a:r>
          </a:p>
        </p:txBody>
      </p:sp>
      <p:sp>
        <p:nvSpPr>
          <p:cNvPr id="5" name="Rectangle 4">
            <a:extLst>
              <a:ext uri="{FF2B5EF4-FFF2-40B4-BE49-F238E27FC236}">
                <a16:creationId xmlns:a16="http://schemas.microsoft.com/office/drawing/2014/main" id="{47685814-4814-9814-E74A-F49EE2585673}"/>
              </a:ext>
            </a:extLst>
          </p:cNvPr>
          <p:cNvSpPr/>
          <p:nvPr/>
        </p:nvSpPr>
        <p:spPr>
          <a:xfrm>
            <a:off x="3329692" y="1232362"/>
            <a:ext cx="1710437"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Mesh generation </a:t>
            </a:r>
          </a:p>
        </p:txBody>
      </p:sp>
      <p:sp>
        <p:nvSpPr>
          <p:cNvPr id="8" name="Rectangle 7">
            <a:extLst>
              <a:ext uri="{FF2B5EF4-FFF2-40B4-BE49-F238E27FC236}">
                <a16:creationId xmlns:a16="http://schemas.microsoft.com/office/drawing/2014/main" id="{B64C423A-B7D9-A3A5-9C66-2894DC7B4D88}"/>
              </a:ext>
            </a:extLst>
          </p:cNvPr>
          <p:cNvSpPr/>
          <p:nvPr/>
        </p:nvSpPr>
        <p:spPr>
          <a:xfrm>
            <a:off x="8519134" y="4352986"/>
            <a:ext cx="1502658"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Particle mover</a:t>
            </a:r>
          </a:p>
        </p:txBody>
      </p:sp>
      <p:sp>
        <p:nvSpPr>
          <p:cNvPr id="9" name="Rectangle 8">
            <a:extLst>
              <a:ext uri="{FF2B5EF4-FFF2-40B4-BE49-F238E27FC236}">
                <a16:creationId xmlns:a16="http://schemas.microsoft.com/office/drawing/2014/main" id="{F451F16B-1633-415F-2BEE-DE694257DEB4}"/>
              </a:ext>
            </a:extLst>
          </p:cNvPr>
          <p:cNvSpPr/>
          <p:nvPr/>
        </p:nvSpPr>
        <p:spPr>
          <a:xfrm>
            <a:off x="8465930" y="1232360"/>
            <a:ext cx="1514299"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Boundary conditions</a:t>
            </a:r>
          </a:p>
        </p:txBody>
      </p:sp>
      <p:sp>
        <p:nvSpPr>
          <p:cNvPr id="3" name="Rectangle 2">
            <a:extLst>
              <a:ext uri="{FF2B5EF4-FFF2-40B4-BE49-F238E27FC236}">
                <a16:creationId xmlns:a16="http://schemas.microsoft.com/office/drawing/2014/main" id="{9CB9A908-7FFB-BC30-386C-AE77FF2F5AD1}"/>
              </a:ext>
            </a:extLst>
          </p:cNvPr>
          <p:cNvSpPr/>
          <p:nvPr/>
        </p:nvSpPr>
        <p:spPr>
          <a:xfrm>
            <a:off x="5894060" y="1232361"/>
            <a:ext cx="1971858"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Mesh decomposition </a:t>
            </a:r>
          </a:p>
        </p:txBody>
      </p:sp>
      <p:sp>
        <p:nvSpPr>
          <p:cNvPr id="11" name="Rectangle 10">
            <a:extLst>
              <a:ext uri="{FF2B5EF4-FFF2-40B4-BE49-F238E27FC236}">
                <a16:creationId xmlns:a16="http://schemas.microsoft.com/office/drawing/2014/main" id="{C1B10381-0DAC-293A-82CE-B28EB74A76CB}"/>
              </a:ext>
            </a:extLst>
          </p:cNvPr>
          <p:cNvSpPr/>
          <p:nvPr/>
        </p:nvSpPr>
        <p:spPr>
          <a:xfrm>
            <a:off x="5895812" y="4372015"/>
            <a:ext cx="1971858"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Block association</a:t>
            </a:r>
          </a:p>
        </p:txBody>
      </p:sp>
      <p:sp>
        <p:nvSpPr>
          <p:cNvPr id="12" name="Rectangle 11">
            <a:extLst>
              <a:ext uri="{FF2B5EF4-FFF2-40B4-BE49-F238E27FC236}">
                <a16:creationId xmlns:a16="http://schemas.microsoft.com/office/drawing/2014/main" id="{4AE30AD2-BC3B-6244-AC0D-5787C8A7FCBD}"/>
              </a:ext>
            </a:extLst>
          </p:cNvPr>
          <p:cNvSpPr/>
          <p:nvPr/>
        </p:nvSpPr>
        <p:spPr>
          <a:xfrm>
            <a:off x="663124" y="2928869"/>
            <a:ext cx="1514299"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Driver</a:t>
            </a:r>
          </a:p>
        </p:txBody>
      </p:sp>
      <p:cxnSp>
        <p:nvCxnSpPr>
          <p:cNvPr id="36" name="Elbow Connector 35">
            <a:extLst>
              <a:ext uri="{FF2B5EF4-FFF2-40B4-BE49-F238E27FC236}">
                <a16:creationId xmlns:a16="http://schemas.microsoft.com/office/drawing/2014/main" id="{E4F7EFA0-2A7B-D943-7B1C-D3C320828C99}"/>
              </a:ext>
            </a:extLst>
          </p:cNvPr>
          <p:cNvCxnSpPr>
            <a:stCxn id="12" idx="0"/>
            <a:endCxn id="5" idx="1"/>
          </p:cNvCxnSpPr>
          <p:nvPr/>
        </p:nvCxnSpPr>
        <p:spPr>
          <a:xfrm rot="5400000" flipH="1" flipV="1">
            <a:off x="1814597" y="1413774"/>
            <a:ext cx="1120773" cy="1909418"/>
          </a:xfrm>
          <a:prstGeom prst="bentConnector2">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8" name="Elbow Connector 37">
            <a:extLst>
              <a:ext uri="{FF2B5EF4-FFF2-40B4-BE49-F238E27FC236}">
                <a16:creationId xmlns:a16="http://schemas.microsoft.com/office/drawing/2014/main" id="{3A87DCA7-4EAE-0954-B88E-DF9B6EB0FC42}"/>
              </a:ext>
            </a:extLst>
          </p:cNvPr>
          <p:cNvCxnSpPr>
            <a:stCxn id="12" idx="2"/>
            <a:endCxn id="4" idx="1"/>
          </p:cNvCxnSpPr>
          <p:nvPr/>
        </p:nvCxnSpPr>
        <p:spPr>
          <a:xfrm rot="16200000" flipH="1">
            <a:off x="1936958" y="3563651"/>
            <a:ext cx="876051" cy="1909419"/>
          </a:xfrm>
          <a:prstGeom prst="bentConnector2">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Elbow Connector 41">
            <a:extLst>
              <a:ext uri="{FF2B5EF4-FFF2-40B4-BE49-F238E27FC236}">
                <a16:creationId xmlns:a16="http://schemas.microsoft.com/office/drawing/2014/main" id="{CFE0E477-FFEF-E86E-D554-32EED54E37F5}"/>
              </a:ext>
            </a:extLst>
          </p:cNvPr>
          <p:cNvCxnSpPr>
            <a:stCxn id="5" idx="0"/>
            <a:endCxn id="9" idx="0"/>
          </p:cNvCxnSpPr>
          <p:nvPr/>
        </p:nvCxnSpPr>
        <p:spPr>
          <a:xfrm rot="5400000" flipH="1" flipV="1">
            <a:off x="6703994" y="-1286723"/>
            <a:ext cx="2" cy="5038169"/>
          </a:xfrm>
          <a:prstGeom prst="bentConnector3">
            <a:avLst>
              <a:gd name="adj1" fmla="val 11430100000"/>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7" name="Elbow Connector 46">
            <a:extLst>
              <a:ext uri="{FF2B5EF4-FFF2-40B4-BE49-F238E27FC236}">
                <a16:creationId xmlns:a16="http://schemas.microsoft.com/office/drawing/2014/main" id="{6AE2294B-870D-52DC-EDCB-AC69C8875525}"/>
              </a:ext>
            </a:extLst>
          </p:cNvPr>
          <p:cNvCxnSpPr>
            <a:stCxn id="12" idx="3"/>
            <a:endCxn id="8" idx="0"/>
          </p:cNvCxnSpPr>
          <p:nvPr/>
        </p:nvCxnSpPr>
        <p:spPr>
          <a:xfrm>
            <a:off x="2177423" y="3504603"/>
            <a:ext cx="7093040" cy="848383"/>
          </a:xfrm>
          <a:prstGeom prst="bentConnector2">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9" name="Elbow Connector 48">
            <a:extLst>
              <a:ext uri="{FF2B5EF4-FFF2-40B4-BE49-F238E27FC236}">
                <a16:creationId xmlns:a16="http://schemas.microsoft.com/office/drawing/2014/main" id="{C6799F7F-2DB4-245C-EB50-D84F3FA4EB0F}"/>
              </a:ext>
            </a:extLst>
          </p:cNvPr>
          <p:cNvCxnSpPr>
            <a:stCxn id="8" idx="1"/>
            <a:endCxn id="9" idx="1"/>
          </p:cNvCxnSpPr>
          <p:nvPr/>
        </p:nvCxnSpPr>
        <p:spPr>
          <a:xfrm rot="10800000">
            <a:off x="8465930" y="1808094"/>
            <a:ext cx="53204" cy="3120626"/>
          </a:xfrm>
          <a:prstGeom prst="bentConnector3">
            <a:avLst>
              <a:gd name="adj1" fmla="val 529667"/>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1" name="Elbow Connector 50">
            <a:extLst>
              <a:ext uri="{FF2B5EF4-FFF2-40B4-BE49-F238E27FC236}">
                <a16:creationId xmlns:a16="http://schemas.microsoft.com/office/drawing/2014/main" id="{58A2EE25-94FB-EAC8-47E8-747FBB4DBCAB}"/>
              </a:ext>
            </a:extLst>
          </p:cNvPr>
          <p:cNvCxnSpPr>
            <a:stCxn id="8" idx="2"/>
            <a:endCxn id="11" idx="2"/>
          </p:cNvCxnSpPr>
          <p:nvPr/>
        </p:nvCxnSpPr>
        <p:spPr>
          <a:xfrm rot="5400000">
            <a:off x="8066588" y="4319606"/>
            <a:ext cx="19029" cy="2388722"/>
          </a:xfrm>
          <a:prstGeom prst="bentConnector3">
            <a:avLst>
              <a:gd name="adj1" fmla="val 1301324"/>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 name="Elbow Connector 5">
            <a:extLst>
              <a:ext uri="{FF2B5EF4-FFF2-40B4-BE49-F238E27FC236}">
                <a16:creationId xmlns:a16="http://schemas.microsoft.com/office/drawing/2014/main" id="{976D14F5-C90A-1669-B299-BC599546666C}"/>
              </a:ext>
            </a:extLst>
          </p:cNvPr>
          <p:cNvCxnSpPr>
            <a:cxnSpLocks/>
            <a:stCxn id="4" idx="0"/>
            <a:endCxn id="11" idx="0"/>
          </p:cNvCxnSpPr>
          <p:nvPr/>
        </p:nvCxnSpPr>
        <p:spPr>
          <a:xfrm rot="5400000" flipH="1" flipV="1">
            <a:off x="5529007" y="3027920"/>
            <a:ext cx="8638" cy="2696829"/>
          </a:xfrm>
          <a:prstGeom prst="bentConnector3">
            <a:avLst>
              <a:gd name="adj1" fmla="val 2746446"/>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 name="Elbow Connector 12">
            <a:extLst>
              <a:ext uri="{FF2B5EF4-FFF2-40B4-BE49-F238E27FC236}">
                <a16:creationId xmlns:a16="http://schemas.microsoft.com/office/drawing/2014/main" id="{7596D6FC-230D-276E-C6AA-2859572AB3D9}"/>
              </a:ext>
            </a:extLst>
          </p:cNvPr>
          <p:cNvCxnSpPr>
            <a:cxnSpLocks/>
            <a:stCxn id="5" idx="2"/>
            <a:endCxn id="3" idx="2"/>
          </p:cNvCxnSpPr>
          <p:nvPr/>
        </p:nvCxnSpPr>
        <p:spPr>
          <a:xfrm rot="5400000" flipH="1" flipV="1">
            <a:off x="5532449" y="1036290"/>
            <a:ext cx="1" cy="2695078"/>
          </a:xfrm>
          <a:prstGeom prst="bentConnector3">
            <a:avLst>
              <a:gd name="adj1" fmla="val -22860000000"/>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10684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2EEA6-972A-3027-A122-2D1F660F0F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DE10E4-2E1B-BEF9-42F7-A6D4F111AF56}"/>
              </a:ext>
            </a:extLst>
          </p:cNvPr>
          <p:cNvSpPr>
            <a:spLocks noGrp="1"/>
          </p:cNvSpPr>
          <p:nvPr>
            <p:ph type="title"/>
          </p:nvPr>
        </p:nvSpPr>
        <p:spPr/>
        <p:txBody>
          <a:bodyPr/>
          <a:lstStyle/>
          <a:p>
            <a:r>
              <a:rPr lang="en-US" dirty="0"/>
              <a:t>Connectivity</a:t>
            </a:r>
          </a:p>
        </p:txBody>
      </p:sp>
      <p:sp>
        <p:nvSpPr>
          <p:cNvPr id="4" name="Rectangle 3">
            <a:extLst>
              <a:ext uri="{FF2B5EF4-FFF2-40B4-BE49-F238E27FC236}">
                <a16:creationId xmlns:a16="http://schemas.microsoft.com/office/drawing/2014/main" id="{A0016C90-5C85-5777-320F-7F1B32A80830}"/>
              </a:ext>
            </a:extLst>
          </p:cNvPr>
          <p:cNvSpPr/>
          <p:nvPr/>
        </p:nvSpPr>
        <p:spPr>
          <a:xfrm>
            <a:off x="3329693" y="4380653"/>
            <a:ext cx="1710437"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Initialization of </a:t>
            </a:r>
          </a:p>
          <a:p>
            <a:pPr algn="ctr">
              <a:lnSpc>
                <a:spcPct val="90000"/>
              </a:lnSpc>
            </a:pPr>
            <a:r>
              <a:rPr lang="en-US" sz="2000" dirty="0">
                <a:solidFill>
                  <a:schemeClr val="bg1"/>
                </a:solidFill>
              </a:rPr>
              <a:t>Particle positions</a:t>
            </a:r>
          </a:p>
        </p:txBody>
      </p:sp>
      <p:sp>
        <p:nvSpPr>
          <p:cNvPr id="5" name="Rectangle 4">
            <a:extLst>
              <a:ext uri="{FF2B5EF4-FFF2-40B4-BE49-F238E27FC236}">
                <a16:creationId xmlns:a16="http://schemas.microsoft.com/office/drawing/2014/main" id="{16A256B3-2234-9426-F2E7-5114BC9D5B88}"/>
              </a:ext>
            </a:extLst>
          </p:cNvPr>
          <p:cNvSpPr/>
          <p:nvPr/>
        </p:nvSpPr>
        <p:spPr>
          <a:xfrm>
            <a:off x="3329692" y="1232362"/>
            <a:ext cx="1710437"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Mesh generation </a:t>
            </a:r>
          </a:p>
        </p:txBody>
      </p:sp>
      <p:sp>
        <p:nvSpPr>
          <p:cNvPr id="8" name="Rectangle 7">
            <a:extLst>
              <a:ext uri="{FF2B5EF4-FFF2-40B4-BE49-F238E27FC236}">
                <a16:creationId xmlns:a16="http://schemas.microsoft.com/office/drawing/2014/main" id="{E039520F-A862-6204-8F84-FD434236EA4F}"/>
              </a:ext>
            </a:extLst>
          </p:cNvPr>
          <p:cNvSpPr/>
          <p:nvPr/>
        </p:nvSpPr>
        <p:spPr>
          <a:xfrm>
            <a:off x="8519134" y="4352986"/>
            <a:ext cx="1502658"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Particle mover</a:t>
            </a:r>
          </a:p>
        </p:txBody>
      </p:sp>
      <p:sp>
        <p:nvSpPr>
          <p:cNvPr id="9" name="Rectangle 8">
            <a:extLst>
              <a:ext uri="{FF2B5EF4-FFF2-40B4-BE49-F238E27FC236}">
                <a16:creationId xmlns:a16="http://schemas.microsoft.com/office/drawing/2014/main" id="{00C8B7F9-92E3-1A5B-1458-A130A8011979}"/>
              </a:ext>
            </a:extLst>
          </p:cNvPr>
          <p:cNvSpPr/>
          <p:nvPr/>
        </p:nvSpPr>
        <p:spPr>
          <a:xfrm>
            <a:off x="8465930" y="1232360"/>
            <a:ext cx="1514299"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Boundary conditions</a:t>
            </a:r>
          </a:p>
        </p:txBody>
      </p:sp>
      <p:sp>
        <p:nvSpPr>
          <p:cNvPr id="15" name="Rectangle 14">
            <a:extLst>
              <a:ext uri="{FF2B5EF4-FFF2-40B4-BE49-F238E27FC236}">
                <a16:creationId xmlns:a16="http://schemas.microsoft.com/office/drawing/2014/main" id="{B27102B7-49F9-C64F-488E-A89B1CAD28FA}"/>
              </a:ext>
            </a:extLst>
          </p:cNvPr>
          <p:cNvSpPr/>
          <p:nvPr/>
        </p:nvSpPr>
        <p:spPr>
          <a:xfrm>
            <a:off x="10378241" y="2853266"/>
            <a:ext cx="1514299" cy="1151467"/>
          </a:xfrm>
          <a:prstGeom prst="rect">
            <a:avLst/>
          </a:prstGeom>
          <a:solidFill>
            <a:schemeClr val="accent5">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Tests</a:t>
            </a:r>
          </a:p>
        </p:txBody>
      </p:sp>
      <p:sp>
        <p:nvSpPr>
          <p:cNvPr id="3" name="Rectangle 2">
            <a:extLst>
              <a:ext uri="{FF2B5EF4-FFF2-40B4-BE49-F238E27FC236}">
                <a16:creationId xmlns:a16="http://schemas.microsoft.com/office/drawing/2014/main" id="{DFBBAEA1-17CF-27B1-D944-5A53B510086C}"/>
              </a:ext>
            </a:extLst>
          </p:cNvPr>
          <p:cNvSpPr/>
          <p:nvPr/>
        </p:nvSpPr>
        <p:spPr>
          <a:xfrm>
            <a:off x="5894060" y="1232361"/>
            <a:ext cx="1971858"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Mesh decomposition </a:t>
            </a:r>
          </a:p>
        </p:txBody>
      </p:sp>
      <p:sp>
        <p:nvSpPr>
          <p:cNvPr id="11" name="Rectangle 10">
            <a:extLst>
              <a:ext uri="{FF2B5EF4-FFF2-40B4-BE49-F238E27FC236}">
                <a16:creationId xmlns:a16="http://schemas.microsoft.com/office/drawing/2014/main" id="{01CDFA76-EB6F-E893-4E91-A679D6997897}"/>
              </a:ext>
            </a:extLst>
          </p:cNvPr>
          <p:cNvSpPr/>
          <p:nvPr/>
        </p:nvSpPr>
        <p:spPr>
          <a:xfrm>
            <a:off x="5895812" y="4372015"/>
            <a:ext cx="1971858"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Block association</a:t>
            </a:r>
          </a:p>
        </p:txBody>
      </p:sp>
      <p:sp>
        <p:nvSpPr>
          <p:cNvPr id="12" name="Rectangle 11">
            <a:extLst>
              <a:ext uri="{FF2B5EF4-FFF2-40B4-BE49-F238E27FC236}">
                <a16:creationId xmlns:a16="http://schemas.microsoft.com/office/drawing/2014/main" id="{7CAF103B-48F6-C9D4-D780-B66168C419B3}"/>
              </a:ext>
            </a:extLst>
          </p:cNvPr>
          <p:cNvSpPr/>
          <p:nvPr/>
        </p:nvSpPr>
        <p:spPr>
          <a:xfrm>
            <a:off x="663124" y="2928869"/>
            <a:ext cx="1514299"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Driver</a:t>
            </a:r>
          </a:p>
        </p:txBody>
      </p:sp>
      <p:cxnSp>
        <p:nvCxnSpPr>
          <p:cNvPr id="36" name="Elbow Connector 35">
            <a:extLst>
              <a:ext uri="{FF2B5EF4-FFF2-40B4-BE49-F238E27FC236}">
                <a16:creationId xmlns:a16="http://schemas.microsoft.com/office/drawing/2014/main" id="{2AA44C57-8AC9-60D2-009C-43426B5BD953}"/>
              </a:ext>
            </a:extLst>
          </p:cNvPr>
          <p:cNvCxnSpPr>
            <a:stCxn id="12" idx="0"/>
            <a:endCxn id="5" idx="1"/>
          </p:cNvCxnSpPr>
          <p:nvPr/>
        </p:nvCxnSpPr>
        <p:spPr>
          <a:xfrm rot="5400000" flipH="1" flipV="1">
            <a:off x="1814597" y="1413774"/>
            <a:ext cx="1120773" cy="1909418"/>
          </a:xfrm>
          <a:prstGeom prst="bentConnector2">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8" name="Elbow Connector 37">
            <a:extLst>
              <a:ext uri="{FF2B5EF4-FFF2-40B4-BE49-F238E27FC236}">
                <a16:creationId xmlns:a16="http://schemas.microsoft.com/office/drawing/2014/main" id="{5C86A593-B933-7BF1-E6E9-D783475AFF2D}"/>
              </a:ext>
            </a:extLst>
          </p:cNvPr>
          <p:cNvCxnSpPr>
            <a:stCxn id="12" idx="2"/>
            <a:endCxn id="4" idx="1"/>
          </p:cNvCxnSpPr>
          <p:nvPr/>
        </p:nvCxnSpPr>
        <p:spPr>
          <a:xfrm rot="16200000" flipH="1">
            <a:off x="1936958" y="3563651"/>
            <a:ext cx="876051" cy="1909419"/>
          </a:xfrm>
          <a:prstGeom prst="bentConnector2">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Elbow Connector 41">
            <a:extLst>
              <a:ext uri="{FF2B5EF4-FFF2-40B4-BE49-F238E27FC236}">
                <a16:creationId xmlns:a16="http://schemas.microsoft.com/office/drawing/2014/main" id="{73E75E8E-D7D2-DD74-DFF6-D9E1154C784F}"/>
              </a:ext>
            </a:extLst>
          </p:cNvPr>
          <p:cNvCxnSpPr>
            <a:stCxn id="5" idx="0"/>
            <a:endCxn id="9" idx="0"/>
          </p:cNvCxnSpPr>
          <p:nvPr/>
        </p:nvCxnSpPr>
        <p:spPr>
          <a:xfrm rot="5400000" flipH="1" flipV="1">
            <a:off x="6703994" y="-1286723"/>
            <a:ext cx="2" cy="5038169"/>
          </a:xfrm>
          <a:prstGeom prst="bentConnector3">
            <a:avLst>
              <a:gd name="adj1" fmla="val 11430100000"/>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7" name="Elbow Connector 46">
            <a:extLst>
              <a:ext uri="{FF2B5EF4-FFF2-40B4-BE49-F238E27FC236}">
                <a16:creationId xmlns:a16="http://schemas.microsoft.com/office/drawing/2014/main" id="{9C9CF480-AFE5-5595-8879-9CAC40438CD3}"/>
              </a:ext>
            </a:extLst>
          </p:cNvPr>
          <p:cNvCxnSpPr>
            <a:stCxn id="12" idx="3"/>
            <a:endCxn id="8" idx="0"/>
          </p:cNvCxnSpPr>
          <p:nvPr/>
        </p:nvCxnSpPr>
        <p:spPr>
          <a:xfrm>
            <a:off x="2177423" y="3504603"/>
            <a:ext cx="7093040" cy="848383"/>
          </a:xfrm>
          <a:prstGeom prst="bentConnector2">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9" name="Elbow Connector 48">
            <a:extLst>
              <a:ext uri="{FF2B5EF4-FFF2-40B4-BE49-F238E27FC236}">
                <a16:creationId xmlns:a16="http://schemas.microsoft.com/office/drawing/2014/main" id="{5958C28A-DCA2-ECBF-92CF-102D55D18391}"/>
              </a:ext>
            </a:extLst>
          </p:cNvPr>
          <p:cNvCxnSpPr>
            <a:stCxn id="8" idx="1"/>
            <a:endCxn id="9" idx="1"/>
          </p:cNvCxnSpPr>
          <p:nvPr/>
        </p:nvCxnSpPr>
        <p:spPr>
          <a:xfrm rot="10800000">
            <a:off x="8465930" y="1808094"/>
            <a:ext cx="53204" cy="3120626"/>
          </a:xfrm>
          <a:prstGeom prst="bentConnector3">
            <a:avLst>
              <a:gd name="adj1" fmla="val 529667"/>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1" name="Elbow Connector 50">
            <a:extLst>
              <a:ext uri="{FF2B5EF4-FFF2-40B4-BE49-F238E27FC236}">
                <a16:creationId xmlns:a16="http://schemas.microsoft.com/office/drawing/2014/main" id="{C44DF687-F297-E48F-E005-F3B946669CF4}"/>
              </a:ext>
            </a:extLst>
          </p:cNvPr>
          <p:cNvCxnSpPr>
            <a:stCxn id="8" idx="2"/>
            <a:endCxn id="11" idx="2"/>
          </p:cNvCxnSpPr>
          <p:nvPr/>
        </p:nvCxnSpPr>
        <p:spPr>
          <a:xfrm rot="5400000">
            <a:off x="8066588" y="4319606"/>
            <a:ext cx="19029" cy="2388722"/>
          </a:xfrm>
          <a:prstGeom prst="bentConnector3">
            <a:avLst>
              <a:gd name="adj1" fmla="val 1301324"/>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 name="Elbow Connector 5">
            <a:extLst>
              <a:ext uri="{FF2B5EF4-FFF2-40B4-BE49-F238E27FC236}">
                <a16:creationId xmlns:a16="http://schemas.microsoft.com/office/drawing/2014/main" id="{92C210B1-B9F6-0709-0F49-AD4B5164DE41}"/>
              </a:ext>
            </a:extLst>
          </p:cNvPr>
          <p:cNvCxnSpPr>
            <a:cxnSpLocks/>
            <a:stCxn id="4" idx="0"/>
            <a:endCxn id="11" idx="0"/>
          </p:cNvCxnSpPr>
          <p:nvPr/>
        </p:nvCxnSpPr>
        <p:spPr>
          <a:xfrm rot="5400000" flipH="1" flipV="1">
            <a:off x="5529007" y="3027920"/>
            <a:ext cx="8638" cy="2696829"/>
          </a:xfrm>
          <a:prstGeom prst="bentConnector3">
            <a:avLst>
              <a:gd name="adj1" fmla="val 2746446"/>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 name="Elbow Connector 12">
            <a:extLst>
              <a:ext uri="{FF2B5EF4-FFF2-40B4-BE49-F238E27FC236}">
                <a16:creationId xmlns:a16="http://schemas.microsoft.com/office/drawing/2014/main" id="{AD25F83D-2464-C599-14FF-D75B426E7438}"/>
              </a:ext>
            </a:extLst>
          </p:cNvPr>
          <p:cNvCxnSpPr>
            <a:cxnSpLocks/>
            <a:stCxn id="5" idx="2"/>
            <a:endCxn id="3" idx="2"/>
          </p:cNvCxnSpPr>
          <p:nvPr/>
        </p:nvCxnSpPr>
        <p:spPr>
          <a:xfrm rot="5400000" flipH="1" flipV="1">
            <a:off x="5532449" y="1036290"/>
            <a:ext cx="1" cy="2695078"/>
          </a:xfrm>
          <a:prstGeom prst="bentConnector3">
            <a:avLst>
              <a:gd name="adj1" fmla="val -22860000000"/>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97739049-D89F-BD67-E865-03EF3D40CEE0}"/>
              </a:ext>
            </a:extLst>
          </p:cNvPr>
          <p:cNvCxnSpPr>
            <a:cxnSpLocks/>
            <a:stCxn id="15" idx="1"/>
            <a:endCxn id="8" idx="0"/>
          </p:cNvCxnSpPr>
          <p:nvPr/>
        </p:nvCxnSpPr>
        <p:spPr>
          <a:xfrm flipH="1">
            <a:off x="9270463" y="3429000"/>
            <a:ext cx="1107778" cy="923986"/>
          </a:xfrm>
          <a:prstGeom prst="straightConnector1">
            <a:avLst/>
          </a:prstGeom>
          <a:ln w="28575">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ECF34F45-FDA4-B961-CC14-A8BC701C497B}"/>
              </a:ext>
            </a:extLst>
          </p:cNvPr>
          <p:cNvCxnSpPr>
            <a:stCxn id="15" idx="1"/>
            <a:endCxn id="3" idx="3"/>
          </p:cNvCxnSpPr>
          <p:nvPr/>
        </p:nvCxnSpPr>
        <p:spPr>
          <a:xfrm flipH="1" flipV="1">
            <a:off x="7865918" y="1808095"/>
            <a:ext cx="2512323" cy="1620905"/>
          </a:xfrm>
          <a:prstGeom prst="straightConnector1">
            <a:avLst/>
          </a:prstGeom>
          <a:ln w="28575">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D1CF4C96-0C9C-13F4-3DE9-E7CFB1941D34}"/>
              </a:ext>
            </a:extLst>
          </p:cNvPr>
          <p:cNvCxnSpPr>
            <a:stCxn id="15" idx="1"/>
            <a:endCxn id="5" idx="2"/>
          </p:cNvCxnSpPr>
          <p:nvPr/>
        </p:nvCxnSpPr>
        <p:spPr>
          <a:xfrm flipH="1" flipV="1">
            <a:off x="4184911" y="2383829"/>
            <a:ext cx="6193330" cy="1045171"/>
          </a:xfrm>
          <a:prstGeom prst="straightConnector1">
            <a:avLst/>
          </a:prstGeom>
          <a:ln w="28575">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71BF2538-7ECE-1025-C0AB-C0CA7DEBE390}"/>
              </a:ext>
            </a:extLst>
          </p:cNvPr>
          <p:cNvCxnSpPr>
            <a:stCxn id="15" idx="1"/>
            <a:endCxn id="4" idx="0"/>
          </p:cNvCxnSpPr>
          <p:nvPr/>
        </p:nvCxnSpPr>
        <p:spPr>
          <a:xfrm flipH="1">
            <a:off x="4184912" y="3429000"/>
            <a:ext cx="6193329" cy="951653"/>
          </a:xfrm>
          <a:prstGeom prst="straightConnector1">
            <a:avLst/>
          </a:prstGeom>
          <a:ln w="28575">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E5E39D90-0A4E-D406-9F63-3C072B4E7EF6}"/>
              </a:ext>
            </a:extLst>
          </p:cNvPr>
          <p:cNvCxnSpPr>
            <a:stCxn id="15" idx="1"/>
          </p:cNvCxnSpPr>
          <p:nvPr/>
        </p:nvCxnSpPr>
        <p:spPr>
          <a:xfrm flipH="1">
            <a:off x="6785811" y="3429000"/>
            <a:ext cx="3592430" cy="951653"/>
          </a:xfrm>
          <a:prstGeom prst="straightConnector1">
            <a:avLst/>
          </a:prstGeom>
          <a:ln w="28575">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67092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AE883-856A-9179-F3D3-F2497D15FC2D}"/>
              </a:ext>
            </a:extLst>
          </p:cNvPr>
          <p:cNvSpPr>
            <a:spLocks noGrp="1"/>
          </p:cNvSpPr>
          <p:nvPr>
            <p:ph type="title"/>
          </p:nvPr>
        </p:nvSpPr>
        <p:spPr/>
        <p:txBody>
          <a:bodyPr/>
          <a:lstStyle/>
          <a:p>
            <a:r>
              <a:rPr lang="en-US" dirty="0"/>
              <a:t>Connectivity</a:t>
            </a:r>
          </a:p>
        </p:txBody>
      </p:sp>
      <p:sp>
        <p:nvSpPr>
          <p:cNvPr id="4" name="Rectangle 3">
            <a:extLst>
              <a:ext uri="{FF2B5EF4-FFF2-40B4-BE49-F238E27FC236}">
                <a16:creationId xmlns:a16="http://schemas.microsoft.com/office/drawing/2014/main" id="{989279D3-B80F-8530-261E-E5E2AB75C171}"/>
              </a:ext>
            </a:extLst>
          </p:cNvPr>
          <p:cNvSpPr/>
          <p:nvPr/>
        </p:nvSpPr>
        <p:spPr>
          <a:xfrm>
            <a:off x="3329693" y="4380653"/>
            <a:ext cx="1710437"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Initialization of </a:t>
            </a:r>
          </a:p>
          <a:p>
            <a:pPr algn="ctr">
              <a:lnSpc>
                <a:spcPct val="90000"/>
              </a:lnSpc>
            </a:pPr>
            <a:r>
              <a:rPr lang="en-US" sz="2000" dirty="0">
                <a:solidFill>
                  <a:schemeClr val="bg1"/>
                </a:solidFill>
              </a:rPr>
              <a:t>Particle positions</a:t>
            </a:r>
          </a:p>
        </p:txBody>
      </p:sp>
      <p:sp>
        <p:nvSpPr>
          <p:cNvPr id="5" name="Rectangle 4">
            <a:extLst>
              <a:ext uri="{FF2B5EF4-FFF2-40B4-BE49-F238E27FC236}">
                <a16:creationId xmlns:a16="http://schemas.microsoft.com/office/drawing/2014/main" id="{3A568FFD-E545-9339-B2DF-228BB36AB6CE}"/>
              </a:ext>
            </a:extLst>
          </p:cNvPr>
          <p:cNvSpPr/>
          <p:nvPr/>
        </p:nvSpPr>
        <p:spPr>
          <a:xfrm>
            <a:off x="3329692" y="1232362"/>
            <a:ext cx="1710437"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Mesh generation </a:t>
            </a:r>
          </a:p>
        </p:txBody>
      </p:sp>
      <p:sp>
        <p:nvSpPr>
          <p:cNvPr id="8" name="Rectangle 7">
            <a:extLst>
              <a:ext uri="{FF2B5EF4-FFF2-40B4-BE49-F238E27FC236}">
                <a16:creationId xmlns:a16="http://schemas.microsoft.com/office/drawing/2014/main" id="{6FD137E0-559A-87C9-44A4-CC05DDF1ABF4}"/>
              </a:ext>
            </a:extLst>
          </p:cNvPr>
          <p:cNvSpPr/>
          <p:nvPr/>
        </p:nvSpPr>
        <p:spPr>
          <a:xfrm>
            <a:off x="8519134" y="4352986"/>
            <a:ext cx="1502658"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Particle mover</a:t>
            </a:r>
          </a:p>
        </p:txBody>
      </p:sp>
      <p:sp>
        <p:nvSpPr>
          <p:cNvPr id="9" name="Rectangle 8">
            <a:extLst>
              <a:ext uri="{FF2B5EF4-FFF2-40B4-BE49-F238E27FC236}">
                <a16:creationId xmlns:a16="http://schemas.microsoft.com/office/drawing/2014/main" id="{190B5BC9-4149-266B-9864-EA6BCB153E61}"/>
              </a:ext>
            </a:extLst>
          </p:cNvPr>
          <p:cNvSpPr/>
          <p:nvPr/>
        </p:nvSpPr>
        <p:spPr>
          <a:xfrm>
            <a:off x="8465930" y="1232360"/>
            <a:ext cx="1514299"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Boundary conditions</a:t>
            </a:r>
          </a:p>
        </p:txBody>
      </p:sp>
      <p:sp>
        <p:nvSpPr>
          <p:cNvPr id="3" name="Rectangle 2">
            <a:extLst>
              <a:ext uri="{FF2B5EF4-FFF2-40B4-BE49-F238E27FC236}">
                <a16:creationId xmlns:a16="http://schemas.microsoft.com/office/drawing/2014/main" id="{E65906D5-5E62-000D-5246-7DCBAFA27D74}"/>
              </a:ext>
            </a:extLst>
          </p:cNvPr>
          <p:cNvSpPr/>
          <p:nvPr/>
        </p:nvSpPr>
        <p:spPr>
          <a:xfrm>
            <a:off x="5894060" y="1232361"/>
            <a:ext cx="1971858"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Mesh decomposition </a:t>
            </a:r>
          </a:p>
        </p:txBody>
      </p:sp>
      <p:sp>
        <p:nvSpPr>
          <p:cNvPr id="11" name="Rectangle 10">
            <a:extLst>
              <a:ext uri="{FF2B5EF4-FFF2-40B4-BE49-F238E27FC236}">
                <a16:creationId xmlns:a16="http://schemas.microsoft.com/office/drawing/2014/main" id="{CAA4550F-B60C-BF4E-FBF2-2C299A159C43}"/>
              </a:ext>
            </a:extLst>
          </p:cNvPr>
          <p:cNvSpPr/>
          <p:nvPr/>
        </p:nvSpPr>
        <p:spPr>
          <a:xfrm>
            <a:off x="5895812" y="4372015"/>
            <a:ext cx="1971858"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Block association</a:t>
            </a:r>
          </a:p>
        </p:txBody>
      </p:sp>
      <p:sp>
        <p:nvSpPr>
          <p:cNvPr id="12" name="Rectangle 11">
            <a:extLst>
              <a:ext uri="{FF2B5EF4-FFF2-40B4-BE49-F238E27FC236}">
                <a16:creationId xmlns:a16="http://schemas.microsoft.com/office/drawing/2014/main" id="{0886CAB5-0F55-A787-5279-509E54FE2F01}"/>
              </a:ext>
            </a:extLst>
          </p:cNvPr>
          <p:cNvSpPr/>
          <p:nvPr/>
        </p:nvSpPr>
        <p:spPr>
          <a:xfrm>
            <a:off x="663124" y="2928869"/>
            <a:ext cx="1514299"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Driver</a:t>
            </a:r>
          </a:p>
        </p:txBody>
      </p:sp>
      <p:cxnSp>
        <p:nvCxnSpPr>
          <p:cNvPr id="36" name="Elbow Connector 35">
            <a:extLst>
              <a:ext uri="{FF2B5EF4-FFF2-40B4-BE49-F238E27FC236}">
                <a16:creationId xmlns:a16="http://schemas.microsoft.com/office/drawing/2014/main" id="{6BBD4162-CCBE-B683-4440-89085B17406D}"/>
              </a:ext>
            </a:extLst>
          </p:cNvPr>
          <p:cNvCxnSpPr>
            <a:stCxn id="12" idx="0"/>
            <a:endCxn id="5" idx="1"/>
          </p:cNvCxnSpPr>
          <p:nvPr/>
        </p:nvCxnSpPr>
        <p:spPr>
          <a:xfrm rot="5400000" flipH="1" flipV="1">
            <a:off x="1814597" y="1413774"/>
            <a:ext cx="1120773" cy="1909418"/>
          </a:xfrm>
          <a:prstGeom prst="bentConnector2">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8" name="Elbow Connector 37">
            <a:extLst>
              <a:ext uri="{FF2B5EF4-FFF2-40B4-BE49-F238E27FC236}">
                <a16:creationId xmlns:a16="http://schemas.microsoft.com/office/drawing/2014/main" id="{472C5EC9-3693-28C8-2E10-80A6226D02DB}"/>
              </a:ext>
            </a:extLst>
          </p:cNvPr>
          <p:cNvCxnSpPr>
            <a:stCxn id="12" idx="2"/>
            <a:endCxn id="4" idx="1"/>
          </p:cNvCxnSpPr>
          <p:nvPr/>
        </p:nvCxnSpPr>
        <p:spPr>
          <a:xfrm rot="16200000" flipH="1">
            <a:off x="1936958" y="3563651"/>
            <a:ext cx="876051" cy="1909419"/>
          </a:xfrm>
          <a:prstGeom prst="bentConnector2">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 name="Elbow Connector 39">
            <a:extLst>
              <a:ext uri="{FF2B5EF4-FFF2-40B4-BE49-F238E27FC236}">
                <a16:creationId xmlns:a16="http://schemas.microsoft.com/office/drawing/2014/main" id="{852D635F-D606-98A3-4718-E66450201CB2}"/>
              </a:ext>
            </a:extLst>
          </p:cNvPr>
          <p:cNvCxnSpPr>
            <a:cxnSpLocks/>
            <a:stCxn id="12" idx="3"/>
            <a:endCxn id="3" idx="2"/>
          </p:cNvCxnSpPr>
          <p:nvPr/>
        </p:nvCxnSpPr>
        <p:spPr>
          <a:xfrm flipV="1">
            <a:off x="2177423" y="2383828"/>
            <a:ext cx="4702566" cy="1120775"/>
          </a:xfrm>
          <a:prstGeom prst="bentConnector2">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Elbow Connector 41">
            <a:extLst>
              <a:ext uri="{FF2B5EF4-FFF2-40B4-BE49-F238E27FC236}">
                <a16:creationId xmlns:a16="http://schemas.microsoft.com/office/drawing/2014/main" id="{3C7B99F7-B610-090B-4755-2F0FB2D9ED86}"/>
              </a:ext>
            </a:extLst>
          </p:cNvPr>
          <p:cNvCxnSpPr>
            <a:stCxn id="5" idx="0"/>
            <a:endCxn id="9" idx="0"/>
          </p:cNvCxnSpPr>
          <p:nvPr/>
        </p:nvCxnSpPr>
        <p:spPr>
          <a:xfrm rot="5400000" flipH="1" flipV="1">
            <a:off x="6703994" y="-1286723"/>
            <a:ext cx="2" cy="5038169"/>
          </a:xfrm>
          <a:prstGeom prst="bentConnector3">
            <a:avLst>
              <a:gd name="adj1" fmla="val 11430100000"/>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5" name="Elbow Connector 44">
            <a:extLst>
              <a:ext uri="{FF2B5EF4-FFF2-40B4-BE49-F238E27FC236}">
                <a16:creationId xmlns:a16="http://schemas.microsoft.com/office/drawing/2014/main" id="{709C99C6-8193-980A-422C-217DB668500C}"/>
              </a:ext>
            </a:extLst>
          </p:cNvPr>
          <p:cNvCxnSpPr>
            <a:stCxn id="12" idx="3"/>
            <a:endCxn id="11" idx="0"/>
          </p:cNvCxnSpPr>
          <p:nvPr/>
        </p:nvCxnSpPr>
        <p:spPr>
          <a:xfrm>
            <a:off x="2177423" y="3504603"/>
            <a:ext cx="4704318" cy="867412"/>
          </a:xfrm>
          <a:prstGeom prst="bentConnector2">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7" name="Elbow Connector 46">
            <a:extLst>
              <a:ext uri="{FF2B5EF4-FFF2-40B4-BE49-F238E27FC236}">
                <a16:creationId xmlns:a16="http://schemas.microsoft.com/office/drawing/2014/main" id="{B1EC21AA-9763-28D5-0628-EE0291E54977}"/>
              </a:ext>
            </a:extLst>
          </p:cNvPr>
          <p:cNvCxnSpPr>
            <a:stCxn id="12" idx="3"/>
            <a:endCxn id="8" idx="0"/>
          </p:cNvCxnSpPr>
          <p:nvPr/>
        </p:nvCxnSpPr>
        <p:spPr>
          <a:xfrm>
            <a:off x="2177423" y="3504603"/>
            <a:ext cx="7093040" cy="848383"/>
          </a:xfrm>
          <a:prstGeom prst="bentConnector2">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9" name="Elbow Connector 48">
            <a:extLst>
              <a:ext uri="{FF2B5EF4-FFF2-40B4-BE49-F238E27FC236}">
                <a16:creationId xmlns:a16="http://schemas.microsoft.com/office/drawing/2014/main" id="{3F4D8C93-45C2-2622-724C-22C57C3BE547}"/>
              </a:ext>
            </a:extLst>
          </p:cNvPr>
          <p:cNvCxnSpPr>
            <a:stCxn id="8" idx="1"/>
            <a:endCxn id="9" idx="1"/>
          </p:cNvCxnSpPr>
          <p:nvPr/>
        </p:nvCxnSpPr>
        <p:spPr>
          <a:xfrm rot="10800000">
            <a:off x="8465930" y="1808094"/>
            <a:ext cx="53204" cy="3120626"/>
          </a:xfrm>
          <a:prstGeom prst="bentConnector3">
            <a:avLst>
              <a:gd name="adj1" fmla="val 529667"/>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1" name="Elbow Connector 50">
            <a:extLst>
              <a:ext uri="{FF2B5EF4-FFF2-40B4-BE49-F238E27FC236}">
                <a16:creationId xmlns:a16="http://schemas.microsoft.com/office/drawing/2014/main" id="{50D21390-2027-02CE-74EF-625E3B1DEDA3}"/>
              </a:ext>
            </a:extLst>
          </p:cNvPr>
          <p:cNvCxnSpPr>
            <a:stCxn id="8" idx="2"/>
            <a:endCxn id="11" idx="2"/>
          </p:cNvCxnSpPr>
          <p:nvPr/>
        </p:nvCxnSpPr>
        <p:spPr>
          <a:xfrm rot="5400000">
            <a:off x="8066588" y="4319606"/>
            <a:ext cx="19029" cy="2388722"/>
          </a:xfrm>
          <a:prstGeom prst="bentConnector3">
            <a:avLst>
              <a:gd name="adj1" fmla="val 1301324"/>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17273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5B3B1-4A1F-B568-2A07-90C4C4D3B4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EDDDE2-A34E-56EC-B1EA-F7745C861E97}"/>
              </a:ext>
            </a:extLst>
          </p:cNvPr>
          <p:cNvSpPr>
            <a:spLocks noGrp="1"/>
          </p:cNvSpPr>
          <p:nvPr>
            <p:ph type="title"/>
          </p:nvPr>
        </p:nvSpPr>
        <p:spPr/>
        <p:txBody>
          <a:bodyPr/>
          <a:lstStyle/>
          <a:p>
            <a:r>
              <a:rPr lang="en-US" dirty="0"/>
              <a:t>Connectivity</a:t>
            </a:r>
          </a:p>
        </p:txBody>
      </p:sp>
      <p:sp>
        <p:nvSpPr>
          <p:cNvPr id="4" name="Rectangle 3">
            <a:extLst>
              <a:ext uri="{FF2B5EF4-FFF2-40B4-BE49-F238E27FC236}">
                <a16:creationId xmlns:a16="http://schemas.microsoft.com/office/drawing/2014/main" id="{6DCB1B5A-A5DB-EC76-455C-84E41F7965C0}"/>
              </a:ext>
            </a:extLst>
          </p:cNvPr>
          <p:cNvSpPr/>
          <p:nvPr/>
        </p:nvSpPr>
        <p:spPr>
          <a:xfrm>
            <a:off x="3329693" y="4380653"/>
            <a:ext cx="1710437"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Initialization of </a:t>
            </a:r>
          </a:p>
          <a:p>
            <a:pPr algn="ctr">
              <a:lnSpc>
                <a:spcPct val="90000"/>
              </a:lnSpc>
            </a:pPr>
            <a:r>
              <a:rPr lang="en-US" sz="2000" dirty="0">
                <a:solidFill>
                  <a:schemeClr val="bg1"/>
                </a:solidFill>
              </a:rPr>
              <a:t>Particle positions</a:t>
            </a:r>
          </a:p>
        </p:txBody>
      </p:sp>
      <p:sp>
        <p:nvSpPr>
          <p:cNvPr id="5" name="Rectangle 4">
            <a:extLst>
              <a:ext uri="{FF2B5EF4-FFF2-40B4-BE49-F238E27FC236}">
                <a16:creationId xmlns:a16="http://schemas.microsoft.com/office/drawing/2014/main" id="{DE3E1A43-1562-69CB-37FF-A1A7D9A614E9}"/>
              </a:ext>
            </a:extLst>
          </p:cNvPr>
          <p:cNvSpPr/>
          <p:nvPr/>
        </p:nvSpPr>
        <p:spPr>
          <a:xfrm>
            <a:off x="3329692" y="1232362"/>
            <a:ext cx="1710437"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Mesh generation </a:t>
            </a:r>
          </a:p>
        </p:txBody>
      </p:sp>
      <p:sp>
        <p:nvSpPr>
          <p:cNvPr id="8" name="Rectangle 7">
            <a:extLst>
              <a:ext uri="{FF2B5EF4-FFF2-40B4-BE49-F238E27FC236}">
                <a16:creationId xmlns:a16="http://schemas.microsoft.com/office/drawing/2014/main" id="{4CE5479E-B770-50B3-8039-C14AF09CB7E3}"/>
              </a:ext>
            </a:extLst>
          </p:cNvPr>
          <p:cNvSpPr/>
          <p:nvPr/>
        </p:nvSpPr>
        <p:spPr>
          <a:xfrm>
            <a:off x="8519134" y="4352986"/>
            <a:ext cx="1502658"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Particle mover</a:t>
            </a:r>
          </a:p>
        </p:txBody>
      </p:sp>
      <p:sp>
        <p:nvSpPr>
          <p:cNvPr id="9" name="Rectangle 8">
            <a:extLst>
              <a:ext uri="{FF2B5EF4-FFF2-40B4-BE49-F238E27FC236}">
                <a16:creationId xmlns:a16="http://schemas.microsoft.com/office/drawing/2014/main" id="{AA2FADE6-3D67-B86B-9CC4-3A7669A4C1AB}"/>
              </a:ext>
            </a:extLst>
          </p:cNvPr>
          <p:cNvSpPr/>
          <p:nvPr/>
        </p:nvSpPr>
        <p:spPr>
          <a:xfrm>
            <a:off x="8465930" y="1232360"/>
            <a:ext cx="1514299"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Boundary conditions</a:t>
            </a:r>
          </a:p>
        </p:txBody>
      </p:sp>
      <p:sp>
        <p:nvSpPr>
          <p:cNvPr id="15" name="Rectangle 14">
            <a:extLst>
              <a:ext uri="{FF2B5EF4-FFF2-40B4-BE49-F238E27FC236}">
                <a16:creationId xmlns:a16="http://schemas.microsoft.com/office/drawing/2014/main" id="{77FBB3DA-B8CC-4BD0-84E3-BB1E1076B4F3}"/>
              </a:ext>
            </a:extLst>
          </p:cNvPr>
          <p:cNvSpPr/>
          <p:nvPr/>
        </p:nvSpPr>
        <p:spPr>
          <a:xfrm>
            <a:off x="10378241" y="2853266"/>
            <a:ext cx="1514299" cy="1151467"/>
          </a:xfrm>
          <a:prstGeom prst="rect">
            <a:avLst/>
          </a:prstGeom>
          <a:solidFill>
            <a:schemeClr val="accent5">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Tests</a:t>
            </a:r>
          </a:p>
        </p:txBody>
      </p:sp>
      <p:sp>
        <p:nvSpPr>
          <p:cNvPr id="3" name="Rectangle 2">
            <a:extLst>
              <a:ext uri="{FF2B5EF4-FFF2-40B4-BE49-F238E27FC236}">
                <a16:creationId xmlns:a16="http://schemas.microsoft.com/office/drawing/2014/main" id="{8ECE5B30-B082-D739-8AF3-92C4F84CF605}"/>
              </a:ext>
            </a:extLst>
          </p:cNvPr>
          <p:cNvSpPr/>
          <p:nvPr/>
        </p:nvSpPr>
        <p:spPr>
          <a:xfrm>
            <a:off x="5894060" y="1232361"/>
            <a:ext cx="1971858"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Mesh decomposition </a:t>
            </a:r>
          </a:p>
        </p:txBody>
      </p:sp>
      <p:sp>
        <p:nvSpPr>
          <p:cNvPr id="11" name="Rectangle 10">
            <a:extLst>
              <a:ext uri="{FF2B5EF4-FFF2-40B4-BE49-F238E27FC236}">
                <a16:creationId xmlns:a16="http://schemas.microsoft.com/office/drawing/2014/main" id="{5B9B555F-8E34-9B1E-6264-0985D7D69A84}"/>
              </a:ext>
            </a:extLst>
          </p:cNvPr>
          <p:cNvSpPr/>
          <p:nvPr/>
        </p:nvSpPr>
        <p:spPr>
          <a:xfrm>
            <a:off x="5895812" y="4372015"/>
            <a:ext cx="1971858"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Block association</a:t>
            </a:r>
          </a:p>
        </p:txBody>
      </p:sp>
      <p:sp>
        <p:nvSpPr>
          <p:cNvPr id="12" name="Rectangle 11">
            <a:extLst>
              <a:ext uri="{FF2B5EF4-FFF2-40B4-BE49-F238E27FC236}">
                <a16:creationId xmlns:a16="http://schemas.microsoft.com/office/drawing/2014/main" id="{00D6CC02-2B1F-BF9F-401C-3BE77A499FBA}"/>
              </a:ext>
            </a:extLst>
          </p:cNvPr>
          <p:cNvSpPr/>
          <p:nvPr/>
        </p:nvSpPr>
        <p:spPr>
          <a:xfrm>
            <a:off x="663124" y="2928869"/>
            <a:ext cx="1514299"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Driver</a:t>
            </a:r>
          </a:p>
        </p:txBody>
      </p:sp>
      <p:cxnSp>
        <p:nvCxnSpPr>
          <p:cNvPr id="36" name="Elbow Connector 35">
            <a:extLst>
              <a:ext uri="{FF2B5EF4-FFF2-40B4-BE49-F238E27FC236}">
                <a16:creationId xmlns:a16="http://schemas.microsoft.com/office/drawing/2014/main" id="{01491B44-CEB0-0BFA-1977-80728F59A4B3}"/>
              </a:ext>
            </a:extLst>
          </p:cNvPr>
          <p:cNvCxnSpPr>
            <a:stCxn id="12" idx="0"/>
            <a:endCxn id="5" idx="1"/>
          </p:cNvCxnSpPr>
          <p:nvPr/>
        </p:nvCxnSpPr>
        <p:spPr>
          <a:xfrm rot="5400000" flipH="1" flipV="1">
            <a:off x="1814597" y="1413774"/>
            <a:ext cx="1120773" cy="1909418"/>
          </a:xfrm>
          <a:prstGeom prst="bentConnector2">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8" name="Elbow Connector 37">
            <a:extLst>
              <a:ext uri="{FF2B5EF4-FFF2-40B4-BE49-F238E27FC236}">
                <a16:creationId xmlns:a16="http://schemas.microsoft.com/office/drawing/2014/main" id="{98F3497A-8D91-EE95-945B-025E23108A06}"/>
              </a:ext>
            </a:extLst>
          </p:cNvPr>
          <p:cNvCxnSpPr>
            <a:stCxn id="12" idx="2"/>
            <a:endCxn id="4" idx="1"/>
          </p:cNvCxnSpPr>
          <p:nvPr/>
        </p:nvCxnSpPr>
        <p:spPr>
          <a:xfrm rot="16200000" flipH="1">
            <a:off x="1936958" y="3563651"/>
            <a:ext cx="876051" cy="1909419"/>
          </a:xfrm>
          <a:prstGeom prst="bentConnector2">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 name="Elbow Connector 39">
            <a:extLst>
              <a:ext uri="{FF2B5EF4-FFF2-40B4-BE49-F238E27FC236}">
                <a16:creationId xmlns:a16="http://schemas.microsoft.com/office/drawing/2014/main" id="{9CBF5949-BCEB-4878-B5E5-0C7D1B268177}"/>
              </a:ext>
            </a:extLst>
          </p:cNvPr>
          <p:cNvCxnSpPr>
            <a:cxnSpLocks/>
            <a:stCxn id="12" idx="3"/>
            <a:endCxn id="3" idx="2"/>
          </p:cNvCxnSpPr>
          <p:nvPr/>
        </p:nvCxnSpPr>
        <p:spPr>
          <a:xfrm flipV="1">
            <a:off x="2177423" y="2383828"/>
            <a:ext cx="4702566" cy="1120775"/>
          </a:xfrm>
          <a:prstGeom prst="bentConnector2">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Elbow Connector 41">
            <a:extLst>
              <a:ext uri="{FF2B5EF4-FFF2-40B4-BE49-F238E27FC236}">
                <a16:creationId xmlns:a16="http://schemas.microsoft.com/office/drawing/2014/main" id="{A9754D01-81FE-3C0E-0C7C-12967F3DB4C8}"/>
              </a:ext>
            </a:extLst>
          </p:cNvPr>
          <p:cNvCxnSpPr>
            <a:stCxn id="5" idx="0"/>
            <a:endCxn id="9" idx="0"/>
          </p:cNvCxnSpPr>
          <p:nvPr/>
        </p:nvCxnSpPr>
        <p:spPr>
          <a:xfrm rot="5400000" flipH="1" flipV="1">
            <a:off x="6703994" y="-1286723"/>
            <a:ext cx="2" cy="5038169"/>
          </a:xfrm>
          <a:prstGeom prst="bentConnector3">
            <a:avLst>
              <a:gd name="adj1" fmla="val 11430100000"/>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5" name="Elbow Connector 44">
            <a:extLst>
              <a:ext uri="{FF2B5EF4-FFF2-40B4-BE49-F238E27FC236}">
                <a16:creationId xmlns:a16="http://schemas.microsoft.com/office/drawing/2014/main" id="{598057BD-C8D2-72AB-CF01-48A0F34B8F47}"/>
              </a:ext>
            </a:extLst>
          </p:cNvPr>
          <p:cNvCxnSpPr>
            <a:stCxn id="12" idx="3"/>
            <a:endCxn id="11" idx="0"/>
          </p:cNvCxnSpPr>
          <p:nvPr/>
        </p:nvCxnSpPr>
        <p:spPr>
          <a:xfrm>
            <a:off x="2177423" y="3504603"/>
            <a:ext cx="4704318" cy="867412"/>
          </a:xfrm>
          <a:prstGeom prst="bentConnector2">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7" name="Elbow Connector 46">
            <a:extLst>
              <a:ext uri="{FF2B5EF4-FFF2-40B4-BE49-F238E27FC236}">
                <a16:creationId xmlns:a16="http://schemas.microsoft.com/office/drawing/2014/main" id="{3E69F91D-CC7D-6666-5F0D-02FBE5BE91D8}"/>
              </a:ext>
            </a:extLst>
          </p:cNvPr>
          <p:cNvCxnSpPr>
            <a:stCxn id="12" idx="3"/>
            <a:endCxn id="8" idx="0"/>
          </p:cNvCxnSpPr>
          <p:nvPr/>
        </p:nvCxnSpPr>
        <p:spPr>
          <a:xfrm>
            <a:off x="2177423" y="3504603"/>
            <a:ext cx="7093040" cy="848383"/>
          </a:xfrm>
          <a:prstGeom prst="bentConnector2">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9" name="Elbow Connector 48">
            <a:extLst>
              <a:ext uri="{FF2B5EF4-FFF2-40B4-BE49-F238E27FC236}">
                <a16:creationId xmlns:a16="http://schemas.microsoft.com/office/drawing/2014/main" id="{21CE6769-8500-C303-26DF-553E6CB1DF38}"/>
              </a:ext>
            </a:extLst>
          </p:cNvPr>
          <p:cNvCxnSpPr>
            <a:stCxn id="8" idx="1"/>
            <a:endCxn id="9" idx="1"/>
          </p:cNvCxnSpPr>
          <p:nvPr/>
        </p:nvCxnSpPr>
        <p:spPr>
          <a:xfrm rot="10800000">
            <a:off x="8465930" y="1808094"/>
            <a:ext cx="53204" cy="3120626"/>
          </a:xfrm>
          <a:prstGeom prst="bentConnector3">
            <a:avLst>
              <a:gd name="adj1" fmla="val 529667"/>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1" name="Elbow Connector 50">
            <a:extLst>
              <a:ext uri="{FF2B5EF4-FFF2-40B4-BE49-F238E27FC236}">
                <a16:creationId xmlns:a16="http://schemas.microsoft.com/office/drawing/2014/main" id="{39CD2621-1B35-7B08-E822-7C24523A6417}"/>
              </a:ext>
            </a:extLst>
          </p:cNvPr>
          <p:cNvCxnSpPr>
            <a:stCxn id="8" idx="2"/>
            <a:endCxn id="11" idx="2"/>
          </p:cNvCxnSpPr>
          <p:nvPr/>
        </p:nvCxnSpPr>
        <p:spPr>
          <a:xfrm rot="5400000">
            <a:off x="8066588" y="4319606"/>
            <a:ext cx="19029" cy="2388722"/>
          </a:xfrm>
          <a:prstGeom prst="bentConnector3">
            <a:avLst>
              <a:gd name="adj1" fmla="val 1301324"/>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571250D1-A54C-3FBB-BF29-C231153739DF}"/>
              </a:ext>
            </a:extLst>
          </p:cNvPr>
          <p:cNvCxnSpPr>
            <a:cxnSpLocks/>
          </p:cNvCxnSpPr>
          <p:nvPr/>
        </p:nvCxnSpPr>
        <p:spPr>
          <a:xfrm flipH="1">
            <a:off x="9270463" y="3429000"/>
            <a:ext cx="1107778" cy="923986"/>
          </a:xfrm>
          <a:prstGeom prst="straightConnector1">
            <a:avLst/>
          </a:prstGeom>
          <a:ln w="28575">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7DC6490F-B25D-C70F-F63B-B4241E3D420E}"/>
              </a:ext>
            </a:extLst>
          </p:cNvPr>
          <p:cNvCxnSpPr/>
          <p:nvPr/>
        </p:nvCxnSpPr>
        <p:spPr>
          <a:xfrm flipH="1" flipV="1">
            <a:off x="7865918" y="1808095"/>
            <a:ext cx="2512323" cy="1620905"/>
          </a:xfrm>
          <a:prstGeom prst="straightConnector1">
            <a:avLst/>
          </a:prstGeom>
          <a:ln w="28575">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85D06348-7EC6-2ED4-87C6-AD445863511B}"/>
              </a:ext>
            </a:extLst>
          </p:cNvPr>
          <p:cNvCxnSpPr/>
          <p:nvPr/>
        </p:nvCxnSpPr>
        <p:spPr>
          <a:xfrm flipH="1" flipV="1">
            <a:off x="4184911" y="2383829"/>
            <a:ext cx="6193330" cy="1045171"/>
          </a:xfrm>
          <a:prstGeom prst="straightConnector1">
            <a:avLst/>
          </a:prstGeom>
          <a:ln w="28575">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13CC7A3A-36FE-BDC4-91C0-776CC09CB180}"/>
              </a:ext>
            </a:extLst>
          </p:cNvPr>
          <p:cNvCxnSpPr/>
          <p:nvPr/>
        </p:nvCxnSpPr>
        <p:spPr>
          <a:xfrm flipH="1">
            <a:off x="4184912" y="3429000"/>
            <a:ext cx="6193329" cy="951653"/>
          </a:xfrm>
          <a:prstGeom prst="straightConnector1">
            <a:avLst/>
          </a:prstGeom>
          <a:ln w="28575">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42C015A6-DD9F-3759-66C7-D589368390C2}"/>
              </a:ext>
            </a:extLst>
          </p:cNvPr>
          <p:cNvCxnSpPr/>
          <p:nvPr/>
        </p:nvCxnSpPr>
        <p:spPr>
          <a:xfrm flipH="1">
            <a:off x="6785811" y="3429000"/>
            <a:ext cx="3592430" cy="951653"/>
          </a:xfrm>
          <a:prstGeom prst="straightConnector1">
            <a:avLst/>
          </a:prstGeom>
          <a:ln w="28575">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1BA6760E-8AF2-0D3E-F7EB-394D121139A5}"/>
              </a:ext>
            </a:extLst>
          </p:cNvPr>
          <p:cNvSpPr/>
          <p:nvPr/>
        </p:nvSpPr>
        <p:spPr>
          <a:xfrm>
            <a:off x="1331843" y="5724939"/>
            <a:ext cx="4850296" cy="874644"/>
          </a:xfrm>
          <a:prstGeom prst="rect">
            <a:avLst/>
          </a:prstGeom>
          <a:solidFill>
            <a:schemeClr val="accent5">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This is where we start using LLM</a:t>
            </a:r>
          </a:p>
        </p:txBody>
      </p:sp>
    </p:spTree>
    <p:extLst>
      <p:ext uri="{BB962C8B-B14F-4D97-AF65-F5344CB8AC3E}">
        <p14:creationId xmlns:p14="http://schemas.microsoft.com/office/powerpoint/2010/main" val="10403877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42AEF-0C68-911F-66EC-694FCFB0E7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77CD08-3B89-1C2E-9C46-4C44760390C0}"/>
              </a:ext>
            </a:extLst>
          </p:cNvPr>
          <p:cNvSpPr>
            <a:spLocks noGrp="1"/>
          </p:cNvSpPr>
          <p:nvPr>
            <p:ph type="title"/>
          </p:nvPr>
        </p:nvSpPr>
        <p:spPr/>
        <p:txBody>
          <a:bodyPr/>
          <a:lstStyle/>
          <a:p>
            <a:r>
              <a:rPr lang="en-US" dirty="0"/>
              <a:t>Connectivity</a:t>
            </a:r>
          </a:p>
        </p:txBody>
      </p:sp>
      <p:sp>
        <p:nvSpPr>
          <p:cNvPr id="4" name="Rectangle 3">
            <a:extLst>
              <a:ext uri="{FF2B5EF4-FFF2-40B4-BE49-F238E27FC236}">
                <a16:creationId xmlns:a16="http://schemas.microsoft.com/office/drawing/2014/main" id="{B7FD4A96-CF35-F403-8EE7-524702CAF206}"/>
              </a:ext>
            </a:extLst>
          </p:cNvPr>
          <p:cNvSpPr/>
          <p:nvPr/>
        </p:nvSpPr>
        <p:spPr>
          <a:xfrm>
            <a:off x="3329693" y="4380653"/>
            <a:ext cx="1710437"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Initialization of </a:t>
            </a:r>
          </a:p>
          <a:p>
            <a:pPr algn="ctr">
              <a:lnSpc>
                <a:spcPct val="90000"/>
              </a:lnSpc>
            </a:pPr>
            <a:r>
              <a:rPr lang="en-US" sz="2000" dirty="0">
                <a:solidFill>
                  <a:schemeClr val="bg1"/>
                </a:solidFill>
              </a:rPr>
              <a:t>Particle positions</a:t>
            </a:r>
          </a:p>
        </p:txBody>
      </p:sp>
      <p:sp>
        <p:nvSpPr>
          <p:cNvPr id="5" name="Rectangle 4">
            <a:extLst>
              <a:ext uri="{FF2B5EF4-FFF2-40B4-BE49-F238E27FC236}">
                <a16:creationId xmlns:a16="http://schemas.microsoft.com/office/drawing/2014/main" id="{E576EB2F-8AA3-1656-3EAB-5967D4302BA3}"/>
              </a:ext>
            </a:extLst>
          </p:cNvPr>
          <p:cNvSpPr/>
          <p:nvPr/>
        </p:nvSpPr>
        <p:spPr>
          <a:xfrm>
            <a:off x="3329692" y="1232362"/>
            <a:ext cx="1710437"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Mesh generation </a:t>
            </a:r>
          </a:p>
        </p:txBody>
      </p:sp>
      <p:sp>
        <p:nvSpPr>
          <p:cNvPr id="8" name="Rectangle 7">
            <a:extLst>
              <a:ext uri="{FF2B5EF4-FFF2-40B4-BE49-F238E27FC236}">
                <a16:creationId xmlns:a16="http://schemas.microsoft.com/office/drawing/2014/main" id="{88127221-F5CA-2AF3-C0EC-87E8518232B0}"/>
              </a:ext>
            </a:extLst>
          </p:cNvPr>
          <p:cNvSpPr/>
          <p:nvPr/>
        </p:nvSpPr>
        <p:spPr>
          <a:xfrm>
            <a:off x="8519134" y="4352986"/>
            <a:ext cx="1502658"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Particle mover</a:t>
            </a:r>
          </a:p>
        </p:txBody>
      </p:sp>
      <p:sp>
        <p:nvSpPr>
          <p:cNvPr id="9" name="Rectangle 8">
            <a:extLst>
              <a:ext uri="{FF2B5EF4-FFF2-40B4-BE49-F238E27FC236}">
                <a16:creationId xmlns:a16="http://schemas.microsoft.com/office/drawing/2014/main" id="{1925251A-6BD5-8D26-7D4E-7A6358AFAD41}"/>
              </a:ext>
            </a:extLst>
          </p:cNvPr>
          <p:cNvSpPr/>
          <p:nvPr/>
        </p:nvSpPr>
        <p:spPr>
          <a:xfrm>
            <a:off x="8465930" y="1232360"/>
            <a:ext cx="1514299"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Boundary conditions</a:t>
            </a:r>
          </a:p>
        </p:txBody>
      </p:sp>
      <p:sp>
        <p:nvSpPr>
          <p:cNvPr id="15" name="Rectangle 14">
            <a:extLst>
              <a:ext uri="{FF2B5EF4-FFF2-40B4-BE49-F238E27FC236}">
                <a16:creationId xmlns:a16="http://schemas.microsoft.com/office/drawing/2014/main" id="{35212325-A8EA-2F4A-A2A8-8FF3E4A97D00}"/>
              </a:ext>
            </a:extLst>
          </p:cNvPr>
          <p:cNvSpPr/>
          <p:nvPr/>
        </p:nvSpPr>
        <p:spPr>
          <a:xfrm>
            <a:off x="10378241" y="2853266"/>
            <a:ext cx="1514299" cy="1151467"/>
          </a:xfrm>
          <a:prstGeom prst="rect">
            <a:avLst/>
          </a:prstGeom>
          <a:solidFill>
            <a:schemeClr val="accent5">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Tests</a:t>
            </a:r>
          </a:p>
        </p:txBody>
      </p:sp>
      <p:sp>
        <p:nvSpPr>
          <p:cNvPr id="3" name="Rectangle 2">
            <a:extLst>
              <a:ext uri="{FF2B5EF4-FFF2-40B4-BE49-F238E27FC236}">
                <a16:creationId xmlns:a16="http://schemas.microsoft.com/office/drawing/2014/main" id="{32D8E367-F0CA-C79B-DDA5-3D02E01ED4F5}"/>
              </a:ext>
            </a:extLst>
          </p:cNvPr>
          <p:cNvSpPr/>
          <p:nvPr/>
        </p:nvSpPr>
        <p:spPr>
          <a:xfrm>
            <a:off x="5894060" y="1232361"/>
            <a:ext cx="1971858"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Mesh decomposition </a:t>
            </a:r>
          </a:p>
        </p:txBody>
      </p:sp>
      <p:sp>
        <p:nvSpPr>
          <p:cNvPr id="11" name="Rectangle 10">
            <a:extLst>
              <a:ext uri="{FF2B5EF4-FFF2-40B4-BE49-F238E27FC236}">
                <a16:creationId xmlns:a16="http://schemas.microsoft.com/office/drawing/2014/main" id="{2B284560-00AE-2261-ABC7-1BFA1DCB2BAA}"/>
              </a:ext>
            </a:extLst>
          </p:cNvPr>
          <p:cNvSpPr/>
          <p:nvPr/>
        </p:nvSpPr>
        <p:spPr>
          <a:xfrm>
            <a:off x="5895812" y="4372015"/>
            <a:ext cx="1971858"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Block association</a:t>
            </a:r>
          </a:p>
        </p:txBody>
      </p:sp>
      <p:sp>
        <p:nvSpPr>
          <p:cNvPr id="12" name="Rectangle 11">
            <a:extLst>
              <a:ext uri="{FF2B5EF4-FFF2-40B4-BE49-F238E27FC236}">
                <a16:creationId xmlns:a16="http://schemas.microsoft.com/office/drawing/2014/main" id="{196ACCC6-11AD-FB22-4A8A-9C68502EBA16}"/>
              </a:ext>
            </a:extLst>
          </p:cNvPr>
          <p:cNvSpPr/>
          <p:nvPr/>
        </p:nvSpPr>
        <p:spPr>
          <a:xfrm>
            <a:off x="663124" y="2928869"/>
            <a:ext cx="1514299"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Driver</a:t>
            </a:r>
          </a:p>
        </p:txBody>
      </p:sp>
      <p:cxnSp>
        <p:nvCxnSpPr>
          <p:cNvPr id="36" name="Elbow Connector 35">
            <a:extLst>
              <a:ext uri="{FF2B5EF4-FFF2-40B4-BE49-F238E27FC236}">
                <a16:creationId xmlns:a16="http://schemas.microsoft.com/office/drawing/2014/main" id="{2250C5EA-0919-7AD8-CDDB-EFAD6691CD08}"/>
              </a:ext>
            </a:extLst>
          </p:cNvPr>
          <p:cNvCxnSpPr>
            <a:stCxn id="12" idx="0"/>
            <a:endCxn id="5" idx="1"/>
          </p:cNvCxnSpPr>
          <p:nvPr/>
        </p:nvCxnSpPr>
        <p:spPr>
          <a:xfrm rot="5400000" flipH="1" flipV="1">
            <a:off x="1814597" y="1413774"/>
            <a:ext cx="1120773" cy="1909418"/>
          </a:xfrm>
          <a:prstGeom prst="bentConnector2">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8" name="Elbow Connector 37">
            <a:extLst>
              <a:ext uri="{FF2B5EF4-FFF2-40B4-BE49-F238E27FC236}">
                <a16:creationId xmlns:a16="http://schemas.microsoft.com/office/drawing/2014/main" id="{4E42352E-7C6A-8F13-643D-493834370EDA}"/>
              </a:ext>
            </a:extLst>
          </p:cNvPr>
          <p:cNvCxnSpPr>
            <a:stCxn id="12" idx="2"/>
            <a:endCxn id="4" idx="1"/>
          </p:cNvCxnSpPr>
          <p:nvPr/>
        </p:nvCxnSpPr>
        <p:spPr>
          <a:xfrm rot="16200000" flipH="1">
            <a:off x="1936958" y="3563651"/>
            <a:ext cx="876051" cy="1909419"/>
          </a:xfrm>
          <a:prstGeom prst="bentConnector2">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 name="Elbow Connector 39">
            <a:extLst>
              <a:ext uri="{FF2B5EF4-FFF2-40B4-BE49-F238E27FC236}">
                <a16:creationId xmlns:a16="http://schemas.microsoft.com/office/drawing/2014/main" id="{F8A3B094-ED7A-21B6-6545-C51AD147A668}"/>
              </a:ext>
            </a:extLst>
          </p:cNvPr>
          <p:cNvCxnSpPr>
            <a:cxnSpLocks/>
            <a:stCxn id="12" idx="3"/>
            <a:endCxn id="3" idx="2"/>
          </p:cNvCxnSpPr>
          <p:nvPr/>
        </p:nvCxnSpPr>
        <p:spPr>
          <a:xfrm flipV="1">
            <a:off x="2177423" y="2383828"/>
            <a:ext cx="4702566" cy="1120775"/>
          </a:xfrm>
          <a:prstGeom prst="bentConnector2">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Elbow Connector 41">
            <a:extLst>
              <a:ext uri="{FF2B5EF4-FFF2-40B4-BE49-F238E27FC236}">
                <a16:creationId xmlns:a16="http://schemas.microsoft.com/office/drawing/2014/main" id="{7DD50DC6-C407-174E-1FFF-51CD74FBC7D4}"/>
              </a:ext>
            </a:extLst>
          </p:cNvPr>
          <p:cNvCxnSpPr>
            <a:stCxn id="5" idx="0"/>
            <a:endCxn id="9" idx="0"/>
          </p:cNvCxnSpPr>
          <p:nvPr/>
        </p:nvCxnSpPr>
        <p:spPr>
          <a:xfrm rot="5400000" flipH="1" flipV="1">
            <a:off x="6703994" y="-1286723"/>
            <a:ext cx="2" cy="5038169"/>
          </a:xfrm>
          <a:prstGeom prst="bentConnector3">
            <a:avLst>
              <a:gd name="adj1" fmla="val 11430100000"/>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5" name="Elbow Connector 44">
            <a:extLst>
              <a:ext uri="{FF2B5EF4-FFF2-40B4-BE49-F238E27FC236}">
                <a16:creationId xmlns:a16="http://schemas.microsoft.com/office/drawing/2014/main" id="{DAB314E2-9D60-DA13-0D9E-341345104BA1}"/>
              </a:ext>
            </a:extLst>
          </p:cNvPr>
          <p:cNvCxnSpPr>
            <a:stCxn id="12" idx="3"/>
            <a:endCxn id="11" idx="0"/>
          </p:cNvCxnSpPr>
          <p:nvPr/>
        </p:nvCxnSpPr>
        <p:spPr>
          <a:xfrm>
            <a:off x="2177423" y="3504603"/>
            <a:ext cx="4704318" cy="867412"/>
          </a:xfrm>
          <a:prstGeom prst="bentConnector2">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7" name="Elbow Connector 46">
            <a:extLst>
              <a:ext uri="{FF2B5EF4-FFF2-40B4-BE49-F238E27FC236}">
                <a16:creationId xmlns:a16="http://schemas.microsoft.com/office/drawing/2014/main" id="{13ADA034-CDC4-4336-4D04-0BE5C9C83D02}"/>
              </a:ext>
            </a:extLst>
          </p:cNvPr>
          <p:cNvCxnSpPr>
            <a:stCxn id="12" idx="3"/>
            <a:endCxn id="8" idx="0"/>
          </p:cNvCxnSpPr>
          <p:nvPr/>
        </p:nvCxnSpPr>
        <p:spPr>
          <a:xfrm>
            <a:off x="2177423" y="3504603"/>
            <a:ext cx="7093040" cy="848383"/>
          </a:xfrm>
          <a:prstGeom prst="bentConnector2">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9" name="Elbow Connector 48">
            <a:extLst>
              <a:ext uri="{FF2B5EF4-FFF2-40B4-BE49-F238E27FC236}">
                <a16:creationId xmlns:a16="http://schemas.microsoft.com/office/drawing/2014/main" id="{5F9CF650-1DF1-A9CF-7BCE-FA1A50D91704}"/>
              </a:ext>
            </a:extLst>
          </p:cNvPr>
          <p:cNvCxnSpPr>
            <a:stCxn id="8" idx="1"/>
            <a:endCxn id="9" idx="1"/>
          </p:cNvCxnSpPr>
          <p:nvPr/>
        </p:nvCxnSpPr>
        <p:spPr>
          <a:xfrm rot="10800000">
            <a:off x="8465930" y="1808094"/>
            <a:ext cx="53204" cy="3120626"/>
          </a:xfrm>
          <a:prstGeom prst="bentConnector3">
            <a:avLst>
              <a:gd name="adj1" fmla="val 529667"/>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1" name="Elbow Connector 50">
            <a:extLst>
              <a:ext uri="{FF2B5EF4-FFF2-40B4-BE49-F238E27FC236}">
                <a16:creationId xmlns:a16="http://schemas.microsoft.com/office/drawing/2014/main" id="{B2223346-8F6A-1B9B-49CD-6E53D931A697}"/>
              </a:ext>
            </a:extLst>
          </p:cNvPr>
          <p:cNvCxnSpPr>
            <a:stCxn id="8" idx="2"/>
            <a:endCxn id="11" idx="2"/>
          </p:cNvCxnSpPr>
          <p:nvPr/>
        </p:nvCxnSpPr>
        <p:spPr>
          <a:xfrm rot="5400000">
            <a:off x="8066588" y="4319606"/>
            <a:ext cx="19029" cy="2388722"/>
          </a:xfrm>
          <a:prstGeom prst="bentConnector3">
            <a:avLst>
              <a:gd name="adj1" fmla="val 1301324"/>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EF2F7F50-E35D-1654-43DF-1AF7685BA58B}"/>
              </a:ext>
            </a:extLst>
          </p:cNvPr>
          <p:cNvCxnSpPr>
            <a:cxnSpLocks/>
          </p:cNvCxnSpPr>
          <p:nvPr/>
        </p:nvCxnSpPr>
        <p:spPr>
          <a:xfrm flipH="1">
            <a:off x="9270463" y="3429000"/>
            <a:ext cx="1107778" cy="923986"/>
          </a:xfrm>
          <a:prstGeom prst="straightConnector1">
            <a:avLst/>
          </a:prstGeom>
          <a:ln w="28575">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48B55286-B73A-BC26-2962-913454C01FB6}"/>
              </a:ext>
            </a:extLst>
          </p:cNvPr>
          <p:cNvCxnSpPr/>
          <p:nvPr/>
        </p:nvCxnSpPr>
        <p:spPr>
          <a:xfrm flipH="1" flipV="1">
            <a:off x="7865918" y="1808095"/>
            <a:ext cx="2512323" cy="1620905"/>
          </a:xfrm>
          <a:prstGeom prst="straightConnector1">
            <a:avLst/>
          </a:prstGeom>
          <a:ln w="28575">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DE31DAF8-DECD-7C69-244F-871643E45E02}"/>
              </a:ext>
            </a:extLst>
          </p:cNvPr>
          <p:cNvCxnSpPr/>
          <p:nvPr/>
        </p:nvCxnSpPr>
        <p:spPr>
          <a:xfrm flipH="1" flipV="1">
            <a:off x="4184911" y="2383829"/>
            <a:ext cx="6193330" cy="1045171"/>
          </a:xfrm>
          <a:prstGeom prst="straightConnector1">
            <a:avLst/>
          </a:prstGeom>
          <a:ln w="28575">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7606C28B-6036-C42B-40F0-4118E353EBFB}"/>
              </a:ext>
            </a:extLst>
          </p:cNvPr>
          <p:cNvCxnSpPr/>
          <p:nvPr/>
        </p:nvCxnSpPr>
        <p:spPr>
          <a:xfrm flipH="1">
            <a:off x="4184912" y="3429000"/>
            <a:ext cx="6193329" cy="951653"/>
          </a:xfrm>
          <a:prstGeom prst="straightConnector1">
            <a:avLst/>
          </a:prstGeom>
          <a:ln w="28575">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DE14DF27-79AA-865C-5EB1-BB529505E097}"/>
              </a:ext>
            </a:extLst>
          </p:cNvPr>
          <p:cNvCxnSpPr/>
          <p:nvPr/>
        </p:nvCxnSpPr>
        <p:spPr>
          <a:xfrm flipH="1">
            <a:off x="6785811" y="3429000"/>
            <a:ext cx="3592430" cy="951653"/>
          </a:xfrm>
          <a:prstGeom prst="straightConnector1">
            <a:avLst/>
          </a:prstGeom>
          <a:ln w="28575">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98B213DB-74C6-C6AC-94E3-8E8B47694C7B}"/>
              </a:ext>
            </a:extLst>
          </p:cNvPr>
          <p:cNvSpPr/>
          <p:nvPr/>
        </p:nvSpPr>
        <p:spPr>
          <a:xfrm>
            <a:off x="1331843" y="5724939"/>
            <a:ext cx="4850296" cy="874644"/>
          </a:xfrm>
          <a:prstGeom prst="rect">
            <a:avLst/>
          </a:prstGeom>
          <a:solidFill>
            <a:schemeClr val="accent5">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This is where we start using LLM</a:t>
            </a:r>
          </a:p>
        </p:txBody>
      </p:sp>
      <p:sp>
        <p:nvSpPr>
          <p:cNvPr id="7" name="Rectangle 6">
            <a:extLst>
              <a:ext uri="{FF2B5EF4-FFF2-40B4-BE49-F238E27FC236}">
                <a16:creationId xmlns:a16="http://schemas.microsoft.com/office/drawing/2014/main" id="{0633614B-1A17-7FF6-98C1-F23F4BD266E9}"/>
              </a:ext>
            </a:extLst>
          </p:cNvPr>
          <p:cNvSpPr/>
          <p:nvPr/>
        </p:nvSpPr>
        <p:spPr>
          <a:xfrm>
            <a:off x="6483927" y="5852706"/>
            <a:ext cx="5408613" cy="746877"/>
          </a:xfrm>
          <a:prstGeom prst="rect">
            <a:avLst/>
          </a:prstGeom>
          <a:solidFill>
            <a:schemeClr val="accent5">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But first, we figure out verification</a:t>
            </a:r>
          </a:p>
        </p:txBody>
      </p:sp>
    </p:spTree>
    <p:extLst>
      <p:ext uri="{BB962C8B-B14F-4D97-AF65-F5344CB8AC3E}">
        <p14:creationId xmlns:p14="http://schemas.microsoft.com/office/powerpoint/2010/main" val="33351537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DC67A-46AB-49E1-3442-CB0F724F4BED}"/>
              </a:ext>
            </a:extLst>
          </p:cNvPr>
          <p:cNvSpPr>
            <a:spLocks noGrp="1"/>
          </p:cNvSpPr>
          <p:nvPr>
            <p:ph type="title"/>
          </p:nvPr>
        </p:nvSpPr>
        <p:spPr/>
        <p:txBody>
          <a:bodyPr/>
          <a:lstStyle/>
          <a:p>
            <a:r>
              <a:rPr lang="en-US" dirty="0"/>
              <a:t>What is Testing</a:t>
            </a:r>
          </a:p>
        </p:txBody>
      </p:sp>
      <p:sp>
        <p:nvSpPr>
          <p:cNvPr id="4" name="Rectangle 3">
            <a:extLst>
              <a:ext uri="{FF2B5EF4-FFF2-40B4-BE49-F238E27FC236}">
                <a16:creationId xmlns:a16="http://schemas.microsoft.com/office/drawing/2014/main" id="{1224A926-6461-934B-0CE7-C6AAEB21B0DD}"/>
              </a:ext>
            </a:extLst>
          </p:cNvPr>
          <p:cNvSpPr/>
          <p:nvPr/>
        </p:nvSpPr>
        <p:spPr>
          <a:xfrm>
            <a:off x="692727" y="1990898"/>
            <a:ext cx="9157855" cy="2078181"/>
          </a:xfrm>
          <a:prstGeom prst="rect">
            <a:avLst/>
          </a:prstGeom>
          <a:solidFill>
            <a:schemeClr val="tx2">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marL="342900" indent="-342900">
              <a:lnSpc>
                <a:spcPct val="90000"/>
              </a:lnSpc>
              <a:buFont typeface="Arial" panose="020B0604020202020204" pitchFamily="34" charset="0"/>
              <a:buChar char="•"/>
            </a:pPr>
            <a:r>
              <a:rPr lang="en-US" sz="2000" dirty="0">
                <a:solidFill>
                  <a:schemeClr val="bg1"/>
                </a:solidFill>
              </a:rPr>
              <a:t>When you compile it, you are testing for defects in syntax</a:t>
            </a:r>
          </a:p>
          <a:p>
            <a:pPr marL="342900" indent="-342900">
              <a:lnSpc>
                <a:spcPct val="90000"/>
              </a:lnSpc>
              <a:buFont typeface="Arial" panose="020B0604020202020204" pitchFamily="34" charset="0"/>
              <a:buChar char="•"/>
            </a:pPr>
            <a:r>
              <a:rPr lang="en-US" sz="2000" dirty="0">
                <a:solidFill>
                  <a:schemeClr val="bg1"/>
                </a:solidFill>
              </a:rPr>
              <a:t>When you run it for the first time you are testing for correctness</a:t>
            </a:r>
          </a:p>
          <a:p>
            <a:pPr marL="342900" indent="-342900">
              <a:lnSpc>
                <a:spcPct val="90000"/>
              </a:lnSpc>
              <a:buFont typeface="Arial" panose="020B0604020202020204" pitchFamily="34" charset="0"/>
              <a:buChar char="•"/>
            </a:pPr>
            <a:r>
              <a:rPr lang="en-US" sz="2000" dirty="0">
                <a:solidFill>
                  <a:schemeClr val="bg1"/>
                </a:solidFill>
              </a:rPr>
              <a:t>When you add any code and run it again, you are testing it again</a:t>
            </a:r>
          </a:p>
          <a:p>
            <a:pPr marL="342900" indent="-342900">
              <a:lnSpc>
                <a:spcPct val="90000"/>
              </a:lnSpc>
              <a:buFont typeface="Arial" panose="020B0604020202020204" pitchFamily="34" charset="0"/>
              <a:buChar char="•"/>
            </a:pPr>
            <a:r>
              <a:rPr lang="en-US" sz="2000" dirty="0">
                <a:solidFill>
                  <a:schemeClr val="bg1"/>
                </a:solidFill>
              </a:rPr>
              <a:t>When you break down your development into smaller chunks you test each chunk, then you combine the chunks, and you test again.</a:t>
            </a:r>
          </a:p>
        </p:txBody>
      </p:sp>
      <p:sp>
        <p:nvSpPr>
          <p:cNvPr id="5" name="Rectangle 4">
            <a:extLst>
              <a:ext uri="{FF2B5EF4-FFF2-40B4-BE49-F238E27FC236}">
                <a16:creationId xmlns:a16="http://schemas.microsoft.com/office/drawing/2014/main" id="{65847FFB-77D9-8202-5719-F46F37C5FAE6}"/>
              </a:ext>
            </a:extLst>
          </p:cNvPr>
          <p:cNvSpPr/>
          <p:nvPr/>
        </p:nvSpPr>
        <p:spPr>
          <a:xfrm>
            <a:off x="692727" y="1076498"/>
            <a:ext cx="9157855" cy="738448"/>
          </a:xfrm>
          <a:prstGeom prst="rect">
            <a:avLst/>
          </a:prstGeom>
          <a:solidFill>
            <a:schemeClr val="tx2">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400" dirty="0">
              <a:solidFill>
                <a:schemeClr val="bg1"/>
              </a:solidFill>
            </a:endParaRPr>
          </a:p>
          <a:p>
            <a:pPr algn="ctr">
              <a:lnSpc>
                <a:spcPct val="90000"/>
              </a:lnSpc>
            </a:pPr>
            <a:r>
              <a:rPr lang="en-US" sz="2400" dirty="0">
                <a:solidFill>
                  <a:schemeClr val="bg1"/>
                </a:solidFill>
              </a:rPr>
              <a:t>Whenever you write a code you are doing it </a:t>
            </a:r>
          </a:p>
          <a:p>
            <a:pPr marL="342900" indent="-342900">
              <a:lnSpc>
                <a:spcPct val="90000"/>
              </a:lnSpc>
              <a:buFont typeface="Arial" panose="020B0604020202020204" pitchFamily="34" charset="0"/>
              <a:buChar char="•"/>
            </a:pPr>
            <a:endParaRPr lang="en-US" sz="2000" dirty="0">
              <a:solidFill>
                <a:schemeClr val="bg1"/>
              </a:solidFill>
            </a:endParaRPr>
          </a:p>
        </p:txBody>
      </p:sp>
    </p:spTree>
    <p:extLst>
      <p:ext uri="{BB962C8B-B14F-4D97-AF65-F5344CB8AC3E}">
        <p14:creationId xmlns:p14="http://schemas.microsoft.com/office/powerpoint/2010/main" val="6021694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DC67A-46AB-49E1-3442-CB0F724F4BED}"/>
              </a:ext>
            </a:extLst>
          </p:cNvPr>
          <p:cNvSpPr>
            <a:spLocks noGrp="1"/>
          </p:cNvSpPr>
          <p:nvPr>
            <p:ph type="title"/>
          </p:nvPr>
        </p:nvSpPr>
        <p:spPr/>
        <p:txBody>
          <a:bodyPr/>
          <a:lstStyle/>
          <a:p>
            <a:r>
              <a:rPr lang="en-US" dirty="0"/>
              <a:t>What is Testing</a:t>
            </a:r>
          </a:p>
        </p:txBody>
      </p:sp>
      <p:sp>
        <p:nvSpPr>
          <p:cNvPr id="4" name="Rectangle 3">
            <a:extLst>
              <a:ext uri="{FF2B5EF4-FFF2-40B4-BE49-F238E27FC236}">
                <a16:creationId xmlns:a16="http://schemas.microsoft.com/office/drawing/2014/main" id="{1224A926-6461-934B-0CE7-C6AAEB21B0DD}"/>
              </a:ext>
            </a:extLst>
          </p:cNvPr>
          <p:cNvSpPr/>
          <p:nvPr/>
        </p:nvSpPr>
        <p:spPr>
          <a:xfrm>
            <a:off x="692727" y="1990898"/>
            <a:ext cx="9157855" cy="2078181"/>
          </a:xfrm>
          <a:prstGeom prst="rect">
            <a:avLst/>
          </a:prstGeom>
          <a:solidFill>
            <a:schemeClr val="tx2">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marL="342900" indent="-342900">
              <a:lnSpc>
                <a:spcPct val="90000"/>
              </a:lnSpc>
              <a:buFont typeface="Arial" panose="020B0604020202020204" pitchFamily="34" charset="0"/>
              <a:buChar char="•"/>
            </a:pPr>
            <a:r>
              <a:rPr lang="en-US" sz="2000" dirty="0">
                <a:solidFill>
                  <a:schemeClr val="bg1"/>
                </a:solidFill>
              </a:rPr>
              <a:t>When you compile it, you are testing for defects in syntax</a:t>
            </a:r>
          </a:p>
          <a:p>
            <a:pPr marL="342900" indent="-342900">
              <a:lnSpc>
                <a:spcPct val="90000"/>
              </a:lnSpc>
              <a:buFont typeface="Arial" panose="020B0604020202020204" pitchFamily="34" charset="0"/>
              <a:buChar char="•"/>
            </a:pPr>
            <a:r>
              <a:rPr lang="en-US" sz="2000" dirty="0">
                <a:solidFill>
                  <a:schemeClr val="bg1"/>
                </a:solidFill>
              </a:rPr>
              <a:t>When you run it for the first time you are testing for correctness</a:t>
            </a:r>
          </a:p>
          <a:p>
            <a:pPr marL="342900" indent="-342900">
              <a:lnSpc>
                <a:spcPct val="90000"/>
              </a:lnSpc>
              <a:buFont typeface="Arial" panose="020B0604020202020204" pitchFamily="34" charset="0"/>
              <a:buChar char="•"/>
            </a:pPr>
            <a:r>
              <a:rPr lang="en-US" sz="2000" dirty="0">
                <a:solidFill>
                  <a:schemeClr val="bg1"/>
                </a:solidFill>
              </a:rPr>
              <a:t>When you add any code and run it again, you are testing it again</a:t>
            </a:r>
          </a:p>
          <a:p>
            <a:pPr marL="342900" indent="-342900">
              <a:lnSpc>
                <a:spcPct val="90000"/>
              </a:lnSpc>
              <a:buFont typeface="Arial" panose="020B0604020202020204" pitchFamily="34" charset="0"/>
              <a:buChar char="•"/>
            </a:pPr>
            <a:r>
              <a:rPr lang="en-US" sz="2000" dirty="0">
                <a:solidFill>
                  <a:schemeClr val="bg1"/>
                </a:solidFill>
              </a:rPr>
              <a:t>When you break down your development into smaller chunks you test each chunk, then you combine the chunks, and you test again.</a:t>
            </a:r>
          </a:p>
        </p:txBody>
      </p:sp>
      <p:sp>
        <p:nvSpPr>
          <p:cNvPr id="5" name="Rectangle 4">
            <a:extLst>
              <a:ext uri="{FF2B5EF4-FFF2-40B4-BE49-F238E27FC236}">
                <a16:creationId xmlns:a16="http://schemas.microsoft.com/office/drawing/2014/main" id="{65847FFB-77D9-8202-5719-F46F37C5FAE6}"/>
              </a:ext>
            </a:extLst>
          </p:cNvPr>
          <p:cNvSpPr/>
          <p:nvPr/>
        </p:nvSpPr>
        <p:spPr>
          <a:xfrm>
            <a:off x="692727" y="1076498"/>
            <a:ext cx="9157855" cy="738448"/>
          </a:xfrm>
          <a:prstGeom prst="rect">
            <a:avLst/>
          </a:prstGeom>
          <a:solidFill>
            <a:schemeClr val="tx2">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400" dirty="0">
              <a:solidFill>
                <a:schemeClr val="bg1"/>
              </a:solidFill>
            </a:endParaRPr>
          </a:p>
          <a:p>
            <a:pPr algn="ctr">
              <a:lnSpc>
                <a:spcPct val="90000"/>
              </a:lnSpc>
            </a:pPr>
            <a:r>
              <a:rPr lang="en-US" sz="2400" dirty="0">
                <a:solidFill>
                  <a:schemeClr val="bg1"/>
                </a:solidFill>
              </a:rPr>
              <a:t>Whenever you write a code you are doing it </a:t>
            </a:r>
          </a:p>
          <a:p>
            <a:pPr marL="342900" indent="-342900">
              <a:lnSpc>
                <a:spcPct val="90000"/>
              </a:lnSpc>
              <a:buFont typeface="Arial" panose="020B0604020202020204" pitchFamily="34" charset="0"/>
              <a:buChar char="•"/>
            </a:pPr>
            <a:endParaRPr lang="en-US" sz="2000" dirty="0">
              <a:solidFill>
                <a:schemeClr val="bg1"/>
              </a:solidFill>
            </a:endParaRPr>
          </a:p>
        </p:txBody>
      </p:sp>
      <p:sp>
        <p:nvSpPr>
          <p:cNvPr id="6" name="Rectangle 5">
            <a:extLst>
              <a:ext uri="{FF2B5EF4-FFF2-40B4-BE49-F238E27FC236}">
                <a16:creationId xmlns:a16="http://schemas.microsoft.com/office/drawing/2014/main" id="{41355D4C-4465-D7E1-167C-9AC8A9668648}"/>
              </a:ext>
            </a:extLst>
          </p:cNvPr>
          <p:cNvSpPr/>
          <p:nvPr/>
        </p:nvSpPr>
        <p:spPr>
          <a:xfrm>
            <a:off x="692727" y="4245031"/>
            <a:ext cx="9157855" cy="738448"/>
          </a:xfrm>
          <a:prstGeom prst="rect">
            <a:avLst/>
          </a:prstGeom>
          <a:solidFill>
            <a:schemeClr val="tx2">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400" dirty="0">
              <a:solidFill>
                <a:schemeClr val="bg1"/>
              </a:solidFill>
            </a:endParaRPr>
          </a:p>
          <a:p>
            <a:pPr algn="ctr">
              <a:lnSpc>
                <a:spcPct val="90000"/>
              </a:lnSpc>
            </a:pPr>
            <a:r>
              <a:rPr lang="en-US" sz="2400" dirty="0">
                <a:solidFill>
                  <a:schemeClr val="bg1"/>
                </a:solidFill>
              </a:rPr>
              <a:t>Testing is an integral part of code development</a:t>
            </a:r>
          </a:p>
          <a:p>
            <a:pPr marL="342900" indent="-342900">
              <a:lnSpc>
                <a:spcPct val="90000"/>
              </a:lnSpc>
              <a:buFont typeface="Arial" panose="020B0604020202020204" pitchFamily="34" charset="0"/>
              <a:buChar char="•"/>
            </a:pPr>
            <a:endParaRPr lang="en-US" sz="2000" dirty="0">
              <a:solidFill>
                <a:schemeClr val="bg1"/>
              </a:solidFill>
            </a:endParaRPr>
          </a:p>
        </p:txBody>
      </p:sp>
    </p:spTree>
    <p:extLst>
      <p:ext uri="{BB962C8B-B14F-4D97-AF65-F5344CB8AC3E}">
        <p14:creationId xmlns:p14="http://schemas.microsoft.com/office/powerpoint/2010/main" val="17698306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DC67A-46AB-49E1-3442-CB0F724F4BED}"/>
              </a:ext>
            </a:extLst>
          </p:cNvPr>
          <p:cNvSpPr>
            <a:spLocks noGrp="1"/>
          </p:cNvSpPr>
          <p:nvPr>
            <p:ph type="title"/>
          </p:nvPr>
        </p:nvSpPr>
        <p:spPr/>
        <p:txBody>
          <a:bodyPr/>
          <a:lstStyle/>
          <a:p>
            <a:r>
              <a:rPr lang="en-US" dirty="0"/>
              <a:t>What is Testing</a:t>
            </a:r>
          </a:p>
        </p:txBody>
      </p:sp>
      <p:sp>
        <p:nvSpPr>
          <p:cNvPr id="4" name="Rectangle 3">
            <a:extLst>
              <a:ext uri="{FF2B5EF4-FFF2-40B4-BE49-F238E27FC236}">
                <a16:creationId xmlns:a16="http://schemas.microsoft.com/office/drawing/2014/main" id="{1224A926-6461-934B-0CE7-C6AAEB21B0DD}"/>
              </a:ext>
            </a:extLst>
          </p:cNvPr>
          <p:cNvSpPr/>
          <p:nvPr/>
        </p:nvSpPr>
        <p:spPr>
          <a:xfrm>
            <a:off x="692727" y="1990898"/>
            <a:ext cx="9157855" cy="2078181"/>
          </a:xfrm>
          <a:prstGeom prst="rect">
            <a:avLst/>
          </a:prstGeom>
          <a:solidFill>
            <a:schemeClr val="tx2">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marL="342900" indent="-342900">
              <a:lnSpc>
                <a:spcPct val="90000"/>
              </a:lnSpc>
              <a:buFont typeface="Arial" panose="020B0604020202020204" pitchFamily="34" charset="0"/>
              <a:buChar char="•"/>
            </a:pPr>
            <a:r>
              <a:rPr lang="en-US" sz="2000" dirty="0">
                <a:solidFill>
                  <a:schemeClr val="bg1"/>
                </a:solidFill>
              </a:rPr>
              <a:t>When you compile it, you are testing for defects in syntax</a:t>
            </a:r>
          </a:p>
          <a:p>
            <a:pPr marL="342900" indent="-342900">
              <a:lnSpc>
                <a:spcPct val="90000"/>
              </a:lnSpc>
              <a:buFont typeface="Arial" panose="020B0604020202020204" pitchFamily="34" charset="0"/>
              <a:buChar char="•"/>
            </a:pPr>
            <a:r>
              <a:rPr lang="en-US" sz="2000" dirty="0">
                <a:solidFill>
                  <a:schemeClr val="bg1"/>
                </a:solidFill>
              </a:rPr>
              <a:t>When you run it for the first time you are testing for correctness</a:t>
            </a:r>
          </a:p>
          <a:p>
            <a:pPr marL="342900" indent="-342900">
              <a:lnSpc>
                <a:spcPct val="90000"/>
              </a:lnSpc>
              <a:buFont typeface="Arial" panose="020B0604020202020204" pitchFamily="34" charset="0"/>
              <a:buChar char="•"/>
            </a:pPr>
            <a:r>
              <a:rPr lang="en-US" sz="2000" dirty="0">
                <a:solidFill>
                  <a:schemeClr val="bg1"/>
                </a:solidFill>
              </a:rPr>
              <a:t>When you add any code and run it again, you are testing it again</a:t>
            </a:r>
          </a:p>
          <a:p>
            <a:pPr marL="342900" indent="-342900">
              <a:lnSpc>
                <a:spcPct val="90000"/>
              </a:lnSpc>
              <a:buFont typeface="Arial" panose="020B0604020202020204" pitchFamily="34" charset="0"/>
              <a:buChar char="•"/>
            </a:pPr>
            <a:r>
              <a:rPr lang="en-US" sz="2000" dirty="0">
                <a:solidFill>
                  <a:schemeClr val="bg1"/>
                </a:solidFill>
              </a:rPr>
              <a:t>When you break down your development into smaller chunks you test each chunk, then you combine the chunks, and you test again.</a:t>
            </a:r>
          </a:p>
        </p:txBody>
      </p:sp>
      <p:sp>
        <p:nvSpPr>
          <p:cNvPr id="5" name="Rectangle 4">
            <a:extLst>
              <a:ext uri="{FF2B5EF4-FFF2-40B4-BE49-F238E27FC236}">
                <a16:creationId xmlns:a16="http://schemas.microsoft.com/office/drawing/2014/main" id="{65847FFB-77D9-8202-5719-F46F37C5FAE6}"/>
              </a:ext>
            </a:extLst>
          </p:cNvPr>
          <p:cNvSpPr/>
          <p:nvPr/>
        </p:nvSpPr>
        <p:spPr>
          <a:xfrm>
            <a:off x="692727" y="1076498"/>
            <a:ext cx="9157855" cy="738448"/>
          </a:xfrm>
          <a:prstGeom prst="rect">
            <a:avLst/>
          </a:prstGeom>
          <a:solidFill>
            <a:schemeClr val="tx2">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400" dirty="0">
              <a:solidFill>
                <a:schemeClr val="bg1"/>
              </a:solidFill>
            </a:endParaRPr>
          </a:p>
          <a:p>
            <a:pPr algn="ctr">
              <a:lnSpc>
                <a:spcPct val="90000"/>
              </a:lnSpc>
            </a:pPr>
            <a:r>
              <a:rPr lang="en-US" sz="2400" dirty="0">
                <a:solidFill>
                  <a:schemeClr val="bg1"/>
                </a:solidFill>
              </a:rPr>
              <a:t>Whenever you write a code you are doing it </a:t>
            </a:r>
          </a:p>
          <a:p>
            <a:pPr marL="342900" indent="-342900">
              <a:lnSpc>
                <a:spcPct val="90000"/>
              </a:lnSpc>
              <a:buFont typeface="Arial" panose="020B0604020202020204" pitchFamily="34" charset="0"/>
              <a:buChar char="•"/>
            </a:pPr>
            <a:endParaRPr lang="en-US" sz="2000" dirty="0">
              <a:solidFill>
                <a:schemeClr val="bg1"/>
              </a:solidFill>
            </a:endParaRPr>
          </a:p>
        </p:txBody>
      </p:sp>
      <p:sp>
        <p:nvSpPr>
          <p:cNvPr id="6" name="Rectangle 5">
            <a:extLst>
              <a:ext uri="{FF2B5EF4-FFF2-40B4-BE49-F238E27FC236}">
                <a16:creationId xmlns:a16="http://schemas.microsoft.com/office/drawing/2014/main" id="{41355D4C-4465-D7E1-167C-9AC8A9668648}"/>
              </a:ext>
            </a:extLst>
          </p:cNvPr>
          <p:cNvSpPr/>
          <p:nvPr/>
        </p:nvSpPr>
        <p:spPr>
          <a:xfrm>
            <a:off x="692727" y="4245031"/>
            <a:ext cx="9157855" cy="738448"/>
          </a:xfrm>
          <a:prstGeom prst="rect">
            <a:avLst/>
          </a:prstGeom>
          <a:solidFill>
            <a:schemeClr val="tx2">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400" dirty="0">
              <a:solidFill>
                <a:schemeClr val="bg1"/>
              </a:solidFill>
            </a:endParaRPr>
          </a:p>
          <a:p>
            <a:pPr algn="ctr">
              <a:lnSpc>
                <a:spcPct val="90000"/>
              </a:lnSpc>
            </a:pPr>
            <a:r>
              <a:rPr lang="en-US" sz="2400" dirty="0">
                <a:solidFill>
                  <a:schemeClr val="bg1"/>
                </a:solidFill>
              </a:rPr>
              <a:t>Testing is an integral part of code development</a:t>
            </a:r>
          </a:p>
          <a:p>
            <a:pPr marL="342900" indent="-342900">
              <a:lnSpc>
                <a:spcPct val="90000"/>
              </a:lnSpc>
              <a:buFont typeface="Arial" panose="020B0604020202020204" pitchFamily="34" charset="0"/>
              <a:buChar char="•"/>
            </a:pPr>
            <a:endParaRPr lang="en-US" sz="2000" dirty="0">
              <a:solidFill>
                <a:schemeClr val="bg1"/>
              </a:solidFill>
            </a:endParaRPr>
          </a:p>
        </p:txBody>
      </p:sp>
      <p:sp>
        <p:nvSpPr>
          <p:cNvPr id="7" name="Rectangle 6">
            <a:extLst>
              <a:ext uri="{FF2B5EF4-FFF2-40B4-BE49-F238E27FC236}">
                <a16:creationId xmlns:a16="http://schemas.microsoft.com/office/drawing/2014/main" id="{6A96B5CB-C4A1-82FF-1079-853230E1CA6C}"/>
              </a:ext>
            </a:extLst>
          </p:cNvPr>
          <p:cNvSpPr/>
          <p:nvPr/>
        </p:nvSpPr>
        <p:spPr>
          <a:xfrm>
            <a:off x="692727" y="5264727"/>
            <a:ext cx="6788728" cy="516775"/>
          </a:xfrm>
          <a:prstGeom prst="rect">
            <a:avLst/>
          </a:prstGeom>
          <a:solidFill>
            <a:schemeClr val="tx2">
              <a:lumMod val="20000"/>
              <a:lumOff val="8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ysClr val="windowText" lastClr="000000"/>
                </a:solidFill>
              </a:rPr>
              <a:t>So, what is the whole fuss about testing?</a:t>
            </a:r>
          </a:p>
        </p:txBody>
      </p:sp>
    </p:spTree>
    <p:extLst>
      <p:ext uri="{BB962C8B-B14F-4D97-AF65-F5344CB8AC3E}">
        <p14:creationId xmlns:p14="http://schemas.microsoft.com/office/powerpoint/2010/main" val="30680472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DC67A-46AB-49E1-3442-CB0F724F4BED}"/>
              </a:ext>
            </a:extLst>
          </p:cNvPr>
          <p:cNvSpPr>
            <a:spLocks noGrp="1"/>
          </p:cNvSpPr>
          <p:nvPr>
            <p:ph type="title"/>
          </p:nvPr>
        </p:nvSpPr>
        <p:spPr/>
        <p:txBody>
          <a:bodyPr/>
          <a:lstStyle/>
          <a:p>
            <a:r>
              <a:rPr lang="en-US" dirty="0"/>
              <a:t>What is Testing</a:t>
            </a:r>
          </a:p>
        </p:txBody>
      </p:sp>
      <p:sp>
        <p:nvSpPr>
          <p:cNvPr id="4" name="Rectangle 3">
            <a:extLst>
              <a:ext uri="{FF2B5EF4-FFF2-40B4-BE49-F238E27FC236}">
                <a16:creationId xmlns:a16="http://schemas.microsoft.com/office/drawing/2014/main" id="{1224A926-6461-934B-0CE7-C6AAEB21B0DD}"/>
              </a:ext>
            </a:extLst>
          </p:cNvPr>
          <p:cNvSpPr/>
          <p:nvPr/>
        </p:nvSpPr>
        <p:spPr>
          <a:xfrm>
            <a:off x="692727" y="1990898"/>
            <a:ext cx="9157855" cy="2078181"/>
          </a:xfrm>
          <a:prstGeom prst="rect">
            <a:avLst/>
          </a:prstGeom>
          <a:solidFill>
            <a:schemeClr val="tx2">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marL="342900" indent="-342900">
              <a:lnSpc>
                <a:spcPct val="90000"/>
              </a:lnSpc>
              <a:buFont typeface="Arial" panose="020B0604020202020204" pitchFamily="34" charset="0"/>
              <a:buChar char="•"/>
            </a:pPr>
            <a:r>
              <a:rPr lang="en-US" sz="2000" dirty="0">
                <a:solidFill>
                  <a:schemeClr val="bg1"/>
                </a:solidFill>
              </a:rPr>
              <a:t>When you compile it, you are testing for defects in syntax</a:t>
            </a:r>
          </a:p>
          <a:p>
            <a:pPr marL="342900" indent="-342900">
              <a:lnSpc>
                <a:spcPct val="90000"/>
              </a:lnSpc>
              <a:buFont typeface="Arial" panose="020B0604020202020204" pitchFamily="34" charset="0"/>
              <a:buChar char="•"/>
            </a:pPr>
            <a:r>
              <a:rPr lang="en-US" sz="2000" dirty="0">
                <a:solidFill>
                  <a:schemeClr val="bg1"/>
                </a:solidFill>
              </a:rPr>
              <a:t>When you run it for the first time you are testing for correctness</a:t>
            </a:r>
          </a:p>
          <a:p>
            <a:pPr marL="342900" indent="-342900">
              <a:lnSpc>
                <a:spcPct val="90000"/>
              </a:lnSpc>
              <a:buFont typeface="Arial" panose="020B0604020202020204" pitchFamily="34" charset="0"/>
              <a:buChar char="•"/>
            </a:pPr>
            <a:r>
              <a:rPr lang="en-US" sz="2000" dirty="0">
                <a:solidFill>
                  <a:schemeClr val="bg1"/>
                </a:solidFill>
              </a:rPr>
              <a:t>When you add any code and run it again, you are testing it again</a:t>
            </a:r>
          </a:p>
          <a:p>
            <a:pPr marL="342900" indent="-342900">
              <a:lnSpc>
                <a:spcPct val="90000"/>
              </a:lnSpc>
              <a:buFont typeface="Arial" panose="020B0604020202020204" pitchFamily="34" charset="0"/>
              <a:buChar char="•"/>
            </a:pPr>
            <a:r>
              <a:rPr lang="en-US" sz="2000" dirty="0">
                <a:solidFill>
                  <a:schemeClr val="bg1"/>
                </a:solidFill>
              </a:rPr>
              <a:t>When you break down your development into smaller chunks you test each chunk, then you combine the chunks, and you test again.</a:t>
            </a:r>
          </a:p>
        </p:txBody>
      </p:sp>
      <p:sp>
        <p:nvSpPr>
          <p:cNvPr id="5" name="Rectangle 4">
            <a:extLst>
              <a:ext uri="{FF2B5EF4-FFF2-40B4-BE49-F238E27FC236}">
                <a16:creationId xmlns:a16="http://schemas.microsoft.com/office/drawing/2014/main" id="{65847FFB-77D9-8202-5719-F46F37C5FAE6}"/>
              </a:ext>
            </a:extLst>
          </p:cNvPr>
          <p:cNvSpPr/>
          <p:nvPr/>
        </p:nvSpPr>
        <p:spPr>
          <a:xfrm>
            <a:off x="692727" y="1076498"/>
            <a:ext cx="9157855" cy="738448"/>
          </a:xfrm>
          <a:prstGeom prst="rect">
            <a:avLst/>
          </a:prstGeom>
          <a:solidFill>
            <a:schemeClr val="tx2">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400" dirty="0">
              <a:solidFill>
                <a:schemeClr val="bg1"/>
              </a:solidFill>
            </a:endParaRPr>
          </a:p>
          <a:p>
            <a:pPr algn="ctr">
              <a:lnSpc>
                <a:spcPct val="90000"/>
              </a:lnSpc>
            </a:pPr>
            <a:r>
              <a:rPr lang="en-US" sz="2400" dirty="0">
                <a:solidFill>
                  <a:schemeClr val="bg1"/>
                </a:solidFill>
              </a:rPr>
              <a:t>Whenever you write a code you are doing it </a:t>
            </a:r>
          </a:p>
          <a:p>
            <a:pPr marL="342900" indent="-342900">
              <a:lnSpc>
                <a:spcPct val="90000"/>
              </a:lnSpc>
              <a:buFont typeface="Arial" panose="020B0604020202020204" pitchFamily="34" charset="0"/>
              <a:buChar char="•"/>
            </a:pPr>
            <a:endParaRPr lang="en-US" sz="2000" dirty="0">
              <a:solidFill>
                <a:schemeClr val="bg1"/>
              </a:solidFill>
            </a:endParaRPr>
          </a:p>
        </p:txBody>
      </p:sp>
      <p:sp>
        <p:nvSpPr>
          <p:cNvPr id="6" name="Rectangle 5">
            <a:extLst>
              <a:ext uri="{FF2B5EF4-FFF2-40B4-BE49-F238E27FC236}">
                <a16:creationId xmlns:a16="http://schemas.microsoft.com/office/drawing/2014/main" id="{41355D4C-4465-D7E1-167C-9AC8A9668648}"/>
              </a:ext>
            </a:extLst>
          </p:cNvPr>
          <p:cNvSpPr/>
          <p:nvPr/>
        </p:nvSpPr>
        <p:spPr>
          <a:xfrm>
            <a:off x="692727" y="4245031"/>
            <a:ext cx="9157855" cy="738448"/>
          </a:xfrm>
          <a:prstGeom prst="rect">
            <a:avLst/>
          </a:prstGeom>
          <a:solidFill>
            <a:schemeClr val="tx2">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400" dirty="0">
              <a:solidFill>
                <a:schemeClr val="bg1"/>
              </a:solidFill>
            </a:endParaRPr>
          </a:p>
          <a:p>
            <a:pPr algn="ctr">
              <a:lnSpc>
                <a:spcPct val="90000"/>
              </a:lnSpc>
            </a:pPr>
            <a:r>
              <a:rPr lang="en-US" sz="2400" dirty="0">
                <a:solidFill>
                  <a:schemeClr val="bg1"/>
                </a:solidFill>
              </a:rPr>
              <a:t>Testing is an integral part of code development</a:t>
            </a:r>
          </a:p>
          <a:p>
            <a:pPr marL="342900" indent="-342900">
              <a:lnSpc>
                <a:spcPct val="90000"/>
              </a:lnSpc>
              <a:buFont typeface="Arial" panose="020B0604020202020204" pitchFamily="34" charset="0"/>
              <a:buChar char="•"/>
            </a:pPr>
            <a:endParaRPr lang="en-US" sz="2000" dirty="0">
              <a:solidFill>
                <a:schemeClr val="bg1"/>
              </a:solidFill>
            </a:endParaRPr>
          </a:p>
        </p:txBody>
      </p:sp>
      <p:sp>
        <p:nvSpPr>
          <p:cNvPr id="7" name="Rectangle 6">
            <a:extLst>
              <a:ext uri="{FF2B5EF4-FFF2-40B4-BE49-F238E27FC236}">
                <a16:creationId xmlns:a16="http://schemas.microsoft.com/office/drawing/2014/main" id="{6A96B5CB-C4A1-82FF-1079-853230E1CA6C}"/>
              </a:ext>
            </a:extLst>
          </p:cNvPr>
          <p:cNvSpPr/>
          <p:nvPr/>
        </p:nvSpPr>
        <p:spPr>
          <a:xfrm>
            <a:off x="692727" y="5264727"/>
            <a:ext cx="6788728" cy="516775"/>
          </a:xfrm>
          <a:prstGeom prst="rect">
            <a:avLst/>
          </a:prstGeom>
          <a:solidFill>
            <a:schemeClr val="tx2">
              <a:lumMod val="20000"/>
              <a:lumOff val="8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ysClr val="windowText" lastClr="000000"/>
                </a:solidFill>
              </a:rPr>
              <a:t>So, what is the whole fuss about testing?</a:t>
            </a:r>
          </a:p>
        </p:txBody>
      </p:sp>
      <p:sp>
        <p:nvSpPr>
          <p:cNvPr id="8" name="Rectangle 7">
            <a:extLst>
              <a:ext uri="{FF2B5EF4-FFF2-40B4-BE49-F238E27FC236}">
                <a16:creationId xmlns:a16="http://schemas.microsoft.com/office/drawing/2014/main" id="{8102D08C-52B8-4574-2A76-7728A7F6EB15}"/>
              </a:ext>
            </a:extLst>
          </p:cNvPr>
          <p:cNvSpPr/>
          <p:nvPr/>
        </p:nvSpPr>
        <p:spPr>
          <a:xfrm>
            <a:off x="740228" y="5919849"/>
            <a:ext cx="8795657" cy="720437"/>
          </a:xfrm>
          <a:prstGeom prst="rect">
            <a:avLst/>
          </a:prstGeom>
          <a:solidFill>
            <a:schemeClr val="tx2">
              <a:lumMod val="20000"/>
              <a:lumOff val="8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ysClr val="windowText" lastClr="000000"/>
                </a:solidFill>
              </a:rPr>
              <a:t>Formalization of the process has been intimidating to people</a:t>
            </a:r>
          </a:p>
          <a:p>
            <a:pPr algn="ctr">
              <a:lnSpc>
                <a:spcPct val="90000"/>
              </a:lnSpc>
            </a:pPr>
            <a:r>
              <a:rPr lang="en-US" sz="2000" dirty="0">
                <a:solidFill>
                  <a:sysClr val="windowText" lastClr="000000"/>
                </a:solidFill>
              </a:rPr>
              <a:t>because they think of writing tests as an overhead</a:t>
            </a:r>
          </a:p>
        </p:txBody>
      </p:sp>
    </p:spTree>
    <p:extLst>
      <p:ext uri="{BB962C8B-B14F-4D97-AF65-F5344CB8AC3E}">
        <p14:creationId xmlns:p14="http://schemas.microsoft.com/office/powerpoint/2010/main" val="27883158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1CC4F-16D6-E895-AFBC-9A514D75E691}"/>
              </a:ext>
            </a:extLst>
          </p:cNvPr>
          <p:cNvSpPr>
            <a:spLocks noGrp="1"/>
          </p:cNvSpPr>
          <p:nvPr>
            <p:ph type="title"/>
          </p:nvPr>
        </p:nvSpPr>
        <p:spPr>
          <a:xfrm>
            <a:off x="406844" y="215753"/>
            <a:ext cx="11375136" cy="914400"/>
          </a:xfrm>
        </p:spPr>
        <p:txBody>
          <a:bodyPr/>
          <a:lstStyle/>
          <a:p>
            <a:r>
              <a:rPr lang="en-US" dirty="0"/>
              <a:t>How to Think About Building Tests</a:t>
            </a:r>
          </a:p>
        </p:txBody>
      </p:sp>
      <p:grpSp>
        <p:nvGrpSpPr>
          <p:cNvPr id="16" name="Group 15">
            <a:extLst>
              <a:ext uri="{FF2B5EF4-FFF2-40B4-BE49-F238E27FC236}">
                <a16:creationId xmlns:a16="http://schemas.microsoft.com/office/drawing/2014/main" id="{D3CC4FF2-1DF2-1ADB-24C4-88350472919D}"/>
              </a:ext>
            </a:extLst>
          </p:cNvPr>
          <p:cNvGrpSpPr/>
          <p:nvPr/>
        </p:nvGrpSpPr>
        <p:grpSpPr>
          <a:xfrm>
            <a:off x="406844" y="864917"/>
            <a:ext cx="5375657" cy="1696277"/>
            <a:chOff x="718754" y="1360869"/>
            <a:chExt cx="5375657" cy="1696277"/>
          </a:xfrm>
        </p:grpSpPr>
        <p:sp>
          <p:nvSpPr>
            <p:cNvPr id="3" name="Rounded Rectangle 2">
              <a:extLst>
                <a:ext uri="{FF2B5EF4-FFF2-40B4-BE49-F238E27FC236}">
                  <a16:creationId xmlns:a16="http://schemas.microsoft.com/office/drawing/2014/main" id="{DC74BD74-D77A-B3A0-E636-1F86AC14DAC6}"/>
                </a:ext>
              </a:extLst>
            </p:cNvPr>
            <p:cNvSpPr/>
            <p:nvPr/>
          </p:nvSpPr>
          <p:spPr>
            <a:xfrm>
              <a:off x="718754" y="1360869"/>
              <a:ext cx="2046135" cy="1696277"/>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You start by thinking about what is the correct behavior</a:t>
              </a:r>
            </a:p>
          </p:txBody>
        </p:sp>
        <p:sp>
          <p:nvSpPr>
            <p:cNvPr id="9" name="Rounded Rectangle 8">
              <a:extLst>
                <a:ext uri="{FF2B5EF4-FFF2-40B4-BE49-F238E27FC236}">
                  <a16:creationId xmlns:a16="http://schemas.microsoft.com/office/drawing/2014/main" id="{1D295530-44B8-F049-1220-DD7166199FFC}"/>
                </a:ext>
              </a:extLst>
            </p:cNvPr>
            <p:cNvSpPr/>
            <p:nvPr/>
          </p:nvSpPr>
          <p:spPr>
            <a:xfrm>
              <a:off x="3092542" y="1360869"/>
              <a:ext cx="3001869" cy="1666791"/>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Next you think about how you are going to be able to tell whether the code is exhibiting correct behavior</a:t>
              </a:r>
            </a:p>
          </p:txBody>
        </p:sp>
      </p:grpSp>
    </p:spTree>
    <p:extLst>
      <p:ext uri="{BB962C8B-B14F-4D97-AF65-F5344CB8AC3E}">
        <p14:creationId xmlns:p14="http://schemas.microsoft.com/office/powerpoint/2010/main" val="37116824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1CC4F-16D6-E895-AFBC-9A514D75E691}"/>
              </a:ext>
            </a:extLst>
          </p:cNvPr>
          <p:cNvSpPr>
            <a:spLocks noGrp="1"/>
          </p:cNvSpPr>
          <p:nvPr>
            <p:ph type="title"/>
          </p:nvPr>
        </p:nvSpPr>
        <p:spPr>
          <a:xfrm>
            <a:off x="406844" y="215753"/>
            <a:ext cx="11375136" cy="914400"/>
          </a:xfrm>
        </p:spPr>
        <p:txBody>
          <a:bodyPr/>
          <a:lstStyle/>
          <a:p>
            <a:r>
              <a:rPr lang="en-US" dirty="0"/>
              <a:t>How to Think About Building Tests</a:t>
            </a:r>
          </a:p>
        </p:txBody>
      </p:sp>
      <p:grpSp>
        <p:nvGrpSpPr>
          <p:cNvPr id="16" name="Group 15">
            <a:extLst>
              <a:ext uri="{FF2B5EF4-FFF2-40B4-BE49-F238E27FC236}">
                <a16:creationId xmlns:a16="http://schemas.microsoft.com/office/drawing/2014/main" id="{D3CC4FF2-1DF2-1ADB-24C4-88350472919D}"/>
              </a:ext>
            </a:extLst>
          </p:cNvPr>
          <p:cNvGrpSpPr/>
          <p:nvPr/>
        </p:nvGrpSpPr>
        <p:grpSpPr>
          <a:xfrm>
            <a:off x="406844" y="864917"/>
            <a:ext cx="5375657" cy="3623270"/>
            <a:chOff x="718754" y="1360869"/>
            <a:chExt cx="5375657" cy="3623270"/>
          </a:xfrm>
        </p:grpSpPr>
        <p:sp>
          <p:nvSpPr>
            <p:cNvPr id="3" name="Rounded Rectangle 2">
              <a:extLst>
                <a:ext uri="{FF2B5EF4-FFF2-40B4-BE49-F238E27FC236}">
                  <a16:creationId xmlns:a16="http://schemas.microsoft.com/office/drawing/2014/main" id="{DC74BD74-D77A-B3A0-E636-1F86AC14DAC6}"/>
                </a:ext>
              </a:extLst>
            </p:cNvPr>
            <p:cNvSpPr/>
            <p:nvPr/>
          </p:nvSpPr>
          <p:spPr>
            <a:xfrm>
              <a:off x="718754" y="1360869"/>
              <a:ext cx="2046135" cy="1696277"/>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You start by thinking about what is the correct behavior</a:t>
              </a:r>
            </a:p>
          </p:txBody>
        </p:sp>
        <p:sp>
          <p:nvSpPr>
            <p:cNvPr id="9" name="Rounded Rectangle 8">
              <a:extLst>
                <a:ext uri="{FF2B5EF4-FFF2-40B4-BE49-F238E27FC236}">
                  <a16:creationId xmlns:a16="http://schemas.microsoft.com/office/drawing/2014/main" id="{1D295530-44B8-F049-1220-DD7166199FFC}"/>
                </a:ext>
              </a:extLst>
            </p:cNvPr>
            <p:cNvSpPr/>
            <p:nvPr/>
          </p:nvSpPr>
          <p:spPr>
            <a:xfrm>
              <a:off x="3092542" y="1360869"/>
              <a:ext cx="3001869" cy="1666791"/>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Next you think about how you are going to be able to tell whether the code is exhibiting correct behavior</a:t>
              </a:r>
            </a:p>
          </p:txBody>
        </p:sp>
        <p:sp>
          <p:nvSpPr>
            <p:cNvPr id="4" name="Rounded Rectangle 3">
              <a:extLst>
                <a:ext uri="{FF2B5EF4-FFF2-40B4-BE49-F238E27FC236}">
                  <a16:creationId xmlns:a16="http://schemas.microsoft.com/office/drawing/2014/main" id="{753DC160-4EC9-B8F8-2210-4AD51C69F727}"/>
                </a:ext>
              </a:extLst>
            </p:cNvPr>
            <p:cNvSpPr/>
            <p:nvPr/>
          </p:nvSpPr>
          <p:spPr>
            <a:xfrm>
              <a:off x="718754" y="3287862"/>
              <a:ext cx="2046135" cy="1696277"/>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You also think about what would be wrong behavior</a:t>
              </a:r>
            </a:p>
          </p:txBody>
        </p:sp>
        <p:sp>
          <p:nvSpPr>
            <p:cNvPr id="13" name="Rounded Rectangle 12">
              <a:extLst>
                <a:ext uri="{FF2B5EF4-FFF2-40B4-BE49-F238E27FC236}">
                  <a16:creationId xmlns:a16="http://schemas.microsoft.com/office/drawing/2014/main" id="{8F952D7B-D792-0880-0C14-7941C8902919}"/>
                </a:ext>
              </a:extLst>
            </p:cNvPr>
            <p:cNvSpPr/>
            <p:nvPr/>
          </p:nvSpPr>
          <p:spPr>
            <a:xfrm>
              <a:off x="3000951" y="3317348"/>
              <a:ext cx="3001869" cy="1666791"/>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Next you think about how you are going to be able to tell whether the code is exhibiting correct behavior</a:t>
              </a:r>
            </a:p>
          </p:txBody>
        </p:sp>
      </p:grpSp>
    </p:spTree>
    <p:extLst>
      <p:ext uri="{BB962C8B-B14F-4D97-AF65-F5344CB8AC3E}">
        <p14:creationId xmlns:p14="http://schemas.microsoft.com/office/powerpoint/2010/main" val="29972439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1CC4F-16D6-E895-AFBC-9A514D75E691}"/>
              </a:ext>
            </a:extLst>
          </p:cNvPr>
          <p:cNvSpPr>
            <a:spLocks noGrp="1"/>
          </p:cNvSpPr>
          <p:nvPr>
            <p:ph type="title"/>
          </p:nvPr>
        </p:nvSpPr>
        <p:spPr>
          <a:xfrm>
            <a:off x="406844" y="215753"/>
            <a:ext cx="11375136" cy="914400"/>
          </a:xfrm>
        </p:spPr>
        <p:txBody>
          <a:bodyPr/>
          <a:lstStyle/>
          <a:p>
            <a:r>
              <a:rPr lang="en-US" dirty="0"/>
              <a:t>How to Think About Building Tests</a:t>
            </a:r>
          </a:p>
        </p:txBody>
      </p:sp>
      <p:grpSp>
        <p:nvGrpSpPr>
          <p:cNvPr id="16" name="Group 15">
            <a:extLst>
              <a:ext uri="{FF2B5EF4-FFF2-40B4-BE49-F238E27FC236}">
                <a16:creationId xmlns:a16="http://schemas.microsoft.com/office/drawing/2014/main" id="{D3CC4FF2-1DF2-1ADB-24C4-88350472919D}"/>
              </a:ext>
            </a:extLst>
          </p:cNvPr>
          <p:cNvGrpSpPr/>
          <p:nvPr/>
        </p:nvGrpSpPr>
        <p:grpSpPr>
          <a:xfrm>
            <a:off x="406844" y="864917"/>
            <a:ext cx="5375657" cy="3623270"/>
            <a:chOff x="718754" y="1360869"/>
            <a:chExt cx="5375657" cy="3623270"/>
          </a:xfrm>
        </p:grpSpPr>
        <p:sp>
          <p:nvSpPr>
            <p:cNvPr id="3" name="Rounded Rectangle 2">
              <a:extLst>
                <a:ext uri="{FF2B5EF4-FFF2-40B4-BE49-F238E27FC236}">
                  <a16:creationId xmlns:a16="http://schemas.microsoft.com/office/drawing/2014/main" id="{DC74BD74-D77A-B3A0-E636-1F86AC14DAC6}"/>
                </a:ext>
              </a:extLst>
            </p:cNvPr>
            <p:cNvSpPr/>
            <p:nvPr/>
          </p:nvSpPr>
          <p:spPr>
            <a:xfrm>
              <a:off x="718754" y="1360869"/>
              <a:ext cx="2046135" cy="1696277"/>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You start by thinking about what is the correct behavior</a:t>
              </a:r>
            </a:p>
          </p:txBody>
        </p:sp>
        <p:sp>
          <p:nvSpPr>
            <p:cNvPr id="9" name="Rounded Rectangle 8">
              <a:extLst>
                <a:ext uri="{FF2B5EF4-FFF2-40B4-BE49-F238E27FC236}">
                  <a16:creationId xmlns:a16="http://schemas.microsoft.com/office/drawing/2014/main" id="{1D295530-44B8-F049-1220-DD7166199FFC}"/>
                </a:ext>
              </a:extLst>
            </p:cNvPr>
            <p:cNvSpPr/>
            <p:nvPr/>
          </p:nvSpPr>
          <p:spPr>
            <a:xfrm>
              <a:off x="3092542" y="1360869"/>
              <a:ext cx="3001869" cy="1666791"/>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Next you think about how you are going to be able to tell whether the code is exhibiting correct behavior</a:t>
              </a:r>
            </a:p>
          </p:txBody>
        </p:sp>
        <p:sp>
          <p:nvSpPr>
            <p:cNvPr id="4" name="Rounded Rectangle 3">
              <a:extLst>
                <a:ext uri="{FF2B5EF4-FFF2-40B4-BE49-F238E27FC236}">
                  <a16:creationId xmlns:a16="http://schemas.microsoft.com/office/drawing/2014/main" id="{753DC160-4EC9-B8F8-2210-4AD51C69F727}"/>
                </a:ext>
              </a:extLst>
            </p:cNvPr>
            <p:cNvSpPr/>
            <p:nvPr/>
          </p:nvSpPr>
          <p:spPr>
            <a:xfrm>
              <a:off x="718754" y="3287862"/>
              <a:ext cx="2046135" cy="1696277"/>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You also think about what would be wrong behavior</a:t>
              </a:r>
            </a:p>
          </p:txBody>
        </p:sp>
        <p:sp>
          <p:nvSpPr>
            <p:cNvPr id="13" name="Rounded Rectangle 12">
              <a:extLst>
                <a:ext uri="{FF2B5EF4-FFF2-40B4-BE49-F238E27FC236}">
                  <a16:creationId xmlns:a16="http://schemas.microsoft.com/office/drawing/2014/main" id="{8F952D7B-D792-0880-0C14-7941C8902919}"/>
                </a:ext>
              </a:extLst>
            </p:cNvPr>
            <p:cNvSpPr/>
            <p:nvPr/>
          </p:nvSpPr>
          <p:spPr>
            <a:xfrm>
              <a:off x="3000951" y="3317348"/>
              <a:ext cx="3001869" cy="1666791"/>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Next you think about how you are going to be able to tell whether the code is exhibiting correct behavior</a:t>
              </a:r>
            </a:p>
          </p:txBody>
        </p:sp>
      </p:grpSp>
      <p:sp>
        <p:nvSpPr>
          <p:cNvPr id="5" name="Rectangle 4">
            <a:extLst>
              <a:ext uri="{FF2B5EF4-FFF2-40B4-BE49-F238E27FC236}">
                <a16:creationId xmlns:a16="http://schemas.microsoft.com/office/drawing/2014/main" id="{1E5E0043-1B40-EDC2-B4EA-771685942AB6}"/>
              </a:ext>
            </a:extLst>
          </p:cNvPr>
          <p:cNvSpPr/>
          <p:nvPr/>
        </p:nvSpPr>
        <p:spPr>
          <a:xfrm>
            <a:off x="6629944" y="451896"/>
            <a:ext cx="4976506" cy="3511826"/>
          </a:xfrm>
          <a:prstGeom prst="rect">
            <a:avLst/>
          </a:prstGeom>
          <a:solidFill>
            <a:schemeClr val="tx2">
              <a:lumMod val="40000"/>
              <a:lumOff val="6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400" dirty="0">
                <a:solidFill>
                  <a:sysClr val="windowText" lastClr="000000"/>
                </a:solidFill>
              </a:rPr>
              <a:t>Let us work through an example …</a:t>
            </a:r>
          </a:p>
          <a:p>
            <a:pPr algn="ctr">
              <a:lnSpc>
                <a:spcPct val="90000"/>
              </a:lnSpc>
            </a:pPr>
            <a:endParaRPr lang="en-US" sz="2400" dirty="0">
              <a:solidFill>
                <a:sysClr val="windowText" lastClr="000000"/>
              </a:solidFill>
            </a:endParaRPr>
          </a:p>
          <a:p>
            <a:pPr marL="342900" indent="-342900">
              <a:lnSpc>
                <a:spcPct val="90000"/>
              </a:lnSpc>
              <a:buFont typeface="Arial" panose="020B0604020202020204" pitchFamily="34" charset="0"/>
              <a:buChar char="•"/>
            </a:pPr>
            <a:r>
              <a:rPr lang="en-US" sz="2000" dirty="0">
                <a:solidFill>
                  <a:sysClr val="windowText" lastClr="000000"/>
                </a:solidFill>
              </a:rPr>
              <a:t>You want a large prime number for encryption</a:t>
            </a:r>
          </a:p>
          <a:p>
            <a:pPr marL="342900" indent="-342900">
              <a:lnSpc>
                <a:spcPct val="90000"/>
              </a:lnSpc>
              <a:buFont typeface="Arial" panose="020B0604020202020204" pitchFamily="34" charset="0"/>
              <a:buChar char="•"/>
            </a:pPr>
            <a:r>
              <a:rPr lang="en-US" sz="2000" dirty="0">
                <a:solidFill>
                  <a:sysClr val="windowText" lastClr="000000"/>
                </a:solidFill>
              </a:rPr>
              <a:t>As a part of the development, you first write a function that checks if a given number is prime</a:t>
            </a:r>
          </a:p>
          <a:p>
            <a:pPr>
              <a:lnSpc>
                <a:spcPct val="90000"/>
              </a:lnSpc>
            </a:pPr>
            <a:endParaRPr lang="en-US" sz="2000" dirty="0">
              <a:solidFill>
                <a:sysClr val="windowText" lastClr="000000"/>
              </a:solidFill>
            </a:endParaRPr>
          </a:p>
          <a:p>
            <a:pPr>
              <a:lnSpc>
                <a:spcPct val="90000"/>
              </a:lnSpc>
            </a:pPr>
            <a:r>
              <a:rPr lang="en-US" sz="2000" dirty="0">
                <a:solidFill>
                  <a:sysClr val="windowText" lastClr="000000"/>
                </a:solidFill>
              </a:rPr>
              <a:t>Correct behavior: input 13 returns true, input 15 returns false</a:t>
            </a:r>
          </a:p>
          <a:p>
            <a:pPr>
              <a:lnSpc>
                <a:spcPct val="90000"/>
              </a:lnSpc>
            </a:pPr>
            <a:r>
              <a:rPr lang="en-US" sz="2000" dirty="0">
                <a:solidFill>
                  <a:sysClr val="windowText" lastClr="000000"/>
                </a:solidFill>
              </a:rPr>
              <a:t>Incorrect behavior: input 15 returns true</a:t>
            </a:r>
          </a:p>
          <a:p>
            <a:pPr algn="ctr">
              <a:lnSpc>
                <a:spcPct val="90000"/>
              </a:lnSpc>
            </a:pPr>
            <a:endParaRPr lang="en-US" sz="2000" dirty="0">
              <a:solidFill>
                <a:sysClr val="windowText" lastClr="000000"/>
              </a:solidFill>
            </a:endParaRPr>
          </a:p>
        </p:txBody>
      </p:sp>
    </p:spTree>
    <p:extLst>
      <p:ext uri="{BB962C8B-B14F-4D97-AF65-F5344CB8AC3E}">
        <p14:creationId xmlns:p14="http://schemas.microsoft.com/office/powerpoint/2010/main" val="36196357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1CC4F-16D6-E895-AFBC-9A514D75E691}"/>
              </a:ext>
            </a:extLst>
          </p:cNvPr>
          <p:cNvSpPr>
            <a:spLocks noGrp="1"/>
          </p:cNvSpPr>
          <p:nvPr>
            <p:ph type="title"/>
          </p:nvPr>
        </p:nvSpPr>
        <p:spPr>
          <a:xfrm>
            <a:off x="406844" y="215753"/>
            <a:ext cx="11375136" cy="914400"/>
          </a:xfrm>
        </p:spPr>
        <p:txBody>
          <a:bodyPr/>
          <a:lstStyle/>
          <a:p>
            <a:r>
              <a:rPr lang="en-US" dirty="0"/>
              <a:t>How to Think About Building Tests</a:t>
            </a:r>
          </a:p>
        </p:txBody>
      </p:sp>
      <p:grpSp>
        <p:nvGrpSpPr>
          <p:cNvPr id="16" name="Group 15">
            <a:extLst>
              <a:ext uri="{FF2B5EF4-FFF2-40B4-BE49-F238E27FC236}">
                <a16:creationId xmlns:a16="http://schemas.microsoft.com/office/drawing/2014/main" id="{D3CC4FF2-1DF2-1ADB-24C4-88350472919D}"/>
              </a:ext>
            </a:extLst>
          </p:cNvPr>
          <p:cNvGrpSpPr/>
          <p:nvPr/>
        </p:nvGrpSpPr>
        <p:grpSpPr>
          <a:xfrm>
            <a:off x="406844" y="864917"/>
            <a:ext cx="5375657" cy="3623270"/>
            <a:chOff x="718754" y="1360869"/>
            <a:chExt cx="5375657" cy="3623270"/>
          </a:xfrm>
        </p:grpSpPr>
        <p:sp>
          <p:nvSpPr>
            <p:cNvPr id="3" name="Rounded Rectangle 2">
              <a:extLst>
                <a:ext uri="{FF2B5EF4-FFF2-40B4-BE49-F238E27FC236}">
                  <a16:creationId xmlns:a16="http://schemas.microsoft.com/office/drawing/2014/main" id="{DC74BD74-D77A-B3A0-E636-1F86AC14DAC6}"/>
                </a:ext>
              </a:extLst>
            </p:cNvPr>
            <p:cNvSpPr/>
            <p:nvPr/>
          </p:nvSpPr>
          <p:spPr>
            <a:xfrm>
              <a:off x="718754" y="1360869"/>
              <a:ext cx="2046135" cy="1696277"/>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You start by thinking about what is the correct behavior</a:t>
              </a:r>
            </a:p>
          </p:txBody>
        </p:sp>
        <p:sp>
          <p:nvSpPr>
            <p:cNvPr id="9" name="Rounded Rectangle 8">
              <a:extLst>
                <a:ext uri="{FF2B5EF4-FFF2-40B4-BE49-F238E27FC236}">
                  <a16:creationId xmlns:a16="http://schemas.microsoft.com/office/drawing/2014/main" id="{1D295530-44B8-F049-1220-DD7166199FFC}"/>
                </a:ext>
              </a:extLst>
            </p:cNvPr>
            <p:cNvSpPr/>
            <p:nvPr/>
          </p:nvSpPr>
          <p:spPr>
            <a:xfrm>
              <a:off x="3092542" y="1360869"/>
              <a:ext cx="3001869" cy="1666791"/>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Next you think about how you are going to be able to tell whether the code is exhibiting correct behavior</a:t>
              </a:r>
            </a:p>
          </p:txBody>
        </p:sp>
        <p:sp>
          <p:nvSpPr>
            <p:cNvPr id="4" name="Rounded Rectangle 3">
              <a:extLst>
                <a:ext uri="{FF2B5EF4-FFF2-40B4-BE49-F238E27FC236}">
                  <a16:creationId xmlns:a16="http://schemas.microsoft.com/office/drawing/2014/main" id="{753DC160-4EC9-B8F8-2210-4AD51C69F727}"/>
                </a:ext>
              </a:extLst>
            </p:cNvPr>
            <p:cNvSpPr/>
            <p:nvPr/>
          </p:nvSpPr>
          <p:spPr>
            <a:xfrm>
              <a:off x="718754" y="3287862"/>
              <a:ext cx="2046135" cy="1696277"/>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You also think about what would be wrong behavior</a:t>
              </a:r>
            </a:p>
          </p:txBody>
        </p:sp>
        <p:sp>
          <p:nvSpPr>
            <p:cNvPr id="13" name="Rounded Rectangle 12">
              <a:extLst>
                <a:ext uri="{FF2B5EF4-FFF2-40B4-BE49-F238E27FC236}">
                  <a16:creationId xmlns:a16="http://schemas.microsoft.com/office/drawing/2014/main" id="{8F952D7B-D792-0880-0C14-7941C8902919}"/>
                </a:ext>
              </a:extLst>
            </p:cNvPr>
            <p:cNvSpPr/>
            <p:nvPr/>
          </p:nvSpPr>
          <p:spPr>
            <a:xfrm>
              <a:off x="3000951" y="3317348"/>
              <a:ext cx="3001869" cy="1666791"/>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Next you think about how you are going to be able to tell whether the code is exhibiting correct behavior</a:t>
              </a:r>
            </a:p>
          </p:txBody>
        </p:sp>
      </p:grpSp>
      <p:sp>
        <p:nvSpPr>
          <p:cNvPr id="15" name="TextBox 14">
            <a:extLst>
              <a:ext uri="{FF2B5EF4-FFF2-40B4-BE49-F238E27FC236}">
                <a16:creationId xmlns:a16="http://schemas.microsoft.com/office/drawing/2014/main" id="{F9B4A991-F297-965C-6924-5E546D972B66}"/>
              </a:ext>
            </a:extLst>
          </p:cNvPr>
          <p:cNvSpPr txBox="1"/>
          <p:nvPr/>
        </p:nvSpPr>
        <p:spPr>
          <a:xfrm>
            <a:off x="6686634" y="4063455"/>
            <a:ext cx="4024756" cy="849463"/>
          </a:xfrm>
          <a:prstGeom prst="rect">
            <a:avLst/>
          </a:prstGeom>
          <a:noFill/>
        </p:spPr>
        <p:txBody>
          <a:bodyPr wrap="none" lIns="118872" tIns="91440" rIns="118872" bIns="91440" rtlCol="0" anchor="ctr" anchorCtr="0">
            <a:spAutoFit/>
          </a:bodyPr>
          <a:lstStyle/>
          <a:p>
            <a:pPr>
              <a:lnSpc>
                <a:spcPct val="90000"/>
              </a:lnSpc>
            </a:pPr>
            <a:r>
              <a:rPr lang="en-US" sz="2400" dirty="0"/>
              <a:t>Here are all the ingredients </a:t>
            </a:r>
          </a:p>
          <a:p>
            <a:pPr>
              <a:lnSpc>
                <a:spcPct val="90000"/>
              </a:lnSpc>
            </a:pPr>
            <a:r>
              <a:rPr lang="en-US" sz="2400" dirty="0"/>
              <a:t>for building a test !!</a:t>
            </a:r>
          </a:p>
        </p:txBody>
      </p:sp>
      <p:sp>
        <p:nvSpPr>
          <p:cNvPr id="7" name="Rectangle 6">
            <a:extLst>
              <a:ext uri="{FF2B5EF4-FFF2-40B4-BE49-F238E27FC236}">
                <a16:creationId xmlns:a16="http://schemas.microsoft.com/office/drawing/2014/main" id="{AE9EFDAD-7B60-9EFA-8FEB-6230778AF06F}"/>
              </a:ext>
            </a:extLst>
          </p:cNvPr>
          <p:cNvSpPr/>
          <p:nvPr/>
        </p:nvSpPr>
        <p:spPr>
          <a:xfrm>
            <a:off x="6629944" y="451896"/>
            <a:ext cx="4976506" cy="3511826"/>
          </a:xfrm>
          <a:prstGeom prst="rect">
            <a:avLst/>
          </a:prstGeom>
          <a:solidFill>
            <a:schemeClr val="tx2">
              <a:lumMod val="40000"/>
              <a:lumOff val="6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400" dirty="0">
                <a:solidFill>
                  <a:sysClr val="windowText" lastClr="000000"/>
                </a:solidFill>
              </a:rPr>
              <a:t>Let us work through an example …</a:t>
            </a:r>
          </a:p>
          <a:p>
            <a:pPr algn="ctr">
              <a:lnSpc>
                <a:spcPct val="90000"/>
              </a:lnSpc>
            </a:pPr>
            <a:endParaRPr lang="en-US" sz="2400" dirty="0">
              <a:solidFill>
                <a:sysClr val="windowText" lastClr="000000"/>
              </a:solidFill>
            </a:endParaRPr>
          </a:p>
          <a:p>
            <a:pPr marL="342900" indent="-342900">
              <a:lnSpc>
                <a:spcPct val="90000"/>
              </a:lnSpc>
              <a:buFont typeface="Arial" panose="020B0604020202020204" pitchFamily="34" charset="0"/>
              <a:buChar char="•"/>
            </a:pPr>
            <a:r>
              <a:rPr lang="en-US" sz="2000" dirty="0">
                <a:solidFill>
                  <a:sysClr val="windowText" lastClr="000000"/>
                </a:solidFill>
              </a:rPr>
              <a:t>You want a large prime number for encryption</a:t>
            </a:r>
          </a:p>
          <a:p>
            <a:pPr marL="342900" indent="-342900">
              <a:lnSpc>
                <a:spcPct val="90000"/>
              </a:lnSpc>
              <a:buFont typeface="Arial" panose="020B0604020202020204" pitchFamily="34" charset="0"/>
              <a:buChar char="•"/>
            </a:pPr>
            <a:r>
              <a:rPr lang="en-US" sz="2000" dirty="0">
                <a:solidFill>
                  <a:sysClr val="windowText" lastClr="000000"/>
                </a:solidFill>
              </a:rPr>
              <a:t>As a part of the development, you first write a function that checks if a given number is prime</a:t>
            </a:r>
          </a:p>
          <a:p>
            <a:pPr>
              <a:lnSpc>
                <a:spcPct val="90000"/>
              </a:lnSpc>
            </a:pPr>
            <a:endParaRPr lang="en-US" sz="2000" dirty="0">
              <a:solidFill>
                <a:sysClr val="windowText" lastClr="000000"/>
              </a:solidFill>
            </a:endParaRPr>
          </a:p>
          <a:p>
            <a:pPr>
              <a:lnSpc>
                <a:spcPct val="90000"/>
              </a:lnSpc>
            </a:pPr>
            <a:r>
              <a:rPr lang="en-US" sz="2000" dirty="0">
                <a:solidFill>
                  <a:sysClr val="windowText" lastClr="000000"/>
                </a:solidFill>
              </a:rPr>
              <a:t>Correct behavior: input 13 returns true, input 15 returns false</a:t>
            </a:r>
          </a:p>
          <a:p>
            <a:pPr>
              <a:lnSpc>
                <a:spcPct val="90000"/>
              </a:lnSpc>
            </a:pPr>
            <a:r>
              <a:rPr lang="en-US" sz="2000" dirty="0">
                <a:solidFill>
                  <a:sysClr val="windowText" lastClr="000000"/>
                </a:solidFill>
              </a:rPr>
              <a:t>Incorrect behavior: input 15 returns true</a:t>
            </a:r>
          </a:p>
          <a:p>
            <a:pPr algn="ctr">
              <a:lnSpc>
                <a:spcPct val="90000"/>
              </a:lnSpc>
            </a:pPr>
            <a:endParaRPr lang="en-US" sz="2000" dirty="0">
              <a:solidFill>
                <a:sysClr val="windowText" lastClr="000000"/>
              </a:solidFill>
            </a:endParaRPr>
          </a:p>
        </p:txBody>
      </p:sp>
    </p:spTree>
    <p:extLst>
      <p:ext uri="{BB962C8B-B14F-4D97-AF65-F5344CB8AC3E}">
        <p14:creationId xmlns:p14="http://schemas.microsoft.com/office/powerpoint/2010/main" val="36865666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1CC4F-16D6-E895-AFBC-9A514D75E691}"/>
              </a:ext>
            </a:extLst>
          </p:cNvPr>
          <p:cNvSpPr>
            <a:spLocks noGrp="1"/>
          </p:cNvSpPr>
          <p:nvPr>
            <p:ph type="title"/>
          </p:nvPr>
        </p:nvSpPr>
        <p:spPr>
          <a:xfrm>
            <a:off x="406844" y="215753"/>
            <a:ext cx="11375136" cy="914400"/>
          </a:xfrm>
        </p:spPr>
        <p:txBody>
          <a:bodyPr/>
          <a:lstStyle/>
          <a:p>
            <a:r>
              <a:rPr lang="en-US" dirty="0"/>
              <a:t>How to Think About Building Tests</a:t>
            </a:r>
          </a:p>
        </p:txBody>
      </p:sp>
      <p:grpSp>
        <p:nvGrpSpPr>
          <p:cNvPr id="16" name="Group 15">
            <a:extLst>
              <a:ext uri="{FF2B5EF4-FFF2-40B4-BE49-F238E27FC236}">
                <a16:creationId xmlns:a16="http://schemas.microsoft.com/office/drawing/2014/main" id="{D3CC4FF2-1DF2-1ADB-24C4-88350472919D}"/>
              </a:ext>
            </a:extLst>
          </p:cNvPr>
          <p:cNvGrpSpPr/>
          <p:nvPr/>
        </p:nvGrpSpPr>
        <p:grpSpPr>
          <a:xfrm>
            <a:off x="406844" y="864917"/>
            <a:ext cx="5375657" cy="3623270"/>
            <a:chOff x="718754" y="1360869"/>
            <a:chExt cx="5375657" cy="3623270"/>
          </a:xfrm>
        </p:grpSpPr>
        <p:sp>
          <p:nvSpPr>
            <p:cNvPr id="3" name="Rounded Rectangle 2">
              <a:extLst>
                <a:ext uri="{FF2B5EF4-FFF2-40B4-BE49-F238E27FC236}">
                  <a16:creationId xmlns:a16="http://schemas.microsoft.com/office/drawing/2014/main" id="{DC74BD74-D77A-B3A0-E636-1F86AC14DAC6}"/>
                </a:ext>
              </a:extLst>
            </p:cNvPr>
            <p:cNvSpPr/>
            <p:nvPr/>
          </p:nvSpPr>
          <p:spPr>
            <a:xfrm>
              <a:off x="718754" y="1360869"/>
              <a:ext cx="2046135" cy="1696277"/>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You start by thinking about what is the correct behavior</a:t>
              </a:r>
            </a:p>
          </p:txBody>
        </p:sp>
        <p:sp>
          <p:nvSpPr>
            <p:cNvPr id="9" name="Rounded Rectangle 8">
              <a:extLst>
                <a:ext uri="{FF2B5EF4-FFF2-40B4-BE49-F238E27FC236}">
                  <a16:creationId xmlns:a16="http://schemas.microsoft.com/office/drawing/2014/main" id="{1D295530-44B8-F049-1220-DD7166199FFC}"/>
                </a:ext>
              </a:extLst>
            </p:cNvPr>
            <p:cNvSpPr/>
            <p:nvPr/>
          </p:nvSpPr>
          <p:spPr>
            <a:xfrm>
              <a:off x="3092542" y="1360869"/>
              <a:ext cx="3001869" cy="1666791"/>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Next you think about how you are going to be able to tell whether the code is exhibiting correct behavior</a:t>
              </a:r>
            </a:p>
          </p:txBody>
        </p:sp>
        <p:sp>
          <p:nvSpPr>
            <p:cNvPr id="4" name="Rounded Rectangle 3">
              <a:extLst>
                <a:ext uri="{FF2B5EF4-FFF2-40B4-BE49-F238E27FC236}">
                  <a16:creationId xmlns:a16="http://schemas.microsoft.com/office/drawing/2014/main" id="{753DC160-4EC9-B8F8-2210-4AD51C69F727}"/>
                </a:ext>
              </a:extLst>
            </p:cNvPr>
            <p:cNvSpPr/>
            <p:nvPr/>
          </p:nvSpPr>
          <p:spPr>
            <a:xfrm>
              <a:off x="718754" y="3287862"/>
              <a:ext cx="2046135" cy="1696277"/>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You also think about what would be wrong behavior</a:t>
              </a:r>
            </a:p>
          </p:txBody>
        </p:sp>
        <p:sp>
          <p:nvSpPr>
            <p:cNvPr id="13" name="Rounded Rectangle 12">
              <a:extLst>
                <a:ext uri="{FF2B5EF4-FFF2-40B4-BE49-F238E27FC236}">
                  <a16:creationId xmlns:a16="http://schemas.microsoft.com/office/drawing/2014/main" id="{8F952D7B-D792-0880-0C14-7941C8902919}"/>
                </a:ext>
              </a:extLst>
            </p:cNvPr>
            <p:cNvSpPr/>
            <p:nvPr/>
          </p:nvSpPr>
          <p:spPr>
            <a:xfrm>
              <a:off x="3000951" y="3317348"/>
              <a:ext cx="3001869" cy="1666791"/>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Next you think about how you are going to be able to tell whether the code is exhibiting correct behavior</a:t>
              </a:r>
            </a:p>
          </p:txBody>
        </p:sp>
      </p:grpSp>
      <p:sp>
        <p:nvSpPr>
          <p:cNvPr id="17" name="TextBox 16">
            <a:extLst>
              <a:ext uri="{FF2B5EF4-FFF2-40B4-BE49-F238E27FC236}">
                <a16:creationId xmlns:a16="http://schemas.microsoft.com/office/drawing/2014/main" id="{AA0BA1E1-5374-FD6A-8F4E-24246BDA28A3}"/>
              </a:ext>
            </a:extLst>
          </p:cNvPr>
          <p:cNvSpPr txBox="1"/>
          <p:nvPr/>
        </p:nvSpPr>
        <p:spPr>
          <a:xfrm>
            <a:off x="1130110" y="4787598"/>
            <a:ext cx="9121599" cy="1181862"/>
          </a:xfrm>
          <a:prstGeom prst="rect">
            <a:avLst/>
          </a:prstGeom>
          <a:noFill/>
        </p:spPr>
        <p:txBody>
          <a:bodyPr wrap="square" lIns="118872" tIns="91440" rIns="118872" bIns="91440" rtlCol="0" anchor="ctr" anchorCtr="0">
            <a:spAutoFit/>
          </a:bodyPr>
          <a:lstStyle/>
          <a:p>
            <a:pPr marL="285750" indent="-285750" algn="l">
              <a:lnSpc>
                <a:spcPct val="90000"/>
              </a:lnSpc>
              <a:buFont typeface="Arial" panose="020B0604020202020204" pitchFamily="34" charset="0"/>
              <a:buChar char="•"/>
            </a:pPr>
            <a:r>
              <a:rPr lang="en-US" dirty="0"/>
              <a:t>You write a “main” that reads in a number, calls the functions and prints true or false</a:t>
            </a:r>
          </a:p>
          <a:p>
            <a:pPr marL="285750" indent="-285750" algn="l">
              <a:lnSpc>
                <a:spcPct val="90000"/>
              </a:lnSpc>
              <a:buFont typeface="Arial" panose="020B0604020202020204" pitchFamily="34" charset="0"/>
              <a:buChar char="•"/>
            </a:pPr>
            <a:r>
              <a:rPr lang="en-US" dirty="0"/>
              <a:t>You can automate it by including a series of known primes and non-primes and their corresponding true or false values</a:t>
            </a:r>
          </a:p>
          <a:p>
            <a:pPr marL="285750" indent="-285750" algn="l">
              <a:lnSpc>
                <a:spcPct val="90000"/>
              </a:lnSpc>
              <a:buFont typeface="Arial" panose="020B0604020202020204" pitchFamily="34" charset="0"/>
              <a:buChar char="•"/>
            </a:pPr>
            <a:r>
              <a:rPr lang="en-US" dirty="0"/>
              <a:t>This is your “unit test” for the function</a:t>
            </a:r>
          </a:p>
        </p:txBody>
      </p:sp>
      <p:sp>
        <p:nvSpPr>
          <p:cNvPr id="5" name="TextBox 4">
            <a:extLst>
              <a:ext uri="{FF2B5EF4-FFF2-40B4-BE49-F238E27FC236}">
                <a16:creationId xmlns:a16="http://schemas.microsoft.com/office/drawing/2014/main" id="{49C8C45C-548E-EEC7-AA85-6EB7426DAC04}"/>
              </a:ext>
            </a:extLst>
          </p:cNvPr>
          <p:cNvSpPr txBox="1"/>
          <p:nvPr/>
        </p:nvSpPr>
        <p:spPr>
          <a:xfrm>
            <a:off x="6686634" y="4063455"/>
            <a:ext cx="4024756" cy="849463"/>
          </a:xfrm>
          <a:prstGeom prst="rect">
            <a:avLst/>
          </a:prstGeom>
          <a:noFill/>
        </p:spPr>
        <p:txBody>
          <a:bodyPr wrap="none" lIns="118872" tIns="91440" rIns="118872" bIns="91440" rtlCol="0" anchor="ctr" anchorCtr="0">
            <a:spAutoFit/>
          </a:bodyPr>
          <a:lstStyle/>
          <a:p>
            <a:pPr>
              <a:lnSpc>
                <a:spcPct val="90000"/>
              </a:lnSpc>
            </a:pPr>
            <a:r>
              <a:rPr lang="en-US" sz="2400" dirty="0"/>
              <a:t>Here are all the ingredients </a:t>
            </a:r>
          </a:p>
          <a:p>
            <a:pPr>
              <a:lnSpc>
                <a:spcPct val="90000"/>
              </a:lnSpc>
            </a:pPr>
            <a:r>
              <a:rPr lang="en-US" sz="2400" dirty="0"/>
              <a:t>for building a test !!</a:t>
            </a:r>
          </a:p>
        </p:txBody>
      </p:sp>
      <p:sp>
        <p:nvSpPr>
          <p:cNvPr id="8" name="Rectangle 7">
            <a:extLst>
              <a:ext uri="{FF2B5EF4-FFF2-40B4-BE49-F238E27FC236}">
                <a16:creationId xmlns:a16="http://schemas.microsoft.com/office/drawing/2014/main" id="{9FEC453C-8A27-5A5F-B26A-ABA513B00FB6}"/>
              </a:ext>
            </a:extLst>
          </p:cNvPr>
          <p:cNvSpPr/>
          <p:nvPr/>
        </p:nvSpPr>
        <p:spPr>
          <a:xfrm>
            <a:off x="6629944" y="451896"/>
            <a:ext cx="4976506" cy="3511826"/>
          </a:xfrm>
          <a:prstGeom prst="rect">
            <a:avLst/>
          </a:prstGeom>
          <a:solidFill>
            <a:schemeClr val="tx2">
              <a:lumMod val="40000"/>
              <a:lumOff val="6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400" dirty="0">
                <a:solidFill>
                  <a:sysClr val="windowText" lastClr="000000"/>
                </a:solidFill>
              </a:rPr>
              <a:t>Let us work through an example …</a:t>
            </a:r>
          </a:p>
          <a:p>
            <a:pPr algn="ctr">
              <a:lnSpc>
                <a:spcPct val="90000"/>
              </a:lnSpc>
            </a:pPr>
            <a:endParaRPr lang="en-US" sz="2400" dirty="0">
              <a:solidFill>
                <a:sysClr val="windowText" lastClr="000000"/>
              </a:solidFill>
            </a:endParaRPr>
          </a:p>
          <a:p>
            <a:pPr marL="342900" indent="-342900">
              <a:lnSpc>
                <a:spcPct val="90000"/>
              </a:lnSpc>
              <a:buFont typeface="Arial" panose="020B0604020202020204" pitchFamily="34" charset="0"/>
              <a:buChar char="•"/>
            </a:pPr>
            <a:r>
              <a:rPr lang="en-US" sz="2000" dirty="0">
                <a:solidFill>
                  <a:sysClr val="windowText" lastClr="000000"/>
                </a:solidFill>
              </a:rPr>
              <a:t>You want a large prime number for encryption</a:t>
            </a:r>
          </a:p>
          <a:p>
            <a:pPr marL="342900" indent="-342900">
              <a:lnSpc>
                <a:spcPct val="90000"/>
              </a:lnSpc>
              <a:buFont typeface="Arial" panose="020B0604020202020204" pitchFamily="34" charset="0"/>
              <a:buChar char="•"/>
            </a:pPr>
            <a:r>
              <a:rPr lang="en-US" sz="2000" dirty="0">
                <a:solidFill>
                  <a:sysClr val="windowText" lastClr="000000"/>
                </a:solidFill>
              </a:rPr>
              <a:t>As a part of the development, you first write a function that checks if a given number is prime</a:t>
            </a:r>
          </a:p>
          <a:p>
            <a:pPr>
              <a:lnSpc>
                <a:spcPct val="90000"/>
              </a:lnSpc>
            </a:pPr>
            <a:endParaRPr lang="en-US" sz="2000" dirty="0">
              <a:solidFill>
                <a:sysClr val="windowText" lastClr="000000"/>
              </a:solidFill>
            </a:endParaRPr>
          </a:p>
          <a:p>
            <a:pPr>
              <a:lnSpc>
                <a:spcPct val="90000"/>
              </a:lnSpc>
            </a:pPr>
            <a:r>
              <a:rPr lang="en-US" sz="2000" dirty="0">
                <a:solidFill>
                  <a:sysClr val="windowText" lastClr="000000"/>
                </a:solidFill>
              </a:rPr>
              <a:t>Correct behavior: input 13 returns true, input 15 returns false</a:t>
            </a:r>
          </a:p>
          <a:p>
            <a:pPr>
              <a:lnSpc>
                <a:spcPct val="90000"/>
              </a:lnSpc>
            </a:pPr>
            <a:r>
              <a:rPr lang="en-US" sz="2000" dirty="0">
                <a:solidFill>
                  <a:sysClr val="windowText" lastClr="000000"/>
                </a:solidFill>
              </a:rPr>
              <a:t>Incorrect behavior: input 15 returns true</a:t>
            </a:r>
          </a:p>
          <a:p>
            <a:pPr algn="ctr">
              <a:lnSpc>
                <a:spcPct val="90000"/>
              </a:lnSpc>
            </a:pPr>
            <a:endParaRPr lang="en-US" sz="2000" dirty="0">
              <a:solidFill>
                <a:sysClr val="windowText" lastClr="000000"/>
              </a:solidFill>
            </a:endParaRPr>
          </a:p>
        </p:txBody>
      </p:sp>
    </p:spTree>
    <p:extLst>
      <p:ext uri="{BB962C8B-B14F-4D97-AF65-F5344CB8AC3E}">
        <p14:creationId xmlns:p14="http://schemas.microsoft.com/office/powerpoint/2010/main" val="12355129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1CC4F-16D6-E895-AFBC-9A514D75E691}"/>
              </a:ext>
            </a:extLst>
          </p:cNvPr>
          <p:cNvSpPr>
            <a:spLocks noGrp="1"/>
          </p:cNvSpPr>
          <p:nvPr>
            <p:ph type="title"/>
          </p:nvPr>
        </p:nvSpPr>
        <p:spPr>
          <a:xfrm>
            <a:off x="406844" y="215753"/>
            <a:ext cx="11375136" cy="914400"/>
          </a:xfrm>
        </p:spPr>
        <p:txBody>
          <a:bodyPr/>
          <a:lstStyle/>
          <a:p>
            <a:r>
              <a:rPr lang="en-US" dirty="0"/>
              <a:t>How to Think About Building Tests</a:t>
            </a:r>
          </a:p>
        </p:txBody>
      </p:sp>
      <p:sp>
        <p:nvSpPr>
          <p:cNvPr id="3" name="Rounded Rectangle 2">
            <a:extLst>
              <a:ext uri="{FF2B5EF4-FFF2-40B4-BE49-F238E27FC236}">
                <a16:creationId xmlns:a16="http://schemas.microsoft.com/office/drawing/2014/main" id="{DC74BD74-D77A-B3A0-E636-1F86AC14DAC6}"/>
              </a:ext>
            </a:extLst>
          </p:cNvPr>
          <p:cNvSpPr/>
          <p:nvPr/>
        </p:nvSpPr>
        <p:spPr>
          <a:xfrm>
            <a:off x="406844" y="864917"/>
            <a:ext cx="2430816" cy="1696277"/>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Next you write a function to get to a large prime for encryption</a:t>
            </a:r>
          </a:p>
        </p:txBody>
      </p:sp>
      <p:sp>
        <p:nvSpPr>
          <p:cNvPr id="9" name="Rounded Rectangle 8">
            <a:extLst>
              <a:ext uri="{FF2B5EF4-FFF2-40B4-BE49-F238E27FC236}">
                <a16:creationId xmlns:a16="http://schemas.microsoft.com/office/drawing/2014/main" id="{1D295530-44B8-F049-1220-DD7166199FFC}"/>
              </a:ext>
            </a:extLst>
          </p:cNvPr>
          <p:cNvSpPr/>
          <p:nvPr/>
        </p:nvSpPr>
        <p:spPr>
          <a:xfrm>
            <a:off x="3064889" y="820511"/>
            <a:ext cx="3001869" cy="1666791"/>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Then you wish to confirm that it is a large enough prime</a:t>
            </a:r>
          </a:p>
        </p:txBody>
      </p:sp>
      <p:sp>
        <p:nvSpPr>
          <p:cNvPr id="14" name="Rectangle 13">
            <a:extLst>
              <a:ext uri="{FF2B5EF4-FFF2-40B4-BE49-F238E27FC236}">
                <a16:creationId xmlns:a16="http://schemas.microsoft.com/office/drawing/2014/main" id="{1F978CD3-CF5F-A8A1-483B-8479C73829B3}"/>
              </a:ext>
            </a:extLst>
          </p:cNvPr>
          <p:cNvSpPr/>
          <p:nvPr/>
        </p:nvSpPr>
        <p:spPr>
          <a:xfrm>
            <a:off x="6293987" y="918026"/>
            <a:ext cx="4976506" cy="1427609"/>
          </a:xfrm>
          <a:prstGeom prst="rect">
            <a:avLst/>
          </a:prstGeom>
          <a:solidFill>
            <a:schemeClr val="tx2">
              <a:lumMod val="40000"/>
              <a:lumOff val="6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t>So, you write another unit test that counts the number of digits in the prime</a:t>
            </a:r>
          </a:p>
        </p:txBody>
      </p:sp>
    </p:spTree>
    <p:extLst>
      <p:ext uri="{BB962C8B-B14F-4D97-AF65-F5344CB8AC3E}">
        <p14:creationId xmlns:p14="http://schemas.microsoft.com/office/powerpoint/2010/main" val="33355420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1CC4F-16D6-E895-AFBC-9A514D75E691}"/>
              </a:ext>
            </a:extLst>
          </p:cNvPr>
          <p:cNvSpPr>
            <a:spLocks noGrp="1"/>
          </p:cNvSpPr>
          <p:nvPr>
            <p:ph type="title"/>
          </p:nvPr>
        </p:nvSpPr>
        <p:spPr>
          <a:xfrm>
            <a:off x="406844" y="215753"/>
            <a:ext cx="11375136" cy="914400"/>
          </a:xfrm>
        </p:spPr>
        <p:txBody>
          <a:bodyPr/>
          <a:lstStyle/>
          <a:p>
            <a:r>
              <a:rPr lang="en-US" dirty="0"/>
              <a:t>How to Think About Building Tests</a:t>
            </a:r>
          </a:p>
        </p:txBody>
      </p:sp>
      <p:sp>
        <p:nvSpPr>
          <p:cNvPr id="4" name="Rounded Rectangle 3">
            <a:extLst>
              <a:ext uri="{FF2B5EF4-FFF2-40B4-BE49-F238E27FC236}">
                <a16:creationId xmlns:a16="http://schemas.microsoft.com/office/drawing/2014/main" id="{753DC160-4EC9-B8F8-2210-4AD51C69F727}"/>
              </a:ext>
            </a:extLst>
          </p:cNvPr>
          <p:cNvSpPr/>
          <p:nvPr/>
        </p:nvSpPr>
        <p:spPr>
          <a:xfrm>
            <a:off x="406844" y="2791910"/>
            <a:ext cx="2373788" cy="1696277"/>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Finally, you want to verify that it meets your encryption needs</a:t>
            </a:r>
          </a:p>
        </p:txBody>
      </p:sp>
      <p:sp>
        <p:nvSpPr>
          <p:cNvPr id="13" name="Rounded Rectangle 12">
            <a:extLst>
              <a:ext uri="{FF2B5EF4-FFF2-40B4-BE49-F238E27FC236}">
                <a16:creationId xmlns:a16="http://schemas.microsoft.com/office/drawing/2014/main" id="{8F952D7B-D792-0880-0C14-7941C8902919}"/>
              </a:ext>
            </a:extLst>
          </p:cNvPr>
          <p:cNvSpPr/>
          <p:nvPr/>
        </p:nvSpPr>
        <p:spPr>
          <a:xfrm>
            <a:off x="3064888" y="2786713"/>
            <a:ext cx="3001869" cy="1666791"/>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You integrate your new function with your encryption software</a:t>
            </a:r>
          </a:p>
        </p:txBody>
      </p:sp>
      <p:sp>
        <p:nvSpPr>
          <p:cNvPr id="14" name="Rectangle 13">
            <a:extLst>
              <a:ext uri="{FF2B5EF4-FFF2-40B4-BE49-F238E27FC236}">
                <a16:creationId xmlns:a16="http://schemas.microsoft.com/office/drawing/2014/main" id="{1F978CD3-CF5F-A8A1-483B-8479C73829B3}"/>
              </a:ext>
            </a:extLst>
          </p:cNvPr>
          <p:cNvSpPr/>
          <p:nvPr/>
        </p:nvSpPr>
        <p:spPr>
          <a:xfrm>
            <a:off x="6293987" y="918026"/>
            <a:ext cx="4976506" cy="1427609"/>
          </a:xfrm>
          <a:prstGeom prst="rect">
            <a:avLst/>
          </a:prstGeom>
          <a:solidFill>
            <a:schemeClr val="tx2">
              <a:lumMod val="40000"/>
              <a:lumOff val="6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t>So, you write another unit test that counts the number of digits in the prime</a:t>
            </a:r>
          </a:p>
        </p:txBody>
      </p:sp>
      <p:sp>
        <p:nvSpPr>
          <p:cNvPr id="5" name="Rectangle 4">
            <a:extLst>
              <a:ext uri="{FF2B5EF4-FFF2-40B4-BE49-F238E27FC236}">
                <a16:creationId xmlns:a16="http://schemas.microsoft.com/office/drawing/2014/main" id="{648347E4-2A2D-9DC2-0D84-37E16DD6AAD7}"/>
              </a:ext>
            </a:extLst>
          </p:cNvPr>
          <p:cNvSpPr/>
          <p:nvPr/>
        </p:nvSpPr>
        <p:spPr>
          <a:xfrm>
            <a:off x="6293987" y="2874309"/>
            <a:ext cx="4976506" cy="1427609"/>
          </a:xfrm>
          <a:prstGeom prst="rect">
            <a:avLst/>
          </a:prstGeom>
          <a:solidFill>
            <a:schemeClr val="tx2">
              <a:lumMod val="40000"/>
              <a:lumOff val="6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t>The encryption software is likely to have a way to verify that the cipher can only be translated with the right key </a:t>
            </a:r>
          </a:p>
        </p:txBody>
      </p:sp>
      <p:sp>
        <p:nvSpPr>
          <p:cNvPr id="6" name="Rounded Rectangle 5">
            <a:extLst>
              <a:ext uri="{FF2B5EF4-FFF2-40B4-BE49-F238E27FC236}">
                <a16:creationId xmlns:a16="http://schemas.microsoft.com/office/drawing/2014/main" id="{820FFD99-BEBF-3BBA-4887-719613134193}"/>
              </a:ext>
            </a:extLst>
          </p:cNvPr>
          <p:cNvSpPr/>
          <p:nvPr/>
        </p:nvSpPr>
        <p:spPr>
          <a:xfrm>
            <a:off x="406844" y="864917"/>
            <a:ext cx="2430816" cy="1696277"/>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Next you write a function to get to a large prime for encryption</a:t>
            </a:r>
          </a:p>
        </p:txBody>
      </p:sp>
      <p:sp>
        <p:nvSpPr>
          <p:cNvPr id="7" name="Rounded Rectangle 6">
            <a:extLst>
              <a:ext uri="{FF2B5EF4-FFF2-40B4-BE49-F238E27FC236}">
                <a16:creationId xmlns:a16="http://schemas.microsoft.com/office/drawing/2014/main" id="{5D17A6F2-5045-CE14-8808-8048FBC8D19C}"/>
              </a:ext>
            </a:extLst>
          </p:cNvPr>
          <p:cNvSpPr/>
          <p:nvPr/>
        </p:nvSpPr>
        <p:spPr>
          <a:xfrm>
            <a:off x="3064889" y="820511"/>
            <a:ext cx="3001869" cy="1666791"/>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Then you wish to confirm that it is a large enough prime</a:t>
            </a:r>
          </a:p>
        </p:txBody>
      </p:sp>
    </p:spTree>
    <p:extLst>
      <p:ext uri="{BB962C8B-B14F-4D97-AF65-F5344CB8AC3E}">
        <p14:creationId xmlns:p14="http://schemas.microsoft.com/office/powerpoint/2010/main" val="13559162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1CC4F-16D6-E895-AFBC-9A514D75E691}"/>
              </a:ext>
            </a:extLst>
          </p:cNvPr>
          <p:cNvSpPr>
            <a:spLocks noGrp="1"/>
          </p:cNvSpPr>
          <p:nvPr>
            <p:ph type="title"/>
          </p:nvPr>
        </p:nvSpPr>
        <p:spPr>
          <a:xfrm>
            <a:off x="406844" y="215753"/>
            <a:ext cx="11375136" cy="914400"/>
          </a:xfrm>
        </p:spPr>
        <p:txBody>
          <a:bodyPr/>
          <a:lstStyle/>
          <a:p>
            <a:r>
              <a:rPr lang="en-US" dirty="0"/>
              <a:t>How to Think About Building Tests</a:t>
            </a:r>
          </a:p>
        </p:txBody>
      </p:sp>
      <p:sp>
        <p:nvSpPr>
          <p:cNvPr id="4" name="Rounded Rectangle 3">
            <a:extLst>
              <a:ext uri="{FF2B5EF4-FFF2-40B4-BE49-F238E27FC236}">
                <a16:creationId xmlns:a16="http://schemas.microsoft.com/office/drawing/2014/main" id="{753DC160-4EC9-B8F8-2210-4AD51C69F727}"/>
              </a:ext>
            </a:extLst>
          </p:cNvPr>
          <p:cNvSpPr/>
          <p:nvPr/>
        </p:nvSpPr>
        <p:spPr>
          <a:xfrm>
            <a:off x="406844" y="2791910"/>
            <a:ext cx="2373788" cy="1696277"/>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Finally, you want to verify that it meets your encryption needs</a:t>
            </a:r>
          </a:p>
        </p:txBody>
      </p:sp>
      <p:sp>
        <p:nvSpPr>
          <p:cNvPr id="13" name="Rounded Rectangle 12">
            <a:extLst>
              <a:ext uri="{FF2B5EF4-FFF2-40B4-BE49-F238E27FC236}">
                <a16:creationId xmlns:a16="http://schemas.microsoft.com/office/drawing/2014/main" id="{8F952D7B-D792-0880-0C14-7941C8902919}"/>
              </a:ext>
            </a:extLst>
          </p:cNvPr>
          <p:cNvSpPr/>
          <p:nvPr/>
        </p:nvSpPr>
        <p:spPr>
          <a:xfrm>
            <a:off x="3064888" y="2786713"/>
            <a:ext cx="3001869" cy="1666791"/>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You integrate your new function with your encryption software</a:t>
            </a:r>
          </a:p>
        </p:txBody>
      </p:sp>
      <p:sp>
        <p:nvSpPr>
          <p:cNvPr id="14" name="Rectangle 13">
            <a:extLst>
              <a:ext uri="{FF2B5EF4-FFF2-40B4-BE49-F238E27FC236}">
                <a16:creationId xmlns:a16="http://schemas.microsoft.com/office/drawing/2014/main" id="{1F978CD3-CF5F-A8A1-483B-8479C73829B3}"/>
              </a:ext>
            </a:extLst>
          </p:cNvPr>
          <p:cNvSpPr/>
          <p:nvPr/>
        </p:nvSpPr>
        <p:spPr>
          <a:xfrm>
            <a:off x="6293987" y="918026"/>
            <a:ext cx="4976506" cy="1427609"/>
          </a:xfrm>
          <a:prstGeom prst="rect">
            <a:avLst/>
          </a:prstGeom>
          <a:solidFill>
            <a:schemeClr val="tx2">
              <a:lumMod val="40000"/>
              <a:lumOff val="6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t>So, you write another unit test that counts the number of digits in the prime</a:t>
            </a:r>
          </a:p>
        </p:txBody>
      </p:sp>
      <p:sp>
        <p:nvSpPr>
          <p:cNvPr id="17" name="TextBox 16">
            <a:extLst>
              <a:ext uri="{FF2B5EF4-FFF2-40B4-BE49-F238E27FC236}">
                <a16:creationId xmlns:a16="http://schemas.microsoft.com/office/drawing/2014/main" id="{AA0BA1E1-5374-FD6A-8F4E-24246BDA28A3}"/>
              </a:ext>
            </a:extLst>
          </p:cNvPr>
          <p:cNvSpPr txBox="1"/>
          <p:nvPr/>
        </p:nvSpPr>
        <p:spPr>
          <a:xfrm>
            <a:off x="1130110" y="4912247"/>
            <a:ext cx="9121599" cy="932563"/>
          </a:xfrm>
          <a:prstGeom prst="rect">
            <a:avLst/>
          </a:prstGeom>
          <a:noFill/>
        </p:spPr>
        <p:txBody>
          <a:bodyPr wrap="square" lIns="118872" tIns="91440" rIns="118872" bIns="91440" rtlCol="0" anchor="ctr" anchorCtr="0">
            <a:spAutoFit/>
          </a:bodyPr>
          <a:lstStyle/>
          <a:p>
            <a:pPr marL="285750" indent="-285750" algn="l">
              <a:lnSpc>
                <a:spcPct val="90000"/>
              </a:lnSpc>
              <a:buFont typeface="Arial" panose="020B0604020202020204" pitchFamily="34" charset="0"/>
              <a:buChar char="•"/>
            </a:pPr>
            <a:r>
              <a:rPr lang="en-US" dirty="0"/>
              <a:t>Now you have a more complex test that involves several correctly working components</a:t>
            </a:r>
          </a:p>
          <a:p>
            <a:pPr marL="285750" indent="-285750" algn="l">
              <a:lnSpc>
                <a:spcPct val="90000"/>
              </a:lnSpc>
              <a:buFont typeface="Arial" panose="020B0604020202020204" pitchFamily="34" charset="0"/>
              <a:buChar char="•"/>
            </a:pPr>
            <a:r>
              <a:rPr lang="en-US" dirty="0"/>
              <a:t>This is your “integration test”</a:t>
            </a:r>
          </a:p>
        </p:txBody>
      </p:sp>
      <p:sp>
        <p:nvSpPr>
          <p:cNvPr id="5" name="Rectangle 4">
            <a:extLst>
              <a:ext uri="{FF2B5EF4-FFF2-40B4-BE49-F238E27FC236}">
                <a16:creationId xmlns:a16="http://schemas.microsoft.com/office/drawing/2014/main" id="{648347E4-2A2D-9DC2-0D84-37E16DD6AAD7}"/>
              </a:ext>
            </a:extLst>
          </p:cNvPr>
          <p:cNvSpPr/>
          <p:nvPr/>
        </p:nvSpPr>
        <p:spPr>
          <a:xfrm>
            <a:off x="6293987" y="2874309"/>
            <a:ext cx="4976506" cy="1427609"/>
          </a:xfrm>
          <a:prstGeom prst="rect">
            <a:avLst/>
          </a:prstGeom>
          <a:solidFill>
            <a:schemeClr val="tx2">
              <a:lumMod val="40000"/>
              <a:lumOff val="6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t>The encryption software is likely to have a way to verify that the cipher can only be translated with the right key </a:t>
            </a:r>
          </a:p>
        </p:txBody>
      </p:sp>
      <p:sp>
        <p:nvSpPr>
          <p:cNvPr id="6" name="Rounded Rectangle 5">
            <a:extLst>
              <a:ext uri="{FF2B5EF4-FFF2-40B4-BE49-F238E27FC236}">
                <a16:creationId xmlns:a16="http://schemas.microsoft.com/office/drawing/2014/main" id="{0D608E29-31E7-E9CA-2DB4-6662B68CA624}"/>
              </a:ext>
            </a:extLst>
          </p:cNvPr>
          <p:cNvSpPr/>
          <p:nvPr/>
        </p:nvSpPr>
        <p:spPr>
          <a:xfrm>
            <a:off x="406844" y="864917"/>
            <a:ext cx="2430816" cy="1696277"/>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Next you write a function to get to a large prime for encryption</a:t>
            </a:r>
          </a:p>
        </p:txBody>
      </p:sp>
      <p:sp>
        <p:nvSpPr>
          <p:cNvPr id="7" name="Rounded Rectangle 6">
            <a:extLst>
              <a:ext uri="{FF2B5EF4-FFF2-40B4-BE49-F238E27FC236}">
                <a16:creationId xmlns:a16="http://schemas.microsoft.com/office/drawing/2014/main" id="{D723FA3C-E98E-202D-34A1-9D56EE64C3D6}"/>
              </a:ext>
            </a:extLst>
          </p:cNvPr>
          <p:cNvSpPr/>
          <p:nvPr/>
        </p:nvSpPr>
        <p:spPr>
          <a:xfrm>
            <a:off x="3064889" y="820511"/>
            <a:ext cx="3001869" cy="1666791"/>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Then you wish to confirm that it is a large enough prime</a:t>
            </a:r>
          </a:p>
        </p:txBody>
      </p:sp>
    </p:spTree>
    <p:extLst>
      <p:ext uri="{BB962C8B-B14F-4D97-AF65-F5344CB8AC3E}">
        <p14:creationId xmlns:p14="http://schemas.microsoft.com/office/powerpoint/2010/main" val="35379801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827E7-1B04-6059-DC21-F381E18D613E}"/>
              </a:ext>
            </a:extLst>
          </p:cNvPr>
          <p:cNvSpPr>
            <a:spLocks noGrp="1"/>
          </p:cNvSpPr>
          <p:nvPr>
            <p:ph type="title"/>
          </p:nvPr>
        </p:nvSpPr>
        <p:spPr/>
        <p:txBody>
          <a:bodyPr/>
          <a:lstStyle/>
          <a:p>
            <a:r>
              <a:rPr lang="en-US" dirty="0"/>
              <a:t>Types of Tests</a:t>
            </a:r>
          </a:p>
        </p:txBody>
      </p:sp>
      <p:sp>
        <p:nvSpPr>
          <p:cNvPr id="3" name="Content Placeholder 4">
            <a:extLst>
              <a:ext uri="{FF2B5EF4-FFF2-40B4-BE49-F238E27FC236}">
                <a16:creationId xmlns:a16="http://schemas.microsoft.com/office/drawing/2014/main" id="{A13C00BA-9C9C-7C0D-6354-5FA108DBBEAE}"/>
              </a:ext>
            </a:extLst>
          </p:cNvPr>
          <p:cNvSpPr txBox="1">
            <a:spLocks/>
          </p:cNvSpPr>
          <p:nvPr/>
        </p:nvSpPr>
        <p:spPr>
          <a:xfrm>
            <a:off x="776578" y="987948"/>
            <a:ext cx="10234322" cy="5458572"/>
          </a:xfrm>
          <a:prstGeom prst="rect">
            <a:avLst/>
          </a:prstGeom>
        </p:spPr>
        <p:txBody>
          <a:bodyPr>
            <a:normAutofit/>
          </a:bodyPr>
          <a:lstStyle>
            <a:lvl1pPr marL="230188" indent="-230188" algn="l" rtl="0" eaLnBrk="1" fontAlgn="base" hangingPunct="1">
              <a:lnSpc>
                <a:spcPct val="90000"/>
              </a:lnSpc>
              <a:spcBef>
                <a:spcPts val="1400"/>
              </a:spcBef>
              <a:spcAft>
                <a:spcPct val="0"/>
              </a:spcAft>
              <a:buClr>
                <a:schemeClr val="tx1"/>
              </a:buClr>
              <a:buFont typeface="Arial" charset="0"/>
              <a:buChar char="•"/>
              <a:defRPr sz="2400" kern="120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charset="0"/>
              <a:buNone/>
            </a:pPr>
            <a:endParaRPr lang="en-US" b="1" dirty="0"/>
          </a:p>
          <a:p>
            <a:pPr marL="0" indent="0">
              <a:buFont typeface="Arial" charset="0"/>
              <a:buNone/>
            </a:pPr>
            <a:r>
              <a:rPr lang="en-US" b="1" dirty="0"/>
              <a:t>Well known tests for enterprise software</a:t>
            </a:r>
          </a:p>
          <a:p>
            <a:pPr marL="0" indent="0">
              <a:buFont typeface="Arial" charset="0"/>
              <a:buNone/>
            </a:pPr>
            <a:endParaRPr lang="en-US" b="1" dirty="0"/>
          </a:p>
          <a:p>
            <a:r>
              <a:rPr lang="en-US" dirty="0"/>
              <a:t>Unit tests – verify a single function, extremely quick to run </a:t>
            </a:r>
          </a:p>
          <a:p>
            <a:r>
              <a:rPr lang="en-US" dirty="0"/>
              <a:t>Integration tests – verify functions working together</a:t>
            </a:r>
          </a:p>
          <a:p>
            <a:r>
              <a:rPr lang="en-US" dirty="0"/>
              <a:t>System tests – verify functionality of the entire software</a:t>
            </a:r>
          </a:p>
          <a:p>
            <a:r>
              <a:rPr lang="en-US" dirty="0"/>
              <a:t>Acceptance tests – verify that the client needs are met</a:t>
            </a:r>
          </a:p>
          <a:p>
            <a:r>
              <a:rPr lang="en-US" dirty="0"/>
              <a:t>Regression tests – verify that there is no degradation in code capabilities</a:t>
            </a:r>
          </a:p>
        </p:txBody>
      </p:sp>
    </p:spTree>
    <p:extLst>
      <p:ext uri="{BB962C8B-B14F-4D97-AF65-F5344CB8AC3E}">
        <p14:creationId xmlns:p14="http://schemas.microsoft.com/office/powerpoint/2010/main" val="11922229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827E7-1B04-6059-DC21-F381E18D613E}"/>
              </a:ext>
            </a:extLst>
          </p:cNvPr>
          <p:cNvSpPr>
            <a:spLocks noGrp="1"/>
          </p:cNvSpPr>
          <p:nvPr>
            <p:ph type="title"/>
          </p:nvPr>
        </p:nvSpPr>
        <p:spPr/>
        <p:txBody>
          <a:bodyPr/>
          <a:lstStyle/>
          <a:p>
            <a:r>
              <a:rPr lang="en-US" dirty="0"/>
              <a:t>Types of Tests</a:t>
            </a:r>
          </a:p>
        </p:txBody>
      </p:sp>
      <p:sp>
        <p:nvSpPr>
          <p:cNvPr id="3" name="Content Placeholder 4">
            <a:extLst>
              <a:ext uri="{FF2B5EF4-FFF2-40B4-BE49-F238E27FC236}">
                <a16:creationId xmlns:a16="http://schemas.microsoft.com/office/drawing/2014/main" id="{A13C00BA-9C9C-7C0D-6354-5FA108DBBEAE}"/>
              </a:ext>
            </a:extLst>
          </p:cNvPr>
          <p:cNvSpPr txBox="1">
            <a:spLocks/>
          </p:cNvSpPr>
          <p:nvPr/>
        </p:nvSpPr>
        <p:spPr>
          <a:xfrm>
            <a:off x="776578" y="987948"/>
            <a:ext cx="10234322" cy="5279501"/>
          </a:xfrm>
          <a:prstGeom prst="rect">
            <a:avLst/>
          </a:prstGeom>
        </p:spPr>
        <p:txBody>
          <a:bodyPr>
            <a:normAutofit/>
          </a:bodyPr>
          <a:lstStyle>
            <a:lvl1pPr marL="230188" indent="-230188" algn="l" rtl="0" eaLnBrk="1" fontAlgn="base" hangingPunct="1">
              <a:lnSpc>
                <a:spcPct val="90000"/>
              </a:lnSpc>
              <a:spcBef>
                <a:spcPts val="1400"/>
              </a:spcBef>
              <a:spcAft>
                <a:spcPct val="0"/>
              </a:spcAft>
              <a:buClr>
                <a:schemeClr val="tx1"/>
              </a:buClr>
              <a:buFont typeface="Arial" charset="0"/>
              <a:buChar char="•"/>
              <a:defRPr sz="2400" kern="120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charset="0"/>
              <a:buNone/>
            </a:pPr>
            <a:endParaRPr lang="en-US" b="1" dirty="0"/>
          </a:p>
          <a:p>
            <a:pPr marL="0" indent="0">
              <a:buFont typeface="Arial" charset="0"/>
              <a:buNone/>
            </a:pPr>
            <a:r>
              <a:rPr lang="en-US" b="1" dirty="0"/>
              <a:t>Additional types of tests needed for research software</a:t>
            </a:r>
          </a:p>
          <a:p>
            <a:r>
              <a:rPr lang="en-US" dirty="0"/>
              <a:t>Composite unit tests – are tests for specific functionalities and/or capabilities</a:t>
            </a:r>
          </a:p>
          <a:p>
            <a:r>
              <a:rPr lang="en-US" dirty="0"/>
              <a:t>Granular tests – are integration tests at various granularities verifying correct behavior of interoperating functional units</a:t>
            </a:r>
          </a:p>
          <a:p>
            <a:r>
              <a:rPr lang="en-US" dirty="0"/>
              <a:t>Restart tests – verify that a run can restart transparently from a checkpointed state</a:t>
            </a:r>
          </a:p>
          <a:p>
            <a:r>
              <a:rPr lang="en-US" dirty="0"/>
              <a:t>Performance tests – apply to high-performance computing codes, verify that there is no performance loss</a:t>
            </a:r>
          </a:p>
          <a:p>
            <a:endParaRPr lang="en-US" dirty="0"/>
          </a:p>
        </p:txBody>
      </p:sp>
    </p:spTree>
    <p:extLst>
      <p:ext uri="{BB962C8B-B14F-4D97-AF65-F5344CB8AC3E}">
        <p14:creationId xmlns:p14="http://schemas.microsoft.com/office/powerpoint/2010/main" val="14466910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8ACDB-1E73-1D50-6F84-4358DDFD89C5}"/>
              </a:ext>
            </a:extLst>
          </p:cNvPr>
          <p:cNvSpPr>
            <a:spLocks noGrp="1"/>
          </p:cNvSpPr>
          <p:nvPr>
            <p:ph type="title"/>
          </p:nvPr>
        </p:nvSpPr>
        <p:spPr/>
        <p:txBody>
          <a:bodyPr/>
          <a:lstStyle/>
          <a:p>
            <a:r>
              <a:rPr lang="en-US" dirty="0"/>
              <a:t>Test Driven Development</a:t>
            </a:r>
          </a:p>
        </p:txBody>
      </p:sp>
      <p:sp>
        <p:nvSpPr>
          <p:cNvPr id="3" name="Rounded Rectangle 2">
            <a:extLst>
              <a:ext uri="{FF2B5EF4-FFF2-40B4-BE49-F238E27FC236}">
                <a16:creationId xmlns:a16="http://schemas.microsoft.com/office/drawing/2014/main" id="{F0320A9A-C595-1142-D2C2-5FFFB1A21975}"/>
              </a:ext>
            </a:extLst>
          </p:cNvPr>
          <p:cNvSpPr/>
          <p:nvPr/>
        </p:nvSpPr>
        <p:spPr>
          <a:xfrm>
            <a:off x="2076450" y="1051560"/>
            <a:ext cx="1771650" cy="1188720"/>
          </a:xfrm>
          <a:prstGeom prst="roundRect">
            <a:avLst/>
          </a:prstGeom>
          <a:solidFill>
            <a:schemeClr val="accent3"/>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b="1" dirty="0">
                <a:solidFill>
                  <a:schemeClr val="tx2">
                    <a:lumMod val="75000"/>
                  </a:schemeClr>
                </a:solidFill>
              </a:rPr>
              <a:t>Consider new code</a:t>
            </a:r>
          </a:p>
        </p:txBody>
      </p:sp>
      <p:sp>
        <p:nvSpPr>
          <p:cNvPr id="4" name="Rounded Rectangle 3">
            <a:extLst>
              <a:ext uri="{FF2B5EF4-FFF2-40B4-BE49-F238E27FC236}">
                <a16:creationId xmlns:a16="http://schemas.microsoft.com/office/drawing/2014/main" id="{7A985171-2F55-532B-D096-45FF2DE0CDEB}"/>
              </a:ext>
            </a:extLst>
          </p:cNvPr>
          <p:cNvSpPr/>
          <p:nvPr/>
        </p:nvSpPr>
        <p:spPr>
          <a:xfrm>
            <a:off x="2000250" y="4343400"/>
            <a:ext cx="1771650" cy="1188720"/>
          </a:xfrm>
          <a:prstGeom prst="roundRect">
            <a:avLst/>
          </a:prstGeom>
          <a:solidFill>
            <a:schemeClr val="accent3"/>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b="1" dirty="0">
                <a:solidFill>
                  <a:schemeClr val="tx2">
                    <a:lumMod val="75000"/>
                  </a:schemeClr>
                </a:solidFill>
              </a:rPr>
              <a:t>Implement/modify  code</a:t>
            </a:r>
          </a:p>
        </p:txBody>
      </p:sp>
      <p:sp>
        <p:nvSpPr>
          <p:cNvPr id="5" name="Rounded Rectangle 4">
            <a:extLst>
              <a:ext uri="{FF2B5EF4-FFF2-40B4-BE49-F238E27FC236}">
                <a16:creationId xmlns:a16="http://schemas.microsoft.com/office/drawing/2014/main" id="{71D3B9DE-D6F6-FB25-45D7-6EEEDAF6CB7F}"/>
              </a:ext>
            </a:extLst>
          </p:cNvPr>
          <p:cNvSpPr/>
          <p:nvPr/>
        </p:nvSpPr>
        <p:spPr>
          <a:xfrm>
            <a:off x="3924300" y="2667000"/>
            <a:ext cx="1771650" cy="1188720"/>
          </a:xfrm>
          <a:prstGeom prst="roundRect">
            <a:avLst/>
          </a:prstGeom>
          <a:solidFill>
            <a:schemeClr val="accent3"/>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b="1" dirty="0">
                <a:solidFill>
                  <a:schemeClr val="tx2">
                    <a:lumMod val="75000"/>
                  </a:schemeClr>
                </a:solidFill>
              </a:rPr>
              <a:t>Write/</a:t>
            </a:r>
          </a:p>
          <a:p>
            <a:pPr algn="ctr">
              <a:lnSpc>
                <a:spcPct val="90000"/>
              </a:lnSpc>
            </a:pPr>
            <a:r>
              <a:rPr lang="en-US" sz="2000" b="1" dirty="0">
                <a:solidFill>
                  <a:schemeClr val="tx2">
                    <a:lumMod val="75000"/>
                  </a:schemeClr>
                </a:solidFill>
              </a:rPr>
              <a:t>modify  tests</a:t>
            </a:r>
          </a:p>
        </p:txBody>
      </p:sp>
      <p:sp>
        <p:nvSpPr>
          <p:cNvPr id="6" name="Rounded Rectangle 5">
            <a:extLst>
              <a:ext uri="{FF2B5EF4-FFF2-40B4-BE49-F238E27FC236}">
                <a16:creationId xmlns:a16="http://schemas.microsoft.com/office/drawing/2014/main" id="{5A956C32-DCAC-6933-3AF7-14CE11C99C52}"/>
              </a:ext>
            </a:extLst>
          </p:cNvPr>
          <p:cNvSpPr/>
          <p:nvPr/>
        </p:nvSpPr>
        <p:spPr>
          <a:xfrm>
            <a:off x="228600" y="2663190"/>
            <a:ext cx="1771650" cy="1188720"/>
          </a:xfrm>
          <a:prstGeom prst="roundRect">
            <a:avLst/>
          </a:prstGeom>
          <a:solidFill>
            <a:schemeClr val="accent3"/>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b="1" dirty="0">
                <a:solidFill>
                  <a:schemeClr val="tx2">
                    <a:lumMod val="75000"/>
                  </a:schemeClr>
                </a:solidFill>
              </a:rPr>
              <a:t>Test and modify code</a:t>
            </a:r>
          </a:p>
        </p:txBody>
      </p:sp>
      <p:cxnSp>
        <p:nvCxnSpPr>
          <p:cNvPr id="8" name="Curved Connector 7">
            <a:extLst>
              <a:ext uri="{FF2B5EF4-FFF2-40B4-BE49-F238E27FC236}">
                <a16:creationId xmlns:a16="http://schemas.microsoft.com/office/drawing/2014/main" id="{8260F4E3-2DCE-4116-E075-419B6CF087D2}"/>
              </a:ext>
            </a:extLst>
          </p:cNvPr>
          <p:cNvCxnSpPr>
            <a:stCxn id="3" idx="3"/>
            <a:endCxn id="5" idx="0"/>
          </p:cNvCxnSpPr>
          <p:nvPr/>
        </p:nvCxnSpPr>
        <p:spPr>
          <a:xfrm>
            <a:off x="3848100" y="1645920"/>
            <a:ext cx="962025" cy="1021080"/>
          </a:xfrm>
          <a:prstGeom prst="curvedConnector2">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10" name="Curved Connector 9">
            <a:extLst>
              <a:ext uri="{FF2B5EF4-FFF2-40B4-BE49-F238E27FC236}">
                <a16:creationId xmlns:a16="http://schemas.microsoft.com/office/drawing/2014/main" id="{584BBCA6-B07D-228B-E6D8-483EF9A7E773}"/>
              </a:ext>
            </a:extLst>
          </p:cNvPr>
          <p:cNvCxnSpPr>
            <a:stCxn id="5" idx="2"/>
            <a:endCxn id="4" idx="3"/>
          </p:cNvCxnSpPr>
          <p:nvPr/>
        </p:nvCxnSpPr>
        <p:spPr>
          <a:xfrm rot="5400000">
            <a:off x="3749993" y="3877628"/>
            <a:ext cx="1082040" cy="1038225"/>
          </a:xfrm>
          <a:prstGeom prst="curvedConnector2">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12" name="Curved Connector 11">
            <a:extLst>
              <a:ext uri="{FF2B5EF4-FFF2-40B4-BE49-F238E27FC236}">
                <a16:creationId xmlns:a16="http://schemas.microsoft.com/office/drawing/2014/main" id="{A3478A72-0613-7065-232E-ADDBDC8AA369}"/>
              </a:ext>
            </a:extLst>
          </p:cNvPr>
          <p:cNvCxnSpPr>
            <a:stCxn id="4" idx="1"/>
            <a:endCxn id="6" idx="2"/>
          </p:cNvCxnSpPr>
          <p:nvPr/>
        </p:nvCxnSpPr>
        <p:spPr>
          <a:xfrm rot="10800000">
            <a:off x="1114426" y="3851910"/>
            <a:ext cx="885825" cy="1085850"/>
          </a:xfrm>
          <a:prstGeom prst="curvedConnector2">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14" name="Curved Connector 13">
            <a:extLst>
              <a:ext uri="{FF2B5EF4-FFF2-40B4-BE49-F238E27FC236}">
                <a16:creationId xmlns:a16="http://schemas.microsoft.com/office/drawing/2014/main" id="{63D0BD54-C858-FC2E-4BC0-8E908CC9521B}"/>
              </a:ext>
            </a:extLst>
          </p:cNvPr>
          <p:cNvCxnSpPr>
            <a:stCxn id="6" idx="0"/>
            <a:endCxn id="3" idx="1"/>
          </p:cNvCxnSpPr>
          <p:nvPr/>
        </p:nvCxnSpPr>
        <p:spPr>
          <a:xfrm rot="5400000" flipH="1" flipV="1">
            <a:off x="1086802" y="1673543"/>
            <a:ext cx="1017270" cy="962025"/>
          </a:xfrm>
          <a:prstGeom prst="curvedConnector2">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16" name="Curved Connector 15">
            <a:extLst>
              <a:ext uri="{FF2B5EF4-FFF2-40B4-BE49-F238E27FC236}">
                <a16:creationId xmlns:a16="http://schemas.microsoft.com/office/drawing/2014/main" id="{8443CF51-A1E1-ADF9-D885-7A8A1F61C363}"/>
              </a:ext>
            </a:extLst>
          </p:cNvPr>
          <p:cNvCxnSpPr>
            <a:stCxn id="6" idx="3"/>
            <a:endCxn id="4" idx="0"/>
          </p:cNvCxnSpPr>
          <p:nvPr/>
        </p:nvCxnSpPr>
        <p:spPr>
          <a:xfrm>
            <a:off x="2000250" y="3257550"/>
            <a:ext cx="885825" cy="1085850"/>
          </a:xfrm>
          <a:prstGeom prst="curvedConnector2">
            <a:avLst/>
          </a:prstGeom>
          <a:ln w="41275">
            <a:tailEnd type="triangle"/>
          </a:ln>
        </p:spPr>
        <p:style>
          <a:lnRef idx="1">
            <a:schemeClr val="accent1"/>
          </a:lnRef>
          <a:fillRef idx="0">
            <a:schemeClr val="accent1"/>
          </a:fillRef>
          <a:effectRef idx="0">
            <a:schemeClr val="accent1"/>
          </a:effectRef>
          <a:fontRef idx="minor">
            <a:schemeClr val="tx1"/>
          </a:fontRef>
        </p:style>
      </p:cxnSp>
      <p:sp>
        <p:nvSpPr>
          <p:cNvPr id="17" name="Content Placeholder 4">
            <a:extLst>
              <a:ext uri="{FF2B5EF4-FFF2-40B4-BE49-F238E27FC236}">
                <a16:creationId xmlns:a16="http://schemas.microsoft.com/office/drawing/2014/main" id="{8C972055-7E45-0428-D771-2FCF9CF9DF67}"/>
              </a:ext>
            </a:extLst>
          </p:cNvPr>
          <p:cNvSpPr txBox="1">
            <a:spLocks/>
          </p:cNvSpPr>
          <p:nvPr/>
        </p:nvSpPr>
        <p:spPr>
          <a:xfrm>
            <a:off x="6157912" y="679132"/>
            <a:ext cx="4916488" cy="5156835"/>
          </a:xfrm>
          <a:prstGeom prst="rect">
            <a:avLst/>
          </a:prstGeom>
        </p:spPr>
        <p:txBody>
          <a:bodyPr>
            <a:normAutofit fontScale="92500"/>
          </a:bodyPr>
          <a:lstStyle>
            <a:lvl1pPr marL="230188" indent="-230188" algn="l" rtl="0" eaLnBrk="1" fontAlgn="base" hangingPunct="1">
              <a:lnSpc>
                <a:spcPct val="90000"/>
              </a:lnSpc>
              <a:spcBef>
                <a:spcPts val="1400"/>
              </a:spcBef>
              <a:spcAft>
                <a:spcPct val="0"/>
              </a:spcAft>
              <a:buClr>
                <a:schemeClr val="tx1"/>
              </a:buClr>
              <a:buFont typeface="Arial" charset="0"/>
              <a:buChar char="•"/>
              <a:defRPr sz="2400" kern="120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charset="0"/>
              <a:buNone/>
            </a:pPr>
            <a:endParaRPr lang="en-US" b="1" dirty="0"/>
          </a:p>
          <a:p>
            <a:r>
              <a:rPr lang="en-US" dirty="0"/>
              <a:t>Documented specifications and requirements of the code</a:t>
            </a:r>
          </a:p>
          <a:p>
            <a:r>
              <a:rPr lang="en-US" dirty="0"/>
              <a:t>Ensures that thought is given to what it means for the program to be correct, rather than just what the program should do</a:t>
            </a:r>
          </a:p>
          <a:p>
            <a:r>
              <a:rPr lang="en-US" dirty="0"/>
              <a:t>More efficient development cycle</a:t>
            </a:r>
          </a:p>
          <a:p>
            <a:r>
              <a:rPr lang="en-US" dirty="0"/>
              <a:t>Much less debugging</a:t>
            </a:r>
          </a:p>
          <a:p>
            <a:r>
              <a:rPr lang="en-US" dirty="0"/>
              <a:t>Requires:</a:t>
            </a:r>
          </a:p>
          <a:p>
            <a:pPr lvl="1"/>
            <a:r>
              <a:rPr lang="en-US" dirty="0"/>
              <a:t>Care in writing tests</a:t>
            </a:r>
          </a:p>
          <a:p>
            <a:pPr lvl="1"/>
            <a:r>
              <a:rPr lang="en-US" dirty="0"/>
              <a:t>Frequent running of tests </a:t>
            </a:r>
          </a:p>
          <a:p>
            <a:pPr lvl="1"/>
            <a:r>
              <a:rPr lang="en-US" dirty="0"/>
              <a:t>Wide adoption by development team</a:t>
            </a:r>
          </a:p>
          <a:p>
            <a:endParaRPr lang="en-US" dirty="0"/>
          </a:p>
          <a:p>
            <a:endParaRPr lang="en-US" dirty="0"/>
          </a:p>
        </p:txBody>
      </p:sp>
      <p:sp>
        <p:nvSpPr>
          <p:cNvPr id="7" name="Rectangle 6">
            <a:extLst>
              <a:ext uri="{FF2B5EF4-FFF2-40B4-BE49-F238E27FC236}">
                <a16:creationId xmlns:a16="http://schemas.microsoft.com/office/drawing/2014/main" id="{A08A0FE3-D267-CEC1-F31B-23801971F984}"/>
              </a:ext>
            </a:extLst>
          </p:cNvPr>
          <p:cNvSpPr/>
          <p:nvPr/>
        </p:nvSpPr>
        <p:spPr>
          <a:xfrm>
            <a:off x="522516" y="5721668"/>
            <a:ext cx="5902036" cy="896302"/>
          </a:xfrm>
          <a:prstGeom prst="rect">
            <a:avLst/>
          </a:prstGeom>
          <a:solidFill>
            <a:schemeClr val="accent5">
              <a:lumMod val="60000"/>
              <a:lumOff val="4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t>We will do TDD for our mesh/particle problem</a:t>
            </a:r>
          </a:p>
        </p:txBody>
      </p:sp>
    </p:spTree>
    <p:extLst>
      <p:ext uri="{BB962C8B-B14F-4D97-AF65-F5344CB8AC3E}">
        <p14:creationId xmlns:p14="http://schemas.microsoft.com/office/powerpoint/2010/main" val="36712083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26C9F-FDF8-2818-603D-2E88A5CF3E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6581AD-9CFC-65BC-07D6-59AFCDAE1F5F}"/>
              </a:ext>
            </a:extLst>
          </p:cNvPr>
          <p:cNvSpPr>
            <a:spLocks noGrp="1"/>
          </p:cNvSpPr>
          <p:nvPr>
            <p:ph type="title"/>
          </p:nvPr>
        </p:nvSpPr>
        <p:spPr/>
        <p:txBody>
          <a:bodyPr/>
          <a:lstStyle/>
          <a:p>
            <a:r>
              <a:rPr lang="en-US" dirty="0"/>
              <a:t>Test Driven Development</a:t>
            </a:r>
          </a:p>
        </p:txBody>
      </p:sp>
      <p:sp>
        <p:nvSpPr>
          <p:cNvPr id="3" name="Rounded Rectangle 2">
            <a:extLst>
              <a:ext uri="{FF2B5EF4-FFF2-40B4-BE49-F238E27FC236}">
                <a16:creationId xmlns:a16="http://schemas.microsoft.com/office/drawing/2014/main" id="{F6CCA052-18DD-658F-2AD5-D4594508F3D8}"/>
              </a:ext>
            </a:extLst>
          </p:cNvPr>
          <p:cNvSpPr/>
          <p:nvPr/>
        </p:nvSpPr>
        <p:spPr>
          <a:xfrm>
            <a:off x="2076450" y="1051560"/>
            <a:ext cx="1771650" cy="1188720"/>
          </a:xfrm>
          <a:prstGeom prst="roundRect">
            <a:avLst/>
          </a:prstGeom>
          <a:solidFill>
            <a:schemeClr val="accent3"/>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b="1" dirty="0">
                <a:solidFill>
                  <a:schemeClr val="tx2">
                    <a:lumMod val="75000"/>
                  </a:schemeClr>
                </a:solidFill>
              </a:rPr>
              <a:t>Consider new code</a:t>
            </a:r>
          </a:p>
        </p:txBody>
      </p:sp>
      <p:sp>
        <p:nvSpPr>
          <p:cNvPr id="4" name="Rounded Rectangle 3">
            <a:extLst>
              <a:ext uri="{FF2B5EF4-FFF2-40B4-BE49-F238E27FC236}">
                <a16:creationId xmlns:a16="http://schemas.microsoft.com/office/drawing/2014/main" id="{037FC1A5-BB4A-88E2-CF61-6D5A5A6AD855}"/>
              </a:ext>
            </a:extLst>
          </p:cNvPr>
          <p:cNvSpPr/>
          <p:nvPr/>
        </p:nvSpPr>
        <p:spPr>
          <a:xfrm>
            <a:off x="2000250" y="4343400"/>
            <a:ext cx="1771650" cy="1188720"/>
          </a:xfrm>
          <a:prstGeom prst="roundRect">
            <a:avLst/>
          </a:prstGeom>
          <a:solidFill>
            <a:schemeClr val="accent3"/>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b="1" dirty="0">
                <a:solidFill>
                  <a:schemeClr val="tx2">
                    <a:lumMod val="75000"/>
                  </a:schemeClr>
                </a:solidFill>
              </a:rPr>
              <a:t>Implement/modify  code</a:t>
            </a:r>
          </a:p>
        </p:txBody>
      </p:sp>
      <p:sp>
        <p:nvSpPr>
          <p:cNvPr id="5" name="Rounded Rectangle 4">
            <a:extLst>
              <a:ext uri="{FF2B5EF4-FFF2-40B4-BE49-F238E27FC236}">
                <a16:creationId xmlns:a16="http://schemas.microsoft.com/office/drawing/2014/main" id="{89D56294-85E9-809F-2CA0-D11879921072}"/>
              </a:ext>
            </a:extLst>
          </p:cNvPr>
          <p:cNvSpPr/>
          <p:nvPr/>
        </p:nvSpPr>
        <p:spPr>
          <a:xfrm>
            <a:off x="3924300" y="2667000"/>
            <a:ext cx="1771650" cy="1188720"/>
          </a:xfrm>
          <a:prstGeom prst="roundRect">
            <a:avLst/>
          </a:prstGeom>
          <a:solidFill>
            <a:schemeClr val="accent3"/>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b="1" dirty="0">
                <a:solidFill>
                  <a:schemeClr val="tx2">
                    <a:lumMod val="75000"/>
                  </a:schemeClr>
                </a:solidFill>
              </a:rPr>
              <a:t>Write/</a:t>
            </a:r>
          </a:p>
          <a:p>
            <a:pPr algn="ctr">
              <a:lnSpc>
                <a:spcPct val="90000"/>
              </a:lnSpc>
            </a:pPr>
            <a:r>
              <a:rPr lang="en-US" sz="2000" b="1" dirty="0">
                <a:solidFill>
                  <a:schemeClr val="tx2">
                    <a:lumMod val="75000"/>
                  </a:schemeClr>
                </a:solidFill>
              </a:rPr>
              <a:t>modify  tests</a:t>
            </a:r>
          </a:p>
        </p:txBody>
      </p:sp>
      <p:sp>
        <p:nvSpPr>
          <p:cNvPr id="6" name="Rounded Rectangle 5">
            <a:extLst>
              <a:ext uri="{FF2B5EF4-FFF2-40B4-BE49-F238E27FC236}">
                <a16:creationId xmlns:a16="http://schemas.microsoft.com/office/drawing/2014/main" id="{8A8487AE-FB84-114B-8350-F15F26C80570}"/>
              </a:ext>
            </a:extLst>
          </p:cNvPr>
          <p:cNvSpPr/>
          <p:nvPr/>
        </p:nvSpPr>
        <p:spPr>
          <a:xfrm>
            <a:off x="228600" y="2663190"/>
            <a:ext cx="1771650" cy="1188720"/>
          </a:xfrm>
          <a:prstGeom prst="roundRect">
            <a:avLst/>
          </a:prstGeom>
          <a:solidFill>
            <a:schemeClr val="accent3"/>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b="1" dirty="0">
                <a:solidFill>
                  <a:schemeClr val="tx2">
                    <a:lumMod val="75000"/>
                  </a:schemeClr>
                </a:solidFill>
              </a:rPr>
              <a:t>Test and modify code</a:t>
            </a:r>
          </a:p>
        </p:txBody>
      </p:sp>
      <p:cxnSp>
        <p:nvCxnSpPr>
          <p:cNvPr id="8" name="Curved Connector 7">
            <a:extLst>
              <a:ext uri="{FF2B5EF4-FFF2-40B4-BE49-F238E27FC236}">
                <a16:creationId xmlns:a16="http://schemas.microsoft.com/office/drawing/2014/main" id="{4C73FF2E-F2A0-7F4A-73CA-9771D5921DBA}"/>
              </a:ext>
            </a:extLst>
          </p:cNvPr>
          <p:cNvCxnSpPr>
            <a:stCxn id="3" idx="3"/>
            <a:endCxn id="5" idx="0"/>
          </p:cNvCxnSpPr>
          <p:nvPr/>
        </p:nvCxnSpPr>
        <p:spPr>
          <a:xfrm>
            <a:off x="3848100" y="1645920"/>
            <a:ext cx="962025" cy="1021080"/>
          </a:xfrm>
          <a:prstGeom prst="curvedConnector2">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10" name="Curved Connector 9">
            <a:extLst>
              <a:ext uri="{FF2B5EF4-FFF2-40B4-BE49-F238E27FC236}">
                <a16:creationId xmlns:a16="http://schemas.microsoft.com/office/drawing/2014/main" id="{3E30608C-5ED6-802D-A08B-7FBDE96939E5}"/>
              </a:ext>
            </a:extLst>
          </p:cNvPr>
          <p:cNvCxnSpPr>
            <a:stCxn id="5" idx="2"/>
            <a:endCxn id="4" idx="3"/>
          </p:cNvCxnSpPr>
          <p:nvPr/>
        </p:nvCxnSpPr>
        <p:spPr>
          <a:xfrm rot="5400000">
            <a:off x="3749993" y="3877628"/>
            <a:ext cx="1082040" cy="1038225"/>
          </a:xfrm>
          <a:prstGeom prst="curvedConnector2">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12" name="Curved Connector 11">
            <a:extLst>
              <a:ext uri="{FF2B5EF4-FFF2-40B4-BE49-F238E27FC236}">
                <a16:creationId xmlns:a16="http://schemas.microsoft.com/office/drawing/2014/main" id="{BA9ABE47-BC8B-391B-55D5-2364137B0A7C}"/>
              </a:ext>
            </a:extLst>
          </p:cNvPr>
          <p:cNvCxnSpPr>
            <a:stCxn id="4" idx="1"/>
            <a:endCxn id="6" idx="2"/>
          </p:cNvCxnSpPr>
          <p:nvPr/>
        </p:nvCxnSpPr>
        <p:spPr>
          <a:xfrm rot="10800000">
            <a:off x="1114426" y="3851910"/>
            <a:ext cx="885825" cy="1085850"/>
          </a:xfrm>
          <a:prstGeom prst="curvedConnector2">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14" name="Curved Connector 13">
            <a:extLst>
              <a:ext uri="{FF2B5EF4-FFF2-40B4-BE49-F238E27FC236}">
                <a16:creationId xmlns:a16="http://schemas.microsoft.com/office/drawing/2014/main" id="{F971724E-1F4F-2A47-C4A9-DBA02C002D3D}"/>
              </a:ext>
            </a:extLst>
          </p:cNvPr>
          <p:cNvCxnSpPr>
            <a:stCxn id="6" idx="0"/>
            <a:endCxn id="3" idx="1"/>
          </p:cNvCxnSpPr>
          <p:nvPr/>
        </p:nvCxnSpPr>
        <p:spPr>
          <a:xfrm rot="5400000" flipH="1" flipV="1">
            <a:off x="1086802" y="1673543"/>
            <a:ext cx="1017270" cy="962025"/>
          </a:xfrm>
          <a:prstGeom prst="curvedConnector2">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16" name="Curved Connector 15">
            <a:extLst>
              <a:ext uri="{FF2B5EF4-FFF2-40B4-BE49-F238E27FC236}">
                <a16:creationId xmlns:a16="http://schemas.microsoft.com/office/drawing/2014/main" id="{1577B89A-7F66-EEAC-5744-D91F5EEC381C}"/>
              </a:ext>
            </a:extLst>
          </p:cNvPr>
          <p:cNvCxnSpPr>
            <a:stCxn id="6" idx="3"/>
            <a:endCxn id="4" idx="0"/>
          </p:cNvCxnSpPr>
          <p:nvPr/>
        </p:nvCxnSpPr>
        <p:spPr>
          <a:xfrm>
            <a:off x="2000250" y="3257550"/>
            <a:ext cx="885825" cy="1085850"/>
          </a:xfrm>
          <a:prstGeom prst="curvedConnector2">
            <a:avLst/>
          </a:prstGeom>
          <a:ln w="41275">
            <a:tailEnd type="triangle"/>
          </a:ln>
        </p:spPr>
        <p:style>
          <a:lnRef idx="1">
            <a:schemeClr val="accent1"/>
          </a:lnRef>
          <a:fillRef idx="0">
            <a:schemeClr val="accent1"/>
          </a:fillRef>
          <a:effectRef idx="0">
            <a:schemeClr val="accent1"/>
          </a:effectRef>
          <a:fontRef idx="minor">
            <a:schemeClr val="tx1"/>
          </a:fontRef>
        </p:style>
      </p:cxnSp>
      <p:sp>
        <p:nvSpPr>
          <p:cNvPr id="17" name="Content Placeholder 4">
            <a:extLst>
              <a:ext uri="{FF2B5EF4-FFF2-40B4-BE49-F238E27FC236}">
                <a16:creationId xmlns:a16="http://schemas.microsoft.com/office/drawing/2014/main" id="{C1F8FEEA-11A2-630B-CDE7-13B0332A03EA}"/>
              </a:ext>
            </a:extLst>
          </p:cNvPr>
          <p:cNvSpPr txBox="1">
            <a:spLocks/>
          </p:cNvSpPr>
          <p:nvPr/>
        </p:nvSpPr>
        <p:spPr>
          <a:xfrm>
            <a:off x="6157912" y="679132"/>
            <a:ext cx="4916488" cy="5156835"/>
          </a:xfrm>
          <a:prstGeom prst="rect">
            <a:avLst/>
          </a:prstGeom>
        </p:spPr>
        <p:txBody>
          <a:bodyPr>
            <a:normAutofit fontScale="92500"/>
          </a:bodyPr>
          <a:lstStyle>
            <a:lvl1pPr marL="230188" indent="-230188" algn="l" rtl="0" eaLnBrk="1" fontAlgn="base" hangingPunct="1">
              <a:lnSpc>
                <a:spcPct val="90000"/>
              </a:lnSpc>
              <a:spcBef>
                <a:spcPts val="1400"/>
              </a:spcBef>
              <a:spcAft>
                <a:spcPct val="0"/>
              </a:spcAft>
              <a:buClr>
                <a:schemeClr val="tx1"/>
              </a:buClr>
              <a:buFont typeface="Arial" charset="0"/>
              <a:buChar char="•"/>
              <a:defRPr sz="2400" kern="120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charset="0"/>
              <a:buNone/>
            </a:pPr>
            <a:endParaRPr lang="en-US" b="1" dirty="0"/>
          </a:p>
          <a:p>
            <a:r>
              <a:rPr lang="en-US" dirty="0"/>
              <a:t>Documented specifications and requirements of the code</a:t>
            </a:r>
          </a:p>
          <a:p>
            <a:r>
              <a:rPr lang="en-US" dirty="0"/>
              <a:t>Ensures that thought is given to what it means for the program to be correct, rather than just what the program should do</a:t>
            </a:r>
          </a:p>
          <a:p>
            <a:r>
              <a:rPr lang="en-US" dirty="0"/>
              <a:t>More efficient development cycle</a:t>
            </a:r>
          </a:p>
          <a:p>
            <a:r>
              <a:rPr lang="en-US" dirty="0"/>
              <a:t>Much less debugging</a:t>
            </a:r>
          </a:p>
          <a:p>
            <a:r>
              <a:rPr lang="en-US" dirty="0"/>
              <a:t>Requires:</a:t>
            </a:r>
          </a:p>
          <a:p>
            <a:pPr lvl="1"/>
            <a:r>
              <a:rPr lang="en-US" dirty="0"/>
              <a:t>Care in writing tests</a:t>
            </a:r>
          </a:p>
          <a:p>
            <a:pPr lvl="1"/>
            <a:r>
              <a:rPr lang="en-US" dirty="0"/>
              <a:t>Frequent running of tests </a:t>
            </a:r>
          </a:p>
          <a:p>
            <a:pPr lvl="1"/>
            <a:r>
              <a:rPr lang="en-US" dirty="0"/>
              <a:t>Wide adoption by development team</a:t>
            </a:r>
          </a:p>
          <a:p>
            <a:endParaRPr lang="en-US" dirty="0"/>
          </a:p>
          <a:p>
            <a:endParaRPr lang="en-US" dirty="0"/>
          </a:p>
        </p:txBody>
      </p:sp>
      <p:sp>
        <p:nvSpPr>
          <p:cNvPr id="7" name="Rectangle 6">
            <a:extLst>
              <a:ext uri="{FF2B5EF4-FFF2-40B4-BE49-F238E27FC236}">
                <a16:creationId xmlns:a16="http://schemas.microsoft.com/office/drawing/2014/main" id="{7D796581-014C-2B25-078D-5038751F375B}"/>
              </a:ext>
            </a:extLst>
          </p:cNvPr>
          <p:cNvSpPr/>
          <p:nvPr/>
        </p:nvSpPr>
        <p:spPr>
          <a:xfrm>
            <a:off x="522516" y="5721668"/>
            <a:ext cx="5902036" cy="896302"/>
          </a:xfrm>
          <a:prstGeom prst="rect">
            <a:avLst/>
          </a:prstGeom>
          <a:solidFill>
            <a:schemeClr val="accent5">
              <a:lumMod val="60000"/>
              <a:lumOff val="4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t>We will do TDD for our mesh/particle problem</a:t>
            </a:r>
          </a:p>
        </p:txBody>
      </p:sp>
      <p:sp>
        <p:nvSpPr>
          <p:cNvPr id="9" name="Rectangle 8">
            <a:extLst>
              <a:ext uri="{FF2B5EF4-FFF2-40B4-BE49-F238E27FC236}">
                <a16:creationId xmlns:a16="http://schemas.microsoft.com/office/drawing/2014/main" id="{6017FC48-A07A-E07F-8C4A-396867041309}"/>
              </a:ext>
            </a:extLst>
          </p:cNvPr>
          <p:cNvSpPr/>
          <p:nvPr/>
        </p:nvSpPr>
        <p:spPr>
          <a:xfrm>
            <a:off x="6602680" y="5755068"/>
            <a:ext cx="5457268" cy="896302"/>
          </a:xfrm>
          <a:prstGeom prst="rect">
            <a:avLst/>
          </a:prstGeom>
          <a:solidFill>
            <a:schemeClr val="accent5">
              <a:lumMod val="60000"/>
              <a:lumOff val="4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t>Now we are really ready to use LLM</a:t>
            </a:r>
          </a:p>
        </p:txBody>
      </p:sp>
    </p:spTree>
    <p:extLst>
      <p:ext uri="{BB962C8B-B14F-4D97-AF65-F5344CB8AC3E}">
        <p14:creationId xmlns:p14="http://schemas.microsoft.com/office/powerpoint/2010/main" val="8273300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E5A57-D863-6A60-F35D-86B0BC184716}"/>
              </a:ext>
            </a:extLst>
          </p:cNvPr>
          <p:cNvSpPr>
            <a:spLocks noGrp="1"/>
          </p:cNvSpPr>
          <p:nvPr>
            <p:ph type="title"/>
          </p:nvPr>
        </p:nvSpPr>
        <p:spPr/>
        <p:txBody>
          <a:bodyPr/>
          <a:lstStyle/>
          <a:p>
            <a:r>
              <a:rPr lang="en-US" dirty="0"/>
              <a:t>Using LLM </a:t>
            </a:r>
          </a:p>
        </p:txBody>
      </p:sp>
      <p:sp>
        <p:nvSpPr>
          <p:cNvPr id="3" name="Content Placeholder 2">
            <a:extLst>
              <a:ext uri="{FF2B5EF4-FFF2-40B4-BE49-F238E27FC236}">
                <a16:creationId xmlns:a16="http://schemas.microsoft.com/office/drawing/2014/main" id="{40BD5AF5-4080-F485-9DBD-1F7A07A0901B}"/>
              </a:ext>
            </a:extLst>
          </p:cNvPr>
          <p:cNvSpPr>
            <a:spLocks noGrp="1"/>
          </p:cNvSpPr>
          <p:nvPr>
            <p:ph idx="1"/>
          </p:nvPr>
        </p:nvSpPr>
        <p:spPr>
          <a:xfrm>
            <a:off x="365760" y="1737359"/>
            <a:ext cx="11369809" cy="4531093"/>
          </a:xfrm>
        </p:spPr>
        <p:txBody>
          <a:bodyPr>
            <a:normAutofit/>
          </a:bodyPr>
          <a:lstStyle/>
          <a:p>
            <a:r>
              <a:rPr lang="en-US" dirty="0"/>
              <a:t>If you don’t have </a:t>
            </a:r>
            <a:r>
              <a:rPr lang="en-US" dirty="0" err="1"/>
              <a:t>CodeScribe</a:t>
            </a:r>
            <a:r>
              <a:rPr lang="en-US" dirty="0"/>
              <a:t> you can still use web-interface</a:t>
            </a:r>
          </a:p>
          <a:p>
            <a:pPr lvl="1"/>
            <a:r>
              <a:rPr lang="en-US" dirty="0"/>
              <a:t>For this example </a:t>
            </a:r>
            <a:r>
              <a:rPr lang="en-US" dirty="0" err="1"/>
              <a:t>CodeScribe</a:t>
            </a:r>
            <a:r>
              <a:rPr lang="en-US" dirty="0"/>
              <a:t> is not really needed.</a:t>
            </a:r>
          </a:p>
          <a:p>
            <a:r>
              <a:rPr lang="en-US" dirty="0"/>
              <a:t>In every step of the development we will explain the requirement in the prompt, ensure that the model has not misinterpreted any of the requirements, and then ask it to code.</a:t>
            </a:r>
          </a:p>
          <a:p>
            <a:r>
              <a:rPr lang="en-US" dirty="0"/>
              <a:t>For every function generated we will also ask for a test – in this case our tests are going to rely upon visual inspection by the human-in-the-loop – you.</a:t>
            </a:r>
          </a:p>
          <a:p>
            <a:r>
              <a:rPr lang="en-US" dirty="0"/>
              <a:t>We will provide a set of prompts as reference, but you should use your own.</a:t>
            </a:r>
          </a:p>
          <a:p>
            <a:r>
              <a:rPr lang="en-US" dirty="0"/>
              <a:t>For </a:t>
            </a:r>
            <a:r>
              <a:rPr lang="en-US" dirty="0" err="1"/>
              <a:t>CodeScribe</a:t>
            </a:r>
            <a:r>
              <a:rPr lang="en-US" dirty="0"/>
              <a:t> the prompts are appended in the </a:t>
            </a:r>
            <a:r>
              <a:rPr lang="en-US" dirty="0" err="1"/>
              <a:t>toml</a:t>
            </a:r>
            <a:r>
              <a:rPr lang="en-US" dirty="0"/>
              <a:t> file, in direct interaction you have to provide them one after another.</a:t>
            </a:r>
          </a:p>
          <a:p>
            <a:endParaRPr lang="en-US" dirty="0"/>
          </a:p>
          <a:p>
            <a:endParaRPr lang="en-US" dirty="0"/>
          </a:p>
        </p:txBody>
      </p:sp>
      <p:sp>
        <p:nvSpPr>
          <p:cNvPr id="4" name="Rectangle 3">
            <a:extLst>
              <a:ext uri="{FF2B5EF4-FFF2-40B4-BE49-F238E27FC236}">
                <a16:creationId xmlns:a16="http://schemas.microsoft.com/office/drawing/2014/main" id="{AE2AED9E-D4C3-34CF-8446-E39E7A9A0959}"/>
              </a:ext>
            </a:extLst>
          </p:cNvPr>
          <p:cNvSpPr/>
          <p:nvPr/>
        </p:nvSpPr>
        <p:spPr>
          <a:xfrm>
            <a:off x="715617" y="1002858"/>
            <a:ext cx="10336696" cy="646044"/>
          </a:xfrm>
          <a:prstGeom prst="rect">
            <a:avLst/>
          </a:prstGeom>
          <a:solidFill>
            <a:schemeClr val="accent5">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In the hands-on info, we had provided a tutorial for </a:t>
            </a:r>
            <a:r>
              <a:rPr lang="en-US" sz="2000" dirty="0" err="1">
                <a:solidFill>
                  <a:schemeClr val="bg1"/>
                </a:solidFill>
              </a:rPr>
              <a:t>CodeScribe</a:t>
            </a:r>
            <a:r>
              <a:rPr lang="en-US" sz="2000" dirty="0">
                <a:solidFill>
                  <a:schemeClr val="bg1"/>
                </a:solidFill>
              </a:rPr>
              <a:t>– getting and using it</a:t>
            </a:r>
          </a:p>
        </p:txBody>
      </p:sp>
    </p:spTree>
    <p:extLst>
      <p:ext uri="{BB962C8B-B14F-4D97-AF65-F5344CB8AC3E}">
        <p14:creationId xmlns:p14="http://schemas.microsoft.com/office/powerpoint/2010/main" val="35230004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DCA4D-81E7-4285-8358-329C8391DB92}"/>
              </a:ext>
            </a:extLst>
          </p:cNvPr>
          <p:cNvSpPr>
            <a:spLocks noGrp="1"/>
          </p:cNvSpPr>
          <p:nvPr>
            <p:ph type="title"/>
          </p:nvPr>
        </p:nvSpPr>
        <p:spPr/>
        <p:txBody>
          <a:bodyPr/>
          <a:lstStyle/>
          <a:p>
            <a:r>
              <a:rPr lang="en-US" dirty="0"/>
              <a:t>Code Generation Steps</a:t>
            </a:r>
          </a:p>
        </p:txBody>
      </p:sp>
      <p:sp>
        <p:nvSpPr>
          <p:cNvPr id="3" name="Content Placeholder 2">
            <a:extLst>
              <a:ext uri="{FF2B5EF4-FFF2-40B4-BE49-F238E27FC236}">
                <a16:creationId xmlns:a16="http://schemas.microsoft.com/office/drawing/2014/main" id="{BD153465-7212-EDD5-B45A-CD956DA689A2}"/>
              </a:ext>
            </a:extLst>
          </p:cNvPr>
          <p:cNvSpPr>
            <a:spLocks noGrp="1"/>
          </p:cNvSpPr>
          <p:nvPr>
            <p:ph idx="1"/>
          </p:nvPr>
        </p:nvSpPr>
        <p:spPr>
          <a:xfrm>
            <a:off x="916874" y="1793174"/>
            <a:ext cx="4913910" cy="4465122"/>
          </a:xfrm>
        </p:spPr>
        <p:txBody>
          <a:bodyPr>
            <a:normAutofit lnSpcReduction="10000"/>
          </a:bodyPr>
          <a:lstStyle/>
          <a:p>
            <a:r>
              <a:rPr lang="en-US" dirty="0"/>
              <a:t>Step 1 – Generate the mesh</a:t>
            </a:r>
          </a:p>
          <a:p>
            <a:pPr lvl="1"/>
            <a:r>
              <a:rPr lang="en-US" dirty="0"/>
              <a:t>Bounds &lt;0,0&gt; to &lt;64,64&gt;</a:t>
            </a:r>
          </a:p>
          <a:p>
            <a:pPr lvl="1"/>
            <a:r>
              <a:rPr lang="en-US" dirty="0"/>
              <a:t>Divided into 16 blocks, numbered in lexicographic order</a:t>
            </a:r>
          </a:p>
          <a:p>
            <a:pPr lvl="1"/>
            <a:r>
              <a:rPr lang="en-US" dirty="0"/>
              <a:t>Keep track of bounds for each block</a:t>
            </a:r>
          </a:p>
          <a:p>
            <a:r>
              <a:rPr lang="en-US" dirty="0"/>
              <a:t>Test needs</a:t>
            </a:r>
          </a:p>
          <a:p>
            <a:pPr lvl="1"/>
            <a:r>
              <a:rPr lang="en-US" dirty="0"/>
              <a:t>Function to print all the meta information about the mesh – domain bounds, blocks, bounds for each block and block identity</a:t>
            </a:r>
          </a:p>
          <a:p>
            <a:pPr lvl="1"/>
            <a:r>
              <a:rPr lang="en-US" dirty="0"/>
              <a:t>Human-in-the-loop checks the printed values against the figure on the right. </a:t>
            </a:r>
          </a:p>
          <a:p>
            <a:pPr marL="346075" lvl="1" indent="0">
              <a:buNone/>
            </a:pPr>
            <a:r>
              <a:rPr lang="en-US" dirty="0"/>
              <a:t> </a:t>
            </a:r>
          </a:p>
          <a:p>
            <a:pPr marL="0" indent="0">
              <a:buNone/>
            </a:pPr>
            <a:endParaRPr lang="en-US" dirty="0"/>
          </a:p>
          <a:p>
            <a:endParaRPr lang="en-US" dirty="0"/>
          </a:p>
        </p:txBody>
      </p:sp>
      <p:sp>
        <p:nvSpPr>
          <p:cNvPr id="4" name="Rectangle 3">
            <a:extLst>
              <a:ext uri="{FF2B5EF4-FFF2-40B4-BE49-F238E27FC236}">
                <a16:creationId xmlns:a16="http://schemas.microsoft.com/office/drawing/2014/main" id="{8D8AED24-2295-FC5B-613C-AA05618E7104}"/>
              </a:ext>
            </a:extLst>
          </p:cNvPr>
          <p:cNvSpPr/>
          <p:nvPr/>
        </p:nvSpPr>
        <p:spPr>
          <a:xfrm>
            <a:off x="665018" y="878774"/>
            <a:ext cx="10474037" cy="736270"/>
          </a:xfrm>
          <a:prstGeom prst="rect">
            <a:avLst/>
          </a:prstGeom>
          <a:solidFill>
            <a:schemeClr val="accent3"/>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If you wish to use your own methodology, feel free to do so</a:t>
            </a:r>
          </a:p>
        </p:txBody>
      </p:sp>
      <p:pic>
        <p:nvPicPr>
          <p:cNvPr id="6" name="Picture 5">
            <a:extLst>
              <a:ext uri="{FF2B5EF4-FFF2-40B4-BE49-F238E27FC236}">
                <a16:creationId xmlns:a16="http://schemas.microsoft.com/office/drawing/2014/main" id="{E8AD93FB-633E-B4B0-01D6-120C96CEE4F8}"/>
              </a:ext>
            </a:extLst>
          </p:cNvPr>
          <p:cNvPicPr>
            <a:picLocks noChangeAspect="1"/>
          </p:cNvPicPr>
          <p:nvPr/>
        </p:nvPicPr>
        <p:blipFill>
          <a:blip r:embed="rId2"/>
          <a:stretch>
            <a:fillRect/>
          </a:stretch>
        </p:blipFill>
        <p:spPr>
          <a:xfrm>
            <a:off x="6094412" y="1951709"/>
            <a:ext cx="5058785" cy="4623907"/>
          </a:xfrm>
          <a:prstGeom prst="rect">
            <a:avLst/>
          </a:prstGeom>
        </p:spPr>
      </p:pic>
    </p:spTree>
    <p:extLst>
      <p:ext uri="{BB962C8B-B14F-4D97-AF65-F5344CB8AC3E}">
        <p14:creationId xmlns:p14="http://schemas.microsoft.com/office/powerpoint/2010/main" val="7782555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2D43C-E534-AF99-A79D-7E214A9349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93DA4E-6804-9523-D3CA-1770586AE438}"/>
              </a:ext>
            </a:extLst>
          </p:cNvPr>
          <p:cNvSpPr>
            <a:spLocks noGrp="1"/>
          </p:cNvSpPr>
          <p:nvPr>
            <p:ph type="title"/>
          </p:nvPr>
        </p:nvSpPr>
        <p:spPr/>
        <p:txBody>
          <a:bodyPr/>
          <a:lstStyle/>
          <a:p>
            <a:r>
              <a:rPr lang="en-US" dirty="0"/>
              <a:t>Code Generation Steps</a:t>
            </a:r>
          </a:p>
        </p:txBody>
      </p:sp>
      <p:sp>
        <p:nvSpPr>
          <p:cNvPr id="3" name="Content Placeholder 2">
            <a:extLst>
              <a:ext uri="{FF2B5EF4-FFF2-40B4-BE49-F238E27FC236}">
                <a16:creationId xmlns:a16="http://schemas.microsoft.com/office/drawing/2014/main" id="{F1267266-F18F-D5F1-1DA3-E5209C299323}"/>
              </a:ext>
            </a:extLst>
          </p:cNvPr>
          <p:cNvSpPr>
            <a:spLocks noGrp="1"/>
          </p:cNvSpPr>
          <p:nvPr>
            <p:ph idx="1"/>
          </p:nvPr>
        </p:nvSpPr>
        <p:spPr>
          <a:xfrm>
            <a:off x="916874" y="1793173"/>
            <a:ext cx="4848976" cy="4833257"/>
          </a:xfrm>
        </p:spPr>
        <p:txBody>
          <a:bodyPr>
            <a:normAutofit fontScale="92500" lnSpcReduction="20000"/>
          </a:bodyPr>
          <a:lstStyle/>
          <a:p>
            <a:r>
              <a:rPr lang="en-US" dirty="0"/>
              <a:t>Step 2 – Place particles on the mesh</a:t>
            </a:r>
          </a:p>
          <a:p>
            <a:pPr lvl="1"/>
            <a:r>
              <a:rPr lang="en-US" dirty="0"/>
              <a:t>In this figure the lattice is 10x10</a:t>
            </a:r>
          </a:p>
          <a:p>
            <a:pPr lvl="1"/>
            <a:r>
              <a:rPr lang="en-US" dirty="0"/>
              <a:t>Each particle has 3 values connected to it. &lt;</a:t>
            </a:r>
            <a:r>
              <a:rPr lang="en-US" dirty="0" err="1"/>
              <a:t>x,y</a:t>
            </a:r>
            <a:r>
              <a:rPr lang="en-US" dirty="0"/>
              <a:t>&gt; position coordinates, and the block that it is associated with</a:t>
            </a:r>
          </a:p>
          <a:p>
            <a:pPr lvl="1"/>
            <a:r>
              <a:rPr lang="en-US" dirty="0"/>
              <a:t>Needs a function to find the block that overlaps with the particle position</a:t>
            </a:r>
          </a:p>
          <a:p>
            <a:r>
              <a:rPr lang="en-US" dirty="0"/>
              <a:t>Test needs</a:t>
            </a:r>
          </a:p>
          <a:p>
            <a:pPr lvl="1"/>
            <a:r>
              <a:rPr lang="en-US" dirty="0"/>
              <a:t>To test the function to find the right block user is prompted to give a position coordinate, the tester prints the block number, and the user verifies that it is correct </a:t>
            </a:r>
          </a:p>
          <a:p>
            <a:pPr lvl="1"/>
            <a:r>
              <a:rPr lang="en-US" dirty="0"/>
              <a:t>To test that particles are initialized correctly  process the entire list of particles and confirm that they are associated with the right block</a:t>
            </a:r>
          </a:p>
          <a:p>
            <a:pPr marL="346075" lvl="1" indent="0">
              <a:buNone/>
            </a:pPr>
            <a:r>
              <a:rPr lang="en-US" dirty="0"/>
              <a:t> </a:t>
            </a:r>
          </a:p>
          <a:p>
            <a:pPr marL="0" indent="0">
              <a:buNone/>
            </a:pPr>
            <a:endParaRPr lang="en-US" dirty="0"/>
          </a:p>
          <a:p>
            <a:endParaRPr lang="en-US" dirty="0"/>
          </a:p>
        </p:txBody>
      </p:sp>
      <p:pic>
        <p:nvPicPr>
          <p:cNvPr id="5" name="Picture 4">
            <a:extLst>
              <a:ext uri="{FF2B5EF4-FFF2-40B4-BE49-F238E27FC236}">
                <a16:creationId xmlns:a16="http://schemas.microsoft.com/office/drawing/2014/main" id="{C70AB5C1-802E-EBA1-577C-180AEA9DA93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65850" y="621582"/>
            <a:ext cx="6422975" cy="5636714"/>
          </a:xfrm>
          <a:prstGeom prst="rect">
            <a:avLst/>
          </a:prstGeom>
        </p:spPr>
      </p:pic>
    </p:spTree>
    <p:extLst>
      <p:ext uri="{BB962C8B-B14F-4D97-AF65-F5344CB8AC3E}">
        <p14:creationId xmlns:p14="http://schemas.microsoft.com/office/powerpoint/2010/main" val="26600552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9BDE29E-5BF5-E252-AAFE-8932DB71B782}"/>
              </a:ext>
            </a:extLst>
          </p:cNvPr>
          <p:cNvSpPr txBox="1"/>
          <p:nvPr/>
        </p:nvSpPr>
        <p:spPr>
          <a:xfrm>
            <a:off x="4214191" y="2673510"/>
            <a:ext cx="2670218" cy="517065"/>
          </a:xfrm>
          <a:prstGeom prst="rect">
            <a:avLst/>
          </a:prstGeom>
          <a:noFill/>
        </p:spPr>
        <p:txBody>
          <a:bodyPr wrap="none" lIns="118872" tIns="91440" rIns="118872" bIns="91440" rtlCol="0" anchor="ctr" anchorCtr="0">
            <a:spAutoFit/>
          </a:bodyPr>
          <a:lstStyle/>
          <a:p>
            <a:pPr algn="l">
              <a:lnSpc>
                <a:spcPct val="90000"/>
              </a:lnSpc>
            </a:pPr>
            <a:r>
              <a:rPr lang="en-US" sz="2400" dirty="0"/>
              <a:t>Switch to terminal</a:t>
            </a:r>
          </a:p>
        </p:txBody>
      </p:sp>
    </p:spTree>
    <p:extLst>
      <p:ext uri="{BB962C8B-B14F-4D97-AF65-F5344CB8AC3E}">
        <p14:creationId xmlns:p14="http://schemas.microsoft.com/office/powerpoint/2010/main" val="3274656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105AD-BD02-18EE-81DD-20B8E1374444}"/>
              </a:ext>
            </a:extLst>
          </p:cNvPr>
          <p:cNvSpPr>
            <a:spLocks noGrp="1"/>
          </p:cNvSpPr>
          <p:nvPr>
            <p:ph type="title"/>
          </p:nvPr>
        </p:nvSpPr>
        <p:spPr/>
        <p:txBody>
          <a:bodyPr/>
          <a:lstStyle/>
          <a:p>
            <a:r>
              <a:rPr lang="en-US" dirty="0"/>
              <a:t>Advanced Topic – Research Software Challenges in Design and Verification</a:t>
            </a:r>
          </a:p>
        </p:txBody>
      </p:sp>
      <p:sp>
        <p:nvSpPr>
          <p:cNvPr id="3" name="Content Placeholder 2">
            <a:extLst>
              <a:ext uri="{FF2B5EF4-FFF2-40B4-BE49-F238E27FC236}">
                <a16:creationId xmlns:a16="http://schemas.microsoft.com/office/drawing/2014/main" id="{1C191047-BA2C-4ACC-7601-558D32B2666C}"/>
              </a:ext>
            </a:extLst>
          </p:cNvPr>
          <p:cNvSpPr>
            <a:spLocks noGrp="1"/>
          </p:cNvSpPr>
          <p:nvPr>
            <p:ph idx="1"/>
          </p:nvPr>
        </p:nvSpPr>
        <p:spPr>
          <a:xfrm>
            <a:off x="6579490" y="1736215"/>
            <a:ext cx="5469833" cy="3886352"/>
          </a:xfrm>
        </p:spPr>
        <p:txBody>
          <a:bodyPr/>
          <a:lstStyle/>
          <a:p>
            <a:r>
              <a:rPr lang="en-US" dirty="0"/>
              <a:t>Many</a:t>
            </a:r>
            <a:r>
              <a:rPr lang="en-US" sz="2400" dirty="0"/>
              <a:t> parts of the model and software system can be under research</a:t>
            </a:r>
          </a:p>
          <a:p>
            <a:r>
              <a:rPr lang="en-US" sz="2400" dirty="0"/>
              <a:t>Requirements change throughout the lifecycle as knowledge grows</a:t>
            </a:r>
          </a:p>
          <a:p>
            <a:r>
              <a:rPr lang="en-US" sz="2400" dirty="0"/>
              <a:t>Verification complicated by floating point representation</a:t>
            </a:r>
          </a:p>
          <a:p>
            <a:r>
              <a:rPr lang="en-US" sz="2400" dirty="0"/>
              <a:t>Real world is messy</a:t>
            </a:r>
          </a:p>
          <a:p>
            <a:endParaRPr lang="en-US" dirty="0"/>
          </a:p>
        </p:txBody>
      </p:sp>
      <p:grpSp>
        <p:nvGrpSpPr>
          <p:cNvPr id="4" name="Group 3">
            <a:extLst>
              <a:ext uri="{FF2B5EF4-FFF2-40B4-BE49-F238E27FC236}">
                <a16:creationId xmlns:a16="http://schemas.microsoft.com/office/drawing/2014/main" id="{08CE7F93-E896-2CD5-EFC6-29F7E53784BF}"/>
              </a:ext>
            </a:extLst>
          </p:cNvPr>
          <p:cNvGrpSpPr/>
          <p:nvPr/>
        </p:nvGrpSpPr>
        <p:grpSpPr>
          <a:xfrm>
            <a:off x="269970" y="1687125"/>
            <a:ext cx="6067194" cy="2923603"/>
            <a:chOff x="2176244" y="1817067"/>
            <a:chExt cx="4826771" cy="3142742"/>
          </a:xfrm>
        </p:grpSpPr>
        <p:sp>
          <p:nvSpPr>
            <p:cNvPr id="5" name="Oval 4">
              <a:extLst>
                <a:ext uri="{FF2B5EF4-FFF2-40B4-BE49-F238E27FC236}">
                  <a16:creationId xmlns:a16="http://schemas.microsoft.com/office/drawing/2014/main" id="{17DE098D-2514-988B-969D-C0701269A8E3}"/>
                </a:ext>
              </a:extLst>
            </p:cNvPr>
            <p:cNvSpPr/>
            <p:nvPr/>
          </p:nvSpPr>
          <p:spPr>
            <a:xfrm>
              <a:off x="3546363" y="1817067"/>
              <a:ext cx="1996168" cy="1001146"/>
            </a:xfrm>
            <a:prstGeom prst="ellipse">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75" dirty="0">
                  <a:solidFill>
                    <a:schemeClr val="tx1"/>
                  </a:solidFill>
                </a:rPr>
                <a:t>More Scientific Understanding</a:t>
              </a:r>
            </a:p>
          </p:txBody>
        </p:sp>
        <p:sp>
          <p:nvSpPr>
            <p:cNvPr id="6" name="Oval 5">
              <a:extLst>
                <a:ext uri="{FF2B5EF4-FFF2-40B4-BE49-F238E27FC236}">
                  <a16:creationId xmlns:a16="http://schemas.microsoft.com/office/drawing/2014/main" id="{9969E183-5E7B-40C3-C69F-7E7F2E4B354D}"/>
                </a:ext>
              </a:extLst>
            </p:cNvPr>
            <p:cNvSpPr/>
            <p:nvPr/>
          </p:nvSpPr>
          <p:spPr>
            <a:xfrm>
              <a:off x="5349748" y="2965465"/>
              <a:ext cx="1653267" cy="1001145"/>
            </a:xfrm>
            <a:prstGeom prst="ellipse">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75" dirty="0">
                  <a:solidFill>
                    <a:schemeClr val="tx1"/>
                  </a:solidFill>
                </a:rPr>
                <a:t>Higher Fidelity</a:t>
              </a:r>
            </a:p>
            <a:p>
              <a:pPr algn="ctr"/>
              <a:r>
                <a:rPr lang="en-US" sz="1575" dirty="0">
                  <a:solidFill>
                    <a:schemeClr val="tx1"/>
                  </a:solidFill>
                </a:rPr>
                <a:t>Model</a:t>
              </a:r>
            </a:p>
          </p:txBody>
        </p:sp>
        <p:sp>
          <p:nvSpPr>
            <p:cNvPr id="7" name="Oval 6">
              <a:extLst>
                <a:ext uri="{FF2B5EF4-FFF2-40B4-BE49-F238E27FC236}">
                  <a16:creationId xmlns:a16="http://schemas.microsoft.com/office/drawing/2014/main" id="{C238C6E7-504F-D418-77ED-EE08B698678C}"/>
                </a:ext>
              </a:extLst>
            </p:cNvPr>
            <p:cNvSpPr/>
            <p:nvPr/>
          </p:nvSpPr>
          <p:spPr>
            <a:xfrm>
              <a:off x="3576979" y="3958663"/>
              <a:ext cx="1996168" cy="1001146"/>
            </a:xfrm>
            <a:prstGeom prst="ellipse">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75" dirty="0">
                  <a:solidFill>
                    <a:schemeClr val="tx1"/>
                  </a:solidFill>
                </a:rPr>
                <a:t>More Diverse</a:t>
              </a:r>
            </a:p>
            <a:p>
              <a:pPr algn="ctr"/>
              <a:r>
                <a:rPr lang="en-US" sz="1575" dirty="0">
                  <a:solidFill>
                    <a:schemeClr val="tx1"/>
                  </a:solidFill>
                </a:rPr>
                <a:t>Solvers</a:t>
              </a:r>
            </a:p>
          </p:txBody>
        </p:sp>
        <p:sp>
          <p:nvSpPr>
            <p:cNvPr id="8" name="Oval 7">
              <a:extLst>
                <a:ext uri="{FF2B5EF4-FFF2-40B4-BE49-F238E27FC236}">
                  <a16:creationId xmlns:a16="http://schemas.microsoft.com/office/drawing/2014/main" id="{359B4A93-46F5-F54C-4521-5F441780AE11}"/>
                </a:ext>
              </a:extLst>
            </p:cNvPr>
            <p:cNvSpPr/>
            <p:nvPr/>
          </p:nvSpPr>
          <p:spPr>
            <a:xfrm>
              <a:off x="2176244" y="2965464"/>
              <a:ext cx="1653268" cy="1001146"/>
            </a:xfrm>
            <a:prstGeom prst="ellipse">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75" dirty="0">
                  <a:solidFill>
                    <a:schemeClr val="tx1"/>
                  </a:solidFill>
                </a:rPr>
                <a:t>More Hardware </a:t>
              </a:r>
            </a:p>
            <a:p>
              <a:pPr algn="ctr"/>
              <a:r>
                <a:rPr lang="en-US" sz="1575" dirty="0">
                  <a:solidFill>
                    <a:schemeClr val="tx1"/>
                  </a:solidFill>
                </a:rPr>
                <a:t>Resources</a:t>
              </a:r>
            </a:p>
          </p:txBody>
        </p:sp>
        <p:cxnSp>
          <p:nvCxnSpPr>
            <p:cNvPr id="9" name="Curved Connector 8">
              <a:extLst>
                <a:ext uri="{FF2B5EF4-FFF2-40B4-BE49-F238E27FC236}">
                  <a16:creationId xmlns:a16="http://schemas.microsoft.com/office/drawing/2014/main" id="{7BD0B991-7672-F256-C0EE-5A822DB50ECE}"/>
                </a:ext>
              </a:extLst>
            </p:cNvPr>
            <p:cNvCxnSpPr>
              <a:cxnSpLocks/>
              <a:stCxn id="5" idx="6"/>
              <a:endCxn id="6" idx="0"/>
            </p:cNvCxnSpPr>
            <p:nvPr/>
          </p:nvCxnSpPr>
          <p:spPr>
            <a:xfrm>
              <a:off x="5542531" y="2317640"/>
              <a:ext cx="633851" cy="647825"/>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urved Connector 9">
              <a:extLst>
                <a:ext uri="{FF2B5EF4-FFF2-40B4-BE49-F238E27FC236}">
                  <a16:creationId xmlns:a16="http://schemas.microsoft.com/office/drawing/2014/main" id="{57370E24-CC2D-9094-10BF-6F1AF8F84DF2}"/>
                </a:ext>
              </a:extLst>
            </p:cNvPr>
            <p:cNvCxnSpPr>
              <a:cxnSpLocks/>
              <a:stCxn id="6" idx="4"/>
              <a:endCxn id="7" idx="6"/>
            </p:cNvCxnSpPr>
            <p:nvPr/>
          </p:nvCxnSpPr>
          <p:spPr>
            <a:xfrm rot="5400000">
              <a:off x="5628452" y="3911307"/>
              <a:ext cx="492626" cy="603235"/>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urved Connector 10">
              <a:extLst>
                <a:ext uri="{FF2B5EF4-FFF2-40B4-BE49-F238E27FC236}">
                  <a16:creationId xmlns:a16="http://schemas.microsoft.com/office/drawing/2014/main" id="{90D80839-06B2-CBCA-378D-51A31698D7F8}"/>
                </a:ext>
              </a:extLst>
            </p:cNvPr>
            <p:cNvCxnSpPr>
              <a:stCxn id="7" idx="2"/>
              <a:endCxn id="8" idx="4"/>
            </p:cNvCxnSpPr>
            <p:nvPr/>
          </p:nvCxnSpPr>
          <p:spPr>
            <a:xfrm rot="10800000">
              <a:off x="3002879" y="3966610"/>
              <a:ext cx="574101" cy="492627"/>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urved Connector 11">
              <a:extLst>
                <a:ext uri="{FF2B5EF4-FFF2-40B4-BE49-F238E27FC236}">
                  <a16:creationId xmlns:a16="http://schemas.microsoft.com/office/drawing/2014/main" id="{206A2679-94E8-A783-7065-88C4BC14CA92}"/>
                </a:ext>
              </a:extLst>
            </p:cNvPr>
            <p:cNvCxnSpPr>
              <a:stCxn id="8" idx="0"/>
              <a:endCxn id="5" idx="2"/>
            </p:cNvCxnSpPr>
            <p:nvPr/>
          </p:nvCxnSpPr>
          <p:spPr>
            <a:xfrm rot="5400000" flipH="1" flipV="1">
              <a:off x="2950708" y="2369811"/>
              <a:ext cx="647823" cy="543485"/>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79169E4E-6764-BFFF-F8D2-4D73E14EEF62}"/>
                </a:ext>
              </a:extLst>
            </p:cNvPr>
            <p:cNvCxnSpPr>
              <a:cxnSpLocks/>
              <a:stCxn id="6" idx="2"/>
              <a:endCxn id="8" idx="6"/>
            </p:cNvCxnSpPr>
            <p:nvPr/>
          </p:nvCxnSpPr>
          <p:spPr>
            <a:xfrm flipH="1" flipV="1">
              <a:off x="3829512" y="3466037"/>
              <a:ext cx="1520236" cy="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35193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5E0AA-F303-404B-99A5-8E88C983825E}"/>
              </a:ext>
            </a:extLst>
          </p:cNvPr>
          <p:cNvSpPr>
            <a:spLocks noGrp="1"/>
          </p:cNvSpPr>
          <p:nvPr>
            <p:ph type="title"/>
          </p:nvPr>
        </p:nvSpPr>
        <p:spPr>
          <a:xfrm>
            <a:off x="365760" y="205740"/>
            <a:ext cx="11372473" cy="914400"/>
          </a:xfrm>
        </p:spPr>
        <p:txBody>
          <a:bodyPr/>
          <a:lstStyle/>
          <a:p>
            <a:r>
              <a:rPr lang="en-US" dirty="0"/>
              <a:t>SOLID Principles Pose Some Difficulties</a:t>
            </a:r>
          </a:p>
        </p:txBody>
      </p:sp>
      <p:sp>
        <p:nvSpPr>
          <p:cNvPr id="4" name="Rounded Rectangle 3">
            <a:extLst>
              <a:ext uri="{FF2B5EF4-FFF2-40B4-BE49-F238E27FC236}">
                <a16:creationId xmlns:a16="http://schemas.microsoft.com/office/drawing/2014/main" id="{E5BBE479-B16C-D94F-BC94-6B60F0645C44}"/>
              </a:ext>
            </a:extLst>
          </p:cNvPr>
          <p:cNvSpPr/>
          <p:nvPr/>
        </p:nvSpPr>
        <p:spPr>
          <a:xfrm>
            <a:off x="109445" y="983597"/>
            <a:ext cx="5721178" cy="4868564"/>
          </a:xfrm>
          <a:prstGeom prst="roundRect">
            <a:avLst/>
          </a:prstGeom>
          <a:solidFill>
            <a:schemeClr val="accent2">
              <a:lumMod val="40000"/>
              <a:lumOff val="6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b="1" dirty="0">
              <a:solidFill>
                <a:schemeClr val="accent2">
                  <a:lumMod val="50000"/>
                </a:schemeClr>
              </a:solidFill>
            </a:endParaRPr>
          </a:p>
          <a:p>
            <a:pPr algn="ctr">
              <a:lnSpc>
                <a:spcPct val="90000"/>
              </a:lnSpc>
            </a:pPr>
            <a:endParaRPr lang="en-US" sz="2000" b="1" dirty="0">
              <a:solidFill>
                <a:schemeClr val="accent2">
                  <a:lumMod val="50000"/>
                </a:schemeClr>
              </a:solidFill>
            </a:endParaRPr>
          </a:p>
          <a:p>
            <a:pPr marL="342900" indent="-342900">
              <a:lnSpc>
                <a:spcPct val="90000"/>
              </a:lnSpc>
              <a:buFont typeface="Wingdings" pitchFamily="2" charset="2"/>
              <a:buChar char="q"/>
            </a:pPr>
            <a:r>
              <a:rPr lang="en-US" sz="2000" dirty="0">
                <a:solidFill>
                  <a:schemeClr val="accent5">
                    <a:lumMod val="50000"/>
                  </a:schemeClr>
                </a:solidFill>
              </a:rPr>
              <a:t>Single responsibility</a:t>
            </a:r>
          </a:p>
          <a:p>
            <a:pPr marL="800100" lvl="1" indent="-342900">
              <a:lnSpc>
                <a:spcPct val="90000"/>
              </a:lnSpc>
              <a:buFont typeface="Wingdings" pitchFamily="2" charset="2"/>
              <a:buChar char="q"/>
            </a:pPr>
            <a:r>
              <a:rPr lang="en-US" dirty="0">
                <a:solidFill>
                  <a:schemeClr val="accent5">
                    <a:lumMod val="50000"/>
                  </a:schemeClr>
                </a:solidFill>
              </a:rPr>
              <a:t>Class/method/function should do only one thing</a:t>
            </a:r>
          </a:p>
          <a:p>
            <a:pPr marL="342900" indent="-342900">
              <a:lnSpc>
                <a:spcPct val="90000"/>
              </a:lnSpc>
              <a:buFont typeface="Wingdings" pitchFamily="2" charset="2"/>
              <a:buChar char="q"/>
            </a:pPr>
            <a:r>
              <a:rPr lang="en-US" sz="2000" dirty="0">
                <a:solidFill>
                  <a:schemeClr val="accent5">
                    <a:lumMod val="50000"/>
                  </a:schemeClr>
                </a:solidFill>
              </a:rPr>
              <a:t>Open/closed</a:t>
            </a:r>
          </a:p>
          <a:p>
            <a:pPr marL="800100" lvl="1" indent="-342900">
              <a:lnSpc>
                <a:spcPct val="90000"/>
              </a:lnSpc>
              <a:buFont typeface="Wingdings" pitchFamily="2" charset="2"/>
              <a:buChar char="q"/>
            </a:pPr>
            <a:r>
              <a:rPr lang="en-US" dirty="0">
                <a:solidFill>
                  <a:schemeClr val="accent5">
                    <a:lumMod val="50000"/>
                  </a:schemeClr>
                </a:solidFill>
              </a:rPr>
              <a:t>Open for extension, close for modification</a:t>
            </a:r>
          </a:p>
          <a:p>
            <a:pPr marL="342900" indent="-342900">
              <a:lnSpc>
                <a:spcPct val="90000"/>
              </a:lnSpc>
              <a:buFont typeface="Wingdings" pitchFamily="2" charset="2"/>
              <a:buChar char="q"/>
            </a:pPr>
            <a:r>
              <a:rPr lang="en-US" sz="2000" dirty="0" err="1">
                <a:solidFill>
                  <a:schemeClr val="accent5">
                    <a:lumMod val="50000"/>
                  </a:schemeClr>
                </a:solidFill>
              </a:rPr>
              <a:t>Liskov</a:t>
            </a:r>
            <a:r>
              <a:rPr lang="en-US" sz="2000" dirty="0">
                <a:solidFill>
                  <a:schemeClr val="accent5">
                    <a:lumMod val="50000"/>
                  </a:schemeClr>
                </a:solidFill>
              </a:rPr>
              <a:t> substitution</a:t>
            </a:r>
          </a:p>
          <a:p>
            <a:pPr marL="800100" lvl="1" indent="-342900">
              <a:lnSpc>
                <a:spcPct val="90000"/>
              </a:lnSpc>
              <a:buFont typeface="Wingdings" pitchFamily="2" charset="2"/>
              <a:buChar char="q"/>
            </a:pPr>
            <a:r>
              <a:rPr lang="en-US" dirty="0">
                <a:solidFill>
                  <a:schemeClr val="accent5">
                    <a:lumMod val="50000"/>
                  </a:schemeClr>
                </a:solidFill>
              </a:rPr>
              <a:t>Implementations of an interface should give same result</a:t>
            </a:r>
          </a:p>
          <a:p>
            <a:pPr marL="342900" indent="-342900">
              <a:lnSpc>
                <a:spcPct val="90000"/>
              </a:lnSpc>
              <a:buFont typeface="Wingdings" pitchFamily="2" charset="2"/>
              <a:buChar char="q"/>
            </a:pPr>
            <a:r>
              <a:rPr lang="en-US" sz="2000" dirty="0">
                <a:solidFill>
                  <a:schemeClr val="accent5">
                    <a:lumMod val="50000"/>
                  </a:schemeClr>
                </a:solidFill>
              </a:rPr>
              <a:t>Interface segregation</a:t>
            </a:r>
          </a:p>
          <a:p>
            <a:pPr marL="800100" lvl="1" indent="-342900">
              <a:lnSpc>
                <a:spcPct val="90000"/>
              </a:lnSpc>
              <a:buFont typeface="Wingdings" pitchFamily="2" charset="2"/>
              <a:buChar char="q"/>
            </a:pPr>
            <a:r>
              <a:rPr lang="en-US" dirty="0">
                <a:solidFill>
                  <a:schemeClr val="accent5">
                    <a:lumMod val="50000"/>
                  </a:schemeClr>
                </a:solidFill>
              </a:rPr>
              <a:t>Client should not have to use methods it does not need</a:t>
            </a:r>
          </a:p>
          <a:p>
            <a:pPr marL="342900" indent="-342900">
              <a:lnSpc>
                <a:spcPct val="90000"/>
              </a:lnSpc>
              <a:buFont typeface="Wingdings" pitchFamily="2" charset="2"/>
              <a:buChar char="q"/>
            </a:pPr>
            <a:r>
              <a:rPr lang="en-US" sz="2000" dirty="0">
                <a:solidFill>
                  <a:schemeClr val="accent5">
                    <a:lumMod val="50000"/>
                  </a:schemeClr>
                </a:solidFill>
              </a:rPr>
              <a:t>Dependency inversion</a:t>
            </a:r>
          </a:p>
          <a:p>
            <a:pPr marL="800100" lvl="1" indent="-342900">
              <a:lnSpc>
                <a:spcPct val="90000"/>
              </a:lnSpc>
              <a:buFont typeface="Wingdings" pitchFamily="2" charset="2"/>
              <a:buChar char="q"/>
            </a:pPr>
            <a:r>
              <a:rPr lang="en-US" dirty="0">
                <a:solidFill>
                  <a:schemeClr val="accent5">
                    <a:lumMod val="50000"/>
                  </a:schemeClr>
                </a:solidFill>
              </a:rPr>
              <a:t>High level modules should not depend on low level modules, only on abstractions</a:t>
            </a:r>
          </a:p>
          <a:p>
            <a:pPr>
              <a:lnSpc>
                <a:spcPct val="90000"/>
              </a:lnSpc>
            </a:pPr>
            <a:r>
              <a:rPr lang="en-US" sz="2000" dirty="0">
                <a:solidFill>
                  <a:schemeClr val="accent5">
                    <a:lumMod val="50000"/>
                  </a:schemeClr>
                </a:solidFill>
              </a:rPr>
              <a:t> </a:t>
            </a:r>
          </a:p>
          <a:p>
            <a:pPr marL="342900" indent="-342900">
              <a:lnSpc>
                <a:spcPct val="90000"/>
              </a:lnSpc>
              <a:buFont typeface="Wingdings" pitchFamily="2" charset="2"/>
              <a:buChar char="q"/>
            </a:pPr>
            <a:endParaRPr lang="en-US" sz="2000" dirty="0">
              <a:solidFill>
                <a:schemeClr val="accent5">
                  <a:lumMod val="50000"/>
                </a:schemeClr>
              </a:solidFill>
            </a:endParaRPr>
          </a:p>
        </p:txBody>
      </p:sp>
      <p:sp>
        <p:nvSpPr>
          <p:cNvPr id="15" name="Rounded Rectangle 14">
            <a:extLst>
              <a:ext uri="{FF2B5EF4-FFF2-40B4-BE49-F238E27FC236}">
                <a16:creationId xmlns:a16="http://schemas.microsoft.com/office/drawing/2014/main" id="{818EF71D-D46F-983C-1736-1808FD8BCE62}"/>
              </a:ext>
            </a:extLst>
          </p:cNvPr>
          <p:cNvSpPr/>
          <p:nvPr/>
        </p:nvSpPr>
        <p:spPr>
          <a:xfrm>
            <a:off x="6017055" y="983596"/>
            <a:ext cx="5721178" cy="4948574"/>
          </a:xfrm>
          <a:prstGeom prst="roundRect">
            <a:avLst/>
          </a:prstGeom>
          <a:solidFill>
            <a:schemeClr val="accent2">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b="1" dirty="0">
              <a:solidFill>
                <a:schemeClr val="accent2">
                  <a:lumMod val="20000"/>
                  <a:lumOff val="80000"/>
                </a:schemeClr>
              </a:solidFill>
            </a:endParaRPr>
          </a:p>
          <a:p>
            <a:pPr marL="342900" indent="-342900" algn="l">
              <a:buFont typeface="Wingdings" pitchFamily="2" charset="2"/>
              <a:buChar char="q"/>
            </a:pPr>
            <a:r>
              <a:rPr lang="en-US" sz="2000" b="0" dirty="0">
                <a:solidFill>
                  <a:schemeClr val="accent2">
                    <a:lumMod val="20000"/>
                    <a:lumOff val="80000"/>
                  </a:schemeClr>
                </a:solidFill>
                <a:effectLst/>
                <a:latin typeface="sohne"/>
              </a:rPr>
              <a:t>Function calls hav</a:t>
            </a:r>
            <a:r>
              <a:rPr lang="en-US" sz="2000" dirty="0">
                <a:solidFill>
                  <a:schemeClr val="accent2">
                    <a:lumMod val="20000"/>
                    <a:lumOff val="80000"/>
                  </a:schemeClr>
                </a:solidFill>
                <a:latin typeface="sohne"/>
              </a:rPr>
              <a:t>e overheads</a:t>
            </a:r>
          </a:p>
          <a:p>
            <a:pPr marL="800100" lvl="1" indent="-342900">
              <a:buFont typeface="Wingdings" pitchFamily="2" charset="2"/>
              <a:buChar char="q"/>
            </a:pPr>
            <a:r>
              <a:rPr lang="en-US" b="0" dirty="0">
                <a:solidFill>
                  <a:schemeClr val="accent2">
                    <a:lumMod val="20000"/>
                    <a:lumOff val="80000"/>
                  </a:schemeClr>
                </a:solidFill>
                <a:effectLst/>
                <a:latin typeface="sohne"/>
              </a:rPr>
              <a:t>Performance matters – quick turnaround of results desirable</a:t>
            </a:r>
          </a:p>
          <a:p>
            <a:pPr marL="342900" indent="-342900" algn="l">
              <a:buFont typeface="Wingdings" pitchFamily="2" charset="2"/>
              <a:buChar char="q"/>
            </a:pPr>
            <a:r>
              <a:rPr lang="en-US" sz="2000" b="0" dirty="0">
                <a:solidFill>
                  <a:schemeClr val="accent2">
                    <a:lumMod val="20000"/>
                    <a:lumOff val="80000"/>
                  </a:schemeClr>
                </a:solidFill>
                <a:effectLst/>
                <a:latin typeface="sohne"/>
              </a:rPr>
              <a:t>New insights may cause modification</a:t>
            </a:r>
          </a:p>
          <a:p>
            <a:pPr marL="800100" lvl="1" indent="-342900">
              <a:buFont typeface="Wingdings" pitchFamily="2" charset="2"/>
              <a:buChar char="q"/>
            </a:pPr>
            <a:r>
              <a:rPr lang="en-US" dirty="0">
                <a:solidFill>
                  <a:schemeClr val="accent2">
                    <a:lumMod val="20000"/>
                    <a:lumOff val="80000"/>
                  </a:schemeClr>
                </a:solidFill>
                <a:latin typeface="sohne"/>
              </a:rPr>
              <a:t>May lead to unmaintainable code duplication</a:t>
            </a:r>
          </a:p>
          <a:p>
            <a:pPr marL="800100" lvl="1" indent="-342900">
              <a:buFont typeface="Wingdings" pitchFamily="2" charset="2"/>
              <a:buChar char="q"/>
            </a:pPr>
            <a:endParaRPr lang="en-US" b="0" dirty="0">
              <a:solidFill>
                <a:schemeClr val="accent2">
                  <a:lumMod val="20000"/>
                  <a:lumOff val="80000"/>
                </a:schemeClr>
              </a:solidFill>
              <a:effectLst/>
              <a:latin typeface="sohne"/>
            </a:endParaRPr>
          </a:p>
          <a:p>
            <a:pPr algn="l"/>
            <a:endParaRPr lang="en-US" sz="2000" b="0" dirty="0">
              <a:solidFill>
                <a:schemeClr val="accent2">
                  <a:lumMod val="20000"/>
                  <a:lumOff val="80000"/>
                </a:schemeClr>
              </a:solidFill>
              <a:effectLst/>
              <a:latin typeface="sohne"/>
            </a:endParaRPr>
          </a:p>
          <a:p>
            <a:pPr algn="l"/>
            <a:endParaRPr lang="en-US" sz="2000" b="0" dirty="0">
              <a:solidFill>
                <a:schemeClr val="accent2">
                  <a:lumMod val="20000"/>
                  <a:lumOff val="80000"/>
                </a:schemeClr>
              </a:solidFill>
              <a:effectLst/>
              <a:latin typeface="sohne"/>
            </a:endParaRPr>
          </a:p>
          <a:p>
            <a:pPr marL="342900" indent="-342900" algn="l">
              <a:buFont typeface="Wingdings" pitchFamily="2" charset="2"/>
              <a:buChar char="q"/>
            </a:pPr>
            <a:r>
              <a:rPr lang="en-US" sz="2000" dirty="0">
                <a:solidFill>
                  <a:schemeClr val="accent2">
                    <a:lumMod val="20000"/>
                    <a:lumOff val="80000"/>
                  </a:schemeClr>
                </a:solidFill>
                <a:latin typeface="sohne"/>
              </a:rPr>
              <a:t>It is not always possible to eliminate lateral interactions</a:t>
            </a:r>
            <a:endParaRPr lang="en-US" sz="2000" b="0" dirty="0">
              <a:solidFill>
                <a:schemeClr val="accent2">
                  <a:lumMod val="20000"/>
                  <a:lumOff val="80000"/>
                </a:schemeClr>
              </a:solidFill>
              <a:effectLst/>
              <a:latin typeface="sohne"/>
            </a:endParaRPr>
          </a:p>
          <a:p>
            <a:pPr marL="342900" indent="-342900">
              <a:lnSpc>
                <a:spcPct val="90000"/>
              </a:lnSpc>
              <a:buFont typeface="Wingdings" pitchFamily="2" charset="2"/>
              <a:buChar char="q"/>
            </a:pPr>
            <a:r>
              <a:rPr lang="en-US" sz="2000" dirty="0">
                <a:solidFill>
                  <a:schemeClr val="accent2">
                    <a:lumMod val="20000"/>
                    <a:lumOff val="80000"/>
                  </a:schemeClr>
                </a:solidFill>
              </a:rPr>
              <a:t>Not always possible </a:t>
            </a:r>
          </a:p>
          <a:p>
            <a:pPr marL="342900" indent="-342900">
              <a:lnSpc>
                <a:spcPct val="90000"/>
              </a:lnSpc>
              <a:buFont typeface="Wingdings" pitchFamily="2" charset="2"/>
              <a:buChar char="q"/>
            </a:pPr>
            <a:endParaRPr lang="en-US" sz="2000" dirty="0">
              <a:solidFill>
                <a:schemeClr val="accent2">
                  <a:lumMod val="20000"/>
                  <a:lumOff val="80000"/>
                </a:schemeClr>
              </a:solidFill>
            </a:endParaRPr>
          </a:p>
          <a:p>
            <a:pPr marL="342900" indent="-342900">
              <a:lnSpc>
                <a:spcPct val="90000"/>
              </a:lnSpc>
              <a:buFont typeface="Wingdings" pitchFamily="2" charset="2"/>
              <a:buChar char="q"/>
            </a:pPr>
            <a:endParaRPr lang="en-US" sz="2000" dirty="0">
              <a:solidFill>
                <a:schemeClr val="accent2">
                  <a:lumMod val="20000"/>
                  <a:lumOff val="80000"/>
                </a:schemeClr>
              </a:solidFill>
            </a:endParaRPr>
          </a:p>
          <a:p>
            <a:pPr marL="342900" indent="-342900">
              <a:lnSpc>
                <a:spcPct val="90000"/>
              </a:lnSpc>
              <a:buFont typeface="Wingdings" pitchFamily="2" charset="2"/>
              <a:buChar char="q"/>
            </a:pPr>
            <a:endParaRPr lang="en-US" sz="2000" dirty="0">
              <a:solidFill>
                <a:schemeClr val="accent2">
                  <a:lumMod val="20000"/>
                  <a:lumOff val="80000"/>
                </a:schemeClr>
              </a:solidFill>
            </a:endParaRPr>
          </a:p>
          <a:p>
            <a:pPr marL="342900" indent="-342900">
              <a:lnSpc>
                <a:spcPct val="90000"/>
              </a:lnSpc>
              <a:buFont typeface="Wingdings" pitchFamily="2" charset="2"/>
              <a:buChar char="q"/>
            </a:pPr>
            <a:endParaRPr lang="en-US" sz="2000" dirty="0">
              <a:solidFill>
                <a:schemeClr val="accent2">
                  <a:lumMod val="20000"/>
                  <a:lumOff val="80000"/>
                </a:schemeClr>
              </a:solidFill>
            </a:endParaRPr>
          </a:p>
        </p:txBody>
      </p:sp>
      <p:sp>
        <p:nvSpPr>
          <p:cNvPr id="16" name="Right Arrow 15">
            <a:extLst>
              <a:ext uri="{FF2B5EF4-FFF2-40B4-BE49-F238E27FC236}">
                <a16:creationId xmlns:a16="http://schemas.microsoft.com/office/drawing/2014/main" id="{AE72FB0F-483C-CBB5-550B-89C8865463BC}"/>
              </a:ext>
            </a:extLst>
          </p:cNvPr>
          <p:cNvSpPr/>
          <p:nvPr/>
        </p:nvSpPr>
        <p:spPr>
          <a:xfrm>
            <a:off x="5113943" y="1444414"/>
            <a:ext cx="903111" cy="250286"/>
          </a:xfrm>
          <a:prstGeom prst="rightArrow">
            <a:avLst/>
          </a:prstGeom>
          <a:solidFill>
            <a:schemeClr val="tx1"/>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17" name="Right Arrow 16">
            <a:extLst>
              <a:ext uri="{FF2B5EF4-FFF2-40B4-BE49-F238E27FC236}">
                <a16:creationId xmlns:a16="http://schemas.microsoft.com/office/drawing/2014/main" id="{F8A1BBE8-2381-BCF2-4AA3-9719C7A875F5}"/>
              </a:ext>
            </a:extLst>
          </p:cNvPr>
          <p:cNvSpPr/>
          <p:nvPr/>
        </p:nvSpPr>
        <p:spPr>
          <a:xfrm>
            <a:off x="5113942" y="2214303"/>
            <a:ext cx="903111" cy="250286"/>
          </a:xfrm>
          <a:prstGeom prst="rightArrow">
            <a:avLst/>
          </a:prstGeom>
          <a:solidFill>
            <a:schemeClr val="tx1"/>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18" name="Right Arrow 17">
            <a:extLst>
              <a:ext uri="{FF2B5EF4-FFF2-40B4-BE49-F238E27FC236}">
                <a16:creationId xmlns:a16="http://schemas.microsoft.com/office/drawing/2014/main" id="{64C7E6C2-0B1A-99DC-F18E-EE5B2E6FDB3B}"/>
              </a:ext>
            </a:extLst>
          </p:cNvPr>
          <p:cNvSpPr/>
          <p:nvPr/>
        </p:nvSpPr>
        <p:spPr>
          <a:xfrm>
            <a:off x="5131539" y="3839812"/>
            <a:ext cx="903111" cy="250286"/>
          </a:xfrm>
          <a:prstGeom prst="rightArrow">
            <a:avLst/>
          </a:prstGeom>
          <a:solidFill>
            <a:schemeClr val="tx1"/>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19" name="Right Arrow 18">
            <a:extLst>
              <a:ext uri="{FF2B5EF4-FFF2-40B4-BE49-F238E27FC236}">
                <a16:creationId xmlns:a16="http://schemas.microsoft.com/office/drawing/2014/main" id="{DADA3D3B-86CD-0F77-F175-8AB06EC3C1FD}"/>
              </a:ext>
            </a:extLst>
          </p:cNvPr>
          <p:cNvSpPr/>
          <p:nvPr/>
        </p:nvSpPr>
        <p:spPr>
          <a:xfrm>
            <a:off x="5113942" y="4484558"/>
            <a:ext cx="903111" cy="250286"/>
          </a:xfrm>
          <a:prstGeom prst="rightArrow">
            <a:avLst/>
          </a:prstGeom>
          <a:solidFill>
            <a:schemeClr val="tx1"/>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Tree>
    <p:extLst>
      <p:ext uri="{BB962C8B-B14F-4D97-AF65-F5344CB8AC3E}">
        <p14:creationId xmlns:p14="http://schemas.microsoft.com/office/powerpoint/2010/main" val="30373609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5E0AA-F303-404B-99A5-8E88C983825E}"/>
              </a:ext>
            </a:extLst>
          </p:cNvPr>
          <p:cNvSpPr>
            <a:spLocks noGrp="1"/>
          </p:cNvSpPr>
          <p:nvPr>
            <p:ph type="title"/>
          </p:nvPr>
        </p:nvSpPr>
        <p:spPr/>
        <p:txBody>
          <a:bodyPr/>
          <a:lstStyle/>
          <a:p>
            <a:r>
              <a:rPr lang="en-US" dirty="0"/>
              <a:t>Additional Considerations for Research Software</a:t>
            </a:r>
          </a:p>
        </p:txBody>
      </p:sp>
      <p:sp>
        <p:nvSpPr>
          <p:cNvPr id="4" name="Rounded Rectangle 3">
            <a:extLst>
              <a:ext uri="{FF2B5EF4-FFF2-40B4-BE49-F238E27FC236}">
                <a16:creationId xmlns:a16="http://schemas.microsoft.com/office/drawing/2014/main" id="{E5BBE479-B16C-D94F-BC94-6B60F0645C44}"/>
              </a:ext>
            </a:extLst>
          </p:cNvPr>
          <p:cNvSpPr/>
          <p:nvPr/>
        </p:nvSpPr>
        <p:spPr>
          <a:xfrm>
            <a:off x="64698" y="1037968"/>
            <a:ext cx="5721178" cy="5029200"/>
          </a:xfrm>
          <a:prstGeom prst="roundRect">
            <a:avLst/>
          </a:prstGeom>
          <a:solidFill>
            <a:schemeClr val="accent2">
              <a:lumMod val="40000"/>
              <a:lumOff val="6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b="1" dirty="0">
                <a:solidFill>
                  <a:schemeClr val="accent2">
                    <a:lumMod val="50000"/>
                  </a:schemeClr>
                </a:solidFill>
              </a:rPr>
              <a:t>Considerations</a:t>
            </a:r>
          </a:p>
          <a:p>
            <a:pPr>
              <a:lnSpc>
                <a:spcPct val="90000"/>
              </a:lnSpc>
            </a:pPr>
            <a:endParaRPr lang="en-US" sz="2000" b="1" dirty="0">
              <a:solidFill>
                <a:schemeClr val="accent2">
                  <a:lumMod val="50000"/>
                </a:schemeClr>
              </a:solidFill>
            </a:endParaRPr>
          </a:p>
          <a:p>
            <a:pPr marL="342900" indent="-342900">
              <a:lnSpc>
                <a:spcPct val="90000"/>
              </a:lnSpc>
              <a:buFont typeface="Wingdings" pitchFamily="2" charset="2"/>
              <a:buChar char="q"/>
            </a:pPr>
            <a:r>
              <a:rPr lang="en-US" sz="2000" dirty="0">
                <a:solidFill>
                  <a:schemeClr val="accent2">
                    <a:lumMod val="50000"/>
                  </a:schemeClr>
                </a:solidFill>
              </a:rPr>
              <a:t>Multidisciplinary </a:t>
            </a:r>
          </a:p>
          <a:p>
            <a:pPr marL="800100" lvl="1" indent="-342900">
              <a:lnSpc>
                <a:spcPct val="90000"/>
              </a:lnSpc>
              <a:buFont typeface="Wingdings" pitchFamily="2" charset="2"/>
              <a:buChar char="q"/>
            </a:pPr>
            <a:r>
              <a:rPr lang="en-US" sz="2000" dirty="0">
                <a:solidFill>
                  <a:schemeClr val="accent2">
                    <a:lumMod val="50000"/>
                  </a:schemeClr>
                </a:solidFill>
              </a:rPr>
              <a:t>Many facets of knowledge</a:t>
            </a:r>
          </a:p>
          <a:p>
            <a:pPr marL="800100" lvl="1" indent="-342900">
              <a:lnSpc>
                <a:spcPct val="90000"/>
              </a:lnSpc>
              <a:buFont typeface="Wingdings" pitchFamily="2" charset="2"/>
              <a:buChar char="q"/>
            </a:pPr>
            <a:r>
              <a:rPr lang="en-US" sz="2000" dirty="0">
                <a:solidFill>
                  <a:schemeClr val="accent2">
                    <a:lumMod val="50000"/>
                  </a:schemeClr>
                </a:solidFill>
              </a:rPr>
              <a:t>To know everything is not feasible</a:t>
            </a:r>
          </a:p>
          <a:p>
            <a:pPr marL="800100" lvl="1" indent="-342900">
              <a:lnSpc>
                <a:spcPct val="90000"/>
              </a:lnSpc>
              <a:buFont typeface="Wingdings" pitchFamily="2" charset="2"/>
              <a:buChar char="q"/>
            </a:pPr>
            <a:endParaRPr lang="en-US" sz="2000" dirty="0">
              <a:solidFill>
                <a:schemeClr val="accent2">
                  <a:lumMod val="50000"/>
                </a:schemeClr>
              </a:solidFill>
            </a:endParaRPr>
          </a:p>
          <a:p>
            <a:pPr marL="342900" indent="-342900">
              <a:lnSpc>
                <a:spcPct val="90000"/>
              </a:lnSpc>
              <a:buFont typeface="Wingdings" pitchFamily="2" charset="2"/>
              <a:buChar char="q"/>
            </a:pPr>
            <a:r>
              <a:rPr lang="en-US" sz="2000" dirty="0">
                <a:solidFill>
                  <a:schemeClr val="accent2">
                    <a:lumMod val="50000"/>
                  </a:schemeClr>
                </a:solidFill>
              </a:rPr>
              <a:t>Two types of code components</a:t>
            </a:r>
          </a:p>
          <a:p>
            <a:pPr marL="800100" lvl="1" indent="-342900">
              <a:lnSpc>
                <a:spcPct val="90000"/>
              </a:lnSpc>
              <a:buFont typeface="Wingdings" pitchFamily="2" charset="2"/>
              <a:buChar char="q"/>
            </a:pPr>
            <a:r>
              <a:rPr lang="en-US" sz="2000" dirty="0">
                <a:solidFill>
                  <a:schemeClr val="accent2">
                    <a:lumMod val="50000"/>
                  </a:schemeClr>
                </a:solidFill>
              </a:rPr>
              <a:t>Infrastructure (mesh/IO/runtime …)</a:t>
            </a:r>
          </a:p>
          <a:p>
            <a:pPr marL="800100" lvl="1" indent="-342900">
              <a:lnSpc>
                <a:spcPct val="90000"/>
              </a:lnSpc>
              <a:buFont typeface="Wingdings" pitchFamily="2" charset="2"/>
              <a:buChar char="q"/>
            </a:pPr>
            <a:r>
              <a:rPr lang="en-US" sz="2000" dirty="0">
                <a:solidFill>
                  <a:schemeClr val="accent2">
                    <a:lumMod val="50000"/>
                  </a:schemeClr>
                </a:solidFill>
              </a:rPr>
              <a:t>Science models (numerical methods)</a:t>
            </a:r>
          </a:p>
          <a:p>
            <a:pPr marL="800100" lvl="1" indent="-342900">
              <a:lnSpc>
                <a:spcPct val="90000"/>
              </a:lnSpc>
              <a:buFont typeface="Wingdings" pitchFamily="2" charset="2"/>
              <a:buChar char="q"/>
            </a:pPr>
            <a:endParaRPr lang="en-US" sz="2000" dirty="0">
              <a:solidFill>
                <a:schemeClr val="accent2">
                  <a:lumMod val="50000"/>
                </a:schemeClr>
              </a:solidFill>
            </a:endParaRPr>
          </a:p>
          <a:p>
            <a:pPr marL="342900" indent="-342900">
              <a:lnSpc>
                <a:spcPct val="90000"/>
              </a:lnSpc>
              <a:buFont typeface="Wingdings" pitchFamily="2" charset="2"/>
              <a:buChar char="q"/>
            </a:pPr>
            <a:r>
              <a:rPr lang="en-US" sz="2000" dirty="0">
                <a:solidFill>
                  <a:schemeClr val="accent2">
                    <a:lumMod val="50000"/>
                  </a:schemeClr>
                </a:solidFill>
              </a:rPr>
              <a:t>Codes grow</a:t>
            </a:r>
          </a:p>
          <a:p>
            <a:pPr marL="800100" lvl="1" indent="-342900">
              <a:lnSpc>
                <a:spcPct val="90000"/>
              </a:lnSpc>
              <a:buFont typeface="Wingdings" pitchFamily="2" charset="2"/>
              <a:buChar char="q"/>
            </a:pPr>
            <a:r>
              <a:rPr lang="en-US" sz="2000" dirty="0">
                <a:solidFill>
                  <a:schemeClr val="accent2">
                    <a:lumMod val="50000"/>
                  </a:schemeClr>
                </a:solidFill>
              </a:rPr>
              <a:t>New ideas =&gt; new features</a:t>
            </a:r>
          </a:p>
          <a:p>
            <a:pPr marL="800100" lvl="1" indent="-342900">
              <a:lnSpc>
                <a:spcPct val="90000"/>
              </a:lnSpc>
              <a:buFont typeface="Wingdings" pitchFamily="2" charset="2"/>
              <a:buChar char="q"/>
            </a:pPr>
            <a:r>
              <a:rPr lang="en-US" sz="2000" dirty="0">
                <a:solidFill>
                  <a:schemeClr val="accent2">
                    <a:lumMod val="50000"/>
                  </a:schemeClr>
                </a:solidFill>
              </a:rPr>
              <a:t>Code reuse by others </a:t>
            </a:r>
          </a:p>
          <a:p>
            <a:pPr marL="342900" indent="-342900">
              <a:lnSpc>
                <a:spcPct val="90000"/>
              </a:lnSpc>
              <a:buFont typeface="Wingdings" pitchFamily="2" charset="2"/>
              <a:buChar char="q"/>
            </a:pPr>
            <a:endParaRPr lang="en-US" sz="2000" dirty="0">
              <a:solidFill>
                <a:schemeClr val="accent5">
                  <a:lumMod val="50000"/>
                </a:schemeClr>
              </a:solidFill>
            </a:endParaRPr>
          </a:p>
          <a:p>
            <a:pPr marL="342900" indent="-342900">
              <a:lnSpc>
                <a:spcPct val="90000"/>
              </a:lnSpc>
              <a:buFont typeface="Wingdings" pitchFamily="2" charset="2"/>
              <a:buChar char="q"/>
            </a:pPr>
            <a:endParaRPr lang="en-US" sz="2000" dirty="0">
              <a:solidFill>
                <a:schemeClr val="accent5">
                  <a:lumMod val="50000"/>
                </a:schemeClr>
              </a:solidFill>
            </a:endParaRPr>
          </a:p>
        </p:txBody>
      </p:sp>
      <p:sp>
        <p:nvSpPr>
          <p:cNvPr id="5" name="Rounded Rectangle 4">
            <a:extLst>
              <a:ext uri="{FF2B5EF4-FFF2-40B4-BE49-F238E27FC236}">
                <a16:creationId xmlns:a16="http://schemas.microsoft.com/office/drawing/2014/main" id="{7DC70085-0AD4-7C45-92D4-B6627442268A}"/>
              </a:ext>
            </a:extLst>
          </p:cNvPr>
          <p:cNvSpPr/>
          <p:nvPr/>
        </p:nvSpPr>
        <p:spPr>
          <a:xfrm>
            <a:off x="5883736" y="1059936"/>
            <a:ext cx="5721178" cy="5029200"/>
          </a:xfrm>
          <a:prstGeom prst="roundRect">
            <a:avLst/>
          </a:prstGeom>
          <a:solidFill>
            <a:schemeClr val="accent2">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b="1" dirty="0">
                <a:solidFill>
                  <a:schemeClr val="accent2">
                    <a:lumMod val="40000"/>
                    <a:lumOff val="60000"/>
                  </a:schemeClr>
                </a:solidFill>
              </a:rPr>
              <a:t>Design Implications</a:t>
            </a:r>
          </a:p>
          <a:p>
            <a:pPr algn="ctr">
              <a:lnSpc>
                <a:spcPct val="90000"/>
              </a:lnSpc>
            </a:pPr>
            <a:endParaRPr lang="en-US" sz="2000" b="1" dirty="0">
              <a:solidFill>
                <a:schemeClr val="accent2">
                  <a:lumMod val="40000"/>
                  <a:lumOff val="60000"/>
                </a:schemeClr>
              </a:solidFill>
            </a:endParaRPr>
          </a:p>
          <a:p>
            <a:pPr marL="342900" indent="-342900">
              <a:lnSpc>
                <a:spcPct val="90000"/>
              </a:lnSpc>
              <a:buFont typeface="Wingdings" pitchFamily="2" charset="2"/>
              <a:buChar char="q"/>
            </a:pPr>
            <a:r>
              <a:rPr lang="en-US" sz="2000" dirty="0">
                <a:solidFill>
                  <a:schemeClr val="accent2">
                    <a:lumMod val="40000"/>
                    <a:lumOff val="60000"/>
                  </a:schemeClr>
                </a:solidFill>
              </a:rPr>
              <a:t>Separation of Concerns</a:t>
            </a:r>
          </a:p>
          <a:p>
            <a:pPr marL="800100" lvl="1" indent="-342900">
              <a:lnSpc>
                <a:spcPct val="90000"/>
              </a:lnSpc>
              <a:buFont typeface="Wingdings" pitchFamily="2" charset="2"/>
              <a:buChar char="q"/>
            </a:pPr>
            <a:r>
              <a:rPr lang="en-US" sz="2000" dirty="0">
                <a:solidFill>
                  <a:schemeClr val="accent2">
                    <a:lumMod val="40000"/>
                    <a:lumOff val="60000"/>
                  </a:schemeClr>
                </a:solidFill>
              </a:rPr>
              <a:t>Shield developers from unnecessary complexities</a:t>
            </a:r>
          </a:p>
          <a:p>
            <a:pPr marL="800100" lvl="1" indent="-342900">
              <a:lnSpc>
                <a:spcPct val="90000"/>
              </a:lnSpc>
              <a:buFont typeface="Wingdings" pitchFamily="2" charset="2"/>
              <a:buChar char="q"/>
            </a:pPr>
            <a:endParaRPr lang="en-US" sz="2000" dirty="0">
              <a:solidFill>
                <a:schemeClr val="accent2">
                  <a:lumMod val="40000"/>
                  <a:lumOff val="60000"/>
                </a:schemeClr>
              </a:solidFill>
            </a:endParaRPr>
          </a:p>
          <a:p>
            <a:pPr marL="342900" indent="-342900">
              <a:lnSpc>
                <a:spcPct val="90000"/>
              </a:lnSpc>
              <a:buFont typeface="Wingdings" pitchFamily="2" charset="2"/>
              <a:buChar char="q"/>
            </a:pPr>
            <a:r>
              <a:rPr lang="en-US" sz="2000" dirty="0">
                <a:solidFill>
                  <a:schemeClr val="accent2">
                    <a:lumMod val="40000"/>
                    <a:lumOff val="60000"/>
                  </a:schemeClr>
                </a:solidFill>
              </a:rPr>
              <a:t>Work with different lifecycles</a:t>
            </a:r>
          </a:p>
          <a:p>
            <a:pPr marL="800100" lvl="1" indent="-342900">
              <a:lnSpc>
                <a:spcPct val="90000"/>
              </a:lnSpc>
              <a:buFont typeface="Wingdings" pitchFamily="2" charset="2"/>
              <a:buChar char="q"/>
            </a:pPr>
            <a:r>
              <a:rPr lang="en-US" sz="2000" dirty="0">
                <a:solidFill>
                  <a:schemeClr val="accent2">
                    <a:lumMod val="40000"/>
                    <a:lumOff val="60000"/>
                  </a:schemeClr>
                </a:solidFill>
              </a:rPr>
              <a:t>Long-lasting vs quick changing</a:t>
            </a:r>
          </a:p>
          <a:p>
            <a:pPr marL="800100" lvl="1" indent="-342900">
              <a:lnSpc>
                <a:spcPct val="90000"/>
              </a:lnSpc>
              <a:buFont typeface="Wingdings" pitchFamily="2" charset="2"/>
              <a:buChar char="q"/>
            </a:pPr>
            <a:r>
              <a:rPr lang="en-US" sz="2000" dirty="0">
                <a:solidFill>
                  <a:schemeClr val="accent2">
                    <a:lumMod val="40000"/>
                    <a:lumOff val="60000"/>
                  </a:schemeClr>
                </a:solidFill>
              </a:rPr>
              <a:t>Logically vs mathematically complex</a:t>
            </a:r>
          </a:p>
          <a:p>
            <a:pPr marL="800100" lvl="1" indent="-342900">
              <a:lnSpc>
                <a:spcPct val="90000"/>
              </a:lnSpc>
              <a:buFont typeface="Wingdings" pitchFamily="2" charset="2"/>
              <a:buChar char="q"/>
            </a:pPr>
            <a:endParaRPr lang="en-US" sz="2000" dirty="0">
              <a:solidFill>
                <a:schemeClr val="accent2">
                  <a:lumMod val="40000"/>
                  <a:lumOff val="60000"/>
                </a:schemeClr>
              </a:solidFill>
            </a:endParaRPr>
          </a:p>
          <a:p>
            <a:pPr marL="342900" indent="-342900">
              <a:lnSpc>
                <a:spcPct val="90000"/>
              </a:lnSpc>
              <a:buFont typeface="Wingdings" pitchFamily="2" charset="2"/>
              <a:buChar char="q"/>
            </a:pPr>
            <a:r>
              <a:rPr lang="en-US" sz="2000" dirty="0">
                <a:solidFill>
                  <a:schemeClr val="accent2">
                    <a:lumMod val="40000"/>
                    <a:lumOff val="60000"/>
                  </a:schemeClr>
                </a:solidFill>
              </a:rPr>
              <a:t>Extensibility built in</a:t>
            </a:r>
          </a:p>
          <a:p>
            <a:pPr marL="800100" lvl="1" indent="-342900">
              <a:lnSpc>
                <a:spcPct val="90000"/>
              </a:lnSpc>
              <a:buFont typeface="Wingdings" pitchFamily="2" charset="2"/>
              <a:buChar char="q"/>
            </a:pPr>
            <a:r>
              <a:rPr lang="en-US" sz="2000" dirty="0">
                <a:solidFill>
                  <a:schemeClr val="accent2">
                    <a:lumMod val="40000"/>
                    <a:lumOff val="60000"/>
                  </a:schemeClr>
                </a:solidFill>
              </a:rPr>
              <a:t>Ease of adding new capabilities</a:t>
            </a:r>
          </a:p>
          <a:p>
            <a:pPr marL="800100" lvl="1" indent="-342900">
              <a:lnSpc>
                <a:spcPct val="90000"/>
              </a:lnSpc>
              <a:buFont typeface="Wingdings" pitchFamily="2" charset="2"/>
              <a:buChar char="q"/>
            </a:pPr>
            <a:r>
              <a:rPr lang="en-US" sz="2000" dirty="0">
                <a:solidFill>
                  <a:schemeClr val="accent2">
                    <a:lumMod val="40000"/>
                    <a:lumOff val="60000"/>
                  </a:schemeClr>
                </a:solidFill>
              </a:rPr>
              <a:t>Customizing existing capabilities</a:t>
            </a:r>
          </a:p>
          <a:p>
            <a:pPr marL="800100" lvl="1" indent="-342900">
              <a:lnSpc>
                <a:spcPct val="90000"/>
              </a:lnSpc>
              <a:buFont typeface="Wingdings" pitchFamily="2" charset="2"/>
              <a:buChar char="q"/>
            </a:pPr>
            <a:endParaRPr lang="en-US" sz="2000" dirty="0">
              <a:solidFill>
                <a:schemeClr val="accent5">
                  <a:lumMod val="40000"/>
                  <a:lumOff val="60000"/>
                </a:schemeClr>
              </a:solidFill>
            </a:endParaRPr>
          </a:p>
          <a:p>
            <a:pPr algn="ctr">
              <a:lnSpc>
                <a:spcPct val="90000"/>
              </a:lnSpc>
            </a:pPr>
            <a:endParaRPr lang="en-US" sz="2000" dirty="0">
              <a:solidFill>
                <a:schemeClr val="bg1"/>
              </a:solidFill>
            </a:endParaRPr>
          </a:p>
        </p:txBody>
      </p:sp>
      <p:sp>
        <p:nvSpPr>
          <p:cNvPr id="6" name="Right Arrow 5">
            <a:extLst>
              <a:ext uri="{FF2B5EF4-FFF2-40B4-BE49-F238E27FC236}">
                <a16:creationId xmlns:a16="http://schemas.microsoft.com/office/drawing/2014/main" id="{9B686305-E74E-EB44-801D-1C14E473827F}"/>
              </a:ext>
            </a:extLst>
          </p:cNvPr>
          <p:cNvSpPr/>
          <p:nvPr/>
        </p:nvSpPr>
        <p:spPr>
          <a:xfrm>
            <a:off x="5166497" y="2165025"/>
            <a:ext cx="1149179" cy="531341"/>
          </a:xfrm>
          <a:prstGeom prst="rightArrow">
            <a:avLst/>
          </a:prstGeom>
          <a:solidFill>
            <a:schemeClr val="accent2">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7" name="Right Arrow 6">
            <a:extLst>
              <a:ext uri="{FF2B5EF4-FFF2-40B4-BE49-F238E27FC236}">
                <a16:creationId xmlns:a16="http://schemas.microsoft.com/office/drawing/2014/main" id="{6CFC44B4-B5D6-5949-8DAA-80AD31E8FBAB}"/>
              </a:ext>
            </a:extLst>
          </p:cNvPr>
          <p:cNvSpPr/>
          <p:nvPr/>
        </p:nvSpPr>
        <p:spPr>
          <a:xfrm>
            <a:off x="5166496" y="3250154"/>
            <a:ext cx="1149179" cy="531341"/>
          </a:xfrm>
          <a:prstGeom prst="rightArrow">
            <a:avLst/>
          </a:prstGeom>
          <a:solidFill>
            <a:schemeClr val="accent2">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8" name="Right Arrow 7">
            <a:extLst>
              <a:ext uri="{FF2B5EF4-FFF2-40B4-BE49-F238E27FC236}">
                <a16:creationId xmlns:a16="http://schemas.microsoft.com/office/drawing/2014/main" id="{993BB968-F9E4-1E45-80DC-477122F2D2FF}"/>
              </a:ext>
            </a:extLst>
          </p:cNvPr>
          <p:cNvSpPr/>
          <p:nvPr/>
        </p:nvSpPr>
        <p:spPr>
          <a:xfrm>
            <a:off x="5071006" y="4360409"/>
            <a:ext cx="1149179" cy="531341"/>
          </a:xfrm>
          <a:prstGeom prst="rightArrow">
            <a:avLst/>
          </a:prstGeom>
          <a:solidFill>
            <a:schemeClr val="accent2">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Tree>
    <p:extLst>
      <p:ext uri="{BB962C8B-B14F-4D97-AF65-F5344CB8AC3E}">
        <p14:creationId xmlns:p14="http://schemas.microsoft.com/office/powerpoint/2010/main" val="7671288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6DD86-AD27-9B67-E405-85C81A481C24}"/>
              </a:ext>
            </a:extLst>
          </p:cNvPr>
          <p:cNvSpPr>
            <a:spLocks noGrp="1"/>
          </p:cNvSpPr>
          <p:nvPr>
            <p:ph type="title"/>
          </p:nvPr>
        </p:nvSpPr>
        <p:spPr/>
        <p:txBody>
          <a:bodyPr/>
          <a:lstStyle/>
          <a:p>
            <a:r>
              <a:rPr lang="en-US" dirty="0"/>
              <a:t>More Complex Application Design – </a:t>
            </a:r>
            <a:r>
              <a:rPr lang="en-US" dirty="0" err="1"/>
              <a:t>Sedov</a:t>
            </a:r>
            <a:r>
              <a:rPr lang="en-US" dirty="0"/>
              <a:t> Blast Wave</a:t>
            </a:r>
            <a:br>
              <a:rPr lang="en-US" dirty="0"/>
            </a:br>
            <a:endParaRPr lang="en-US" dirty="0"/>
          </a:p>
        </p:txBody>
      </p:sp>
      <p:pic>
        <p:nvPicPr>
          <p:cNvPr id="4" name="Picture 17" descr="&#10;sedov_pm3.png                                                  00238215Macintosh HD                   B746699A:">
            <a:extLst>
              <a:ext uri="{FF2B5EF4-FFF2-40B4-BE49-F238E27FC236}">
                <a16:creationId xmlns:a16="http://schemas.microsoft.com/office/drawing/2014/main" id="{525C433C-2878-C8D3-22FB-9973AF79D7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l="10492" t="8498" r="26555" b="9293"/>
          <a:stretch>
            <a:fillRect/>
          </a:stretch>
        </p:blipFill>
        <p:spPr bwMode="auto">
          <a:xfrm>
            <a:off x="1016654" y="3304089"/>
            <a:ext cx="3209089" cy="3142431"/>
          </a:xfrm>
          <a:prstGeom prst="rect">
            <a:avLst/>
          </a:prstGeom>
          <a:noFill/>
          <a:extLst>
            <a:ext uri="{909E8E84-426E-40dd-AFC4-6F175D3DCCD1}">
              <a14:hiddenFill xmlns="" xmlns:a14="http://schemas.microsoft.com/office/drawing/2010/main">
                <a:solidFill>
                  <a:srgbClr val="FFFFFF"/>
                </a:solidFill>
              </a14:hiddenFill>
            </a:ext>
          </a:extLst>
        </p:spPr>
      </p:pic>
      <p:sp>
        <p:nvSpPr>
          <p:cNvPr id="5" name="Rounded Rectangle 4">
            <a:extLst>
              <a:ext uri="{FF2B5EF4-FFF2-40B4-BE49-F238E27FC236}">
                <a16:creationId xmlns:a16="http://schemas.microsoft.com/office/drawing/2014/main" id="{9D73C691-1C18-175B-F248-2AD87723C5BF}"/>
              </a:ext>
            </a:extLst>
          </p:cNvPr>
          <p:cNvSpPr/>
          <p:nvPr/>
        </p:nvSpPr>
        <p:spPr>
          <a:xfrm>
            <a:off x="772160" y="1202813"/>
            <a:ext cx="5410266" cy="1698431"/>
          </a:xfrm>
          <a:prstGeom prst="roundRect">
            <a:avLst/>
          </a:prstGeom>
          <a:solidFill>
            <a:schemeClr val="accent5">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nSpc>
                <a:spcPct val="90000"/>
              </a:lnSpc>
            </a:pPr>
            <a:r>
              <a:rPr lang="en-US" sz="2000" b="1" dirty="0">
                <a:solidFill>
                  <a:schemeClr val="bg1"/>
                </a:solidFill>
              </a:rPr>
              <a:t>Description</a:t>
            </a:r>
          </a:p>
          <a:p>
            <a:pPr>
              <a:lnSpc>
                <a:spcPct val="90000"/>
              </a:lnSpc>
            </a:pPr>
            <a:endParaRPr lang="en-US" sz="2000" b="1" dirty="0">
              <a:solidFill>
                <a:schemeClr val="bg1"/>
              </a:solidFill>
            </a:endParaRPr>
          </a:p>
          <a:p>
            <a:pPr>
              <a:lnSpc>
                <a:spcPct val="90000"/>
              </a:lnSpc>
            </a:pPr>
            <a:r>
              <a:rPr lang="en-US" sz="2000" dirty="0">
                <a:solidFill>
                  <a:schemeClr val="bg1"/>
                </a:solidFill>
              </a:rPr>
              <a:t>High pressure at the center cause a shock to moves out in a circle. High resolution is needed only at and near the shock</a:t>
            </a:r>
          </a:p>
        </p:txBody>
      </p:sp>
      <p:sp>
        <p:nvSpPr>
          <p:cNvPr id="6" name="Content Placeholder 2">
            <a:extLst>
              <a:ext uri="{FF2B5EF4-FFF2-40B4-BE49-F238E27FC236}">
                <a16:creationId xmlns:a16="http://schemas.microsoft.com/office/drawing/2014/main" id="{DF01B2E5-4098-B6B1-3360-034A76C375FA}"/>
              </a:ext>
            </a:extLst>
          </p:cNvPr>
          <p:cNvSpPr>
            <a:spLocks noGrp="1"/>
          </p:cNvSpPr>
          <p:nvPr>
            <p:ph idx="1"/>
          </p:nvPr>
        </p:nvSpPr>
        <p:spPr>
          <a:xfrm>
            <a:off x="6467743" y="1123343"/>
            <a:ext cx="4985173" cy="4611314"/>
          </a:xfrm>
        </p:spPr>
        <p:txBody>
          <a:bodyPr/>
          <a:lstStyle/>
          <a:p>
            <a:pPr marL="0" indent="0" algn="ctr">
              <a:buNone/>
            </a:pPr>
            <a:r>
              <a:rPr lang="en-US" b="1" dirty="0"/>
              <a:t>Requirements </a:t>
            </a:r>
          </a:p>
          <a:p>
            <a:r>
              <a:rPr lang="en-US" dirty="0"/>
              <a:t>Adaptive mesh refinement</a:t>
            </a:r>
          </a:p>
          <a:p>
            <a:pPr lvl="1"/>
            <a:r>
              <a:rPr lang="en-US" dirty="0"/>
              <a:t>Easiest with finite volume methods</a:t>
            </a:r>
          </a:p>
          <a:p>
            <a:r>
              <a:rPr lang="en-US" dirty="0"/>
              <a:t>Driver</a:t>
            </a:r>
          </a:p>
          <a:p>
            <a:r>
              <a:rPr lang="en-US" dirty="0"/>
              <a:t>I/O</a:t>
            </a:r>
          </a:p>
          <a:p>
            <a:r>
              <a:rPr lang="en-US" dirty="0"/>
              <a:t>Initial condition</a:t>
            </a:r>
          </a:p>
          <a:p>
            <a:r>
              <a:rPr lang="en-US" dirty="0"/>
              <a:t>Boundary condition</a:t>
            </a:r>
          </a:p>
          <a:p>
            <a:r>
              <a:rPr lang="en-US" dirty="0"/>
              <a:t>Shock Hydrodynamics</a:t>
            </a:r>
          </a:p>
          <a:p>
            <a:r>
              <a:rPr lang="en-US" dirty="0"/>
              <a:t>Ideal gas equation of state</a:t>
            </a:r>
          </a:p>
          <a:p>
            <a:r>
              <a:rPr lang="en-US" dirty="0"/>
              <a:t>Method of verification</a:t>
            </a:r>
          </a:p>
          <a:p>
            <a:pPr lvl="1"/>
            <a:endParaRPr lang="en-US" dirty="0"/>
          </a:p>
          <a:p>
            <a:pPr marL="684212" lvl="2" indent="0">
              <a:buNone/>
            </a:pPr>
            <a:endParaRPr lang="en-US" dirty="0"/>
          </a:p>
          <a:p>
            <a:pPr lvl="1"/>
            <a:endParaRPr lang="en-US" dirty="0"/>
          </a:p>
        </p:txBody>
      </p:sp>
    </p:spTree>
    <p:extLst>
      <p:ext uri="{BB962C8B-B14F-4D97-AF65-F5344CB8AC3E}">
        <p14:creationId xmlns:p14="http://schemas.microsoft.com/office/powerpoint/2010/main" val="31518042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3AE14-E448-7BB2-D527-0B26AA17C5EE}"/>
              </a:ext>
            </a:extLst>
          </p:cNvPr>
          <p:cNvSpPr>
            <a:spLocks noGrp="1"/>
          </p:cNvSpPr>
          <p:nvPr>
            <p:ph type="title"/>
          </p:nvPr>
        </p:nvSpPr>
        <p:spPr/>
        <p:txBody>
          <a:bodyPr/>
          <a:lstStyle/>
          <a:p>
            <a:r>
              <a:rPr lang="en-US" dirty="0"/>
              <a:t>Deeper Dive into Requirements</a:t>
            </a:r>
          </a:p>
        </p:txBody>
      </p:sp>
      <p:sp>
        <p:nvSpPr>
          <p:cNvPr id="3" name="Content Placeholder 2">
            <a:extLst>
              <a:ext uri="{FF2B5EF4-FFF2-40B4-BE49-F238E27FC236}">
                <a16:creationId xmlns:a16="http://schemas.microsoft.com/office/drawing/2014/main" id="{7234CC62-0743-7AB7-1EC0-AD6705540627}"/>
              </a:ext>
            </a:extLst>
          </p:cNvPr>
          <p:cNvSpPr>
            <a:spLocks noGrp="1"/>
          </p:cNvSpPr>
          <p:nvPr>
            <p:ph idx="1"/>
          </p:nvPr>
        </p:nvSpPr>
        <p:spPr>
          <a:xfrm>
            <a:off x="450592" y="1229359"/>
            <a:ext cx="10273852" cy="5137573"/>
          </a:xfrm>
        </p:spPr>
        <p:txBody>
          <a:bodyPr/>
          <a:lstStyle/>
          <a:p>
            <a:r>
              <a:rPr lang="en-US" dirty="0"/>
              <a:t>Adaptive mesh refinement </a:t>
            </a:r>
            <a:r>
              <a:rPr lang="en-US" dirty="0">
                <a:sym typeface="Wingdings" panose="05000000000000000000" pitchFamily="2" charset="2"/>
              </a:rPr>
              <a:t></a:t>
            </a:r>
            <a:r>
              <a:rPr lang="en-US" dirty="0"/>
              <a:t> divide domain into blocks</a:t>
            </a:r>
          </a:p>
          <a:p>
            <a:pPr lvl="1"/>
            <a:r>
              <a:rPr lang="en-US" dirty="0"/>
              <a:t>Blocks need halos to be filled with values from neighbors or boundary conditions</a:t>
            </a:r>
          </a:p>
          <a:p>
            <a:pPr lvl="2"/>
            <a:r>
              <a:rPr lang="en-US" dirty="0"/>
              <a:t>At fine-coarse boundaries there is interpolation and restriction</a:t>
            </a:r>
          </a:p>
          <a:p>
            <a:pPr lvl="1"/>
            <a:r>
              <a:rPr lang="en-US" dirty="0"/>
              <a:t>Blocks are dynamic, go in and out of existence</a:t>
            </a:r>
          </a:p>
          <a:p>
            <a:pPr lvl="1"/>
            <a:r>
              <a:rPr lang="en-US" dirty="0"/>
              <a:t>Conservation needs reconciliation at fine-coarse boundaries</a:t>
            </a:r>
          </a:p>
          <a:p>
            <a:r>
              <a:rPr lang="en-US" dirty="0"/>
              <a:t>Shock hydrodynamics</a:t>
            </a:r>
          </a:p>
          <a:p>
            <a:pPr lvl="1"/>
            <a:r>
              <a:rPr lang="en-US" dirty="0"/>
              <a:t>Solver for Euler’s equations at discontinuities</a:t>
            </a:r>
          </a:p>
          <a:p>
            <a:pPr lvl="1"/>
            <a:r>
              <a:rPr lang="en-US" dirty="0"/>
              <a:t>EOS provides closure</a:t>
            </a:r>
          </a:p>
          <a:p>
            <a:pPr lvl="1"/>
            <a:r>
              <a:rPr lang="en-US" dirty="0"/>
              <a:t>Riemann solver</a:t>
            </a:r>
          </a:p>
          <a:p>
            <a:pPr lvl="1"/>
            <a:r>
              <a:rPr lang="en-US" dirty="0"/>
              <a:t>Halo cells are fine-coarse boundaries need EOS after interpolation</a:t>
            </a:r>
          </a:p>
          <a:p>
            <a:r>
              <a:rPr lang="en-US" dirty="0"/>
              <a:t>Method of verification</a:t>
            </a:r>
          </a:p>
          <a:p>
            <a:pPr lvl="1"/>
            <a:r>
              <a:rPr lang="en-US" dirty="0"/>
              <a:t>An indirect way of checking – shock distance traveled can be computed analytically</a:t>
            </a:r>
          </a:p>
          <a:p>
            <a:endParaRPr lang="en-US" dirty="0"/>
          </a:p>
        </p:txBody>
      </p:sp>
    </p:spTree>
    <p:extLst>
      <p:ext uri="{BB962C8B-B14F-4D97-AF65-F5344CB8AC3E}">
        <p14:creationId xmlns:p14="http://schemas.microsoft.com/office/powerpoint/2010/main" val="7683146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C7C93-979B-EF55-4109-2B0A4F2C2D71}"/>
              </a:ext>
            </a:extLst>
          </p:cNvPr>
          <p:cNvSpPr>
            <a:spLocks noGrp="1"/>
          </p:cNvSpPr>
          <p:nvPr>
            <p:ph type="title"/>
          </p:nvPr>
        </p:nvSpPr>
        <p:spPr/>
        <p:txBody>
          <a:bodyPr/>
          <a:lstStyle/>
          <a:p>
            <a:r>
              <a:rPr lang="en-US" dirty="0"/>
              <a:t>Components</a:t>
            </a:r>
          </a:p>
        </p:txBody>
      </p:sp>
      <p:sp>
        <p:nvSpPr>
          <p:cNvPr id="3" name="Content Placeholder 2">
            <a:extLst>
              <a:ext uri="{FF2B5EF4-FFF2-40B4-BE49-F238E27FC236}">
                <a16:creationId xmlns:a16="http://schemas.microsoft.com/office/drawing/2014/main" id="{C8AA873F-398D-29B2-A7D6-B628F8F14EEC}"/>
              </a:ext>
            </a:extLst>
          </p:cNvPr>
          <p:cNvSpPr>
            <a:spLocks noGrp="1"/>
          </p:cNvSpPr>
          <p:nvPr>
            <p:ph idx="1"/>
          </p:nvPr>
        </p:nvSpPr>
        <p:spPr>
          <a:xfrm>
            <a:off x="5848794" y="417223"/>
            <a:ext cx="5686237" cy="4736045"/>
          </a:xfrm>
        </p:spPr>
        <p:txBody>
          <a:bodyPr/>
          <a:lstStyle/>
          <a:p>
            <a:pPr marL="0" indent="0">
              <a:buNone/>
            </a:pPr>
            <a:r>
              <a:rPr lang="en-US" b="1" dirty="0"/>
              <a:t>Deeper Dive into some Components</a:t>
            </a:r>
          </a:p>
          <a:p>
            <a:r>
              <a:rPr lang="en-US" dirty="0"/>
              <a:t>Driver</a:t>
            </a:r>
          </a:p>
          <a:p>
            <a:pPr lvl="1"/>
            <a:r>
              <a:rPr lang="en-US" dirty="0"/>
              <a:t>Iterate over blocks</a:t>
            </a:r>
          </a:p>
          <a:p>
            <a:pPr lvl="1"/>
            <a:r>
              <a:rPr lang="en-US" dirty="0"/>
              <a:t>Implement connectivity</a:t>
            </a:r>
          </a:p>
          <a:p>
            <a:r>
              <a:rPr lang="en-US" dirty="0"/>
              <a:t>Mesh </a:t>
            </a:r>
          </a:p>
          <a:p>
            <a:pPr lvl="1"/>
            <a:r>
              <a:rPr lang="en-US" dirty="0"/>
              <a:t>Data containers</a:t>
            </a:r>
          </a:p>
          <a:p>
            <a:pPr lvl="1"/>
            <a:r>
              <a:rPr lang="en-US" dirty="0"/>
              <a:t>Halo cell fill, including application of boundary conditions</a:t>
            </a:r>
          </a:p>
          <a:p>
            <a:pPr lvl="1"/>
            <a:r>
              <a:rPr lang="en-US" dirty="0"/>
              <a:t>Reconciliation of quantities at fine-coarse block boundaries</a:t>
            </a:r>
          </a:p>
          <a:p>
            <a:pPr lvl="1"/>
            <a:r>
              <a:rPr lang="en-US" dirty="0" err="1"/>
              <a:t>Remesh</a:t>
            </a:r>
            <a:r>
              <a:rPr lang="en-US" dirty="0"/>
              <a:t> when refinement patterns change</a:t>
            </a:r>
          </a:p>
          <a:p>
            <a:r>
              <a:rPr lang="en-US" dirty="0"/>
              <a:t>I/O</a:t>
            </a:r>
          </a:p>
          <a:p>
            <a:pPr lvl="1"/>
            <a:r>
              <a:rPr lang="en-US" dirty="0"/>
              <a:t>Getting runtime parameters and possibly initial conditions</a:t>
            </a:r>
          </a:p>
          <a:p>
            <a:pPr lvl="1"/>
            <a:r>
              <a:rPr lang="en-US" dirty="0"/>
              <a:t>Writing checkpoint and analysis data</a:t>
            </a:r>
          </a:p>
        </p:txBody>
      </p:sp>
      <p:sp>
        <p:nvSpPr>
          <p:cNvPr id="4" name="Content Placeholder 2">
            <a:extLst>
              <a:ext uri="{FF2B5EF4-FFF2-40B4-BE49-F238E27FC236}">
                <a16:creationId xmlns:a16="http://schemas.microsoft.com/office/drawing/2014/main" id="{C2745C9D-C83C-9672-418A-997D74409054}"/>
              </a:ext>
            </a:extLst>
          </p:cNvPr>
          <p:cNvSpPr txBox="1">
            <a:spLocks/>
          </p:cNvSpPr>
          <p:nvPr/>
        </p:nvSpPr>
        <p:spPr bwMode="auto">
          <a:xfrm>
            <a:off x="450592" y="1123343"/>
            <a:ext cx="4985173" cy="4611314"/>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230188" indent="-230188" algn="l" rtl="0" eaLnBrk="1" fontAlgn="base" hangingPunct="1">
              <a:lnSpc>
                <a:spcPct val="90000"/>
              </a:lnSpc>
              <a:spcBef>
                <a:spcPts val="1400"/>
              </a:spcBef>
              <a:spcAft>
                <a:spcPct val="0"/>
              </a:spcAft>
              <a:buClr>
                <a:srgbClr val="C00000"/>
              </a:buClr>
              <a:buFont typeface="Wingdings" pitchFamily="2" charset="2"/>
              <a:buChar char="q"/>
              <a:defRPr sz="2400" kern="1200">
                <a:solidFill>
                  <a:schemeClr val="tx1"/>
                </a:solidFill>
                <a:latin typeface="Arial" panose="020B0604020202020204" pitchFamily="34" charset="0"/>
                <a:ea typeface="+mn-ea"/>
                <a:cs typeface="Arial" panose="020B0604020202020204" pitchFamily="34" charset="0"/>
              </a:defRPr>
            </a:lvl1pPr>
            <a:lvl2pPr marL="625475" indent="-279400" algn="l" rtl="0" eaLnBrk="1" fontAlgn="base" hangingPunct="1">
              <a:lnSpc>
                <a:spcPct val="90000"/>
              </a:lnSpc>
              <a:spcBef>
                <a:spcPts val="800"/>
              </a:spcBef>
              <a:spcAft>
                <a:spcPct val="0"/>
              </a:spcAft>
              <a:buClr>
                <a:srgbClr val="C00000"/>
              </a:buClr>
              <a:buFont typeface="Wingdings" pitchFamily="2" charset="2"/>
              <a:buChar char="q"/>
              <a:defRPr sz="2000" kern="1200">
                <a:solidFill>
                  <a:schemeClr val="tx1"/>
                </a:solidFill>
                <a:latin typeface="Arial" panose="020B0604020202020204" pitchFamily="34" charset="0"/>
                <a:ea typeface="+mn-ea"/>
                <a:cs typeface="Arial" panose="020B0604020202020204" pitchFamily="34" charset="0"/>
              </a:defRPr>
            </a:lvl2pPr>
            <a:lvl3pPr marL="914400" indent="-230188" algn="l" rtl="0" eaLnBrk="1" fontAlgn="base" hangingPunct="1">
              <a:lnSpc>
                <a:spcPct val="90000"/>
              </a:lnSpc>
              <a:spcBef>
                <a:spcPts val="800"/>
              </a:spcBef>
              <a:spcAft>
                <a:spcPct val="0"/>
              </a:spcAft>
              <a:buClr>
                <a:srgbClr val="C00000"/>
              </a:buClr>
              <a:buFont typeface="Wingdings" pitchFamily="2" charset="2"/>
              <a:buChar char="q"/>
              <a:defRPr sz="1800" kern="1200">
                <a:solidFill>
                  <a:schemeClr val="tx1"/>
                </a:solidFill>
                <a:latin typeface="Arial" panose="020B0604020202020204" pitchFamily="34" charset="0"/>
                <a:ea typeface="+mn-ea"/>
                <a:cs typeface="Arial" panose="020B0604020202020204" pitchFamily="34" charset="0"/>
              </a:defRPr>
            </a:lvl3pPr>
            <a:lvl4pPr marL="1144588" indent="-173038" algn="l" rtl="0" eaLnBrk="1" fontAlgn="base" hangingPunct="1">
              <a:lnSpc>
                <a:spcPct val="90000"/>
              </a:lnSpc>
              <a:spcBef>
                <a:spcPts val="800"/>
              </a:spcBef>
              <a:spcAft>
                <a:spcPct val="0"/>
              </a:spcAft>
              <a:buClr>
                <a:srgbClr val="C00000"/>
              </a:buClr>
              <a:buFont typeface="Wingdings" pitchFamily="2" charset="2"/>
              <a:buChar char="q"/>
              <a:defRPr sz="1600" kern="1200">
                <a:solidFill>
                  <a:schemeClr val="tx1"/>
                </a:solidFill>
                <a:latin typeface="Arial" panose="020B0604020202020204" pitchFamily="34" charset="0"/>
                <a:ea typeface="+mn-ea"/>
                <a:cs typeface="Arial" panose="020B0604020202020204" pitchFamily="34" charset="0"/>
              </a:defRPr>
            </a:lvl4pPr>
            <a:lvl5pPr marL="1482725" indent="-222250" algn="l" rtl="0" eaLnBrk="1" fontAlgn="base" hangingPunct="1">
              <a:lnSpc>
                <a:spcPct val="90000"/>
              </a:lnSpc>
              <a:spcBef>
                <a:spcPts val="600"/>
              </a:spcBef>
              <a:spcAft>
                <a:spcPct val="0"/>
              </a:spcAft>
              <a:buClr>
                <a:srgbClr val="C00000"/>
              </a:buClr>
              <a:buFont typeface="Wingdings" pitchFamily="2" charset="2"/>
              <a:buChar char="q"/>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Wingdings" pitchFamily="2" charset="2"/>
              <a:buNone/>
            </a:pPr>
            <a:r>
              <a:rPr lang="en-US" b="1" dirty="0"/>
              <a:t>Binned Components</a:t>
            </a:r>
          </a:p>
          <a:p>
            <a:r>
              <a:rPr lang="en-US" dirty="0"/>
              <a:t>Unchanging or slow changing infrastructure</a:t>
            </a:r>
          </a:p>
          <a:p>
            <a:pPr lvl="1"/>
            <a:r>
              <a:rPr lang="en-US" dirty="0"/>
              <a:t>Mesh</a:t>
            </a:r>
          </a:p>
          <a:p>
            <a:pPr lvl="1"/>
            <a:r>
              <a:rPr lang="en-US" dirty="0"/>
              <a:t>I/O</a:t>
            </a:r>
          </a:p>
          <a:p>
            <a:pPr lvl="1"/>
            <a:r>
              <a:rPr lang="en-US" dirty="0"/>
              <a:t>Driver</a:t>
            </a:r>
          </a:p>
          <a:p>
            <a:pPr lvl="1"/>
            <a:r>
              <a:rPr lang="en-US" dirty="0"/>
              <a:t>Comparison utility</a:t>
            </a:r>
          </a:p>
          <a:p>
            <a:r>
              <a:rPr lang="en-US" dirty="0"/>
              <a:t>Components evolving with research – physics solvers</a:t>
            </a:r>
          </a:p>
          <a:p>
            <a:pPr lvl="1"/>
            <a:r>
              <a:rPr lang="en-US" dirty="0"/>
              <a:t>Initial and boundary conditions</a:t>
            </a:r>
          </a:p>
          <a:p>
            <a:pPr lvl="1"/>
            <a:r>
              <a:rPr lang="en-US" dirty="0"/>
              <a:t>Hydrodynamics</a:t>
            </a:r>
          </a:p>
          <a:p>
            <a:pPr lvl="1"/>
            <a:r>
              <a:rPr lang="en-US" dirty="0"/>
              <a:t>EOS</a:t>
            </a:r>
          </a:p>
          <a:p>
            <a:pPr lvl="1"/>
            <a:endParaRPr lang="en-US" dirty="0"/>
          </a:p>
        </p:txBody>
      </p:sp>
    </p:spTree>
    <p:extLst>
      <p:ext uri="{BB962C8B-B14F-4D97-AF65-F5344CB8AC3E}">
        <p14:creationId xmlns:p14="http://schemas.microsoft.com/office/powerpoint/2010/main" val="11662572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2D979-DEC6-FE50-5CA2-2211F314A2F0}"/>
              </a:ext>
            </a:extLst>
          </p:cNvPr>
          <p:cNvSpPr>
            <a:spLocks noGrp="1"/>
          </p:cNvSpPr>
          <p:nvPr>
            <p:ph type="title"/>
          </p:nvPr>
        </p:nvSpPr>
        <p:spPr/>
        <p:txBody>
          <a:bodyPr/>
          <a:lstStyle/>
          <a:p>
            <a:r>
              <a:rPr lang="en-US" dirty="0"/>
              <a:t>Connectivity</a:t>
            </a:r>
          </a:p>
        </p:txBody>
      </p:sp>
      <p:sp>
        <p:nvSpPr>
          <p:cNvPr id="5" name="Rectangle 4">
            <a:extLst>
              <a:ext uri="{FF2B5EF4-FFF2-40B4-BE49-F238E27FC236}">
                <a16:creationId xmlns:a16="http://schemas.microsoft.com/office/drawing/2014/main" id="{073C3604-3BE4-3987-2FC0-94A24BFFF76A}"/>
              </a:ext>
            </a:extLst>
          </p:cNvPr>
          <p:cNvSpPr/>
          <p:nvPr/>
        </p:nvSpPr>
        <p:spPr>
          <a:xfrm>
            <a:off x="2036056" y="3156937"/>
            <a:ext cx="1514299"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Mesh</a:t>
            </a:r>
          </a:p>
        </p:txBody>
      </p:sp>
      <p:sp>
        <p:nvSpPr>
          <p:cNvPr id="6" name="Rectangle 5">
            <a:extLst>
              <a:ext uri="{FF2B5EF4-FFF2-40B4-BE49-F238E27FC236}">
                <a16:creationId xmlns:a16="http://schemas.microsoft.com/office/drawing/2014/main" id="{D202CB90-005C-1ED7-004A-A3E93C40BC3D}"/>
              </a:ext>
            </a:extLst>
          </p:cNvPr>
          <p:cNvSpPr/>
          <p:nvPr/>
        </p:nvSpPr>
        <p:spPr>
          <a:xfrm>
            <a:off x="8016698" y="3163145"/>
            <a:ext cx="1354667"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I/O</a:t>
            </a:r>
          </a:p>
        </p:txBody>
      </p:sp>
      <p:sp>
        <p:nvSpPr>
          <p:cNvPr id="7" name="Rectangle 6">
            <a:extLst>
              <a:ext uri="{FF2B5EF4-FFF2-40B4-BE49-F238E27FC236}">
                <a16:creationId xmlns:a16="http://schemas.microsoft.com/office/drawing/2014/main" id="{3574D13C-0197-39DC-EEDE-C5DB057BE39E}"/>
              </a:ext>
            </a:extLst>
          </p:cNvPr>
          <p:cNvSpPr/>
          <p:nvPr/>
        </p:nvSpPr>
        <p:spPr>
          <a:xfrm>
            <a:off x="6614186" y="1325880"/>
            <a:ext cx="1354667"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Compare results</a:t>
            </a:r>
          </a:p>
        </p:txBody>
      </p:sp>
      <p:sp>
        <p:nvSpPr>
          <p:cNvPr id="8" name="Rectangle 7">
            <a:extLst>
              <a:ext uri="{FF2B5EF4-FFF2-40B4-BE49-F238E27FC236}">
                <a16:creationId xmlns:a16="http://schemas.microsoft.com/office/drawing/2014/main" id="{BC2EE776-07F1-7626-0470-B8DFF279B207}"/>
              </a:ext>
            </a:extLst>
          </p:cNvPr>
          <p:cNvSpPr/>
          <p:nvPr/>
        </p:nvSpPr>
        <p:spPr>
          <a:xfrm>
            <a:off x="3476359" y="1151182"/>
            <a:ext cx="1502658"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Initial conditions</a:t>
            </a:r>
          </a:p>
        </p:txBody>
      </p:sp>
      <p:sp>
        <p:nvSpPr>
          <p:cNvPr id="10" name="Rectangle 9">
            <a:extLst>
              <a:ext uri="{FF2B5EF4-FFF2-40B4-BE49-F238E27FC236}">
                <a16:creationId xmlns:a16="http://schemas.microsoft.com/office/drawing/2014/main" id="{78820EAD-DA36-8931-80F9-2EC57E7E0B98}"/>
              </a:ext>
            </a:extLst>
          </p:cNvPr>
          <p:cNvSpPr/>
          <p:nvPr/>
        </p:nvSpPr>
        <p:spPr>
          <a:xfrm>
            <a:off x="2039768" y="4987994"/>
            <a:ext cx="1514299"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Boundary conditions</a:t>
            </a:r>
          </a:p>
        </p:txBody>
      </p:sp>
      <p:sp>
        <p:nvSpPr>
          <p:cNvPr id="11" name="Rectangle 10">
            <a:extLst>
              <a:ext uri="{FF2B5EF4-FFF2-40B4-BE49-F238E27FC236}">
                <a16:creationId xmlns:a16="http://schemas.microsoft.com/office/drawing/2014/main" id="{68E9402E-E2BE-60E5-059D-D660163B87C7}"/>
              </a:ext>
            </a:extLst>
          </p:cNvPr>
          <p:cNvSpPr/>
          <p:nvPr/>
        </p:nvSpPr>
        <p:spPr>
          <a:xfrm>
            <a:off x="4905022" y="3163145"/>
            <a:ext cx="1514299"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Driver</a:t>
            </a:r>
          </a:p>
        </p:txBody>
      </p:sp>
      <p:sp>
        <p:nvSpPr>
          <p:cNvPr id="20" name="Rectangle 19">
            <a:extLst>
              <a:ext uri="{FF2B5EF4-FFF2-40B4-BE49-F238E27FC236}">
                <a16:creationId xmlns:a16="http://schemas.microsoft.com/office/drawing/2014/main" id="{D4491153-3D9E-1ABD-5F37-C120E3C07400}"/>
              </a:ext>
            </a:extLst>
          </p:cNvPr>
          <p:cNvSpPr/>
          <p:nvPr/>
        </p:nvSpPr>
        <p:spPr>
          <a:xfrm>
            <a:off x="7406648" y="4942273"/>
            <a:ext cx="1514299"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err="1">
                <a:solidFill>
                  <a:schemeClr val="bg1"/>
                </a:solidFill>
              </a:rPr>
              <a:t>Hydrodyn-amics</a:t>
            </a:r>
            <a:endParaRPr lang="en-US" sz="2000" dirty="0">
              <a:solidFill>
                <a:schemeClr val="bg1"/>
              </a:solidFill>
            </a:endParaRPr>
          </a:p>
        </p:txBody>
      </p:sp>
      <p:sp>
        <p:nvSpPr>
          <p:cNvPr id="21" name="Rectangle 20">
            <a:extLst>
              <a:ext uri="{FF2B5EF4-FFF2-40B4-BE49-F238E27FC236}">
                <a16:creationId xmlns:a16="http://schemas.microsoft.com/office/drawing/2014/main" id="{5815E1CA-2134-6506-0621-B2F4FD25E1B7}"/>
              </a:ext>
            </a:extLst>
          </p:cNvPr>
          <p:cNvSpPr/>
          <p:nvPr/>
        </p:nvSpPr>
        <p:spPr>
          <a:xfrm>
            <a:off x="4917696" y="5555822"/>
            <a:ext cx="1514299"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EOS</a:t>
            </a:r>
          </a:p>
        </p:txBody>
      </p:sp>
    </p:spTree>
    <p:extLst>
      <p:ext uri="{BB962C8B-B14F-4D97-AF65-F5344CB8AC3E}">
        <p14:creationId xmlns:p14="http://schemas.microsoft.com/office/powerpoint/2010/main" val="488019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2D979-DEC6-FE50-5CA2-2211F314A2F0}"/>
              </a:ext>
            </a:extLst>
          </p:cNvPr>
          <p:cNvSpPr>
            <a:spLocks noGrp="1"/>
          </p:cNvSpPr>
          <p:nvPr>
            <p:ph type="title"/>
          </p:nvPr>
        </p:nvSpPr>
        <p:spPr/>
        <p:txBody>
          <a:bodyPr/>
          <a:lstStyle/>
          <a:p>
            <a:r>
              <a:rPr lang="en-US" dirty="0"/>
              <a:t>Connectivity</a:t>
            </a:r>
          </a:p>
        </p:txBody>
      </p:sp>
      <p:sp>
        <p:nvSpPr>
          <p:cNvPr id="5" name="Rectangle 4">
            <a:extLst>
              <a:ext uri="{FF2B5EF4-FFF2-40B4-BE49-F238E27FC236}">
                <a16:creationId xmlns:a16="http://schemas.microsoft.com/office/drawing/2014/main" id="{073C3604-3BE4-3987-2FC0-94A24BFFF76A}"/>
              </a:ext>
            </a:extLst>
          </p:cNvPr>
          <p:cNvSpPr/>
          <p:nvPr/>
        </p:nvSpPr>
        <p:spPr>
          <a:xfrm>
            <a:off x="2036056" y="3156937"/>
            <a:ext cx="1514299"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Mesh</a:t>
            </a:r>
          </a:p>
        </p:txBody>
      </p:sp>
      <p:sp>
        <p:nvSpPr>
          <p:cNvPr id="6" name="Rectangle 5">
            <a:extLst>
              <a:ext uri="{FF2B5EF4-FFF2-40B4-BE49-F238E27FC236}">
                <a16:creationId xmlns:a16="http://schemas.microsoft.com/office/drawing/2014/main" id="{D202CB90-005C-1ED7-004A-A3E93C40BC3D}"/>
              </a:ext>
            </a:extLst>
          </p:cNvPr>
          <p:cNvSpPr/>
          <p:nvPr/>
        </p:nvSpPr>
        <p:spPr>
          <a:xfrm>
            <a:off x="8016698" y="3163145"/>
            <a:ext cx="1354667"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I/O</a:t>
            </a:r>
          </a:p>
        </p:txBody>
      </p:sp>
      <p:sp>
        <p:nvSpPr>
          <p:cNvPr id="7" name="Rectangle 6">
            <a:extLst>
              <a:ext uri="{FF2B5EF4-FFF2-40B4-BE49-F238E27FC236}">
                <a16:creationId xmlns:a16="http://schemas.microsoft.com/office/drawing/2014/main" id="{3574D13C-0197-39DC-EEDE-C5DB057BE39E}"/>
              </a:ext>
            </a:extLst>
          </p:cNvPr>
          <p:cNvSpPr/>
          <p:nvPr/>
        </p:nvSpPr>
        <p:spPr>
          <a:xfrm>
            <a:off x="6614186" y="1325880"/>
            <a:ext cx="1354667"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Compare results</a:t>
            </a:r>
          </a:p>
        </p:txBody>
      </p:sp>
      <p:sp>
        <p:nvSpPr>
          <p:cNvPr id="8" name="Rectangle 7">
            <a:extLst>
              <a:ext uri="{FF2B5EF4-FFF2-40B4-BE49-F238E27FC236}">
                <a16:creationId xmlns:a16="http://schemas.microsoft.com/office/drawing/2014/main" id="{BC2EE776-07F1-7626-0470-B8DFF279B207}"/>
              </a:ext>
            </a:extLst>
          </p:cNvPr>
          <p:cNvSpPr/>
          <p:nvPr/>
        </p:nvSpPr>
        <p:spPr>
          <a:xfrm>
            <a:off x="3476359" y="1151182"/>
            <a:ext cx="1502658"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Initial conditions</a:t>
            </a:r>
          </a:p>
        </p:txBody>
      </p:sp>
      <p:sp>
        <p:nvSpPr>
          <p:cNvPr id="10" name="Rectangle 9">
            <a:extLst>
              <a:ext uri="{FF2B5EF4-FFF2-40B4-BE49-F238E27FC236}">
                <a16:creationId xmlns:a16="http://schemas.microsoft.com/office/drawing/2014/main" id="{78820EAD-DA36-8931-80F9-2EC57E7E0B98}"/>
              </a:ext>
            </a:extLst>
          </p:cNvPr>
          <p:cNvSpPr/>
          <p:nvPr/>
        </p:nvSpPr>
        <p:spPr>
          <a:xfrm>
            <a:off x="2039768" y="4987994"/>
            <a:ext cx="1514299"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Boundary conditions</a:t>
            </a:r>
          </a:p>
        </p:txBody>
      </p:sp>
      <p:sp>
        <p:nvSpPr>
          <p:cNvPr id="11" name="Rectangle 10">
            <a:extLst>
              <a:ext uri="{FF2B5EF4-FFF2-40B4-BE49-F238E27FC236}">
                <a16:creationId xmlns:a16="http://schemas.microsoft.com/office/drawing/2014/main" id="{68E9402E-E2BE-60E5-059D-D660163B87C7}"/>
              </a:ext>
            </a:extLst>
          </p:cNvPr>
          <p:cNvSpPr/>
          <p:nvPr/>
        </p:nvSpPr>
        <p:spPr>
          <a:xfrm>
            <a:off x="4905022" y="3163145"/>
            <a:ext cx="1514299"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Driver</a:t>
            </a:r>
          </a:p>
        </p:txBody>
      </p:sp>
      <p:cxnSp>
        <p:nvCxnSpPr>
          <p:cNvPr id="13" name="Straight Arrow Connector 12">
            <a:extLst>
              <a:ext uri="{FF2B5EF4-FFF2-40B4-BE49-F238E27FC236}">
                <a16:creationId xmlns:a16="http://schemas.microsoft.com/office/drawing/2014/main" id="{E9914A73-8A36-E371-E676-19EB304BD59E}"/>
              </a:ext>
            </a:extLst>
          </p:cNvPr>
          <p:cNvCxnSpPr>
            <a:stCxn id="11" idx="3"/>
            <a:endCxn id="6" idx="1"/>
          </p:cNvCxnSpPr>
          <p:nvPr/>
        </p:nvCxnSpPr>
        <p:spPr>
          <a:xfrm>
            <a:off x="6419321" y="3738879"/>
            <a:ext cx="1597377" cy="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80CBDE67-CC22-1A48-9884-1ADA95EB9BD1}"/>
              </a:ext>
            </a:extLst>
          </p:cNvPr>
          <p:cNvCxnSpPr>
            <a:stCxn id="11" idx="0"/>
            <a:endCxn id="7" idx="2"/>
          </p:cNvCxnSpPr>
          <p:nvPr/>
        </p:nvCxnSpPr>
        <p:spPr>
          <a:xfrm flipV="1">
            <a:off x="5662172" y="2477347"/>
            <a:ext cx="1629348" cy="685798"/>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5DF4346B-469D-D298-97DD-C70BD06BABDB}"/>
              </a:ext>
            </a:extLst>
          </p:cNvPr>
          <p:cNvCxnSpPr>
            <a:cxnSpLocks/>
            <a:stCxn id="11" idx="1"/>
            <a:endCxn id="5" idx="3"/>
          </p:cNvCxnSpPr>
          <p:nvPr/>
        </p:nvCxnSpPr>
        <p:spPr>
          <a:xfrm flipH="1" flipV="1">
            <a:off x="3550355" y="3732671"/>
            <a:ext cx="1354667" cy="6208"/>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D4491153-3D9E-1ABD-5F37-C120E3C07400}"/>
              </a:ext>
            </a:extLst>
          </p:cNvPr>
          <p:cNvSpPr/>
          <p:nvPr/>
        </p:nvSpPr>
        <p:spPr>
          <a:xfrm>
            <a:off x="7406648" y="4942273"/>
            <a:ext cx="1514299"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err="1">
                <a:solidFill>
                  <a:schemeClr val="bg1"/>
                </a:solidFill>
              </a:rPr>
              <a:t>Hydrodyn-amics</a:t>
            </a:r>
            <a:endParaRPr lang="en-US" sz="2000" dirty="0">
              <a:solidFill>
                <a:schemeClr val="bg1"/>
              </a:solidFill>
            </a:endParaRPr>
          </a:p>
        </p:txBody>
      </p:sp>
      <p:sp>
        <p:nvSpPr>
          <p:cNvPr id="21" name="Rectangle 20">
            <a:extLst>
              <a:ext uri="{FF2B5EF4-FFF2-40B4-BE49-F238E27FC236}">
                <a16:creationId xmlns:a16="http://schemas.microsoft.com/office/drawing/2014/main" id="{5815E1CA-2134-6506-0621-B2F4FD25E1B7}"/>
              </a:ext>
            </a:extLst>
          </p:cNvPr>
          <p:cNvSpPr/>
          <p:nvPr/>
        </p:nvSpPr>
        <p:spPr>
          <a:xfrm>
            <a:off x="4917696" y="5555822"/>
            <a:ext cx="1514299"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EOS</a:t>
            </a:r>
          </a:p>
        </p:txBody>
      </p:sp>
      <p:cxnSp>
        <p:nvCxnSpPr>
          <p:cNvPr id="26" name="Straight Arrow Connector 25">
            <a:extLst>
              <a:ext uri="{FF2B5EF4-FFF2-40B4-BE49-F238E27FC236}">
                <a16:creationId xmlns:a16="http://schemas.microsoft.com/office/drawing/2014/main" id="{D4F35691-1CB9-CD71-9F3A-73F32CF1C0ED}"/>
              </a:ext>
            </a:extLst>
          </p:cNvPr>
          <p:cNvCxnSpPr>
            <a:cxnSpLocks/>
            <a:stCxn id="11" idx="0"/>
            <a:endCxn id="8" idx="2"/>
          </p:cNvCxnSpPr>
          <p:nvPr/>
        </p:nvCxnSpPr>
        <p:spPr>
          <a:xfrm flipH="1" flipV="1">
            <a:off x="4227688" y="2302649"/>
            <a:ext cx="1434484" cy="860496"/>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E7D8EADD-73F0-D41F-E6F8-30D812A0FB5B}"/>
              </a:ext>
            </a:extLst>
          </p:cNvPr>
          <p:cNvCxnSpPr>
            <a:cxnSpLocks/>
            <a:stCxn id="11" idx="2"/>
            <a:endCxn id="20" idx="0"/>
          </p:cNvCxnSpPr>
          <p:nvPr/>
        </p:nvCxnSpPr>
        <p:spPr>
          <a:xfrm>
            <a:off x="5662172" y="4314612"/>
            <a:ext cx="2501626" cy="627661"/>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84CEBADD-8915-C2CF-D57A-CF4E74A1ADA9}"/>
              </a:ext>
            </a:extLst>
          </p:cNvPr>
          <p:cNvCxnSpPr>
            <a:cxnSpLocks/>
            <a:stCxn id="5" idx="2"/>
            <a:endCxn id="10" idx="0"/>
          </p:cNvCxnSpPr>
          <p:nvPr/>
        </p:nvCxnSpPr>
        <p:spPr>
          <a:xfrm>
            <a:off x="2793206" y="4308404"/>
            <a:ext cx="3712" cy="67959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8893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2D979-DEC6-FE50-5CA2-2211F314A2F0}"/>
              </a:ext>
            </a:extLst>
          </p:cNvPr>
          <p:cNvSpPr>
            <a:spLocks noGrp="1"/>
          </p:cNvSpPr>
          <p:nvPr>
            <p:ph type="title"/>
          </p:nvPr>
        </p:nvSpPr>
        <p:spPr/>
        <p:txBody>
          <a:bodyPr/>
          <a:lstStyle/>
          <a:p>
            <a:r>
              <a:rPr lang="en-US" dirty="0"/>
              <a:t>Connectivity</a:t>
            </a:r>
          </a:p>
        </p:txBody>
      </p:sp>
      <p:sp>
        <p:nvSpPr>
          <p:cNvPr id="5" name="Rectangle 4">
            <a:extLst>
              <a:ext uri="{FF2B5EF4-FFF2-40B4-BE49-F238E27FC236}">
                <a16:creationId xmlns:a16="http://schemas.microsoft.com/office/drawing/2014/main" id="{073C3604-3BE4-3987-2FC0-94A24BFFF76A}"/>
              </a:ext>
            </a:extLst>
          </p:cNvPr>
          <p:cNvSpPr/>
          <p:nvPr/>
        </p:nvSpPr>
        <p:spPr>
          <a:xfrm>
            <a:off x="2036056" y="3156937"/>
            <a:ext cx="1514299"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Mesh</a:t>
            </a:r>
          </a:p>
        </p:txBody>
      </p:sp>
      <p:sp>
        <p:nvSpPr>
          <p:cNvPr id="6" name="Rectangle 5">
            <a:extLst>
              <a:ext uri="{FF2B5EF4-FFF2-40B4-BE49-F238E27FC236}">
                <a16:creationId xmlns:a16="http://schemas.microsoft.com/office/drawing/2014/main" id="{D202CB90-005C-1ED7-004A-A3E93C40BC3D}"/>
              </a:ext>
            </a:extLst>
          </p:cNvPr>
          <p:cNvSpPr/>
          <p:nvPr/>
        </p:nvSpPr>
        <p:spPr>
          <a:xfrm>
            <a:off x="8016698" y="3163145"/>
            <a:ext cx="1354667"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I/O</a:t>
            </a:r>
          </a:p>
        </p:txBody>
      </p:sp>
      <p:sp>
        <p:nvSpPr>
          <p:cNvPr id="7" name="Rectangle 6">
            <a:extLst>
              <a:ext uri="{FF2B5EF4-FFF2-40B4-BE49-F238E27FC236}">
                <a16:creationId xmlns:a16="http://schemas.microsoft.com/office/drawing/2014/main" id="{3574D13C-0197-39DC-EEDE-C5DB057BE39E}"/>
              </a:ext>
            </a:extLst>
          </p:cNvPr>
          <p:cNvSpPr/>
          <p:nvPr/>
        </p:nvSpPr>
        <p:spPr>
          <a:xfrm>
            <a:off x="6614186" y="1325880"/>
            <a:ext cx="1354667"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Compare results</a:t>
            </a:r>
          </a:p>
        </p:txBody>
      </p:sp>
      <p:sp>
        <p:nvSpPr>
          <p:cNvPr id="8" name="Rectangle 7">
            <a:extLst>
              <a:ext uri="{FF2B5EF4-FFF2-40B4-BE49-F238E27FC236}">
                <a16:creationId xmlns:a16="http://schemas.microsoft.com/office/drawing/2014/main" id="{BC2EE776-07F1-7626-0470-B8DFF279B207}"/>
              </a:ext>
            </a:extLst>
          </p:cNvPr>
          <p:cNvSpPr/>
          <p:nvPr/>
        </p:nvSpPr>
        <p:spPr>
          <a:xfrm>
            <a:off x="3476359" y="1151182"/>
            <a:ext cx="1502658"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Initial conditions</a:t>
            </a:r>
          </a:p>
        </p:txBody>
      </p:sp>
      <p:sp>
        <p:nvSpPr>
          <p:cNvPr id="10" name="Rectangle 9">
            <a:extLst>
              <a:ext uri="{FF2B5EF4-FFF2-40B4-BE49-F238E27FC236}">
                <a16:creationId xmlns:a16="http://schemas.microsoft.com/office/drawing/2014/main" id="{78820EAD-DA36-8931-80F9-2EC57E7E0B98}"/>
              </a:ext>
            </a:extLst>
          </p:cNvPr>
          <p:cNvSpPr/>
          <p:nvPr/>
        </p:nvSpPr>
        <p:spPr>
          <a:xfrm>
            <a:off x="2039768" y="4987994"/>
            <a:ext cx="1514299"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Boundary conditions</a:t>
            </a:r>
          </a:p>
        </p:txBody>
      </p:sp>
      <p:sp>
        <p:nvSpPr>
          <p:cNvPr id="11" name="Rectangle 10">
            <a:extLst>
              <a:ext uri="{FF2B5EF4-FFF2-40B4-BE49-F238E27FC236}">
                <a16:creationId xmlns:a16="http://schemas.microsoft.com/office/drawing/2014/main" id="{68E9402E-E2BE-60E5-059D-D660163B87C7}"/>
              </a:ext>
            </a:extLst>
          </p:cNvPr>
          <p:cNvSpPr/>
          <p:nvPr/>
        </p:nvSpPr>
        <p:spPr>
          <a:xfrm>
            <a:off x="4905022" y="3163145"/>
            <a:ext cx="1514299"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Driver</a:t>
            </a:r>
          </a:p>
        </p:txBody>
      </p:sp>
      <p:cxnSp>
        <p:nvCxnSpPr>
          <p:cNvPr id="13" name="Straight Arrow Connector 12">
            <a:extLst>
              <a:ext uri="{FF2B5EF4-FFF2-40B4-BE49-F238E27FC236}">
                <a16:creationId xmlns:a16="http://schemas.microsoft.com/office/drawing/2014/main" id="{E9914A73-8A36-E371-E676-19EB304BD59E}"/>
              </a:ext>
            </a:extLst>
          </p:cNvPr>
          <p:cNvCxnSpPr>
            <a:stCxn id="11" idx="3"/>
            <a:endCxn id="6" idx="1"/>
          </p:cNvCxnSpPr>
          <p:nvPr/>
        </p:nvCxnSpPr>
        <p:spPr>
          <a:xfrm>
            <a:off x="6419321" y="3738879"/>
            <a:ext cx="1597377" cy="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80CBDE67-CC22-1A48-9884-1ADA95EB9BD1}"/>
              </a:ext>
            </a:extLst>
          </p:cNvPr>
          <p:cNvCxnSpPr>
            <a:stCxn id="11" idx="0"/>
            <a:endCxn id="7" idx="2"/>
          </p:cNvCxnSpPr>
          <p:nvPr/>
        </p:nvCxnSpPr>
        <p:spPr>
          <a:xfrm flipV="1">
            <a:off x="5662172" y="2477347"/>
            <a:ext cx="1629348" cy="685798"/>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5DF4346B-469D-D298-97DD-C70BD06BABDB}"/>
              </a:ext>
            </a:extLst>
          </p:cNvPr>
          <p:cNvCxnSpPr>
            <a:cxnSpLocks/>
            <a:stCxn id="11" idx="1"/>
            <a:endCxn id="5" idx="3"/>
          </p:cNvCxnSpPr>
          <p:nvPr/>
        </p:nvCxnSpPr>
        <p:spPr>
          <a:xfrm flipH="1" flipV="1">
            <a:off x="3550355" y="3732671"/>
            <a:ext cx="1354667" cy="6208"/>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D4491153-3D9E-1ABD-5F37-C120E3C07400}"/>
              </a:ext>
            </a:extLst>
          </p:cNvPr>
          <p:cNvSpPr/>
          <p:nvPr/>
        </p:nvSpPr>
        <p:spPr>
          <a:xfrm>
            <a:off x="7406648" y="4942273"/>
            <a:ext cx="1514299"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err="1">
                <a:solidFill>
                  <a:schemeClr val="bg1"/>
                </a:solidFill>
              </a:rPr>
              <a:t>Hydrodyn-amics</a:t>
            </a:r>
            <a:endParaRPr lang="en-US" sz="2000" dirty="0">
              <a:solidFill>
                <a:schemeClr val="bg1"/>
              </a:solidFill>
            </a:endParaRPr>
          </a:p>
        </p:txBody>
      </p:sp>
      <p:sp>
        <p:nvSpPr>
          <p:cNvPr id="21" name="Rectangle 20">
            <a:extLst>
              <a:ext uri="{FF2B5EF4-FFF2-40B4-BE49-F238E27FC236}">
                <a16:creationId xmlns:a16="http://schemas.microsoft.com/office/drawing/2014/main" id="{5815E1CA-2134-6506-0621-B2F4FD25E1B7}"/>
              </a:ext>
            </a:extLst>
          </p:cNvPr>
          <p:cNvSpPr/>
          <p:nvPr/>
        </p:nvSpPr>
        <p:spPr>
          <a:xfrm>
            <a:off x="4917696" y="5555822"/>
            <a:ext cx="1514299"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EOS</a:t>
            </a:r>
          </a:p>
        </p:txBody>
      </p:sp>
      <p:cxnSp>
        <p:nvCxnSpPr>
          <p:cNvPr id="26" name="Straight Arrow Connector 25">
            <a:extLst>
              <a:ext uri="{FF2B5EF4-FFF2-40B4-BE49-F238E27FC236}">
                <a16:creationId xmlns:a16="http://schemas.microsoft.com/office/drawing/2014/main" id="{D4F35691-1CB9-CD71-9F3A-73F32CF1C0ED}"/>
              </a:ext>
            </a:extLst>
          </p:cNvPr>
          <p:cNvCxnSpPr>
            <a:cxnSpLocks/>
            <a:stCxn id="11" idx="0"/>
            <a:endCxn id="8" idx="2"/>
          </p:cNvCxnSpPr>
          <p:nvPr/>
        </p:nvCxnSpPr>
        <p:spPr>
          <a:xfrm flipH="1" flipV="1">
            <a:off x="4227688" y="2302649"/>
            <a:ext cx="1434484" cy="860496"/>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C0E094FF-5ED2-613B-C2E6-653BDBF1BBC0}"/>
              </a:ext>
            </a:extLst>
          </p:cNvPr>
          <p:cNvCxnSpPr>
            <a:cxnSpLocks/>
            <a:endCxn id="5" idx="0"/>
          </p:cNvCxnSpPr>
          <p:nvPr/>
        </p:nvCxnSpPr>
        <p:spPr>
          <a:xfrm flipH="1">
            <a:off x="2793206" y="1739332"/>
            <a:ext cx="683153" cy="1417605"/>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E7D8EADD-73F0-D41F-E6F8-30D812A0FB5B}"/>
              </a:ext>
            </a:extLst>
          </p:cNvPr>
          <p:cNvCxnSpPr>
            <a:cxnSpLocks/>
            <a:stCxn id="11" idx="2"/>
            <a:endCxn id="20" idx="0"/>
          </p:cNvCxnSpPr>
          <p:nvPr/>
        </p:nvCxnSpPr>
        <p:spPr>
          <a:xfrm>
            <a:off x="5662172" y="4314612"/>
            <a:ext cx="2501626" cy="627661"/>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84CEBADD-8915-C2CF-D57A-CF4E74A1ADA9}"/>
              </a:ext>
            </a:extLst>
          </p:cNvPr>
          <p:cNvCxnSpPr>
            <a:cxnSpLocks/>
            <a:stCxn id="5" idx="2"/>
            <a:endCxn id="10" idx="0"/>
          </p:cNvCxnSpPr>
          <p:nvPr/>
        </p:nvCxnSpPr>
        <p:spPr>
          <a:xfrm>
            <a:off x="2793206" y="4308404"/>
            <a:ext cx="3712" cy="67959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93193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2D979-DEC6-FE50-5CA2-2211F314A2F0}"/>
              </a:ext>
            </a:extLst>
          </p:cNvPr>
          <p:cNvSpPr>
            <a:spLocks noGrp="1"/>
          </p:cNvSpPr>
          <p:nvPr>
            <p:ph type="title"/>
          </p:nvPr>
        </p:nvSpPr>
        <p:spPr/>
        <p:txBody>
          <a:bodyPr/>
          <a:lstStyle/>
          <a:p>
            <a:r>
              <a:rPr lang="en-US" dirty="0"/>
              <a:t>Connectivity</a:t>
            </a:r>
          </a:p>
        </p:txBody>
      </p:sp>
      <p:sp>
        <p:nvSpPr>
          <p:cNvPr id="5" name="Rectangle 4">
            <a:extLst>
              <a:ext uri="{FF2B5EF4-FFF2-40B4-BE49-F238E27FC236}">
                <a16:creationId xmlns:a16="http://schemas.microsoft.com/office/drawing/2014/main" id="{073C3604-3BE4-3987-2FC0-94A24BFFF76A}"/>
              </a:ext>
            </a:extLst>
          </p:cNvPr>
          <p:cNvSpPr/>
          <p:nvPr/>
        </p:nvSpPr>
        <p:spPr>
          <a:xfrm>
            <a:off x="2036056" y="3156937"/>
            <a:ext cx="1514299"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Mesh</a:t>
            </a:r>
          </a:p>
        </p:txBody>
      </p:sp>
      <p:sp>
        <p:nvSpPr>
          <p:cNvPr id="6" name="Rectangle 5">
            <a:extLst>
              <a:ext uri="{FF2B5EF4-FFF2-40B4-BE49-F238E27FC236}">
                <a16:creationId xmlns:a16="http://schemas.microsoft.com/office/drawing/2014/main" id="{D202CB90-005C-1ED7-004A-A3E93C40BC3D}"/>
              </a:ext>
            </a:extLst>
          </p:cNvPr>
          <p:cNvSpPr/>
          <p:nvPr/>
        </p:nvSpPr>
        <p:spPr>
          <a:xfrm>
            <a:off x="8016698" y="3163145"/>
            <a:ext cx="1354667"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I/O</a:t>
            </a:r>
          </a:p>
        </p:txBody>
      </p:sp>
      <p:sp>
        <p:nvSpPr>
          <p:cNvPr id="7" name="Rectangle 6">
            <a:extLst>
              <a:ext uri="{FF2B5EF4-FFF2-40B4-BE49-F238E27FC236}">
                <a16:creationId xmlns:a16="http://schemas.microsoft.com/office/drawing/2014/main" id="{3574D13C-0197-39DC-EEDE-C5DB057BE39E}"/>
              </a:ext>
            </a:extLst>
          </p:cNvPr>
          <p:cNvSpPr/>
          <p:nvPr/>
        </p:nvSpPr>
        <p:spPr>
          <a:xfrm>
            <a:off x="6614186" y="1325880"/>
            <a:ext cx="1354667"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Compare results</a:t>
            </a:r>
          </a:p>
        </p:txBody>
      </p:sp>
      <p:sp>
        <p:nvSpPr>
          <p:cNvPr id="8" name="Rectangle 7">
            <a:extLst>
              <a:ext uri="{FF2B5EF4-FFF2-40B4-BE49-F238E27FC236}">
                <a16:creationId xmlns:a16="http://schemas.microsoft.com/office/drawing/2014/main" id="{BC2EE776-07F1-7626-0470-B8DFF279B207}"/>
              </a:ext>
            </a:extLst>
          </p:cNvPr>
          <p:cNvSpPr/>
          <p:nvPr/>
        </p:nvSpPr>
        <p:spPr>
          <a:xfrm>
            <a:off x="3476359" y="1151182"/>
            <a:ext cx="1502658"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Initial conditions</a:t>
            </a:r>
          </a:p>
        </p:txBody>
      </p:sp>
      <p:sp>
        <p:nvSpPr>
          <p:cNvPr id="10" name="Rectangle 9">
            <a:extLst>
              <a:ext uri="{FF2B5EF4-FFF2-40B4-BE49-F238E27FC236}">
                <a16:creationId xmlns:a16="http://schemas.microsoft.com/office/drawing/2014/main" id="{78820EAD-DA36-8931-80F9-2EC57E7E0B98}"/>
              </a:ext>
            </a:extLst>
          </p:cNvPr>
          <p:cNvSpPr/>
          <p:nvPr/>
        </p:nvSpPr>
        <p:spPr>
          <a:xfrm>
            <a:off x="2039768" y="4987994"/>
            <a:ext cx="1514299"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Boundary conditions</a:t>
            </a:r>
          </a:p>
        </p:txBody>
      </p:sp>
      <p:sp>
        <p:nvSpPr>
          <p:cNvPr id="11" name="Rectangle 10">
            <a:extLst>
              <a:ext uri="{FF2B5EF4-FFF2-40B4-BE49-F238E27FC236}">
                <a16:creationId xmlns:a16="http://schemas.microsoft.com/office/drawing/2014/main" id="{68E9402E-E2BE-60E5-059D-D660163B87C7}"/>
              </a:ext>
            </a:extLst>
          </p:cNvPr>
          <p:cNvSpPr/>
          <p:nvPr/>
        </p:nvSpPr>
        <p:spPr>
          <a:xfrm>
            <a:off x="4905022" y="3163145"/>
            <a:ext cx="1514299"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Driver</a:t>
            </a:r>
          </a:p>
        </p:txBody>
      </p:sp>
      <p:cxnSp>
        <p:nvCxnSpPr>
          <p:cNvPr id="13" name="Straight Arrow Connector 12">
            <a:extLst>
              <a:ext uri="{FF2B5EF4-FFF2-40B4-BE49-F238E27FC236}">
                <a16:creationId xmlns:a16="http://schemas.microsoft.com/office/drawing/2014/main" id="{E9914A73-8A36-E371-E676-19EB304BD59E}"/>
              </a:ext>
            </a:extLst>
          </p:cNvPr>
          <p:cNvCxnSpPr>
            <a:stCxn id="11" idx="3"/>
            <a:endCxn id="6" idx="1"/>
          </p:cNvCxnSpPr>
          <p:nvPr/>
        </p:nvCxnSpPr>
        <p:spPr>
          <a:xfrm>
            <a:off x="6419321" y="3738879"/>
            <a:ext cx="1597377" cy="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80CBDE67-CC22-1A48-9884-1ADA95EB9BD1}"/>
              </a:ext>
            </a:extLst>
          </p:cNvPr>
          <p:cNvCxnSpPr>
            <a:stCxn id="11" idx="0"/>
            <a:endCxn id="7" idx="2"/>
          </p:cNvCxnSpPr>
          <p:nvPr/>
        </p:nvCxnSpPr>
        <p:spPr>
          <a:xfrm flipV="1">
            <a:off x="5662172" y="2477347"/>
            <a:ext cx="1629348" cy="685798"/>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5DF4346B-469D-D298-97DD-C70BD06BABDB}"/>
              </a:ext>
            </a:extLst>
          </p:cNvPr>
          <p:cNvCxnSpPr>
            <a:cxnSpLocks/>
            <a:stCxn id="11" idx="1"/>
            <a:endCxn id="5" idx="3"/>
          </p:cNvCxnSpPr>
          <p:nvPr/>
        </p:nvCxnSpPr>
        <p:spPr>
          <a:xfrm flipH="1" flipV="1">
            <a:off x="3550355" y="3732671"/>
            <a:ext cx="1354667" cy="6208"/>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D4491153-3D9E-1ABD-5F37-C120E3C07400}"/>
              </a:ext>
            </a:extLst>
          </p:cNvPr>
          <p:cNvSpPr/>
          <p:nvPr/>
        </p:nvSpPr>
        <p:spPr>
          <a:xfrm>
            <a:off x="7406648" y="4942273"/>
            <a:ext cx="1514299"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err="1">
                <a:solidFill>
                  <a:schemeClr val="bg1"/>
                </a:solidFill>
              </a:rPr>
              <a:t>Hydrodyn-amics</a:t>
            </a:r>
            <a:endParaRPr lang="en-US" sz="2000" dirty="0">
              <a:solidFill>
                <a:schemeClr val="bg1"/>
              </a:solidFill>
            </a:endParaRPr>
          </a:p>
        </p:txBody>
      </p:sp>
      <p:sp>
        <p:nvSpPr>
          <p:cNvPr id="21" name="Rectangle 20">
            <a:extLst>
              <a:ext uri="{FF2B5EF4-FFF2-40B4-BE49-F238E27FC236}">
                <a16:creationId xmlns:a16="http://schemas.microsoft.com/office/drawing/2014/main" id="{5815E1CA-2134-6506-0621-B2F4FD25E1B7}"/>
              </a:ext>
            </a:extLst>
          </p:cNvPr>
          <p:cNvSpPr/>
          <p:nvPr/>
        </p:nvSpPr>
        <p:spPr>
          <a:xfrm>
            <a:off x="4917696" y="5555822"/>
            <a:ext cx="1514299"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EOS</a:t>
            </a:r>
          </a:p>
        </p:txBody>
      </p:sp>
      <p:cxnSp>
        <p:nvCxnSpPr>
          <p:cNvPr id="26" name="Straight Arrow Connector 25">
            <a:extLst>
              <a:ext uri="{FF2B5EF4-FFF2-40B4-BE49-F238E27FC236}">
                <a16:creationId xmlns:a16="http://schemas.microsoft.com/office/drawing/2014/main" id="{D4F35691-1CB9-CD71-9F3A-73F32CF1C0ED}"/>
              </a:ext>
            </a:extLst>
          </p:cNvPr>
          <p:cNvCxnSpPr>
            <a:cxnSpLocks/>
            <a:stCxn id="11" idx="0"/>
            <a:endCxn id="8" idx="2"/>
          </p:cNvCxnSpPr>
          <p:nvPr/>
        </p:nvCxnSpPr>
        <p:spPr>
          <a:xfrm flipH="1" flipV="1">
            <a:off x="4227688" y="2302649"/>
            <a:ext cx="1434484" cy="860496"/>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C0E094FF-5ED2-613B-C2E6-653BDBF1BBC0}"/>
              </a:ext>
            </a:extLst>
          </p:cNvPr>
          <p:cNvCxnSpPr>
            <a:cxnSpLocks/>
            <a:endCxn id="5" idx="0"/>
          </p:cNvCxnSpPr>
          <p:nvPr/>
        </p:nvCxnSpPr>
        <p:spPr>
          <a:xfrm flipH="1">
            <a:off x="2793206" y="1739332"/>
            <a:ext cx="683153" cy="1417605"/>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E7D8EADD-73F0-D41F-E6F8-30D812A0FB5B}"/>
              </a:ext>
            </a:extLst>
          </p:cNvPr>
          <p:cNvCxnSpPr>
            <a:cxnSpLocks/>
            <a:stCxn id="11" idx="2"/>
            <a:endCxn id="20" idx="0"/>
          </p:cNvCxnSpPr>
          <p:nvPr/>
        </p:nvCxnSpPr>
        <p:spPr>
          <a:xfrm>
            <a:off x="5662172" y="4314612"/>
            <a:ext cx="2501626" cy="627661"/>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84CEBADD-8915-C2CF-D57A-CF4E74A1ADA9}"/>
              </a:ext>
            </a:extLst>
          </p:cNvPr>
          <p:cNvCxnSpPr>
            <a:cxnSpLocks/>
            <a:stCxn id="5" idx="2"/>
            <a:endCxn id="10" idx="0"/>
          </p:cNvCxnSpPr>
          <p:nvPr/>
        </p:nvCxnSpPr>
        <p:spPr>
          <a:xfrm>
            <a:off x="2793206" y="4308404"/>
            <a:ext cx="3712" cy="67959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9776E6BA-1976-AFDF-65EA-F93DD21FC5B0}"/>
              </a:ext>
            </a:extLst>
          </p:cNvPr>
          <p:cNvCxnSpPr>
            <a:cxnSpLocks/>
            <a:stCxn id="20" idx="1"/>
            <a:endCxn id="21" idx="3"/>
          </p:cNvCxnSpPr>
          <p:nvPr/>
        </p:nvCxnSpPr>
        <p:spPr>
          <a:xfrm flipH="1">
            <a:off x="6431995" y="5518007"/>
            <a:ext cx="974653" cy="613549"/>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2318B9C8-BD4E-1090-2F25-2C5ACA1E988E}"/>
              </a:ext>
            </a:extLst>
          </p:cNvPr>
          <p:cNvCxnSpPr>
            <a:cxnSpLocks/>
            <a:stCxn id="20" idx="1"/>
          </p:cNvCxnSpPr>
          <p:nvPr/>
        </p:nvCxnSpPr>
        <p:spPr>
          <a:xfrm flipH="1" flipV="1">
            <a:off x="3544533" y="3696263"/>
            <a:ext cx="3862115" cy="1821744"/>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63578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2D979-DEC6-FE50-5CA2-2211F314A2F0}"/>
              </a:ext>
            </a:extLst>
          </p:cNvPr>
          <p:cNvSpPr>
            <a:spLocks noGrp="1"/>
          </p:cNvSpPr>
          <p:nvPr>
            <p:ph type="title"/>
          </p:nvPr>
        </p:nvSpPr>
        <p:spPr/>
        <p:txBody>
          <a:bodyPr/>
          <a:lstStyle/>
          <a:p>
            <a:r>
              <a:rPr lang="en-US" dirty="0"/>
              <a:t>Connectivity</a:t>
            </a:r>
          </a:p>
        </p:txBody>
      </p:sp>
      <p:sp>
        <p:nvSpPr>
          <p:cNvPr id="5" name="Rectangle 4">
            <a:extLst>
              <a:ext uri="{FF2B5EF4-FFF2-40B4-BE49-F238E27FC236}">
                <a16:creationId xmlns:a16="http://schemas.microsoft.com/office/drawing/2014/main" id="{073C3604-3BE4-3987-2FC0-94A24BFFF76A}"/>
              </a:ext>
            </a:extLst>
          </p:cNvPr>
          <p:cNvSpPr/>
          <p:nvPr/>
        </p:nvSpPr>
        <p:spPr>
          <a:xfrm>
            <a:off x="2036056" y="3156937"/>
            <a:ext cx="1514299"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Mesh</a:t>
            </a:r>
          </a:p>
        </p:txBody>
      </p:sp>
      <p:sp>
        <p:nvSpPr>
          <p:cNvPr id="6" name="Rectangle 5">
            <a:extLst>
              <a:ext uri="{FF2B5EF4-FFF2-40B4-BE49-F238E27FC236}">
                <a16:creationId xmlns:a16="http://schemas.microsoft.com/office/drawing/2014/main" id="{D202CB90-005C-1ED7-004A-A3E93C40BC3D}"/>
              </a:ext>
            </a:extLst>
          </p:cNvPr>
          <p:cNvSpPr/>
          <p:nvPr/>
        </p:nvSpPr>
        <p:spPr>
          <a:xfrm>
            <a:off x="8016698" y="3163145"/>
            <a:ext cx="1354667"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I/O</a:t>
            </a:r>
          </a:p>
        </p:txBody>
      </p:sp>
      <p:sp>
        <p:nvSpPr>
          <p:cNvPr id="7" name="Rectangle 6">
            <a:extLst>
              <a:ext uri="{FF2B5EF4-FFF2-40B4-BE49-F238E27FC236}">
                <a16:creationId xmlns:a16="http://schemas.microsoft.com/office/drawing/2014/main" id="{3574D13C-0197-39DC-EEDE-C5DB057BE39E}"/>
              </a:ext>
            </a:extLst>
          </p:cNvPr>
          <p:cNvSpPr/>
          <p:nvPr/>
        </p:nvSpPr>
        <p:spPr>
          <a:xfrm>
            <a:off x="6614186" y="1325880"/>
            <a:ext cx="1354667"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Compare results</a:t>
            </a:r>
          </a:p>
        </p:txBody>
      </p:sp>
      <p:sp>
        <p:nvSpPr>
          <p:cNvPr id="8" name="Rectangle 7">
            <a:extLst>
              <a:ext uri="{FF2B5EF4-FFF2-40B4-BE49-F238E27FC236}">
                <a16:creationId xmlns:a16="http://schemas.microsoft.com/office/drawing/2014/main" id="{BC2EE776-07F1-7626-0470-B8DFF279B207}"/>
              </a:ext>
            </a:extLst>
          </p:cNvPr>
          <p:cNvSpPr/>
          <p:nvPr/>
        </p:nvSpPr>
        <p:spPr>
          <a:xfrm>
            <a:off x="3476359" y="1151182"/>
            <a:ext cx="1502658"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Initial conditions</a:t>
            </a:r>
          </a:p>
        </p:txBody>
      </p:sp>
      <p:sp>
        <p:nvSpPr>
          <p:cNvPr id="10" name="Rectangle 9">
            <a:extLst>
              <a:ext uri="{FF2B5EF4-FFF2-40B4-BE49-F238E27FC236}">
                <a16:creationId xmlns:a16="http://schemas.microsoft.com/office/drawing/2014/main" id="{78820EAD-DA36-8931-80F9-2EC57E7E0B98}"/>
              </a:ext>
            </a:extLst>
          </p:cNvPr>
          <p:cNvSpPr/>
          <p:nvPr/>
        </p:nvSpPr>
        <p:spPr>
          <a:xfrm>
            <a:off x="2039768" y="4987994"/>
            <a:ext cx="1514299"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Boundary conditions</a:t>
            </a:r>
          </a:p>
        </p:txBody>
      </p:sp>
      <p:sp>
        <p:nvSpPr>
          <p:cNvPr id="11" name="Rectangle 10">
            <a:extLst>
              <a:ext uri="{FF2B5EF4-FFF2-40B4-BE49-F238E27FC236}">
                <a16:creationId xmlns:a16="http://schemas.microsoft.com/office/drawing/2014/main" id="{68E9402E-E2BE-60E5-059D-D660163B87C7}"/>
              </a:ext>
            </a:extLst>
          </p:cNvPr>
          <p:cNvSpPr/>
          <p:nvPr/>
        </p:nvSpPr>
        <p:spPr>
          <a:xfrm>
            <a:off x="4905022" y="3163145"/>
            <a:ext cx="1514299"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Driver</a:t>
            </a:r>
          </a:p>
        </p:txBody>
      </p:sp>
      <p:cxnSp>
        <p:nvCxnSpPr>
          <p:cNvPr id="13" name="Straight Arrow Connector 12">
            <a:extLst>
              <a:ext uri="{FF2B5EF4-FFF2-40B4-BE49-F238E27FC236}">
                <a16:creationId xmlns:a16="http://schemas.microsoft.com/office/drawing/2014/main" id="{E9914A73-8A36-E371-E676-19EB304BD59E}"/>
              </a:ext>
            </a:extLst>
          </p:cNvPr>
          <p:cNvCxnSpPr>
            <a:stCxn id="11" idx="3"/>
            <a:endCxn id="6" idx="1"/>
          </p:cNvCxnSpPr>
          <p:nvPr/>
        </p:nvCxnSpPr>
        <p:spPr>
          <a:xfrm>
            <a:off x="6419321" y="3738879"/>
            <a:ext cx="1597377" cy="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80CBDE67-CC22-1A48-9884-1ADA95EB9BD1}"/>
              </a:ext>
            </a:extLst>
          </p:cNvPr>
          <p:cNvCxnSpPr>
            <a:stCxn id="11" idx="0"/>
            <a:endCxn id="7" idx="2"/>
          </p:cNvCxnSpPr>
          <p:nvPr/>
        </p:nvCxnSpPr>
        <p:spPr>
          <a:xfrm flipV="1">
            <a:off x="5662172" y="2477347"/>
            <a:ext cx="1629348" cy="685798"/>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5DF4346B-469D-D298-97DD-C70BD06BABDB}"/>
              </a:ext>
            </a:extLst>
          </p:cNvPr>
          <p:cNvCxnSpPr>
            <a:cxnSpLocks/>
            <a:stCxn id="11" idx="1"/>
            <a:endCxn id="5" idx="3"/>
          </p:cNvCxnSpPr>
          <p:nvPr/>
        </p:nvCxnSpPr>
        <p:spPr>
          <a:xfrm flipH="1" flipV="1">
            <a:off x="3550355" y="3732671"/>
            <a:ext cx="1354667" cy="6208"/>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D4491153-3D9E-1ABD-5F37-C120E3C07400}"/>
              </a:ext>
            </a:extLst>
          </p:cNvPr>
          <p:cNvSpPr/>
          <p:nvPr/>
        </p:nvSpPr>
        <p:spPr>
          <a:xfrm>
            <a:off x="7406648" y="4942273"/>
            <a:ext cx="1514299"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err="1">
                <a:solidFill>
                  <a:schemeClr val="bg1"/>
                </a:solidFill>
              </a:rPr>
              <a:t>Hydrodyn-amics</a:t>
            </a:r>
            <a:endParaRPr lang="en-US" sz="2000" dirty="0">
              <a:solidFill>
                <a:schemeClr val="bg1"/>
              </a:solidFill>
            </a:endParaRPr>
          </a:p>
        </p:txBody>
      </p:sp>
      <p:sp>
        <p:nvSpPr>
          <p:cNvPr id="21" name="Rectangle 20">
            <a:extLst>
              <a:ext uri="{FF2B5EF4-FFF2-40B4-BE49-F238E27FC236}">
                <a16:creationId xmlns:a16="http://schemas.microsoft.com/office/drawing/2014/main" id="{5815E1CA-2134-6506-0621-B2F4FD25E1B7}"/>
              </a:ext>
            </a:extLst>
          </p:cNvPr>
          <p:cNvSpPr/>
          <p:nvPr/>
        </p:nvSpPr>
        <p:spPr>
          <a:xfrm>
            <a:off x="4917696" y="5555822"/>
            <a:ext cx="1514299"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EOS</a:t>
            </a:r>
          </a:p>
        </p:txBody>
      </p:sp>
      <p:cxnSp>
        <p:nvCxnSpPr>
          <p:cNvPr id="26" name="Straight Arrow Connector 25">
            <a:extLst>
              <a:ext uri="{FF2B5EF4-FFF2-40B4-BE49-F238E27FC236}">
                <a16:creationId xmlns:a16="http://schemas.microsoft.com/office/drawing/2014/main" id="{D4F35691-1CB9-CD71-9F3A-73F32CF1C0ED}"/>
              </a:ext>
            </a:extLst>
          </p:cNvPr>
          <p:cNvCxnSpPr>
            <a:cxnSpLocks/>
            <a:stCxn id="11" idx="0"/>
            <a:endCxn id="8" idx="2"/>
          </p:cNvCxnSpPr>
          <p:nvPr/>
        </p:nvCxnSpPr>
        <p:spPr>
          <a:xfrm flipH="1" flipV="1">
            <a:off x="4227688" y="2302649"/>
            <a:ext cx="1434484" cy="860496"/>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C0E094FF-5ED2-613B-C2E6-653BDBF1BBC0}"/>
              </a:ext>
            </a:extLst>
          </p:cNvPr>
          <p:cNvCxnSpPr>
            <a:cxnSpLocks/>
            <a:endCxn id="5" idx="0"/>
          </p:cNvCxnSpPr>
          <p:nvPr/>
        </p:nvCxnSpPr>
        <p:spPr>
          <a:xfrm flipH="1">
            <a:off x="2793206" y="1739332"/>
            <a:ext cx="683153" cy="1417605"/>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E7D8EADD-73F0-D41F-E6F8-30D812A0FB5B}"/>
              </a:ext>
            </a:extLst>
          </p:cNvPr>
          <p:cNvCxnSpPr>
            <a:cxnSpLocks/>
            <a:stCxn id="11" idx="2"/>
            <a:endCxn id="20" idx="0"/>
          </p:cNvCxnSpPr>
          <p:nvPr/>
        </p:nvCxnSpPr>
        <p:spPr>
          <a:xfrm>
            <a:off x="5662172" y="4314612"/>
            <a:ext cx="2501626" cy="627661"/>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84CEBADD-8915-C2CF-D57A-CF4E74A1ADA9}"/>
              </a:ext>
            </a:extLst>
          </p:cNvPr>
          <p:cNvCxnSpPr>
            <a:cxnSpLocks/>
            <a:stCxn id="5" idx="2"/>
            <a:endCxn id="10" idx="0"/>
          </p:cNvCxnSpPr>
          <p:nvPr/>
        </p:nvCxnSpPr>
        <p:spPr>
          <a:xfrm>
            <a:off x="2793206" y="4308404"/>
            <a:ext cx="3712" cy="67959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9776E6BA-1976-AFDF-65EA-F93DD21FC5B0}"/>
              </a:ext>
            </a:extLst>
          </p:cNvPr>
          <p:cNvCxnSpPr>
            <a:cxnSpLocks/>
            <a:stCxn id="20" idx="1"/>
            <a:endCxn id="21" idx="3"/>
          </p:cNvCxnSpPr>
          <p:nvPr/>
        </p:nvCxnSpPr>
        <p:spPr>
          <a:xfrm flipH="1">
            <a:off x="6431995" y="5518007"/>
            <a:ext cx="974653" cy="613549"/>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8A5C21F6-A544-F80D-CA8C-02C34DA8BF3D}"/>
              </a:ext>
            </a:extLst>
          </p:cNvPr>
          <p:cNvCxnSpPr>
            <a:cxnSpLocks/>
            <a:endCxn id="21" idx="1"/>
          </p:cNvCxnSpPr>
          <p:nvPr/>
        </p:nvCxnSpPr>
        <p:spPr>
          <a:xfrm>
            <a:off x="3550355" y="4306708"/>
            <a:ext cx="1367341" cy="1824848"/>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2318B9C8-BD4E-1090-2F25-2C5ACA1E988E}"/>
              </a:ext>
            </a:extLst>
          </p:cNvPr>
          <p:cNvCxnSpPr>
            <a:cxnSpLocks/>
            <a:stCxn id="20" idx="1"/>
          </p:cNvCxnSpPr>
          <p:nvPr/>
        </p:nvCxnSpPr>
        <p:spPr>
          <a:xfrm flipH="1" flipV="1">
            <a:off x="3544533" y="3696263"/>
            <a:ext cx="3862115" cy="1821744"/>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9202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Group 52"/>
          <p:cNvGrpSpPr/>
          <p:nvPr/>
        </p:nvGrpSpPr>
        <p:grpSpPr>
          <a:xfrm>
            <a:off x="1708778" y="1762304"/>
            <a:ext cx="3709959" cy="4017451"/>
            <a:chOff x="-314717" y="643786"/>
            <a:chExt cx="4946614" cy="5356602"/>
          </a:xfrm>
        </p:grpSpPr>
        <p:sp>
          <p:nvSpPr>
            <p:cNvPr id="4" name="TextBox 3"/>
            <p:cNvSpPr txBox="1"/>
            <p:nvPr/>
          </p:nvSpPr>
          <p:spPr>
            <a:xfrm>
              <a:off x="1082915" y="643786"/>
              <a:ext cx="2161276" cy="492443"/>
            </a:xfrm>
            <a:prstGeom prst="rect">
              <a:avLst/>
            </a:prstGeom>
            <a:solidFill>
              <a:schemeClr val="accent1">
                <a:lumMod val="20000"/>
                <a:lumOff val="80000"/>
              </a:schemeClr>
            </a:solidFill>
            <a:ln>
              <a:solidFill>
                <a:schemeClr val="tx1"/>
              </a:solidFill>
            </a:ln>
          </p:spPr>
          <p:txBody>
            <a:bodyPr wrap="none" rtlCol="0">
              <a:spAutoFit/>
            </a:bodyPr>
            <a:lstStyle/>
            <a:p>
              <a:r>
                <a:rPr lang="en-US" dirty="0"/>
                <a:t>Requirements</a:t>
              </a:r>
            </a:p>
          </p:txBody>
        </p:sp>
        <p:sp>
          <p:nvSpPr>
            <p:cNvPr id="8" name="TextBox 7"/>
            <p:cNvSpPr txBox="1"/>
            <p:nvPr/>
          </p:nvSpPr>
          <p:spPr>
            <a:xfrm>
              <a:off x="-314717" y="1661953"/>
              <a:ext cx="4946614" cy="492443"/>
            </a:xfrm>
            <a:prstGeom prst="rect">
              <a:avLst/>
            </a:prstGeom>
            <a:solidFill>
              <a:srgbClr val="DF6474"/>
            </a:solidFill>
            <a:ln>
              <a:solidFill>
                <a:schemeClr val="tx1"/>
              </a:solidFill>
            </a:ln>
          </p:spPr>
          <p:txBody>
            <a:bodyPr wrap="square" rtlCol="0">
              <a:spAutoFit/>
            </a:bodyPr>
            <a:lstStyle/>
            <a:p>
              <a:r>
                <a:rPr lang="en-US" dirty="0"/>
                <a:t>Software Architecture API  Design</a:t>
              </a:r>
            </a:p>
          </p:txBody>
        </p:sp>
        <p:sp>
          <p:nvSpPr>
            <p:cNvPr id="10" name="TextBox 9"/>
            <p:cNvSpPr txBox="1"/>
            <p:nvPr/>
          </p:nvSpPr>
          <p:spPr>
            <a:xfrm>
              <a:off x="1317335" y="2878282"/>
              <a:ext cx="1682512" cy="492443"/>
            </a:xfrm>
            <a:prstGeom prst="rect">
              <a:avLst/>
            </a:prstGeom>
            <a:solidFill>
              <a:schemeClr val="accent1">
                <a:lumMod val="20000"/>
                <a:lumOff val="80000"/>
              </a:schemeClr>
            </a:solidFill>
            <a:ln>
              <a:solidFill>
                <a:schemeClr val="tx1"/>
              </a:solidFill>
            </a:ln>
          </p:spPr>
          <p:txBody>
            <a:bodyPr wrap="none" rtlCol="0">
              <a:spAutoFit/>
            </a:bodyPr>
            <a:lstStyle/>
            <a:p>
              <a:r>
                <a:rPr lang="en-US" dirty="0"/>
                <a:t>Implement</a:t>
              </a:r>
            </a:p>
          </p:txBody>
        </p:sp>
        <p:sp>
          <p:nvSpPr>
            <p:cNvPr id="11" name="TextBox 10"/>
            <p:cNvSpPr txBox="1"/>
            <p:nvPr/>
          </p:nvSpPr>
          <p:spPr>
            <a:xfrm>
              <a:off x="1753309" y="3705933"/>
              <a:ext cx="810564" cy="492443"/>
            </a:xfrm>
            <a:prstGeom prst="rect">
              <a:avLst/>
            </a:prstGeom>
            <a:solidFill>
              <a:srgbClr val="DF6474"/>
            </a:solidFill>
            <a:ln>
              <a:solidFill>
                <a:schemeClr val="tx1"/>
              </a:solidFill>
            </a:ln>
          </p:spPr>
          <p:txBody>
            <a:bodyPr wrap="none" rtlCol="0">
              <a:spAutoFit/>
            </a:bodyPr>
            <a:lstStyle/>
            <a:p>
              <a:r>
                <a:rPr lang="en-US" dirty="0"/>
                <a:t>Test</a:t>
              </a:r>
            </a:p>
          </p:txBody>
        </p:sp>
        <p:sp>
          <p:nvSpPr>
            <p:cNvPr id="12" name="TextBox 11"/>
            <p:cNvSpPr txBox="1"/>
            <p:nvPr/>
          </p:nvSpPr>
          <p:spPr>
            <a:xfrm>
              <a:off x="1469618" y="4687727"/>
              <a:ext cx="1408934" cy="492443"/>
            </a:xfrm>
            <a:prstGeom prst="rect">
              <a:avLst/>
            </a:prstGeom>
            <a:solidFill>
              <a:schemeClr val="accent1">
                <a:lumMod val="20000"/>
                <a:lumOff val="80000"/>
              </a:schemeClr>
            </a:solidFill>
            <a:ln>
              <a:solidFill>
                <a:schemeClr val="tx1"/>
              </a:solidFill>
            </a:ln>
          </p:spPr>
          <p:txBody>
            <a:bodyPr wrap="none" rtlCol="0">
              <a:spAutoFit/>
            </a:bodyPr>
            <a:lstStyle/>
            <a:p>
              <a:r>
                <a:rPr lang="en-US" dirty="0"/>
                <a:t>Maintain</a:t>
              </a:r>
            </a:p>
          </p:txBody>
        </p:sp>
        <p:sp>
          <p:nvSpPr>
            <p:cNvPr id="13" name="TextBox 12"/>
            <p:cNvSpPr txBox="1"/>
            <p:nvPr/>
          </p:nvSpPr>
          <p:spPr>
            <a:xfrm>
              <a:off x="1435421" y="5507945"/>
              <a:ext cx="1477328" cy="492443"/>
            </a:xfrm>
            <a:prstGeom prst="rect">
              <a:avLst/>
            </a:prstGeom>
            <a:solidFill>
              <a:srgbClr val="DF6474"/>
            </a:solidFill>
            <a:ln>
              <a:solidFill>
                <a:schemeClr val="tx1"/>
              </a:solidFill>
            </a:ln>
          </p:spPr>
          <p:txBody>
            <a:bodyPr wrap="none" rtlCol="0">
              <a:spAutoFit/>
            </a:bodyPr>
            <a:lstStyle/>
            <a:p>
              <a:r>
                <a:rPr lang="en-US" dirty="0"/>
                <a:t>Augment</a:t>
              </a:r>
            </a:p>
          </p:txBody>
        </p:sp>
        <p:cxnSp>
          <p:nvCxnSpPr>
            <p:cNvPr id="21" name="Straight Arrow Connector 20"/>
            <p:cNvCxnSpPr>
              <a:cxnSpLocks/>
              <a:stCxn id="4" idx="2"/>
              <a:endCxn id="8" idx="0"/>
            </p:cNvCxnSpPr>
            <p:nvPr/>
          </p:nvCxnSpPr>
          <p:spPr>
            <a:xfrm flipH="1">
              <a:off x="2158591" y="1136229"/>
              <a:ext cx="4963" cy="525724"/>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3" name="Straight Arrow Connector 22"/>
            <p:cNvCxnSpPr>
              <a:cxnSpLocks/>
              <a:stCxn id="8" idx="2"/>
              <a:endCxn id="10" idx="0"/>
            </p:cNvCxnSpPr>
            <p:nvPr/>
          </p:nvCxnSpPr>
          <p:spPr>
            <a:xfrm>
              <a:off x="2158591" y="2154396"/>
              <a:ext cx="1" cy="723887"/>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6" name="Straight Arrow Connector 25"/>
            <p:cNvCxnSpPr>
              <a:cxnSpLocks/>
              <a:stCxn id="10" idx="2"/>
              <a:endCxn id="11" idx="0"/>
            </p:cNvCxnSpPr>
            <p:nvPr/>
          </p:nvCxnSpPr>
          <p:spPr>
            <a:xfrm>
              <a:off x="2158591" y="3370725"/>
              <a:ext cx="0" cy="335208"/>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28"/>
            <p:cNvCxnSpPr>
              <a:cxnSpLocks/>
              <a:stCxn id="11" idx="2"/>
              <a:endCxn id="12" idx="0"/>
            </p:cNvCxnSpPr>
            <p:nvPr/>
          </p:nvCxnSpPr>
          <p:spPr>
            <a:xfrm>
              <a:off x="2158591" y="4198376"/>
              <a:ext cx="15493" cy="489351"/>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31" name="Straight Arrow Connector 30"/>
            <p:cNvCxnSpPr>
              <a:cxnSpLocks/>
              <a:stCxn id="12" idx="2"/>
              <a:endCxn id="13" idx="0"/>
            </p:cNvCxnSpPr>
            <p:nvPr/>
          </p:nvCxnSpPr>
          <p:spPr>
            <a:xfrm>
              <a:off x="2174085" y="5180169"/>
              <a:ext cx="0" cy="327776"/>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grpSp>
      <p:grpSp>
        <p:nvGrpSpPr>
          <p:cNvPr id="54" name="Group 53"/>
          <p:cNvGrpSpPr/>
          <p:nvPr/>
        </p:nvGrpSpPr>
        <p:grpSpPr>
          <a:xfrm>
            <a:off x="5310296" y="1774641"/>
            <a:ext cx="2020861" cy="4019171"/>
            <a:chOff x="5164498" y="592290"/>
            <a:chExt cx="1460230" cy="5021045"/>
          </a:xfrm>
        </p:grpSpPr>
        <p:sp>
          <p:nvSpPr>
            <p:cNvPr id="14" name="TextBox 13"/>
            <p:cNvSpPr txBox="1"/>
            <p:nvPr/>
          </p:nvSpPr>
          <p:spPr>
            <a:xfrm>
              <a:off x="5361852" y="592290"/>
              <a:ext cx="1084058" cy="492443"/>
            </a:xfrm>
            <a:prstGeom prst="rect">
              <a:avLst/>
            </a:prstGeom>
            <a:solidFill>
              <a:schemeClr val="accent3">
                <a:lumMod val="20000"/>
                <a:lumOff val="80000"/>
              </a:schemeClr>
            </a:solidFill>
            <a:ln>
              <a:solidFill>
                <a:schemeClr val="tx1"/>
              </a:solidFill>
            </a:ln>
          </p:spPr>
          <p:txBody>
            <a:bodyPr wrap="none" rtlCol="0">
              <a:spAutoFit/>
            </a:bodyPr>
            <a:lstStyle/>
            <a:p>
              <a:r>
                <a:rPr lang="en-US" dirty="0"/>
                <a:t>Model</a:t>
              </a:r>
            </a:p>
          </p:txBody>
        </p:sp>
        <p:sp>
          <p:nvSpPr>
            <p:cNvPr id="15" name="TextBox 14"/>
            <p:cNvSpPr txBox="1"/>
            <p:nvPr/>
          </p:nvSpPr>
          <p:spPr>
            <a:xfrm>
              <a:off x="5532838" y="1524766"/>
              <a:ext cx="742084" cy="492443"/>
            </a:xfrm>
            <a:prstGeom prst="rect">
              <a:avLst/>
            </a:prstGeom>
            <a:solidFill>
              <a:srgbClr val="DF6474"/>
            </a:solidFill>
            <a:ln>
              <a:solidFill>
                <a:schemeClr val="tx1"/>
              </a:solidFill>
            </a:ln>
          </p:spPr>
          <p:txBody>
            <a:bodyPr wrap="none" rtlCol="0">
              <a:spAutoFit/>
            </a:bodyPr>
            <a:lstStyle/>
            <a:p>
              <a:r>
                <a:rPr lang="en-US" dirty="0"/>
                <a:t>API</a:t>
              </a:r>
            </a:p>
          </p:txBody>
        </p:sp>
        <p:sp>
          <p:nvSpPr>
            <p:cNvPr id="16" name="TextBox 15"/>
            <p:cNvSpPr txBox="1"/>
            <p:nvPr/>
          </p:nvSpPr>
          <p:spPr>
            <a:xfrm>
              <a:off x="5210370" y="2666866"/>
              <a:ext cx="1374735" cy="861775"/>
            </a:xfrm>
            <a:prstGeom prst="rect">
              <a:avLst/>
            </a:prstGeom>
            <a:solidFill>
              <a:schemeClr val="accent3">
                <a:lumMod val="20000"/>
                <a:lumOff val="80000"/>
              </a:schemeClr>
            </a:solidFill>
            <a:ln>
              <a:solidFill>
                <a:schemeClr val="tx1"/>
              </a:solidFill>
            </a:ln>
          </p:spPr>
          <p:txBody>
            <a:bodyPr wrap="none" rtlCol="0">
              <a:spAutoFit/>
            </a:bodyPr>
            <a:lstStyle/>
            <a:p>
              <a:r>
                <a:rPr lang="en-US" dirty="0"/>
                <a:t>Design</a:t>
              </a:r>
            </a:p>
            <a:p>
              <a:r>
                <a:rPr lang="en-US" dirty="0"/>
                <a:t>Develop</a:t>
              </a:r>
            </a:p>
          </p:txBody>
        </p:sp>
        <p:sp>
          <p:nvSpPr>
            <p:cNvPr id="18" name="TextBox 17"/>
            <p:cNvSpPr txBox="1"/>
            <p:nvPr/>
          </p:nvSpPr>
          <p:spPr>
            <a:xfrm>
              <a:off x="5225813" y="3935140"/>
              <a:ext cx="1334811" cy="492443"/>
            </a:xfrm>
            <a:prstGeom prst="rect">
              <a:avLst/>
            </a:prstGeom>
            <a:solidFill>
              <a:schemeClr val="accent3">
                <a:lumMod val="20000"/>
                <a:lumOff val="80000"/>
              </a:schemeClr>
            </a:solidFill>
            <a:ln>
              <a:solidFill>
                <a:schemeClr val="tx1"/>
              </a:solidFill>
            </a:ln>
          </p:spPr>
          <p:txBody>
            <a:bodyPr wrap="none" rtlCol="0">
              <a:spAutoFit/>
            </a:bodyPr>
            <a:lstStyle/>
            <a:p>
              <a:r>
                <a:rPr lang="en-US" dirty="0"/>
                <a:t>Validate</a:t>
              </a:r>
            </a:p>
          </p:txBody>
        </p:sp>
        <p:sp>
          <p:nvSpPr>
            <p:cNvPr id="19" name="TextBox 18"/>
            <p:cNvSpPr txBox="1"/>
            <p:nvPr/>
          </p:nvSpPr>
          <p:spPr>
            <a:xfrm>
              <a:off x="5164498" y="5120893"/>
              <a:ext cx="1460230" cy="492442"/>
            </a:xfrm>
            <a:prstGeom prst="rect">
              <a:avLst/>
            </a:prstGeom>
            <a:solidFill>
              <a:srgbClr val="DF6474"/>
            </a:solidFill>
            <a:ln>
              <a:solidFill>
                <a:schemeClr val="tx1"/>
              </a:solidFill>
            </a:ln>
          </p:spPr>
          <p:txBody>
            <a:bodyPr wrap="none" rtlCol="0">
              <a:spAutoFit/>
            </a:bodyPr>
            <a:lstStyle/>
            <a:p>
              <a:r>
                <a:rPr lang="en-US" dirty="0"/>
                <a:t>Integrate</a:t>
              </a:r>
            </a:p>
          </p:txBody>
        </p:sp>
        <p:cxnSp>
          <p:nvCxnSpPr>
            <p:cNvPr id="33" name="Straight Arrow Connector 32"/>
            <p:cNvCxnSpPr>
              <a:cxnSpLocks/>
              <a:stCxn id="14" idx="2"/>
              <a:endCxn id="15" idx="0"/>
            </p:cNvCxnSpPr>
            <p:nvPr/>
          </p:nvCxnSpPr>
          <p:spPr>
            <a:xfrm flipH="1">
              <a:off x="5903880" y="1084732"/>
              <a:ext cx="1" cy="440033"/>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a:cxnSpLocks/>
              <a:stCxn id="15" idx="2"/>
              <a:endCxn id="16" idx="0"/>
            </p:cNvCxnSpPr>
            <p:nvPr/>
          </p:nvCxnSpPr>
          <p:spPr>
            <a:xfrm flipH="1">
              <a:off x="5897738" y="2017209"/>
              <a:ext cx="6143" cy="649657"/>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39" name="Straight Arrow Connector 38"/>
            <p:cNvCxnSpPr>
              <a:cxnSpLocks/>
              <a:stCxn id="16" idx="2"/>
              <a:endCxn id="18" idx="0"/>
            </p:cNvCxnSpPr>
            <p:nvPr/>
          </p:nvCxnSpPr>
          <p:spPr>
            <a:xfrm flipH="1">
              <a:off x="5893218" y="3528641"/>
              <a:ext cx="4520" cy="406499"/>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41" name="Straight Arrow Connector 40"/>
            <p:cNvCxnSpPr>
              <a:cxnSpLocks/>
              <a:stCxn id="18" idx="2"/>
              <a:endCxn id="19" idx="0"/>
            </p:cNvCxnSpPr>
            <p:nvPr/>
          </p:nvCxnSpPr>
          <p:spPr>
            <a:xfrm>
              <a:off x="5893219" y="4427583"/>
              <a:ext cx="1395" cy="693309"/>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grpSp>
      <p:cxnSp>
        <p:nvCxnSpPr>
          <p:cNvPr id="68" name="Elbow Connector 67"/>
          <p:cNvCxnSpPr>
            <a:cxnSpLocks/>
            <a:stCxn id="13" idx="1"/>
            <a:endCxn id="8" idx="1"/>
          </p:cNvCxnSpPr>
          <p:nvPr/>
        </p:nvCxnSpPr>
        <p:spPr>
          <a:xfrm rot="10800000">
            <a:off x="1708779" y="2710595"/>
            <a:ext cx="1312603" cy="2884494"/>
          </a:xfrm>
          <a:prstGeom prst="bentConnector3">
            <a:avLst>
              <a:gd name="adj1" fmla="val 117416"/>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70" name="Elbow Connector 69"/>
          <p:cNvCxnSpPr>
            <a:cxnSpLocks/>
            <a:stCxn id="18" idx="3"/>
            <a:endCxn id="16" idx="3"/>
          </p:cNvCxnSpPr>
          <p:nvPr/>
        </p:nvCxnSpPr>
        <p:spPr>
          <a:xfrm flipV="1">
            <a:off x="7242441" y="3780178"/>
            <a:ext cx="33881" cy="867390"/>
          </a:xfrm>
          <a:prstGeom prst="bentConnector3">
            <a:avLst>
              <a:gd name="adj1" fmla="val 774714"/>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2976016" y="1122844"/>
            <a:ext cx="1544012" cy="369332"/>
          </a:xfrm>
          <a:prstGeom prst="rect">
            <a:avLst/>
          </a:prstGeom>
          <a:noFill/>
        </p:spPr>
        <p:txBody>
          <a:bodyPr wrap="none" rtlCol="0">
            <a:spAutoFit/>
          </a:bodyPr>
          <a:lstStyle/>
          <a:p>
            <a:r>
              <a:rPr lang="en-US" dirty="0"/>
              <a:t>Infrastructure</a:t>
            </a:r>
          </a:p>
        </p:txBody>
      </p:sp>
      <p:sp>
        <p:nvSpPr>
          <p:cNvPr id="75" name="TextBox 74"/>
          <p:cNvSpPr txBox="1"/>
          <p:nvPr/>
        </p:nvSpPr>
        <p:spPr>
          <a:xfrm>
            <a:off x="5310296" y="1138269"/>
            <a:ext cx="1377300" cy="369332"/>
          </a:xfrm>
          <a:prstGeom prst="rect">
            <a:avLst/>
          </a:prstGeom>
          <a:noFill/>
        </p:spPr>
        <p:txBody>
          <a:bodyPr wrap="none" rtlCol="0">
            <a:spAutoFit/>
          </a:bodyPr>
          <a:lstStyle/>
          <a:p>
            <a:r>
              <a:rPr lang="en-US" dirty="0"/>
              <a:t>Capabilities</a:t>
            </a:r>
          </a:p>
        </p:txBody>
      </p:sp>
      <p:cxnSp>
        <p:nvCxnSpPr>
          <p:cNvPr id="77" name="Elbow Connector 76"/>
          <p:cNvCxnSpPr>
            <a:cxnSpLocks/>
            <a:stCxn id="19" idx="1"/>
            <a:endCxn id="13" idx="3"/>
          </p:cNvCxnSpPr>
          <p:nvPr/>
        </p:nvCxnSpPr>
        <p:spPr>
          <a:xfrm rot="10800000">
            <a:off x="4129378" y="5595089"/>
            <a:ext cx="1180919" cy="1632"/>
          </a:xfrm>
          <a:prstGeom prst="bentConnector3">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81" name="Elbow Connector 80"/>
          <p:cNvCxnSpPr>
            <a:cxnSpLocks/>
            <a:stCxn id="8" idx="3"/>
            <a:endCxn id="15" idx="1"/>
          </p:cNvCxnSpPr>
          <p:nvPr/>
        </p:nvCxnSpPr>
        <p:spPr>
          <a:xfrm>
            <a:off x="5418737" y="2710595"/>
            <a:ext cx="401317" cy="7552"/>
          </a:xfrm>
          <a:prstGeom prst="bentConnector3">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84" name="Elbow Connector 83"/>
          <p:cNvCxnSpPr>
            <a:cxnSpLocks/>
            <a:stCxn id="11" idx="1"/>
            <a:endCxn id="4" idx="1"/>
          </p:cNvCxnSpPr>
          <p:nvPr/>
        </p:nvCxnSpPr>
        <p:spPr>
          <a:xfrm rot="10800000">
            <a:off x="2757003" y="1946970"/>
            <a:ext cx="502795" cy="2296610"/>
          </a:xfrm>
          <a:prstGeom prst="bentConnector3">
            <a:avLst>
              <a:gd name="adj1" fmla="val 35186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3" name="Elbow Connector 2"/>
          <p:cNvCxnSpPr>
            <a:cxnSpLocks/>
            <a:stCxn id="19" idx="1"/>
            <a:endCxn id="11" idx="3"/>
          </p:cNvCxnSpPr>
          <p:nvPr/>
        </p:nvCxnSpPr>
        <p:spPr>
          <a:xfrm rot="10800000">
            <a:off x="3867720" y="4243581"/>
            <a:ext cx="1442576" cy="1353141"/>
          </a:xfrm>
          <a:prstGeom prst="bentConnector3">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34" name="Title 1">
            <a:extLst>
              <a:ext uri="{FF2B5EF4-FFF2-40B4-BE49-F238E27FC236}">
                <a16:creationId xmlns:a16="http://schemas.microsoft.com/office/drawing/2014/main" id="{A172EDB7-CE70-8B47-8CF0-8A8FF97B00F5}"/>
              </a:ext>
            </a:extLst>
          </p:cNvPr>
          <p:cNvSpPr>
            <a:spLocks noGrp="1"/>
          </p:cNvSpPr>
          <p:nvPr>
            <p:ph type="title"/>
          </p:nvPr>
        </p:nvSpPr>
        <p:spPr>
          <a:xfrm>
            <a:off x="484042" y="219522"/>
            <a:ext cx="9652508" cy="615799"/>
          </a:xfrm>
        </p:spPr>
        <p:txBody>
          <a:bodyPr/>
          <a:lstStyle/>
          <a:p>
            <a:r>
              <a:rPr lang="en-US" dirty="0"/>
              <a:t>A Design Model for Separation of Concerns</a:t>
            </a:r>
          </a:p>
        </p:txBody>
      </p:sp>
    </p:spTree>
    <p:extLst>
      <p:ext uri="{BB962C8B-B14F-4D97-AF65-F5344CB8AC3E}">
        <p14:creationId xmlns:p14="http://schemas.microsoft.com/office/powerpoint/2010/main" val="32663527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40" name="Rectangle 10"/>
          <p:cNvSpPr>
            <a:spLocks noChangeArrowheads="1"/>
          </p:cNvSpPr>
          <p:nvPr/>
        </p:nvSpPr>
        <p:spPr bwMode="auto">
          <a:xfrm>
            <a:off x="1134300" y="2377899"/>
            <a:ext cx="1314792" cy="857473"/>
          </a:xfrm>
          <a:prstGeom prst="rect">
            <a:avLst/>
          </a:prstGeom>
          <a:solidFill>
            <a:srgbClr val="FF9900"/>
          </a:solidFill>
          <a:ln w="9525">
            <a:solidFill>
              <a:srgbClr val="000000"/>
            </a:solidFill>
            <a:round/>
            <a:headEnd/>
            <a:tailEnd/>
          </a:ln>
        </p:spPr>
        <p:txBody>
          <a:bodyPr wrap="none" anchor="ctr">
            <a:prstTxWarp prst="textNoShape">
              <a:avLst/>
            </a:prstTxWarp>
          </a:bodyPr>
          <a:lstStyle/>
          <a:p>
            <a:r>
              <a:rPr lang="en-US" sz="1350" dirty="0"/>
              <a:t>Real view : A </a:t>
            </a:r>
          </a:p>
          <a:p>
            <a:r>
              <a:rPr lang="en-US" sz="1350" dirty="0"/>
              <a:t>whole domain </a:t>
            </a:r>
          </a:p>
          <a:p>
            <a:r>
              <a:rPr lang="en-US" sz="1350" dirty="0"/>
              <a:t>with many </a:t>
            </a:r>
          </a:p>
          <a:p>
            <a:r>
              <a:rPr lang="en-US" sz="1350" dirty="0"/>
              <a:t>operators</a:t>
            </a:r>
          </a:p>
        </p:txBody>
      </p:sp>
      <p:sp>
        <p:nvSpPr>
          <p:cNvPr id="18441" name="Rectangle 11"/>
          <p:cNvSpPr>
            <a:spLocks noChangeArrowheads="1"/>
          </p:cNvSpPr>
          <p:nvPr/>
        </p:nvSpPr>
        <p:spPr bwMode="auto">
          <a:xfrm>
            <a:off x="1134300" y="3587404"/>
            <a:ext cx="1314792" cy="754532"/>
          </a:xfrm>
          <a:prstGeom prst="rect">
            <a:avLst/>
          </a:prstGeom>
          <a:solidFill>
            <a:srgbClr val="FF9900"/>
          </a:solidFill>
          <a:ln w="9525">
            <a:solidFill>
              <a:srgbClr val="000000"/>
            </a:solidFill>
            <a:round/>
            <a:headEnd/>
            <a:tailEnd/>
          </a:ln>
        </p:spPr>
        <p:txBody>
          <a:bodyPr wrap="none" anchor="ctr">
            <a:prstTxWarp prst="textNoShape">
              <a:avLst/>
            </a:prstTxWarp>
          </a:bodyPr>
          <a:lstStyle/>
          <a:p>
            <a:r>
              <a:rPr lang="en-US" sz="1350" dirty="0"/>
              <a:t>Functional </a:t>
            </a:r>
          </a:p>
          <a:p>
            <a:r>
              <a:rPr lang="en-US" sz="1350" dirty="0"/>
              <a:t>decomposition</a:t>
            </a:r>
          </a:p>
          <a:p>
            <a:endParaRPr lang="en-US" sz="1350" dirty="0"/>
          </a:p>
        </p:txBody>
      </p:sp>
      <p:sp>
        <p:nvSpPr>
          <p:cNvPr id="18436" name="Rectangle 4"/>
          <p:cNvSpPr>
            <a:spLocks noChangeArrowheads="1"/>
          </p:cNvSpPr>
          <p:nvPr/>
        </p:nvSpPr>
        <p:spPr bwMode="auto">
          <a:xfrm>
            <a:off x="2907483" y="1197373"/>
            <a:ext cx="1371957" cy="858069"/>
          </a:xfrm>
          <a:prstGeom prst="rect">
            <a:avLst/>
          </a:prstGeom>
          <a:solidFill>
            <a:schemeClr val="accent2">
              <a:lumMod val="40000"/>
              <a:lumOff val="60000"/>
            </a:schemeClr>
          </a:solidFill>
          <a:ln w="9525">
            <a:solidFill>
              <a:srgbClr val="000000"/>
            </a:solidFill>
            <a:round/>
            <a:headEnd/>
            <a:tailEnd/>
          </a:ln>
        </p:spPr>
        <p:txBody>
          <a:bodyPr wrap="none" anchor="ctr">
            <a:prstTxWarp prst="textNoShape">
              <a:avLst/>
            </a:prstTxWarp>
          </a:bodyPr>
          <a:lstStyle/>
          <a:p>
            <a:endParaRPr lang="en-US" sz="1350" dirty="0"/>
          </a:p>
          <a:p>
            <a:r>
              <a:rPr lang="en-US" sz="1350" dirty="0"/>
              <a:t>domain sections </a:t>
            </a:r>
          </a:p>
          <a:p>
            <a:r>
              <a:rPr lang="en-US" sz="1350" dirty="0"/>
              <a:t>as stand-alone </a:t>
            </a:r>
          </a:p>
          <a:p>
            <a:r>
              <a:rPr lang="en-US" sz="1350" dirty="0"/>
              <a:t>computation unit </a:t>
            </a:r>
          </a:p>
          <a:p>
            <a:endParaRPr lang="en-US" sz="1350" dirty="0"/>
          </a:p>
        </p:txBody>
      </p:sp>
      <p:sp>
        <p:nvSpPr>
          <p:cNvPr id="39" name="Rectangle 11"/>
          <p:cNvSpPr>
            <a:spLocks noChangeArrowheads="1"/>
          </p:cNvSpPr>
          <p:nvPr/>
        </p:nvSpPr>
        <p:spPr bwMode="auto">
          <a:xfrm>
            <a:off x="2880626" y="3566208"/>
            <a:ext cx="1389442" cy="808870"/>
          </a:xfrm>
          <a:prstGeom prst="rect">
            <a:avLst/>
          </a:prstGeom>
          <a:solidFill>
            <a:schemeClr val="accent2">
              <a:lumMod val="40000"/>
              <a:lumOff val="60000"/>
            </a:schemeClr>
          </a:solidFill>
          <a:ln w="9525">
            <a:solidFill>
              <a:srgbClr val="000000"/>
            </a:solidFill>
            <a:round/>
            <a:headEnd/>
            <a:tailEnd/>
          </a:ln>
        </p:spPr>
        <p:txBody>
          <a:bodyPr wrap="none" anchor="ctr">
            <a:prstTxWarp prst="textNoShape">
              <a:avLst/>
            </a:prstTxWarp>
          </a:bodyPr>
          <a:lstStyle/>
          <a:p>
            <a:r>
              <a:rPr lang="en-US" sz="1350" dirty="0"/>
              <a:t>collection of</a:t>
            </a:r>
          </a:p>
          <a:p>
            <a:r>
              <a:rPr lang="en-US" sz="1350" dirty="0"/>
              <a:t>components </a:t>
            </a:r>
          </a:p>
        </p:txBody>
      </p:sp>
      <p:sp>
        <p:nvSpPr>
          <p:cNvPr id="50" name="Rectangle 11"/>
          <p:cNvSpPr>
            <a:spLocks noChangeArrowheads="1"/>
          </p:cNvSpPr>
          <p:nvPr/>
        </p:nvSpPr>
        <p:spPr bwMode="auto">
          <a:xfrm>
            <a:off x="1150315" y="1193277"/>
            <a:ext cx="1298777" cy="858069"/>
          </a:xfrm>
          <a:prstGeom prst="rect">
            <a:avLst/>
          </a:prstGeom>
          <a:solidFill>
            <a:srgbClr val="FF9900"/>
          </a:solidFill>
          <a:ln w="9525">
            <a:solidFill>
              <a:srgbClr val="000000"/>
            </a:solidFill>
            <a:round/>
            <a:headEnd/>
            <a:tailEnd/>
          </a:ln>
        </p:spPr>
        <p:txBody>
          <a:bodyPr wrap="none" anchor="ctr">
            <a:prstTxWarp prst="textNoShape">
              <a:avLst/>
            </a:prstTxWarp>
          </a:bodyPr>
          <a:lstStyle/>
          <a:p>
            <a:endParaRPr lang="en-US" sz="1350" dirty="0"/>
          </a:p>
          <a:p>
            <a:r>
              <a:rPr lang="en-US" sz="1350" dirty="0"/>
              <a:t>Spatial</a:t>
            </a:r>
          </a:p>
          <a:p>
            <a:r>
              <a:rPr lang="en-US" sz="1350" dirty="0"/>
              <a:t>decomposition</a:t>
            </a:r>
          </a:p>
          <a:p>
            <a:endParaRPr lang="en-US" sz="1350" dirty="0"/>
          </a:p>
        </p:txBody>
      </p:sp>
      <p:cxnSp>
        <p:nvCxnSpPr>
          <p:cNvPr id="48" name="Straight Arrow Connector 47"/>
          <p:cNvCxnSpPr>
            <a:stCxn id="50" idx="3"/>
            <a:endCxn id="18436" idx="1"/>
          </p:cNvCxnSpPr>
          <p:nvPr/>
        </p:nvCxnSpPr>
        <p:spPr>
          <a:xfrm>
            <a:off x="2449092" y="1622312"/>
            <a:ext cx="458391" cy="409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1" name="Straight Arrow Connector 50"/>
          <p:cNvCxnSpPr>
            <a:cxnSpLocks/>
            <a:stCxn id="18440" idx="2"/>
            <a:endCxn id="18441" idx="0"/>
          </p:cNvCxnSpPr>
          <p:nvPr/>
        </p:nvCxnSpPr>
        <p:spPr>
          <a:xfrm>
            <a:off x="1791696" y="3235372"/>
            <a:ext cx="0" cy="35203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nvGrpSpPr>
          <p:cNvPr id="36" name="Group 35"/>
          <p:cNvGrpSpPr>
            <a:grpSpLocks noChangeAspect="1"/>
          </p:cNvGrpSpPr>
          <p:nvPr/>
        </p:nvGrpSpPr>
        <p:grpSpPr>
          <a:xfrm>
            <a:off x="2880626" y="2192650"/>
            <a:ext cx="1343047" cy="1236350"/>
            <a:chOff x="755444" y="554451"/>
            <a:chExt cx="5884201" cy="5852160"/>
          </a:xfrm>
        </p:grpSpPr>
        <p:grpSp>
          <p:nvGrpSpPr>
            <p:cNvPr id="37" name="Group 36"/>
            <p:cNvGrpSpPr/>
            <p:nvPr/>
          </p:nvGrpSpPr>
          <p:grpSpPr>
            <a:xfrm>
              <a:off x="755444" y="554451"/>
              <a:ext cx="5884201" cy="5852160"/>
              <a:chOff x="3637559" y="1828800"/>
              <a:chExt cx="3677641" cy="3657600"/>
            </a:xfrm>
          </p:grpSpPr>
          <p:sp>
            <p:nvSpPr>
              <p:cNvPr id="64" name="Rectangle 63"/>
              <p:cNvSpPr/>
              <p:nvPr/>
            </p:nvSpPr>
            <p:spPr>
              <a:xfrm>
                <a:off x="3657600" y="1828800"/>
                <a:ext cx="3657600" cy="3657600"/>
              </a:xfrm>
              <a:prstGeom prst="rect">
                <a:avLst/>
              </a:prstGeom>
              <a:no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cxnSp>
            <p:nvCxnSpPr>
              <p:cNvPr id="65" name="Straight Connector 64"/>
              <p:cNvCxnSpPr>
                <a:stCxn id="64" idx="0"/>
                <a:endCxn id="64" idx="2"/>
              </p:cNvCxnSpPr>
              <p:nvPr/>
            </p:nvCxnSpPr>
            <p:spPr>
              <a:xfrm>
                <a:off x="5486400"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66" name="Straight Connector 65"/>
              <p:cNvCxnSpPr/>
              <p:nvPr/>
            </p:nvCxnSpPr>
            <p:spPr>
              <a:xfrm>
                <a:off x="5486400"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67" name="Straight Connector 66"/>
              <p:cNvCxnSpPr/>
              <p:nvPr/>
            </p:nvCxnSpPr>
            <p:spPr>
              <a:xfrm>
                <a:off x="5852160"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68" name="Straight Connector 67"/>
              <p:cNvCxnSpPr/>
              <p:nvPr/>
            </p:nvCxnSpPr>
            <p:spPr>
              <a:xfrm>
                <a:off x="6215189"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69" name="Straight Connector 68"/>
              <p:cNvCxnSpPr/>
              <p:nvPr/>
            </p:nvCxnSpPr>
            <p:spPr>
              <a:xfrm>
                <a:off x="4754880"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0" name="Straight Connector 69"/>
              <p:cNvCxnSpPr/>
              <p:nvPr/>
            </p:nvCxnSpPr>
            <p:spPr>
              <a:xfrm>
                <a:off x="4023360"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1" name="Straight Connector 70"/>
              <p:cNvCxnSpPr/>
              <p:nvPr/>
            </p:nvCxnSpPr>
            <p:spPr>
              <a:xfrm>
                <a:off x="4389120"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2" name="Straight Connector 71"/>
              <p:cNvCxnSpPr>
                <a:stCxn id="64" idx="1"/>
                <a:endCxn id="64" idx="3"/>
              </p:cNvCxnSpPr>
              <p:nvPr/>
            </p:nvCxnSpPr>
            <p:spPr>
              <a:xfrm>
                <a:off x="3657600" y="3657600"/>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3" name="Straight Connector 72"/>
              <p:cNvCxnSpPr/>
              <p:nvPr/>
            </p:nvCxnSpPr>
            <p:spPr>
              <a:xfrm>
                <a:off x="3657600" y="4389120"/>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4" name="Straight Connector 73"/>
              <p:cNvCxnSpPr/>
              <p:nvPr/>
            </p:nvCxnSpPr>
            <p:spPr>
              <a:xfrm>
                <a:off x="3657600" y="4023360"/>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5" name="Straight Connector 74"/>
              <p:cNvCxnSpPr/>
              <p:nvPr/>
            </p:nvCxnSpPr>
            <p:spPr>
              <a:xfrm>
                <a:off x="3657600" y="3657600"/>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6" name="Straight Connector 75"/>
              <p:cNvCxnSpPr/>
              <p:nvPr/>
            </p:nvCxnSpPr>
            <p:spPr>
              <a:xfrm>
                <a:off x="3657600" y="2926080"/>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7" name="Straight Connector 76"/>
              <p:cNvCxnSpPr/>
              <p:nvPr/>
            </p:nvCxnSpPr>
            <p:spPr>
              <a:xfrm>
                <a:off x="3657600" y="2560320"/>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8" name="Straight Connector 77"/>
              <p:cNvCxnSpPr/>
              <p:nvPr/>
            </p:nvCxnSpPr>
            <p:spPr>
              <a:xfrm>
                <a:off x="3657600" y="2194560"/>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9" name="Straight Connector 78"/>
              <p:cNvCxnSpPr/>
              <p:nvPr/>
            </p:nvCxnSpPr>
            <p:spPr>
              <a:xfrm>
                <a:off x="6588492"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0" name="Straight Connector 79"/>
              <p:cNvCxnSpPr/>
              <p:nvPr/>
            </p:nvCxnSpPr>
            <p:spPr>
              <a:xfrm>
                <a:off x="6951521"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1" name="Straight Connector 80"/>
              <p:cNvCxnSpPr/>
              <p:nvPr/>
            </p:nvCxnSpPr>
            <p:spPr>
              <a:xfrm>
                <a:off x="5103956"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2" name="Straight Connector 81"/>
              <p:cNvCxnSpPr/>
              <p:nvPr/>
            </p:nvCxnSpPr>
            <p:spPr>
              <a:xfrm>
                <a:off x="3637559" y="5140089"/>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3" name="Straight Connector 82"/>
              <p:cNvCxnSpPr/>
              <p:nvPr/>
            </p:nvCxnSpPr>
            <p:spPr>
              <a:xfrm>
                <a:off x="3637559" y="4774329"/>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4" name="Straight Connector 83"/>
              <p:cNvCxnSpPr/>
              <p:nvPr/>
            </p:nvCxnSpPr>
            <p:spPr>
              <a:xfrm>
                <a:off x="3657600" y="3291840"/>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grpSp>
        <p:grpSp>
          <p:nvGrpSpPr>
            <p:cNvPr id="38" name="Group 37"/>
            <p:cNvGrpSpPr/>
            <p:nvPr/>
          </p:nvGrpSpPr>
          <p:grpSpPr>
            <a:xfrm>
              <a:off x="1372723" y="1152144"/>
              <a:ext cx="4671432" cy="4671760"/>
              <a:chOff x="914400" y="914400"/>
              <a:chExt cx="2919657" cy="2919850"/>
            </a:xfrm>
          </p:grpSpPr>
          <p:sp>
            <p:nvSpPr>
              <p:cNvPr id="40" name="Rectangle 39"/>
              <p:cNvSpPr/>
              <p:nvPr/>
            </p:nvSpPr>
            <p:spPr>
              <a:xfrm>
                <a:off x="914400" y="914400"/>
                <a:ext cx="2919657" cy="2919850"/>
              </a:xfrm>
              <a:prstGeom prst="rect">
                <a:avLst/>
              </a:prstGeom>
              <a:noFill/>
              <a:ln w="254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cxnSp>
            <p:nvCxnSpPr>
              <p:cNvPr id="41" name="Straight Connector 40"/>
              <p:cNvCxnSpPr>
                <a:stCxn id="40" idx="0"/>
                <a:endCxn id="40" idx="2"/>
              </p:cNvCxnSpPr>
              <p:nvPr/>
            </p:nvCxnSpPr>
            <p:spPr>
              <a:xfrm>
                <a:off x="2374229" y="914400"/>
                <a:ext cx="0" cy="291985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p:nvCxnSpPr>
            <p:spPr>
              <a:xfrm>
                <a:off x="2743200" y="914400"/>
                <a:ext cx="0" cy="291985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3" name="Straight Connector 42"/>
              <p:cNvCxnSpPr/>
              <p:nvPr/>
            </p:nvCxnSpPr>
            <p:spPr>
              <a:xfrm>
                <a:off x="3108960" y="914400"/>
                <a:ext cx="0" cy="291985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7" name="Straight Connector 46"/>
              <p:cNvCxnSpPr/>
              <p:nvPr/>
            </p:nvCxnSpPr>
            <p:spPr>
              <a:xfrm>
                <a:off x="3471989" y="914400"/>
                <a:ext cx="0" cy="291985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9" name="Straight Connector 48"/>
              <p:cNvCxnSpPr/>
              <p:nvPr/>
            </p:nvCxnSpPr>
            <p:spPr>
              <a:xfrm>
                <a:off x="2011680" y="914400"/>
                <a:ext cx="0" cy="291985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2" name="Straight Connector 51"/>
              <p:cNvCxnSpPr/>
              <p:nvPr/>
            </p:nvCxnSpPr>
            <p:spPr>
              <a:xfrm>
                <a:off x="1280160" y="914400"/>
                <a:ext cx="0" cy="291985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4" name="Straight Connector 53"/>
              <p:cNvCxnSpPr/>
              <p:nvPr/>
            </p:nvCxnSpPr>
            <p:spPr>
              <a:xfrm>
                <a:off x="1645920" y="914400"/>
                <a:ext cx="0" cy="291985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6" name="Straight Connector 55"/>
              <p:cNvCxnSpPr>
                <a:stCxn id="40" idx="1"/>
                <a:endCxn id="40" idx="3"/>
              </p:cNvCxnSpPr>
              <p:nvPr/>
            </p:nvCxnSpPr>
            <p:spPr>
              <a:xfrm>
                <a:off x="914400" y="2374325"/>
                <a:ext cx="2919657"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8" name="Straight Connector 57"/>
              <p:cNvCxnSpPr/>
              <p:nvPr/>
            </p:nvCxnSpPr>
            <p:spPr>
              <a:xfrm>
                <a:off x="914400" y="3474720"/>
                <a:ext cx="2919657"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9" name="Straight Connector 58"/>
              <p:cNvCxnSpPr/>
              <p:nvPr/>
            </p:nvCxnSpPr>
            <p:spPr>
              <a:xfrm>
                <a:off x="914400" y="3108960"/>
                <a:ext cx="2919657"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0" name="Straight Connector 59"/>
              <p:cNvCxnSpPr/>
              <p:nvPr/>
            </p:nvCxnSpPr>
            <p:spPr>
              <a:xfrm>
                <a:off x="914400" y="2743200"/>
                <a:ext cx="2919657"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1" name="Straight Connector 60"/>
              <p:cNvCxnSpPr/>
              <p:nvPr/>
            </p:nvCxnSpPr>
            <p:spPr>
              <a:xfrm>
                <a:off x="914400" y="2011680"/>
                <a:ext cx="2919657"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2" name="Straight Connector 61"/>
              <p:cNvCxnSpPr/>
              <p:nvPr/>
            </p:nvCxnSpPr>
            <p:spPr>
              <a:xfrm>
                <a:off x="914400" y="1645920"/>
                <a:ext cx="2919657"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3" name="Straight Connector 62"/>
              <p:cNvCxnSpPr/>
              <p:nvPr/>
            </p:nvCxnSpPr>
            <p:spPr>
              <a:xfrm>
                <a:off x="914400" y="1280160"/>
                <a:ext cx="2919657"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grpSp>
      </p:grpSp>
      <p:cxnSp>
        <p:nvCxnSpPr>
          <p:cNvPr id="28" name="Straight Arrow Connector 27">
            <a:extLst>
              <a:ext uri="{FF2B5EF4-FFF2-40B4-BE49-F238E27FC236}">
                <a16:creationId xmlns:a16="http://schemas.microsoft.com/office/drawing/2014/main" id="{725590E0-7BC0-704F-B0F3-4F58F1C8C610}"/>
              </a:ext>
            </a:extLst>
          </p:cNvPr>
          <p:cNvCxnSpPr>
            <a:stCxn id="18440" idx="0"/>
            <a:endCxn id="50" idx="2"/>
          </p:cNvCxnSpPr>
          <p:nvPr/>
        </p:nvCxnSpPr>
        <p:spPr>
          <a:xfrm flipV="1">
            <a:off x="1791696" y="2051346"/>
            <a:ext cx="8008" cy="3265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2BDA4B49-F1D3-4D44-B681-00A0C7EE8C61}"/>
              </a:ext>
            </a:extLst>
          </p:cNvPr>
          <p:cNvCxnSpPr>
            <a:stCxn id="18441" idx="3"/>
            <a:endCxn id="39" idx="1"/>
          </p:cNvCxnSpPr>
          <p:nvPr/>
        </p:nvCxnSpPr>
        <p:spPr>
          <a:xfrm>
            <a:off x="2449092" y="3964670"/>
            <a:ext cx="431534" cy="59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6" name="Title 1">
            <a:extLst>
              <a:ext uri="{FF2B5EF4-FFF2-40B4-BE49-F238E27FC236}">
                <a16:creationId xmlns:a16="http://schemas.microsoft.com/office/drawing/2014/main" id="{412877D0-69D4-A74F-9A17-B09CB79DECF7}"/>
              </a:ext>
            </a:extLst>
          </p:cNvPr>
          <p:cNvSpPr>
            <a:spLocks noGrp="1"/>
          </p:cNvSpPr>
          <p:nvPr>
            <p:ph type="title"/>
          </p:nvPr>
        </p:nvSpPr>
        <p:spPr>
          <a:xfrm>
            <a:off x="320509" y="174106"/>
            <a:ext cx="10603171" cy="617451"/>
          </a:xfrm>
        </p:spPr>
        <p:txBody>
          <a:bodyPr>
            <a:noAutofit/>
          </a:bodyPr>
          <a:lstStyle/>
          <a:p>
            <a:r>
              <a:rPr lang="en-US" dirty="0"/>
              <a:t>Exploring Design Space – Abstractions</a:t>
            </a:r>
          </a:p>
        </p:txBody>
      </p:sp>
      <p:sp>
        <p:nvSpPr>
          <p:cNvPr id="4" name="TextBox 3">
            <a:extLst>
              <a:ext uri="{FF2B5EF4-FFF2-40B4-BE49-F238E27FC236}">
                <a16:creationId xmlns:a16="http://schemas.microsoft.com/office/drawing/2014/main" id="{38553666-1900-2B75-8B0E-235AF58DE75B}"/>
              </a:ext>
            </a:extLst>
          </p:cNvPr>
          <p:cNvSpPr txBox="1"/>
          <p:nvPr/>
        </p:nvSpPr>
        <p:spPr>
          <a:xfrm>
            <a:off x="4565171" y="2515682"/>
            <a:ext cx="1368580" cy="683264"/>
          </a:xfrm>
          <a:prstGeom prst="rect">
            <a:avLst/>
          </a:prstGeom>
          <a:noFill/>
        </p:spPr>
        <p:txBody>
          <a:bodyPr wrap="none" lIns="118872" tIns="91440" rIns="118872" bIns="91440" rtlCol="0" anchor="ctr" anchorCtr="0">
            <a:spAutoFit/>
          </a:bodyPr>
          <a:lstStyle/>
          <a:p>
            <a:pPr algn="l">
              <a:lnSpc>
                <a:spcPct val="90000"/>
              </a:lnSpc>
            </a:pPr>
            <a:r>
              <a:rPr lang="en-US" dirty="0"/>
              <a:t>base</a:t>
            </a:r>
          </a:p>
          <a:p>
            <a:pPr algn="l">
              <a:lnSpc>
                <a:spcPct val="90000"/>
              </a:lnSpc>
            </a:pPr>
            <a:r>
              <a:rPr lang="en-US" dirty="0"/>
              <a:t>abstraction</a:t>
            </a:r>
          </a:p>
        </p:txBody>
      </p:sp>
      <p:cxnSp>
        <p:nvCxnSpPr>
          <p:cNvPr id="6" name="Straight Arrow Connector 5">
            <a:extLst>
              <a:ext uri="{FF2B5EF4-FFF2-40B4-BE49-F238E27FC236}">
                <a16:creationId xmlns:a16="http://schemas.microsoft.com/office/drawing/2014/main" id="{3ADA2093-38D0-DE4C-ACEF-EC2E4394A465}"/>
              </a:ext>
            </a:extLst>
          </p:cNvPr>
          <p:cNvCxnSpPr>
            <a:stCxn id="4" idx="1"/>
          </p:cNvCxnSpPr>
          <p:nvPr/>
        </p:nvCxnSpPr>
        <p:spPr>
          <a:xfrm flipH="1">
            <a:off x="4279440" y="2857314"/>
            <a:ext cx="285731" cy="0"/>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ADD4263B-CCBD-ADC6-2EEE-6691E44E51EC}"/>
              </a:ext>
            </a:extLst>
          </p:cNvPr>
          <p:cNvSpPr>
            <a:spLocks noGrp="1"/>
          </p:cNvSpPr>
          <p:nvPr>
            <p:ph idx="1"/>
          </p:nvPr>
        </p:nvSpPr>
        <p:spPr>
          <a:xfrm>
            <a:off x="6745575" y="850204"/>
            <a:ext cx="4780827" cy="3214633"/>
          </a:xfrm>
        </p:spPr>
        <p:txBody>
          <a:bodyPr>
            <a:normAutofit fontScale="92500" lnSpcReduction="10000"/>
          </a:bodyPr>
          <a:lstStyle/>
          <a:p>
            <a:pPr marL="0" indent="0">
              <a:buNone/>
            </a:pPr>
            <a:r>
              <a:rPr lang="en-US" b="1" dirty="0"/>
              <a:t>Constraints</a:t>
            </a:r>
          </a:p>
          <a:p>
            <a:r>
              <a:rPr lang="en-US" dirty="0"/>
              <a:t>Only infrastructure components have global view</a:t>
            </a:r>
          </a:p>
          <a:p>
            <a:r>
              <a:rPr lang="en-US" dirty="0"/>
              <a:t>All physics solvers have block view only </a:t>
            </a:r>
          </a:p>
          <a:p>
            <a:pPr marL="0" indent="0">
              <a:buNone/>
            </a:pPr>
            <a:r>
              <a:rPr lang="en-US" b="1" dirty="0"/>
              <a:t>Other Design Considerations</a:t>
            </a:r>
          </a:p>
          <a:p>
            <a:r>
              <a:rPr lang="en-US" dirty="0"/>
              <a:t>Data scoping</a:t>
            </a:r>
          </a:p>
          <a:p>
            <a:r>
              <a:rPr lang="en-US" dirty="0"/>
              <a:t>Interfaces in the API</a:t>
            </a:r>
          </a:p>
        </p:txBody>
      </p:sp>
      <p:sp>
        <p:nvSpPr>
          <p:cNvPr id="12" name="Rectangle 11">
            <a:extLst>
              <a:ext uri="{FF2B5EF4-FFF2-40B4-BE49-F238E27FC236}">
                <a16:creationId xmlns:a16="http://schemas.microsoft.com/office/drawing/2014/main" id="{EE143440-86F8-9879-21C5-00C0F7D87A6F}"/>
              </a:ext>
            </a:extLst>
          </p:cNvPr>
          <p:cNvSpPr/>
          <p:nvPr/>
        </p:nvSpPr>
        <p:spPr>
          <a:xfrm>
            <a:off x="6867099" y="4096070"/>
            <a:ext cx="3804356" cy="1740032"/>
          </a:xfrm>
          <a:prstGeom prst="rect">
            <a:avLst/>
          </a:prstGeom>
          <a:solidFill>
            <a:schemeClr val="tx2">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Minimal Mesh API</a:t>
            </a:r>
          </a:p>
          <a:p>
            <a:pPr marL="342900" indent="-342900">
              <a:lnSpc>
                <a:spcPct val="90000"/>
              </a:lnSpc>
              <a:buFont typeface="Arial" panose="020B0604020202020204" pitchFamily="34" charset="0"/>
              <a:buChar char="•"/>
            </a:pPr>
            <a:r>
              <a:rPr lang="en-US" sz="2000" dirty="0" err="1">
                <a:solidFill>
                  <a:schemeClr val="bg1"/>
                </a:solidFill>
              </a:rPr>
              <a:t>Initialize_mesh</a:t>
            </a:r>
            <a:endParaRPr lang="en-US" sz="2000" dirty="0">
              <a:solidFill>
                <a:schemeClr val="bg1"/>
              </a:solidFill>
            </a:endParaRPr>
          </a:p>
          <a:p>
            <a:pPr marL="342900" indent="-342900">
              <a:lnSpc>
                <a:spcPct val="90000"/>
              </a:lnSpc>
              <a:buFont typeface="Arial" panose="020B0604020202020204" pitchFamily="34" charset="0"/>
              <a:buChar char="•"/>
            </a:pPr>
            <a:r>
              <a:rPr lang="en-US" sz="2000" dirty="0" err="1">
                <a:solidFill>
                  <a:schemeClr val="bg1"/>
                </a:solidFill>
              </a:rPr>
              <a:t>Halo_fill</a:t>
            </a:r>
            <a:endParaRPr lang="en-US" sz="2000" dirty="0">
              <a:solidFill>
                <a:schemeClr val="bg1"/>
              </a:solidFill>
            </a:endParaRPr>
          </a:p>
          <a:p>
            <a:pPr marL="342900" indent="-342900">
              <a:lnSpc>
                <a:spcPct val="90000"/>
              </a:lnSpc>
              <a:buFont typeface="Arial" panose="020B0604020202020204" pitchFamily="34" charset="0"/>
              <a:buChar char="•"/>
            </a:pPr>
            <a:r>
              <a:rPr lang="en-US" sz="2000" dirty="0" err="1">
                <a:solidFill>
                  <a:schemeClr val="bg1"/>
                </a:solidFill>
              </a:rPr>
              <a:t>Access_to_data_containers</a:t>
            </a:r>
            <a:endParaRPr lang="en-US" sz="2000" dirty="0">
              <a:solidFill>
                <a:schemeClr val="bg1"/>
              </a:solidFill>
            </a:endParaRPr>
          </a:p>
          <a:p>
            <a:pPr marL="342900" indent="-342900">
              <a:lnSpc>
                <a:spcPct val="90000"/>
              </a:lnSpc>
              <a:buFont typeface="Arial" panose="020B0604020202020204" pitchFamily="34" charset="0"/>
              <a:buChar char="•"/>
            </a:pPr>
            <a:r>
              <a:rPr lang="en-US" sz="2000" dirty="0" err="1">
                <a:solidFill>
                  <a:schemeClr val="bg1"/>
                </a:solidFill>
              </a:rPr>
              <a:t>Reconcile_fluxes</a:t>
            </a:r>
            <a:endParaRPr lang="en-US" sz="2000" dirty="0">
              <a:solidFill>
                <a:schemeClr val="bg1"/>
              </a:solidFill>
            </a:endParaRPr>
          </a:p>
          <a:p>
            <a:pPr marL="342900" indent="-342900">
              <a:lnSpc>
                <a:spcPct val="90000"/>
              </a:lnSpc>
              <a:buFont typeface="Arial" panose="020B0604020202020204" pitchFamily="34" charset="0"/>
              <a:buChar char="•"/>
            </a:pPr>
            <a:r>
              <a:rPr lang="en-US" sz="2000" dirty="0" err="1">
                <a:solidFill>
                  <a:schemeClr val="bg1"/>
                </a:solidFill>
              </a:rPr>
              <a:t>Regrid</a:t>
            </a:r>
            <a:endParaRPr lang="en-US" sz="2000" dirty="0">
              <a:solidFill>
                <a:schemeClr val="bg1"/>
              </a:solidFill>
            </a:endParaRPr>
          </a:p>
        </p:txBody>
      </p:sp>
    </p:spTree>
    <p:extLst>
      <p:ext uri="{BB962C8B-B14F-4D97-AF65-F5344CB8AC3E}">
        <p14:creationId xmlns:p14="http://schemas.microsoft.com/office/powerpoint/2010/main" val="17909109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Title 1">
            <a:extLst>
              <a:ext uri="{FF2B5EF4-FFF2-40B4-BE49-F238E27FC236}">
                <a16:creationId xmlns:a16="http://schemas.microsoft.com/office/drawing/2014/main" id="{412877D0-69D4-A74F-9A17-B09CB79DECF7}"/>
              </a:ext>
            </a:extLst>
          </p:cNvPr>
          <p:cNvSpPr>
            <a:spLocks noGrp="1"/>
          </p:cNvSpPr>
          <p:nvPr>
            <p:ph type="title"/>
          </p:nvPr>
        </p:nvSpPr>
        <p:spPr>
          <a:xfrm>
            <a:off x="320509" y="174106"/>
            <a:ext cx="11579048" cy="622548"/>
          </a:xfrm>
        </p:spPr>
        <p:txBody>
          <a:bodyPr>
            <a:noAutofit/>
          </a:bodyPr>
          <a:lstStyle/>
          <a:p>
            <a:r>
              <a:rPr lang="en-US" dirty="0"/>
              <a:t>Separation of Concerns Applied</a:t>
            </a:r>
          </a:p>
        </p:txBody>
      </p:sp>
      <p:grpSp>
        <p:nvGrpSpPr>
          <p:cNvPr id="12" name="Group 11">
            <a:extLst>
              <a:ext uri="{FF2B5EF4-FFF2-40B4-BE49-F238E27FC236}">
                <a16:creationId xmlns:a16="http://schemas.microsoft.com/office/drawing/2014/main" id="{64C4AB58-57DD-6B57-DB90-5B4F17A291B2}"/>
              </a:ext>
            </a:extLst>
          </p:cNvPr>
          <p:cNvGrpSpPr/>
          <p:nvPr/>
        </p:nvGrpSpPr>
        <p:grpSpPr>
          <a:xfrm>
            <a:off x="1523456" y="1836367"/>
            <a:ext cx="7708602" cy="3185266"/>
            <a:chOff x="2513012" y="2815216"/>
            <a:chExt cx="7708602" cy="3185266"/>
          </a:xfrm>
        </p:grpSpPr>
        <p:sp>
          <p:nvSpPr>
            <p:cNvPr id="18440" name="Rectangle 10"/>
            <p:cNvSpPr>
              <a:spLocks noChangeArrowheads="1"/>
            </p:cNvSpPr>
            <p:nvPr/>
          </p:nvSpPr>
          <p:spPr bwMode="auto">
            <a:xfrm>
              <a:off x="2513012" y="4003303"/>
              <a:ext cx="1314792" cy="857473"/>
            </a:xfrm>
            <a:prstGeom prst="rect">
              <a:avLst/>
            </a:prstGeom>
            <a:solidFill>
              <a:srgbClr val="FF9900"/>
            </a:solidFill>
            <a:ln w="9525">
              <a:solidFill>
                <a:srgbClr val="000000"/>
              </a:solidFill>
              <a:round/>
              <a:headEnd/>
              <a:tailEnd/>
            </a:ln>
          </p:spPr>
          <p:txBody>
            <a:bodyPr wrap="none" anchor="ctr">
              <a:prstTxWarp prst="textNoShape">
                <a:avLst/>
              </a:prstTxWarp>
            </a:bodyPr>
            <a:lstStyle/>
            <a:p>
              <a:r>
                <a:rPr lang="en-US" sz="1350" dirty="0"/>
                <a:t>Real view : A </a:t>
              </a:r>
            </a:p>
            <a:p>
              <a:r>
                <a:rPr lang="en-US" sz="1350" dirty="0"/>
                <a:t>whole domain </a:t>
              </a:r>
            </a:p>
            <a:p>
              <a:r>
                <a:rPr lang="en-US" sz="1350" dirty="0"/>
                <a:t>with many </a:t>
              </a:r>
            </a:p>
            <a:p>
              <a:r>
                <a:rPr lang="en-US" sz="1350" dirty="0"/>
                <a:t>operators</a:t>
              </a:r>
            </a:p>
          </p:txBody>
        </p:sp>
        <p:sp>
          <p:nvSpPr>
            <p:cNvPr id="18441" name="Rectangle 11"/>
            <p:cNvSpPr>
              <a:spLocks noChangeArrowheads="1"/>
            </p:cNvSpPr>
            <p:nvPr/>
          </p:nvSpPr>
          <p:spPr bwMode="auto">
            <a:xfrm>
              <a:off x="2513012" y="5212808"/>
              <a:ext cx="1314792" cy="754532"/>
            </a:xfrm>
            <a:prstGeom prst="rect">
              <a:avLst/>
            </a:prstGeom>
            <a:solidFill>
              <a:srgbClr val="FF9900"/>
            </a:solidFill>
            <a:ln w="9525">
              <a:solidFill>
                <a:srgbClr val="000000"/>
              </a:solidFill>
              <a:round/>
              <a:headEnd/>
              <a:tailEnd/>
            </a:ln>
          </p:spPr>
          <p:txBody>
            <a:bodyPr wrap="none" anchor="ctr">
              <a:prstTxWarp prst="textNoShape">
                <a:avLst/>
              </a:prstTxWarp>
            </a:bodyPr>
            <a:lstStyle/>
            <a:p>
              <a:r>
                <a:rPr lang="en-US" sz="1350" dirty="0"/>
                <a:t>Functional </a:t>
              </a:r>
            </a:p>
            <a:p>
              <a:r>
                <a:rPr lang="en-US" sz="1350" dirty="0"/>
                <a:t>decomposition</a:t>
              </a:r>
            </a:p>
            <a:p>
              <a:endParaRPr lang="en-US" sz="1350" dirty="0"/>
            </a:p>
          </p:txBody>
        </p:sp>
        <p:sp>
          <p:nvSpPr>
            <p:cNvPr id="18436" name="Rectangle 4"/>
            <p:cNvSpPr>
              <a:spLocks noChangeArrowheads="1"/>
            </p:cNvSpPr>
            <p:nvPr/>
          </p:nvSpPr>
          <p:spPr bwMode="auto">
            <a:xfrm>
              <a:off x="4286195" y="2822777"/>
              <a:ext cx="1371957" cy="858069"/>
            </a:xfrm>
            <a:prstGeom prst="rect">
              <a:avLst/>
            </a:prstGeom>
            <a:solidFill>
              <a:schemeClr val="accent2">
                <a:lumMod val="40000"/>
                <a:lumOff val="60000"/>
              </a:schemeClr>
            </a:solidFill>
            <a:ln w="9525">
              <a:solidFill>
                <a:srgbClr val="000000"/>
              </a:solidFill>
              <a:round/>
              <a:headEnd/>
              <a:tailEnd/>
            </a:ln>
          </p:spPr>
          <p:txBody>
            <a:bodyPr wrap="none" anchor="ctr">
              <a:prstTxWarp prst="textNoShape">
                <a:avLst/>
              </a:prstTxWarp>
            </a:bodyPr>
            <a:lstStyle/>
            <a:p>
              <a:endParaRPr lang="en-US" sz="1350" dirty="0"/>
            </a:p>
            <a:p>
              <a:r>
                <a:rPr lang="en-US" sz="1350" dirty="0"/>
                <a:t>domain sections </a:t>
              </a:r>
            </a:p>
            <a:p>
              <a:r>
                <a:rPr lang="en-US" sz="1350" dirty="0"/>
                <a:t>as stand-alone </a:t>
              </a:r>
            </a:p>
            <a:p>
              <a:r>
                <a:rPr lang="en-US" sz="1350" dirty="0"/>
                <a:t>computation unit </a:t>
              </a:r>
            </a:p>
            <a:p>
              <a:endParaRPr lang="en-US" sz="1350" dirty="0"/>
            </a:p>
          </p:txBody>
        </p:sp>
        <p:sp>
          <p:nvSpPr>
            <p:cNvPr id="39" name="Rectangle 11"/>
            <p:cNvSpPr>
              <a:spLocks noChangeArrowheads="1"/>
            </p:cNvSpPr>
            <p:nvPr/>
          </p:nvSpPr>
          <p:spPr bwMode="auto">
            <a:xfrm>
              <a:off x="4259338" y="5191612"/>
              <a:ext cx="1389442" cy="808870"/>
            </a:xfrm>
            <a:prstGeom prst="rect">
              <a:avLst/>
            </a:prstGeom>
            <a:solidFill>
              <a:schemeClr val="accent2">
                <a:lumMod val="40000"/>
                <a:lumOff val="60000"/>
              </a:schemeClr>
            </a:solidFill>
            <a:ln w="9525">
              <a:solidFill>
                <a:srgbClr val="000000"/>
              </a:solidFill>
              <a:round/>
              <a:headEnd/>
              <a:tailEnd/>
            </a:ln>
          </p:spPr>
          <p:txBody>
            <a:bodyPr wrap="none" anchor="ctr">
              <a:prstTxWarp prst="textNoShape">
                <a:avLst/>
              </a:prstTxWarp>
            </a:bodyPr>
            <a:lstStyle/>
            <a:p>
              <a:r>
                <a:rPr lang="en-US" sz="1350" dirty="0"/>
                <a:t>collection of</a:t>
              </a:r>
            </a:p>
            <a:p>
              <a:r>
                <a:rPr lang="en-US" sz="1350" dirty="0"/>
                <a:t>components </a:t>
              </a:r>
            </a:p>
          </p:txBody>
        </p:sp>
        <p:sp>
          <p:nvSpPr>
            <p:cNvPr id="50" name="Rectangle 11"/>
            <p:cNvSpPr>
              <a:spLocks noChangeArrowheads="1"/>
            </p:cNvSpPr>
            <p:nvPr/>
          </p:nvSpPr>
          <p:spPr bwMode="auto">
            <a:xfrm>
              <a:off x="2529027" y="2818681"/>
              <a:ext cx="1298777" cy="858069"/>
            </a:xfrm>
            <a:prstGeom prst="rect">
              <a:avLst/>
            </a:prstGeom>
            <a:solidFill>
              <a:srgbClr val="FF9900"/>
            </a:solidFill>
            <a:ln w="9525">
              <a:solidFill>
                <a:srgbClr val="000000"/>
              </a:solidFill>
              <a:round/>
              <a:headEnd/>
              <a:tailEnd/>
            </a:ln>
          </p:spPr>
          <p:txBody>
            <a:bodyPr wrap="none" anchor="ctr">
              <a:prstTxWarp prst="textNoShape">
                <a:avLst/>
              </a:prstTxWarp>
            </a:bodyPr>
            <a:lstStyle/>
            <a:p>
              <a:endParaRPr lang="en-US" sz="1350" dirty="0"/>
            </a:p>
            <a:p>
              <a:r>
                <a:rPr lang="en-US" sz="1350" dirty="0"/>
                <a:t>Spatial</a:t>
              </a:r>
            </a:p>
            <a:p>
              <a:r>
                <a:rPr lang="en-US" sz="1350" dirty="0"/>
                <a:t>decomposition</a:t>
              </a:r>
            </a:p>
            <a:p>
              <a:endParaRPr lang="en-US" sz="1350" dirty="0"/>
            </a:p>
          </p:txBody>
        </p:sp>
        <p:cxnSp>
          <p:nvCxnSpPr>
            <p:cNvPr id="48" name="Straight Arrow Connector 47"/>
            <p:cNvCxnSpPr>
              <a:stCxn id="50" idx="3"/>
              <a:endCxn id="18436" idx="1"/>
            </p:cNvCxnSpPr>
            <p:nvPr/>
          </p:nvCxnSpPr>
          <p:spPr>
            <a:xfrm>
              <a:off x="3827804" y="3247716"/>
              <a:ext cx="458391" cy="409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1" name="Straight Arrow Connector 50"/>
            <p:cNvCxnSpPr>
              <a:cxnSpLocks/>
              <a:stCxn id="18440" idx="2"/>
              <a:endCxn id="18441" idx="0"/>
            </p:cNvCxnSpPr>
            <p:nvPr/>
          </p:nvCxnSpPr>
          <p:spPr>
            <a:xfrm>
              <a:off x="3170408" y="4860776"/>
              <a:ext cx="0" cy="35203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nvGrpSpPr>
            <p:cNvPr id="36" name="Group 35"/>
            <p:cNvGrpSpPr>
              <a:grpSpLocks noChangeAspect="1"/>
            </p:cNvGrpSpPr>
            <p:nvPr/>
          </p:nvGrpSpPr>
          <p:grpSpPr>
            <a:xfrm>
              <a:off x="4259338" y="3818054"/>
              <a:ext cx="1343047" cy="1236350"/>
              <a:chOff x="755444" y="554451"/>
              <a:chExt cx="5884201" cy="5852160"/>
            </a:xfrm>
          </p:grpSpPr>
          <p:grpSp>
            <p:nvGrpSpPr>
              <p:cNvPr id="37" name="Group 36"/>
              <p:cNvGrpSpPr/>
              <p:nvPr/>
            </p:nvGrpSpPr>
            <p:grpSpPr>
              <a:xfrm>
                <a:off x="755444" y="554451"/>
                <a:ext cx="5884201" cy="5852160"/>
                <a:chOff x="3637559" y="1828800"/>
                <a:chExt cx="3677641" cy="3657600"/>
              </a:xfrm>
            </p:grpSpPr>
            <p:sp>
              <p:nvSpPr>
                <p:cNvPr id="64" name="Rectangle 63"/>
                <p:cNvSpPr/>
                <p:nvPr/>
              </p:nvSpPr>
              <p:spPr>
                <a:xfrm>
                  <a:off x="3657600" y="1828800"/>
                  <a:ext cx="3657600" cy="3657600"/>
                </a:xfrm>
                <a:prstGeom prst="rect">
                  <a:avLst/>
                </a:prstGeom>
                <a:no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cxnSp>
              <p:nvCxnSpPr>
                <p:cNvPr id="65" name="Straight Connector 64"/>
                <p:cNvCxnSpPr>
                  <a:stCxn id="64" idx="0"/>
                  <a:endCxn id="64" idx="2"/>
                </p:cNvCxnSpPr>
                <p:nvPr/>
              </p:nvCxnSpPr>
              <p:spPr>
                <a:xfrm>
                  <a:off x="5486400"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66" name="Straight Connector 65"/>
                <p:cNvCxnSpPr/>
                <p:nvPr/>
              </p:nvCxnSpPr>
              <p:spPr>
                <a:xfrm>
                  <a:off x="5486400"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67" name="Straight Connector 66"/>
                <p:cNvCxnSpPr/>
                <p:nvPr/>
              </p:nvCxnSpPr>
              <p:spPr>
                <a:xfrm>
                  <a:off x="5852160"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68" name="Straight Connector 67"/>
                <p:cNvCxnSpPr/>
                <p:nvPr/>
              </p:nvCxnSpPr>
              <p:spPr>
                <a:xfrm>
                  <a:off x="6215189"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69" name="Straight Connector 68"/>
                <p:cNvCxnSpPr/>
                <p:nvPr/>
              </p:nvCxnSpPr>
              <p:spPr>
                <a:xfrm>
                  <a:off x="4754880"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0" name="Straight Connector 69"/>
                <p:cNvCxnSpPr/>
                <p:nvPr/>
              </p:nvCxnSpPr>
              <p:spPr>
                <a:xfrm>
                  <a:off x="4023360"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1" name="Straight Connector 70"/>
                <p:cNvCxnSpPr/>
                <p:nvPr/>
              </p:nvCxnSpPr>
              <p:spPr>
                <a:xfrm>
                  <a:off x="4389120"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2" name="Straight Connector 71"/>
                <p:cNvCxnSpPr>
                  <a:stCxn id="64" idx="1"/>
                  <a:endCxn id="64" idx="3"/>
                </p:cNvCxnSpPr>
                <p:nvPr/>
              </p:nvCxnSpPr>
              <p:spPr>
                <a:xfrm>
                  <a:off x="3657600" y="3657600"/>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3" name="Straight Connector 72"/>
                <p:cNvCxnSpPr/>
                <p:nvPr/>
              </p:nvCxnSpPr>
              <p:spPr>
                <a:xfrm>
                  <a:off x="3657600" y="4389120"/>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4" name="Straight Connector 73"/>
                <p:cNvCxnSpPr/>
                <p:nvPr/>
              </p:nvCxnSpPr>
              <p:spPr>
                <a:xfrm>
                  <a:off x="3657600" y="4023360"/>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5" name="Straight Connector 74"/>
                <p:cNvCxnSpPr/>
                <p:nvPr/>
              </p:nvCxnSpPr>
              <p:spPr>
                <a:xfrm>
                  <a:off x="3657600" y="3657600"/>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6" name="Straight Connector 75"/>
                <p:cNvCxnSpPr/>
                <p:nvPr/>
              </p:nvCxnSpPr>
              <p:spPr>
                <a:xfrm>
                  <a:off x="3657600" y="2926080"/>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7" name="Straight Connector 76"/>
                <p:cNvCxnSpPr/>
                <p:nvPr/>
              </p:nvCxnSpPr>
              <p:spPr>
                <a:xfrm>
                  <a:off x="3657600" y="2560320"/>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8" name="Straight Connector 77"/>
                <p:cNvCxnSpPr/>
                <p:nvPr/>
              </p:nvCxnSpPr>
              <p:spPr>
                <a:xfrm>
                  <a:off x="3657600" y="2194560"/>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9" name="Straight Connector 78"/>
                <p:cNvCxnSpPr/>
                <p:nvPr/>
              </p:nvCxnSpPr>
              <p:spPr>
                <a:xfrm>
                  <a:off x="6588492"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0" name="Straight Connector 79"/>
                <p:cNvCxnSpPr/>
                <p:nvPr/>
              </p:nvCxnSpPr>
              <p:spPr>
                <a:xfrm>
                  <a:off x="6951521"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1" name="Straight Connector 80"/>
                <p:cNvCxnSpPr/>
                <p:nvPr/>
              </p:nvCxnSpPr>
              <p:spPr>
                <a:xfrm>
                  <a:off x="5103956"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2" name="Straight Connector 81"/>
                <p:cNvCxnSpPr/>
                <p:nvPr/>
              </p:nvCxnSpPr>
              <p:spPr>
                <a:xfrm>
                  <a:off x="3637559" y="5140089"/>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3" name="Straight Connector 82"/>
                <p:cNvCxnSpPr/>
                <p:nvPr/>
              </p:nvCxnSpPr>
              <p:spPr>
                <a:xfrm>
                  <a:off x="3637559" y="4774329"/>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4" name="Straight Connector 83"/>
                <p:cNvCxnSpPr/>
                <p:nvPr/>
              </p:nvCxnSpPr>
              <p:spPr>
                <a:xfrm>
                  <a:off x="3657600" y="3291840"/>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grpSp>
          <p:grpSp>
            <p:nvGrpSpPr>
              <p:cNvPr id="38" name="Group 37"/>
              <p:cNvGrpSpPr/>
              <p:nvPr/>
            </p:nvGrpSpPr>
            <p:grpSpPr>
              <a:xfrm>
                <a:off x="1372723" y="1152144"/>
                <a:ext cx="4671432" cy="4671760"/>
                <a:chOff x="914400" y="914400"/>
                <a:chExt cx="2919657" cy="2919850"/>
              </a:xfrm>
            </p:grpSpPr>
            <p:sp>
              <p:nvSpPr>
                <p:cNvPr id="40" name="Rectangle 39"/>
                <p:cNvSpPr/>
                <p:nvPr/>
              </p:nvSpPr>
              <p:spPr>
                <a:xfrm>
                  <a:off x="914400" y="914400"/>
                  <a:ext cx="2919657" cy="2919850"/>
                </a:xfrm>
                <a:prstGeom prst="rect">
                  <a:avLst/>
                </a:prstGeom>
                <a:noFill/>
                <a:ln w="254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cxnSp>
              <p:nvCxnSpPr>
                <p:cNvPr id="41" name="Straight Connector 40"/>
                <p:cNvCxnSpPr>
                  <a:stCxn id="40" idx="0"/>
                  <a:endCxn id="40" idx="2"/>
                </p:cNvCxnSpPr>
                <p:nvPr/>
              </p:nvCxnSpPr>
              <p:spPr>
                <a:xfrm>
                  <a:off x="2374229" y="914400"/>
                  <a:ext cx="0" cy="291985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p:nvCxnSpPr>
              <p:spPr>
                <a:xfrm>
                  <a:off x="2743200" y="914400"/>
                  <a:ext cx="0" cy="291985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3" name="Straight Connector 42"/>
                <p:cNvCxnSpPr/>
                <p:nvPr/>
              </p:nvCxnSpPr>
              <p:spPr>
                <a:xfrm>
                  <a:off x="3108960" y="914400"/>
                  <a:ext cx="0" cy="291985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7" name="Straight Connector 46"/>
                <p:cNvCxnSpPr/>
                <p:nvPr/>
              </p:nvCxnSpPr>
              <p:spPr>
                <a:xfrm>
                  <a:off x="3471989" y="914400"/>
                  <a:ext cx="0" cy="291985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9" name="Straight Connector 48"/>
                <p:cNvCxnSpPr/>
                <p:nvPr/>
              </p:nvCxnSpPr>
              <p:spPr>
                <a:xfrm>
                  <a:off x="2011680" y="914400"/>
                  <a:ext cx="0" cy="291985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2" name="Straight Connector 51"/>
                <p:cNvCxnSpPr/>
                <p:nvPr/>
              </p:nvCxnSpPr>
              <p:spPr>
                <a:xfrm>
                  <a:off x="1280160" y="914400"/>
                  <a:ext cx="0" cy="291985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4" name="Straight Connector 53"/>
                <p:cNvCxnSpPr/>
                <p:nvPr/>
              </p:nvCxnSpPr>
              <p:spPr>
                <a:xfrm>
                  <a:off x="1645920" y="914400"/>
                  <a:ext cx="0" cy="291985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6" name="Straight Connector 55"/>
                <p:cNvCxnSpPr>
                  <a:stCxn id="40" idx="1"/>
                  <a:endCxn id="40" idx="3"/>
                </p:cNvCxnSpPr>
                <p:nvPr/>
              </p:nvCxnSpPr>
              <p:spPr>
                <a:xfrm>
                  <a:off x="914400" y="2374325"/>
                  <a:ext cx="2919657"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8" name="Straight Connector 57"/>
                <p:cNvCxnSpPr/>
                <p:nvPr/>
              </p:nvCxnSpPr>
              <p:spPr>
                <a:xfrm>
                  <a:off x="914400" y="3474720"/>
                  <a:ext cx="2919657"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9" name="Straight Connector 58"/>
                <p:cNvCxnSpPr/>
                <p:nvPr/>
              </p:nvCxnSpPr>
              <p:spPr>
                <a:xfrm>
                  <a:off x="914400" y="3108960"/>
                  <a:ext cx="2919657"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0" name="Straight Connector 59"/>
                <p:cNvCxnSpPr/>
                <p:nvPr/>
              </p:nvCxnSpPr>
              <p:spPr>
                <a:xfrm>
                  <a:off x="914400" y="2743200"/>
                  <a:ext cx="2919657"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1" name="Straight Connector 60"/>
                <p:cNvCxnSpPr/>
                <p:nvPr/>
              </p:nvCxnSpPr>
              <p:spPr>
                <a:xfrm>
                  <a:off x="914400" y="2011680"/>
                  <a:ext cx="2919657"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2" name="Straight Connector 61"/>
                <p:cNvCxnSpPr/>
                <p:nvPr/>
              </p:nvCxnSpPr>
              <p:spPr>
                <a:xfrm>
                  <a:off x="914400" y="1645920"/>
                  <a:ext cx="2919657"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3" name="Straight Connector 62"/>
                <p:cNvCxnSpPr/>
                <p:nvPr/>
              </p:nvCxnSpPr>
              <p:spPr>
                <a:xfrm>
                  <a:off x="914400" y="1280160"/>
                  <a:ext cx="2919657"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grpSp>
        </p:grpSp>
        <p:grpSp>
          <p:nvGrpSpPr>
            <p:cNvPr id="18432" name="Group 18431">
              <a:extLst>
                <a:ext uri="{FF2B5EF4-FFF2-40B4-BE49-F238E27FC236}">
                  <a16:creationId xmlns:a16="http://schemas.microsoft.com/office/drawing/2014/main" id="{33BAF6AC-235F-CA49-BA4A-A2D39CA4619E}"/>
                </a:ext>
              </a:extLst>
            </p:cNvPr>
            <p:cNvGrpSpPr/>
            <p:nvPr/>
          </p:nvGrpSpPr>
          <p:grpSpPr>
            <a:xfrm>
              <a:off x="5658152" y="2815216"/>
              <a:ext cx="1878978" cy="865034"/>
              <a:chOff x="4687400" y="1874389"/>
              <a:chExt cx="1878978" cy="865034"/>
            </a:xfrm>
          </p:grpSpPr>
          <p:sp>
            <p:nvSpPr>
              <p:cNvPr id="45" name="Rectangle 11"/>
              <p:cNvSpPr>
                <a:spLocks noChangeArrowheads="1"/>
              </p:cNvSpPr>
              <p:nvPr/>
            </p:nvSpPr>
            <p:spPr bwMode="auto">
              <a:xfrm>
                <a:off x="5086940" y="1874389"/>
                <a:ext cx="1479438" cy="865034"/>
              </a:xfrm>
              <a:prstGeom prst="rect">
                <a:avLst/>
              </a:prstGeom>
              <a:solidFill>
                <a:schemeClr val="accent5">
                  <a:lumMod val="60000"/>
                  <a:lumOff val="40000"/>
                </a:schemeClr>
              </a:solidFill>
              <a:ln w="9525">
                <a:solidFill>
                  <a:srgbClr val="000000"/>
                </a:solidFill>
                <a:round/>
                <a:headEnd/>
                <a:tailEnd/>
              </a:ln>
            </p:spPr>
            <p:txBody>
              <a:bodyPr wrap="none" anchor="ctr">
                <a:prstTxWarp prst="textNoShape">
                  <a:avLst/>
                </a:prstTxWarp>
              </a:bodyPr>
              <a:lstStyle/>
              <a:p>
                <a:endParaRPr lang="en-US" sz="1350" dirty="0"/>
              </a:p>
              <a:p>
                <a:r>
                  <a:rPr lang="en-US" sz="1350" dirty="0"/>
                  <a:t>Parallelization</a:t>
                </a:r>
              </a:p>
              <a:p>
                <a:r>
                  <a:rPr lang="en-US" sz="1350" dirty="0"/>
                  <a:t>and scaling</a:t>
                </a:r>
              </a:p>
              <a:p>
                <a:r>
                  <a:rPr lang="en-US" sz="1350" dirty="0"/>
                  <a:t>optimization</a:t>
                </a:r>
              </a:p>
              <a:p>
                <a:endParaRPr lang="en-US" sz="1350" dirty="0"/>
              </a:p>
            </p:txBody>
          </p:sp>
          <p:cxnSp>
            <p:nvCxnSpPr>
              <p:cNvPr id="7" name="Straight Arrow Connector 6">
                <a:extLst>
                  <a:ext uri="{FF2B5EF4-FFF2-40B4-BE49-F238E27FC236}">
                    <a16:creationId xmlns:a16="http://schemas.microsoft.com/office/drawing/2014/main" id="{CA3C2FED-4441-0A47-BA46-6EEDF90149B1}"/>
                  </a:ext>
                </a:extLst>
              </p:cNvPr>
              <p:cNvCxnSpPr>
                <a:stCxn id="18436" idx="3"/>
                <a:endCxn id="45" idx="1"/>
              </p:cNvCxnSpPr>
              <p:nvPr/>
            </p:nvCxnSpPr>
            <p:spPr>
              <a:xfrm flipV="1">
                <a:off x="4687400" y="2306906"/>
                <a:ext cx="399540" cy="407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18433" name="Group 18432">
              <a:extLst>
                <a:ext uri="{FF2B5EF4-FFF2-40B4-BE49-F238E27FC236}">
                  <a16:creationId xmlns:a16="http://schemas.microsoft.com/office/drawing/2014/main" id="{4B3861FC-15EF-0741-88B3-FDADB9E03747}"/>
                </a:ext>
              </a:extLst>
            </p:cNvPr>
            <p:cNvGrpSpPr/>
            <p:nvPr/>
          </p:nvGrpSpPr>
          <p:grpSpPr>
            <a:xfrm>
              <a:off x="5648780" y="5191612"/>
              <a:ext cx="1888350" cy="808870"/>
              <a:chOff x="4678028" y="4250785"/>
              <a:chExt cx="1888350" cy="808870"/>
            </a:xfrm>
          </p:grpSpPr>
          <p:sp>
            <p:nvSpPr>
              <p:cNvPr id="18437" name="Rectangle 6"/>
              <p:cNvSpPr>
                <a:spLocks noChangeArrowheads="1"/>
              </p:cNvSpPr>
              <p:nvPr/>
            </p:nvSpPr>
            <p:spPr bwMode="auto">
              <a:xfrm>
                <a:off x="5086940" y="4250785"/>
                <a:ext cx="1479438" cy="808870"/>
              </a:xfrm>
              <a:prstGeom prst="rect">
                <a:avLst/>
              </a:prstGeom>
              <a:solidFill>
                <a:schemeClr val="accent5">
                  <a:lumMod val="60000"/>
                  <a:lumOff val="40000"/>
                </a:schemeClr>
              </a:solidFill>
              <a:ln w="9525">
                <a:solidFill>
                  <a:srgbClr val="000000"/>
                </a:solidFill>
                <a:round/>
                <a:headEnd/>
                <a:tailEnd/>
              </a:ln>
            </p:spPr>
            <p:txBody>
              <a:bodyPr wrap="none" anchor="ctr">
                <a:prstTxWarp prst="textNoShape">
                  <a:avLst/>
                </a:prstTxWarp>
              </a:bodyPr>
              <a:lstStyle/>
              <a:p>
                <a:endParaRPr lang="en-US" sz="1350" dirty="0"/>
              </a:p>
              <a:p>
                <a:r>
                  <a:rPr lang="en-US" sz="1350" dirty="0"/>
                  <a:t>Memory</a:t>
                </a:r>
              </a:p>
              <a:p>
                <a:r>
                  <a:rPr lang="en-US" sz="1350" dirty="0"/>
                  <a:t>access and </a:t>
                </a:r>
              </a:p>
              <a:p>
                <a:r>
                  <a:rPr lang="en-US" sz="1350" dirty="0"/>
                  <a:t>compute</a:t>
                </a:r>
              </a:p>
              <a:p>
                <a:r>
                  <a:rPr lang="en-US" sz="1350" dirty="0"/>
                  <a:t>optimization</a:t>
                </a:r>
              </a:p>
              <a:p>
                <a:endParaRPr lang="en-US" sz="1350" dirty="0"/>
              </a:p>
            </p:txBody>
          </p:sp>
          <p:cxnSp>
            <p:nvCxnSpPr>
              <p:cNvPr id="10" name="Straight Arrow Connector 9">
                <a:extLst>
                  <a:ext uri="{FF2B5EF4-FFF2-40B4-BE49-F238E27FC236}">
                    <a16:creationId xmlns:a16="http://schemas.microsoft.com/office/drawing/2014/main" id="{3D61A312-128E-454A-BBFE-0814F16984F6}"/>
                  </a:ext>
                </a:extLst>
              </p:cNvPr>
              <p:cNvCxnSpPr>
                <a:stCxn id="39" idx="3"/>
                <a:endCxn id="18437" idx="1"/>
              </p:cNvCxnSpPr>
              <p:nvPr/>
            </p:nvCxnSpPr>
            <p:spPr>
              <a:xfrm>
                <a:off x="4678028" y="4655220"/>
                <a:ext cx="40891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cxnSp>
          <p:nvCxnSpPr>
            <p:cNvPr id="28" name="Straight Arrow Connector 27">
              <a:extLst>
                <a:ext uri="{FF2B5EF4-FFF2-40B4-BE49-F238E27FC236}">
                  <a16:creationId xmlns:a16="http://schemas.microsoft.com/office/drawing/2014/main" id="{725590E0-7BC0-704F-B0F3-4F58F1C8C610}"/>
                </a:ext>
              </a:extLst>
            </p:cNvPr>
            <p:cNvCxnSpPr>
              <a:stCxn id="18440" idx="0"/>
              <a:endCxn id="50" idx="2"/>
            </p:cNvCxnSpPr>
            <p:nvPr/>
          </p:nvCxnSpPr>
          <p:spPr>
            <a:xfrm flipV="1">
              <a:off x="3170408" y="3676750"/>
              <a:ext cx="8008" cy="3265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2BDA4B49-F1D3-4D44-B681-00A0C7EE8C61}"/>
                </a:ext>
              </a:extLst>
            </p:cNvPr>
            <p:cNvCxnSpPr>
              <a:stCxn id="18441" idx="3"/>
              <a:endCxn id="39" idx="1"/>
            </p:cNvCxnSpPr>
            <p:nvPr/>
          </p:nvCxnSpPr>
          <p:spPr>
            <a:xfrm>
              <a:off x="3827804" y="5590074"/>
              <a:ext cx="431534" cy="59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4F99ABAB-132E-894D-B0EF-BF48DCC63C3F}"/>
                </a:ext>
              </a:extLst>
            </p:cNvPr>
            <p:cNvSpPr txBox="1"/>
            <p:nvPr/>
          </p:nvSpPr>
          <p:spPr>
            <a:xfrm>
              <a:off x="6016690" y="3786976"/>
              <a:ext cx="1945661" cy="1181862"/>
            </a:xfrm>
            <a:prstGeom prst="rect">
              <a:avLst/>
            </a:prstGeom>
            <a:noFill/>
          </p:spPr>
          <p:txBody>
            <a:bodyPr wrap="none" lIns="118872" tIns="91440" rIns="118872" bIns="91440" rtlCol="0" anchor="ctr" anchorCtr="0">
              <a:spAutoFit/>
            </a:bodyPr>
            <a:lstStyle/>
            <a:p>
              <a:pPr algn="l">
                <a:lnSpc>
                  <a:spcPct val="90000"/>
                </a:lnSpc>
              </a:pPr>
              <a:r>
                <a:rPr lang="en-US" dirty="0"/>
                <a:t>Implemented by </a:t>
              </a:r>
            </a:p>
            <a:p>
              <a:pPr algn="l">
                <a:lnSpc>
                  <a:spcPct val="90000"/>
                </a:lnSpc>
              </a:pPr>
              <a:r>
                <a:rPr lang="en-US" dirty="0"/>
                <a:t>domain experts </a:t>
              </a:r>
            </a:p>
            <a:p>
              <a:pPr algn="l">
                <a:lnSpc>
                  <a:spcPct val="90000"/>
                </a:lnSpc>
              </a:pPr>
              <a:r>
                <a:rPr lang="en-US" dirty="0"/>
                <a:t>and applied </a:t>
              </a:r>
            </a:p>
            <a:p>
              <a:pPr algn="l">
                <a:lnSpc>
                  <a:spcPct val="90000"/>
                </a:lnSpc>
              </a:pPr>
              <a:r>
                <a:rPr lang="en-US" dirty="0"/>
                <a:t>mathematicians</a:t>
              </a:r>
            </a:p>
          </p:txBody>
        </p:sp>
        <p:sp>
          <p:nvSpPr>
            <p:cNvPr id="3" name="Left Arrow 2">
              <a:extLst>
                <a:ext uri="{FF2B5EF4-FFF2-40B4-BE49-F238E27FC236}">
                  <a16:creationId xmlns:a16="http://schemas.microsoft.com/office/drawing/2014/main" id="{99C3632D-DEB6-CD4A-90C6-72DC51CD71D9}"/>
                </a:ext>
              </a:extLst>
            </p:cNvPr>
            <p:cNvSpPr/>
            <p:nvPr/>
          </p:nvSpPr>
          <p:spPr>
            <a:xfrm rot="-1800000">
              <a:off x="5658152" y="4860776"/>
              <a:ext cx="436260" cy="193628"/>
            </a:xfrm>
            <a:prstGeom prst="leftArrow">
              <a:avLst/>
            </a:prstGeom>
            <a:solidFill>
              <a:schemeClr val="tx2">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4" name="TextBox 3">
              <a:extLst>
                <a:ext uri="{FF2B5EF4-FFF2-40B4-BE49-F238E27FC236}">
                  <a16:creationId xmlns:a16="http://schemas.microsoft.com/office/drawing/2014/main" id="{8C9C4127-71FD-7945-9AC1-5B1CA0927B18}"/>
                </a:ext>
              </a:extLst>
            </p:cNvPr>
            <p:cNvSpPr txBox="1"/>
            <p:nvPr/>
          </p:nvSpPr>
          <p:spPr>
            <a:xfrm>
              <a:off x="8340073" y="3902880"/>
              <a:ext cx="1881541" cy="1181862"/>
            </a:xfrm>
            <a:prstGeom prst="rect">
              <a:avLst/>
            </a:prstGeom>
            <a:noFill/>
          </p:spPr>
          <p:txBody>
            <a:bodyPr wrap="none" lIns="118872" tIns="91440" rIns="118872" bIns="91440" rtlCol="0" anchor="ctr" anchorCtr="0">
              <a:spAutoFit/>
            </a:bodyPr>
            <a:lstStyle/>
            <a:p>
              <a:pPr algn="l">
                <a:lnSpc>
                  <a:spcPct val="90000"/>
                </a:lnSpc>
              </a:pPr>
              <a:r>
                <a:rPr lang="en-US" dirty="0"/>
                <a:t>Implemented by</a:t>
              </a:r>
            </a:p>
            <a:p>
              <a:pPr algn="l">
                <a:lnSpc>
                  <a:spcPct val="90000"/>
                </a:lnSpc>
              </a:pPr>
              <a:r>
                <a:rPr lang="en-US" dirty="0"/>
                <a:t>software and </a:t>
              </a:r>
            </a:p>
            <a:p>
              <a:pPr algn="l">
                <a:lnSpc>
                  <a:spcPct val="90000"/>
                </a:lnSpc>
              </a:pPr>
              <a:r>
                <a:rPr lang="en-US" dirty="0"/>
                <a:t>performance</a:t>
              </a:r>
            </a:p>
            <a:p>
              <a:pPr algn="l">
                <a:lnSpc>
                  <a:spcPct val="90000"/>
                </a:lnSpc>
              </a:pPr>
              <a:r>
                <a:rPr lang="en-US" dirty="0"/>
                <a:t>engineers</a:t>
              </a:r>
            </a:p>
          </p:txBody>
        </p:sp>
        <p:sp>
          <p:nvSpPr>
            <p:cNvPr id="5" name="Down Arrow 4">
              <a:extLst>
                <a:ext uri="{FF2B5EF4-FFF2-40B4-BE49-F238E27FC236}">
                  <a16:creationId xmlns:a16="http://schemas.microsoft.com/office/drawing/2014/main" id="{28A62EF0-D9D7-7741-88AF-0EA6352EC5B8}"/>
                </a:ext>
              </a:extLst>
            </p:cNvPr>
            <p:cNvSpPr/>
            <p:nvPr/>
          </p:nvSpPr>
          <p:spPr>
            <a:xfrm rot="-3600000">
              <a:off x="7920360" y="3154709"/>
              <a:ext cx="166884" cy="901210"/>
            </a:xfrm>
            <a:prstGeom prst="downArrow">
              <a:avLst/>
            </a:prstGeom>
            <a:solidFill>
              <a:schemeClr val="tx1"/>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87" name="Down Arrow 86">
              <a:extLst>
                <a:ext uri="{FF2B5EF4-FFF2-40B4-BE49-F238E27FC236}">
                  <a16:creationId xmlns:a16="http://schemas.microsoft.com/office/drawing/2014/main" id="{74877546-FCBD-C14E-A5E8-C20AE75CA18E}"/>
                </a:ext>
              </a:extLst>
            </p:cNvPr>
            <p:cNvSpPr/>
            <p:nvPr/>
          </p:nvSpPr>
          <p:spPr>
            <a:xfrm rot="14400000">
              <a:off x="7987502" y="4884793"/>
              <a:ext cx="166884" cy="901210"/>
            </a:xfrm>
            <a:prstGeom prst="downArrow">
              <a:avLst/>
            </a:prstGeom>
            <a:solidFill>
              <a:schemeClr val="tx1"/>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grpSp>
    </p:spTree>
    <p:extLst>
      <p:ext uri="{BB962C8B-B14F-4D97-AF65-F5344CB8AC3E}">
        <p14:creationId xmlns:p14="http://schemas.microsoft.com/office/powerpoint/2010/main" val="25971758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185EA-0E8F-C746-87E2-C283B4540007}"/>
              </a:ext>
            </a:extLst>
          </p:cNvPr>
          <p:cNvSpPr>
            <a:spLocks noGrp="1"/>
          </p:cNvSpPr>
          <p:nvPr>
            <p:ph type="title"/>
          </p:nvPr>
        </p:nvSpPr>
        <p:spPr/>
        <p:txBody>
          <a:bodyPr/>
          <a:lstStyle/>
          <a:p>
            <a:r>
              <a:rPr lang="en-US" dirty="0"/>
              <a:t>Takeaways so Far</a:t>
            </a:r>
          </a:p>
        </p:txBody>
      </p:sp>
      <p:sp>
        <p:nvSpPr>
          <p:cNvPr id="3" name="Content Placeholder 2">
            <a:extLst>
              <a:ext uri="{FF2B5EF4-FFF2-40B4-BE49-F238E27FC236}">
                <a16:creationId xmlns:a16="http://schemas.microsoft.com/office/drawing/2014/main" id="{FC84114E-9B93-6946-8537-70EC13595158}"/>
              </a:ext>
            </a:extLst>
          </p:cNvPr>
          <p:cNvSpPr>
            <a:spLocks noGrp="1"/>
          </p:cNvSpPr>
          <p:nvPr>
            <p:ph idx="1"/>
          </p:nvPr>
        </p:nvSpPr>
        <p:spPr>
          <a:xfrm>
            <a:off x="1009908" y="1602953"/>
            <a:ext cx="9790364" cy="4445723"/>
          </a:xfrm>
        </p:spPr>
        <p:txBody>
          <a:bodyPr/>
          <a:lstStyle/>
          <a:p>
            <a:r>
              <a:rPr lang="en-US" sz="2800" dirty="0">
                <a:solidFill>
                  <a:schemeClr val="tx1">
                    <a:lumMod val="95000"/>
                    <a:lumOff val="5000"/>
                  </a:schemeClr>
                </a:solidFill>
              </a:rPr>
              <a:t>Differentiate between slow changing and fast changing components of your code</a:t>
            </a:r>
          </a:p>
          <a:p>
            <a:r>
              <a:rPr lang="en-US" sz="2800" dirty="0">
                <a:solidFill>
                  <a:schemeClr val="tx1">
                    <a:lumMod val="95000"/>
                    <a:lumOff val="5000"/>
                  </a:schemeClr>
                </a:solidFill>
              </a:rPr>
              <a:t>Understand the requirements of your infrastructure</a:t>
            </a:r>
          </a:p>
          <a:p>
            <a:r>
              <a:rPr lang="en-US" sz="2800" dirty="0">
                <a:solidFill>
                  <a:schemeClr val="tx1">
                    <a:lumMod val="95000"/>
                    <a:lumOff val="5000"/>
                  </a:schemeClr>
                </a:solidFill>
              </a:rPr>
              <a:t>Implement separation of concerns</a:t>
            </a:r>
          </a:p>
          <a:p>
            <a:r>
              <a:rPr lang="en-US" sz="2800" dirty="0">
                <a:solidFill>
                  <a:schemeClr val="tx1">
                    <a:lumMod val="95000"/>
                    <a:lumOff val="5000"/>
                  </a:schemeClr>
                </a:solidFill>
              </a:rPr>
              <a:t>Design with portability, extensibility, reproducibility and maintainability in mind</a:t>
            </a:r>
          </a:p>
          <a:p>
            <a:pPr marL="0" indent="0">
              <a:buNone/>
            </a:pPr>
            <a:endParaRPr lang="en-US" dirty="0"/>
          </a:p>
        </p:txBody>
      </p:sp>
    </p:spTree>
    <p:extLst>
      <p:ext uri="{BB962C8B-B14F-4D97-AF65-F5344CB8AC3E}">
        <p14:creationId xmlns:p14="http://schemas.microsoft.com/office/powerpoint/2010/main" val="12231600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1CC4F-16D6-E895-AFBC-9A514D75E691}"/>
              </a:ext>
            </a:extLst>
          </p:cNvPr>
          <p:cNvSpPr>
            <a:spLocks noGrp="1"/>
          </p:cNvSpPr>
          <p:nvPr>
            <p:ph type="title"/>
          </p:nvPr>
        </p:nvSpPr>
        <p:spPr>
          <a:xfrm>
            <a:off x="406844" y="215753"/>
            <a:ext cx="11375136" cy="914400"/>
          </a:xfrm>
        </p:spPr>
        <p:txBody>
          <a:bodyPr/>
          <a:lstStyle/>
          <a:p>
            <a:r>
              <a:rPr lang="en-US" dirty="0"/>
              <a:t>Building a Test-suite</a:t>
            </a:r>
          </a:p>
        </p:txBody>
      </p:sp>
      <p:sp>
        <p:nvSpPr>
          <p:cNvPr id="12" name="Rounded Rectangle 11">
            <a:extLst>
              <a:ext uri="{FF2B5EF4-FFF2-40B4-BE49-F238E27FC236}">
                <a16:creationId xmlns:a16="http://schemas.microsoft.com/office/drawing/2014/main" id="{E3A1E368-C8DE-AC7E-30DC-02722CB16FBE}"/>
              </a:ext>
            </a:extLst>
          </p:cNvPr>
          <p:cNvSpPr/>
          <p:nvPr/>
        </p:nvSpPr>
        <p:spPr>
          <a:xfrm>
            <a:off x="1375054" y="1381171"/>
            <a:ext cx="9712046" cy="1940082"/>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marL="342900" indent="-342900">
              <a:lnSpc>
                <a:spcPct val="90000"/>
              </a:lnSpc>
              <a:buFont typeface="Arial" panose="020B0604020202020204" pitchFamily="34" charset="0"/>
              <a:buChar char="•"/>
            </a:pPr>
            <a:r>
              <a:rPr lang="en-US" sz="2000" dirty="0">
                <a:solidFill>
                  <a:schemeClr val="bg1"/>
                </a:solidFill>
              </a:rPr>
              <a:t>For some tests assertions will suffice</a:t>
            </a:r>
          </a:p>
          <a:p>
            <a:pPr marL="342900" indent="-342900">
              <a:lnSpc>
                <a:spcPct val="90000"/>
              </a:lnSpc>
              <a:buFont typeface="Arial" panose="020B0604020202020204" pitchFamily="34" charset="0"/>
              <a:buChar char="•"/>
            </a:pPr>
            <a:r>
              <a:rPr lang="en-US" sz="2000" dirty="0">
                <a:solidFill>
                  <a:schemeClr val="bg1"/>
                </a:solidFill>
              </a:rPr>
              <a:t>For others you will need to compare the output against baselines</a:t>
            </a:r>
          </a:p>
          <a:p>
            <a:pPr marL="800100" lvl="1" indent="-342900">
              <a:lnSpc>
                <a:spcPct val="90000"/>
              </a:lnSpc>
              <a:buFont typeface="Arial" panose="020B0604020202020204" pitchFamily="34" charset="0"/>
              <a:buChar char="•"/>
            </a:pPr>
            <a:r>
              <a:rPr lang="en-US" sz="2000" dirty="0">
                <a:solidFill>
                  <a:schemeClr val="bg1"/>
                </a:solidFill>
              </a:rPr>
              <a:t>Building a comparison utility is extremely useful </a:t>
            </a:r>
          </a:p>
          <a:p>
            <a:pPr marL="342900" indent="-342900">
              <a:lnSpc>
                <a:spcPct val="90000"/>
              </a:lnSpc>
              <a:buFont typeface="Arial" panose="020B0604020202020204" pitchFamily="34" charset="0"/>
              <a:buChar char="•"/>
            </a:pPr>
            <a:r>
              <a:rPr lang="en-US" sz="2000" dirty="0">
                <a:solidFill>
                  <a:schemeClr val="bg1"/>
                </a:solidFill>
              </a:rPr>
              <a:t>Also useful to develop diagnostics – indirect ways of verifying behavior</a:t>
            </a:r>
          </a:p>
          <a:p>
            <a:pPr marL="800100" lvl="1" indent="-342900">
              <a:lnSpc>
                <a:spcPct val="90000"/>
              </a:lnSpc>
              <a:buFont typeface="Arial" panose="020B0604020202020204" pitchFamily="34" charset="0"/>
              <a:buChar char="•"/>
            </a:pPr>
            <a:r>
              <a:rPr lang="en-US" sz="2000" dirty="0">
                <a:solidFill>
                  <a:schemeClr val="bg1"/>
                </a:solidFill>
              </a:rPr>
              <a:t>Conservation of physical quantities</a:t>
            </a:r>
          </a:p>
          <a:p>
            <a:pPr marL="800100" lvl="1" indent="-342900">
              <a:lnSpc>
                <a:spcPct val="90000"/>
              </a:lnSpc>
              <a:buFont typeface="Arial" panose="020B0604020202020204" pitchFamily="34" charset="0"/>
              <a:buChar char="•"/>
            </a:pPr>
            <a:r>
              <a:rPr lang="en-US" sz="2000" dirty="0">
                <a:solidFill>
                  <a:schemeClr val="bg1"/>
                </a:solidFill>
              </a:rPr>
              <a:t>No non-physical values</a:t>
            </a:r>
          </a:p>
        </p:txBody>
      </p:sp>
      <p:sp>
        <p:nvSpPr>
          <p:cNvPr id="4" name="TextBox 3">
            <a:extLst>
              <a:ext uri="{FF2B5EF4-FFF2-40B4-BE49-F238E27FC236}">
                <a16:creationId xmlns:a16="http://schemas.microsoft.com/office/drawing/2014/main" id="{EEE3EFF9-1991-0ED5-0E24-C67ED8D874A7}"/>
              </a:ext>
            </a:extLst>
          </p:cNvPr>
          <p:cNvSpPr txBox="1"/>
          <p:nvPr/>
        </p:nvSpPr>
        <p:spPr>
          <a:xfrm>
            <a:off x="1375054" y="919506"/>
            <a:ext cx="3870868" cy="461665"/>
          </a:xfrm>
          <a:prstGeom prst="rect">
            <a:avLst/>
          </a:prstGeom>
          <a:noFill/>
        </p:spPr>
        <p:txBody>
          <a:bodyPr wrap="none" lIns="118872" tIns="91440" rIns="118872" bIns="91440" rtlCol="0" anchor="ctr" anchorCtr="0">
            <a:spAutoFit/>
          </a:bodyPr>
          <a:lstStyle/>
          <a:p>
            <a:pPr algn="l">
              <a:lnSpc>
                <a:spcPct val="90000"/>
              </a:lnSpc>
            </a:pPr>
            <a:r>
              <a:rPr lang="en-US" sz="2000" b="1" dirty="0"/>
              <a:t>Elements of test development</a:t>
            </a:r>
          </a:p>
        </p:txBody>
      </p:sp>
    </p:spTree>
    <p:extLst>
      <p:ext uri="{BB962C8B-B14F-4D97-AF65-F5344CB8AC3E}">
        <p14:creationId xmlns:p14="http://schemas.microsoft.com/office/powerpoint/2010/main" val="25975631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1CC4F-16D6-E895-AFBC-9A514D75E691}"/>
              </a:ext>
            </a:extLst>
          </p:cNvPr>
          <p:cNvSpPr>
            <a:spLocks noGrp="1"/>
          </p:cNvSpPr>
          <p:nvPr>
            <p:ph type="title"/>
          </p:nvPr>
        </p:nvSpPr>
        <p:spPr>
          <a:xfrm>
            <a:off x="406844" y="215753"/>
            <a:ext cx="11375136" cy="914400"/>
          </a:xfrm>
        </p:spPr>
        <p:txBody>
          <a:bodyPr/>
          <a:lstStyle/>
          <a:p>
            <a:r>
              <a:rPr lang="en-US" dirty="0"/>
              <a:t>Building a Test-suite</a:t>
            </a:r>
          </a:p>
        </p:txBody>
      </p:sp>
      <p:sp>
        <p:nvSpPr>
          <p:cNvPr id="6" name="Rounded Rectangle 5">
            <a:extLst>
              <a:ext uri="{FF2B5EF4-FFF2-40B4-BE49-F238E27FC236}">
                <a16:creationId xmlns:a16="http://schemas.microsoft.com/office/drawing/2014/main" id="{971F79A8-936E-E19F-69DA-47AC4E387FC1}"/>
              </a:ext>
            </a:extLst>
          </p:cNvPr>
          <p:cNvSpPr/>
          <p:nvPr/>
        </p:nvSpPr>
        <p:spPr>
          <a:xfrm>
            <a:off x="1375054" y="3972180"/>
            <a:ext cx="6302096" cy="2670067"/>
          </a:xfrm>
          <a:prstGeom prst="roundRect">
            <a:avLst/>
          </a:prstGeom>
          <a:solidFill>
            <a:schemeClr val="accent3">
              <a:lumMod val="40000"/>
              <a:lumOff val="6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marL="342900" indent="-342900">
              <a:lnSpc>
                <a:spcPct val="90000"/>
              </a:lnSpc>
              <a:buFont typeface="Arial" panose="020B0604020202020204" pitchFamily="34" charset="0"/>
              <a:buChar char="•"/>
            </a:pPr>
            <a:r>
              <a:rPr lang="en-US" sz="2000" dirty="0">
                <a:solidFill>
                  <a:sysClr val="windowText" lastClr="000000"/>
                </a:solidFill>
              </a:rPr>
              <a:t>From a known analytical solution</a:t>
            </a:r>
          </a:p>
          <a:p>
            <a:pPr marL="342900" indent="-342900">
              <a:lnSpc>
                <a:spcPct val="90000"/>
              </a:lnSpc>
              <a:buFont typeface="Arial" panose="020B0604020202020204" pitchFamily="34" charset="0"/>
              <a:buChar char="•"/>
            </a:pPr>
            <a:r>
              <a:rPr lang="en-US" sz="2000" dirty="0">
                <a:solidFill>
                  <a:sysClr val="windowText" lastClr="000000"/>
                </a:solidFill>
              </a:rPr>
              <a:t>Manufacture a solution</a:t>
            </a:r>
          </a:p>
          <a:p>
            <a:pPr marL="342900" indent="-342900">
              <a:lnSpc>
                <a:spcPct val="90000"/>
              </a:lnSpc>
              <a:buFont typeface="Arial" panose="020B0604020202020204" pitchFamily="34" charset="0"/>
              <a:buChar char="•"/>
            </a:pPr>
            <a:r>
              <a:rPr lang="en-US" sz="2000" dirty="0">
                <a:solidFill>
                  <a:sysClr val="windowText" lastClr="000000"/>
                </a:solidFill>
              </a:rPr>
              <a:t>Visualize and inspect output and anoint as baseline</a:t>
            </a:r>
          </a:p>
          <a:p>
            <a:pPr marL="342900" indent="-342900">
              <a:lnSpc>
                <a:spcPct val="90000"/>
              </a:lnSpc>
              <a:buFont typeface="Arial" panose="020B0604020202020204" pitchFamily="34" charset="0"/>
              <a:buChar char="•"/>
            </a:pPr>
            <a:r>
              <a:rPr lang="en-US" sz="2000" dirty="0">
                <a:solidFill>
                  <a:sysClr val="windowText" lastClr="000000"/>
                </a:solidFill>
              </a:rPr>
              <a:t>Run a test </a:t>
            </a:r>
            <a:r>
              <a:rPr lang="en-US" sz="2000">
                <a:solidFill>
                  <a:sysClr val="windowText" lastClr="000000"/>
                </a:solidFill>
              </a:rPr>
              <a:t>case up to </a:t>
            </a:r>
            <a:r>
              <a:rPr lang="en-US" sz="2000" dirty="0">
                <a:solidFill>
                  <a:sysClr val="windowText" lastClr="000000"/>
                </a:solidFill>
              </a:rPr>
              <a:t>point A and drop a checkpoint. Run another test case up to a later point B. </a:t>
            </a:r>
          </a:p>
          <a:p>
            <a:pPr marL="800100" lvl="1" indent="-342900">
              <a:lnSpc>
                <a:spcPct val="90000"/>
              </a:lnSpc>
              <a:buFont typeface="Arial" panose="020B0604020202020204" pitchFamily="34" charset="0"/>
              <a:buChar char="•"/>
            </a:pPr>
            <a:r>
              <a:rPr lang="en-US" sz="2000" dirty="0">
                <a:solidFill>
                  <a:sysClr val="windowText" lastClr="000000"/>
                </a:solidFill>
              </a:rPr>
              <a:t>Use point A to restart and B as the anointed baseline</a:t>
            </a:r>
          </a:p>
        </p:txBody>
      </p:sp>
      <p:sp>
        <p:nvSpPr>
          <p:cNvPr id="12" name="Rounded Rectangle 11">
            <a:extLst>
              <a:ext uri="{FF2B5EF4-FFF2-40B4-BE49-F238E27FC236}">
                <a16:creationId xmlns:a16="http://schemas.microsoft.com/office/drawing/2014/main" id="{E3A1E368-C8DE-AC7E-30DC-02722CB16FBE}"/>
              </a:ext>
            </a:extLst>
          </p:cNvPr>
          <p:cNvSpPr/>
          <p:nvPr/>
        </p:nvSpPr>
        <p:spPr>
          <a:xfrm>
            <a:off x="1375054" y="1381171"/>
            <a:ext cx="9712046" cy="1940082"/>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marL="342900" indent="-342900">
              <a:lnSpc>
                <a:spcPct val="90000"/>
              </a:lnSpc>
              <a:buFont typeface="Arial" panose="020B0604020202020204" pitchFamily="34" charset="0"/>
              <a:buChar char="•"/>
            </a:pPr>
            <a:r>
              <a:rPr lang="en-US" sz="2000" dirty="0">
                <a:solidFill>
                  <a:schemeClr val="bg1"/>
                </a:solidFill>
              </a:rPr>
              <a:t>For some tests assertions will suffice</a:t>
            </a:r>
          </a:p>
          <a:p>
            <a:pPr marL="342900" indent="-342900">
              <a:lnSpc>
                <a:spcPct val="90000"/>
              </a:lnSpc>
              <a:buFont typeface="Arial" panose="020B0604020202020204" pitchFamily="34" charset="0"/>
              <a:buChar char="•"/>
            </a:pPr>
            <a:r>
              <a:rPr lang="en-US" sz="2000" dirty="0">
                <a:solidFill>
                  <a:schemeClr val="bg1"/>
                </a:solidFill>
              </a:rPr>
              <a:t>For others you will need to compare the output against baselines</a:t>
            </a:r>
          </a:p>
          <a:p>
            <a:pPr marL="800100" lvl="1" indent="-342900">
              <a:lnSpc>
                <a:spcPct val="90000"/>
              </a:lnSpc>
              <a:buFont typeface="Arial" panose="020B0604020202020204" pitchFamily="34" charset="0"/>
              <a:buChar char="•"/>
            </a:pPr>
            <a:r>
              <a:rPr lang="en-US" sz="2000" dirty="0">
                <a:solidFill>
                  <a:schemeClr val="bg1"/>
                </a:solidFill>
              </a:rPr>
              <a:t>Building a comparison utility is extremely useful </a:t>
            </a:r>
          </a:p>
          <a:p>
            <a:pPr marL="342900" indent="-342900">
              <a:lnSpc>
                <a:spcPct val="90000"/>
              </a:lnSpc>
              <a:buFont typeface="Arial" panose="020B0604020202020204" pitchFamily="34" charset="0"/>
              <a:buChar char="•"/>
            </a:pPr>
            <a:r>
              <a:rPr lang="en-US" sz="2000" dirty="0">
                <a:solidFill>
                  <a:schemeClr val="bg1"/>
                </a:solidFill>
              </a:rPr>
              <a:t>Also useful to develop diagnostics – indirect ways of verifying behavior</a:t>
            </a:r>
          </a:p>
          <a:p>
            <a:pPr marL="800100" lvl="1" indent="-342900">
              <a:lnSpc>
                <a:spcPct val="90000"/>
              </a:lnSpc>
              <a:buFont typeface="Arial" panose="020B0604020202020204" pitchFamily="34" charset="0"/>
              <a:buChar char="•"/>
            </a:pPr>
            <a:r>
              <a:rPr lang="en-US" sz="2000" dirty="0">
                <a:solidFill>
                  <a:schemeClr val="bg1"/>
                </a:solidFill>
              </a:rPr>
              <a:t>Conservation of physical quantities</a:t>
            </a:r>
          </a:p>
          <a:p>
            <a:pPr marL="800100" lvl="1" indent="-342900">
              <a:lnSpc>
                <a:spcPct val="90000"/>
              </a:lnSpc>
              <a:buFont typeface="Arial" panose="020B0604020202020204" pitchFamily="34" charset="0"/>
              <a:buChar char="•"/>
            </a:pPr>
            <a:r>
              <a:rPr lang="en-US" sz="2000" dirty="0">
                <a:solidFill>
                  <a:schemeClr val="bg1"/>
                </a:solidFill>
              </a:rPr>
              <a:t>No non-physical values</a:t>
            </a:r>
          </a:p>
        </p:txBody>
      </p:sp>
      <p:sp>
        <p:nvSpPr>
          <p:cNvPr id="4" name="TextBox 3">
            <a:extLst>
              <a:ext uri="{FF2B5EF4-FFF2-40B4-BE49-F238E27FC236}">
                <a16:creationId xmlns:a16="http://schemas.microsoft.com/office/drawing/2014/main" id="{EEE3EFF9-1991-0ED5-0E24-C67ED8D874A7}"/>
              </a:ext>
            </a:extLst>
          </p:cNvPr>
          <p:cNvSpPr txBox="1"/>
          <p:nvPr/>
        </p:nvSpPr>
        <p:spPr>
          <a:xfrm>
            <a:off x="1375054" y="919506"/>
            <a:ext cx="3870868" cy="461665"/>
          </a:xfrm>
          <a:prstGeom prst="rect">
            <a:avLst/>
          </a:prstGeom>
          <a:noFill/>
        </p:spPr>
        <p:txBody>
          <a:bodyPr wrap="none" lIns="118872" tIns="91440" rIns="118872" bIns="91440" rtlCol="0" anchor="ctr" anchorCtr="0">
            <a:spAutoFit/>
          </a:bodyPr>
          <a:lstStyle/>
          <a:p>
            <a:pPr algn="l">
              <a:lnSpc>
                <a:spcPct val="90000"/>
              </a:lnSpc>
            </a:pPr>
            <a:r>
              <a:rPr lang="en-US" sz="2000" b="1" dirty="0"/>
              <a:t>Elements of test development</a:t>
            </a:r>
          </a:p>
        </p:txBody>
      </p:sp>
      <p:sp>
        <p:nvSpPr>
          <p:cNvPr id="13" name="TextBox 12">
            <a:extLst>
              <a:ext uri="{FF2B5EF4-FFF2-40B4-BE49-F238E27FC236}">
                <a16:creationId xmlns:a16="http://schemas.microsoft.com/office/drawing/2014/main" id="{48420E51-C9F6-C5FD-F215-CF01A9FBB0E9}"/>
              </a:ext>
            </a:extLst>
          </p:cNvPr>
          <p:cNvSpPr txBox="1"/>
          <p:nvPr/>
        </p:nvSpPr>
        <p:spPr>
          <a:xfrm>
            <a:off x="1281531" y="3533632"/>
            <a:ext cx="4441537" cy="461665"/>
          </a:xfrm>
          <a:prstGeom prst="rect">
            <a:avLst/>
          </a:prstGeom>
          <a:noFill/>
        </p:spPr>
        <p:txBody>
          <a:bodyPr wrap="none" lIns="118872" tIns="91440" rIns="118872" bIns="91440" rtlCol="0" anchor="ctr" anchorCtr="0">
            <a:spAutoFit/>
          </a:bodyPr>
          <a:lstStyle/>
          <a:p>
            <a:pPr algn="l">
              <a:lnSpc>
                <a:spcPct val="90000"/>
              </a:lnSpc>
            </a:pPr>
            <a:r>
              <a:rPr lang="en-US" sz="2000" b="1" dirty="0"/>
              <a:t>Building baselines for comparison</a:t>
            </a:r>
          </a:p>
        </p:txBody>
      </p:sp>
    </p:spTree>
    <p:extLst>
      <p:ext uri="{BB962C8B-B14F-4D97-AF65-F5344CB8AC3E}">
        <p14:creationId xmlns:p14="http://schemas.microsoft.com/office/powerpoint/2010/main" val="10250527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1CC4F-16D6-E895-AFBC-9A514D75E691}"/>
              </a:ext>
            </a:extLst>
          </p:cNvPr>
          <p:cNvSpPr>
            <a:spLocks noGrp="1"/>
          </p:cNvSpPr>
          <p:nvPr>
            <p:ph type="title"/>
          </p:nvPr>
        </p:nvSpPr>
        <p:spPr>
          <a:xfrm>
            <a:off x="406844" y="215753"/>
            <a:ext cx="11375136" cy="914400"/>
          </a:xfrm>
        </p:spPr>
        <p:txBody>
          <a:bodyPr/>
          <a:lstStyle/>
          <a:p>
            <a:r>
              <a:rPr lang="en-US" dirty="0"/>
              <a:t>Building a Test-suite</a:t>
            </a:r>
          </a:p>
        </p:txBody>
      </p:sp>
      <p:sp>
        <p:nvSpPr>
          <p:cNvPr id="6" name="Rounded Rectangle 5">
            <a:extLst>
              <a:ext uri="{FF2B5EF4-FFF2-40B4-BE49-F238E27FC236}">
                <a16:creationId xmlns:a16="http://schemas.microsoft.com/office/drawing/2014/main" id="{971F79A8-936E-E19F-69DA-47AC4E387FC1}"/>
              </a:ext>
            </a:extLst>
          </p:cNvPr>
          <p:cNvSpPr/>
          <p:nvPr/>
        </p:nvSpPr>
        <p:spPr>
          <a:xfrm>
            <a:off x="1375054" y="3972180"/>
            <a:ext cx="6302096" cy="2670067"/>
          </a:xfrm>
          <a:prstGeom prst="roundRect">
            <a:avLst/>
          </a:prstGeom>
          <a:solidFill>
            <a:schemeClr val="accent3">
              <a:lumMod val="40000"/>
              <a:lumOff val="6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marL="342900" indent="-342900">
              <a:lnSpc>
                <a:spcPct val="90000"/>
              </a:lnSpc>
              <a:buFont typeface="Arial" panose="020B0604020202020204" pitchFamily="34" charset="0"/>
              <a:buChar char="•"/>
            </a:pPr>
            <a:r>
              <a:rPr lang="en-US" sz="2000" dirty="0">
                <a:solidFill>
                  <a:sysClr val="windowText" lastClr="000000"/>
                </a:solidFill>
              </a:rPr>
              <a:t>From a known analytical solution</a:t>
            </a:r>
          </a:p>
          <a:p>
            <a:pPr marL="342900" indent="-342900">
              <a:lnSpc>
                <a:spcPct val="90000"/>
              </a:lnSpc>
              <a:buFont typeface="Arial" panose="020B0604020202020204" pitchFamily="34" charset="0"/>
              <a:buChar char="•"/>
            </a:pPr>
            <a:r>
              <a:rPr lang="en-US" sz="2000" dirty="0">
                <a:solidFill>
                  <a:sysClr val="windowText" lastClr="000000"/>
                </a:solidFill>
              </a:rPr>
              <a:t>Manufacture a solution</a:t>
            </a:r>
          </a:p>
          <a:p>
            <a:pPr marL="342900" indent="-342900">
              <a:lnSpc>
                <a:spcPct val="90000"/>
              </a:lnSpc>
              <a:buFont typeface="Arial" panose="020B0604020202020204" pitchFamily="34" charset="0"/>
              <a:buChar char="•"/>
            </a:pPr>
            <a:r>
              <a:rPr lang="en-US" sz="2000" dirty="0">
                <a:solidFill>
                  <a:sysClr val="windowText" lastClr="000000"/>
                </a:solidFill>
              </a:rPr>
              <a:t>Visualize and inspect output and anoint as baseline</a:t>
            </a:r>
          </a:p>
          <a:p>
            <a:pPr marL="342900" indent="-342900">
              <a:lnSpc>
                <a:spcPct val="90000"/>
              </a:lnSpc>
              <a:buFont typeface="Arial" panose="020B0604020202020204" pitchFamily="34" charset="0"/>
              <a:buChar char="•"/>
            </a:pPr>
            <a:r>
              <a:rPr lang="en-US" sz="2000" dirty="0">
                <a:solidFill>
                  <a:sysClr val="windowText" lastClr="000000"/>
                </a:solidFill>
              </a:rPr>
              <a:t>Run a test case up to point A and drop a checkpoint. Run another test case up to a later point B. </a:t>
            </a:r>
          </a:p>
          <a:p>
            <a:pPr marL="800100" lvl="1" indent="-342900">
              <a:lnSpc>
                <a:spcPct val="90000"/>
              </a:lnSpc>
              <a:buFont typeface="Arial" panose="020B0604020202020204" pitchFamily="34" charset="0"/>
              <a:buChar char="•"/>
            </a:pPr>
            <a:r>
              <a:rPr lang="en-US" sz="2000" dirty="0">
                <a:solidFill>
                  <a:sysClr val="windowText" lastClr="000000"/>
                </a:solidFill>
              </a:rPr>
              <a:t>Use point A to restart and B as the anointed baseline</a:t>
            </a:r>
          </a:p>
        </p:txBody>
      </p:sp>
      <p:sp>
        <p:nvSpPr>
          <p:cNvPr id="12" name="Rounded Rectangle 11">
            <a:extLst>
              <a:ext uri="{FF2B5EF4-FFF2-40B4-BE49-F238E27FC236}">
                <a16:creationId xmlns:a16="http://schemas.microsoft.com/office/drawing/2014/main" id="{E3A1E368-C8DE-AC7E-30DC-02722CB16FBE}"/>
              </a:ext>
            </a:extLst>
          </p:cNvPr>
          <p:cNvSpPr/>
          <p:nvPr/>
        </p:nvSpPr>
        <p:spPr>
          <a:xfrm>
            <a:off x="1375054" y="1381171"/>
            <a:ext cx="9712046" cy="1940082"/>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marL="342900" indent="-342900">
              <a:lnSpc>
                <a:spcPct val="90000"/>
              </a:lnSpc>
              <a:buFont typeface="Arial" panose="020B0604020202020204" pitchFamily="34" charset="0"/>
              <a:buChar char="•"/>
            </a:pPr>
            <a:r>
              <a:rPr lang="en-US" sz="2000" dirty="0">
                <a:solidFill>
                  <a:schemeClr val="bg1"/>
                </a:solidFill>
              </a:rPr>
              <a:t>For some tests assertions will suffice</a:t>
            </a:r>
          </a:p>
          <a:p>
            <a:pPr marL="342900" indent="-342900">
              <a:lnSpc>
                <a:spcPct val="90000"/>
              </a:lnSpc>
              <a:buFont typeface="Arial" panose="020B0604020202020204" pitchFamily="34" charset="0"/>
              <a:buChar char="•"/>
            </a:pPr>
            <a:r>
              <a:rPr lang="en-US" sz="2000" dirty="0">
                <a:solidFill>
                  <a:schemeClr val="bg1"/>
                </a:solidFill>
              </a:rPr>
              <a:t>For others you will need to compare the output against baselines</a:t>
            </a:r>
          </a:p>
          <a:p>
            <a:pPr marL="800100" lvl="1" indent="-342900">
              <a:lnSpc>
                <a:spcPct val="90000"/>
              </a:lnSpc>
              <a:buFont typeface="Arial" panose="020B0604020202020204" pitchFamily="34" charset="0"/>
              <a:buChar char="•"/>
            </a:pPr>
            <a:r>
              <a:rPr lang="en-US" sz="2000" dirty="0">
                <a:solidFill>
                  <a:schemeClr val="bg1"/>
                </a:solidFill>
              </a:rPr>
              <a:t>Building a comparison utility is extremely useful </a:t>
            </a:r>
          </a:p>
          <a:p>
            <a:pPr marL="342900" indent="-342900">
              <a:lnSpc>
                <a:spcPct val="90000"/>
              </a:lnSpc>
              <a:buFont typeface="Arial" panose="020B0604020202020204" pitchFamily="34" charset="0"/>
              <a:buChar char="•"/>
            </a:pPr>
            <a:r>
              <a:rPr lang="en-US" sz="2000" dirty="0">
                <a:solidFill>
                  <a:schemeClr val="bg1"/>
                </a:solidFill>
              </a:rPr>
              <a:t>Also useful to develop diagnostics – indirect ways of verifying behavior</a:t>
            </a:r>
          </a:p>
          <a:p>
            <a:pPr marL="800100" lvl="1" indent="-342900">
              <a:lnSpc>
                <a:spcPct val="90000"/>
              </a:lnSpc>
              <a:buFont typeface="Arial" panose="020B0604020202020204" pitchFamily="34" charset="0"/>
              <a:buChar char="•"/>
            </a:pPr>
            <a:r>
              <a:rPr lang="en-US" sz="2000" dirty="0">
                <a:solidFill>
                  <a:schemeClr val="bg1"/>
                </a:solidFill>
              </a:rPr>
              <a:t>Conservation of physical quantities</a:t>
            </a:r>
          </a:p>
          <a:p>
            <a:pPr marL="800100" lvl="1" indent="-342900">
              <a:lnSpc>
                <a:spcPct val="90000"/>
              </a:lnSpc>
              <a:buFont typeface="Arial" panose="020B0604020202020204" pitchFamily="34" charset="0"/>
              <a:buChar char="•"/>
            </a:pPr>
            <a:r>
              <a:rPr lang="en-US" sz="2000" dirty="0">
                <a:solidFill>
                  <a:schemeClr val="bg1"/>
                </a:solidFill>
              </a:rPr>
              <a:t>No non-physical values</a:t>
            </a:r>
          </a:p>
        </p:txBody>
      </p:sp>
      <p:sp>
        <p:nvSpPr>
          <p:cNvPr id="4" name="TextBox 3">
            <a:extLst>
              <a:ext uri="{FF2B5EF4-FFF2-40B4-BE49-F238E27FC236}">
                <a16:creationId xmlns:a16="http://schemas.microsoft.com/office/drawing/2014/main" id="{EEE3EFF9-1991-0ED5-0E24-C67ED8D874A7}"/>
              </a:ext>
            </a:extLst>
          </p:cNvPr>
          <p:cNvSpPr txBox="1"/>
          <p:nvPr/>
        </p:nvSpPr>
        <p:spPr>
          <a:xfrm>
            <a:off x="1375054" y="919506"/>
            <a:ext cx="3870868" cy="461665"/>
          </a:xfrm>
          <a:prstGeom prst="rect">
            <a:avLst/>
          </a:prstGeom>
          <a:noFill/>
        </p:spPr>
        <p:txBody>
          <a:bodyPr wrap="none" lIns="118872" tIns="91440" rIns="118872" bIns="91440" rtlCol="0" anchor="ctr" anchorCtr="0">
            <a:spAutoFit/>
          </a:bodyPr>
          <a:lstStyle/>
          <a:p>
            <a:pPr algn="l">
              <a:lnSpc>
                <a:spcPct val="90000"/>
              </a:lnSpc>
            </a:pPr>
            <a:r>
              <a:rPr lang="en-US" sz="2000" b="1" dirty="0"/>
              <a:t>Elements of test development</a:t>
            </a:r>
          </a:p>
        </p:txBody>
      </p:sp>
      <p:sp>
        <p:nvSpPr>
          <p:cNvPr id="13" name="TextBox 12">
            <a:extLst>
              <a:ext uri="{FF2B5EF4-FFF2-40B4-BE49-F238E27FC236}">
                <a16:creationId xmlns:a16="http://schemas.microsoft.com/office/drawing/2014/main" id="{48420E51-C9F6-C5FD-F215-CF01A9FBB0E9}"/>
              </a:ext>
            </a:extLst>
          </p:cNvPr>
          <p:cNvSpPr txBox="1"/>
          <p:nvPr/>
        </p:nvSpPr>
        <p:spPr>
          <a:xfrm>
            <a:off x="1281531" y="3533632"/>
            <a:ext cx="4441537" cy="461665"/>
          </a:xfrm>
          <a:prstGeom prst="rect">
            <a:avLst/>
          </a:prstGeom>
          <a:noFill/>
        </p:spPr>
        <p:txBody>
          <a:bodyPr wrap="none" lIns="118872" tIns="91440" rIns="118872" bIns="91440" rtlCol="0" anchor="ctr" anchorCtr="0">
            <a:spAutoFit/>
          </a:bodyPr>
          <a:lstStyle/>
          <a:p>
            <a:pPr algn="l">
              <a:lnSpc>
                <a:spcPct val="90000"/>
              </a:lnSpc>
            </a:pPr>
            <a:r>
              <a:rPr lang="en-US" sz="2000" b="1" dirty="0"/>
              <a:t>Building baselines for comparison</a:t>
            </a:r>
          </a:p>
        </p:txBody>
      </p:sp>
      <p:sp>
        <p:nvSpPr>
          <p:cNvPr id="16" name="Rounded Rectangle 15">
            <a:extLst>
              <a:ext uri="{FF2B5EF4-FFF2-40B4-BE49-F238E27FC236}">
                <a16:creationId xmlns:a16="http://schemas.microsoft.com/office/drawing/2014/main" id="{D3069DB2-512D-E621-9BFB-35F7F8DB59DB}"/>
              </a:ext>
            </a:extLst>
          </p:cNvPr>
          <p:cNvSpPr/>
          <p:nvPr/>
        </p:nvSpPr>
        <p:spPr>
          <a:xfrm>
            <a:off x="8203242" y="3972180"/>
            <a:ext cx="2397318" cy="1954192"/>
          </a:xfrm>
          <a:prstGeom prst="roundRect">
            <a:avLst/>
          </a:prstGeom>
          <a:solidFill>
            <a:srgbClr val="7030A0"/>
          </a:solidFill>
          <a:ln>
            <a:solidFill>
              <a:srgbClr val="7030A0"/>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Apply scaffolding for selection of tests … explained next</a:t>
            </a:r>
          </a:p>
          <a:p>
            <a:pPr algn="ctr">
              <a:lnSpc>
                <a:spcPct val="90000"/>
              </a:lnSpc>
            </a:pPr>
            <a:endParaRPr lang="en-US" sz="2000" dirty="0">
              <a:solidFill>
                <a:schemeClr val="bg1"/>
              </a:solidFill>
            </a:endParaRPr>
          </a:p>
        </p:txBody>
      </p:sp>
    </p:spTree>
    <p:extLst>
      <p:ext uri="{BB962C8B-B14F-4D97-AF65-F5344CB8AC3E}">
        <p14:creationId xmlns:p14="http://schemas.microsoft.com/office/powerpoint/2010/main" val="10070327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quarter" idx="1"/>
          </p:nvPr>
        </p:nvSpPr>
        <p:spPr>
          <a:xfrm>
            <a:off x="365760" y="868680"/>
            <a:ext cx="4312257" cy="3142431"/>
          </a:xfrm>
        </p:spPr>
        <p:txBody>
          <a:bodyPr/>
          <a:lstStyle/>
          <a:p>
            <a:pPr marL="0" indent="0">
              <a:buNone/>
            </a:pPr>
            <a:endParaRPr lang="en-US" b="1" dirty="0"/>
          </a:p>
          <a:p>
            <a:pPr marL="0" indent="0">
              <a:buNone/>
            </a:pPr>
            <a:r>
              <a:rPr lang="en-US" b="1" dirty="0"/>
              <a:t>Components needed</a:t>
            </a:r>
          </a:p>
          <a:p>
            <a:r>
              <a:rPr lang="en-US" dirty="0"/>
              <a:t>Mesh </a:t>
            </a:r>
          </a:p>
          <a:p>
            <a:r>
              <a:rPr lang="en-US" dirty="0"/>
              <a:t>Hydrodynamics solver</a:t>
            </a:r>
          </a:p>
          <a:p>
            <a:r>
              <a:rPr lang="en-US" dirty="0"/>
              <a:t>Equation of state</a:t>
            </a:r>
          </a:p>
          <a:p>
            <a:r>
              <a:rPr lang="en-US" dirty="0"/>
              <a:t>Parallelization</a:t>
            </a:r>
          </a:p>
        </p:txBody>
      </p:sp>
      <p:sp>
        <p:nvSpPr>
          <p:cNvPr id="15" name="Title 1">
            <a:extLst>
              <a:ext uri="{FF2B5EF4-FFF2-40B4-BE49-F238E27FC236}">
                <a16:creationId xmlns:a16="http://schemas.microsoft.com/office/drawing/2014/main" id="{2B60CC5D-8136-784B-B04A-6112FE74C013}"/>
              </a:ext>
            </a:extLst>
          </p:cNvPr>
          <p:cNvSpPr>
            <a:spLocks noGrp="1"/>
          </p:cNvSpPr>
          <p:nvPr>
            <p:ph type="title"/>
          </p:nvPr>
        </p:nvSpPr>
        <p:spPr>
          <a:xfrm>
            <a:off x="365760" y="411480"/>
            <a:ext cx="11372473" cy="914400"/>
          </a:xfrm>
        </p:spPr>
        <p:txBody>
          <a:bodyPr/>
          <a:lstStyle/>
          <a:p>
            <a:r>
              <a:rPr lang="en-US" dirty="0"/>
              <a:t>Example – Back to Sedov Blast</a:t>
            </a:r>
          </a:p>
        </p:txBody>
      </p:sp>
      <p:sp>
        <p:nvSpPr>
          <p:cNvPr id="2" name="Rounded Rectangle 1">
            <a:extLst>
              <a:ext uri="{FF2B5EF4-FFF2-40B4-BE49-F238E27FC236}">
                <a16:creationId xmlns:a16="http://schemas.microsoft.com/office/drawing/2014/main" id="{FAB234B3-E69B-8323-7C39-DA446C2B5333}"/>
              </a:ext>
            </a:extLst>
          </p:cNvPr>
          <p:cNvSpPr/>
          <p:nvPr/>
        </p:nvSpPr>
        <p:spPr>
          <a:xfrm>
            <a:off x="463825" y="4468310"/>
            <a:ext cx="3627053" cy="1365637"/>
          </a:xfrm>
          <a:prstGeom prst="roundRect">
            <a:avLst/>
          </a:prstGeom>
          <a:solidFill>
            <a:schemeClr val="accent5">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Strategy for development</a:t>
            </a:r>
          </a:p>
          <a:p>
            <a:pPr algn="ctr">
              <a:lnSpc>
                <a:spcPct val="90000"/>
              </a:lnSpc>
            </a:pPr>
            <a:r>
              <a:rPr lang="en-US" sz="2000" dirty="0">
                <a:solidFill>
                  <a:schemeClr val="bg1"/>
                </a:solidFill>
              </a:rPr>
              <a:t>Think of an application with analytical solution</a:t>
            </a:r>
          </a:p>
        </p:txBody>
      </p:sp>
    </p:spTree>
    <p:custDataLst>
      <p:tags r:id="rId1"/>
    </p:custDataLst>
    <p:extLst>
      <p:ext uri="{BB962C8B-B14F-4D97-AF65-F5344CB8AC3E}">
        <p14:creationId xmlns:p14="http://schemas.microsoft.com/office/powerpoint/2010/main" val="297594986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quarter" idx="1"/>
          </p:nvPr>
        </p:nvSpPr>
        <p:spPr>
          <a:xfrm>
            <a:off x="365760" y="868680"/>
            <a:ext cx="4312257" cy="3142431"/>
          </a:xfrm>
        </p:spPr>
        <p:txBody>
          <a:bodyPr/>
          <a:lstStyle/>
          <a:p>
            <a:pPr marL="0" indent="0">
              <a:buNone/>
            </a:pPr>
            <a:endParaRPr lang="en-US" b="1" dirty="0"/>
          </a:p>
          <a:p>
            <a:pPr marL="0" indent="0">
              <a:buNone/>
            </a:pPr>
            <a:r>
              <a:rPr lang="en-US" b="1" dirty="0"/>
              <a:t>Components needed</a:t>
            </a:r>
          </a:p>
          <a:p>
            <a:r>
              <a:rPr lang="en-US" dirty="0"/>
              <a:t>Mesh </a:t>
            </a:r>
          </a:p>
          <a:p>
            <a:r>
              <a:rPr lang="en-US" dirty="0"/>
              <a:t>Hydrodynamics solver</a:t>
            </a:r>
          </a:p>
          <a:p>
            <a:r>
              <a:rPr lang="en-US" dirty="0"/>
              <a:t>Equation of state</a:t>
            </a:r>
          </a:p>
          <a:p>
            <a:r>
              <a:rPr lang="en-US" dirty="0"/>
              <a:t>Parallelization</a:t>
            </a:r>
          </a:p>
        </p:txBody>
      </p:sp>
      <p:pic>
        <p:nvPicPr>
          <p:cNvPr id="6" name="Picture 17" descr="&#10;sedov_pm3.png                                                  00238215Macintosh HD                   B746699A:"/>
          <p:cNvPicPr>
            <a:picLocks noChangeAspect="1" noChangeArrowheads="1"/>
          </p:cNvPicPr>
          <p:nvPr/>
        </p:nvPicPr>
        <p:blipFill>
          <a:blip r:embed="rId4" cstate="email">
            <a:extLst>
              <a:ext uri="{28A0092B-C50C-407E-A947-70E740481C1C}">
                <a14:useLocalDpi xmlns:a14="http://schemas.microsoft.com/office/drawing/2010/main" val="0"/>
              </a:ext>
            </a:extLst>
          </a:blip>
          <a:srcRect l="10492" t="8498" r="26555" b="9293"/>
          <a:stretch>
            <a:fillRect/>
          </a:stretch>
        </p:blipFill>
        <p:spPr bwMode="auto">
          <a:xfrm>
            <a:off x="4301720" y="1406387"/>
            <a:ext cx="3209089" cy="3142431"/>
          </a:xfrm>
          <a:prstGeom prst="rect">
            <a:avLst/>
          </a:prstGeom>
          <a:noFill/>
          <a:extLst>
            <a:ext uri="{909E8E84-426E-40dd-AFC4-6F175D3DCCD1}">
              <a14:hiddenFill xmlns="" xmlns:a14="http://schemas.microsoft.com/office/drawing/2010/main">
                <a:solidFill>
                  <a:srgbClr val="FFFFFF"/>
                </a:solidFill>
              </a14:hiddenFill>
            </a:ext>
          </a:extLst>
        </p:spPr>
      </p:pic>
      <p:sp>
        <p:nvSpPr>
          <p:cNvPr id="15" name="Title 1">
            <a:extLst>
              <a:ext uri="{FF2B5EF4-FFF2-40B4-BE49-F238E27FC236}">
                <a16:creationId xmlns:a16="http://schemas.microsoft.com/office/drawing/2014/main" id="{2B60CC5D-8136-784B-B04A-6112FE74C013}"/>
              </a:ext>
            </a:extLst>
          </p:cNvPr>
          <p:cNvSpPr>
            <a:spLocks noGrp="1"/>
          </p:cNvSpPr>
          <p:nvPr>
            <p:ph type="title"/>
          </p:nvPr>
        </p:nvSpPr>
        <p:spPr>
          <a:xfrm>
            <a:off x="365760" y="411480"/>
            <a:ext cx="11372473" cy="914400"/>
          </a:xfrm>
        </p:spPr>
        <p:txBody>
          <a:bodyPr/>
          <a:lstStyle/>
          <a:p>
            <a:r>
              <a:rPr lang="en-US" dirty="0"/>
              <a:t>Example – Shock Hydrodynamics with Adaptive Mesh Refinement</a:t>
            </a:r>
          </a:p>
        </p:txBody>
      </p:sp>
      <p:sp>
        <p:nvSpPr>
          <p:cNvPr id="2" name="Rounded Rectangle 1">
            <a:extLst>
              <a:ext uri="{FF2B5EF4-FFF2-40B4-BE49-F238E27FC236}">
                <a16:creationId xmlns:a16="http://schemas.microsoft.com/office/drawing/2014/main" id="{FAB234B3-E69B-8323-7C39-DA446C2B5333}"/>
              </a:ext>
            </a:extLst>
          </p:cNvPr>
          <p:cNvSpPr/>
          <p:nvPr/>
        </p:nvSpPr>
        <p:spPr>
          <a:xfrm>
            <a:off x="463825" y="4468310"/>
            <a:ext cx="3627053" cy="1365637"/>
          </a:xfrm>
          <a:prstGeom prst="roundRect">
            <a:avLst/>
          </a:prstGeom>
          <a:solidFill>
            <a:schemeClr val="accent5">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Strategy for development</a:t>
            </a:r>
          </a:p>
          <a:p>
            <a:pPr algn="ctr">
              <a:lnSpc>
                <a:spcPct val="90000"/>
              </a:lnSpc>
            </a:pPr>
            <a:r>
              <a:rPr lang="en-US" sz="2000" dirty="0">
                <a:solidFill>
                  <a:schemeClr val="bg1"/>
                </a:solidFill>
              </a:rPr>
              <a:t>Think of an application with analytical solution</a:t>
            </a:r>
          </a:p>
        </p:txBody>
      </p:sp>
      <p:sp>
        <p:nvSpPr>
          <p:cNvPr id="4" name="Rounded Rectangle 3">
            <a:extLst>
              <a:ext uri="{FF2B5EF4-FFF2-40B4-BE49-F238E27FC236}">
                <a16:creationId xmlns:a16="http://schemas.microsoft.com/office/drawing/2014/main" id="{820F3246-481E-3BC2-8F33-808C1A76ABB6}"/>
              </a:ext>
            </a:extLst>
          </p:cNvPr>
          <p:cNvSpPr/>
          <p:nvPr/>
        </p:nvSpPr>
        <p:spPr>
          <a:xfrm>
            <a:off x="7721651" y="1885631"/>
            <a:ext cx="3627053" cy="3265498"/>
          </a:xfrm>
          <a:prstGeom prst="roundRect">
            <a:avLst/>
          </a:prstGeom>
          <a:solidFill>
            <a:schemeClr val="accent5">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marL="342900" indent="-342900">
              <a:lnSpc>
                <a:spcPct val="90000"/>
              </a:lnSpc>
              <a:buFont typeface="Arial" panose="020B0604020202020204" pitchFamily="34" charset="0"/>
              <a:buChar char="•"/>
            </a:pPr>
            <a:r>
              <a:rPr lang="en-US" sz="2000" dirty="0" err="1">
                <a:solidFill>
                  <a:schemeClr val="bg1"/>
                </a:solidFill>
              </a:rPr>
              <a:t>Sedov</a:t>
            </a:r>
            <a:r>
              <a:rPr lang="en-US" sz="2000" dirty="0">
                <a:solidFill>
                  <a:schemeClr val="bg1"/>
                </a:solidFill>
              </a:rPr>
              <a:t> blast wave</a:t>
            </a:r>
          </a:p>
          <a:p>
            <a:pPr marL="342900" indent="-342900">
              <a:lnSpc>
                <a:spcPct val="90000"/>
              </a:lnSpc>
              <a:buFont typeface="Arial" panose="020B0604020202020204" pitchFamily="34" charset="0"/>
              <a:buChar char="•"/>
            </a:pPr>
            <a:r>
              <a:rPr lang="en-US" sz="2000" dirty="0">
                <a:solidFill>
                  <a:schemeClr val="bg1"/>
                </a:solidFill>
              </a:rPr>
              <a:t>High pressure at the center</a:t>
            </a:r>
          </a:p>
          <a:p>
            <a:pPr marL="342900" indent="-342900">
              <a:lnSpc>
                <a:spcPct val="90000"/>
              </a:lnSpc>
              <a:buFont typeface="Arial" panose="020B0604020202020204" pitchFamily="34" charset="0"/>
              <a:buChar char="•"/>
            </a:pPr>
            <a:r>
              <a:rPr lang="en-US" sz="2000" dirty="0">
                <a:solidFill>
                  <a:schemeClr val="bg1"/>
                </a:solidFill>
              </a:rPr>
              <a:t>Shock moves out in a circle</a:t>
            </a:r>
          </a:p>
          <a:p>
            <a:pPr marL="342900" indent="-342900">
              <a:lnSpc>
                <a:spcPct val="90000"/>
              </a:lnSpc>
              <a:buFont typeface="Arial" panose="020B0604020202020204" pitchFamily="34" charset="0"/>
              <a:buChar char="•"/>
            </a:pPr>
            <a:r>
              <a:rPr lang="en-US" sz="2000" dirty="0">
                <a:solidFill>
                  <a:schemeClr val="bg1"/>
                </a:solidFill>
              </a:rPr>
              <a:t>Analytical solution for how far the shock has travelled</a:t>
            </a:r>
          </a:p>
          <a:p>
            <a:pPr marL="342900" indent="-342900">
              <a:lnSpc>
                <a:spcPct val="90000"/>
              </a:lnSpc>
              <a:buFont typeface="Arial" panose="020B0604020202020204" pitchFamily="34" charset="0"/>
              <a:buChar char="•"/>
            </a:pPr>
            <a:endParaRPr lang="en-US" sz="2000" dirty="0">
              <a:solidFill>
                <a:schemeClr val="bg1"/>
              </a:solidFill>
            </a:endParaRPr>
          </a:p>
        </p:txBody>
      </p:sp>
    </p:spTree>
    <p:custDataLst>
      <p:tags r:id="rId1"/>
    </p:custDataLst>
    <p:extLst>
      <p:ext uri="{BB962C8B-B14F-4D97-AF65-F5344CB8AC3E}">
        <p14:creationId xmlns:p14="http://schemas.microsoft.com/office/powerpoint/2010/main" val="12081005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1 – Equation of State</a:t>
            </a:r>
          </a:p>
        </p:txBody>
      </p:sp>
      <p:sp>
        <p:nvSpPr>
          <p:cNvPr id="5" name="Content Placeholder 4"/>
          <p:cNvSpPr>
            <a:spLocks noGrp="1"/>
          </p:cNvSpPr>
          <p:nvPr>
            <p:ph sz="quarter" idx="1"/>
          </p:nvPr>
        </p:nvSpPr>
        <p:spPr>
          <a:xfrm>
            <a:off x="729774" y="1802813"/>
            <a:ext cx="10057495" cy="2795692"/>
          </a:xfrm>
        </p:spPr>
        <p:txBody>
          <a:bodyPr/>
          <a:lstStyle/>
          <a:p>
            <a:r>
              <a:rPr lang="en-US" dirty="0"/>
              <a:t>Initialize density and internal energy with known values</a:t>
            </a:r>
          </a:p>
          <a:p>
            <a:r>
              <a:rPr lang="en-US" dirty="0"/>
              <a:t>Compute pressure and temperature using EOS</a:t>
            </a:r>
          </a:p>
          <a:p>
            <a:r>
              <a:rPr lang="en-US" dirty="0"/>
              <a:t>Next use density and computed pressure as input and compute internal energy and temperature using EOS</a:t>
            </a:r>
          </a:p>
          <a:p>
            <a:r>
              <a:rPr lang="en-US" dirty="0"/>
              <a:t>Compare computed values against initialized values</a:t>
            </a:r>
          </a:p>
          <a:p>
            <a:pPr marL="0" indent="0">
              <a:buNone/>
            </a:pPr>
            <a:endParaRPr lang="en-US" dirty="0"/>
          </a:p>
        </p:txBody>
      </p:sp>
    </p:spTree>
    <p:custDataLst>
      <p:tags r:id="rId1"/>
    </p:custDataLst>
    <p:extLst>
      <p:ext uri="{BB962C8B-B14F-4D97-AF65-F5344CB8AC3E}">
        <p14:creationId xmlns:p14="http://schemas.microsoft.com/office/powerpoint/2010/main" val="396745656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1 – Equation of State</a:t>
            </a:r>
          </a:p>
        </p:txBody>
      </p:sp>
      <p:sp>
        <p:nvSpPr>
          <p:cNvPr id="5" name="Content Placeholder 4"/>
          <p:cNvSpPr>
            <a:spLocks noGrp="1"/>
          </p:cNvSpPr>
          <p:nvPr>
            <p:ph sz="quarter" idx="1"/>
          </p:nvPr>
        </p:nvSpPr>
        <p:spPr>
          <a:xfrm>
            <a:off x="729774" y="1802813"/>
            <a:ext cx="10057495" cy="2795692"/>
          </a:xfrm>
        </p:spPr>
        <p:txBody>
          <a:bodyPr/>
          <a:lstStyle/>
          <a:p>
            <a:r>
              <a:rPr lang="en-US" dirty="0"/>
              <a:t>Initialize density and internal energy with known values</a:t>
            </a:r>
          </a:p>
          <a:p>
            <a:r>
              <a:rPr lang="en-US" dirty="0"/>
              <a:t>Compute pressure and temperature using EOS</a:t>
            </a:r>
          </a:p>
          <a:p>
            <a:r>
              <a:rPr lang="en-US" dirty="0"/>
              <a:t>Next use density and computed pressure as input and compute internal energy and temperature using EOS</a:t>
            </a:r>
          </a:p>
          <a:p>
            <a:r>
              <a:rPr lang="en-US" dirty="0"/>
              <a:t>Compare computed values against initialized values</a:t>
            </a:r>
          </a:p>
          <a:p>
            <a:pPr marL="0" indent="0">
              <a:buNone/>
            </a:pPr>
            <a:endParaRPr lang="en-US" dirty="0"/>
          </a:p>
        </p:txBody>
      </p:sp>
      <p:sp>
        <p:nvSpPr>
          <p:cNvPr id="4" name="Rounded Rectangle 3">
            <a:extLst>
              <a:ext uri="{FF2B5EF4-FFF2-40B4-BE49-F238E27FC236}">
                <a16:creationId xmlns:a16="http://schemas.microsoft.com/office/drawing/2014/main" id="{E5484925-C7F9-2A60-D496-70C9AA0F5262}"/>
              </a:ext>
            </a:extLst>
          </p:cNvPr>
          <p:cNvSpPr/>
          <p:nvPr/>
        </p:nvSpPr>
        <p:spPr>
          <a:xfrm>
            <a:off x="2598578" y="4598505"/>
            <a:ext cx="3627053" cy="914401"/>
          </a:xfrm>
          <a:prstGeom prst="round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We have a unit test </a:t>
            </a:r>
          </a:p>
        </p:txBody>
      </p:sp>
    </p:spTree>
    <p:custDataLst>
      <p:tags r:id="rId1"/>
    </p:custDataLst>
    <p:extLst>
      <p:ext uri="{BB962C8B-B14F-4D97-AF65-F5344CB8AC3E}">
        <p14:creationId xmlns:p14="http://schemas.microsoft.com/office/powerpoint/2010/main" val="11022843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2 – Mesh</a:t>
            </a:r>
          </a:p>
        </p:txBody>
      </p:sp>
      <p:sp>
        <p:nvSpPr>
          <p:cNvPr id="5" name="Content Placeholder 4"/>
          <p:cNvSpPr>
            <a:spLocks noGrp="1"/>
          </p:cNvSpPr>
          <p:nvPr>
            <p:ph sz="quarter" idx="1"/>
          </p:nvPr>
        </p:nvSpPr>
        <p:spPr>
          <a:xfrm>
            <a:off x="561910" y="1325880"/>
            <a:ext cx="5902934" cy="4893023"/>
          </a:xfrm>
        </p:spPr>
        <p:txBody>
          <a:bodyPr/>
          <a:lstStyle/>
          <a:p>
            <a:r>
              <a:rPr lang="en-US" dirty="0"/>
              <a:t>Start with uniform grid</a:t>
            </a:r>
          </a:p>
          <a:p>
            <a:r>
              <a:rPr lang="en-US" dirty="0"/>
              <a:t>Domain decomposition for parallelization</a:t>
            </a:r>
          </a:p>
          <a:p>
            <a:pPr lvl="1"/>
            <a:r>
              <a:rPr lang="en-US" dirty="0"/>
              <a:t>Halo fill operation</a:t>
            </a:r>
          </a:p>
          <a:p>
            <a:r>
              <a:rPr lang="en-US" dirty="0"/>
              <a:t>Initialize the interior (red) with a known function</a:t>
            </a:r>
          </a:p>
          <a:p>
            <a:r>
              <a:rPr lang="en-US" dirty="0"/>
              <a:t>Apply halo fill</a:t>
            </a:r>
          </a:p>
          <a:p>
            <a:r>
              <a:rPr lang="en-US" dirty="0"/>
              <a:t>Compute values for the halo using the known function</a:t>
            </a:r>
          </a:p>
          <a:p>
            <a:r>
              <a:rPr lang="en-US" dirty="0"/>
              <a:t>Compare against filled values</a:t>
            </a:r>
          </a:p>
          <a:p>
            <a:pPr marL="0" indent="0">
              <a:buNone/>
            </a:pPr>
            <a:endParaRPr lang="en-US" dirty="0"/>
          </a:p>
        </p:txBody>
      </p:sp>
      <p:grpSp>
        <p:nvGrpSpPr>
          <p:cNvPr id="9" name="Group 8">
            <a:extLst>
              <a:ext uri="{FF2B5EF4-FFF2-40B4-BE49-F238E27FC236}">
                <a16:creationId xmlns:a16="http://schemas.microsoft.com/office/drawing/2014/main" id="{85793508-B53B-654E-95B1-E2E34F1DE3B4}"/>
              </a:ext>
            </a:extLst>
          </p:cNvPr>
          <p:cNvGrpSpPr/>
          <p:nvPr/>
        </p:nvGrpSpPr>
        <p:grpSpPr>
          <a:xfrm>
            <a:off x="6505642" y="2237359"/>
            <a:ext cx="2079986" cy="1631092"/>
            <a:chOff x="9658247" y="3805881"/>
            <a:chExt cx="2079986" cy="1631092"/>
          </a:xfrm>
        </p:grpSpPr>
        <p:sp>
          <p:nvSpPr>
            <p:cNvPr id="10" name="Rectangle 9">
              <a:extLst>
                <a:ext uri="{FF2B5EF4-FFF2-40B4-BE49-F238E27FC236}">
                  <a16:creationId xmlns:a16="http://schemas.microsoft.com/office/drawing/2014/main" id="{F1BC5DAF-FB6C-E846-8754-C13ADB909601}"/>
                </a:ext>
              </a:extLst>
            </p:cNvPr>
            <p:cNvSpPr/>
            <p:nvPr/>
          </p:nvSpPr>
          <p:spPr>
            <a:xfrm>
              <a:off x="9658247" y="3805881"/>
              <a:ext cx="2079986" cy="1631092"/>
            </a:xfrm>
            <a:prstGeom prst="rect">
              <a:avLst/>
            </a:prstGeom>
            <a:solidFill>
              <a:schemeClr val="accent3">
                <a:alpha val="58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11" name="Rectangle 10">
              <a:extLst>
                <a:ext uri="{FF2B5EF4-FFF2-40B4-BE49-F238E27FC236}">
                  <a16:creationId xmlns:a16="http://schemas.microsoft.com/office/drawing/2014/main" id="{674E4AB0-5EBC-A14F-93BE-2A60B4418EA4}"/>
                </a:ext>
              </a:extLst>
            </p:cNvPr>
            <p:cNvSpPr/>
            <p:nvPr/>
          </p:nvSpPr>
          <p:spPr>
            <a:xfrm>
              <a:off x="10056889" y="4079744"/>
              <a:ext cx="1285103" cy="1083365"/>
            </a:xfrm>
            <a:prstGeom prst="rect">
              <a:avLst/>
            </a:prstGeom>
            <a:solidFill>
              <a:srgbClr val="FF000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rank 2</a:t>
              </a:r>
            </a:p>
          </p:txBody>
        </p:sp>
      </p:grpSp>
      <p:grpSp>
        <p:nvGrpSpPr>
          <p:cNvPr id="12" name="Group 11">
            <a:extLst>
              <a:ext uri="{FF2B5EF4-FFF2-40B4-BE49-F238E27FC236}">
                <a16:creationId xmlns:a16="http://schemas.microsoft.com/office/drawing/2014/main" id="{2348CE2A-6110-8E44-A7B1-762FE7CAAC53}"/>
              </a:ext>
            </a:extLst>
          </p:cNvPr>
          <p:cNvGrpSpPr/>
          <p:nvPr/>
        </p:nvGrpSpPr>
        <p:grpSpPr>
          <a:xfrm>
            <a:off x="7789106" y="1180370"/>
            <a:ext cx="2079986" cy="1631092"/>
            <a:chOff x="9658247" y="3805881"/>
            <a:chExt cx="2079986" cy="1631092"/>
          </a:xfrm>
        </p:grpSpPr>
        <p:sp>
          <p:nvSpPr>
            <p:cNvPr id="13" name="Rectangle 12">
              <a:extLst>
                <a:ext uri="{FF2B5EF4-FFF2-40B4-BE49-F238E27FC236}">
                  <a16:creationId xmlns:a16="http://schemas.microsoft.com/office/drawing/2014/main" id="{18E08F0C-3C42-FE43-817A-850D8252FDA8}"/>
                </a:ext>
              </a:extLst>
            </p:cNvPr>
            <p:cNvSpPr/>
            <p:nvPr/>
          </p:nvSpPr>
          <p:spPr>
            <a:xfrm>
              <a:off x="9658247" y="3805881"/>
              <a:ext cx="2079986" cy="1631092"/>
            </a:xfrm>
            <a:prstGeom prst="rect">
              <a:avLst/>
            </a:prstGeom>
            <a:solidFill>
              <a:schemeClr val="accent3">
                <a:alpha val="58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14" name="Rectangle 13">
              <a:extLst>
                <a:ext uri="{FF2B5EF4-FFF2-40B4-BE49-F238E27FC236}">
                  <a16:creationId xmlns:a16="http://schemas.microsoft.com/office/drawing/2014/main" id="{8E56C841-8950-C544-BBEF-292FA2BFD703}"/>
                </a:ext>
              </a:extLst>
            </p:cNvPr>
            <p:cNvSpPr/>
            <p:nvPr/>
          </p:nvSpPr>
          <p:spPr>
            <a:xfrm>
              <a:off x="10056889" y="4079744"/>
              <a:ext cx="1285103" cy="1083365"/>
            </a:xfrm>
            <a:prstGeom prst="rect">
              <a:avLst/>
            </a:prstGeom>
            <a:solidFill>
              <a:srgbClr val="FF000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rank 1</a:t>
              </a:r>
            </a:p>
          </p:txBody>
        </p:sp>
      </p:grpSp>
      <p:sp>
        <p:nvSpPr>
          <p:cNvPr id="15" name="TextBox 14">
            <a:extLst>
              <a:ext uri="{FF2B5EF4-FFF2-40B4-BE49-F238E27FC236}">
                <a16:creationId xmlns:a16="http://schemas.microsoft.com/office/drawing/2014/main" id="{A8555D94-28CA-8244-A3F4-18ED0B844E35}"/>
              </a:ext>
            </a:extLst>
          </p:cNvPr>
          <p:cNvSpPr txBox="1"/>
          <p:nvPr/>
        </p:nvSpPr>
        <p:spPr>
          <a:xfrm>
            <a:off x="8626426" y="2902167"/>
            <a:ext cx="1201867" cy="433965"/>
          </a:xfrm>
          <a:prstGeom prst="rect">
            <a:avLst/>
          </a:prstGeom>
          <a:noFill/>
        </p:spPr>
        <p:txBody>
          <a:bodyPr wrap="none" lIns="118872" tIns="91440" rIns="118872" bIns="91440" rtlCol="0" anchor="ctr" anchorCtr="0">
            <a:spAutoFit/>
          </a:bodyPr>
          <a:lstStyle/>
          <a:p>
            <a:pPr algn="l">
              <a:lnSpc>
                <a:spcPct val="90000"/>
              </a:lnSpc>
            </a:pPr>
            <a:r>
              <a:rPr lang="en-US" dirty="0"/>
              <a:t>halo cells</a:t>
            </a:r>
          </a:p>
        </p:txBody>
      </p:sp>
    </p:spTree>
    <p:custDataLst>
      <p:tags r:id="rId1"/>
    </p:custDataLst>
    <p:extLst>
      <p:ext uri="{BB962C8B-B14F-4D97-AF65-F5344CB8AC3E}">
        <p14:creationId xmlns:p14="http://schemas.microsoft.com/office/powerpoint/2010/main" val="321457802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2 – Mesh</a:t>
            </a:r>
          </a:p>
        </p:txBody>
      </p:sp>
      <p:sp>
        <p:nvSpPr>
          <p:cNvPr id="5" name="Content Placeholder 4"/>
          <p:cNvSpPr>
            <a:spLocks noGrp="1"/>
          </p:cNvSpPr>
          <p:nvPr>
            <p:ph sz="quarter" idx="1"/>
          </p:nvPr>
        </p:nvSpPr>
        <p:spPr>
          <a:xfrm>
            <a:off x="561910" y="1325880"/>
            <a:ext cx="5902934" cy="4893023"/>
          </a:xfrm>
        </p:spPr>
        <p:txBody>
          <a:bodyPr/>
          <a:lstStyle/>
          <a:p>
            <a:r>
              <a:rPr lang="en-US" dirty="0"/>
              <a:t>Start with uniform grid</a:t>
            </a:r>
          </a:p>
          <a:p>
            <a:r>
              <a:rPr lang="en-US" dirty="0"/>
              <a:t>Domain decomposition for parallelization</a:t>
            </a:r>
          </a:p>
          <a:p>
            <a:pPr lvl="1"/>
            <a:r>
              <a:rPr lang="en-US" dirty="0"/>
              <a:t>Halo fill operation</a:t>
            </a:r>
          </a:p>
          <a:p>
            <a:r>
              <a:rPr lang="en-US" dirty="0"/>
              <a:t>Initialize the interior (red) with a known function</a:t>
            </a:r>
          </a:p>
          <a:p>
            <a:r>
              <a:rPr lang="en-US" dirty="0"/>
              <a:t>Apply halo fill</a:t>
            </a:r>
          </a:p>
          <a:p>
            <a:r>
              <a:rPr lang="en-US" dirty="0"/>
              <a:t>Compute values for the halo using the known function</a:t>
            </a:r>
          </a:p>
          <a:p>
            <a:r>
              <a:rPr lang="en-US" dirty="0"/>
              <a:t>Compare against filled values</a:t>
            </a:r>
          </a:p>
          <a:p>
            <a:pPr marL="0" indent="0">
              <a:buNone/>
            </a:pPr>
            <a:endParaRPr lang="en-US" dirty="0"/>
          </a:p>
        </p:txBody>
      </p:sp>
      <p:grpSp>
        <p:nvGrpSpPr>
          <p:cNvPr id="9" name="Group 8">
            <a:extLst>
              <a:ext uri="{FF2B5EF4-FFF2-40B4-BE49-F238E27FC236}">
                <a16:creationId xmlns:a16="http://schemas.microsoft.com/office/drawing/2014/main" id="{85793508-B53B-654E-95B1-E2E34F1DE3B4}"/>
              </a:ext>
            </a:extLst>
          </p:cNvPr>
          <p:cNvGrpSpPr/>
          <p:nvPr/>
        </p:nvGrpSpPr>
        <p:grpSpPr>
          <a:xfrm>
            <a:off x="6505642" y="2237359"/>
            <a:ext cx="2079986" cy="1631092"/>
            <a:chOff x="9658247" y="3805881"/>
            <a:chExt cx="2079986" cy="1631092"/>
          </a:xfrm>
        </p:grpSpPr>
        <p:sp>
          <p:nvSpPr>
            <p:cNvPr id="10" name="Rectangle 9">
              <a:extLst>
                <a:ext uri="{FF2B5EF4-FFF2-40B4-BE49-F238E27FC236}">
                  <a16:creationId xmlns:a16="http://schemas.microsoft.com/office/drawing/2014/main" id="{F1BC5DAF-FB6C-E846-8754-C13ADB909601}"/>
                </a:ext>
              </a:extLst>
            </p:cNvPr>
            <p:cNvSpPr/>
            <p:nvPr/>
          </p:nvSpPr>
          <p:spPr>
            <a:xfrm>
              <a:off x="9658247" y="3805881"/>
              <a:ext cx="2079986" cy="1631092"/>
            </a:xfrm>
            <a:prstGeom prst="rect">
              <a:avLst/>
            </a:prstGeom>
            <a:solidFill>
              <a:schemeClr val="accent3">
                <a:alpha val="58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11" name="Rectangle 10">
              <a:extLst>
                <a:ext uri="{FF2B5EF4-FFF2-40B4-BE49-F238E27FC236}">
                  <a16:creationId xmlns:a16="http://schemas.microsoft.com/office/drawing/2014/main" id="{674E4AB0-5EBC-A14F-93BE-2A60B4418EA4}"/>
                </a:ext>
              </a:extLst>
            </p:cNvPr>
            <p:cNvSpPr/>
            <p:nvPr/>
          </p:nvSpPr>
          <p:spPr>
            <a:xfrm>
              <a:off x="10056889" y="4079744"/>
              <a:ext cx="1285103" cy="1083365"/>
            </a:xfrm>
            <a:prstGeom prst="rect">
              <a:avLst/>
            </a:prstGeom>
            <a:solidFill>
              <a:srgbClr val="FF000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rank 2</a:t>
              </a:r>
            </a:p>
          </p:txBody>
        </p:sp>
      </p:grpSp>
      <p:grpSp>
        <p:nvGrpSpPr>
          <p:cNvPr id="12" name="Group 11">
            <a:extLst>
              <a:ext uri="{FF2B5EF4-FFF2-40B4-BE49-F238E27FC236}">
                <a16:creationId xmlns:a16="http://schemas.microsoft.com/office/drawing/2014/main" id="{2348CE2A-6110-8E44-A7B1-762FE7CAAC53}"/>
              </a:ext>
            </a:extLst>
          </p:cNvPr>
          <p:cNvGrpSpPr/>
          <p:nvPr/>
        </p:nvGrpSpPr>
        <p:grpSpPr>
          <a:xfrm>
            <a:off x="7789106" y="1180370"/>
            <a:ext cx="2079986" cy="1631092"/>
            <a:chOff x="9658247" y="3805881"/>
            <a:chExt cx="2079986" cy="1631092"/>
          </a:xfrm>
        </p:grpSpPr>
        <p:sp>
          <p:nvSpPr>
            <p:cNvPr id="13" name="Rectangle 12">
              <a:extLst>
                <a:ext uri="{FF2B5EF4-FFF2-40B4-BE49-F238E27FC236}">
                  <a16:creationId xmlns:a16="http://schemas.microsoft.com/office/drawing/2014/main" id="{18E08F0C-3C42-FE43-817A-850D8252FDA8}"/>
                </a:ext>
              </a:extLst>
            </p:cNvPr>
            <p:cNvSpPr/>
            <p:nvPr/>
          </p:nvSpPr>
          <p:spPr>
            <a:xfrm>
              <a:off x="9658247" y="3805881"/>
              <a:ext cx="2079986" cy="1631092"/>
            </a:xfrm>
            <a:prstGeom prst="rect">
              <a:avLst/>
            </a:prstGeom>
            <a:solidFill>
              <a:schemeClr val="accent3">
                <a:alpha val="58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14" name="Rectangle 13">
              <a:extLst>
                <a:ext uri="{FF2B5EF4-FFF2-40B4-BE49-F238E27FC236}">
                  <a16:creationId xmlns:a16="http://schemas.microsoft.com/office/drawing/2014/main" id="{8E56C841-8950-C544-BBEF-292FA2BFD703}"/>
                </a:ext>
              </a:extLst>
            </p:cNvPr>
            <p:cNvSpPr/>
            <p:nvPr/>
          </p:nvSpPr>
          <p:spPr>
            <a:xfrm>
              <a:off x="10056889" y="4079744"/>
              <a:ext cx="1285103" cy="1083365"/>
            </a:xfrm>
            <a:prstGeom prst="rect">
              <a:avLst/>
            </a:prstGeom>
            <a:solidFill>
              <a:srgbClr val="FF000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rank 1</a:t>
              </a:r>
            </a:p>
          </p:txBody>
        </p:sp>
      </p:grpSp>
      <p:sp>
        <p:nvSpPr>
          <p:cNvPr id="15" name="TextBox 14">
            <a:extLst>
              <a:ext uri="{FF2B5EF4-FFF2-40B4-BE49-F238E27FC236}">
                <a16:creationId xmlns:a16="http://schemas.microsoft.com/office/drawing/2014/main" id="{A8555D94-28CA-8244-A3F4-18ED0B844E35}"/>
              </a:ext>
            </a:extLst>
          </p:cNvPr>
          <p:cNvSpPr txBox="1"/>
          <p:nvPr/>
        </p:nvSpPr>
        <p:spPr>
          <a:xfrm>
            <a:off x="8626426" y="2902167"/>
            <a:ext cx="1201867" cy="433965"/>
          </a:xfrm>
          <a:prstGeom prst="rect">
            <a:avLst/>
          </a:prstGeom>
          <a:noFill/>
        </p:spPr>
        <p:txBody>
          <a:bodyPr wrap="none" lIns="118872" tIns="91440" rIns="118872" bIns="91440" rtlCol="0" anchor="ctr" anchorCtr="0">
            <a:spAutoFit/>
          </a:bodyPr>
          <a:lstStyle/>
          <a:p>
            <a:pPr algn="l">
              <a:lnSpc>
                <a:spcPct val="90000"/>
              </a:lnSpc>
            </a:pPr>
            <a:r>
              <a:rPr lang="en-US" dirty="0"/>
              <a:t>halo cells</a:t>
            </a:r>
          </a:p>
        </p:txBody>
      </p:sp>
      <p:sp>
        <p:nvSpPr>
          <p:cNvPr id="4" name="Rounded Rectangle 3">
            <a:extLst>
              <a:ext uri="{FF2B5EF4-FFF2-40B4-BE49-F238E27FC236}">
                <a16:creationId xmlns:a16="http://schemas.microsoft.com/office/drawing/2014/main" id="{E5484925-C7F9-2A60-D496-70C9AA0F5262}"/>
              </a:ext>
            </a:extLst>
          </p:cNvPr>
          <p:cNvSpPr/>
          <p:nvPr/>
        </p:nvSpPr>
        <p:spPr>
          <a:xfrm>
            <a:off x="6672465" y="4322730"/>
            <a:ext cx="4547985" cy="1081038"/>
          </a:xfrm>
          <a:prstGeom prst="round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We have another unit test</a:t>
            </a:r>
          </a:p>
        </p:txBody>
      </p:sp>
    </p:spTree>
    <p:custDataLst>
      <p:tags r:id="rId1"/>
    </p:custDataLst>
    <p:extLst>
      <p:ext uri="{BB962C8B-B14F-4D97-AF65-F5344CB8AC3E}">
        <p14:creationId xmlns:p14="http://schemas.microsoft.com/office/powerpoint/2010/main" val="338660331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3 – Hydrodynamics</a:t>
            </a:r>
          </a:p>
        </p:txBody>
      </p:sp>
      <p:sp>
        <p:nvSpPr>
          <p:cNvPr id="5" name="Content Placeholder 4"/>
          <p:cNvSpPr>
            <a:spLocks noGrp="1"/>
          </p:cNvSpPr>
          <p:nvPr>
            <p:ph sz="quarter" idx="1"/>
          </p:nvPr>
        </p:nvSpPr>
        <p:spPr>
          <a:xfrm>
            <a:off x="398469" y="1193212"/>
            <a:ext cx="10812869" cy="2570405"/>
          </a:xfrm>
        </p:spPr>
        <p:txBody>
          <a:bodyPr/>
          <a:lstStyle/>
          <a:p>
            <a:r>
              <a:rPr lang="en-US" dirty="0"/>
              <a:t>Apply initial conditions to the mesh</a:t>
            </a:r>
          </a:p>
          <a:p>
            <a:pPr lvl="1"/>
            <a:r>
              <a:rPr lang="en-US" dirty="0"/>
              <a:t>zeroes everywhere except at the center</a:t>
            </a:r>
          </a:p>
          <a:p>
            <a:r>
              <a:rPr lang="en-US" dirty="0"/>
              <a:t>Write code for the analytical expression of the distance traveled by the shock</a:t>
            </a:r>
          </a:p>
          <a:p>
            <a:r>
              <a:rPr lang="en-US" dirty="0"/>
              <a:t>Do time integration</a:t>
            </a:r>
          </a:p>
          <a:p>
            <a:r>
              <a:rPr lang="en-US" dirty="0"/>
              <a:t>At time </a:t>
            </a:r>
            <a:r>
              <a:rPr lang="en-US" b="1" dirty="0"/>
              <a:t>T </a:t>
            </a:r>
            <a:r>
              <a:rPr lang="en-US" dirty="0"/>
              <a:t>compare evolved solution against analytical solution</a:t>
            </a:r>
            <a:endParaRPr lang="en-US" b="1" dirty="0"/>
          </a:p>
          <a:p>
            <a:pPr marL="0" indent="0">
              <a:buNone/>
            </a:pPr>
            <a:endParaRPr lang="en-US" dirty="0"/>
          </a:p>
        </p:txBody>
      </p:sp>
      <p:sp>
        <p:nvSpPr>
          <p:cNvPr id="3" name="Rounded Rectangle 2">
            <a:extLst>
              <a:ext uri="{FF2B5EF4-FFF2-40B4-BE49-F238E27FC236}">
                <a16:creationId xmlns:a16="http://schemas.microsoft.com/office/drawing/2014/main" id="{FCD39F8F-B00D-5B2C-06A4-9F8AA5448B26}"/>
              </a:ext>
            </a:extLst>
          </p:cNvPr>
          <p:cNvSpPr/>
          <p:nvPr/>
        </p:nvSpPr>
        <p:spPr>
          <a:xfrm>
            <a:off x="1742657" y="3911912"/>
            <a:ext cx="9468681" cy="872123"/>
          </a:xfrm>
          <a:prstGeom prst="round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If both mesh and EOS unit test pass, then any failure is in Hydrodynamics</a:t>
            </a:r>
          </a:p>
          <a:p>
            <a:pPr algn="ctr">
              <a:lnSpc>
                <a:spcPct val="90000"/>
              </a:lnSpc>
            </a:pPr>
            <a:r>
              <a:rPr lang="en-US" sz="2000" dirty="0">
                <a:solidFill>
                  <a:schemeClr val="bg1"/>
                </a:solidFill>
              </a:rPr>
              <a:t>This is a composite unit test</a:t>
            </a:r>
          </a:p>
        </p:txBody>
      </p:sp>
      <p:sp>
        <p:nvSpPr>
          <p:cNvPr id="6" name="Rounded Rectangle 5">
            <a:extLst>
              <a:ext uri="{FF2B5EF4-FFF2-40B4-BE49-F238E27FC236}">
                <a16:creationId xmlns:a16="http://schemas.microsoft.com/office/drawing/2014/main" id="{DB7AEADD-DC0C-D749-0362-CFF384CFC3B9}"/>
              </a:ext>
            </a:extLst>
          </p:cNvPr>
          <p:cNvSpPr/>
          <p:nvPr/>
        </p:nvSpPr>
        <p:spPr>
          <a:xfrm>
            <a:off x="2955235" y="5022574"/>
            <a:ext cx="4863548" cy="742122"/>
          </a:xfrm>
          <a:prstGeom prst="roundRect">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This is also the idea behind scaffolding </a:t>
            </a:r>
          </a:p>
        </p:txBody>
      </p:sp>
    </p:spTree>
    <p:custDataLst>
      <p:tags r:id="rId1"/>
    </p:custDataLst>
    <p:extLst>
      <p:ext uri="{BB962C8B-B14F-4D97-AF65-F5344CB8AC3E}">
        <p14:creationId xmlns:p14="http://schemas.microsoft.com/office/powerpoint/2010/main" val="153154280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F96DBD19-9A59-8442-A875-2C58BC3C471C}"/>
              </a:ext>
            </a:extLst>
          </p:cNvPr>
          <p:cNvSpPr txBox="1">
            <a:spLocks/>
          </p:cNvSpPr>
          <p:nvPr/>
        </p:nvSpPr>
        <p:spPr bwMode="auto">
          <a:xfrm>
            <a:off x="365760" y="978939"/>
            <a:ext cx="10129962" cy="477012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230188" indent="-230188" algn="l" rtl="0" eaLnBrk="1" fontAlgn="base" hangingPunct="1">
              <a:lnSpc>
                <a:spcPct val="90000"/>
              </a:lnSpc>
              <a:spcBef>
                <a:spcPts val="1400"/>
              </a:spcBef>
              <a:spcAft>
                <a:spcPct val="0"/>
              </a:spcAft>
              <a:buClr>
                <a:schemeClr val="tx1"/>
              </a:buClr>
              <a:buFont typeface="Arial" charset="0"/>
              <a:buChar char="•"/>
              <a:defRPr sz="2800" kern="1200">
                <a:solidFill>
                  <a:schemeClr val="tx1"/>
                </a:solidFill>
                <a:latin typeface="Arial" panose="020B0604020202020204" pitchFamily="34" charset="0"/>
                <a:ea typeface="+mn-ea"/>
                <a:cs typeface="Arial" panose="020B0604020202020204" pitchFamily="34" charset="0"/>
              </a:defRPr>
            </a:lvl1pPr>
            <a:lvl2pPr marL="625475" indent="-279400" algn="l" rtl="0" eaLnBrk="1" fontAlgn="base" hangingPunct="1">
              <a:lnSpc>
                <a:spcPct val="90000"/>
              </a:lnSpc>
              <a:spcBef>
                <a:spcPts val="800"/>
              </a:spcBef>
              <a:spcAft>
                <a:spcPct val="0"/>
              </a:spcAft>
              <a:buClr>
                <a:schemeClr val="tx1"/>
              </a:buClr>
              <a:buFont typeface="Arial" charset="0"/>
              <a:buChar char="–"/>
              <a:defRPr sz="2400" kern="1200">
                <a:solidFill>
                  <a:schemeClr val="tx1"/>
                </a:solidFill>
                <a:latin typeface="Arial" panose="020B0604020202020204" pitchFamily="34" charset="0"/>
                <a:ea typeface="+mn-ea"/>
                <a:cs typeface="Arial" panose="020B0604020202020204" pitchFamily="34" charset="0"/>
              </a:defRPr>
            </a:lvl2pPr>
            <a:lvl3pPr marL="914400" indent="-230188"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Arial" panose="020B0604020202020204" pitchFamily="34" charset="0"/>
                <a:ea typeface="+mn-ea"/>
                <a:cs typeface="Arial" panose="020B0604020202020204" pitchFamily="34" charset="0"/>
              </a:defRPr>
            </a:lvl3pPr>
            <a:lvl4pPr marL="1144588" indent="-17303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Arial" panose="020B0604020202020204" pitchFamily="34" charset="0"/>
                <a:ea typeface="+mn-ea"/>
                <a:cs typeface="Arial" panose="020B0604020202020204" pitchFamily="34" charset="0"/>
              </a:defRPr>
            </a:lvl4pPr>
            <a:lvl5pPr marL="1482725" indent="-222250" algn="l" rtl="0" eaLnBrk="1" fontAlgn="base" hangingPunct="1">
              <a:lnSpc>
                <a:spcPct val="90000"/>
              </a:lnSpc>
              <a:spcBef>
                <a:spcPts val="600"/>
              </a:spcBef>
              <a:spcAft>
                <a:spcPct val="0"/>
              </a:spcAft>
              <a:buClr>
                <a:schemeClr val="tx1"/>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The same halo fill unit test for mesh also works for AMR</a:t>
            </a:r>
          </a:p>
          <a:p>
            <a:r>
              <a:rPr lang="en-US" dirty="0"/>
              <a:t>Additional functionalities to test are:</a:t>
            </a:r>
          </a:p>
          <a:p>
            <a:pPr lvl="1"/>
            <a:r>
              <a:rPr lang="en-US" dirty="0"/>
              <a:t>Fine-coarse boundary resolution</a:t>
            </a:r>
          </a:p>
          <a:p>
            <a:pPr lvl="1"/>
            <a:r>
              <a:rPr lang="en-US" dirty="0" err="1"/>
              <a:t>Regridding</a:t>
            </a:r>
            <a:endParaRPr lang="en-US" dirty="0"/>
          </a:p>
          <a:p>
            <a:r>
              <a:rPr lang="en-US" dirty="0"/>
              <a:t>Steps in testing </a:t>
            </a:r>
          </a:p>
          <a:p>
            <a:pPr lvl="1"/>
            <a:r>
              <a:rPr lang="en-US" dirty="0"/>
              <a:t>Run </a:t>
            </a:r>
            <a:r>
              <a:rPr lang="en-US" dirty="0" err="1"/>
              <a:t>Sedov</a:t>
            </a:r>
            <a:r>
              <a:rPr lang="en-US" dirty="0"/>
              <a:t> with UG</a:t>
            </a:r>
          </a:p>
          <a:p>
            <a:pPr lvl="1"/>
            <a:r>
              <a:rPr lang="en-US" dirty="0"/>
              <a:t>Run </a:t>
            </a:r>
            <a:r>
              <a:rPr lang="en-US" dirty="0" err="1"/>
              <a:t>Sedov</a:t>
            </a:r>
            <a:r>
              <a:rPr lang="en-US" dirty="0"/>
              <a:t> with AMR, but no dynamic refinement</a:t>
            </a:r>
          </a:p>
          <a:p>
            <a:pPr lvl="2"/>
            <a:r>
              <a:rPr lang="en-US" dirty="0"/>
              <a:t>If failed fault is in flux correction</a:t>
            </a:r>
          </a:p>
          <a:p>
            <a:pPr lvl="1"/>
            <a:r>
              <a:rPr lang="en-US" dirty="0"/>
              <a:t>Run </a:t>
            </a:r>
            <a:r>
              <a:rPr lang="en-US" dirty="0" err="1"/>
              <a:t>Sedov</a:t>
            </a:r>
            <a:r>
              <a:rPr lang="en-US" dirty="0"/>
              <a:t> with AMR and dynamic refinement</a:t>
            </a:r>
          </a:p>
          <a:p>
            <a:pPr lvl="2"/>
            <a:r>
              <a:rPr lang="en-US" dirty="0"/>
              <a:t>If failed fault is in </a:t>
            </a:r>
            <a:r>
              <a:rPr lang="en-US" dirty="0" err="1"/>
              <a:t>regridding</a:t>
            </a:r>
            <a:endParaRPr lang="en-US" dirty="0"/>
          </a:p>
        </p:txBody>
      </p:sp>
      <p:sp>
        <p:nvSpPr>
          <p:cNvPr id="7" name="Title 1">
            <a:extLst>
              <a:ext uri="{FF2B5EF4-FFF2-40B4-BE49-F238E27FC236}">
                <a16:creationId xmlns:a16="http://schemas.microsoft.com/office/drawing/2014/main" id="{71C1B735-296C-594B-9F1B-3061095DE275}"/>
              </a:ext>
            </a:extLst>
          </p:cNvPr>
          <p:cNvSpPr>
            <a:spLocks noGrp="1"/>
          </p:cNvSpPr>
          <p:nvPr>
            <p:ph type="title"/>
          </p:nvPr>
        </p:nvSpPr>
        <p:spPr>
          <a:xfrm>
            <a:off x="365760" y="411480"/>
            <a:ext cx="11372473" cy="914400"/>
          </a:xfrm>
        </p:spPr>
        <p:txBody>
          <a:bodyPr/>
          <a:lstStyle/>
          <a:p>
            <a:r>
              <a:rPr lang="en-US" dirty="0"/>
              <a:t>Step  4 –  AMR</a:t>
            </a:r>
          </a:p>
        </p:txBody>
      </p:sp>
    </p:spTree>
    <p:extLst>
      <p:ext uri="{BB962C8B-B14F-4D97-AF65-F5344CB8AC3E}">
        <p14:creationId xmlns:p14="http://schemas.microsoft.com/office/powerpoint/2010/main" val="42067555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F96DBD19-9A59-8442-A875-2C58BC3C471C}"/>
              </a:ext>
            </a:extLst>
          </p:cNvPr>
          <p:cNvSpPr txBox="1">
            <a:spLocks/>
          </p:cNvSpPr>
          <p:nvPr/>
        </p:nvSpPr>
        <p:spPr bwMode="auto">
          <a:xfrm>
            <a:off x="365760" y="978939"/>
            <a:ext cx="10129962" cy="477012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230188" indent="-230188" algn="l" rtl="0" eaLnBrk="1" fontAlgn="base" hangingPunct="1">
              <a:lnSpc>
                <a:spcPct val="90000"/>
              </a:lnSpc>
              <a:spcBef>
                <a:spcPts val="1400"/>
              </a:spcBef>
              <a:spcAft>
                <a:spcPct val="0"/>
              </a:spcAft>
              <a:buClr>
                <a:schemeClr val="tx1"/>
              </a:buClr>
              <a:buFont typeface="Arial" charset="0"/>
              <a:buChar char="•"/>
              <a:defRPr sz="2800" kern="1200">
                <a:solidFill>
                  <a:schemeClr val="tx1"/>
                </a:solidFill>
                <a:latin typeface="Arial" panose="020B0604020202020204" pitchFamily="34" charset="0"/>
                <a:ea typeface="+mn-ea"/>
                <a:cs typeface="Arial" panose="020B0604020202020204" pitchFamily="34" charset="0"/>
              </a:defRPr>
            </a:lvl1pPr>
            <a:lvl2pPr marL="625475" indent="-279400" algn="l" rtl="0" eaLnBrk="1" fontAlgn="base" hangingPunct="1">
              <a:lnSpc>
                <a:spcPct val="90000"/>
              </a:lnSpc>
              <a:spcBef>
                <a:spcPts val="800"/>
              </a:spcBef>
              <a:spcAft>
                <a:spcPct val="0"/>
              </a:spcAft>
              <a:buClr>
                <a:schemeClr val="tx1"/>
              </a:buClr>
              <a:buFont typeface="Arial" charset="0"/>
              <a:buChar char="–"/>
              <a:defRPr sz="2400" kern="1200">
                <a:solidFill>
                  <a:schemeClr val="tx1"/>
                </a:solidFill>
                <a:latin typeface="Arial" panose="020B0604020202020204" pitchFamily="34" charset="0"/>
                <a:ea typeface="+mn-ea"/>
                <a:cs typeface="Arial" panose="020B0604020202020204" pitchFamily="34" charset="0"/>
              </a:defRPr>
            </a:lvl2pPr>
            <a:lvl3pPr marL="914400" indent="-230188"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Arial" panose="020B0604020202020204" pitchFamily="34" charset="0"/>
                <a:ea typeface="+mn-ea"/>
                <a:cs typeface="Arial" panose="020B0604020202020204" pitchFamily="34" charset="0"/>
              </a:defRPr>
            </a:lvl3pPr>
            <a:lvl4pPr marL="1144588" indent="-17303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Arial" panose="020B0604020202020204" pitchFamily="34" charset="0"/>
                <a:ea typeface="+mn-ea"/>
                <a:cs typeface="Arial" panose="020B0604020202020204" pitchFamily="34" charset="0"/>
              </a:defRPr>
            </a:lvl4pPr>
            <a:lvl5pPr marL="1482725" indent="-222250" algn="l" rtl="0" eaLnBrk="1" fontAlgn="base" hangingPunct="1">
              <a:lnSpc>
                <a:spcPct val="90000"/>
              </a:lnSpc>
              <a:spcBef>
                <a:spcPts val="600"/>
              </a:spcBef>
              <a:spcAft>
                <a:spcPct val="0"/>
              </a:spcAft>
              <a:buClr>
                <a:schemeClr val="tx1"/>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The same halo fill unit test for mesh also works for AMR</a:t>
            </a:r>
          </a:p>
          <a:p>
            <a:r>
              <a:rPr lang="en-US" dirty="0"/>
              <a:t>Additional functionalities to test are:</a:t>
            </a:r>
          </a:p>
          <a:p>
            <a:pPr lvl="1"/>
            <a:r>
              <a:rPr lang="en-US" dirty="0"/>
              <a:t>Fine-coarse boundary resolution</a:t>
            </a:r>
          </a:p>
          <a:p>
            <a:pPr lvl="1"/>
            <a:r>
              <a:rPr lang="en-US" dirty="0" err="1"/>
              <a:t>Regridding</a:t>
            </a:r>
            <a:endParaRPr lang="en-US" dirty="0"/>
          </a:p>
          <a:p>
            <a:r>
              <a:rPr lang="en-US" dirty="0"/>
              <a:t>Steps in testing </a:t>
            </a:r>
          </a:p>
          <a:p>
            <a:pPr lvl="1"/>
            <a:r>
              <a:rPr lang="en-US" dirty="0"/>
              <a:t>Run </a:t>
            </a:r>
            <a:r>
              <a:rPr lang="en-US" dirty="0" err="1"/>
              <a:t>Sedov</a:t>
            </a:r>
            <a:r>
              <a:rPr lang="en-US" dirty="0"/>
              <a:t> with UG</a:t>
            </a:r>
          </a:p>
          <a:p>
            <a:pPr lvl="1"/>
            <a:r>
              <a:rPr lang="en-US" dirty="0"/>
              <a:t>Run </a:t>
            </a:r>
            <a:r>
              <a:rPr lang="en-US" dirty="0" err="1"/>
              <a:t>Sedov</a:t>
            </a:r>
            <a:r>
              <a:rPr lang="en-US" dirty="0"/>
              <a:t> with AMR, but no dynamic refinement</a:t>
            </a:r>
          </a:p>
          <a:p>
            <a:pPr lvl="2"/>
            <a:r>
              <a:rPr lang="en-US" dirty="0"/>
              <a:t>If failed fault is in flux correction</a:t>
            </a:r>
          </a:p>
          <a:p>
            <a:pPr lvl="1"/>
            <a:r>
              <a:rPr lang="en-US" dirty="0"/>
              <a:t>Run </a:t>
            </a:r>
            <a:r>
              <a:rPr lang="en-US" dirty="0" err="1"/>
              <a:t>Sedov</a:t>
            </a:r>
            <a:r>
              <a:rPr lang="en-US" dirty="0"/>
              <a:t> with AMR and dynamic refinement</a:t>
            </a:r>
          </a:p>
          <a:p>
            <a:pPr lvl="2"/>
            <a:r>
              <a:rPr lang="en-US" dirty="0"/>
              <a:t>If failed fault is in </a:t>
            </a:r>
            <a:r>
              <a:rPr lang="en-US" dirty="0" err="1"/>
              <a:t>regridding</a:t>
            </a:r>
            <a:endParaRPr lang="en-US" dirty="0"/>
          </a:p>
        </p:txBody>
      </p:sp>
      <p:sp>
        <p:nvSpPr>
          <p:cNvPr id="7" name="Title 1">
            <a:extLst>
              <a:ext uri="{FF2B5EF4-FFF2-40B4-BE49-F238E27FC236}">
                <a16:creationId xmlns:a16="http://schemas.microsoft.com/office/drawing/2014/main" id="{71C1B735-296C-594B-9F1B-3061095DE275}"/>
              </a:ext>
            </a:extLst>
          </p:cNvPr>
          <p:cNvSpPr>
            <a:spLocks noGrp="1"/>
          </p:cNvSpPr>
          <p:nvPr>
            <p:ph type="title"/>
          </p:nvPr>
        </p:nvSpPr>
        <p:spPr>
          <a:xfrm>
            <a:off x="365760" y="411480"/>
            <a:ext cx="11372473" cy="914400"/>
          </a:xfrm>
        </p:spPr>
        <p:txBody>
          <a:bodyPr/>
          <a:lstStyle/>
          <a:p>
            <a:r>
              <a:rPr lang="en-US" dirty="0"/>
              <a:t>Step  4 –  AMR</a:t>
            </a:r>
          </a:p>
        </p:txBody>
      </p:sp>
      <p:sp>
        <p:nvSpPr>
          <p:cNvPr id="2" name="Rounded Rectangle 1">
            <a:extLst>
              <a:ext uri="{FF2B5EF4-FFF2-40B4-BE49-F238E27FC236}">
                <a16:creationId xmlns:a16="http://schemas.microsoft.com/office/drawing/2014/main" id="{E3EE4D45-283D-1E60-00E0-FE348E1C0A0C}"/>
              </a:ext>
            </a:extLst>
          </p:cNvPr>
          <p:cNvSpPr/>
          <p:nvPr/>
        </p:nvSpPr>
        <p:spPr>
          <a:xfrm>
            <a:off x="7885872" y="1733550"/>
            <a:ext cx="3974465" cy="2552700"/>
          </a:xfrm>
          <a:prstGeom prst="round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We have continued to build scaffolding and are using granular testing to pinpoint the cause of error</a:t>
            </a:r>
          </a:p>
        </p:txBody>
      </p:sp>
    </p:spTree>
    <p:extLst>
      <p:ext uri="{BB962C8B-B14F-4D97-AF65-F5344CB8AC3E}">
        <p14:creationId xmlns:p14="http://schemas.microsoft.com/office/powerpoint/2010/main" val="424986718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F96DBD19-9A59-8442-A875-2C58BC3C471C}"/>
              </a:ext>
            </a:extLst>
          </p:cNvPr>
          <p:cNvSpPr txBox="1">
            <a:spLocks/>
          </p:cNvSpPr>
          <p:nvPr/>
        </p:nvSpPr>
        <p:spPr bwMode="auto">
          <a:xfrm>
            <a:off x="365760" y="978939"/>
            <a:ext cx="10129962" cy="477012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230188" indent="-230188" algn="l" rtl="0" eaLnBrk="1" fontAlgn="base" hangingPunct="1">
              <a:lnSpc>
                <a:spcPct val="90000"/>
              </a:lnSpc>
              <a:spcBef>
                <a:spcPts val="1400"/>
              </a:spcBef>
              <a:spcAft>
                <a:spcPct val="0"/>
              </a:spcAft>
              <a:buClr>
                <a:schemeClr val="tx1"/>
              </a:buClr>
              <a:buFont typeface="Arial" charset="0"/>
              <a:buChar char="•"/>
              <a:defRPr sz="2800" kern="1200">
                <a:solidFill>
                  <a:schemeClr val="tx1"/>
                </a:solidFill>
                <a:latin typeface="Arial" panose="020B0604020202020204" pitchFamily="34" charset="0"/>
                <a:ea typeface="+mn-ea"/>
                <a:cs typeface="Arial" panose="020B0604020202020204" pitchFamily="34" charset="0"/>
              </a:defRPr>
            </a:lvl1pPr>
            <a:lvl2pPr marL="625475" indent="-279400" algn="l" rtl="0" eaLnBrk="1" fontAlgn="base" hangingPunct="1">
              <a:lnSpc>
                <a:spcPct val="90000"/>
              </a:lnSpc>
              <a:spcBef>
                <a:spcPts val="800"/>
              </a:spcBef>
              <a:spcAft>
                <a:spcPct val="0"/>
              </a:spcAft>
              <a:buClr>
                <a:schemeClr val="tx1"/>
              </a:buClr>
              <a:buFont typeface="Arial" charset="0"/>
              <a:buChar char="–"/>
              <a:defRPr sz="2400" kern="1200">
                <a:solidFill>
                  <a:schemeClr val="tx1"/>
                </a:solidFill>
                <a:latin typeface="Arial" panose="020B0604020202020204" pitchFamily="34" charset="0"/>
                <a:ea typeface="+mn-ea"/>
                <a:cs typeface="Arial" panose="020B0604020202020204" pitchFamily="34" charset="0"/>
              </a:defRPr>
            </a:lvl2pPr>
            <a:lvl3pPr marL="914400" indent="-230188"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Arial" panose="020B0604020202020204" pitchFamily="34" charset="0"/>
                <a:ea typeface="+mn-ea"/>
                <a:cs typeface="Arial" panose="020B0604020202020204" pitchFamily="34" charset="0"/>
              </a:defRPr>
            </a:lvl3pPr>
            <a:lvl4pPr marL="1144588" indent="-17303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Arial" panose="020B0604020202020204" pitchFamily="34" charset="0"/>
                <a:ea typeface="+mn-ea"/>
                <a:cs typeface="Arial" panose="020B0604020202020204" pitchFamily="34" charset="0"/>
              </a:defRPr>
            </a:lvl4pPr>
            <a:lvl5pPr marL="1482725" indent="-222250" algn="l" rtl="0" eaLnBrk="1" fontAlgn="base" hangingPunct="1">
              <a:lnSpc>
                <a:spcPct val="90000"/>
              </a:lnSpc>
              <a:spcBef>
                <a:spcPts val="600"/>
              </a:spcBef>
              <a:spcAft>
                <a:spcPct val="0"/>
              </a:spcAft>
              <a:buClr>
                <a:schemeClr val="tx1"/>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The same halo fill unit test for mesh also works for AMR</a:t>
            </a:r>
          </a:p>
          <a:p>
            <a:r>
              <a:rPr lang="en-US" dirty="0"/>
              <a:t>Additional functionalities to test are:</a:t>
            </a:r>
          </a:p>
          <a:p>
            <a:pPr lvl="1"/>
            <a:r>
              <a:rPr lang="en-US" dirty="0"/>
              <a:t>Fine-coarse boundary resolution</a:t>
            </a:r>
          </a:p>
          <a:p>
            <a:pPr lvl="1"/>
            <a:r>
              <a:rPr lang="en-US" dirty="0" err="1"/>
              <a:t>Regridding</a:t>
            </a:r>
            <a:endParaRPr lang="en-US" dirty="0"/>
          </a:p>
          <a:p>
            <a:r>
              <a:rPr lang="en-US" dirty="0"/>
              <a:t>Steps in testing </a:t>
            </a:r>
          </a:p>
          <a:p>
            <a:pPr lvl="1"/>
            <a:r>
              <a:rPr lang="en-US" dirty="0"/>
              <a:t>Run </a:t>
            </a:r>
            <a:r>
              <a:rPr lang="en-US" dirty="0" err="1"/>
              <a:t>Sedov</a:t>
            </a:r>
            <a:r>
              <a:rPr lang="en-US" dirty="0"/>
              <a:t> with UG</a:t>
            </a:r>
          </a:p>
          <a:p>
            <a:pPr lvl="1"/>
            <a:r>
              <a:rPr lang="en-US" dirty="0"/>
              <a:t>Run </a:t>
            </a:r>
            <a:r>
              <a:rPr lang="en-US" dirty="0" err="1"/>
              <a:t>Sedov</a:t>
            </a:r>
            <a:r>
              <a:rPr lang="en-US" dirty="0"/>
              <a:t> with AMR, but no dynamic refinement</a:t>
            </a:r>
          </a:p>
          <a:p>
            <a:pPr lvl="2"/>
            <a:r>
              <a:rPr lang="en-US" dirty="0"/>
              <a:t>If failed fault is in flux correction</a:t>
            </a:r>
          </a:p>
          <a:p>
            <a:pPr lvl="1"/>
            <a:r>
              <a:rPr lang="en-US" dirty="0"/>
              <a:t>Run </a:t>
            </a:r>
            <a:r>
              <a:rPr lang="en-US" dirty="0" err="1"/>
              <a:t>Sedov</a:t>
            </a:r>
            <a:r>
              <a:rPr lang="en-US" dirty="0"/>
              <a:t> with AMR and dynamic refinement</a:t>
            </a:r>
          </a:p>
          <a:p>
            <a:pPr lvl="2"/>
            <a:r>
              <a:rPr lang="en-US" dirty="0"/>
              <a:t>If failed fault is in </a:t>
            </a:r>
            <a:r>
              <a:rPr lang="en-US" dirty="0" err="1"/>
              <a:t>regridding</a:t>
            </a:r>
            <a:endParaRPr lang="en-US" dirty="0"/>
          </a:p>
        </p:txBody>
      </p:sp>
      <p:sp>
        <p:nvSpPr>
          <p:cNvPr id="7" name="Title 1">
            <a:extLst>
              <a:ext uri="{FF2B5EF4-FFF2-40B4-BE49-F238E27FC236}">
                <a16:creationId xmlns:a16="http://schemas.microsoft.com/office/drawing/2014/main" id="{71C1B735-296C-594B-9F1B-3061095DE275}"/>
              </a:ext>
            </a:extLst>
          </p:cNvPr>
          <p:cNvSpPr>
            <a:spLocks noGrp="1"/>
          </p:cNvSpPr>
          <p:nvPr>
            <p:ph type="title"/>
          </p:nvPr>
        </p:nvSpPr>
        <p:spPr>
          <a:xfrm>
            <a:off x="365760" y="411480"/>
            <a:ext cx="11372473" cy="914400"/>
          </a:xfrm>
        </p:spPr>
        <p:txBody>
          <a:bodyPr/>
          <a:lstStyle/>
          <a:p>
            <a:r>
              <a:rPr lang="en-US" dirty="0"/>
              <a:t>Step  4 –  AMR</a:t>
            </a:r>
          </a:p>
        </p:txBody>
      </p:sp>
      <p:sp>
        <p:nvSpPr>
          <p:cNvPr id="2" name="Rounded Rectangle 1">
            <a:extLst>
              <a:ext uri="{FF2B5EF4-FFF2-40B4-BE49-F238E27FC236}">
                <a16:creationId xmlns:a16="http://schemas.microsoft.com/office/drawing/2014/main" id="{E3EE4D45-283D-1E60-00E0-FE348E1C0A0C}"/>
              </a:ext>
            </a:extLst>
          </p:cNvPr>
          <p:cNvSpPr/>
          <p:nvPr/>
        </p:nvSpPr>
        <p:spPr>
          <a:xfrm>
            <a:off x="7885872" y="1733550"/>
            <a:ext cx="3974465" cy="2552700"/>
          </a:xfrm>
          <a:prstGeom prst="round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We have continued to build scaffolding and are using granular testing to pinpoint the cause of error</a:t>
            </a:r>
          </a:p>
        </p:txBody>
      </p:sp>
      <p:sp>
        <p:nvSpPr>
          <p:cNvPr id="3" name="Rounded Rectangle 2">
            <a:extLst>
              <a:ext uri="{FF2B5EF4-FFF2-40B4-BE49-F238E27FC236}">
                <a16:creationId xmlns:a16="http://schemas.microsoft.com/office/drawing/2014/main" id="{92A9624E-ABDF-34C6-CADC-9B4A35DFD25E}"/>
              </a:ext>
            </a:extLst>
          </p:cNvPr>
          <p:cNvSpPr/>
          <p:nvPr/>
        </p:nvSpPr>
        <p:spPr>
          <a:xfrm>
            <a:off x="7885872" y="4482234"/>
            <a:ext cx="3974465" cy="1070841"/>
          </a:xfrm>
          <a:prstGeom prst="round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All of these are examples of clear box testing</a:t>
            </a:r>
          </a:p>
        </p:txBody>
      </p:sp>
    </p:spTree>
    <p:extLst>
      <p:ext uri="{BB962C8B-B14F-4D97-AF65-F5344CB8AC3E}">
        <p14:creationId xmlns:p14="http://schemas.microsoft.com/office/powerpoint/2010/main" val="164272265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Oval 94">
            <a:extLst>
              <a:ext uri="{FF2B5EF4-FFF2-40B4-BE49-F238E27FC236}">
                <a16:creationId xmlns:a16="http://schemas.microsoft.com/office/drawing/2014/main" id="{C6F036D0-B212-4D4C-92EB-F4E41908B8C6}"/>
              </a:ext>
            </a:extLst>
          </p:cNvPr>
          <p:cNvSpPr/>
          <p:nvPr/>
        </p:nvSpPr>
        <p:spPr>
          <a:xfrm>
            <a:off x="8246534" y="3964360"/>
            <a:ext cx="3064933" cy="1663689"/>
          </a:xfrm>
          <a:prstGeom prst="ellipse">
            <a:avLst/>
          </a:prstGeom>
          <a:solidFill>
            <a:schemeClr val="accent3">
              <a:lumMod val="40000"/>
              <a:lumOff val="60000"/>
              <a:alpha val="61000"/>
            </a:schemeClr>
          </a:solidFill>
          <a:ln>
            <a:solidFill>
              <a:schemeClr val="accent1"/>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lnSpc>
                <a:spcPct val="90000"/>
              </a:lnSpc>
            </a:pPr>
            <a:endParaRPr lang="en-US" dirty="0">
              <a:solidFill>
                <a:schemeClr val="tx1"/>
              </a:solidFill>
            </a:endParaRPr>
          </a:p>
        </p:txBody>
      </p:sp>
      <p:sp>
        <p:nvSpPr>
          <p:cNvPr id="5" name="Content Placeholder 4"/>
          <p:cNvSpPr>
            <a:spLocks noGrp="1"/>
          </p:cNvSpPr>
          <p:nvPr>
            <p:ph sz="quarter" idx="1"/>
          </p:nvPr>
        </p:nvSpPr>
        <p:spPr>
          <a:xfrm>
            <a:off x="364489" y="1459000"/>
            <a:ext cx="5594773" cy="4280215"/>
          </a:xfrm>
        </p:spPr>
        <p:txBody>
          <a:bodyPr>
            <a:normAutofit fontScale="77500" lnSpcReduction="20000"/>
          </a:bodyPr>
          <a:lstStyle/>
          <a:p>
            <a:pPr marL="0" indent="0">
              <a:buNone/>
            </a:pPr>
            <a:r>
              <a:rPr lang="en-US" dirty="0"/>
              <a:t>There may not be existing tests</a:t>
            </a:r>
          </a:p>
          <a:p>
            <a:endParaRPr lang="en-US" dirty="0"/>
          </a:p>
          <a:p>
            <a:r>
              <a:rPr lang="en-US" dirty="0"/>
              <a:t>Isolate a small area of the code</a:t>
            </a:r>
          </a:p>
          <a:p>
            <a:r>
              <a:rPr lang="en-US" dirty="0"/>
              <a:t>Dump a useful state snapshot</a:t>
            </a:r>
          </a:p>
          <a:p>
            <a:r>
              <a:rPr lang="en-US" dirty="0"/>
              <a:t>Build a test driver</a:t>
            </a:r>
          </a:p>
          <a:p>
            <a:pPr lvl="1"/>
            <a:r>
              <a:rPr lang="en-US" dirty="0"/>
              <a:t>Start with only the files in the area</a:t>
            </a:r>
          </a:p>
          <a:p>
            <a:pPr lvl="1"/>
            <a:r>
              <a:rPr lang="en-US" dirty="0"/>
              <a:t>Link in dependencies</a:t>
            </a:r>
          </a:p>
          <a:p>
            <a:pPr lvl="3"/>
            <a:r>
              <a:rPr lang="en-US" dirty="0"/>
              <a:t>Copy if any customizations needed</a:t>
            </a:r>
          </a:p>
          <a:p>
            <a:r>
              <a:rPr lang="en-US" dirty="0"/>
              <a:t>Read in the state snapshot</a:t>
            </a:r>
          </a:p>
          <a:p>
            <a:r>
              <a:rPr lang="en-US" dirty="0"/>
              <a:t>Restart from the saved state</a:t>
            </a:r>
          </a:p>
          <a:p>
            <a:r>
              <a:rPr lang="en-US" dirty="0"/>
              <a:t>Verify correctness</a:t>
            </a:r>
          </a:p>
          <a:p>
            <a:pPr lvl="1"/>
            <a:r>
              <a:rPr lang="en-US" dirty="0"/>
              <a:t>Always inject errors to verify that the test is working</a:t>
            </a:r>
          </a:p>
          <a:p>
            <a:endParaRPr lang="en-US" dirty="0"/>
          </a:p>
        </p:txBody>
      </p:sp>
      <p:grpSp>
        <p:nvGrpSpPr>
          <p:cNvPr id="40" name="Group 39">
            <a:extLst>
              <a:ext uri="{FF2B5EF4-FFF2-40B4-BE49-F238E27FC236}">
                <a16:creationId xmlns:a16="http://schemas.microsoft.com/office/drawing/2014/main" id="{2B7157F6-68FB-914B-897D-D3186982AB0F}"/>
              </a:ext>
            </a:extLst>
          </p:cNvPr>
          <p:cNvGrpSpPr/>
          <p:nvPr/>
        </p:nvGrpSpPr>
        <p:grpSpPr>
          <a:xfrm>
            <a:off x="7552267" y="2878190"/>
            <a:ext cx="694267" cy="457200"/>
            <a:chOff x="8382000" y="3589867"/>
            <a:chExt cx="694267" cy="457200"/>
          </a:xfrm>
        </p:grpSpPr>
        <p:cxnSp>
          <p:nvCxnSpPr>
            <p:cNvPr id="37" name="Straight Connector 36">
              <a:extLst>
                <a:ext uri="{FF2B5EF4-FFF2-40B4-BE49-F238E27FC236}">
                  <a16:creationId xmlns:a16="http://schemas.microsoft.com/office/drawing/2014/main" id="{AA0765B6-92EE-374A-88A3-A231413912E5}"/>
                </a:ext>
              </a:extLst>
            </p:cNvPr>
            <p:cNvCxnSpPr/>
            <p:nvPr/>
          </p:nvCxnSpPr>
          <p:spPr>
            <a:xfrm flipV="1">
              <a:off x="8382000" y="3606800"/>
              <a:ext cx="355600" cy="440267"/>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493671EF-D4E4-534B-A906-5EA8A0FC376C}"/>
                </a:ext>
              </a:extLst>
            </p:cNvPr>
            <p:cNvCxnSpPr>
              <a:cxnSpLocks/>
            </p:cNvCxnSpPr>
            <p:nvPr/>
          </p:nvCxnSpPr>
          <p:spPr>
            <a:xfrm>
              <a:off x="8754533" y="3589867"/>
              <a:ext cx="321734" cy="45720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3184F758-ED67-FB4C-917E-F17590BC5BAD}"/>
              </a:ext>
            </a:extLst>
          </p:cNvPr>
          <p:cNvGrpSpPr/>
          <p:nvPr/>
        </p:nvGrpSpPr>
        <p:grpSpPr>
          <a:xfrm>
            <a:off x="9059333" y="1889547"/>
            <a:ext cx="694267" cy="457200"/>
            <a:chOff x="8382000" y="3589867"/>
            <a:chExt cx="694267" cy="457200"/>
          </a:xfrm>
        </p:grpSpPr>
        <p:cxnSp>
          <p:nvCxnSpPr>
            <p:cNvPr id="43" name="Straight Connector 42">
              <a:extLst>
                <a:ext uri="{FF2B5EF4-FFF2-40B4-BE49-F238E27FC236}">
                  <a16:creationId xmlns:a16="http://schemas.microsoft.com/office/drawing/2014/main" id="{BAE7D001-50DD-A445-8572-8AC23F89B1DC}"/>
                </a:ext>
              </a:extLst>
            </p:cNvPr>
            <p:cNvCxnSpPr/>
            <p:nvPr/>
          </p:nvCxnSpPr>
          <p:spPr>
            <a:xfrm flipV="1">
              <a:off x="8382000" y="3606800"/>
              <a:ext cx="355600" cy="440267"/>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C9FB2A67-75DE-F943-89D3-2B8964DDAE4E}"/>
                </a:ext>
              </a:extLst>
            </p:cNvPr>
            <p:cNvCxnSpPr>
              <a:cxnSpLocks/>
            </p:cNvCxnSpPr>
            <p:nvPr/>
          </p:nvCxnSpPr>
          <p:spPr>
            <a:xfrm>
              <a:off x="8754533" y="3589867"/>
              <a:ext cx="321734" cy="45720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45" name="Group 44">
            <a:extLst>
              <a:ext uri="{FF2B5EF4-FFF2-40B4-BE49-F238E27FC236}">
                <a16:creationId xmlns:a16="http://schemas.microsoft.com/office/drawing/2014/main" id="{5BB89184-8F31-3448-B94E-25B9FDB9122F}"/>
              </a:ext>
            </a:extLst>
          </p:cNvPr>
          <p:cNvGrpSpPr/>
          <p:nvPr/>
        </p:nvGrpSpPr>
        <p:grpSpPr>
          <a:xfrm>
            <a:off x="7230533" y="2420990"/>
            <a:ext cx="694267" cy="457200"/>
            <a:chOff x="8382000" y="3589867"/>
            <a:chExt cx="694267" cy="457200"/>
          </a:xfrm>
        </p:grpSpPr>
        <p:cxnSp>
          <p:nvCxnSpPr>
            <p:cNvPr id="46" name="Straight Connector 45">
              <a:extLst>
                <a:ext uri="{FF2B5EF4-FFF2-40B4-BE49-F238E27FC236}">
                  <a16:creationId xmlns:a16="http://schemas.microsoft.com/office/drawing/2014/main" id="{300A5468-2CE4-1F48-BDCD-92F9E8A123E0}"/>
                </a:ext>
              </a:extLst>
            </p:cNvPr>
            <p:cNvCxnSpPr/>
            <p:nvPr/>
          </p:nvCxnSpPr>
          <p:spPr>
            <a:xfrm flipV="1">
              <a:off x="8382000" y="3606800"/>
              <a:ext cx="355600" cy="440267"/>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84370E17-522F-324B-A40D-F59A80DD6F3A}"/>
                </a:ext>
              </a:extLst>
            </p:cNvPr>
            <p:cNvCxnSpPr>
              <a:cxnSpLocks/>
            </p:cNvCxnSpPr>
            <p:nvPr/>
          </p:nvCxnSpPr>
          <p:spPr>
            <a:xfrm>
              <a:off x="8754533" y="3589867"/>
              <a:ext cx="321734" cy="45720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48" name="Group 47">
            <a:extLst>
              <a:ext uri="{FF2B5EF4-FFF2-40B4-BE49-F238E27FC236}">
                <a16:creationId xmlns:a16="http://schemas.microsoft.com/office/drawing/2014/main" id="{B6B3BB53-52A3-704B-9EB9-231AA3DEC809}"/>
              </a:ext>
            </a:extLst>
          </p:cNvPr>
          <p:cNvGrpSpPr/>
          <p:nvPr/>
        </p:nvGrpSpPr>
        <p:grpSpPr>
          <a:xfrm>
            <a:off x="7636933" y="1963790"/>
            <a:ext cx="694267" cy="457200"/>
            <a:chOff x="8382000" y="3589867"/>
            <a:chExt cx="694267" cy="457200"/>
          </a:xfrm>
        </p:grpSpPr>
        <p:cxnSp>
          <p:nvCxnSpPr>
            <p:cNvPr id="49" name="Straight Connector 48">
              <a:extLst>
                <a:ext uri="{FF2B5EF4-FFF2-40B4-BE49-F238E27FC236}">
                  <a16:creationId xmlns:a16="http://schemas.microsoft.com/office/drawing/2014/main" id="{351055DD-08C0-154E-845D-5A70BB0C5540}"/>
                </a:ext>
              </a:extLst>
            </p:cNvPr>
            <p:cNvCxnSpPr/>
            <p:nvPr/>
          </p:nvCxnSpPr>
          <p:spPr>
            <a:xfrm flipV="1">
              <a:off x="8382000" y="3606800"/>
              <a:ext cx="355600" cy="440267"/>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B727DA0-AE4C-C340-A0BE-DA09AB89DA94}"/>
                </a:ext>
              </a:extLst>
            </p:cNvPr>
            <p:cNvCxnSpPr>
              <a:cxnSpLocks/>
            </p:cNvCxnSpPr>
            <p:nvPr/>
          </p:nvCxnSpPr>
          <p:spPr>
            <a:xfrm>
              <a:off x="8754533" y="3589867"/>
              <a:ext cx="321734" cy="45720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51" name="Group 50">
            <a:extLst>
              <a:ext uri="{FF2B5EF4-FFF2-40B4-BE49-F238E27FC236}">
                <a16:creationId xmlns:a16="http://schemas.microsoft.com/office/drawing/2014/main" id="{B04C04B3-9E81-4C4D-B230-37EE6A63598B}"/>
              </a:ext>
            </a:extLst>
          </p:cNvPr>
          <p:cNvGrpSpPr/>
          <p:nvPr/>
        </p:nvGrpSpPr>
        <p:grpSpPr>
          <a:xfrm>
            <a:off x="8009466" y="1489656"/>
            <a:ext cx="694267" cy="457200"/>
            <a:chOff x="8382000" y="3589867"/>
            <a:chExt cx="694267" cy="457200"/>
          </a:xfrm>
        </p:grpSpPr>
        <p:cxnSp>
          <p:nvCxnSpPr>
            <p:cNvPr id="52" name="Straight Connector 51">
              <a:extLst>
                <a:ext uri="{FF2B5EF4-FFF2-40B4-BE49-F238E27FC236}">
                  <a16:creationId xmlns:a16="http://schemas.microsoft.com/office/drawing/2014/main" id="{F22A477C-16C2-CD48-A6E8-3D6B8A8DC0A7}"/>
                </a:ext>
              </a:extLst>
            </p:cNvPr>
            <p:cNvCxnSpPr/>
            <p:nvPr/>
          </p:nvCxnSpPr>
          <p:spPr>
            <a:xfrm flipV="1">
              <a:off x="8382000" y="3606800"/>
              <a:ext cx="355600" cy="440267"/>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83A4AC5F-0305-9A4E-BA1F-34F60B6426AE}"/>
                </a:ext>
              </a:extLst>
            </p:cNvPr>
            <p:cNvCxnSpPr>
              <a:cxnSpLocks/>
            </p:cNvCxnSpPr>
            <p:nvPr/>
          </p:nvCxnSpPr>
          <p:spPr>
            <a:xfrm>
              <a:off x="8754533" y="3589867"/>
              <a:ext cx="321734" cy="45720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54" name="Group 53">
            <a:extLst>
              <a:ext uri="{FF2B5EF4-FFF2-40B4-BE49-F238E27FC236}">
                <a16:creationId xmlns:a16="http://schemas.microsoft.com/office/drawing/2014/main" id="{BDB5604C-FF83-3B46-88FF-2FDFAFE0544B}"/>
              </a:ext>
            </a:extLst>
          </p:cNvPr>
          <p:cNvGrpSpPr/>
          <p:nvPr/>
        </p:nvGrpSpPr>
        <p:grpSpPr>
          <a:xfrm>
            <a:off x="8398932" y="998589"/>
            <a:ext cx="694267" cy="457200"/>
            <a:chOff x="8382000" y="3589867"/>
            <a:chExt cx="694267" cy="457200"/>
          </a:xfrm>
        </p:grpSpPr>
        <p:cxnSp>
          <p:nvCxnSpPr>
            <p:cNvPr id="55" name="Straight Connector 54">
              <a:extLst>
                <a:ext uri="{FF2B5EF4-FFF2-40B4-BE49-F238E27FC236}">
                  <a16:creationId xmlns:a16="http://schemas.microsoft.com/office/drawing/2014/main" id="{B3F82FDF-D9C6-B94A-8F6E-D0D690E0B650}"/>
                </a:ext>
              </a:extLst>
            </p:cNvPr>
            <p:cNvCxnSpPr/>
            <p:nvPr/>
          </p:nvCxnSpPr>
          <p:spPr>
            <a:xfrm flipV="1">
              <a:off x="8382000" y="3606800"/>
              <a:ext cx="355600" cy="440267"/>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14D64041-E257-C443-9BAE-5EF881E42AF8}"/>
                </a:ext>
              </a:extLst>
            </p:cNvPr>
            <p:cNvCxnSpPr>
              <a:cxnSpLocks/>
            </p:cNvCxnSpPr>
            <p:nvPr/>
          </p:nvCxnSpPr>
          <p:spPr>
            <a:xfrm>
              <a:off x="8754533" y="3589867"/>
              <a:ext cx="321734" cy="45720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57" name="Group 56">
            <a:extLst>
              <a:ext uri="{FF2B5EF4-FFF2-40B4-BE49-F238E27FC236}">
                <a16:creationId xmlns:a16="http://schemas.microsoft.com/office/drawing/2014/main" id="{99935801-F138-7640-8D95-80A8D1D12447}"/>
              </a:ext>
            </a:extLst>
          </p:cNvPr>
          <p:cNvGrpSpPr/>
          <p:nvPr/>
        </p:nvGrpSpPr>
        <p:grpSpPr>
          <a:xfrm>
            <a:off x="9389531" y="2363680"/>
            <a:ext cx="694267" cy="457200"/>
            <a:chOff x="8382000" y="3589867"/>
            <a:chExt cx="694267" cy="457200"/>
          </a:xfrm>
        </p:grpSpPr>
        <p:cxnSp>
          <p:nvCxnSpPr>
            <p:cNvPr id="58" name="Straight Connector 57">
              <a:extLst>
                <a:ext uri="{FF2B5EF4-FFF2-40B4-BE49-F238E27FC236}">
                  <a16:creationId xmlns:a16="http://schemas.microsoft.com/office/drawing/2014/main" id="{2551DC58-4E14-6842-BC81-0627237EFA7F}"/>
                </a:ext>
              </a:extLst>
            </p:cNvPr>
            <p:cNvCxnSpPr/>
            <p:nvPr/>
          </p:nvCxnSpPr>
          <p:spPr>
            <a:xfrm flipV="1">
              <a:off x="8382000" y="3606800"/>
              <a:ext cx="355600" cy="440267"/>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488D97B7-1C92-C745-94BB-01E7335874B2}"/>
                </a:ext>
              </a:extLst>
            </p:cNvPr>
            <p:cNvCxnSpPr>
              <a:cxnSpLocks/>
            </p:cNvCxnSpPr>
            <p:nvPr/>
          </p:nvCxnSpPr>
          <p:spPr>
            <a:xfrm>
              <a:off x="8754533" y="3589867"/>
              <a:ext cx="321734" cy="45720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60" name="Group 59">
            <a:extLst>
              <a:ext uri="{FF2B5EF4-FFF2-40B4-BE49-F238E27FC236}">
                <a16:creationId xmlns:a16="http://schemas.microsoft.com/office/drawing/2014/main" id="{0B600A38-B359-9340-BFD4-15BC74F80C2E}"/>
              </a:ext>
            </a:extLst>
          </p:cNvPr>
          <p:cNvGrpSpPr/>
          <p:nvPr/>
        </p:nvGrpSpPr>
        <p:grpSpPr>
          <a:xfrm>
            <a:off x="8746065" y="1455789"/>
            <a:ext cx="694267" cy="457200"/>
            <a:chOff x="8382000" y="3589867"/>
            <a:chExt cx="694267" cy="457200"/>
          </a:xfrm>
        </p:grpSpPr>
        <p:cxnSp>
          <p:nvCxnSpPr>
            <p:cNvPr id="61" name="Straight Connector 60">
              <a:extLst>
                <a:ext uri="{FF2B5EF4-FFF2-40B4-BE49-F238E27FC236}">
                  <a16:creationId xmlns:a16="http://schemas.microsoft.com/office/drawing/2014/main" id="{351571A8-8F6C-9648-B497-C1C4A28855EB}"/>
                </a:ext>
              </a:extLst>
            </p:cNvPr>
            <p:cNvCxnSpPr/>
            <p:nvPr/>
          </p:nvCxnSpPr>
          <p:spPr>
            <a:xfrm flipV="1">
              <a:off x="8382000" y="3606800"/>
              <a:ext cx="355600" cy="440267"/>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D3386662-8D92-6648-8C33-23872A5CFE03}"/>
                </a:ext>
              </a:extLst>
            </p:cNvPr>
            <p:cNvCxnSpPr>
              <a:cxnSpLocks/>
            </p:cNvCxnSpPr>
            <p:nvPr/>
          </p:nvCxnSpPr>
          <p:spPr>
            <a:xfrm>
              <a:off x="8754533" y="3589867"/>
              <a:ext cx="321734" cy="45720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63" name="Group 62">
            <a:extLst>
              <a:ext uri="{FF2B5EF4-FFF2-40B4-BE49-F238E27FC236}">
                <a16:creationId xmlns:a16="http://schemas.microsoft.com/office/drawing/2014/main" id="{E5231996-B9F7-A14C-9B46-6D84E907B913}"/>
              </a:ext>
            </a:extLst>
          </p:cNvPr>
          <p:cNvGrpSpPr/>
          <p:nvPr/>
        </p:nvGrpSpPr>
        <p:grpSpPr>
          <a:xfrm>
            <a:off x="8991598" y="2840247"/>
            <a:ext cx="694267" cy="457200"/>
            <a:chOff x="8382000" y="3589867"/>
            <a:chExt cx="694267" cy="457200"/>
          </a:xfrm>
        </p:grpSpPr>
        <p:cxnSp>
          <p:nvCxnSpPr>
            <p:cNvPr id="64" name="Straight Connector 63">
              <a:extLst>
                <a:ext uri="{FF2B5EF4-FFF2-40B4-BE49-F238E27FC236}">
                  <a16:creationId xmlns:a16="http://schemas.microsoft.com/office/drawing/2014/main" id="{035F007A-2219-CB40-8138-5D6CAA31BBB0}"/>
                </a:ext>
              </a:extLst>
            </p:cNvPr>
            <p:cNvCxnSpPr/>
            <p:nvPr/>
          </p:nvCxnSpPr>
          <p:spPr>
            <a:xfrm flipV="1">
              <a:off x="8382000" y="3606800"/>
              <a:ext cx="355600" cy="440267"/>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5AE77DF9-04E6-284B-8B2F-0EF85BBC94FB}"/>
                </a:ext>
              </a:extLst>
            </p:cNvPr>
            <p:cNvCxnSpPr>
              <a:cxnSpLocks/>
            </p:cNvCxnSpPr>
            <p:nvPr/>
          </p:nvCxnSpPr>
          <p:spPr>
            <a:xfrm>
              <a:off x="8754533" y="3589867"/>
              <a:ext cx="321734" cy="45720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66" name="Group 65">
            <a:extLst>
              <a:ext uri="{FF2B5EF4-FFF2-40B4-BE49-F238E27FC236}">
                <a16:creationId xmlns:a16="http://schemas.microsoft.com/office/drawing/2014/main" id="{AC45B4E7-CC48-924D-ABC3-CB20FA572B76}"/>
              </a:ext>
            </a:extLst>
          </p:cNvPr>
          <p:cNvGrpSpPr/>
          <p:nvPr/>
        </p:nvGrpSpPr>
        <p:grpSpPr>
          <a:xfrm>
            <a:off x="9338731" y="3331313"/>
            <a:ext cx="694267" cy="457200"/>
            <a:chOff x="8382000" y="3589867"/>
            <a:chExt cx="694267" cy="457200"/>
          </a:xfrm>
        </p:grpSpPr>
        <p:cxnSp>
          <p:nvCxnSpPr>
            <p:cNvPr id="67" name="Straight Connector 66">
              <a:extLst>
                <a:ext uri="{FF2B5EF4-FFF2-40B4-BE49-F238E27FC236}">
                  <a16:creationId xmlns:a16="http://schemas.microsoft.com/office/drawing/2014/main" id="{B7E81909-C116-8644-8FC4-242F4F5F2D61}"/>
                </a:ext>
              </a:extLst>
            </p:cNvPr>
            <p:cNvCxnSpPr/>
            <p:nvPr/>
          </p:nvCxnSpPr>
          <p:spPr>
            <a:xfrm flipV="1">
              <a:off x="8382000" y="3606800"/>
              <a:ext cx="355600" cy="440267"/>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7DD20809-3E6F-5A41-8ADD-CB747F2E4032}"/>
                </a:ext>
              </a:extLst>
            </p:cNvPr>
            <p:cNvCxnSpPr>
              <a:cxnSpLocks/>
            </p:cNvCxnSpPr>
            <p:nvPr/>
          </p:nvCxnSpPr>
          <p:spPr>
            <a:xfrm>
              <a:off x="8754533" y="3589867"/>
              <a:ext cx="321734" cy="457200"/>
            </a:xfrm>
            <a:prstGeom prst="line">
              <a:avLst/>
            </a:prstGeom>
          </p:spPr>
          <p:style>
            <a:lnRef idx="1">
              <a:schemeClr val="accent1"/>
            </a:lnRef>
            <a:fillRef idx="0">
              <a:schemeClr val="accent1"/>
            </a:fillRef>
            <a:effectRef idx="0">
              <a:schemeClr val="accent1"/>
            </a:effectRef>
            <a:fontRef idx="minor">
              <a:schemeClr val="tx1"/>
            </a:fontRef>
          </p:style>
        </p:cxnSp>
      </p:grpSp>
      <p:sp>
        <p:nvSpPr>
          <p:cNvPr id="72" name="Oval 71">
            <a:extLst>
              <a:ext uri="{FF2B5EF4-FFF2-40B4-BE49-F238E27FC236}">
                <a16:creationId xmlns:a16="http://schemas.microsoft.com/office/drawing/2014/main" id="{A4F3E7B2-685A-BD4B-A776-4BA1219968B5}"/>
              </a:ext>
            </a:extLst>
          </p:cNvPr>
          <p:cNvSpPr/>
          <p:nvPr/>
        </p:nvSpPr>
        <p:spPr>
          <a:xfrm>
            <a:off x="8810362" y="3115256"/>
            <a:ext cx="1654435" cy="444657"/>
          </a:xfrm>
          <a:prstGeom prst="ellipse">
            <a:avLst/>
          </a:prstGeom>
          <a:solidFill>
            <a:schemeClr val="accent2">
              <a:lumMod val="60000"/>
              <a:lumOff val="40000"/>
            </a:schemeClr>
          </a:solidFill>
          <a:ln>
            <a:solidFill>
              <a:schemeClr val="accent2"/>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lnSpc>
                <a:spcPct val="90000"/>
              </a:lnSpc>
            </a:pPr>
            <a:r>
              <a:rPr lang="en-US" dirty="0">
                <a:solidFill>
                  <a:schemeClr val="tx1"/>
                </a:solidFill>
              </a:rPr>
              <a:t>state</a:t>
            </a:r>
          </a:p>
        </p:txBody>
      </p:sp>
      <p:sp>
        <p:nvSpPr>
          <p:cNvPr id="73" name="Oval 72">
            <a:extLst>
              <a:ext uri="{FF2B5EF4-FFF2-40B4-BE49-F238E27FC236}">
                <a16:creationId xmlns:a16="http://schemas.microsoft.com/office/drawing/2014/main" id="{AFB95790-A1AB-144C-B10E-17C0DD49D6CE}"/>
              </a:ext>
            </a:extLst>
          </p:cNvPr>
          <p:cNvSpPr/>
          <p:nvPr/>
        </p:nvSpPr>
        <p:spPr>
          <a:xfrm>
            <a:off x="9209211" y="4823716"/>
            <a:ext cx="939799" cy="541867"/>
          </a:xfrm>
          <a:prstGeom prst="ellipse">
            <a:avLst/>
          </a:prstGeom>
          <a:solidFill>
            <a:schemeClr val="accent5">
              <a:lumMod val="75000"/>
            </a:schemeClr>
          </a:solidFill>
          <a:ln>
            <a:solidFill>
              <a:schemeClr val="accent5">
                <a:lumMod val="75000"/>
              </a:schemeClr>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lnSpc>
                <a:spcPct val="90000"/>
              </a:lnSpc>
            </a:pPr>
            <a:r>
              <a:rPr lang="en-US" dirty="0">
                <a:solidFill>
                  <a:schemeClr val="tx1"/>
                </a:solidFill>
              </a:rPr>
              <a:t>driver</a:t>
            </a:r>
          </a:p>
        </p:txBody>
      </p:sp>
      <p:cxnSp>
        <p:nvCxnSpPr>
          <p:cNvPr id="75" name="Curved Connector 74">
            <a:extLst>
              <a:ext uri="{FF2B5EF4-FFF2-40B4-BE49-F238E27FC236}">
                <a16:creationId xmlns:a16="http://schemas.microsoft.com/office/drawing/2014/main" id="{E847AD42-38EB-F041-8F86-32E104FE8FDF}"/>
              </a:ext>
            </a:extLst>
          </p:cNvPr>
          <p:cNvCxnSpPr>
            <a:stCxn id="73" idx="2"/>
          </p:cNvCxnSpPr>
          <p:nvPr/>
        </p:nvCxnSpPr>
        <p:spPr>
          <a:xfrm rot="10800000" flipV="1">
            <a:off x="8983127" y="5094649"/>
            <a:ext cx="226085" cy="533399"/>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1" name="Curved Connector 80">
            <a:extLst>
              <a:ext uri="{FF2B5EF4-FFF2-40B4-BE49-F238E27FC236}">
                <a16:creationId xmlns:a16="http://schemas.microsoft.com/office/drawing/2014/main" id="{9B3F9AD8-0AA2-7345-8095-8CB40DEF40E1}"/>
              </a:ext>
            </a:extLst>
          </p:cNvPr>
          <p:cNvCxnSpPr>
            <a:cxnSpLocks/>
            <a:endCxn id="73" idx="6"/>
          </p:cNvCxnSpPr>
          <p:nvPr/>
        </p:nvCxnSpPr>
        <p:spPr>
          <a:xfrm rot="16200000" flipH="1">
            <a:off x="8992679" y="3938319"/>
            <a:ext cx="2273768" cy="38894"/>
          </a:xfrm>
          <a:prstGeom prst="curvedConnector4">
            <a:avLst>
              <a:gd name="adj1" fmla="val 6805"/>
              <a:gd name="adj2" fmla="val 1863254"/>
            </a:avLst>
          </a:prstGeom>
          <a:ln>
            <a:prstDash val="sysDash"/>
            <a:tailEnd type="triangle"/>
          </a:ln>
        </p:spPr>
        <p:style>
          <a:lnRef idx="1">
            <a:schemeClr val="accent4"/>
          </a:lnRef>
          <a:fillRef idx="0">
            <a:schemeClr val="accent4"/>
          </a:fillRef>
          <a:effectRef idx="0">
            <a:schemeClr val="accent4"/>
          </a:effectRef>
          <a:fontRef idx="minor">
            <a:schemeClr val="tx1"/>
          </a:fontRef>
        </p:style>
      </p:cxnSp>
      <p:sp>
        <p:nvSpPr>
          <p:cNvPr id="85" name="Oval 84">
            <a:extLst>
              <a:ext uri="{FF2B5EF4-FFF2-40B4-BE49-F238E27FC236}">
                <a16:creationId xmlns:a16="http://schemas.microsoft.com/office/drawing/2014/main" id="{85C20A78-026D-A540-8D67-5B41C1D07DAE}"/>
              </a:ext>
            </a:extLst>
          </p:cNvPr>
          <p:cNvSpPr/>
          <p:nvPr/>
        </p:nvSpPr>
        <p:spPr>
          <a:xfrm>
            <a:off x="8331200" y="2380613"/>
            <a:ext cx="186267" cy="218654"/>
          </a:xfrm>
          <a:prstGeom prst="ellipse">
            <a:avLst/>
          </a:prstGeom>
          <a:solidFill>
            <a:schemeClr val="accent4">
              <a:lumMod val="60000"/>
              <a:lumOff val="40000"/>
            </a:schemeClr>
          </a:solidFill>
          <a:ln>
            <a:solidFill>
              <a:schemeClr val="accent4">
                <a:lumMod val="60000"/>
                <a:lumOff val="40000"/>
              </a:schemeClr>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lnSpc>
                <a:spcPct val="90000"/>
              </a:lnSpc>
            </a:pPr>
            <a:endParaRPr lang="en-US" dirty="0">
              <a:solidFill>
                <a:schemeClr val="tx1"/>
              </a:solidFill>
            </a:endParaRPr>
          </a:p>
        </p:txBody>
      </p:sp>
      <p:cxnSp>
        <p:nvCxnSpPr>
          <p:cNvPr id="97" name="Straight Arrow Connector 96">
            <a:extLst>
              <a:ext uri="{FF2B5EF4-FFF2-40B4-BE49-F238E27FC236}">
                <a16:creationId xmlns:a16="http://schemas.microsoft.com/office/drawing/2014/main" id="{2C91ABF6-2D03-4C44-B9FF-F1F2B192E963}"/>
              </a:ext>
            </a:extLst>
          </p:cNvPr>
          <p:cNvCxnSpPr>
            <a:stCxn id="73" idx="0"/>
          </p:cNvCxnSpPr>
          <p:nvPr/>
        </p:nvCxnSpPr>
        <p:spPr>
          <a:xfrm flipV="1">
            <a:off x="9679111" y="4360333"/>
            <a:ext cx="6754" cy="4633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9" name="Title 1">
            <a:extLst>
              <a:ext uri="{FF2B5EF4-FFF2-40B4-BE49-F238E27FC236}">
                <a16:creationId xmlns:a16="http://schemas.microsoft.com/office/drawing/2014/main" id="{0087BD33-70F0-2C46-B0E3-8296A066D74A}"/>
              </a:ext>
            </a:extLst>
          </p:cNvPr>
          <p:cNvSpPr txBox="1">
            <a:spLocks/>
          </p:cNvSpPr>
          <p:nvPr/>
        </p:nvSpPr>
        <p:spPr bwMode="auto">
          <a:xfrm>
            <a:off x="408175" y="203464"/>
            <a:ext cx="11372473" cy="91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0" indent="0" algn="l" rtl="0" eaLnBrk="1" fontAlgn="base" hangingPunct="1">
              <a:lnSpc>
                <a:spcPct val="85000"/>
              </a:lnSpc>
              <a:spcBef>
                <a:spcPct val="0"/>
              </a:spcBef>
              <a:spcAft>
                <a:spcPct val="0"/>
              </a:spcAft>
              <a:defRPr sz="2800" b="1" kern="1200" baseline="0">
                <a:solidFill>
                  <a:schemeClr val="tx1"/>
                </a:solidFill>
                <a:latin typeface="+mn-lt"/>
                <a:ea typeface="+mj-ea"/>
                <a:cs typeface="+mj-cs"/>
              </a:defRPr>
            </a:lvl1pPr>
            <a:lvl2pPr algn="l" rtl="0" eaLnBrk="1" fontAlgn="base" hangingPunct="1">
              <a:lnSpc>
                <a:spcPct val="85000"/>
              </a:lnSpc>
              <a:spcBef>
                <a:spcPct val="0"/>
              </a:spcBef>
              <a:spcAft>
                <a:spcPct val="0"/>
              </a:spcAft>
              <a:defRPr sz="3000">
                <a:solidFill>
                  <a:srgbClr val="006C3A"/>
                </a:solidFill>
                <a:latin typeface="Arial Black" pitchFamily="34" charset="0"/>
              </a:defRPr>
            </a:lvl2pPr>
            <a:lvl3pPr algn="l" rtl="0" eaLnBrk="1" fontAlgn="base" hangingPunct="1">
              <a:lnSpc>
                <a:spcPct val="85000"/>
              </a:lnSpc>
              <a:spcBef>
                <a:spcPct val="0"/>
              </a:spcBef>
              <a:spcAft>
                <a:spcPct val="0"/>
              </a:spcAft>
              <a:defRPr sz="3000">
                <a:solidFill>
                  <a:srgbClr val="006C3A"/>
                </a:solidFill>
                <a:latin typeface="Arial Black" pitchFamily="34" charset="0"/>
              </a:defRPr>
            </a:lvl3pPr>
            <a:lvl4pPr algn="l" rtl="0" eaLnBrk="1" fontAlgn="base" hangingPunct="1">
              <a:lnSpc>
                <a:spcPct val="85000"/>
              </a:lnSpc>
              <a:spcBef>
                <a:spcPct val="0"/>
              </a:spcBef>
              <a:spcAft>
                <a:spcPct val="0"/>
              </a:spcAft>
              <a:defRPr sz="3000">
                <a:solidFill>
                  <a:srgbClr val="006C3A"/>
                </a:solidFill>
                <a:latin typeface="Arial Black" pitchFamily="34" charset="0"/>
              </a:defRPr>
            </a:lvl4pPr>
            <a:lvl5pPr algn="l" rtl="0" eaLnBrk="1" fontAlgn="base" hangingPunct="1">
              <a:lnSpc>
                <a:spcPct val="85000"/>
              </a:lnSpc>
              <a:spcBef>
                <a:spcPct val="0"/>
              </a:spcBef>
              <a:spcAft>
                <a:spcPct val="0"/>
              </a:spcAft>
              <a:defRPr sz="3000">
                <a:solidFill>
                  <a:srgbClr val="006C3A"/>
                </a:solidFill>
                <a:latin typeface="Arial Black" pitchFamily="34" charset="0"/>
              </a:defRPr>
            </a:lvl5pPr>
            <a:lvl6pPr marL="457200" algn="l" rtl="0" eaLnBrk="1" fontAlgn="base" hangingPunct="1">
              <a:lnSpc>
                <a:spcPct val="85000"/>
              </a:lnSpc>
              <a:spcBef>
                <a:spcPct val="0"/>
              </a:spcBef>
              <a:spcAft>
                <a:spcPct val="0"/>
              </a:spcAft>
              <a:defRPr sz="3000">
                <a:solidFill>
                  <a:srgbClr val="006C3A"/>
                </a:solidFill>
                <a:latin typeface="Arial Black" pitchFamily="34" charset="0"/>
              </a:defRPr>
            </a:lvl6pPr>
            <a:lvl7pPr marL="914400" algn="l" rtl="0" eaLnBrk="1" fontAlgn="base" hangingPunct="1">
              <a:lnSpc>
                <a:spcPct val="85000"/>
              </a:lnSpc>
              <a:spcBef>
                <a:spcPct val="0"/>
              </a:spcBef>
              <a:spcAft>
                <a:spcPct val="0"/>
              </a:spcAft>
              <a:defRPr sz="3000">
                <a:solidFill>
                  <a:srgbClr val="006C3A"/>
                </a:solidFill>
                <a:latin typeface="Arial Black" pitchFamily="34" charset="0"/>
              </a:defRPr>
            </a:lvl7pPr>
            <a:lvl8pPr marL="1371600" algn="l" rtl="0" eaLnBrk="1" fontAlgn="base" hangingPunct="1">
              <a:lnSpc>
                <a:spcPct val="85000"/>
              </a:lnSpc>
              <a:spcBef>
                <a:spcPct val="0"/>
              </a:spcBef>
              <a:spcAft>
                <a:spcPct val="0"/>
              </a:spcAft>
              <a:defRPr sz="3000">
                <a:solidFill>
                  <a:srgbClr val="006C3A"/>
                </a:solidFill>
                <a:latin typeface="Arial Black" pitchFamily="34" charset="0"/>
              </a:defRPr>
            </a:lvl8pPr>
            <a:lvl9pPr marL="1828800" algn="l" rtl="0" eaLnBrk="1" fontAlgn="base" hangingPunct="1">
              <a:lnSpc>
                <a:spcPct val="85000"/>
              </a:lnSpc>
              <a:spcBef>
                <a:spcPct val="0"/>
              </a:spcBef>
              <a:spcAft>
                <a:spcPct val="0"/>
              </a:spcAft>
              <a:defRPr sz="3000">
                <a:solidFill>
                  <a:srgbClr val="006C3A"/>
                </a:solidFill>
                <a:latin typeface="Arial Black" pitchFamily="34" charset="0"/>
              </a:defRPr>
            </a:lvl9pPr>
          </a:lstStyle>
          <a:p>
            <a:r>
              <a:rPr lang="en-US" dirty="0"/>
              <a:t>Mixed Clear/Opaque Box Testing For a Legacy Code</a:t>
            </a:r>
          </a:p>
        </p:txBody>
      </p:sp>
    </p:spTree>
    <p:custDataLst>
      <p:tags r:id="rId1"/>
    </p:custDataLst>
    <p:extLst>
      <p:ext uri="{BB962C8B-B14F-4D97-AF65-F5344CB8AC3E}">
        <p14:creationId xmlns:p14="http://schemas.microsoft.com/office/powerpoint/2010/main" val="551711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2.02917E-6 -3.7037E-6 L -0.06382 0.3169 " pathEditMode="relative" rAng="0" ptsTypes="AA">
                                      <p:cBhvr>
                                        <p:cTn id="6" dur="2000" fill="hold"/>
                                        <p:tgtEl>
                                          <p:spTgt spid="66"/>
                                        </p:tgtEl>
                                        <p:attrNameLst>
                                          <p:attrName>ppt_x</p:attrName>
                                          <p:attrName>ppt_y</p:attrName>
                                        </p:attrNameLst>
                                      </p:cBhvr>
                                      <p:rCtr x="-3191" y="15833"/>
                                    </p:animMotion>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1" nodeType="clickEffect">
                                  <p:stCondLst>
                                    <p:cond delay="0"/>
                                  </p:stCondLst>
                                  <p:childTnLst>
                                    <p:set>
                                      <p:cBhvr>
                                        <p:cTn id="22" dur="1" fill="hold">
                                          <p:stCondLst>
                                            <p:cond delay="0"/>
                                          </p:stCondLst>
                                        </p:cTn>
                                        <p:tgtEl>
                                          <p:spTgt spid="8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0" presetClass="path" presetSubtype="0" accel="50000" decel="50000" fill="hold" grpId="0" nodeType="clickEffect">
                                  <p:stCondLst>
                                    <p:cond delay="0"/>
                                  </p:stCondLst>
                                  <p:childTnLst>
                                    <p:animMotion origin="layout" path="M 0.00221 -0.00741 L 0.11265 0.41944 " pathEditMode="relative" ptsTypes="AA">
                                      <p:cBhvr>
                                        <p:cTn id="26" dur="2000" fill="hold"/>
                                        <p:tgtEl>
                                          <p:spTgt spid="85"/>
                                        </p:tgtEl>
                                        <p:attrNameLst>
                                          <p:attrName>ppt_x</p:attrName>
                                          <p:attrName>ppt_y</p:attrName>
                                        </p:attrNameLst>
                                      </p:cBhvr>
                                    </p:animMotion>
                                  </p:childTnLst>
                                </p:cTn>
                              </p:par>
                            </p:childTnLst>
                          </p:cTn>
                        </p:par>
                      </p:childTnLst>
                    </p:cTn>
                  </p:par>
                  <p:par>
                    <p:cTn id="27" fill="hold">
                      <p:stCondLst>
                        <p:cond delay="indefinite"/>
                      </p:stCondLst>
                      <p:childTnLst>
                        <p:par>
                          <p:cTn id="28" fill="hold">
                            <p:stCondLst>
                              <p:cond delay="0"/>
                            </p:stCondLst>
                            <p:childTnLst>
                              <p:par>
                                <p:cTn id="29" presetID="0" presetClass="path" presetSubtype="0" accel="50000" decel="50000" fill="hold" grpId="1" nodeType="clickEffect">
                                  <p:stCondLst>
                                    <p:cond delay="0"/>
                                  </p:stCondLst>
                                  <p:childTnLst>
                                    <p:animMotion origin="layout" path="M 0 0 L 0 0.13009 " pathEditMode="relative" ptsTypes="AA">
                                      <p:cBhvr>
                                        <p:cTn id="30" dur="2000" fill="hold"/>
                                        <p:tgtEl>
                                          <p:spTgt spid="72"/>
                                        </p:tgtEl>
                                        <p:attrNameLst>
                                          <p:attrName>ppt_x</p:attrName>
                                          <p:attrName>ppt_y</p:attrName>
                                        </p:attrNameLst>
                                      </p:cBhvr>
                                    </p:animMotion>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 grpId="0" animBg="1"/>
      <p:bldP spid="72" grpId="0" animBg="1"/>
      <p:bldP spid="72" grpId="1" animBg="1"/>
      <p:bldP spid="73" grpId="0" animBg="1"/>
      <p:bldP spid="85" grpId="0" animBg="1"/>
      <p:bldP spid="85" grpId="1"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969AAFBA-E7D9-0542-BEAD-C2722F011739}"/>
              </a:ext>
            </a:extLst>
          </p:cNvPr>
          <p:cNvSpPr txBox="1">
            <a:spLocks/>
          </p:cNvSpPr>
          <p:nvPr/>
        </p:nvSpPr>
        <p:spPr>
          <a:xfrm>
            <a:off x="608719" y="1128060"/>
            <a:ext cx="8650062" cy="550134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Wingdings" panose="05000000000000000000" pitchFamily="2" charset="2"/>
              <a:buNone/>
              <a:defRPr sz="2800" kern="1200">
                <a:solidFill>
                  <a:schemeClr val="tx1">
                    <a:tint val="75000"/>
                  </a:schemeClr>
                </a:solidFill>
                <a:latin typeface="Arial" panose="020B0604020202020204" pitchFamily="34" charset="0"/>
                <a:ea typeface="+mn-ea"/>
                <a:cs typeface="Arial" panose="020B0604020202020204" pitchFamily="34" charset="0"/>
              </a:defRPr>
            </a:lvl1pPr>
            <a:lvl2pPr marL="342900" indent="0" algn="ctr" defTabSz="914400" rtl="0" eaLnBrk="1" latinLnBrk="0" hangingPunct="1">
              <a:spcBef>
                <a:spcPct val="20000"/>
              </a:spcBef>
              <a:buFont typeface="Wingdings" panose="05000000000000000000" pitchFamily="2" charset="2"/>
              <a:buNone/>
              <a:defRPr sz="2400" kern="1200">
                <a:solidFill>
                  <a:schemeClr val="tx1">
                    <a:tint val="75000"/>
                  </a:schemeClr>
                </a:solidFill>
                <a:latin typeface="Arial" panose="020B0604020202020204" pitchFamily="34" charset="0"/>
                <a:ea typeface="+mn-ea"/>
                <a:cs typeface="Arial" panose="020B0604020202020204" pitchFamily="34" charset="0"/>
              </a:defRPr>
            </a:lvl2pPr>
            <a:lvl3pPr marL="685800" indent="0" algn="ctr" defTabSz="914400" rtl="0" eaLnBrk="1" latinLnBrk="0" hangingPunct="1">
              <a:spcBef>
                <a:spcPct val="20000"/>
              </a:spcBef>
              <a:buFont typeface="Wingdings" panose="05000000000000000000" pitchFamily="2" charset="2"/>
              <a:buNone/>
              <a:defRPr sz="2000" kern="1200">
                <a:solidFill>
                  <a:schemeClr val="tx1">
                    <a:tint val="75000"/>
                  </a:schemeClr>
                </a:solidFill>
                <a:latin typeface="Arial" panose="020B0604020202020204" pitchFamily="34" charset="0"/>
                <a:ea typeface="+mn-ea"/>
                <a:cs typeface="Arial" panose="020B0604020202020204" pitchFamily="34" charset="0"/>
              </a:defRPr>
            </a:lvl3pPr>
            <a:lvl4pPr marL="1028700" indent="0" algn="ctr" defTabSz="914400" rtl="0" eaLnBrk="1" latinLnBrk="0" hangingPunct="1">
              <a:spcBef>
                <a:spcPct val="20000"/>
              </a:spcBef>
              <a:buFont typeface="Wingdings" panose="05000000000000000000" pitchFamily="2" charset="2"/>
              <a:buNone/>
              <a:defRPr sz="1800" kern="1200">
                <a:solidFill>
                  <a:schemeClr val="tx1">
                    <a:tint val="75000"/>
                  </a:schemeClr>
                </a:solidFill>
                <a:latin typeface="Arial" panose="020B0604020202020204" pitchFamily="34" charset="0"/>
                <a:ea typeface="+mn-ea"/>
                <a:cs typeface="Arial" panose="020B0604020202020204" pitchFamily="34" charset="0"/>
              </a:defRPr>
            </a:lvl4pPr>
            <a:lvl5pPr marL="1371600" indent="0" algn="ctr" defTabSz="914400" rtl="0" eaLnBrk="1" latinLnBrk="0" hangingPunct="1">
              <a:spcBef>
                <a:spcPct val="20000"/>
              </a:spcBef>
              <a:buFont typeface="Wingdings" panose="05000000000000000000" pitchFamily="2" charset="2"/>
              <a:buNone/>
              <a:defRPr sz="1800" kern="1200">
                <a:solidFill>
                  <a:schemeClr val="tx1">
                    <a:tint val="75000"/>
                  </a:schemeClr>
                </a:solidFill>
                <a:latin typeface="Arial" panose="020B0604020202020204" pitchFamily="34" charset="0"/>
                <a:ea typeface="+mn-ea"/>
                <a:cs typeface="Arial" panose="020B0604020202020204" pitchFamily="34" charset="0"/>
              </a:defRPr>
            </a:lvl5pPr>
            <a:lvl6pPr marL="17145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057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24003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marL="457200" indent="-457200" algn="l">
              <a:buFont typeface="Wingdings" pitchFamily="2" charset="2"/>
              <a:buChar char="q"/>
            </a:pPr>
            <a:endParaRPr lang="en-US" dirty="0"/>
          </a:p>
          <a:p>
            <a:pPr marL="457200" indent="-457200" algn="l">
              <a:buFont typeface="Wingdings" pitchFamily="2" charset="2"/>
              <a:buChar char="q"/>
            </a:pPr>
            <a:endParaRPr lang="en-US" dirty="0"/>
          </a:p>
          <a:p>
            <a:pPr marL="457200" indent="-457200" algn="l">
              <a:buFont typeface="Wingdings" pitchFamily="2" charset="2"/>
              <a:buChar char="q"/>
            </a:pPr>
            <a:endParaRPr lang="en-US" dirty="0"/>
          </a:p>
          <a:p>
            <a:pPr marL="457200" indent="-457200" algn="l">
              <a:buFont typeface="Wingdings" pitchFamily="2" charset="2"/>
              <a:buChar char="q"/>
            </a:pPr>
            <a:endParaRPr lang="en-US" dirty="0"/>
          </a:p>
          <a:p>
            <a:pPr marL="457200" indent="-457200" algn="l">
              <a:buFont typeface="Wingdings" pitchFamily="2" charset="2"/>
              <a:buChar char="q"/>
            </a:pPr>
            <a:endParaRPr lang="en-US" dirty="0"/>
          </a:p>
          <a:p>
            <a:pPr marL="457200" indent="-457200" algn="l">
              <a:buFont typeface="Wingdings" pitchFamily="2" charset="2"/>
              <a:buChar char="q"/>
            </a:pPr>
            <a:endParaRPr lang="en-US" dirty="0">
              <a:solidFill>
                <a:schemeClr val="tx1"/>
              </a:solidFill>
            </a:endParaRPr>
          </a:p>
          <a:p>
            <a:pPr marL="457200" indent="-457200" algn="l">
              <a:buFont typeface="Wingdings" pitchFamily="2" charset="2"/>
              <a:buChar char="q"/>
            </a:pPr>
            <a:endParaRPr lang="en-US" dirty="0">
              <a:solidFill>
                <a:schemeClr val="tx1"/>
              </a:solidFill>
            </a:endParaRPr>
          </a:p>
          <a:p>
            <a:pPr algn="l"/>
            <a:endParaRPr lang="en-US" dirty="0">
              <a:solidFill>
                <a:schemeClr val="tx1"/>
              </a:solidFill>
            </a:endParaRPr>
          </a:p>
        </p:txBody>
      </p:sp>
      <p:grpSp>
        <p:nvGrpSpPr>
          <p:cNvPr id="2" name="Group 1">
            <a:extLst>
              <a:ext uri="{FF2B5EF4-FFF2-40B4-BE49-F238E27FC236}">
                <a16:creationId xmlns:a16="http://schemas.microsoft.com/office/drawing/2014/main" id="{F7D43C75-6652-9D43-A7CD-0183D0CEBCD5}"/>
              </a:ext>
            </a:extLst>
          </p:cNvPr>
          <p:cNvGrpSpPr/>
          <p:nvPr/>
        </p:nvGrpSpPr>
        <p:grpSpPr>
          <a:xfrm>
            <a:off x="608157" y="2416928"/>
            <a:ext cx="6067194" cy="2923603"/>
            <a:chOff x="2176244" y="1817067"/>
            <a:chExt cx="4826771" cy="3142742"/>
          </a:xfrm>
        </p:grpSpPr>
        <p:sp>
          <p:nvSpPr>
            <p:cNvPr id="7" name="Oval 6"/>
            <p:cNvSpPr/>
            <p:nvPr/>
          </p:nvSpPr>
          <p:spPr>
            <a:xfrm>
              <a:off x="3546363" y="1817067"/>
              <a:ext cx="1996168" cy="1001146"/>
            </a:xfrm>
            <a:prstGeom prst="ellipse">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75" dirty="0">
                  <a:solidFill>
                    <a:schemeClr val="tx1"/>
                  </a:solidFill>
                </a:rPr>
                <a:t>More Scientific Understanding</a:t>
              </a:r>
            </a:p>
          </p:txBody>
        </p:sp>
        <p:sp>
          <p:nvSpPr>
            <p:cNvPr id="14" name="Oval 13"/>
            <p:cNvSpPr/>
            <p:nvPr/>
          </p:nvSpPr>
          <p:spPr>
            <a:xfrm>
              <a:off x="5349748" y="2965465"/>
              <a:ext cx="1653267" cy="1001145"/>
            </a:xfrm>
            <a:prstGeom prst="ellipse">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75" dirty="0">
                  <a:solidFill>
                    <a:schemeClr val="tx1"/>
                  </a:solidFill>
                </a:rPr>
                <a:t>Higher Fidelity</a:t>
              </a:r>
            </a:p>
            <a:p>
              <a:pPr algn="ctr"/>
              <a:r>
                <a:rPr lang="en-US" sz="1575" dirty="0">
                  <a:solidFill>
                    <a:schemeClr val="tx1"/>
                  </a:solidFill>
                </a:rPr>
                <a:t>Model</a:t>
              </a:r>
            </a:p>
          </p:txBody>
        </p:sp>
        <p:sp>
          <p:nvSpPr>
            <p:cNvPr id="15" name="Oval 14"/>
            <p:cNvSpPr/>
            <p:nvPr/>
          </p:nvSpPr>
          <p:spPr>
            <a:xfrm>
              <a:off x="3576979" y="3958663"/>
              <a:ext cx="1996168" cy="1001146"/>
            </a:xfrm>
            <a:prstGeom prst="ellipse">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75" dirty="0">
                  <a:solidFill>
                    <a:schemeClr val="tx1"/>
                  </a:solidFill>
                </a:rPr>
                <a:t>More Diverse</a:t>
              </a:r>
            </a:p>
            <a:p>
              <a:pPr algn="ctr"/>
              <a:r>
                <a:rPr lang="en-US" sz="1575" dirty="0">
                  <a:solidFill>
                    <a:schemeClr val="tx1"/>
                  </a:solidFill>
                </a:rPr>
                <a:t>Solvers</a:t>
              </a:r>
            </a:p>
          </p:txBody>
        </p:sp>
        <p:sp>
          <p:nvSpPr>
            <p:cNvPr id="16" name="Oval 15"/>
            <p:cNvSpPr/>
            <p:nvPr/>
          </p:nvSpPr>
          <p:spPr>
            <a:xfrm>
              <a:off x="2176244" y="2965464"/>
              <a:ext cx="1653268" cy="1001146"/>
            </a:xfrm>
            <a:prstGeom prst="ellipse">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75" dirty="0">
                  <a:solidFill>
                    <a:schemeClr val="tx1"/>
                  </a:solidFill>
                </a:rPr>
                <a:t>More Hardware </a:t>
              </a:r>
            </a:p>
            <a:p>
              <a:pPr algn="ctr"/>
              <a:r>
                <a:rPr lang="en-US" sz="1575" dirty="0">
                  <a:solidFill>
                    <a:schemeClr val="tx1"/>
                  </a:solidFill>
                </a:rPr>
                <a:t>Resources</a:t>
              </a:r>
            </a:p>
          </p:txBody>
        </p:sp>
        <p:cxnSp>
          <p:nvCxnSpPr>
            <p:cNvPr id="18" name="Curved Connector 17"/>
            <p:cNvCxnSpPr>
              <a:cxnSpLocks/>
              <a:stCxn id="7" idx="6"/>
              <a:endCxn id="14" idx="0"/>
            </p:cNvCxnSpPr>
            <p:nvPr/>
          </p:nvCxnSpPr>
          <p:spPr>
            <a:xfrm>
              <a:off x="5542531" y="2317640"/>
              <a:ext cx="633851" cy="647825"/>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urved Connector 19"/>
            <p:cNvCxnSpPr>
              <a:cxnSpLocks/>
              <a:stCxn id="14" idx="4"/>
              <a:endCxn id="15" idx="6"/>
            </p:cNvCxnSpPr>
            <p:nvPr/>
          </p:nvCxnSpPr>
          <p:spPr>
            <a:xfrm rot="5400000">
              <a:off x="5628452" y="3911307"/>
              <a:ext cx="492626" cy="603235"/>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urved Connector 21"/>
            <p:cNvCxnSpPr>
              <a:stCxn id="15" idx="2"/>
              <a:endCxn id="16" idx="4"/>
            </p:cNvCxnSpPr>
            <p:nvPr/>
          </p:nvCxnSpPr>
          <p:spPr>
            <a:xfrm rot="10800000">
              <a:off x="3002879" y="3966610"/>
              <a:ext cx="574101" cy="492627"/>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Curved Connector 23"/>
            <p:cNvCxnSpPr>
              <a:stCxn id="16" idx="0"/>
              <a:endCxn id="7" idx="2"/>
            </p:cNvCxnSpPr>
            <p:nvPr/>
          </p:nvCxnSpPr>
          <p:spPr>
            <a:xfrm rot="5400000" flipH="1" flipV="1">
              <a:off x="2950708" y="2369811"/>
              <a:ext cx="647823" cy="543485"/>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cxnSpLocks/>
              <a:stCxn id="14" idx="2"/>
              <a:endCxn id="16" idx="6"/>
            </p:cNvCxnSpPr>
            <p:nvPr/>
          </p:nvCxnSpPr>
          <p:spPr>
            <a:xfrm flipH="1" flipV="1">
              <a:off x="3829512" y="3466037"/>
              <a:ext cx="1520236" cy="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673FEECD-EE88-E040-895C-0240D635E635}"/>
              </a:ext>
            </a:extLst>
          </p:cNvPr>
          <p:cNvGrpSpPr/>
          <p:nvPr/>
        </p:nvGrpSpPr>
        <p:grpSpPr>
          <a:xfrm>
            <a:off x="7013943" y="2416928"/>
            <a:ext cx="4265142" cy="3524330"/>
            <a:chOff x="6979801" y="729343"/>
            <a:chExt cx="4265142" cy="3524330"/>
          </a:xfrm>
        </p:grpSpPr>
        <p:cxnSp>
          <p:nvCxnSpPr>
            <p:cNvPr id="9" name="Straight Arrow Connector 8">
              <a:extLst>
                <a:ext uri="{FF2B5EF4-FFF2-40B4-BE49-F238E27FC236}">
                  <a16:creationId xmlns:a16="http://schemas.microsoft.com/office/drawing/2014/main" id="{74C943FE-45EB-EF4A-A9C9-DBCCA64BE107}"/>
                </a:ext>
              </a:extLst>
            </p:cNvPr>
            <p:cNvCxnSpPr/>
            <p:nvPr/>
          </p:nvCxnSpPr>
          <p:spPr>
            <a:xfrm>
              <a:off x="7402286" y="3725330"/>
              <a:ext cx="384265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1" name="Straight Arrow Connector 10">
              <a:extLst>
                <a:ext uri="{FF2B5EF4-FFF2-40B4-BE49-F238E27FC236}">
                  <a16:creationId xmlns:a16="http://schemas.microsoft.com/office/drawing/2014/main" id="{9EE4B5B6-D325-DA4A-9BFD-BCFD54BA1E1E}"/>
                </a:ext>
              </a:extLst>
            </p:cNvPr>
            <p:cNvCxnSpPr/>
            <p:nvPr/>
          </p:nvCxnSpPr>
          <p:spPr>
            <a:xfrm flipV="1">
              <a:off x="7424057" y="729343"/>
              <a:ext cx="0" cy="299598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3" name="TextBox 12">
              <a:extLst>
                <a:ext uri="{FF2B5EF4-FFF2-40B4-BE49-F238E27FC236}">
                  <a16:creationId xmlns:a16="http://schemas.microsoft.com/office/drawing/2014/main" id="{4D803AAA-CB4F-1144-8B15-F5B2C8FB7A51}"/>
                </a:ext>
              </a:extLst>
            </p:cNvPr>
            <p:cNvSpPr txBox="1"/>
            <p:nvPr/>
          </p:nvSpPr>
          <p:spPr>
            <a:xfrm>
              <a:off x="8290189" y="3819708"/>
              <a:ext cx="2253437" cy="433965"/>
            </a:xfrm>
            <a:prstGeom prst="rect">
              <a:avLst/>
            </a:prstGeom>
            <a:noFill/>
          </p:spPr>
          <p:txBody>
            <a:bodyPr wrap="none" lIns="118872" tIns="91440" rIns="118872" bIns="91440" rtlCol="0" anchor="ctr" anchorCtr="0">
              <a:spAutoFit/>
            </a:bodyPr>
            <a:lstStyle/>
            <a:p>
              <a:pPr algn="l">
                <a:lnSpc>
                  <a:spcPct val="90000"/>
                </a:lnSpc>
              </a:pPr>
              <a:r>
                <a:rPr lang="en-US" dirty="0"/>
                <a:t>Platform complexity</a:t>
              </a:r>
            </a:p>
          </p:txBody>
        </p:sp>
        <p:sp>
          <p:nvSpPr>
            <p:cNvPr id="25" name="TextBox 24">
              <a:extLst>
                <a:ext uri="{FF2B5EF4-FFF2-40B4-BE49-F238E27FC236}">
                  <a16:creationId xmlns:a16="http://schemas.microsoft.com/office/drawing/2014/main" id="{1F2B8E5A-6747-6840-9AB5-298CEE998CFB}"/>
                </a:ext>
              </a:extLst>
            </p:cNvPr>
            <p:cNvSpPr txBox="1"/>
            <p:nvPr/>
          </p:nvSpPr>
          <p:spPr>
            <a:xfrm rot="-5400000">
              <a:off x="6046587" y="2061274"/>
              <a:ext cx="2304733" cy="438305"/>
            </a:xfrm>
            <a:prstGeom prst="rect">
              <a:avLst/>
            </a:prstGeom>
            <a:noFill/>
          </p:spPr>
          <p:txBody>
            <a:bodyPr wrap="square" lIns="118872" tIns="91440" rIns="118872" bIns="91440" rtlCol="0" anchor="ctr" anchorCtr="0">
              <a:spAutoFit/>
            </a:bodyPr>
            <a:lstStyle/>
            <a:p>
              <a:pPr algn="l">
                <a:lnSpc>
                  <a:spcPct val="90000"/>
                </a:lnSpc>
              </a:pPr>
              <a:r>
                <a:rPr lang="en-US" dirty="0"/>
                <a:t>Software complexity</a:t>
              </a:r>
            </a:p>
          </p:txBody>
        </p:sp>
        <p:cxnSp>
          <p:nvCxnSpPr>
            <p:cNvPr id="27" name="Straight Connector 26">
              <a:extLst>
                <a:ext uri="{FF2B5EF4-FFF2-40B4-BE49-F238E27FC236}">
                  <a16:creationId xmlns:a16="http://schemas.microsoft.com/office/drawing/2014/main" id="{F0944214-B922-DE4E-8201-F097C1607D13}"/>
                </a:ext>
              </a:extLst>
            </p:cNvPr>
            <p:cNvCxnSpPr/>
            <p:nvPr/>
          </p:nvCxnSpPr>
          <p:spPr>
            <a:xfrm flipV="1">
              <a:off x="7871254" y="1865870"/>
              <a:ext cx="271849" cy="1401184"/>
            </a:xfrm>
            <a:prstGeom prst="line">
              <a:avLst/>
            </a:prstGeom>
            <a:ln w="571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46CC992-F868-F041-8AF1-1C98255A058E}"/>
                </a:ext>
              </a:extLst>
            </p:cNvPr>
            <p:cNvCxnSpPr>
              <a:cxnSpLocks/>
            </p:cNvCxnSpPr>
            <p:nvPr/>
          </p:nvCxnSpPr>
          <p:spPr>
            <a:xfrm flipV="1">
              <a:off x="8113046" y="868682"/>
              <a:ext cx="2759259" cy="1012232"/>
            </a:xfrm>
            <a:prstGeom prst="line">
              <a:avLst/>
            </a:prstGeom>
            <a:ln w="53975">
              <a:solidFill>
                <a:srgbClr val="7030A0"/>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35D10778-614C-0842-B0F5-17C22D27A489}"/>
                </a:ext>
              </a:extLst>
            </p:cNvPr>
            <p:cNvSpPr txBox="1"/>
            <p:nvPr/>
          </p:nvSpPr>
          <p:spPr>
            <a:xfrm>
              <a:off x="8063618" y="1663931"/>
              <a:ext cx="271849" cy="433965"/>
            </a:xfrm>
            <a:prstGeom prst="rect">
              <a:avLst/>
            </a:prstGeom>
            <a:noFill/>
          </p:spPr>
          <p:txBody>
            <a:bodyPr wrap="square" lIns="118872" tIns="91440" rIns="118872" bIns="91440" rtlCol="0" anchor="ctr" anchorCtr="0">
              <a:spAutoFit/>
            </a:bodyPr>
            <a:lstStyle/>
            <a:p>
              <a:pPr algn="l">
                <a:lnSpc>
                  <a:spcPct val="90000"/>
                </a:lnSpc>
              </a:pPr>
              <a:endParaRPr lang="en-US" dirty="0"/>
            </a:p>
          </p:txBody>
        </p:sp>
        <p:sp>
          <p:nvSpPr>
            <p:cNvPr id="32" name="TextBox 31">
              <a:extLst>
                <a:ext uri="{FF2B5EF4-FFF2-40B4-BE49-F238E27FC236}">
                  <a16:creationId xmlns:a16="http://schemas.microsoft.com/office/drawing/2014/main" id="{F5FBECCC-FDD4-DE4B-A88C-B7AF2B546EAE}"/>
                </a:ext>
              </a:extLst>
            </p:cNvPr>
            <p:cNvSpPr txBox="1"/>
            <p:nvPr/>
          </p:nvSpPr>
          <p:spPr>
            <a:xfrm>
              <a:off x="8453742" y="2528855"/>
              <a:ext cx="1407052" cy="932563"/>
            </a:xfrm>
            <a:prstGeom prst="rect">
              <a:avLst/>
            </a:prstGeom>
            <a:noFill/>
          </p:spPr>
          <p:txBody>
            <a:bodyPr wrap="none" lIns="118872" tIns="91440" rIns="118872" bIns="91440" rtlCol="0" anchor="ctr" anchorCtr="0">
              <a:spAutoFit/>
            </a:bodyPr>
            <a:lstStyle/>
            <a:p>
              <a:pPr algn="l">
                <a:lnSpc>
                  <a:spcPct val="90000"/>
                </a:lnSpc>
              </a:pPr>
              <a:r>
                <a:rPr lang="en-US" dirty="0"/>
                <a:t>Distributed </a:t>
              </a:r>
            </a:p>
            <a:p>
              <a:pPr algn="l">
                <a:lnSpc>
                  <a:spcPct val="90000"/>
                </a:lnSpc>
              </a:pPr>
              <a:r>
                <a:rPr lang="en-US" dirty="0"/>
                <a:t>memory</a:t>
              </a:r>
            </a:p>
            <a:p>
              <a:pPr algn="l">
                <a:lnSpc>
                  <a:spcPct val="90000"/>
                </a:lnSpc>
              </a:pPr>
              <a:r>
                <a:rPr lang="en-US" dirty="0"/>
                <a:t>model</a:t>
              </a:r>
            </a:p>
          </p:txBody>
        </p:sp>
        <p:sp>
          <p:nvSpPr>
            <p:cNvPr id="33" name="Left Arrow 32">
              <a:extLst>
                <a:ext uri="{FF2B5EF4-FFF2-40B4-BE49-F238E27FC236}">
                  <a16:creationId xmlns:a16="http://schemas.microsoft.com/office/drawing/2014/main" id="{6032F769-EB60-3346-ADD9-4B2D1BB53B93}"/>
                </a:ext>
              </a:extLst>
            </p:cNvPr>
            <p:cNvSpPr/>
            <p:nvPr/>
          </p:nvSpPr>
          <p:spPr>
            <a:xfrm>
              <a:off x="7990874" y="2889070"/>
              <a:ext cx="437831" cy="218824"/>
            </a:xfrm>
            <a:prstGeom prst="leftArrow">
              <a:avLst/>
            </a:prstGeom>
            <a:solidFill>
              <a:schemeClr val="accent4"/>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34" name="TextBox 33">
              <a:extLst>
                <a:ext uri="{FF2B5EF4-FFF2-40B4-BE49-F238E27FC236}">
                  <a16:creationId xmlns:a16="http://schemas.microsoft.com/office/drawing/2014/main" id="{C346DD6B-4509-764A-AE45-5F142DE3C708}"/>
                </a:ext>
              </a:extLst>
            </p:cNvPr>
            <p:cNvSpPr txBox="1"/>
            <p:nvPr/>
          </p:nvSpPr>
          <p:spPr>
            <a:xfrm>
              <a:off x="9327147" y="1554669"/>
              <a:ext cx="1817421" cy="683264"/>
            </a:xfrm>
            <a:prstGeom prst="rect">
              <a:avLst/>
            </a:prstGeom>
            <a:noFill/>
          </p:spPr>
          <p:txBody>
            <a:bodyPr wrap="none" lIns="118872" tIns="91440" rIns="118872" bIns="91440" rtlCol="0" anchor="ctr" anchorCtr="0">
              <a:spAutoFit/>
            </a:bodyPr>
            <a:lstStyle/>
            <a:p>
              <a:pPr algn="l">
                <a:lnSpc>
                  <a:spcPct val="90000"/>
                </a:lnSpc>
              </a:pPr>
              <a:r>
                <a:rPr lang="en-US" dirty="0"/>
                <a:t>Heterogeneous</a:t>
              </a:r>
            </a:p>
            <a:p>
              <a:pPr algn="l">
                <a:lnSpc>
                  <a:spcPct val="90000"/>
                </a:lnSpc>
              </a:pPr>
              <a:r>
                <a:rPr lang="en-US" dirty="0"/>
                <a:t>models</a:t>
              </a:r>
            </a:p>
          </p:txBody>
        </p:sp>
        <p:sp>
          <p:nvSpPr>
            <p:cNvPr id="36" name="Up Arrow 35">
              <a:extLst>
                <a:ext uri="{FF2B5EF4-FFF2-40B4-BE49-F238E27FC236}">
                  <a16:creationId xmlns:a16="http://schemas.microsoft.com/office/drawing/2014/main" id="{F0879347-097A-CF4B-B62B-6EAB93ABA995}"/>
                </a:ext>
              </a:extLst>
            </p:cNvPr>
            <p:cNvSpPr/>
            <p:nvPr/>
          </p:nvSpPr>
          <p:spPr>
            <a:xfrm>
              <a:off x="9980612" y="1267396"/>
              <a:ext cx="156950" cy="322396"/>
            </a:xfrm>
            <a:prstGeom prst="upArrow">
              <a:avLst/>
            </a:prstGeom>
            <a:solidFill>
              <a:schemeClr val="accent1">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grpSp>
      <p:sp>
        <p:nvSpPr>
          <p:cNvPr id="6" name="Title 1">
            <a:extLst>
              <a:ext uri="{FF2B5EF4-FFF2-40B4-BE49-F238E27FC236}">
                <a16:creationId xmlns:a16="http://schemas.microsoft.com/office/drawing/2014/main" id="{50E4DB40-020F-13AF-1116-399F2265801B}"/>
              </a:ext>
            </a:extLst>
          </p:cNvPr>
          <p:cNvSpPr txBox="1">
            <a:spLocks/>
          </p:cNvSpPr>
          <p:nvPr/>
        </p:nvSpPr>
        <p:spPr bwMode="auto">
          <a:xfrm>
            <a:off x="365760" y="421419"/>
            <a:ext cx="11372473" cy="91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0" indent="0" algn="l" rtl="0" eaLnBrk="1" fontAlgn="base" hangingPunct="1">
              <a:lnSpc>
                <a:spcPct val="85000"/>
              </a:lnSpc>
              <a:spcBef>
                <a:spcPct val="0"/>
              </a:spcBef>
              <a:spcAft>
                <a:spcPct val="0"/>
              </a:spcAft>
              <a:defRPr sz="2800" b="1" kern="1200" baseline="0">
                <a:solidFill>
                  <a:schemeClr val="tx1"/>
                </a:solidFill>
                <a:latin typeface="+mn-lt"/>
                <a:ea typeface="+mj-ea"/>
                <a:cs typeface="+mj-cs"/>
              </a:defRPr>
            </a:lvl1pPr>
            <a:lvl2pPr algn="l" rtl="0" eaLnBrk="1" fontAlgn="base" hangingPunct="1">
              <a:lnSpc>
                <a:spcPct val="85000"/>
              </a:lnSpc>
              <a:spcBef>
                <a:spcPct val="0"/>
              </a:spcBef>
              <a:spcAft>
                <a:spcPct val="0"/>
              </a:spcAft>
              <a:defRPr sz="3000">
                <a:solidFill>
                  <a:srgbClr val="006C3A"/>
                </a:solidFill>
                <a:latin typeface="Arial Black" pitchFamily="34" charset="0"/>
              </a:defRPr>
            </a:lvl2pPr>
            <a:lvl3pPr algn="l" rtl="0" eaLnBrk="1" fontAlgn="base" hangingPunct="1">
              <a:lnSpc>
                <a:spcPct val="85000"/>
              </a:lnSpc>
              <a:spcBef>
                <a:spcPct val="0"/>
              </a:spcBef>
              <a:spcAft>
                <a:spcPct val="0"/>
              </a:spcAft>
              <a:defRPr sz="3000">
                <a:solidFill>
                  <a:srgbClr val="006C3A"/>
                </a:solidFill>
                <a:latin typeface="Arial Black" pitchFamily="34" charset="0"/>
              </a:defRPr>
            </a:lvl3pPr>
            <a:lvl4pPr algn="l" rtl="0" eaLnBrk="1" fontAlgn="base" hangingPunct="1">
              <a:lnSpc>
                <a:spcPct val="85000"/>
              </a:lnSpc>
              <a:spcBef>
                <a:spcPct val="0"/>
              </a:spcBef>
              <a:spcAft>
                <a:spcPct val="0"/>
              </a:spcAft>
              <a:defRPr sz="3000">
                <a:solidFill>
                  <a:srgbClr val="006C3A"/>
                </a:solidFill>
                <a:latin typeface="Arial Black" pitchFamily="34" charset="0"/>
              </a:defRPr>
            </a:lvl4pPr>
            <a:lvl5pPr algn="l" rtl="0" eaLnBrk="1" fontAlgn="base" hangingPunct="1">
              <a:lnSpc>
                <a:spcPct val="85000"/>
              </a:lnSpc>
              <a:spcBef>
                <a:spcPct val="0"/>
              </a:spcBef>
              <a:spcAft>
                <a:spcPct val="0"/>
              </a:spcAft>
              <a:defRPr sz="3000">
                <a:solidFill>
                  <a:srgbClr val="006C3A"/>
                </a:solidFill>
                <a:latin typeface="Arial Black" pitchFamily="34" charset="0"/>
              </a:defRPr>
            </a:lvl5pPr>
            <a:lvl6pPr marL="457200" algn="l" rtl="0" eaLnBrk="1" fontAlgn="base" hangingPunct="1">
              <a:lnSpc>
                <a:spcPct val="85000"/>
              </a:lnSpc>
              <a:spcBef>
                <a:spcPct val="0"/>
              </a:spcBef>
              <a:spcAft>
                <a:spcPct val="0"/>
              </a:spcAft>
              <a:defRPr sz="3000">
                <a:solidFill>
                  <a:srgbClr val="006C3A"/>
                </a:solidFill>
                <a:latin typeface="Arial Black" pitchFamily="34" charset="0"/>
              </a:defRPr>
            </a:lvl6pPr>
            <a:lvl7pPr marL="914400" algn="l" rtl="0" eaLnBrk="1" fontAlgn="base" hangingPunct="1">
              <a:lnSpc>
                <a:spcPct val="85000"/>
              </a:lnSpc>
              <a:spcBef>
                <a:spcPct val="0"/>
              </a:spcBef>
              <a:spcAft>
                <a:spcPct val="0"/>
              </a:spcAft>
              <a:defRPr sz="3000">
                <a:solidFill>
                  <a:srgbClr val="006C3A"/>
                </a:solidFill>
                <a:latin typeface="Arial Black" pitchFamily="34" charset="0"/>
              </a:defRPr>
            </a:lvl7pPr>
            <a:lvl8pPr marL="1371600" algn="l" rtl="0" eaLnBrk="1" fontAlgn="base" hangingPunct="1">
              <a:lnSpc>
                <a:spcPct val="85000"/>
              </a:lnSpc>
              <a:spcBef>
                <a:spcPct val="0"/>
              </a:spcBef>
              <a:spcAft>
                <a:spcPct val="0"/>
              </a:spcAft>
              <a:defRPr sz="3000">
                <a:solidFill>
                  <a:srgbClr val="006C3A"/>
                </a:solidFill>
                <a:latin typeface="Arial Black" pitchFamily="34" charset="0"/>
              </a:defRPr>
            </a:lvl8pPr>
            <a:lvl9pPr marL="1828800" algn="l" rtl="0" eaLnBrk="1" fontAlgn="base" hangingPunct="1">
              <a:lnSpc>
                <a:spcPct val="85000"/>
              </a:lnSpc>
              <a:spcBef>
                <a:spcPct val="0"/>
              </a:spcBef>
              <a:spcAft>
                <a:spcPct val="0"/>
              </a:spcAft>
              <a:defRPr sz="3000">
                <a:solidFill>
                  <a:srgbClr val="006C3A"/>
                </a:solidFill>
                <a:latin typeface="Arial Black" pitchFamily="34" charset="0"/>
              </a:defRPr>
            </a:lvl9pPr>
          </a:lstStyle>
          <a:p>
            <a:r>
              <a:rPr lang="en-US" dirty="0"/>
              <a:t>New Paradigm in Design Because of Platform Heterogeneity</a:t>
            </a:r>
          </a:p>
        </p:txBody>
      </p:sp>
    </p:spTree>
    <p:extLst>
      <p:ext uri="{BB962C8B-B14F-4D97-AF65-F5344CB8AC3E}">
        <p14:creationId xmlns:p14="http://schemas.microsoft.com/office/powerpoint/2010/main" val="396186388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9E2E0-9DA3-3D91-D9AC-F0F883FF40DC}"/>
              </a:ext>
            </a:extLst>
          </p:cNvPr>
          <p:cNvSpPr>
            <a:spLocks noGrp="1"/>
          </p:cNvSpPr>
          <p:nvPr>
            <p:ph type="title"/>
          </p:nvPr>
        </p:nvSpPr>
        <p:spPr>
          <a:xfrm>
            <a:off x="618582" y="19144"/>
            <a:ext cx="10512862" cy="1325218"/>
          </a:xfrm>
        </p:spPr>
        <p:txBody>
          <a:bodyPr/>
          <a:lstStyle/>
          <a:p>
            <a:r>
              <a:rPr lang="en-US" dirty="0"/>
              <a:t>State of Practice – Abstractions and Runtimes</a:t>
            </a:r>
          </a:p>
        </p:txBody>
      </p:sp>
      <p:sp>
        <p:nvSpPr>
          <p:cNvPr id="3" name="Content Placeholder 2">
            <a:extLst>
              <a:ext uri="{FF2B5EF4-FFF2-40B4-BE49-F238E27FC236}">
                <a16:creationId xmlns:a16="http://schemas.microsoft.com/office/drawing/2014/main" id="{53446683-6988-1141-6445-EC432AAC23E6}"/>
              </a:ext>
            </a:extLst>
          </p:cNvPr>
          <p:cNvSpPr>
            <a:spLocks noGrp="1"/>
          </p:cNvSpPr>
          <p:nvPr>
            <p:ph idx="1"/>
          </p:nvPr>
        </p:nvSpPr>
        <p:spPr>
          <a:xfrm>
            <a:off x="618582" y="1055227"/>
            <a:ext cx="10512862" cy="3757332"/>
          </a:xfrm>
        </p:spPr>
        <p:txBody>
          <a:bodyPr>
            <a:normAutofit/>
          </a:bodyPr>
          <a:lstStyle/>
          <a:p>
            <a:r>
              <a:rPr lang="en-US" dirty="0"/>
              <a:t>Still very focused on GPU</a:t>
            </a:r>
          </a:p>
          <a:p>
            <a:pPr lvl="1"/>
            <a:r>
              <a:rPr lang="en-US" dirty="0"/>
              <a:t>Majority of ECP applications park their data on the GPU and just work there</a:t>
            </a:r>
          </a:p>
          <a:p>
            <a:r>
              <a:rPr lang="en-US" dirty="0"/>
              <a:t>Abstractions -- data structures and parallelization of loops </a:t>
            </a:r>
          </a:p>
          <a:p>
            <a:r>
              <a:rPr lang="en-US" dirty="0"/>
              <a:t>Limitations</a:t>
            </a:r>
          </a:p>
          <a:p>
            <a:pPr lvl="1"/>
            <a:r>
              <a:rPr lang="en-US" dirty="0"/>
              <a:t>No way to handle algorithmic variants in a unified way</a:t>
            </a:r>
          </a:p>
          <a:p>
            <a:pPr lvl="1"/>
            <a:r>
              <a:rPr lang="en-US" dirty="0"/>
              <a:t>No way to transfer domain knowledge based possible optimizations to the tools</a:t>
            </a:r>
          </a:p>
          <a:p>
            <a:r>
              <a:rPr lang="en-US" dirty="0"/>
              <a:t>None of the prevalent languages allow a good way to define data locality</a:t>
            </a:r>
          </a:p>
          <a:p>
            <a:pPr lvl="1"/>
            <a:r>
              <a:rPr lang="en-US" dirty="0"/>
              <a:t>Boutique HPC languages like chapel do – but chicken and egg problem with adoption</a:t>
            </a:r>
          </a:p>
          <a:p>
            <a:endParaRPr lang="en-US" dirty="0"/>
          </a:p>
        </p:txBody>
      </p:sp>
    </p:spTree>
    <p:extLst>
      <p:ext uri="{BB962C8B-B14F-4D97-AF65-F5344CB8AC3E}">
        <p14:creationId xmlns:p14="http://schemas.microsoft.com/office/powerpoint/2010/main" val="371685147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9E2E0-9DA3-3D91-D9AC-F0F883FF40DC}"/>
              </a:ext>
            </a:extLst>
          </p:cNvPr>
          <p:cNvSpPr>
            <a:spLocks noGrp="1"/>
          </p:cNvSpPr>
          <p:nvPr>
            <p:ph type="title"/>
          </p:nvPr>
        </p:nvSpPr>
        <p:spPr>
          <a:xfrm>
            <a:off x="618582" y="19144"/>
            <a:ext cx="10512862" cy="1325218"/>
          </a:xfrm>
        </p:spPr>
        <p:txBody>
          <a:bodyPr/>
          <a:lstStyle/>
          <a:p>
            <a:r>
              <a:rPr lang="en-US" dirty="0"/>
              <a:t>State of Practice – Abstractions and Runtimes</a:t>
            </a:r>
          </a:p>
        </p:txBody>
      </p:sp>
      <p:sp>
        <p:nvSpPr>
          <p:cNvPr id="3" name="Content Placeholder 2">
            <a:extLst>
              <a:ext uri="{FF2B5EF4-FFF2-40B4-BE49-F238E27FC236}">
                <a16:creationId xmlns:a16="http://schemas.microsoft.com/office/drawing/2014/main" id="{53446683-6988-1141-6445-EC432AAC23E6}"/>
              </a:ext>
            </a:extLst>
          </p:cNvPr>
          <p:cNvSpPr>
            <a:spLocks noGrp="1"/>
          </p:cNvSpPr>
          <p:nvPr>
            <p:ph idx="1"/>
          </p:nvPr>
        </p:nvSpPr>
        <p:spPr>
          <a:xfrm>
            <a:off x="618582" y="1055227"/>
            <a:ext cx="10512862" cy="3757332"/>
          </a:xfrm>
        </p:spPr>
        <p:txBody>
          <a:bodyPr>
            <a:normAutofit/>
          </a:bodyPr>
          <a:lstStyle/>
          <a:p>
            <a:r>
              <a:rPr lang="en-US" dirty="0"/>
              <a:t>Still very focused on GPU</a:t>
            </a:r>
          </a:p>
          <a:p>
            <a:pPr lvl="1"/>
            <a:r>
              <a:rPr lang="en-US" dirty="0"/>
              <a:t>Majority of ECP applications park their data on the GPU and just work there</a:t>
            </a:r>
          </a:p>
          <a:p>
            <a:r>
              <a:rPr lang="en-US" dirty="0"/>
              <a:t>Abstractions -- data structures and parallelization of loops </a:t>
            </a:r>
          </a:p>
          <a:p>
            <a:r>
              <a:rPr lang="en-US" dirty="0"/>
              <a:t>Limitations</a:t>
            </a:r>
          </a:p>
          <a:p>
            <a:pPr lvl="1"/>
            <a:r>
              <a:rPr lang="en-US" dirty="0"/>
              <a:t>No way to handle algorithmic variants in a unified way</a:t>
            </a:r>
          </a:p>
          <a:p>
            <a:pPr lvl="1"/>
            <a:r>
              <a:rPr lang="en-US" dirty="0"/>
              <a:t>No way to transfer domain knowledge based possible optimizations to the tools</a:t>
            </a:r>
          </a:p>
          <a:p>
            <a:r>
              <a:rPr lang="en-US" dirty="0"/>
              <a:t>None of the prevalent languages allow a good way to define data locality</a:t>
            </a:r>
          </a:p>
          <a:p>
            <a:pPr lvl="1"/>
            <a:r>
              <a:rPr lang="en-US" dirty="0"/>
              <a:t>Boutique HPC languages like chapel do – but chicken and egg problem with adoption</a:t>
            </a:r>
          </a:p>
          <a:p>
            <a:endParaRPr lang="en-US" dirty="0"/>
          </a:p>
        </p:txBody>
      </p:sp>
      <p:sp>
        <p:nvSpPr>
          <p:cNvPr id="5" name="Rectangle 4">
            <a:extLst>
              <a:ext uri="{FF2B5EF4-FFF2-40B4-BE49-F238E27FC236}">
                <a16:creationId xmlns:a16="http://schemas.microsoft.com/office/drawing/2014/main" id="{3E5C2FF0-973B-B600-067C-C1EA53AFB4FE}"/>
              </a:ext>
            </a:extLst>
          </p:cNvPr>
          <p:cNvSpPr/>
          <p:nvPr/>
        </p:nvSpPr>
        <p:spPr>
          <a:xfrm>
            <a:off x="1614003" y="4788753"/>
            <a:ext cx="7995869" cy="3543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The holy grail for scientists – write equation and generate code</a:t>
            </a:r>
          </a:p>
        </p:txBody>
      </p:sp>
      <p:sp>
        <p:nvSpPr>
          <p:cNvPr id="6" name="Rectangle 5">
            <a:extLst>
              <a:ext uri="{FF2B5EF4-FFF2-40B4-BE49-F238E27FC236}">
                <a16:creationId xmlns:a16="http://schemas.microsoft.com/office/drawing/2014/main" id="{A28BA85B-9464-EA29-2DC2-27EDB4AE3F06}"/>
              </a:ext>
            </a:extLst>
          </p:cNvPr>
          <p:cNvSpPr/>
          <p:nvPr/>
        </p:nvSpPr>
        <p:spPr>
          <a:xfrm>
            <a:off x="3612970" y="5802774"/>
            <a:ext cx="3997935" cy="4387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Is there another way?</a:t>
            </a:r>
          </a:p>
        </p:txBody>
      </p:sp>
      <p:sp>
        <p:nvSpPr>
          <p:cNvPr id="7" name="Rectangle 6">
            <a:extLst>
              <a:ext uri="{FF2B5EF4-FFF2-40B4-BE49-F238E27FC236}">
                <a16:creationId xmlns:a16="http://schemas.microsoft.com/office/drawing/2014/main" id="{30BA514D-7A50-87B9-9355-EA0D70DED958}"/>
              </a:ext>
            </a:extLst>
          </p:cNvPr>
          <p:cNvSpPr/>
          <p:nvPr/>
        </p:nvSpPr>
        <p:spPr>
          <a:xfrm>
            <a:off x="1614003" y="5215797"/>
            <a:ext cx="7995869" cy="3543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Very limited success in some domains</a:t>
            </a:r>
          </a:p>
        </p:txBody>
      </p:sp>
    </p:spTree>
    <p:extLst>
      <p:ext uri="{BB962C8B-B14F-4D97-AF65-F5344CB8AC3E}">
        <p14:creationId xmlns:p14="http://schemas.microsoft.com/office/powerpoint/2010/main" val="159570593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B3B40-7A22-89F8-6BB1-6167FDBA30F2}"/>
              </a:ext>
            </a:extLst>
          </p:cNvPr>
          <p:cNvSpPr>
            <a:spLocks noGrp="1"/>
          </p:cNvSpPr>
          <p:nvPr>
            <p:ph type="title"/>
          </p:nvPr>
        </p:nvSpPr>
        <p:spPr/>
        <p:txBody>
          <a:bodyPr/>
          <a:lstStyle/>
          <a:p>
            <a:r>
              <a:rPr lang="en-US" dirty="0"/>
              <a:t>Mechanisms Needed by the Code </a:t>
            </a:r>
          </a:p>
        </p:txBody>
      </p:sp>
      <p:sp>
        <p:nvSpPr>
          <p:cNvPr id="8" name="Rounded Rectangle 7">
            <a:extLst>
              <a:ext uri="{FF2B5EF4-FFF2-40B4-BE49-F238E27FC236}">
                <a16:creationId xmlns:a16="http://schemas.microsoft.com/office/drawing/2014/main" id="{EF43E14F-733F-9C60-C28A-99FD74738BE7}"/>
              </a:ext>
            </a:extLst>
          </p:cNvPr>
          <p:cNvSpPr/>
          <p:nvPr/>
        </p:nvSpPr>
        <p:spPr>
          <a:xfrm>
            <a:off x="523744" y="1106424"/>
            <a:ext cx="5266944" cy="2220468"/>
          </a:xfrm>
          <a:prstGeom prst="roundRect">
            <a:avLst/>
          </a:prstGeom>
          <a:solidFill>
            <a:schemeClr val="accent4">
              <a:lumMod val="75000"/>
            </a:schemeClr>
          </a:solidFill>
          <a:ln>
            <a:solidFill>
              <a:srgbClr val="0070C0"/>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nSpc>
                <a:spcPct val="90000"/>
              </a:lnSpc>
            </a:pPr>
            <a:r>
              <a:rPr lang="en-US" sz="2400" dirty="0">
                <a:solidFill>
                  <a:schemeClr val="bg1"/>
                </a:solidFill>
              </a:rPr>
              <a:t>Mechanisms to unify expression of computation</a:t>
            </a:r>
          </a:p>
          <a:p>
            <a:pPr marL="342900" indent="-342900">
              <a:lnSpc>
                <a:spcPct val="90000"/>
              </a:lnSpc>
              <a:buFont typeface="Arial" panose="020B0604020202020204" pitchFamily="34" charset="0"/>
              <a:buChar char="•"/>
            </a:pPr>
            <a:r>
              <a:rPr lang="en-US" sz="2000" dirty="0">
                <a:solidFill>
                  <a:schemeClr val="bg1"/>
                </a:solidFill>
              </a:rPr>
              <a:t>Minimize maintained variants of source suitable for all computational devices</a:t>
            </a:r>
          </a:p>
          <a:p>
            <a:pPr marL="342900" indent="-342900">
              <a:lnSpc>
                <a:spcPct val="90000"/>
              </a:lnSpc>
              <a:buFont typeface="Arial" panose="020B0604020202020204" pitchFamily="34" charset="0"/>
              <a:buChar char="•"/>
            </a:pPr>
            <a:r>
              <a:rPr lang="en-US" sz="2000" dirty="0">
                <a:solidFill>
                  <a:schemeClr val="bg1"/>
                </a:solidFill>
              </a:rPr>
              <a:t>Reconcile differences in data structures</a:t>
            </a:r>
          </a:p>
        </p:txBody>
      </p:sp>
    </p:spTree>
    <p:extLst>
      <p:ext uri="{BB962C8B-B14F-4D97-AF65-F5344CB8AC3E}">
        <p14:creationId xmlns:p14="http://schemas.microsoft.com/office/powerpoint/2010/main" val="161120734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B3B40-7A22-89F8-6BB1-6167FDBA30F2}"/>
              </a:ext>
            </a:extLst>
          </p:cNvPr>
          <p:cNvSpPr>
            <a:spLocks noGrp="1"/>
          </p:cNvSpPr>
          <p:nvPr>
            <p:ph type="title"/>
          </p:nvPr>
        </p:nvSpPr>
        <p:spPr/>
        <p:txBody>
          <a:bodyPr/>
          <a:lstStyle/>
          <a:p>
            <a:r>
              <a:rPr lang="en-US" dirty="0"/>
              <a:t>Mechanisms Needed by the Code </a:t>
            </a:r>
          </a:p>
        </p:txBody>
      </p:sp>
      <p:sp>
        <p:nvSpPr>
          <p:cNvPr id="7" name="Rounded Rectangle 6">
            <a:extLst>
              <a:ext uri="{FF2B5EF4-FFF2-40B4-BE49-F238E27FC236}">
                <a16:creationId xmlns:a16="http://schemas.microsoft.com/office/drawing/2014/main" id="{92BFB06A-BBA4-8BFB-FC00-AF67220E1D1D}"/>
              </a:ext>
            </a:extLst>
          </p:cNvPr>
          <p:cNvSpPr/>
          <p:nvPr/>
        </p:nvSpPr>
        <p:spPr>
          <a:xfrm>
            <a:off x="6130988" y="1106424"/>
            <a:ext cx="5266944" cy="2220468"/>
          </a:xfrm>
          <a:prstGeom prst="roundRect">
            <a:avLst/>
          </a:prstGeom>
          <a:solidFill>
            <a:srgbClr val="7030A0"/>
          </a:solidFill>
          <a:ln>
            <a:solidFill>
              <a:srgbClr val="0070C0"/>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nSpc>
                <a:spcPct val="90000"/>
              </a:lnSpc>
            </a:pPr>
            <a:r>
              <a:rPr lang="en-US" sz="2400" dirty="0">
                <a:solidFill>
                  <a:schemeClr val="bg1"/>
                </a:solidFill>
              </a:rPr>
              <a:t>Mechanisms to move work and data to computational targets</a:t>
            </a:r>
          </a:p>
          <a:p>
            <a:pPr marL="342900" indent="-342900">
              <a:lnSpc>
                <a:spcPct val="90000"/>
              </a:lnSpc>
              <a:buFont typeface="Arial" panose="020B0604020202020204" pitchFamily="34" charset="0"/>
              <a:buChar char="•"/>
            </a:pPr>
            <a:r>
              <a:rPr lang="en-US" sz="2000" dirty="0">
                <a:solidFill>
                  <a:schemeClr val="bg1"/>
                </a:solidFill>
              </a:rPr>
              <a:t>Moving between devices</a:t>
            </a:r>
          </a:p>
          <a:p>
            <a:pPr marL="800100" lvl="1" indent="-342900">
              <a:lnSpc>
                <a:spcPct val="90000"/>
              </a:lnSpc>
              <a:buFont typeface="Arial" panose="020B0604020202020204" pitchFamily="34" charset="0"/>
              <a:buChar char="•"/>
            </a:pPr>
            <a:r>
              <a:rPr lang="en-US" sz="2000" dirty="0">
                <a:solidFill>
                  <a:schemeClr val="bg1"/>
                </a:solidFill>
              </a:rPr>
              <a:t>Launching work at the destination</a:t>
            </a:r>
          </a:p>
          <a:p>
            <a:pPr marL="800100" lvl="1" indent="-342900">
              <a:lnSpc>
                <a:spcPct val="90000"/>
              </a:lnSpc>
              <a:buFont typeface="Arial" panose="020B0604020202020204" pitchFamily="34" charset="0"/>
              <a:buChar char="•"/>
            </a:pPr>
            <a:r>
              <a:rPr lang="en-US" sz="2000" dirty="0">
                <a:solidFill>
                  <a:schemeClr val="bg1"/>
                </a:solidFill>
              </a:rPr>
              <a:t>Hiding latency of movement</a:t>
            </a:r>
          </a:p>
          <a:p>
            <a:pPr marL="342900" indent="-342900">
              <a:lnSpc>
                <a:spcPct val="90000"/>
              </a:lnSpc>
              <a:buFont typeface="Arial" panose="020B0604020202020204" pitchFamily="34" charset="0"/>
              <a:buChar char="•"/>
            </a:pPr>
            <a:r>
              <a:rPr lang="en-US" sz="2000" dirty="0">
                <a:solidFill>
                  <a:schemeClr val="bg1"/>
                </a:solidFill>
              </a:rPr>
              <a:t>Moving data off node </a:t>
            </a:r>
          </a:p>
        </p:txBody>
      </p:sp>
      <p:sp>
        <p:nvSpPr>
          <p:cNvPr id="8" name="Rounded Rectangle 7">
            <a:extLst>
              <a:ext uri="{FF2B5EF4-FFF2-40B4-BE49-F238E27FC236}">
                <a16:creationId xmlns:a16="http://schemas.microsoft.com/office/drawing/2014/main" id="{EF43E14F-733F-9C60-C28A-99FD74738BE7}"/>
              </a:ext>
            </a:extLst>
          </p:cNvPr>
          <p:cNvSpPr/>
          <p:nvPr/>
        </p:nvSpPr>
        <p:spPr>
          <a:xfrm>
            <a:off x="523744" y="1106424"/>
            <a:ext cx="5266944" cy="2220468"/>
          </a:xfrm>
          <a:prstGeom prst="roundRect">
            <a:avLst/>
          </a:prstGeom>
          <a:solidFill>
            <a:schemeClr val="accent4">
              <a:lumMod val="75000"/>
            </a:schemeClr>
          </a:solidFill>
          <a:ln>
            <a:solidFill>
              <a:srgbClr val="0070C0"/>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nSpc>
                <a:spcPct val="90000"/>
              </a:lnSpc>
            </a:pPr>
            <a:r>
              <a:rPr lang="en-US" sz="2400" dirty="0">
                <a:solidFill>
                  <a:schemeClr val="bg1"/>
                </a:solidFill>
              </a:rPr>
              <a:t>Mechanisms to unify expression of computation</a:t>
            </a:r>
          </a:p>
          <a:p>
            <a:pPr marL="342900" indent="-342900">
              <a:lnSpc>
                <a:spcPct val="90000"/>
              </a:lnSpc>
              <a:buFont typeface="Arial" panose="020B0604020202020204" pitchFamily="34" charset="0"/>
              <a:buChar char="•"/>
            </a:pPr>
            <a:r>
              <a:rPr lang="en-US" sz="2000" dirty="0">
                <a:solidFill>
                  <a:schemeClr val="bg1"/>
                </a:solidFill>
              </a:rPr>
              <a:t>Minimize maintained variants of source suitable for all computational devices</a:t>
            </a:r>
          </a:p>
          <a:p>
            <a:pPr marL="342900" indent="-342900">
              <a:lnSpc>
                <a:spcPct val="90000"/>
              </a:lnSpc>
              <a:buFont typeface="Arial" panose="020B0604020202020204" pitchFamily="34" charset="0"/>
              <a:buChar char="•"/>
            </a:pPr>
            <a:r>
              <a:rPr lang="en-US" sz="2000" dirty="0">
                <a:solidFill>
                  <a:schemeClr val="bg1"/>
                </a:solidFill>
              </a:rPr>
              <a:t>Reconcile differences in data structures</a:t>
            </a:r>
          </a:p>
        </p:txBody>
      </p:sp>
    </p:spTree>
    <p:extLst>
      <p:ext uri="{BB962C8B-B14F-4D97-AF65-F5344CB8AC3E}">
        <p14:creationId xmlns:p14="http://schemas.microsoft.com/office/powerpoint/2010/main" val="360520423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B3B40-7A22-89F8-6BB1-6167FDBA30F2}"/>
              </a:ext>
            </a:extLst>
          </p:cNvPr>
          <p:cNvSpPr>
            <a:spLocks noGrp="1"/>
          </p:cNvSpPr>
          <p:nvPr>
            <p:ph type="title"/>
          </p:nvPr>
        </p:nvSpPr>
        <p:spPr/>
        <p:txBody>
          <a:bodyPr/>
          <a:lstStyle/>
          <a:p>
            <a:r>
              <a:rPr lang="en-US" dirty="0"/>
              <a:t>Mechanisms Needed by the Code </a:t>
            </a:r>
          </a:p>
        </p:txBody>
      </p:sp>
      <p:sp>
        <p:nvSpPr>
          <p:cNvPr id="4" name="Rounded Rectangle 3">
            <a:extLst>
              <a:ext uri="{FF2B5EF4-FFF2-40B4-BE49-F238E27FC236}">
                <a16:creationId xmlns:a16="http://schemas.microsoft.com/office/drawing/2014/main" id="{471E77FC-1631-5458-51D2-E734CEC850D0}"/>
              </a:ext>
            </a:extLst>
          </p:cNvPr>
          <p:cNvSpPr/>
          <p:nvPr/>
        </p:nvSpPr>
        <p:spPr>
          <a:xfrm>
            <a:off x="522156" y="3874008"/>
            <a:ext cx="5266944" cy="2220468"/>
          </a:xfrm>
          <a:prstGeom prst="roundRect">
            <a:avLst/>
          </a:prstGeom>
          <a:solidFill>
            <a:schemeClr val="accent1">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nSpc>
                <a:spcPct val="90000"/>
              </a:lnSpc>
            </a:pPr>
            <a:r>
              <a:rPr lang="en-US" sz="2400" dirty="0">
                <a:solidFill>
                  <a:schemeClr val="bg1"/>
                </a:solidFill>
              </a:rPr>
              <a:t>Mechanisms to map work to computational targets</a:t>
            </a:r>
          </a:p>
          <a:p>
            <a:pPr marL="342900" indent="-342900">
              <a:lnSpc>
                <a:spcPct val="90000"/>
              </a:lnSpc>
              <a:buFont typeface="Arial" panose="020B0604020202020204" pitchFamily="34" charset="0"/>
              <a:buChar char="•"/>
            </a:pPr>
            <a:r>
              <a:rPr lang="en-US" sz="2000" dirty="0">
                <a:solidFill>
                  <a:schemeClr val="bg1"/>
                </a:solidFill>
              </a:rPr>
              <a:t>Figuring out the map</a:t>
            </a:r>
          </a:p>
          <a:p>
            <a:pPr marL="800100" lvl="1" indent="-342900">
              <a:lnSpc>
                <a:spcPct val="90000"/>
              </a:lnSpc>
              <a:buFont typeface="Arial" panose="020B0604020202020204" pitchFamily="34" charset="0"/>
              <a:buChar char="•"/>
            </a:pPr>
            <a:r>
              <a:rPr lang="en-US" sz="2000" dirty="0">
                <a:solidFill>
                  <a:schemeClr val="bg1"/>
                </a:solidFill>
              </a:rPr>
              <a:t>Expression of dependencies </a:t>
            </a:r>
          </a:p>
          <a:p>
            <a:pPr marL="800100" lvl="1" indent="-342900">
              <a:lnSpc>
                <a:spcPct val="90000"/>
              </a:lnSpc>
              <a:buFont typeface="Arial" panose="020B0604020202020204" pitchFamily="34" charset="0"/>
              <a:buChar char="•"/>
            </a:pPr>
            <a:r>
              <a:rPr lang="en-US" sz="2000" dirty="0">
                <a:solidFill>
                  <a:schemeClr val="bg1"/>
                </a:solidFill>
              </a:rPr>
              <a:t>Cost models</a:t>
            </a:r>
          </a:p>
          <a:p>
            <a:pPr marL="342900" indent="-342900">
              <a:lnSpc>
                <a:spcPct val="90000"/>
              </a:lnSpc>
              <a:buFont typeface="Arial" panose="020B0604020202020204" pitchFamily="34" charset="0"/>
              <a:buChar char="•"/>
            </a:pPr>
            <a:r>
              <a:rPr lang="en-US" sz="2000" dirty="0">
                <a:solidFill>
                  <a:schemeClr val="bg1"/>
                </a:solidFill>
              </a:rPr>
              <a:t>Expressing the map</a:t>
            </a:r>
          </a:p>
        </p:txBody>
      </p:sp>
      <p:sp>
        <p:nvSpPr>
          <p:cNvPr id="7" name="Rounded Rectangle 6">
            <a:extLst>
              <a:ext uri="{FF2B5EF4-FFF2-40B4-BE49-F238E27FC236}">
                <a16:creationId xmlns:a16="http://schemas.microsoft.com/office/drawing/2014/main" id="{92BFB06A-BBA4-8BFB-FC00-AF67220E1D1D}"/>
              </a:ext>
            </a:extLst>
          </p:cNvPr>
          <p:cNvSpPr/>
          <p:nvPr/>
        </p:nvSpPr>
        <p:spPr>
          <a:xfrm>
            <a:off x="6130988" y="1106424"/>
            <a:ext cx="5266944" cy="2220468"/>
          </a:xfrm>
          <a:prstGeom prst="roundRect">
            <a:avLst/>
          </a:prstGeom>
          <a:solidFill>
            <a:srgbClr val="7030A0"/>
          </a:solidFill>
          <a:ln>
            <a:solidFill>
              <a:srgbClr val="0070C0"/>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nSpc>
                <a:spcPct val="90000"/>
              </a:lnSpc>
            </a:pPr>
            <a:r>
              <a:rPr lang="en-US" sz="2400" dirty="0">
                <a:solidFill>
                  <a:schemeClr val="bg1"/>
                </a:solidFill>
              </a:rPr>
              <a:t>Mechanisms to move work and data to computational targets</a:t>
            </a:r>
          </a:p>
          <a:p>
            <a:pPr marL="342900" indent="-342900">
              <a:lnSpc>
                <a:spcPct val="90000"/>
              </a:lnSpc>
              <a:buFont typeface="Arial" panose="020B0604020202020204" pitchFamily="34" charset="0"/>
              <a:buChar char="•"/>
            </a:pPr>
            <a:r>
              <a:rPr lang="en-US" sz="2000" dirty="0">
                <a:solidFill>
                  <a:schemeClr val="bg1"/>
                </a:solidFill>
              </a:rPr>
              <a:t>Moving between devices</a:t>
            </a:r>
          </a:p>
          <a:p>
            <a:pPr marL="800100" lvl="1" indent="-342900">
              <a:lnSpc>
                <a:spcPct val="90000"/>
              </a:lnSpc>
              <a:buFont typeface="Arial" panose="020B0604020202020204" pitchFamily="34" charset="0"/>
              <a:buChar char="•"/>
            </a:pPr>
            <a:r>
              <a:rPr lang="en-US" sz="2000" dirty="0">
                <a:solidFill>
                  <a:schemeClr val="bg1"/>
                </a:solidFill>
              </a:rPr>
              <a:t>Launching work at the destination</a:t>
            </a:r>
          </a:p>
          <a:p>
            <a:pPr marL="800100" lvl="1" indent="-342900">
              <a:lnSpc>
                <a:spcPct val="90000"/>
              </a:lnSpc>
              <a:buFont typeface="Arial" panose="020B0604020202020204" pitchFamily="34" charset="0"/>
              <a:buChar char="•"/>
            </a:pPr>
            <a:r>
              <a:rPr lang="en-US" sz="2000" dirty="0">
                <a:solidFill>
                  <a:schemeClr val="bg1"/>
                </a:solidFill>
              </a:rPr>
              <a:t>Hiding latency of movement</a:t>
            </a:r>
          </a:p>
          <a:p>
            <a:pPr marL="342900" indent="-342900">
              <a:lnSpc>
                <a:spcPct val="90000"/>
              </a:lnSpc>
              <a:buFont typeface="Arial" panose="020B0604020202020204" pitchFamily="34" charset="0"/>
              <a:buChar char="•"/>
            </a:pPr>
            <a:r>
              <a:rPr lang="en-US" sz="2000" dirty="0">
                <a:solidFill>
                  <a:schemeClr val="bg1"/>
                </a:solidFill>
              </a:rPr>
              <a:t>Moving data off node </a:t>
            </a:r>
          </a:p>
        </p:txBody>
      </p:sp>
      <p:sp>
        <p:nvSpPr>
          <p:cNvPr id="8" name="Rounded Rectangle 7">
            <a:extLst>
              <a:ext uri="{FF2B5EF4-FFF2-40B4-BE49-F238E27FC236}">
                <a16:creationId xmlns:a16="http://schemas.microsoft.com/office/drawing/2014/main" id="{EF43E14F-733F-9C60-C28A-99FD74738BE7}"/>
              </a:ext>
            </a:extLst>
          </p:cNvPr>
          <p:cNvSpPr/>
          <p:nvPr/>
        </p:nvSpPr>
        <p:spPr>
          <a:xfrm>
            <a:off x="523744" y="1106424"/>
            <a:ext cx="5266944" cy="2220468"/>
          </a:xfrm>
          <a:prstGeom prst="roundRect">
            <a:avLst/>
          </a:prstGeom>
          <a:solidFill>
            <a:schemeClr val="accent4">
              <a:lumMod val="75000"/>
            </a:schemeClr>
          </a:solidFill>
          <a:ln>
            <a:solidFill>
              <a:srgbClr val="0070C0"/>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nSpc>
                <a:spcPct val="90000"/>
              </a:lnSpc>
            </a:pPr>
            <a:r>
              <a:rPr lang="en-US" sz="2400" dirty="0">
                <a:solidFill>
                  <a:schemeClr val="bg1"/>
                </a:solidFill>
              </a:rPr>
              <a:t>Mechanisms to unify expression of computation</a:t>
            </a:r>
          </a:p>
          <a:p>
            <a:pPr marL="342900" indent="-342900">
              <a:lnSpc>
                <a:spcPct val="90000"/>
              </a:lnSpc>
              <a:buFont typeface="Arial" panose="020B0604020202020204" pitchFamily="34" charset="0"/>
              <a:buChar char="•"/>
            </a:pPr>
            <a:r>
              <a:rPr lang="en-US" sz="2000" dirty="0">
                <a:solidFill>
                  <a:schemeClr val="bg1"/>
                </a:solidFill>
              </a:rPr>
              <a:t>Minimize maintained variants of source suitable for all computational devices</a:t>
            </a:r>
          </a:p>
          <a:p>
            <a:pPr marL="342900" indent="-342900">
              <a:lnSpc>
                <a:spcPct val="90000"/>
              </a:lnSpc>
              <a:buFont typeface="Arial" panose="020B0604020202020204" pitchFamily="34" charset="0"/>
              <a:buChar char="•"/>
            </a:pPr>
            <a:r>
              <a:rPr lang="en-US" sz="2000" dirty="0">
                <a:solidFill>
                  <a:schemeClr val="bg1"/>
                </a:solidFill>
              </a:rPr>
              <a:t>Reconcile differences in data structures</a:t>
            </a:r>
          </a:p>
        </p:txBody>
      </p:sp>
    </p:spTree>
    <p:extLst>
      <p:ext uri="{BB962C8B-B14F-4D97-AF65-F5344CB8AC3E}">
        <p14:creationId xmlns:p14="http://schemas.microsoft.com/office/powerpoint/2010/main" val="108678984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B3B40-7A22-89F8-6BB1-6167FDBA30F2}"/>
              </a:ext>
            </a:extLst>
          </p:cNvPr>
          <p:cNvSpPr>
            <a:spLocks noGrp="1"/>
          </p:cNvSpPr>
          <p:nvPr>
            <p:ph type="title"/>
          </p:nvPr>
        </p:nvSpPr>
        <p:spPr/>
        <p:txBody>
          <a:bodyPr/>
          <a:lstStyle/>
          <a:p>
            <a:r>
              <a:rPr lang="en-US" dirty="0"/>
              <a:t>Mechanisms Needed by the Code </a:t>
            </a:r>
          </a:p>
        </p:txBody>
      </p:sp>
      <p:sp>
        <p:nvSpPr>
          <p:cNvPr id="4" name="Rounded Rectangle 3">
            <a:extLst>
              <a:ext uri="{FF2B5EF4-FFF2-40B4-BE49-F238E27FC236}">
                <a16:creationId xmlns:a16="http://schemas.microsoft.com/office/drawing/2014/main" id="{471E77FC-1631-5458-51D2-E734CEC850D0}"/>
              </a:ext>
            </a:extLst>
          </p:cNvPr>
          <p:cNvSpPr/>
          <p:nvPr/>
        </p:nvSpPr>
        <p:spPr>
          <a:xfrm>
            <a:off x="522156" y="3874008"/>
            <a:ext cx="5266944" cy="2220468"/>
          </a:xfrm>
          <a:prstGeom prst="roundRect">
            <a:avLst/>
          </a:prstGeom>
          <a:solidFill>
            <a:schemeClr val="accent1">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nSpc>
                <a:spcPct val="90000"/>
              </a:lnSpc>
            </a:pPr>
            <a:r>
              <a:rPr lang="en-US" sz="2400" dirty="0">
                <a:solidFill>
                  <a:schemeClr val="bg1"/>
                </a:solidFill>
              </a:rPr>
              <a:t>Mechanisms to map work to computational targets</a:t>
            </a:r>
          </a:p>
          <a:p>
            <a:pPr marL="342900" indent="-342900">
              <a:lnSpc>
                <a:spcPct val="90000"/>
              </a:lnSpc>
              <a:buFont typeface="Arial" panose="020B0604020202020204" pitchFamily="34" charset="0"/>
              <a:buChar char="•"/>
            </a:pPr>
            <a:r>
              <a:rPr lang="en-US" sz="2000" dirty="0">
                <a:solidFill>
                  <a:schemeClr val="bg1"/>
                </a:solidFill>
              </a:rPr>
              <a:t>Figuring out the map</a:t>
            </a:r>
          </a:p>
          <a:p>
            <a:pPr marL="800100" lvl="1" indent="-342900">
              <a:lnSpc>
                <a:spcPct val="90000"/>
              </a:lnSpc>
              <a:buFont typeface="Arial" panose="020B0604020202020204" pitchFamily="34" charset="0"/>
              <a:buChar char="•"/>
            </a:pPr>
            <a:r>
              <a:rPr lang="en-US" sz="2000" dirty="0">
                <a:solidFill>
                  <a:schemeClr val="bg1"/>
                </a:solidFill>
              </a:rPr>
              <a:t>Expression of dependencies </a:t>
            </a:r>
          </a:p>
          <a:p>
            <a:pPr marL="800100" lvl="1" indent="-342900">
              <a:lnSpc>
                <a:spcPct val="90000"/>
              </a:lnSpc>
              <a:buFont typeface="Arial" panose="020B0604020202020204" pitchFamily="34" charset="0"/>
              <a:buChar char="•"/>
            </a:pPr>
            <a:r>
              <a:rPr lang="en-US" sz="2000" dirty="0">
                <a:solidFill>
                  <a:schemeClr val="bg1"/>
                </a:solidFill>
              </a:rPr>
              <a:t>Cost models</a:t>
            </a:r>
          </a:p>
          <a:p>
            <a:pPr marL="342900" indent="-342900">
              <a:lnSpc>
                <a:spcPct val="90000"/>
              </a:lnSpc>
              <a:buFont typeface="Arial" panose="020B0604020202020204" pitchFamily="34" charset="0"/>
              <a:buChar char="•"/>
            </a:pPr>
            <a:r>
              <a:rPr lang="en-US" sz="2000" dirty="0">
                <a:solidFill>
                  <a:schemeClr val="bg1"/>
                </a:solidFill>
              </a:rPr>
              <a:t>Expressing the map</a:t>
            </a:r>
          </a:p>
        </p:txBody>
      </p:sp>
      <p:sp>
        <p:nvSpPr>
          <p:cNvPr id="7" name="Rounded Rectangle 6">
            <a:extLst>
              <a:ext uri="{FF2B5EF4-FFF2-40B4-BE49-F238E27FC236}">
                <a16:creationId xmlns:a16="http://schemas.microsoft.com/office/drawing/2014/main" id="{92BFB06A-BBA4-8BFB-FC00-AF67220E1D1D}"/>
              </a:ext>
            </a:extLst>
          </p:cNvPr>
          <p:cNvSpPr/>
          <p:nvPr/>
        </p:nvSpPr>
        <p:spPr>
          <a:xfrm>
            <a:off x="6130988" y="1106424"/>
            <a:ext cx="5266944" cy="2220468"/>
          </a:xfrm>
          <a:prstGeom prst="roundRect">
            <a:avLst/>
          </a:prstGeom>
          <a:solidFill>
            <a:srgbClr val="7030A0"/>
          </a:solidFill>
          <a:ln>
            <a:solidFill>
              <a:srgbClr val="0070C0"/>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nSpc>
                <a:spcPct val="90000"/>
              </a:lnSpc>
            </a:pPr>
            <a:r>
              <a:rPr lang="en-US" sz="2400" dirty="0">
                <a:solidFill>
                  <a:schemeClr val="bg1"/>
                </a:solidFill>
              </a:rPr>
              <a:t>Mechanisms to move work and data to computational targets</a:t>
            </a:r>
          </a:p>
          <a:p>
            <a:pPr marL="342900" indent="-342900">
              <a:lnSpc>
                <a:spcPct val="90000"/>
              </a:lnSpc>
              <a:buFont typeface="Arial" panose="020B0604020202020204" pitchFamily="34" charset="0"/>
              <a:buChar char="•"/>
            </a:pPr>
            <a:r>
              <a:rPr lang="en-US" sz="2000" dirty="0">
                <a:solidFill>
                  <a:schemeClr val="bg1"/>
                </a:solidFill>
              </a:rPr>
              <a:t>Moving between devices</a:t>
            </a:r>
          </a:p>
          <a:p>
            <a:pPr marL="800100" lvl="1" indent="-342900">
              <a:lnSpc>
                <a:spcPct val="90000"/>
              </a:lnSpc>
              <a:buFont typeface="Arial" panose="020B0604020202020204" pitchFamily="34" charset="0"/>
              <a:buChar char="•"/>
            </a:pPr>
            <a:r>
              <a:rPr lang="en-US" sz="2000" dirty="0">
                <a:solidFill>
                  <a:schemeClr val="bg1"/>
                </a:solidFill>
              </a:rPr>
              <a:t>Launching work at the destination</a:t>
            </a:r>
          </a:p>
          <a:p>
            <a:pPr marL="800100" lvl="1" indent="-342900">
              <a:lnSpc>
                <a:spcPct val="90000"/>
              </a:lnSpc>
              <a:buFont typeface="Arial" panose="020B0604020202020204" pitchFamily="34" charset="0"/>
              <a:buChar char="•"/>
            </a:pPr>
            <a:r>
              <a:rPr lang="en-US" sz="2000" dirty="0">
                <a:solidFill>
                  <a:schemeClr val="bg1"/>
                </a:solidFill>
              </a:rPr>
              <a:t>Hiding latency of movement</a:t>
            </a:r>
          </a:p>
          <a:p>
            <a:pPr marL="342900" indent="-342900">
              <a:lnSpc>
                <a:spcPct val="90000"/>
              </a:lnSpc>
              <a:buFont typeface="Arial" panose="020B0604020202020204" pitchFamily="34" charset="0"/>
              <a:buChar char="•"/>
            </a:pPr>
            <a:r>
              <a:rPr lang="en-US" sz="2000" dirty="0">
                <a:solidFill>
                  <a:schemeClr val="bg1"/>
                </a:solidFill>
              </a:rPr>
              <a:t>Moving data off node </a:t>
            </a:r>
          </a:p>
        </p:txBody>
      </p:sp>
      <p:sp>
        <p:nvSpPr>
          <p:cNvPr id="8" name="Rounded Rectangle 7">
            <a:extLst>
              <a:ext uri="{FF2B5EF4-FFF2-40B4-BE49-F238E27FC236}">
                <a16:creationId xmlns:a16="http://schemas.microsoft.com/office/drawing/2014/main" id="{EF43E14F-733F-9C60-C28A-99FD74738BE7}"/>
              </a:ext>
            </a:extLst>
          </p:cNvPr>
          <p:cNvSpPr/>
          <p:nvPr/>
        </p:nvSpPr>
        <p:spPr>
          <a:xfrm>
            <a:off x="523744" y="1106424"/>
            <a:ext cx="5266944" cy="2220468"/>
          </a:xfrm>
          <a:prstGeom prst="roundRect">
            <a:avLst/>
          </a:prstGeom>
          <a:solidFill>
            <a:schemeClr val="accent4">
              <a:lumMod val="75000"/>
            </a:schemeClr>
          </a:solidFill>
          <a:ln>
            <a:solidFill>
              <a:srgbClr val="0070C0"/>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nSpc>
                <a:spcPct val="90000"/>
              </a:lnSpc>
            </a:pPr>
            <a:r>
              <a:rPr lang="en-US" sz="2400" dirty="0">
                <a:solidFill>
                  <a:schemeClr val="bg1"/>
                </a:solidFill>
              </a:rPr>
              <a:t>Mechanisms to unify expression of computation</a:t>
            </a:r>
          </a:p>
          <a:p>
            <a:pPr marL="342900" indent="-342900">
              <a:lnSpc>
                <a:spcPct val="90000"/>
              </a:lnSpc>
              <a:buFont typeface="Arial" panose="020B0604020202020204" pitchFamily="34" charset="0"/>
              <a:buChar char="•"/>
            </a:pPr>
            <a:r>
              <a:rPr lang="en-US" sz="2000" dirty="0">
                <a:solidFill>
                  <a:schemeClr val="bg1"/>
                </a:solidFill>
              </a:rPr>
              <a:t>Minimize maintained variants of source suitable for all computational devices</a:t>
            </a:r>
          </a:p>
          <a:p>
            <a:pPr marL="342900" indent="-342900">
              <a:lnSpc>
                <a:spcPct val="90000"/>
              </a:lnSpc>
              <a:buFont typeface="Arial" panose="020B0604020202020204" pitchFamily="34" charset="0"/>
              <a:buChar char="•"/>
            </a:pPr>
            <a:r>
              <a:rPr lang="en-US" sz="2000" dirty="0">
                <a:solidFill>
                  <a:schemeClr val="bg1"/>
                </a:solidFill>
              </a:rPr>
              <a:t>Reconcile differences in data structures</a:t>
            </a:r>
          </a:p>
        </p:txBody>
      </p:sp>
      <p:sp>
        <p:nvSpPr>
          <p:cNvPr id="5" name="TextBox 4">
            <a:extLst>
              <a:ext uri="{FF2B5EF4-FFF2-40B4-BE49-F238E27FC236}">
                <a16:creationId xmlns:a16="http://schemas.microsoft.com/office/drawing/2014/main" id="{98DB4760-90FA-132B-409F-E983E94F182F}"/>
              </a:ext>
            </a:extLst>
          </p:cNvPr>
          <p:cNvSpPr txBox="1"/>
          <p:nvPr/>
        </p:nvSpPr>
        <p:spPr>
          <a:xfrm>
            <a:off x="6702931" y="3736302"/>
            <a:ext cx="4584204" cy="1846659"/>
          </a:xfrm>
          <a:prstGeom prst="rect">
            <a:avLst/>
          </a:prstGeom>
          <a:noFill/>
        </p:spPr>
        <p:txBody>
          <a:bodyPr wrap="none" lIns="118872" tIns="91440" rIns="118872" bIns="91440" rtlCol="0" anchor="ctr" anchorCtr="0">
            <a:spAutoFit/>
          </a:bodyPr>
          <a:lstStyle/>
          <a:p>
            <a:pPr algn="l">
              <a:lnSpc>
                <a:spcPct val="90000"/>
              </a:lnSpc>
            </a:pPr>
            <a:r>
              <a:rPr lang="en-US" sz="2400" dirty="0"/>
              <a:t>So, what do we need?</a:t>
            </a:r>
          </a:p>
          <a:p>
            <a:pPr algn="l">
              <a:lnSpc>
                <a:spcPct val="90000"/>
              </a:lnSpc>
            </a:pPr>
            <a:endParaRPr lang="en-US" sz="2400" dirty="0"/>
          </a:p>
          <a:p>
            <a:pPr marL="285750" indent="-285750" algn="l">
              <a:lnSpc>
                <a:spcPct val="90000"/>
              </a:lnSpc>
              <a:buFont typeface="Arial" panose="020B0604020202020204" pitchFamily="34" charset="0"/>
              <a:buChar char="•"/>
            </a:pPr>
            <a:r>
              <a:rPr lang="en-US" sz="2400" dirty="0"/>
              <a:t>Abstractions layers </a:t>
            </a:r>
          </a:p>
          <a:p>
            <a:pPr marL="285750" indent="-285750" algn="l">
              <a:lnSpc>
                <a:spcPct val="90000"/>
              </a:lnSpc>
              <a:buFont typeface="Arial" panose="020B0604020202020204" pitchFamily="34" charset="0"/>
              <a:buChar char="•"/>
            </a:pPr>
            <a:r>
              <a:rPr lang="en-US" sz="2400" dirty="0"/>
              <a:t>Code transformation tools</a:t>
            </a:r>
          </a:p>
          <a:p>
            <a:pPr marL="285750" indent="-285750" algn="l">
              <a:lnSpc>
                <a:spcPct val="90000"/>
              </a:lnSpc>
              <a:buFont typeface="Arial" panose="020B0604020202020204" pitchFamily="34" charset="0"/>
              <a:buChar char="•"/>
            </a:pPr>
            <a:r>
              <a:rPr lang="en-US" sz="2400" dirty="0"/>
              <a:t>Data movement orchestrators</a:t>
            </a:r>
          </a:p>
        </p:txBody>
      </p:sp>
    </p:spTree>
    <p:extLst>
      <p:ext uri="{BB962C8B-B14F-4D97-AF65-F5344CB8AC3E}">
        <p14:creationId xmlns:p14="http://schemas.microsoft.com/office/powerpoint/2010/main" val="85753644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FD111B62-9139-BD45-973A-64F08EA0ADA8}"/>
              </a:ext>
            </a:extLst>
          </p:cNvPr>
          <p:cNvSpPr/>
          <p:nvPr/>
        </p:nvSpPr>
        <p:spPr>
          <a:xfrm>
            <a:off x="743983" y="1609343"/>
            <a:ext cx="10700856" cy="2133601"/>
          </a:xfrm>
          <a:prstGeom prst="roundRect">
            <a:avLst/>
          </a:prstGeom>
          <a:solidFill>
            <a:schemeClr val="accent4">
              <a:lumMod val="60000"/>
              <a:lumOff val="40000"/>
            </a:schemeClr>
          </a:solidFill>
          <a:ln>
            <a:solidFill>
              <a:schemeClr val="accent1">
                <a:lumMod val="50000"/>
              </a:schemeClr>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endParaRPr lang="en-US" sz="2000" b="1" dirty="0"/>
          </a:p>
          <a:p>
            <a:r>
              <a:rPr lang="en-US" b="1" dirty="0">
                <a:solidFill>
                  <a:schemeClr val="accent1">
                    <a:lumMod val="50000"/>
                  </a:schemeClr>
                </a:solidFill>
              </a:rPr>
              <a:t>Same algorithm different data layouts or operation sequence:</a:t>
            </a:r>
            <a:endParaRPr lang="en-US" b="1" dirty="0"/>
          </a:p>
          <a:p>
            <a:pPr marL="742950" lvl="1" indent="-285750">
              <a:buFont typeface="Arial" panose="020B0604020202020204" pitchFamily="34" charset="0"/>
              <a:buChar char="•"/>
            </a:pPr>
            <a:r>
              <a:rPr lang="en-US" dirty="0"/>
              <a:t>A way to let compiler know that ”this” expression can be specialized in many ways</a:t>
            </a:r>
          </a:p>
          <a:p>
            <a:pPr marL="742950" lvl="1" indent="-285750">
              <a:buFont typeface="Arial" panose="020B0604020202020204" pitchFamily="34" charset="0"/>
              <a:buChar char="•"/>
            </a:pPr>
            <a:r>
              <a:rPr lang="en-US" dirty="0"/>
              <a:t>Definition of specializations</a:t>
            </a:r>
          </a:p>
          <a:p>
            <a:pPr marL="742950" lvl="1" indent="-285750">
              <a:buFont typeface="Arial" panose="020B0604020202020204" pitchFamily="34" charset="0"/>
              <a:buChar char="•"/>
            </a:pPr>
            <a:r>
              <a:rPr lang="en-US" dirty="0"/>
              <a:t>Often done with template meta-programming</a:t>
            </a:r>
          </a:p>
          <a:p>
            <a:pPr marL="742950" lvl="1" indent="-285750">
              <a:buFont typeface="Arial" panose="020B0604020202020204" pitchFamily="34" charset="0"/>
              <a:buChar char="•"/>
            </a:pPr>
            <a:endParaRPr lang="en-US" dirty="0"/>
          </a:p>
        </p:txBody>
      </p:sp>
      <p:sp>
        <p:nvSpPr>
          <p:cNvPr id="11" name="Title 1">
            <a:extLst>
              <a:ext uri="{FF2B5EF4-FFF2-40B4-BE49-F238E27FC236}">
                <a16:creationId xmlns:a16="http://schemas.microsoft.com/office/drawing/2014/main" id="{2E8D93B1-0986-1B42-AE45-B531323D1290}"/>
              </a:ext>
            </a:extLst>
          </p:cNvPr>
          <p:cNvSpPr>
            <a:spLocks noGrp="1"/>
          </p:cNvSpPr>
          <p:nvPr>
            <p:ph type="title"/>
          </p:nvPr>
        </p:nvSpPr>
        <p:spPr>
          <a:xfrm>
            <a:off x="408175" y="229403"/>
            <a:ext cx="11372473" cy="914400"/>
          </a:xfrm>
        </p:spPr>
        <p:txBody>
          <a:bodyPr/>
          <a:lstStyle/>
          <a:p>
            <a:r>
              <a:rPr lang="en-US" dirty="0"/>
              <a:t>Underlying Ideas: Unification of Computational Expressions</a:t>
            </a:r>
          </a:p>
        </p:txBody>
      </p:sp>
      <p:sp>
        <p:nvSpPr>
          <p:cNvPr id="3" name="Rounded Rectangle 2">
            <a:extLst>
              <a:ext uri="{FF2B5EF4-FFF2-40B4-BE49-F238E27FC236}">
                <a16:creationId xmlns:a16="http://schemas.microsoft.com/office/drawing/2014/main" id="{FA5AC1FE-958A-777B-BE12-70917764B9EB}"/>
              </a:ext>
            </a:extLst>
          </p:cNvPr>
          <p:cNvSpPr/>
          <p:nvPr/>
        </p:nvSpPr>
        <p:spPr>
          <a:xfrm>
            <a:off x="743984" y="4059935"/>
            <a:ext cx="10700856" cy="1450849"/>
          </a:xfrm>
          <a:prstGeom prst="roundRect">
            <a:avLst/>
          </a:prstGeom>
          <a:solidFill>
            <a:schemeClr val="accent4">
              <a:lumMod val="40000"/>
              <a:lumOff val="60000"/>
            </a:schemeClr>
          </a:solidFill>
          <a:ln>
            <a:solidFill>
              <a:schemeClr val="accent1">
                <a:lumMod val="50000"/>
              </a:schemeClr>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marL="742950" lvl="1" indent="-285750">
              <a:buFont typeface="Arial" panose="020B0604020202020204" pitchFamily="34" charset="0"/>
              <a:buChar char="•"/>
            </a:pPr>
            <a:endParaRPr lang="en-US" dirty="0"/>
          </a:p>
          <a:p>
            <a:r>
              <a:rPr lang="en-US" b="1" dirty="0">
                <a:solidFill>
                  <a:schemeClr val="accent1">
                    <a:lumMod val="50000"/>
                  </a:schemeClr>
                </a:solidFill>
              </a:rPr>
              <a:t>More challenging if algorithms need to be fundamentally different</a:t>
            </a:r>
          </a:p>
          <a:p>
            <a:pPr marL="742950" lvl="1" indent="-285750">
              <a:buFont typeface="Arial" panose="020B0604020202020204" pitchFamily="34" charset="0"/>
              <a:buChar char="•"/>
            </a:pPr>
            <a:r>
              <a:rPr lang="en-US" dirty="0"/>
              <a:t>Support for alternatives</a:t>
            </a:r>
          </a:p>
        </p:txBody>
      </p:sp>
      <p:sp>
        <p:nvSpPr>
          <p:cNvPr id="4" name="TextBox 3">
            <a:extLst>
              <a:ext uri="{FF2B5EF4-FFF2-40B4-BE49-F238E27FC236}">
                <a16:creationId xmlns:a16="http://schemas.microsoft.com/office/drawing/2014/main" id="{4AD94BBA-B419-381E-1B10-23CBCA34DE94}"/>
              </a:ext>
            </a:extLst>
          </p:cNvPr>
          <p:cNvSpPr txBox="1"/>
          <p:nvPr/>
        </p:nvSpPr>
        <p:spPr>
          <a:xfrm>
            <a:off x="2928562" y="977350"/>
            <a:ext cx="5331203" cy="683264"/>
          </a:xfrm>
          <a:prstGeom prst="rect">
            <a:avLst/>
          </a:prstGeom>
          <a:noFill/>
        </p:spPr>
        <p:txBody>
          <a:bodyPr wrap="none" lIns="118872" tIns="91440" rIns="118872" bIns="91440" rtlCol="0" anchor="ctr" anchorCtr="0">
            <a:spAutoFit/>
          </a:bodyPr>
          <a:lstStyle/>
          <a:p>
            <a:pPr>
              <a:lnSpc>
                <a:spcPct val="90000"/>
              </a:lnSpc>
            </a:pPr>
            <a:r>
              <a:rPr lang="en-US" b="1" dirty="0"/>
              <a:t>Make the same code work on different devices</a:t>
            </a:r>
          </a:p>
          <a:p>
            <a:pPr algn="l">
              <a:lnSpc>
                <a:spcPct val="90000"/>
              </a:lnSpc>
            </a:pPr>
            <a:endParaRPr lang="en-US" dirty="0"/>
          </a:p>
        </p:txBody>
      </p:sp>
    </p:spTree>
    <p:extLst>
      <p:ext uri="{BB962C8B-B14F-4D97-AF65-F5344CB8AC3E}">
        <p14:creationId xmlns:p14="http://schemas.microsoft.com/office/powerpoint/2010/main" val="115304980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2E8D93B1-0986-1B42-AE45-B531323D1290}"/>
              </a:ext>
            </a:extLst>
          </p:cNvPr>
          <p:cNvSpPr>
            <a:spLocks noGrp="1"/>
          </p:cNvSpPr>
          <p:nvPr>
            <p:ph type="title"/>
          </p:nvPr>
        </p:nvSpPr>
        <p:spPr>
          <a:xfrm>
            <a:off x="408175" y="229403"/>
            <a:ext cx="11372473" cy="914400"/>
          </a:xfrm>
        </p:spPr>
        <p:txBody>
          <a:bodyPr/>
          <a:lstStyle/>
          <a:p>
            <a:r>
              <a:rPr lang="en-US" dirty="0"/>
              <a:t>Underlying Ideas: Moving Work and Data to the Target</a:t>
            </a:r>
          </a:p>
        </p:txBody>
      </p:sp>
      <p:sp>
        <p:nvSpPr>
          <p:cNvPr id="3" name="Rounded Rectangle 2">
            <a:extLst>
              <a:ext uri="{FF2B5EF4-FFF2-40B4-BE49-F238E27FC236}">
                <a16:creationId xmlns:a16="http://schemas.microsoft.com/office/drawing/2014/main" id="{FA5AC1FE-958A-777B-BE12-70917764B9EB}"/>
              </a:ext>
            </a:extLst>
          </p:cNvPr>
          <p:cNvSpPr/>
          <p:nvPr/>
        </p:nvSpPr>
        <p:spPr>
          <a:xfrm>
            <a:off x="597680" y="1660614"/>
            <a:ext cx="10700856" cy="1450849"/>
          </a:xfrm>
          <a:prstGeom prst="roundRect">
            <a:avLst/>
          </a:prstGeom>
          <a:solidFill>
            <a:srgbClr val="A952EE">
              <a:alpha val="62966"/>
            </a:srgbClr>
          </a:solidFill>
          <a:ln>
            <a:solidFill>
              <a:schemeClr val="accent1">
                <a:lumMod val="50000"/>
              </a:schemeClr>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marL="742950" lvl="1" indent="-285750">
              <a:buFont typeface="Arial" panose="020B0604020202020204" pitchFamily="34" charset="0"/>
              <a:buChar char="•"/>
            </a:pPr>
            <a:endParaRPr lang="en-US" dirty="0"/>
          </a:p>
          <a:p>
            <a:r>
              <a:rPr lang="en-US" sz="2000" b="1" dirty="0"/>
              <a:t>Hierarchy in domain decomposition</a:t>
            </a:r>
          </a:p>
          <a:p>
            <a:endParaRPr lang="en-US" b="1" dirty="0">
              <a:solidFill>
                <a:schemeClr val="accent1">
                  <a:lumMod val="50000"/>
                </a:schemeClr>
              </a:solidFill>
            </a:endParaRPr>
          </a:p>
          <a:p>
            <a:pPr marL="742950" lvl="1" indent="-285750">
              <a:buFont typeface="Arial" panose="020B0604020202020204" pitchFamily="34" charset="0"/>
              <a:buChar char="•"/>
            </a:pPr>
            <a:r>
              <a:rPr lang="en-US" dirty="0"/>
              <a:t>Distributed memory model at node level – still very prevalent, likely to remain so for a while</a:t>
            </a:r>
          </a:p>
          <a:p>
            <a:pPr marL="742950" lvl="1" indent="-285750">
              <a:buFont typeface="Arial" panose="020B0604020202020204" pitchFamily="34" charset="0"/>
              <a:buChar char="•"/>
            </a:pPr>
            <a:r>
              <a:rPr lang="en-US" dirty="0"/>
              <a:t>Also done with PGAS models – shared with locality being important</a:t>
            </a:r>
          </a:p>
          <a:p>
            <a:pPr marL="742950" lvl="1" indent="-285750">
              <a:buFont typeface="Arial" panose="020B0604020202020204" pitchFamily="34" charset="0"/>
              <a:buChar char="•"/>
            </a:pPr>
            <a:endParaRPr lang="en-US" dirty="0"/>
          </a:p>
        </p:txBody>
      </p:sp>
      <p:sp>
        <p:nvSpPr>
          <p:cNvPr id="4" name="TextBox 3">
            <a:extLst>
              <a:ext uri="{FF2B5EF4-FFF2-40B4-BE49-F238E27FC236}">
                <a16:creationId xmlns:a16="http://schemas.microsoft.com/office/drawing/2014/main" id="{4AD94BBA-B419-381E-1B10-23CBCA34DE94}"/>
              </a:ext>
            </a:extLst>
          </p:cNvPr>
          <p:cNvSpPr txBox="1"/>
          <p:nvPr/>
        </p:nvSpPr>
        <p:spPr>
          <a:xfrm>
            <a:off x="2928562" y="977350"/>
            <a:ext cx="2650982" cy="683264"/>
          </a:xfrm>
          <a:prstGeom prst="rect">
            <a:avLst/>
          </a:prstGeom>
          <a:noFill/>
        </p:spPr>
        <p:txBody>
          <a:bodyPr wrap="none" lIns="118872" tIns="91440" rIns="118872" bIns="91440" rtlCol="0" anchor="ctr" anchorCtr="0">
            <a:spAutoFit/>
          </a:bodyPr>
          <a:lstStyle/>
          <a:p>
            <a:pPr>
              <a:lnSpc>
                <a:spcPct val="90000"/>
              </a:lnSpc>
            </a:pPr>
            <a:r>
              <a:rPr lang="en-US" b="1" dirty="0"/>
              <a:t>Parallelization Models</a:t>
            </a:r>
          </a:p>
          <a:p>
            <a:pPr algn="l">
              <a:lnSpc>
                <a:spcPct val="90000"/>
              </a:lnSpc>
            </a:pPr>
            <a:endParaRPr lang="en-US" dirty="0"/>
          </a:p>
        </p:txBody>
      </p:sp>
      <p:sp>
        <p:nvSpPr>
          <p:cNvPr id="2" name="Rounded Rectangle 1">
            <a:extLst>
              <a:ext uri="{FF2B5EF4-FFF2-40B4-BE49-F238E27FC236}">
                <a16:creationId xmlns:a16="http://schemas.microsoft.com/office/drawing/2014/main" id="{AF718C10-22F9-DE1F-1A8C-F236C60F9659}"/>
              </a:ext>
            </a:extLst>
          </p:cNvPr>
          <p:cNvSpPr/>
          <p:nvPr/>
        </p:nvSpPr>
        <p:spPr>
          <a:xfrm>
            <a:off x="597680" y="3257480"/>
            <a:ext cx="10700856" cy="2623170"/>
          </a:xfrm>
          <a:prstGeom prst="roundRect">
            <a:avLst/>
          </a:prstGeom>
          <a:solidFill>
            <a:srgbClr val="EEC8FA"/>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r>
              <a:rPr lang="en-US" sz="2000" b="1" dirty="0"/>
              <a:t>Assigning work within the node</a:t>
            </a:r>
          </a:p>
          <a:p>
            <a:endParaRPr lang="en-US" sz="2000" b="1" dirty="0"/>
          </a:p>
          <a:p>
            <a:pPr marL="285750" indent="-285750">
              <a:buFont typeface="Arial" panose="020B0604020202020204" pitchFamily="34" charset="0"/>
              <a:buChar char="•"/>
            </a:pPr>
            <a:r>
              <a:rPr lang="en-US" dirty="0"/>
              <a:t>“Parallel For” or directives with  unified memory</a:t>
            </a:r>
          </a:p>
          <a:p>
            <a:pPr marL="285750" indent="-285750">
              <a:buFont typeface="Arial" panose="020B0604020202020204" pitchFamily="34" charset="0"/>
              <a:buChar char="•"/>
            </a:pPr>
            <a:r>
              <a:rPr lang="en-US" dirty="0"/>
              <a:t>Directives or specific programming model for explicit data movement</a:t>
            </a:r>
          </a:p>
          <a:p>
            <a:endParaRPr lang="en-US" b="1" dirty="0">
              <a:solidFill>
                <a:schemeClr val="accent1">
                  <a:lumMod val="50000"/>
                </a:schemeClr>
              </a:solidFill>
            </a:endParaRPr>
          </a:p>
          <a:p>
            <a:r>
              <a:rPr lang="en-US" b="1" dirty="0">
                <a:solidFill>
                  <a:schemeClr val="accent1">
                    <a:lumMod val="50000"/>
                  </a:schemeClr>
                </a:solidFill>
              </a:rPr>
              <a:t>More complex data orchestration system for asynchronous computation</a:t>
            </a:r>
          </a:p>
          <a:p>
            <a:endParaRPr lang="en-US" b="1" dirty="0">
              <a:solidFill>
                <a:schemeClr val="accent1">
                  <a:lumMod val="50000"/>
                </a:schemeClr>
              </a:solidFill>
            </a:endParaRPr>
          </a:p>
          <a:p>
            <a:pPr marL="285750" indent="-285750">
              <a:buFont typeface="Arial" panose="020B0604020202020204" pitchFamily="34" charset="0"/>
              <a:buChar char="•"/>
            </a:pPr>
            <a:r>
              <a:rPr lang="en-US" dirty="0"/>
              <a:t>Task based work distribution</a:t>
            </a:r>
          </a:p>
        </p:txBody>
      </p:sp>
    </p:spTree>
    <p:extLst>
      <p:ext uri="{BB962C8B-B14F-4D97-AF65-F5344CB8AC3E}">
        <p14:creationId xmlns:p14="http://schemas.microsoft.com/office/powerpoint/2010/main" val="425888569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2E8D93B1-0986-1B42-AE45-B531323D1290}"/>
              </a:ext>
            </a:extLst>
          </p:cNvPr>
          <p:cNvSpPr>
            <a:spLocks noGrp="1"/>
          </p:cNvSpPr>
          <p:nvPr>
            <p:ph type="title"/>
          </p:nvPr>
        </p:nvSpPr>
        <p:spPr>
          <a:xfrm>
            <a:off x="408175" y="229403"/>
            <a:ext cx="11372473" cy="914400"/>
          </a:xfrm>
        </p:spPr>
        <p:txBody>
          <a:bodyPr/>
          <a:lstStyle/>
          <a:p>
            <a:r>
              <a:rPr lang="en-US" dirty="0"/>
              <a:t>Underlying Ideas: Mapping Work to Targets</a:t>
            </a:r>
          </a:p>
        </p:txBody>
      </p:sp>
      <p:sp>
        <p:nvSpPr>
          <p:cNvPr id="2" name="Rounded Rectangle 1">
            <a:extLst>
              <a:ext uri="{FF2B5EF4-FFF2-40B4-BE49-F238E27FC236}">
                <a16:creationId xmlns:a16="http://schemas.microsoft.com/office/drawing/2014/main" id="{AF718C10-22F9-DE1F-1A8C-F236C60F9659}"/>
              </a:ext>
            </a:extLst>
          </p:cNvPr>
          <p:cNvSpPr/>
          <p:nvPr/>
        </p:nvSpPr>
        <p:spPr>
          <a:xfrm>
            <a:off x="579392" y="959137"/>
            <a:ext cx="10700856" cy="3320919"/>
          </a:xfrm>
          <a:prstGeom prst="roundRect">
            <a:avLst/>
          </a:prstGeom>
          <a:solidFill>
            <a:srgbClr val="0070C0">
              <a:alpha val="42147"/>
            </a:srgb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r>
              <a:rPr lang="en-US" sz="2000" b="1" dirty="0"/>
              <a:t>This is how many abstraction layers work</a:t>
            </a:r>
          </a:p>
          <a:p>
            <a:endParaRPr lang="en-US" sz="2000" dirty="0"/>
          </a:p>
          <a:p>
            <a:pPr marL="342900" indent="-342900">
              <a:buFont typeface="Arial" panose="020B0604020202020204" pitchFamily="34" charset="0"/>
              <a:buChar char="•"/>
            </a:pPr>
            <a:r>
              <a:rPr lang="en-US" sz="2000" dirty="0"/>
              <a:t>Infer the structure of the code</a:t>
            </a:r>
          </a:p>
          <a:p>
            <a:pPr marL="342900" indent="-342900">
              <a:buFont typeface="Arial" panose="020B0604020202020204" pitchFamily="34" charset="0"/>
              <a:buChar char="•"/>
            </a:pPr>
            <a:r>
              <a:rPr lang="en-US" sz="2000" dirty="0"/>
              <a:t>Infer the map between algorithms and devices</a:t>
            </a:r>
          </a:p>
          <a:p>
            <a:pPr marL="342900" indent="-342900">
              <a:buFont typeface="Arial" panose="020B0604020202020204" pitchFamily="34" charset="0"/>
              <a:buChar char="•"/>
            </a:pPr>
            <a:r>
              <a:rPr lang="en-US" sz="2000" dirty="0"/>
              <a:t>Infer the data movements</a:t>
            </a:r>
          </a:p>
          <a:p>
            <a:pPr marL="342900" indent="-342900">
              <a:buFont typeface="Arial" panose="020B0604020202020204" pitchFamily="34" charset="0"/>
              <a:buChar char="•"/>
            </a:pPr>
            <a:r>
              <a:rPr lang="en-US" sz="2000" dirty="0"/>
              <a:t>Map computations to devices</a:t>
            </a:r>
          </a:p>
          <a:p>
            <a:pPr marL="342900" indent="-342900">
              <a:buFont typeface="Arial" panose="020B0604020202020204" pitchFamily="34" charset="0"/>
              <a:buChar char="•"/>
            </a:pPr>
            <a:r>
              <a:rPr lang="en-US" sz="2000" dirty="0"/>
              <a:t>These are specified either through constructs or pragmas</a:t>
            </a:r>
          </a:p>
          <a:p>
            <a:endParaRPr lang="en-US" sz="2000" dirty="0"/>
          </a:p>
        </p:txBody>
      </p:sp>
      <p:sp>
        <p:nvSpPr>
          <p:cNvPr id="6" name="Rectangle 5">
            <a:extLst>
              <a:ext uri="{FF2B5EF4-FFF2-40B4-BE49-F238E27FC236}">
                <a16:creationId xmlns:a16="http://schemas.microsoft.com/office/drawing/2014/main" id="{56994EF6-4771-DB83-B9DD-4A338ABCF8E4}"/>
              </a:ext>
            </a:extLst>
          </p:cNvPr>
          <p:cNvSpPr/>
          <p:nvPr/>
        </p:nvSpPr>
        <p:spPr>
          <a:xfrm>
            <a:off x="2434780" y="4609699"/>
            <a:ext cx="6092825" cy="369332"/>
          </a:xfrm>
          <a:prstGeom prst="rect">
            <a:avLst/>
          </a:prstGeom>
        </p:spPr>
        <p:txBody>
          <a:bodyPr>
            <a:spAutoFit/>
          </a:bodyPr>
          <a:lstStyle/>
          <a:p>
            <a:r>
              <a:rPr lang="en-US" b="1" dirty="0">
                <a:solidFill>
                  <a:schemeClr val="accent4">
                    <a:lumMod val="50000"/>
                  </a:schemeClr>
                </a:solidFill>
              </a:rPr>
              <a:t>.</a:t>
            </a:r>
          </a:p>
        </p:txBody>
      </p:sp>
      <p:sp>
        <p:nvSpPr>
          <p:cNvPr id="7" name="Rounded Rectangle 6">
            <a:extLst>
              <a:ext uri="{FF2B5EF4-FFF2-40B4-BE49-F238E27FC236}">
                <a16:creationId xmlns:a16="http://schemas.microsoft.com/office/drawing/2014/main" id="{50957D32-6340-7CCA-E204-70855E162224}"/>
              </a:ext>
            </a:extLst>
          </p:cNvPr>
          <p:cNvSpPr/>
          <p:nvPr/>
        </p:nvSpPr>
        <p:spPr>
          <a:xfrm>
            <a:off x="579392" y="4609699"/>
            <a:ext cx="10700856" cy="1035198"/>
          </a:xfrm>
          <a:prstGeom prst="roundRect">
            <a:avLst/>
          </a:prstGeom>
          <a:solidFill>
            <a:srgbClr val="00B0F0">
              <a:alpha val="42147"/>
            </a:srgb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r>
              <a:rPr lang="en-US" sz="2000" b="1" dirty="0"/>
              <a:t>It can also be the end user who figures out the mapping</a:t>
            </a:r>
          </a:p>
          <a:p>
            <a:r>
              <a:rPr lang="en-US" sz="2000" b="1" dirty="0"/>
              <a:t>In either case performance depends upon how well the mapping is done</a:t>
            </a:r>
            <a:r>
              <a:rPr lang="en-US" sz="2000" dirty="0"/>
              <a:t> </a:t>
            </a:r>
          </a:p>
          <a:p>
            <a:r>
              <a:rPr lang="en-US" sz="2000" b="1" dirty="0"/>
              <a:t> </a:t>
            </a:r>
          </a:p>
        </p:txBody>
      </p:sp>
    </p:spTree>
    <p:extLst>
      <p:ext uri="{BB962C8B-B14F-4D97-AF65-F5344CB8AC3E}">
        <p14:creationId xmlns:p14="http://schemas.microsoft.com/office/powerpoint/2010/main" val="158356834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9E2E0-9DA3-3D91-D9AC-F0F883FF40DC}"/>
              </a:ext>
            </a:extLst>
          </p:cNvPr>
          <p:cNvSpPr>
            <a:spLocks noGrp="1"/>
          </p:cNvSpPr>
          <p:nvPr>
            <p:ph type="title"/>
          </p:nvPr>
        </p:nvSpPr>
        <p:spPr>
          <a:xfrm>
            <a:off x="618582" y="19144"/>
            <a:ext cx="10512862" cy="1325218"/>
          </a:xfrm>
        </p:spPr>
        <p:txBody>
          <a:bodyPr/>
          <a:lstStyle/>
          <a:p>
            <a:r>
              <a:rPr lang="en-US" dirty="0"/>
              <a:t>State of Practice – Abstractions and Runtimes</a:t>
            </a:r>
          </a:p>
        </p:txBody>
      </p:sp>
      <p:sp>
        <p:nvSpPr>
          <p:cNvPr id="3" name="Content Placeholder 2">
            <a:extLst>
              <a:ext uri="{FF2B5EF4-FFF2-40B4-BE49-F238E27FC236}">
                <a16:creationId xmlns:a16="http://schemas.microsoft.com/office/drawing/2014/main" id="{53446683-6988-1141-6445-EC432AAC23E6}"/>
              </a:ext>
            </a:extLst>
          </p:cNvPr>
          <p:cNvSpPr>
            <a:spLocks noGrp="1"/>
          </p:cNvSpPr>
          <p:nvPr>
            <p:ph idx="1"/>
          </p:nvPr>
        </p:nvSpPr>
        <p:spPr>
          <a:xfrm>
            <a:off x="618582" y="1055227"/>
            <a:ext cx="10512862" cy="3757332"/>
          </a:xfrm>
        </p:spPr>
        <p:txBody>
          <a:bodyPr>
            <a:normAutofit/>
          </a:bodyPr>
          <a:lstStyle/>
          <a:p>
            <a:r>
              <a:rPr lang="en-US" dirty="0"/>
              <a:t>Still very focused on GPU</a:t>
            </a:r>
          </a:p>
          <a:p>
            <a:pPr lvl="1"/>
            <a:r>
              <a:rPr lang="en-US" dirty="0"/>
              <a:t>Majority of ECP applications park their data on the GPU and just work there</a:t>
            </a:r>
          </a:p>
          <a:p>
            <a:r>
              <a:rPr lang="en-US" dirty="0"/>
              <a:t>Abstractions -- data structures and parallelization of loops </a:t>
            </a:r>
          </a:p>
          <a:p>
            <a:r>
              <a:rPr lang="en-US" dirty="0"/>
              <a:t>Limitations</a:t>
            </a:r>
          </a:p>
          <a:p>
            <a:pPr lvl="1"/>
            <a:r>
              <a:rPr lang="en-US" dirty="0"/>
              <a:t>No way to handle algorithmic variants in a unified way</a:t>
            </a:r>
          </a:p>
          <a:p>
            <a:pPr lvl="1"/>
            <a:r>
              <a:rPr lang="en-US" dirty="0"/>
              <a:t>No way to transfer domain knowledge based possible optimizations to the tools</a:t>
            </a:r>
          </a:p>
          <a:p>
            <a:r>
              <a:rPr lang="en-US" dirty="0"/>
              <a:t>None of the prevalent languages allow a good way to define data locality</a:t>
            </a:r>
          </a:p>
          <a:p>
            <a:pPr lvl="1"/>
            <a:r>
              <a:rPr lang="en-US" dirty="0"/>
              <a:t>Boutique HPC languages like chapel do – but chicken and egg problem with adoption</a:t>
            </a:r>
          </a:p>
          <a:p>
            <a:endParaRPr lang="en-US" dirty="0"/>
          </a:p>
        </p:txBody>
      </p:sp>
      <p:sp>
        <p:nvSpPr>
          <p:cNvPr id="5" name="Rectangle 4">
            <a:extLst>
              <a:ext uri="{FF2B5EF4-FFF2-40B4-BE49-F238E27FC236}">
                <a16:creationId xmlns:a16="http://schemas.microsoft.com/office/drawing/2014/main" id="{3E5C2FF0-973B-B600-067C-C1EA53AFB4FE}"/>
              </a:ext>
            </a:extLst>
          </p:cNvPr>
          <p:cNvSpPr/>
          <p:nvPr/>
        </p:nvSpPr>
        <p:spPr>
          <a:xfrm>
            <a:off x="1614003" y="4788753"/>
            <a:ext cx="7995869" cy="3543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The holy grail for scientists – write equation and generate code</a:t>
            </a:r>
          </a:p>
        </p:txBody>
      </p:sp>
      <p:sp>
        <p:nvSpPr>
          <p:cNvPr id="6" name="Rectangle 5">
            <a:extLst>
              <a:ext uri="{FF2B5EF4-FFF2-40B4-BE49-F238E27FC236}">
                <a16:creationId xmlns:a16="http://schemas.microsoft.com/office/drawing/2014/main" id="{A28BA85B-9464-EA29-2DC2-27EDB4AE3F06}"/>
              </a:ext>
            </a:extLst>
          </p:cNvPr>
          <p:cNvSpPr/>
          <p:nvPr/>
        </p:nvSpPr>
        <p:spPr>
          <a:xfrm>
            <a:off x="3612970" y="5802774"/>
            <a:ext cx="3997935" cy="4387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Is there another way?</a:t>
            </a:r>
          </a:p>
        </p:txBody>
      </p:sp>
      <p:sp>
        <p:nvSpPr>
          <p:cNvPr id="7" name="Rectangle 6">
            <a:extLst>
              <a:ext uri="{FF2B5EF4-FFF2-40B4-BE49-F238E27FC236}">
                <a16:creationId xmlns:a16="http://schemas.microsoft.com/office/drawing/2014/main" id="{30BA514D-7A50-87B9-9355-EA0D70DED958}"/>
              </a:ext>
            </a:extLst>
          </p:cNvPr>
          <p:cNvSpPr/>
          <p:nvPr/>
        </p:nvSpPr>
        <p:spPr>
          <a:xfrm>
            <a:off x="1614003" y="5215797"/>
            <a:ext cx="7995869" cy="3543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Very limited success in some domains</a:t>
            </a:r>
          </a:p>
        </p:txBody>
      </p:sp>
      <p:sp>
        <p:nvSpPr>
          <p:cNvPr id="8" name="Rectangle 7">
            <a:extLst>
              <a:ext uri="{FF2B5EF4-FFF2-40B4-BE49-F238E27FC236}">
                <a16:creationId xmlns:a16="http://schemas.microsoft.com/office/drawing/2014/main" id="{8F69E808-06F7-8E0A-B7F1-0CC2F3F5FD78}"/>
              </a:ext>
            </a:extLst>
          </p:cNvPr>
          <p:cNvSpPr/>
          <p:nvPr/>
        </p:nvSpPr>
        <p:spPr>
          <a:xfrm>
            <a:off x="2136853" y="1577037"/>
            <a:ext cx="6353171" cy="2685351"/>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199" b="1" dirty="0"/>
              <a:t>We have been developing one for Flash-X – started under ECP and TEAMS, continuing with RAPIDS and ENAF</a:t>
            </a:r>
          </a:p>
        </p:txBody>
      </p:sp>
    </p:spTree>
    <p:extLst>
      <p:ext uri="{BB962C8B-B14F-4D97-AF65-F5344CB8AC3E}">
        <p14:creationId xmlns:p14="http://schemas.microsoft.com/office/powerpoint/2010/main" val="231591623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B3B40-7A22-89F8-6BB1-6167FDBA30F2}"/>
              </a:ext>
            </a:extLst>
          </p:cNvPr>
          <p:cNvSpPr>
            <a:spLocks noGrp="1"/>
          </p:cNvSpPr>
          <p:nvPr>
            <p:ph type="title"/>
          </p:nvPr>
        </p:nvSpPr>
        <p:spPr/>
        <p:txBody>
          <a:bodyPr/>
          <a:lstStyle/>
          <a:p>
            <a:r>
              <a:rPr lang="en-US" dirty="0"/>
              <a:t>Mechanisms Needed by the Code: Example Flash-X</a:t>
            </a:r>
          </a:p>
        </p:txBody>
      </p:sp>
      <p:sp>
        <p:nvSpPr>
          <p:cNvPr id="4" name="Rounded Rectangle 3">
            <a:extLst>
              <a:ext uri="{FF2B5EF4-FFF2-40B4-BE49-F238E27FC236}">
                <a16:creationId xmlns:a16="http://schemas.microsoft.com/office/drawing/2014/main" id="{471E77FC-1631-5458-51D2-E734CEC850D0}"/>
              </a:ext>
            </a:extLst>
          </p:cNvPr>
          <p:cNvSpPr/>
          <p:nvPr/>
        </p:nvSpPr>
        <p:spPr>
          <a:xfrm>
            <a:off x="522156" y="3874008"/>
            <a:ext cx="5266944" cy="2220468"/>
          </a:xfrm>
          <a:prstGeom prst="roundRect">
            <a:avLst/>
          </a:prstGeom>
          <a:solidFill>
            <a:schemeClr val="accent1">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nSpc>
                <a:spcPct val="90000"/>
              </a:lnSpc>
            </a:pPr>
            <a:r>
              <a:rPr lang="en-US" sz="2400" dirty="0">
                <a:solidFill>
                  <a:schemeClr val="bg1"/>
                </a:solidFill>
              </a:rPr>
              <a:t>Mechanisms to map work to computational targets</a:t>
            </a:r>
          </a:p>
          <a:p>
            <a:pPr>
              <a:lnSpc>
                <a:spcPct val="90000"/>
              </a:lnSpc>
            </a:pPr>
            <a:endParaRPr lang="en-US" sz="2400" dirty="0">
              <a:solidFill>
                <a:schemeClr val="bg1"/>
              </a:solidFill>
            </a:endParaRPr>
          </a:p>
          <a:p>
            <a:pPr algn="ctr">
              <a:lnSpc>
                <a:spcPct val="90000"/>
              </a:lnSpc>
            </a:pPr>
            <a:r>
              <a:rPr lang="en-US" sz="2400" dirty="0">
                <a:solidFill>
                  <a:schemeClr val="bg1"/>
                </a:solidFill>
              </a:rPr>
              <a:t>DSL for recipes with code generator</a:t>
            </a:r>
          </a:p>
        </p:txBody>
      </p:sp>
      <p:sp>
        <p:nvSpPr>
          <p:cNvPr id="7" name="Rounded Rectangle 6">
            <a:extLst>
              <a:ext uri="{FF2B5EF4-FFF2-40B4-BE49-F238E27FC236}">
                <a16:creationId xmlns:a16="http://schemas.microsoft.com/office/drawing/2014/main" id="{92BFB06A-BBA4-8BFB-FC00-AF67220E1D1D}"/>
              </a:ext>
            </a:extLst>
          </p:cNvPr>
          <p:cNvSpPr/>
          <p:nvPr/>
        </p:nvSpPr>
        <p:spPr>
          <a:xfrm>
            <a:off x="6130988" y="1106424"/>
            <a:ext cx="5266944" cy="2220468"/>
          </a:xfrm>
          <a:prstGeom prst="roundRect">
            <a:avLst/>
          </a:prstGeom>
          <a:solidFill>
            <a:srgbClr val="7030A0"/>
          </a:solidFill>
          <a:ln>
            <a:solidFill>
              <a:srgbClr val="0070C0"/>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nSpc>
                <a:spcPct val="90000"/>
              </a:lnSpc>
            </a:pPr>
            <a:r>
              <a:rPr lang="en-US" sz="2400" dirty="0">
                <a:solidFill>
                  <a:schemeClr val="bg1"/>
                </a:solidFill>
              </a:rPr>
              <a:t>Mechanisms to move work and data to computational targets</a:t>
            </a:r>
          </a:p>
          <a:p>
            <a:pPr marL="342900" indent="-342900">
              <a:lnSpc>
                <a:spcPct val="90000"/>
              </a:lnSpc>
              <a:buFont typeface="Arial" panose="020B0604020202020204" pitchFamily="34" charset="0"/>
              <a:buChar char="•"/>
            </a:pPr>
            <a:endParaRPr lang="en-US" sz="2400" dirty="0">
              <a:solidFill>
                <a:schemeClr val="bg1"/>
              </a:solidFill>
            </a:endParaRPr>
          </a:p>
          <a:p>
            <a:pPr algn="ctr">
              <a:lnSpc>
                <a:spcPct val="90000"/>
              </a:lnSpc>
            </a:pPr>
            <a:r>
              <a:rPr lang="en-US" sz="2400" dirty="0">
                <a:solidFill>
                  <a:schemeClr val="bg1"/>
                </a:solidFill>
              </a:rPr>
              <a:t>    Domain specific runtime</a:t>
            </a:r>
            <a:endParaRPr lang="en-US" sz="2000" dirty="0">
              <a:solidFill>
                <a:schemeClr val="bg1"/>
              </a:solidFill>
            </a:endParaRPr>
          </a:p>
        </p:txBody>
      </p:sp>
      <p:sp>
        <p:nvSpPr>
          <p:cNvPr id="8" name="Rounded Rectangle 7">
            <a:extLst>
              <a:ext uri="{FF2B5EF4-FFF2-40B4-BE49-F238E27FC236}">
                <a16:creationId xmlns:a16="http://schemas.microsoft.com/office/drawing/2014/main" id="{EF43E14F-733F-9C60-C28A-99FD74738BE7}"/>
              </a:ext>
            </a:extLst>
          </p:cNvPr>
          <p:cNvSpPr/>
          <p:nvPr/>
        </p:nvSpPr>
        <p:spPr>
          <a:xfrm>
            <a:off x="523744" y="1106424"/>
            <a:ext cx="5266944" cy="2220468"/>
          </a:xfrm>
          <a:prstGeom prst="roundRect">
            <a:avLst/>
          </a:prstGeom>
          <a:solidFill>
            <a:schemeClr val="accent4">
              <a:lumMod val="75000"/>
            </a:schemeClr>
          </a:solidFill>
          <a:ln>
            <a:solidFill>
              <a:srgbClr val="0070C0"/>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nSpc>
                <a:spcPct val="90000"/>
              </a:lnSpc>
            </a:pPr>
            <a:r>
              <a:rPr lang="en-US" sz="2400" dirty="0">
                <a:solidFill>
                  <a:schemeClr val="bg1"/>
                </a:solidFill>
              </a:rPr>
              <a:t>Mechanisms to unify expression of computation</a:t>
            </a:r>
          </a:p>
          <a:p>
            <a:pPr>
              <a:lnSpc>
                <a:spcPct val="90000"/>
              </a:lnSpc>
            </a:pPr>
            <a:endParaRPr lang="en-US" sz="2400" dirty="0">
              <a:solidFill>
                <a:schemeClr val="bg1"/>
              </a:solidFill>
            </a:endParaRPr>
          </a:p>
          <a:p>
            <a:pPr algn="ctr">
              <a:lnSpc>
                <a:spcPct val="90000"/>
              </a:lnSpc>
            </a:pPr>
            <a:r>
              <a:rPr lang="en-US" sz="2400" dirty="0">
                <a:solidFill>
                  <a:schemeClr val="bg1"/>
                </a:solidFill>
              </a:rPr>
              <a:t>   Macros with inheritance </a:t>
            </a:r>
          </a:p>
        </p:txBody>
      </p:sp>
      <p:sp>
        <p:nvSpPr>
          <p:cNvPr id="5" name="Rounded Rectangle 4">
            <a:extLst>
              <a:ext uri="{FF2B5EF4-FFF2-40B4-BE49-F238E27FC236}">
                <a16:creationId xmlns:a16="http://schemas.microsoft.com/office/drawing/2014/main" id="{03F4EA3B-2D5D-C05D-E165-FA8F8EF12B71}"/>
              </a:ext>
            </a:extLst>
          </p:cNvPr>
          <p:cNvSpPr/>
          <p:nvPr/>
        </p:nvSpPr>
        <p:spPr>
          <a:xfrm>
            <a:off x="6130988" y="3874008"/>
            <a:ext cx="5266944" cy="2220468"/>
          </a:xfrm>
          <a:prstGeom prst="roundRect">
            <a:avLst/>
          </a:prstGeom>
          <a:solidFill>
            <a:schemeClr val="accent5">
              <a:lumMod val="50000"/>
            </a:schemeClr>
          </a:solidFill>
          <a:ln>
            <a:solidFill>
              <a:srgbClr val="0070C0"/>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400" dirty="0">
              <a:solidFill>
                <a:schemeClr val="bg1"/>
              </a:solidFill>
            </a:endParaRPr>
          </a:p>
          <a:p>
            <a:pPr algn="ctr">
              <a:lnSpc>
                <a:spcPct val="90000"/>
              </a:lnSpc>
            </a:pPr>
            <a:r>
              <a:rPr lang="en-US" sz="2400" dirty="0">
                <a:solidFill>
                  <a:schemeClr val="bg1"/>
                </a:solidFill>
              </a:rPr>
              <a:t>Composability in the source</a:t>
            </a:r>
          </a:p>
          <a:p>
            <a:pPr algn="ctr">
              <a:lnSpc>
                <a:spcPct val="90000"/>
              </a:lnSpc>
            </a:pPr>
            <a:r>
              <a:rPr lang="en-US" sz="2400" dirty="0">
                <a:solidFill>
                  <a:schemeClr val="bg1"/>
                </a:solidFill>
              </a:rPr>
              <a:t>A toolset of each mechanism</a:t>
            </a:r>
          </a:p>
          <a:p>
            <a:pPr algn="ctr">
              <a:lnSpc>
                <a:spcPct val="90000"/>
              </a:lnSpc>
            </a:pPr>
            <a:r>
              <a:rPr lang="en-US" sz="2400" dirty="0">
                <a:solidFill>
                  <a:schemeClr val="bg1"/>
                </a:solidFill>
              </a:rPr>
              <a:t>Independent tool sets</a:t>
            </a:r>
          </a:p>
          <a:p>
            <a:pPr algn="ctr">
              <a:lnSpc>
                <a:spcPct val="90000"/>
              </a:lnSpc>
            </a:pPr>
            <a:endParaRPr lang="en-US" sz="2400" dirty="0">
              <a:solidFill>
                <a:schemeClr val="bg1"/>
              </a:solidFill>
            </a:endParaRPr>
          </a:p>
          <a:p>
            <a:pPr algn="ctr">
              <a:lnSpc>
                <a:spcPct val="90000"/>
              </a:lnSpc>
            </a:pPr>
            <a:r>
              <a:rPr lang="en-US" sz="2400" dirty="0">
                <a:solidFill>
                  <a:schemeClr val="bg1"/>
                </a:solidFill>
              </a:rPr>
              <a:t> </a:t>
            </a:r>
          </a:p>
        </p:txBody>
      </p:sp>
    </p:spTree>
    <p:extLst>
      <p:ext uri="{BB962C8B-B14F-4D97-AF65-F5344CB8AC3E}">
        <p14:creationId xmlns:p14="http://schemas.microsoft.com/office/powerpoint/2010/main" val="92008221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B3B40-7A22-89F8-6BB1-6167FDBA30F2}"/>
              </a:ext>
            </a:extLst>
          </p:cNvPr>
          <p:cNvSpPr>
            <a:spLocks noGrp="1"/>
          </p:cNvSpPr>
          <p:nvPr>
            <p:ph type="title"/>
          </p:nvPr>
        </p:nvSpPr>
        <p:spPr>
          <a:xfrm>
            <a:off x="792273" y="101609"/>
            <a:ext cx="10512862" cy="1325218"/>
          </a:xfrm>
        </p:spPr>
        <p:txBody>
          <a:bodyPr/>
          <a:lstStyle/>
          <a:p>
            <a:r>
              <a:rPr lang="en-US" dirty="0"/>
              <a:t>Mechanisms Needed by the Code </a:t>
            </a:r>
          </a:p>
        </p:txBody>
      </p:sp>
      <p:sp>
        <p:nvSpPr>
          <p:cNvPr id="3" name="TextBox 2">
            <a:extLst>
              <a:ext uri="{FF2B5EF4-FFF2-40B4-BE49-F238E27FC236}">
                <a16:creationId xmlns:a16="http://schemas.microsoft.com/office/drawing/2014/main" id="{3CF76096-66D6-FA7D-C3FD-229037FD0777}"/>
              </a:ext>
            </a:extLst>
          </p:cNvPr>
          <p:cNvSpPr txBox="1"/>
          <p:nvPr/>
        </p:nvSpPr>
        <p:spPr>
          <a:xfrm>
            <a:off x="2603178" y="3690387"/>
            <a:ext cx="5265572" cy="2307723"/>
          </a:xfrm>
          <a:prstGeom prst="rect">
            <a:avLst/>
          </a:prstGeom>
          <a:solidFill>
            <a:srgbClr val="002060"/>
          </a:solidFill>
        </p:spPr>
        <p:txBody>
          <a:bodyPr wrap="square" rtlCol="0">
            <a:spAutoFit/>
          </a:bodyPr>
          <a:lstStyle/>
          <a:p>
            <a:pPr algn="ctr"/>
            <a:r>
              <a:rPr lang="en-US" dirty="0">
                <a:solidFill>
                  <a:schemeClr val="bg1"/>
                </a:solidFill>
              </a:rPr>
              <a:t>Express code with embedded macros</a:t>
            </a:r>
          </a:p>
          <a:p>
            <a:pPr marL="285664" indent="-285664">
              <a:buFont typeface="Arial" panose="020B0604020202020204" pitchFamily="34" charset="0"/>
              <a:buChar char="•"/>
            </a:pPr>
            <a:r>
              <a:rPr lang="en-US" dirty="0">
                <a:solidFill>
                  <a:schemeClr val="bg1"/>
                </a:solidFill>
              </a:rPr>
              <a:t>Let macros have multiple alternative definitions</a:t>
            </a:r>
          </a:p>
          <a:p>
            <a:pPr marL="285664" indent="-285664">
              <a:buFont typeface="Arial" panose="020B0604020202020204" pitchFamily="34" charset="0"/>
              <a:buChar char="•"/>
            </a:pPr>
            <a:r>
              <a:rPr lang="en-US" dirty="0">
                <a:solidFill>
                  <a:schemeClr val="bg1"/>
                </a:solidFill>
              </a:rPr>
              <a:t>Implement mechanism to select specific macro definition</a:t>
            </a:r>
          </a:p>
          <a:p>
            <a:pPr marL="285664" indent="-285664">
              <a:buFont typeface="Arial" panose="020B0604020202020204" pitchFamily="34" charset="0"/>
              <a:buChar char="•"/>
            </a:pPr>
            <a:r>
              <a:rPr lang="en-US" dirty="0">
                <a:solidFill>
                  <a:schemeClr val="bg1"/>
                </a:solidFill>
              </a:rPr>
              <a:t>Implement mechanism to safely include more than one definition</a:t>
            </a:r>
          </a:p>
          <a:p>
            <a:pPr marL="285664" indent="-285664">
              <a:buFont typeface="Arial" panose="020B0604020202020204" pitchFamily="34" charset="0"/>
              <a:buChar char="•"/>
            </a:pPr>
            <a:r>
              <a:rPr lang="en-US" dirty="0">
                <a:solidFill>
                  <a:schemeClr val="bg1"/>
                </a:solidFill>
              </a:rPr>
              <a:t>Allow inline, recursion and arguments in macros</a:t>
            </a:r>
          </a:p>
        </p:txBody>
      </p:sp>
      <p:sp>
        <p:nvSpPr>
          <p:cNvPr id="10" name="Rounded Rectangle 9">
            <a:extLst>
              <a:ext uri="{FF2B5EF4-FFF2-40B4-BE49-F238E27FC236}">
                <a16:creationId xmlns:a16="http://schemas.microsoft.com/office/drawing/2014/main" id="{8B151DF0-8BAF-AEF2-EC77-A49FECBA77A2}"/>
              </a:ext>
            </a:extLst>
          </p:cNvPr>
          <p:cNvSpPr/>
          <p:nvPr/>
        </p:nvSpPr>
        <p:spPr>
          <a:xfrm>
            <a:off x="2603178" y="1211728"/>
            <a:ext cx="5265572" cy="2219890"/>
          </a:xfrm>
          <a:prstGeom prst="roundRect">
            <a:avLst/>
          </a:prstGeom>
          <a:solidFill>
            <a:schemeClr val="accent4">
              <a:lumMod val="75000"/>
            </a:schemeClr>
          </a:solidFill>
          <a:ln>
            <a:solidFill>
              <a:srgbClr val="0070C0"/>
            </a:solidFill>
          </a:ln>
          <a:effectLst>
            <a:outerShdw blurRad="44450" dist="27940" dir="5400000" algn="ctr">
              <a:srgbClr val="000000">
                <a:alpha val="32000"/>
              </a:srgbClr>
            </a:outerShdw>
          </a:effectLst>
        </p:spPr>
        <p:txBody>
          <a:bodyPr rot="0" spcFirstLastPara="0" vertOverflow="overflow" horzOverflow="overflow" vert="horz" wrap="square" lIns="121819" tIns="60909" rIns="121819" bIns="60909" numCol="1" spcCol="0" rtlCol="0" fromWordArt="0" anchor="ctr" anchorCtr="0" forceAA="0" compatLnSpc="1">
            <a:prstTxWarp prst="textNoShape">
              <a:avLst/>
            </a:prstTxWarp>
            <a:noAutofit/>
          </a:bodyPr>
          <a:lstStyle/>
          <a:p>
            <a:pPr>
              <a:lnSpc>
                <a:spcPct val="90000"/>
              </a:lnSpc>
            </a:pPr>
            <a:r>
              <a:rPr lang="en-US" sz="2399" dirty="0">
                <a:solidFill>
                  <a:schemeClr val="bg1"/>
                </a:solidFill>
              </a:rPr>
              <a:t>Mechanisms to unify expression of computation</a:t>
            </a:r>
          </a:p>
          <a:p>
            <a:pPr marL="342797" indent="-342797">
              <a:lnSpc>
                <a:spcPct val="90000"/>
              </a:lnSpc>
              <a:buFont typeface="Arial" panose="020B0604020202020204" pitchFamily="34" charset="0"/>
              <a:buChar char="•"/>
            </a:pPr>
            <a:r>
              <a:rPr lang="en-US" sz="1999" dirty="0">
                <a:solidFill>
                  <a:schemeClr val="bg1"/>
                </a:solidFill>
              </a:rPr>
              <a:t>Minimize maintained variants of source suitable for all computational devices</a:t>
            </a:r>
          </a:p>
          <a:p>
            <a:pPr marL="342797" indent="-342797">
              <a:lnSpc>
                <a:spcPct val="90000"/>
              </a:lnSpc>
              <a:buFont typeface="Arial" panose="020B0604020202020204" pitchFamily="34" charset="0"/>
              <a:buChar char="•"/>
            </a:pPr>
            <a:r>
              <a:rPr lang="en-US" sz="1999" dirty="0">
                <a:solidFill>
                  <a:schemeClr val="bg1"/>
                </a:solidFill>
              </a:rPr>
              <a:t>Reconcile differences in data structures</a:t>
            </a:r>
          </a:p>
        </p:txBody>
      </p:sp>
    </p:spTree>
    <p:extLst>
      <p:ext uri="{BB962C8B-B14F-4D97-AF65-F5344CB8AC3E}">
        <p14:creationId xmlns:p14="http://schemas.microsoft.com/office/powerpoint/2010/main" val="358592344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A8ADA09-EC9A-5240-B8B3-EA116C38BB48}"/>
              </a:ext>
            </a:extLst>
          </p:cNvPr>
          <p:cNvSpPr/>
          <p:nvPr/>
        </p:nvSpPr>
        <p:spPr>
          <a:xfrm>
            <a:off x="0" y="3211887"/>
            <a:ext cx="2936745" cy="3645220"/>
          </a:xfrm>
          <a:prstGeom prst="rect">
            <a:avLst/>
          </a:prstGeom>
          <a:noFill/>
          <a:ln>
            <a:solidFill>
              <a:schemeClr val="accent1"/>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45708" tIns="45708" rIns="45708" bIns="45708" numCol="1" spcCol="0" rtlCol="0" fromWordArt="0" anchor="ctr" anchorCtr="0" forceAA="0" compatLnSpc="1">
            <a:prstTxWarp prst="textNoShape">
              <a:avLst/>
            </a:prstTxWarp>
            <a:noAutofit/>
          </a:bodyPr>
          <a:lstStyle/>
          <a:p>
            <a:r>
              <a:rPr lang="en-US" b="1" dirty="0">
                <a:solidFill>
                  <a:schemeClr val="tx1"/>
                </a:solidFill>
              </a:rPr>
              <a:t>Definitions for CPU </a:t>
            </a:r>
          </a:p>
          <a:p>
            <a:r>
              <a:rPr lang="en-US" dirty="0">
                <a:solidFill>
                  <a:schemeClr val="tx1"/>
                </a:solidFill>
              </a:rPr>
              <a:t>[</a:t>
            </a:r>
            <a:r>
              <a:rPr lang="en-US" dirty="0">
                <a:solidFill>
                  <a:srgbClr val="7030A0"/>
                </a:solidFill>
              </a:rPr>
              <a:t>declare</a:t>
            </a:r>
            <a:r>
              <a:rPr lang="en-US" dirty="0">
                <a:solidFill>
                  <a:schemeClr val="tx1"/>
                </a:solidFill>
              </a:rPr>
              <a:t>]</a:t>
            </a:r>
          </a:p>
          <a:p>
            <a:r>
              <a:rPr lang="en-US" dirty="0">
                <a:solidFill>
                  <a:schemeClr val="tx1"/>
                </a:solidFill>
              </a:rPr>
              <a:t>    definition=</a:t>
            </a:r>
          </a:p>
          <a:p>
            <a:r>
              <a:rPr lang="en-US" dirty="0">
                <a:solidFill>
                  <a:schemeClr val="tx1"/>
                </a:solidFill>
              </a:rPr>
              <a:t>   </a:t>
            </a:r>
            <a:r>
              <a:rPr lang="en-US" dirty="0" err="1">
                <a:solidFill>
                  <a:schemeClr val="tx1"/>
                </a:solidFill>
              </a:rPr>
              <a:t>cpu</a:t>
            </a:r>
            <a:r>
              <a:rPr lang="en-US" dirty="0">
                <a:solidFill>
                  <a:schemeClr val="tx1"/>
                </a:solidFill>
              </a:rPr>
              <a:t>-specific declarations</a:t>
            </a:r>
          </a:p>
          <a:p>
            <a:r>
              <a:rPr lang="en-US" dirty="0">
                <a:solidFill>
                  <a:schemeClr val="tx1"/>
                </a:solidFill>
              </a:rPr>
              <a:t>[</a:t>
            </a:r>
            <a:r>
              <a:rPr lang="en-US" dirty="0">
                <a:solidFill>
                  <a:srgbClr val="7030A0"/>
                </a:solidFill>
              </a:rPr>
              <a:t>directive1</a:t>
            </a:r>
            <a:r>
              <a:rPr lang="en-US" dirty="0">
                <a:solidFill>
                  <a:schemeClr val="tx1"/>
                </a:solidFill>
              </a:rPr>
              <a:t>]</a:t>
            </a:r>
          </a:p>
          <a:p>
            <a:r>
              <a:rPr lang="en-US" dirty="0">
                <a:solidFill>
                  <a:schemeClr val="tx1"/>
                </a:solidFill>
              </a:rPr>
              <a:t>   definition=</a:t>
            </a:r>
          </a:p>
          <a:p>
            <a:r>
              <a:rPr lang="en-US" dirty="0">
                <a:solidFill>
                  <a:schemeClr val="tx1"/>
                </a:solidFill>
              </a:rPr>
              <a:t>   !!</a:t>
            </a:r>
            <a:r>
              <a:rPr lang="en-US" dirty="0" err="1">
                <a:solidFill>
                  <a:schemeClr val="tx1"/>
                </a:solidFill>
              </a:rPr>
              <a:t>omp</a:t>
            </a:r>
            <a:r>
              <a:rPr lang="en-US" dirty="0">
                <a:solidFill>
                  <a:schemeClr val="tx1"/>
                </a:solidFill>
              </a:rPr>
              <a:t> directive for </a:t>
            </a:r>
            <a:r>
              <a:rPr lang="en-US" dirty="0" err="1">
                <a:solidFill>
                  <a:schemeClr val="tx1"/>
                </a:solidFill>
              </a:rPr>
              <a:t>cpu</a:t>
            </a:r>
            <a:endParaRPr lang="en-US" dirty="0">
              <a:solidFill>
                <a:schemeClr val="tx1"/>
              </a:solidFill>
            </a:endParaRPr>
          </a:p>
          <a:p>
            <a:r>
              <a:rPr lang="en-US" dirty="0">
                <a:solidFill>
                  <a:schemeClr val="tx1"/>
                </a:solidFill>
              </a:rPr>
              <a:t>[</a:t>
            </a:r>
            <a:r>
              <a:rPr lang="en-US" dirty="0">
                <a:solidFill>
                  <a:srgbClr val="7030A0"/>
                </a:solidFill>
              </a:rPr>
              <a:t>endloop_2d_spl</a:t>
            </a:r>
            <a:r>
              <a:rPr lang="en-US" dirty="0">
                <a:solidFill>
                  <a:schemeClr val="tx1"/>
                </a:solidFill>
              </a:rPr>
              <a:t>]</a:t>
            </a:r>
          </a:p>
          <a:p>
            <a:r>
              <a:rPr lang="en-US" dirty="0">
                <a:solidFill>
                  <a:schemeClr val="tx1"/>
                </a:solidFill>
              </a:rPr>
              <a:t> definition=</a:t>
            </a:r>
          </a:p>
          <a:p>
            <a:r>
              <a:rPr lang="en-US" dirty="0">
                <a:solidFill>
                  <a:schemeClr val="tx1"/>
                </a:solidFill>
              </a:rPr>
              <a:t>[</a:t>
            </a:r>
            <a:r>
              <a:rPr lang="en-US" dirty="0">
                <a:solidFill>
                  <a:srgbClr val="7030A0"/>
                </a:solidFill>
              </a:rPr>
              <a:t>directive2</a:t>
            </a:r>
            <a:r>
              <a:rPr lang="en-US" dirty="0">
                <a:solidFill>
                  <a:schemeClr val="tx1"/>
                </a:solidFill>
              </a:rPr>
              <a:t>]</a:t>
            </a:r>
          </a:p>
          <a:p>
            <a:r>
              <a:rPr lang="en-US" dirty="0">
                <a:solidFill>
                  <a:schemeClr val="tx1"/>
                </a:solidFill>
              </a:rPr>
              <a:t> definition=</a:t>
            </a:r>
          </a:p>
          <a:p>
            <a:r>
              <a:rPr lang="en-US" dirty="0">
                <a:solidFill>
                  <a:schemeClr val="tx1"/>
                </a:solidFill>
              </a:rPr>
              <a:t>[</a:t>
            </a:r>
            <a:r>
              <a:rPr lang="en-US" dirty="0">
                <a:solidFill>
                  <a:srgbClr val="7030A0"/>
                </a:solidFill>
              </a:rPr>
              <a:t>loop_2d_spl</a:t>
            </a:r>
            <a:r>
              <a:rPr lang="en-US" dirty="0">
                <a:solidFill>
                  <a:schemeClr val="tx1"/>
                </a:solidFill>
              </a:rPr>
              <a:t>]</a:t>
            </a:r>
          </a:p>
          <a:p>
            <a:r>
              <a:rPr lang="en-US" dirty="0">
                <a:solidFill>
                  <a:schemeClr val="tx1"/>
                </a:solidFill>
              </a:rPr>
              <a:t> definition=</a:t>
            </a:r>
          </a:p>
        </p:txBody>
      </p:sp>
      <p:sp>
        <p:nvSpPr>
          <p:cNvPr id="11" name="Rectangle 10">
            <a:extLst>
              <a:ext uri="{FF2B5EF4-FFF2-40B4-BE49-F238E27FC236}">
                <a16:creationId xmlns:a16="http://schemas.microsoft.com/office/drawing/2014/main" id="{5CB3175D-1AE3-AF4F-B29C-3EF023378FE8}"/>
              </a:ext>
            </a:extLst>
          </p:cNvPr>
          <p:cNvSpPr/>
          <p:nvPr/>
        </p:nvSpPr>
        <p:spPr>
          <a:xfrm>
            <a:off x="25644" y="12324"/>
            <a:ext cx="2911101" cy="3119574"/>
          </a:xfrm>
          <a:prstGeom prst="rect">
            <a:avLst/>
          </a:prstGeom>
          <a:noFill/>
          <a:ln>
            <a:solidFill>
              <a:schemeClr val="accent1"/>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45708" tIns="45708" rIns="45708" bIns="45708" numCol="1" spcCol="0" rtlCol="0" fromWordArt="0" anchor="ctr" anchorCtr="0" forceAA="0" compatLnSpc="1">
            <a:prstTxWarp prst="textNoShape">
              <a:avLst/>
            </a:prstTxWarp>
            <a:noAutofit/>
          </a:bodyPr>
          <a:lstStyle/>
          <a:p>
            <a:r>
              <a:rPr lang="en-US" b="1" dirty="0">
                <a:solidFill>
                  <a:schemeClr val="tx1"/>
                </a:solidFill>
              </a:rPr>
              <a:t>Code Expressed with macros</a:t>
            </a:r>
            <a:endParaRPr lang="en-US" dirty="0">
              <a:solidFill>
                <a:schemeClr val="tx1"/>
              </a:solidFill>
            </a:endParaRPr>
          </a:p>
          <a:p>
            <a:r>
              <a:rPr lang="en-US" dirty="0">
                <a:solidFill>
                  <a:srgbClr val="7030A0"/>
                </a:solidFill>
              </a:rPr>
              <a:t>@M declare</a:t>
            </a:r>
          </a:p>
          <a:p>
            <a:r>
              <a:rPr lang="en-US" dirty="0">
                <a:solidFill>
                  <a:srgbClr val="7030A0"/>
                </a:solidFill>
              </a:rPr>
              <a:t>@M directive1</a:t>
            </a:r>
          </a:p>
          <a:p>
            <a:r>
              <a:rPr lang="en-US" dirty="0">
                <a:solidFill>
                  <a:srgbClr val="C00000"/>
                </a:solidFill>
              </a:rPr>
              <a:t>@M loop_2d</a:t>
            </a:r>
          </a:p>
          <a:p>
            <a:r>
              <a:rPr lang="en-US" dirty="0"/>
              <a:t>        </a:t>
            </a:r>
            <a:r>
              <a:rPr lang="en-US" dirty="0">
                <a:solidFill>
                  <a:schemeClr val="tx1"/>
                </a:solidFill>
              </a:rPr>
              <a:t>…. computation 1</a:t>
            </a:r>
          </a:p>
          <a:p>
            <a:r>
              <a:rPr lang="en-US" dirty="0">
                <a:solidFill>
                  <a:schemeClr val="tx1"/>
                </a:solidFill>
              </a:rPr>
              <a:t>        …. computation 2</a:t>
            </a:r>
          </a:p>
          <a:p>
            <a:r>
              <a:rPr lang="en-US" dirty="0">
                <a:solidFill>
                  <a:srgbClr val="7030A0"/>
                </a:solidFill>
              </a:rPr>
              <a:t>@M endloop_2d_spl</a:t>
            </a:r>
          </a:p>
          <a:p>
            <a:r>
              <a:rPr lang="en-US" dirty="0">
                <a:solidFill>
                  <a:srgbClr val="7030A0"/>
                </a:solidFill>
              </a:rPr>
              <a:t>@M directive2</a:t>
            </a:r>
          </a:p>
          <a:p>
            <a:r>
              <a:rPr lang="en-US" dirty="0">
                <a:solidFill>
                  <a:srgbClr val="7030A0"/>
                </a:solidFill>
              </a:rPr>
              <a:t>@M loop_2d_spl</a:t>
            </a:r>
          </a:p>
          <a:p>
            <a:r>
              <a:rPr lang="en-US" dirty="0">
                <a:solidFill>
                  <a:schemeClr val="tx1"/>
                </a:solidFill>
              </a:rPr>
              <a:t>        …. computation 3</a:t>
            </a:r>
          </a:p>
          <a:p>
            <a:r>
              <a:rPr lang="en-US" dirty="0">
                <a:solidFill>
                  <a:srgbClr val="C00000"/>
                </a:solidFill>
              </a:rPr>
              <a:t>@M endloop_2d</a:t>
            </a:r>
          </a:p>
        </p:txBody>
      </p:sp>
      <p:sp>
        <p:nvSpPr>
          <p:cNvPr id="18" name="Rectangle 17">
            <a:extLst>
              <a:ext uri="{FF2B5EF4-FFF2-40B4-BE49-F238E27FC236}">
                <a16:creationId xmlns:a16="http://schemas.microsoft.com/office/drawing/2014/main" id="{DDA60C92-C03F-534C-851E-F0826F9F6F00}"/>
              </a:ext>
            </a:extLst>
          </p:cNvPr>
          <p:cNvSpPr/>
          <p:nvPr/>
        </p:nvSpPr>
        <p:spPr>
          <a:xfrm>
            <a:off x="3052420" y="2146108"/>
            <a:ext cx="3041993" cy="4688144"/>
          </a:xfrm>
          <a:prstGeom prst="rect">
            <a:avLst/>
          </a:prstGeom>
          <a:noFill/>
          <a:ln>
            <a:solidFill>
              <a:schemeClr val="accent1"/>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45708" tIns="45708" rIns="45708" bIns="45708" numCol="1" spcCol="0" rtlCol="0" fromWordArt="0" anchor="ctr" anchorCtr="0" forceAA="0" compatLnSpc="1">
            <a:prstTxWarp prst="textNoShape">
              <a:avLst/>
            </a:prstTxWarp>
            <a:noAutofit/>
          </a:bodyPr>
          <a:lstStyle/>
          <a:p>
            <a:r>
              <a:rPr lang="en-US" b="1" dirty="0">
                <a:solidFill>
                  <a:schemeClr val="tx1"/>
                </a:solidFill>
              </a:rPr>
              <a:t>Definitions for GPU </a:t>
            </a:r>
          </a:p>
          <a:p>
            <a:r>
              <a:rPr lang="en-US" dirty="0">
                <a:solidFill>
                  <a:schemeClr val="tx1"/>
                </a:solidFill>
              </a:rPr>
              <a:t>[</a:t>
            </a:r>
            <a:r>
              <a:rPr lang="en-US" dirty="0">
                <a:solidFill>
                  <a:srgbClr val="7030A0"/>
                </a:solidFill>
              </a:rPr>
              <a:t>declare</a:t>
            </a:r>
            <a:r>
              <a:rPr lang="en-US" dirty="0">
                <a:solidFill>
                  <a:schemeClr val="tx1"/>
                </a:solidFill>
              </a:rPr>
              <a:t>]</a:t>
            </a:r>
          </a:p>
          <a:p>
            <a:r>
              <a:rPr lang="en-US" dirty="0">
                <a:solidFill>
                  <a:schemeClr val="tx1"/>
                </a:solidFill>
              </a:rPr>
              <a:t> definition=</a:t>
            </a:r>
          </a:p>
          <a:p>
            <a:r>
              <a:rPr lang="en-US" dirty="0">
                <a:solidFill>
                  <a:schemeClr val="tx1"/>
                </a:solidFill>
              </a:rPr>
              <a:t>   </a:t>
            </a:r>
            <a:r>
              <a:rPr lang="en-US" dirty="0" err="1">
                <a:solidFill>
                  <a:schemeClr val="tx1"/>
                </a:solidFill>
              </a:rPr>
              <a:t>gpu</a:t>
            </a:r>
            <a:r>
              <a:rPr lang="en-US" dirty="0">
                <a:solidFill>
                  <a:schemeClr val="tx1"/>
                </a:solidFill>
              </a:rPr>
              <a:t>-specific declarations</a:t>
            </a:r>
          </a:p>
          <a:p>
            <a:r>
              <a:rPr lang="en-US" dirty="0">
                <a:solidFill>
                  <a:schemeClr val="tx1"/>
                </a:solidFill>
              </a:rPr>
              <a:t>[</a:t>
            </a:r>
            <a:r>
              <a:rPr lang="en-US" dirty="0">
                <a:solidFill>
                  <a:srgbClr val="7030A0"/>
                </a:solidFill>
              </a:rPr>
              <a:t>directive1</a:t>
            </a:r>
            <a:r>
              <a:rPr lang="en-US" dirty="0">
                <a:solidFill>
                  <a:schemeClr val="tx1"/>
                </a:solidFill>
              </a:rPr>
              <a:t>]</a:t>
            </a:r>
          </a:p>
          <a:p>
            <a:r>
              <a:rPr lang="en-US" dirty="0">
                <a:solidFill>
                  <a:schemeClr val="tx1"/>
                </a:solidFill>
              </a:rPr>
              <a:t> definition=</a:t>
            </a:r>
          </a:p>
          <a:p>
            <a:r>
              <a:rPr lang="en-US" dirty="0">
                <a:solidFill>
                  <a:schemeClr val="tx1"/>
                </a:solidFill>
              </a:rPr>
              <a:t>  !!</a:t>
            </a:r>
            <a:r>
              <a:rPr lang="en-US" dirty="0" err="1">
                <a:solidFill>
                  <a:schemeClr val="tx1"/>
                </a:solidFill>
              </a:rPr>
              <a:t>omp</a:t>
            </a:r>
            <a:r>
              <a:rPr lang="en-US" dirty="0">
                <a:solidFill>
                  <a:schemeClr val="tx1"/>
                </a:solidFill>
              </a:rPr>
              <a:t> directive1 for </a:t>
            </a:r>
            <a:r>
              <a:rPr lang="en-US" dirty="0" err="1">
                <a:solidFill>
                  <a:schemeClr val="tx1"/>
                </a:solidFill>
              </a:rPr>
              <a:t>gpu</a:t>
            </a:r>
            <a:endParaRPr lang="en-US" dirty="0">
              <a:solidFill>
                <a:schemeClr val="tx1"/>
              </a:solidFill>
            </a:endParaRPr>
          </a:p>
          <a:p>
            <a:r>
              <a:rPr lang="en-US" dirty="0">
                <a:solidFill>
                  <a:schemeClr val="tx1"/>
                </a:solidFill>
              </a:rPr>
              <a:t>[</a:t>
            </a:r>
            <a:r>
              <a:rPr lang="en-US" dirty="0">
                <a:solidFill>
                  <a:srgbClr val="7030A0"/>
                </a:solidFill>
              </a:rPr>
              <a:t>endloop_2d_spl</a:t>
            </a:r>
            <a:r>
              <a:rPr lang="en-US" dirty="0">
                <a:solidFill>
                  <a:schemeClr val="tx1"/>
                </a:solidFill>
              </a:rPr>
              <a:t>]</a:t>
            </a:r>
          </a:p>
          <a:p>
            <a:r>
              <a:rPr lang="en-US" dirty="0">
                <a:solidFill>
                  <a:schemeClr val="tx1"/>
                </a:solidFill>
              </a:rPr>
              <a:t> definition=</a:t>
            </a:r>
          </a:p>
          <a:p>
            <a:r>
              <a:rPr lang="en-US" dirty="0">
                <a:solidFill>
                  <a:schemeClr val="tx1"/>
                </a:solidFill>
              </a:rPr>
              <a:t>    @M </a:t>
            </a:r>
            <a:r>
              <a:rPr lang="en-US" dirty="0">
                <a:solidFill>
                  <a:srgbClr val="C00000"/>
                </a:solidFill>
              </a:rPr>
              <a:t>endloop_2d</a:t>
            </a:r>
            <a:endParaRPr lang="en-US" dirty="0">
              <a:solidFill>
                <a:schemeClr val="tx1"/>
              </a:solidFill>
            </a:endParaRPr>
          </a:p>
          <a:p>
            <a:r>
              <a:rPr lang="en-US" dirty="0">
                <a:solidFill>
                  <a:schemeClr val="tx1"/>
                </a:solidFill>
              </a:rPr>
              <a:t>[</a:t>
            </a:r>
            <a:r>
              <a:rPr lang="en-US" dirty="0">
                <a:solidFill>
                  <a:srgbClr val="7030A0"/>
                </a:solidFill>
              </a:rPr>
              <a:t>directive2</a:t>
            </a:r>
            <a:r>
              <a:rPr lang="en-US" dirty="0">
                <a:solidFill>
                  <a:schemeClr val="tx1"/>
                </a:solidFill>
              </a:rPr>
              <a:t>]</a:t>
            </a:r>
          </a:p>
          <a:p>
            <a:r>
              <a:rPr lang="en-US" dirty="0">
                <a:solidFill>
                  <a:schemeClr val="tx1"/>
                </a:solidFill>
              </a:rPr>
              <a:t> definition=</a:t>
            </a:r>
          </a:p>
          <a:p>
            <a:r>
              <a:rPr lang="en-US" dirty="0">
                <a:solidFill>
                  <a:schemeClr val="tx1"/>
                </a:solidFill>
              </a:rPr>
              <a:t>!!</a:t>
            </a:r>
            <a:r>
              <a:rPr lang="en-US" dirty="0" err="1">
                <a:solidFill>
                  <a:schemeClr val="tx1"/>
                </a:solidFill>
              </a:rPr>
              <a:t>omp</a:t>
            </a:r>
            <a:r>
              <a:rPr lang="en-US" dirty="0">
                <a:solidFill>
                  <a:schemeClr val="tx1"/>
                </a:solidFill>
              </a:rPr>
              <a:t> directive2 for </a:t>
            </a:r>
            <a:r>
              <a:rPr lang="en-US" dirty="0" err="1">
                <a:solidFill>
                  <a:schemeClr val="tx1"/>
                </a:solidFill>
              </a:rPr>
              <a:t>gpu</a:t>
            </a:r>
            <a:endParaRPr lang="en-US" dirty="0">
              <a:solidFill>
                <a:schemeClr val="tx1"/>
              </a:solidFill>
            </a:endParaRPr>
          </a:p>
          <a:p>
            <a:r>
              <a:rPr lang="en-US" dirty="0">
                <a:solidFill>
                  <a:schemeClr val="tx1"/>
                </a:solidFill>
              </a:rPr>
              <a:t>[</a:t>
            </a:r>
            <a:r>
              <a:rPr lang="en-US" dirty="0">
                <a:solidFill>
                  <a:srgbClr val="7030A0"/>
                </a:solidFill>
              </a:rPr>
              <a:t>loop_2d_spl</a:t>
            </a:r>
            <a:r>
              <a:rPr lang="en-US" dirty="0">
                <a:solidFill>
                  <a:schemeClr val="tx1"/>
                </a:solidFill>
              </a:rPr>
              <a:t>]</a:t>
            </a:r>
          </a:p>
          <a:p>
            <a:r>
              <a:rPr lang="en-US" dirty="0">
                <a:solidFill>
                  <a:schemeClr val="tx1"/>
                </a:solidFill>
              </a:rPr>
              <a:t> definition=</a:t>
            </a:r>
          </a:p>
          <a:p>
            <a:r>
              <a:rPr lang="en-US" dirty="0"/>
              <a:t>    </a:t>
            </a:r>
            <a:r>
              <a:rPr lang="en-US" dirty="0">
                <a:solidFill>
                  <a:srgbClr val="C00000"/>
                </a:solidFill>
              </a:rPr>
              <a:t>@M loop_2d</a:t>
            </a:r>
            <a:endParaRPr lang="en-US" dirty="0">
              <a:solidFill>
                <a:schemeClr val="tx1"/>
              </a:solidFill>
            </a:endParaRPr>
          </a:p>
        </p:txBody>
      </p:sp>
      <p:sp>
        <p:nvSpPr>
          <p:cNvPr id="21" name="Rectangle 20">
            <a:extLst>
              <a:ext uri="{FF2B5EF4-FFF2-40B4-BE49-F238E27FC236}">
                <a16:creationId xmlns:a16="http://schemas.microsoft.com/office/drawing/2014/main" id="{B283C2D5-1C22-9746-B3D3-B0CB738A1774}"/>
              </a:ext>
            </a:extLst>
          </p:cNvPr>
          <p:cNvSpPr/>
          <p:nvPr/>
        </p:nvSpPr>
        <p:spPr>
          <a:xfrm>
            <a:off x="3065233" y="23750"/>
            <a:ext cx="3029180" cy="1565499"/>
          </a:xfrm>
          <a:prstGeom prst="rect">
            <a:avLst/>
          </a:prstGeom>
          <a:noFill/>
          <a:ln>
            <a:solidFill>
              <a:schemeClr val="accent1"/>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45708" tIns="45708" rIns="45708" bIns="45708" numCol="1" spcCol="0" rtlCol="0" fromWordArt="0" anchor="ctr" anchorCtr="0" forceAA="0" compatLnSpc="1">
            <a:prstTxWarp prst="textNoShape">
              <a:avLst/>
            </a:prstTxWarp>
            <a:noAutofit/>
          </a:bodyPr>
          <a:lstStyle/>
          <a:p>
            <a:r>
              <a:rPr lang="en-US" b="1" dirty="0">
                <a:solidFill>
                  <a:schemeClr val="tx1"/>
                </a:solidFill>
              </a:rPr>
              <a:t>Common definitions</a:t>
            </a:r>
          </a:p>
          <a:p>
            <a:r>
              <a:rPr lang="en-US" dirty="0">
                <a:solidFill>
                  <a:schemeClr val="tx1"/>
                </a:solidFill>
              </a:rPr>
              <a:t>[</a:t>
            </a:r>
            <a:r>
              <a:rPr lang="en-US" dirty="0">
                <a:solidFill>
                  <a:srgbClr val="C00000"/>
                </a:solidFill>
              </a:rPr>
              <a:t>loop_2d</a:t>
            </a:r>
            <a:r>
              <a:rPr lang="en-US" dirty="0">
                <a:solidFill>
                  <a:schemeClr val="tx1"/>
                </a:solidFill>
              </a:rPr>
              <a:t>]             [</a:t>
            </a:r>
            <a:r>
              <a:rPr lang="en-US" dirty="0">
                <a:solidFill>
                  <a:srgbClr val="C00000"/>
                </a:solidFill>
              </a:rPr>
              <a:t>endloop_2d</a:t>
            </a:r>
            <a:r>
              <a:rPr lang="en-US" dirty="0">
                <a:solidFill>
                  <a:schemeClr val="tx1"/>
                </a:solidFill>
              </a:rPr>
              <a:t>]</a:t>
            </a:r>
          </a:p>
          <a:p>
            <a:r>
              <a:rPr lang="en-US" dirty="0">
                <a:solidFill>
                  <a:schemeClr val="tx1"/>
                </a:solidFill>
              </a:rPr>
              <a:t>   definition=          definition=        </a:t>
            </a:r>
          </a:p>
          <a:p>
            <a:r>
              <a:rPr lang="en-US" dirty="0">
                <a:solidFill>
                  <a:schemeClr val="tx1"/>
                </a:solidFill>
              </a:rPr>
              <a:t>   do j=1,n                   end do</a:t>
            </a:r>
          </a:p>
          <a:p>
            <a:r>
              <a:rPr lang="en-US" dirty="0">
                <a:solidFill>
                  <a:schemeClr val="tx1"/>
                </a:solidFill>
              </a:rPr>
              <a:t>     do </a:t>
            </a:r>
            <a:r>
              <a:rPr lang="en-US" dirty="0" err="1">
                <a:solidFill>
                  <a:schemeClr val="tx1"/>
                </a:solidFill>
              </a:rPr>
              <a:t>i</a:t>
            </a:r>
            <a:r>
              <a:rPr lang="en-US" dirty="0">
                <a:solidFill>
                  <a:schemeClr val="tx1"/>
                </a:solidFill>
              </a:rPr>
              <a:t>=1,m            end do</a:t>
            </a:r>
          </a:p>
        </p:txBody>
      </p:sp>
      <p:sp>
        <p:nvSpPr>
          <p:cNvPr id="16" name="Rectangle 15">
            <a:extLst>
              <a:ext uri="{FF2B5EF4-FFF2-40B4-BE49-F238E27FC236}">
                <a16:creationId xmlns:a16="http://schemas.microsoft.com/office/drawing/2014/main" id="{64AAA85F-4C32-4ECC-78BC-686D639D3F7D}"/>
              </a:ext>
            </a:extLst>
          </p:cNvPr>
          <p:cNvSpPr/>
          <p:nvPr/>
        </p:nvSpPr>
        <p:spPr>
          <a:xfrm>
            <a:off x="9483047" y="97440"/>
            <a:ext cx="2651592" cy="2452225"/>
          </a:xfrm>
          <a:prstGeom prst="rect">
            <a:avLst/>
          </a:prstGeom>
          <a:solidFill>
            <a:schemeClr val="accent4">
              <a:lumMod val="50000"/>
            </a:schemeClr>
          </a:solidFill>
          <a:ln>
            <a:solidFill>
              <a:schemeClr val="accent1"/>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45708" tIns="45708" rIns="45708" bIns="45708" numCol="1" spcCol="0" rtlCol="0" fromWordArt="0" anchor="ctr" anchorCtr="0" forceAA="0" compatLnSpc="1">
            <a:prstTxWarp prst="textNoShape">
              <a:avLst/>
            </a:prstTxWarp>
            <a:noAutofit/>
          </a:bodyPr>
          <a:lstStyle/>
          <a:p>
            <a:pPr lvl="0"/>
            <a:r>
              <a:rPr lang="en-US" dirty="0" err="1">
                <a:solidFill>
                  <a:schemeClr val="bg1"/>
                </a:solidFill>
                <a:latin typeface="Arial" charset="0"/>
                <a:cs typeface="Arial" charset="0"/>
              </a:rPr>
              <a:t>cpu</a:t>
            </a:r>
            <a:r>
              <a:rPr lang="en-US" dirty="0">
                <a:solidFill>
                  <a:schemeClr val="bg1"/>
                </a:solidFill>
                <a:latin typeface="Arial" charset="0"/>
                <a:cs typeface="Arial" charset="0"/>
              </a:rPr>
              <a:t>-specific declaration</a:t>
            </a:r>
          </a:p>
          <a:p>
            <a:pPr lvl="0"/>
            <a:r>
              <a:rPr lang="en-US" dirty="0">
                <a:solidFill>
                  <a:schemeClr val="bg1"/>
                </a:solidFill>
                <a:latin typeface="Arial" charset="0"/>
                <a:cs typeface="Arial" charset="0"/>
              </a:rPr>
              <a:t>!!</a:t>
            </a:r>
            <a:r>
              <a:rPr lang="en-US" dirty="0" err="1">
                <a:solidFill>
                  <a:schemeClr val="bg1"/>
                </a:solidFill>
                <a:latin typeface="Arial" charset="0"/>
                <a:cs typeface="Arial" charset="0"/>
              </a:rPr>
              <a:t>omp</a:t>
            </a:r>
            <a:r>
              <a:rPr lang="en-US" dirty="0">
                <a:solidFill>
                  <a:schemeClr val="bg1"/>
                </a:solidFill>
                <a:latin typeface="Arial" charset="0"/>
                <a:cs typeface="Arial" charset="0"/>
              </a:rPr>
              <a:t> directive for CPU</a:t>
            </a:r>
          </a:p>
          <a:p>
            <a:pPr lvl="0"/>
            <a:r>
              <a:rPr lang="en-US" dirty="0">
                <a:solidFill>
                  <a:schemeClr val="bg1"/>
                </a:solidFill>
                <a:latin typeface="Arial" charset="0"/>
                <a:cs typeface="Arial" charset="0"/>
              </a:rPr>
              <a:t>do j=1,n</a:t>
            </a:r>
          </a:p>
          <a:p>
            <a:pPr lvl="0"/>
            <a:r>
              <a:rPr lang="en-US" dirty="0">
                <a:solidFill>
                  <a:schemeClr val="bg1"/>
                </a:solidFill>
                <a:latin typeface="Arial" charset="0"/>
                <a:cs typeface="Arial" charset="0"/>
              </a:rPr>
              <a:t>    do </a:t>
            </a:r>
            <a:r>
              <a:rPr lang="en-US" dirty="0" err="1">
                <a:solidFill>
                  <a:schemeClr val="bg1"/>
                </a:solidFill>
                <a:latin typeface="Arial" charset="0"/>
                <a:cs typeface="Arial" charset="0"/>
              </a:rPr>
              <a:t>i</a:t>
            </a:r>
            <a:r>
              <a:rPr lang="en-US" dirty="0">
                <a:solidFill>
                  <a:schemeClr val="bg1"/>
                </a:solidFill>
                <a:latin typeface="Arial" charset="0"/>
                <a:cs typeface="Arial" charset="0"/>
              </a:rPr>
              <a:t>=1,m</a:t>
            </a:r>
          </a:p>
          <a:p>
            <a:pPr lvl="0"/>
            <a:r>
              <a:rPr lang="en-US" dirty="0">
                <a:solidFill>
                  <a:schemeClr val="bg1"/>
                </a:solidFill>
                <a:latin typeface="Arial" charset="0"/>
                <a:cs typeface="Arial" charset="0"/>
              </a:rPr>
              <a:t>        …. computation 1</a:t>
            </a:r>
          </a:p>
          <a:p>
            <a:pPr lvl="0"/>
            <a:r>
              <a:rPr lang="en-US" dirty="0">
                <a:solidFill>
                  <a:schemeClr val="bg1"/>
                </a:solidFill>
                <a:latin typeface="Arial" charset="0"/>
                <a:cs typeface="Arial" charset="0"/>
              </a:rPr>
              <a:t>        …. computation 2</a:t>
            </a:r>
          </a:p>
          <a:p>
            <a:pPr lvl="0"/>
            <a:r>
              <a:rPr lang="en-US" dirty="0">
                <a:solidFill>
                  <a:schemeClr val="bg1"/>
                </a:solidFill>
                <a:latin typeface="Arial" charset="0"/>
                <a:cs typeface="Arial" charset="0"/>
              </a:rPr>
              <a:t>        …. computation 3</a:t>
            </a:r>
          </a:p>
          <a:p>
            <a:pPr lvl="0"/>
            <a:r>
              <a:rPr lang="en-US" dirty="0">
                <a:solidFill>
                  <a:schemeClr val="bg1"/>
                </a:solidFill>
                <a:latin typeface="Arial" charset="0"/>
                <a:cs typeface="Arial" charset="0"/>
              </a:rPr>
              <a:t>    end do</a:t>
            </a:r>
          </a:p>
          <a:p>
            <a:pPr lvl="0"/>
            <a:r>
              <a:rPr lang="en-US" dirty="0">
                <a:solidFill>
                  <a:schemeClr val="bg1"/>
                </a:solidFill>
                <a:latin typeface="Arial" charset="0"/>
                <a:cs typeface="Arial" charset="0"/>
              </a:rPr>
              <a:t> end do</a:t>
            </a:r>
          </a:p>
        </p:txBody>
      </p:sp>
      <p:cxnSp>
        <p:nvCxnSpPr>
          <p:cNvPr id="25" name="Straight Arrow Connector 24">
            <a:extLst>
              <a:ext uri="{FF2B5EF4-FFF2-40B4-BE49-F238E27FC236}">
                <a16:creationId xmlns:a16="http://schemas.microsoft.com/office/drawing/2014/main" id="{C2E546FF-549F-3174-8E9B-75A20AB6F3AF}"/>
              </a:ext>
            </a:extLst>
          </p:cNvPr>
          <p:cNvCxnSpPr>
            <a:cxnSpLocks/>
            <a:stCxn id="2" idx="3"/>
            <a:endCxn id="36" idx="1"/>
          </p:cNvCxnSpPr>
          <p:nvPr/>
        </p:nvCxnSpPr>
        <p:spPr>
          <a:xfrm flipV="1">
            <a:off x="7460960" y="1322634"/>
            <a:ext cx="454863" cy="919"/>
          </a:xfrm>
          <a:prstGeom prst="straightConnector1">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A730AE47-D396-6645-9CCF-0FC4E835C085}"/>
              </a:ext>
            </a:extLst>
          </p:cNvPr>
          <p:cNvSpPr/>
          <p:nvPr/>
        </p:nvSpPr>
        <p:spPr>
          <a:xfrm>
            <a:off x="9489051" y="2606260"/>
            <a:ext cx="2651592" cy="4022235"/>
          </a:xfrm>
          <a:prstGeom prst="rect">
            <a:avLst/>
          </a:prstGeom>
          <a:solidFill>
            <a:schemeClr val="accent4">
              <a:lumMod val="50000"/>
            </a:schemeClr>
          </a:solidFill>
          <a:ln>
            <a:solidFill>
              <a:schemeClr val="accent1"/>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45708" tIns="45708" rIns="45708" bIns="45708" numCol="1" spcCol="0" rtlCol="0" fromWordArt="0" anchor="ctr" anchorCtr="0" forceAA="0" compatLnSpc="1">
            <a:prstTxWarp prst="textNoShape">
              <a:avLst/>
            </a:prstTxWarp>
            <a:noAutofit/>
          </a:bodyPr>
          <a:lstStyle/>
          <a:p>
            <a:r>
              <a:rPr lang="en-US" dirty="0" err="1">
                <a:solidFill>
                  <a:schemeClr val="bg1"/>
                </a:solidFill>
                <a:latin typeface="Arial" panose="020B0604020202020204" pitchFamily="34" charset="0"/>
                <a:cs typeface="Arial" panose="020B0604020202020204" pitchFamily="34" charset="0"/>
              </a:rPr>
              <a:t>gpu</a:t>
            </a:r>
            <a:r>
              <a:rPr lang="en-US" dirty="0">
                <a:solidFill>
                  <a:schemeClr val="bg1"/>
                </a:solidFill>
                <a:latin typeface="Arial" panose="020B0604020202020204" pitchFamily="34" charset="0"/>
                <a:cs typeface="Arial" panose="020B0604020202020204" pitchFamily="34" charset="0"/>
              </a:rPr>
              <a:t>-specific declarations</a:t>
            </a:r>
          </a:p>
          <a:p>
            <a:r>
              <a:rPr lang="en-US" dirty="0">
                <a:solidFill>
                  <a:schemeClr val="bg1"/>
                </a:solidFill>
                <a:latin typeface="Arial" panose="020B0604020202020204" pitchFamily="34" charset="0"/>
                <a:cs typeface="Arial" panose="020B0604020202020204" pitchFamily="34" charset="0"/>
              </a:rPr>
              <a:t>!!</a:t>
            </a:r>
            <a:r>
              <a:rPr lang="en-US" dirty="0" err="1">
                <a:solidFill>
                  <a:schemeClr val="bg1"/>
                </a:solidFill>
                <a:latin typeface="Arial" panose="020B0604020202020204" pitchFamily="34" charset="0"/>
                <a:cs typeface="Arial" panose="020B0604020202020204" pitchFamily="34" charset="0"/>
              </a:rPr>
              <a:t>omp</a:t>
            </a:r>
            <a:r>
              <a:rPr lang="en-US" dirty="0">
                <a:solidFill>
                  <a:schemeClr val="bg1"/>
                </a:solidFill>
                <a:latin typeface="Arial" panose="020B0604020202020204" pitchFamily="34" charset="0"/>
                <a:cs typeface="Arial" panose="020B0604020202020204" pitchFamily="34" charset="0"/>
              </a:rPr>
              <a:t> directive1 for GPU</a:t>
            </a:r>
          </a:p>
          <a:p>
            <a:r>
              <a:rPr lang="en-US" dirty="0">
                <a:solidFill>
                  <a:schemeClr val="bg1"/>
                </a:solidFill>
                <a:latin typeface="Arial" panose="020B0604020202020204" pitchFamily="34" charset="0"/>
                <a:cs typeface="Arial" panose="020B0604020202020204" pitchFamily="34" charset="0"/>
              </a:rPr>
              <a:t>do j=1,n</a:t>
            </a:r>
          </a:p>
          <a:p>
            <a:r>
              <a:rPr lang="en-US" dirty="0">
                <a:solidFill>
                  <a:schemeClr val="bg1"/>
                </a:solidFill>
                <a:latin typeface="Arial" panose="020B0604020202020204" pitchFamily="34" charset="0"/>
                <a:cs typeface="Arial" panose="020B0604020202020204" pitchFamily="34" charset="0"/>
              </a:rPr>
              <a:t>    do </a:t>
            </a:r>
            <a:r>
              <a:rPr lang="en-US" dirty="0" err="1">
                <a:solidFill>
                  <a:schemeClr val="bg1"/>
                </a:solidFill>
                <a:latin typeface="Arial" panose="020B0604020202020204" pitchFamily="34" charset="0"/>
                <a:cs typeface="Arial" panose="020B0604020202020204" pitchFamily="34" charset="0"/>
              </a:rPr>
              <a:t>i</a:t>
            </a:r>
            <a:r>
              <a:rPr lang="en-US" dirty="0">
                <a:solidFill>
                  <a:schemeClr val="bg1"/>
                </a:solidFill>
                <a:latin typeface="Arial" panose="020B0604020202020204" pitchFamily="34" charset="0"/>
                <a:cs typeface="Arial" panose="020B0604020202020204" pitchFamily="34" charset="0"/>
              </a:rPr>
              <a:t>=1,m</a:t>
            </a:r>
          </a:p>
          <a:p>
            <a:r>
              <a:rPr lang="en-US" dirty="0">
                <a:solidFill>
                  <a:schemeClr val="bg1"/>
                </a:solidFill>
                <a:latin typeface="Arial" panose="020B0604020202020204" pitchFamily="34" charset="0"/>
                <a:cs typeface="Arial" panose="020B0604020202020204" pitchFamily="34" charset="0"/>
              </a:rPr>
              <a:t>        …. computation 1</a:t>
            </a:r>
          </a:p>
          <a:p>
            <a:r>
              <a:rPr lang="en-US" dirty="0">
                <a:solidFill>
                  <a:schemeClr val="bg1"/>
                </a:solidFill>
                <a:latin typeface="Arial" panose="020B0604020202020204" pitchFamily="34" charset="0"/>
                <a:cs typeface="Arial" panose="020B0604020202020204" pitchFamily="34" charset="0"/>
              </a:rPr>
              <a:t>        …. computation 2</a:t>
            </a:r>
          </a:p>
          <a:p>
            <a:r>
              <a:rPr lang="en-US" dirty="0">
                <a:solidFill>
                  <a:schemeClr val="bg1"/>
                </a:solidFill>
                <a:latin typeface="Arial" panose="020B0604020202020204" pitchFamily="34" charset="0"/>
                <a:cs typeface="Arial" panose="020B0604020202020204" pitchFamily="34" charset="0"/>
              </a:rPr>
              <a:t>    end do</a:t>
            </a:r>
          </a:p>
          <a:p>
            <a:r>
              <a:rPr lang="en-US" dirty="0">
                <a:solidFill>
                  <a:schemeClr val="bg1"/>
                </a:solidFill>
                <a:latin typeface="Arial" panose="020B0604020202020204" pitchFamily="34" charset="0"/>
                <a:cs typeface="Arial" panose="020B0604020202020204" pitchFamily="34" charset="0"/>
              </a:rPr>
              <a:t>end do</a:t>
            </a:r>
          </a:p>
          <a:p>
            <a:r>
              <a:rPr lang="en-US" dirty="0">
                <a:solidFill>
                  <a:schemeClr val="bg1"/>
                </a:solidFill>
                <a:latin typeface="Arial" panose="020B0604020202020204" pitchFamily="34" charset="0"/>
                <a:cs typeface="Arial" panose="020B0604020202020204" pitchFamily="34" charset="0"/>
              </a:rPr>
              <a:t>!!</a:t>
            </a:r>
            <a:r>
              <a:rPr lang="en-US" dirty="0" err="1">
                <a:solidFill>
                  <a:schemeClr val="bg1"/>
                </a:solidFill>
                <a:latin typeface="Arial" panose="020B0604020202020204" pitchFamily="34" charset="0"/>
                <a:cs typeface="Arial" panose="020B0604020202020204" pitchFamily="34" charset="0"/>
              </a:rPr>
              <a:t>omp</a:t>
            </a:r>
            <a:r>
              <a:rPr lang="en-US" dirty="0">
                <a:solidFill>
                  <a:schemeClr val="bg1"/>
                </a:solidFill>
                <a:latin typeface="Arial" panose="020B0604020202020204" pitchFamily="34" charset="0"/>
                <a:cs typeface="Arial" panose="020B0604020202020204" pitchFamily="34" charset="0"/>
              </a:rPr>
              <a:t> directive2 for GPU</a:t>
            </a:r>
          </a:p>
          <a:p>
            <a:r>
              <a:rPr lang="en-US" dirty="0">
                <a:solidFill>
                  <a:schemeClr val="bg1"/>
                </a:solidFill>
                <a:latin typeface="Arial" panose="020B0604020202020204" pitchFamily="34" charset="0"/>
                <a:cs typeface="Arial" panose="020B0604020202020204" pitchFamily="34" charset="0"/>
              </a:rPr>
              <a:t>do j=1,n</a:t>
            </a:r>
          </a:p>
          <a:p>
            <a:r>
              <a:rPr lang="en-US" dirty="0">
                <a:solidFill>
                  <a:schemeClr val="bg1"/>
                </a:solidFill>
                <a:latin typeface="Arial" panose="020B0604020202020204" pitchFamily="34" charset="0"/>
                <a:cs typeface="Arial" panose="020B0604020202020204" pitchFamily="34" charset="0"/>
              </a:rPr>
              <a:t>    do </a:t>
            </a:r>
            <a:r>
              <a:rPr lang="en-US" dirty="0" err="1">
                <a:solidFill>
                  <a:schemeClr val="bg1"/>
                </a:solidFill>
                <a:latin typeface="Arial" panose="020B0604020202020204" pitchFamily="34" charset="0"/>
                <a:cs typeface="Arial" panose="020B0604020202020204" pitchFamily="34" charset="0"/>
              </a:rPr>
              <a:t>i</a:t>
            </a:r>
            <a:r>
              <a:rPr lang="en-US" dirty="0">
                <a:solidFill>
                  <a:schemeClr val="bg1"/>
                </a:solidFill>
                <a:latin typeface="Arial" panose="020B0604020202020204" pitchFamily="34" charset="0"/>
                <a:cs typeface="Arial" panose="020B0604020202020204" pitchFamily="34" charset="0"/>
              </a:rPr>
              <a:t>=1,m</a:t>
            </a:r>
          </a:p>
          <a:p>
            <a:r>
              <a:rPr lang="en-US" dirty="0">
                <a:solidFill>
                  <a:schemeClr val="bg1"/>
                </a:solidFill>
                <a:latin typeface="Arial" panose="020B0604020202020204" pitchFamily="34" charset="0"/>
                <a:cs typeface="Arial" panose="020B0604020202020204" pitchFamily="34" charset="0"/>
              </a:rPr>
              <a:t>        …. computation 3</a:t>
            </a:r>
          </a:p>
          <a:p>
            <a:r>
              <a:rPr lang="en-US" dirty="0">
                <a:solidFill>
                  <a:schemeClr val="bg1"/>
                </a:solidFill>
                <a:latin typeface="Arial" panose="020B0604020202020204" pitchFamily="34" charset="0"/>
                <a:cs typeface="Arial" panose="020B0604020202020204" pitchFamily="34" charset="0"/>
              </a:rPr>
              <a:t>    end do</a:t>
            </a:r>
          </a:p>
          <a:p>
            <a:r>
              <a:rPr lang="en-US" dirty="0">
                <a:solidFill>
                  <a:schemeClr val="bg1"/>
                </a:solidFill>
                <a:latin typeface="Arial" panose="020B0604020202020204" pitchFamily="34" charset="0"/>
                <a:cs typeface="Arial" panose="020B0604020202020204" pitchFamily="34" charset="0"/>
              </a:rPr>
              <a:t> end do</a:t>
            </a:r>
            <a:endParaRPr lang="en-US" dirty="0">
              <a:solidFill>
                <a:schemeClr val="bg1"/>
              </a:solidFill>
            </a:endParaRPr>
          </a:p>
        </p:txBody>
      </p:sp>
      <p:cxnSp>
        <p:nvCxnSpPr>
          <p:cNvPr id="27" name="Straight Arrow Connector 26">
            <a:extLst>
              <a:ext uri="{FF2B5EF4-FFF2-40B4-BE49-F238E27FC236}">
                <a16:creationId xmlns:a16="http://schemas.microsoft.com/office/drawing/2014/main" id="{7FB0ADC1-2086-5D48-1344-62F02D8D3B43}"/>
              </a:ext>
            </a:extLst>
          </p:cNvPr>
          <p:cNvCxnSpPr>
            <a:cxnSpLocks/>
            <a:stCxn id="35" idx="0"/>
            <a:endCxn id="36" idx="2"/>
          </p:cNvCxnSpPr>
          <p:nvPr/>
        </p:nvCxnSpPr>
        <p:spPr>
          <a:xfrm flipH="1" flipV="1">
            <a:off x="8516326" y="1907169"/>
            <a:ext cx="423" cy="629505"/>
          </a:xfrm>
          <a:prstGeom prst="straightConnector1">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944927CE-D76E-3D84-37F3-C2FA1B032155}"/>
              </a:ext>
            </a:extLst>
          </p:cNvPr>
          <p:cNvCxnSpPr>
            <a:cxnSpLocks/>
            <a:stCxn id="36" idx="3"/>
            <a:endCxn id="16" idx="1"/>
          </p:cNvCxnSpPr>
          <p:nvPr/>
        </p:nvCxnSpPr>
        <p:spPr>
          <a:xfrm>
            <a:off x="9116828" y="1322634"/>
            <a:ext cx="366219" cy="919"/>
          </a:xfrm>
          <a:prstGeom prst="straightConnector1">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C6AB65ED-27A5-8AE1-EDC5-4786B25B9D4E}"/>
              </a:ext>
            </a:extLst>
          </p:cNvPr>
          <p:cNvCxnSpPr>
            <a:cxnSpLocks/>
            <a:stCxn id="34" idx="3"/>
            <a:endCxn id="37" idx="1"/>
          </p:cNvCxnSpPr>
          <p:nvPr/>
        </p:nvCxnSpPr>
        <p:spPr>
          <a:xfrm>
            <a:off x="7460961" y="5151228"/>
            <a:ext cx="464008" cy="0"/>
          </a:xfrm>
          <a:prstGeom prst="straightConnector1">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41186300-6288-50AC-EB77-4F92777450AC}"/>
              </a:ext>
            </a:extLst>
          </p:cNvPr>
          <p:cNvCxnSpPr>
            <a:cxnSpLocks/>
            <a:stCxn id="35" idx="2"/>
            <a:endCxn id="37" idx="0"/>
          </p:cNvCxnSpPr>
          <p:nvPr/>
        </p:nvCxnSpPr>
        <p:spPr>
          <a:xfrm>
            <a:off x="8516748" y="3705744"/>
            <a:ext cx="8723" cy="860949"/>
          </a:xfrm>
          <a:prstGeom prst="straightConnector1">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93230798-F894-85B8-99FF-2AA118CA03D1}"/>
              </a:ext>
            </a:extLst>
          </p:cNvPr>
          <p:cNvCxnSpPr>
            <a:cxnSpLocks/>
            <a:stCxn id="37" idx="3"/>
          </p:cNvCxnSpPr>
          <p:nvPr/>
        </p:nvCxnSpPr>
        <p:spPr>
          <a:xfrm>
            <a:off x="9125973" y="5151228"/>
            <a:ext cx="357073" cy="0"/>
          </a:xfrm>
          <a:prstGeom prst="straightConnector1">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117D9AAA-82B8-3EED-18A0-6803DBB3956F}"/>
              </a:ext>
            </a:extLst>
          </p:cNvPr>
          <p:cNvSpPr/>
          <p:nvPr/>
        </p:nvSpPr>
        <p:spPr>
          <a:xfrm>
            <a:off x="6222900" y="739017"/>
            <a:ext cx="1238061" cy="116907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CPU specific definitions</a:t>
            </a:r>
          </a:p>
        </p:txBody>
      </p:sp>
      <p:sp>
        <p:nvSpPr>
          <p:cNvPr id="3" name="TextBox 2">
            <a:extLst>
              <a:ext uri="{FF2B5EF4-FFF2-40B4-BE49-F238E27FC236}">
                <a16:creationId xmlns:a16="http://schemas.microsoft.com/office/drawing/2014/main" id="{A2AF0B07-2851-2431-9F8C-D2406BC2A839}"/>
              </a:ext>
            </a:extLst>
          </p:cNvPr>
          <p:cNvSpPr txBox="1"/>
          <p:nvPr/>
        </p:nvSpPr>
        <p:spPr>
          <a:xfrm>
            <a:off x="6547684" y="4263173"/>
            <a:ext cx="184683" cy="369236"/>
          </a:xfrm>
          <a:prstGeom prst="rect">
            <a:avLst/>
          </a:prstGeom>
          <a:noFill/>
        </p:spPr>
        <p:txBody>
          <a:bodyPr wrap="none" rtlCol="0">
            <a:spAutoFit/>
          </a:bodyPr>
          <a:lstStyle/>
          <a:p>
            <a:endParaRPr lang="en-US" dirty="0"/>
          </a:p>
        </p:txBody>
      </p:sp>
      <p:sp>
        <p:nvSpPr>
          <p:cNvPr id="34" name="Rectangle 33">
            <a:extLst>
              <a:ext uri="{FF2B5EF4-FFF2-40B4-BE49-F238E27FC236}">
                <a16:creationId xmlns:a16="http://schemas.microsoft.com/office/drawing/2014/main" id="{E10A4501-8B12-FD45-5AD3-2592E619C567}"/>
              </a:ext>
            </a:extLst>
          </p:cNvPr>
          <p:cNvSpPr/>
          <p:nvPr/>
        </p:nvSpPr>
        <p:spPr>
          <a:xfrm>
            <a:off x="6222900" y="4566693"/>
            <a:ext cx="1238061" cy="116907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GPU specific definitions</a:t>
            </a:r>
          </a:p>
        </p:txBody>
      </p:sp>
      <p:sp>
        <p:nvSpPr>
          <p:cNvPr id="35" name="Rectangle 34">
            <a:extLst>
              <a:ext uri="{FF2B5EF4-FFF2-40B4-BE49-F238E27FC236}">
                <a16:creationId xmlns:a16="http://schemas.microsoft.com/office/drawing/2014/main" id="{F8FFB2AF-4FE0-C781-79DF-D46B0270151E}"/>
              </a:ext>
            </a:extLst>
          </p:cNvPr>
          <p:cNvSpPr/>
          <p:nvPr/>
        </p:nvSpPr>
        <p:spPr>
          <a:xfrm>
            <a:off x="7810876" y="2536674"/>
            <a:ext cx="1411744" cy="1169070"/>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Common definitions</a:t>
            </a:r>
          </a:p>
        </p:txBody>
      </p:sp>
      <p:sp>
        <p:nvSpPr>
          <p:cNvPr id="36" name="Rectangle 35">
            <a:extLst>
              <a:ext uri="{FF2B5EF4-FFF2-40B4-BE49-F238E27FC236}">
                <a16:creationId xmlns:a16="http://schemas.microsoft.com/office/drawing/2014/main" id="{AA41DFC3-2895-BB06-30E1-963E9CB46CA2}"/>
              </a:ext>
            </a:extLst>
          </p:cNvPr>
          <p:cNvSpPr/>
          <p:nvPr/>
        </p:nvSpPr>
        <p:spPr>
          <a:xfrm>
            <a:off x="7915823" y="738099"/>
            <a:ext cx="1201005" cy="116907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Macro-processor</a:t>
            </a:r>
          </a:p>
        </p:txBody>
      </p:sp>
      <p:sp>
        <p:nvSpPr>
          <p:cNvPr id="37" name="Rectangle 36">
            <a:extLst>
              <a:ext uri="{FF2B5EF4-FFF2-40B4-BE49-F238E27FC236}">
                <a16:creationId xmlns:a16="http://schemas.microsoft.com/office/drawing/2014/main" id="{AAA7F279-5012-E195-9B3B-F7799570F431}"/>
              </a:ext>
            </a:extLst>
          </p:cNvPr>
          <p:cNvSpPr/>
          <p:nvPr/>
        </p:nvSpPr>
        <p:spPr>
          <a:xfrm>
            <a:off x="7924968" y="4566693"/>
            <a:ext cx="1201005" cy="116907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Macro-processor</a:t>
            </a:r>
          </a:p>
        </p:txBody>
      </p:sp>
    </p:spTree>
    <p:extLst>
      <p:ext uri="{BB962C8B-B14F-4D97-AF65-F5344CB8AC3E}">
        <p14:creationId xmlns:p14="http://schemas.microsoft.com/office/powerpoint/2010/main" val="384462568"/>
      </p:ext>
    </p:extLst>
  </p:cSld>
  <p:clrMapOvr>
    <a:masterClrMapping/>
  </p:clrMapOvr>
  <mc:AlternateContent xmlns:mc="http://schemas.openxmlformats.org/markup-compatibility/2006" xmlns:p14="http://schemas.microsoft.com/office/powerpoint/2010/main">
    <mc:Choice Requires="p14">
      <p:transition spd="slow" p14:dur="2000" advTm="129696"/>
    </mc:Choice>
    <mc:Fallback xmlns="">
      <p:transition spd="slow" advTm="129696"/>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70C9C02F-985B-B693-1D83-44493EF88EA9}"/>
              </a:ext>
            </a:extLst>
          </p:cNvPr>
          <p:cNvSpPr>
            <a:spLocks noGrp="1"/>
          </p:cNvSpPr>
          <p:nvPr>
            <p:ph sz="quarter" idx="14"/>
          </p:nvPr>
        </p:nvSpPr>
        <p:spPr>
          <a:xfrm>
            <a:off x="7557790" y="1493049"/>
            <a:ext cx="4235231" cy="4843519"/>
          </a:xfrm>
        </p:spPr>
        <p:txBody>
          <a:bodyPr/>
          <a:lstStyle/>
          <a:p>
            <a:r>
              <a:rPr lang="en-US" dirty="0"/>
              <a:t>CG-Kit generates Control Flow Graph by reading user input (recipe).</a:t>
            </a:r>
          </a:p>
          <a:p>
            <a:pPr lvl="1"/>
            <a:r>
              <a:rPr lang="en-US" dirty="0"/>
              <a:t>Represented as a directed acyclic graph (DAG)</a:t>
            </a:r>
          </a:p>
          <a:p>
            <a:pPr lvl="1"/>
            <a:r>
              <a:rPr lang="en-US" dirty="0"/>
              <a:t>Each node represents user-defined code generation operations.</a:t>
            </a:r>
          </a:p>
          <a:p>
            <a:pPr lvl="2"/>
            <a:r>
              <a:rPr lang="en-US" dirty="0"/>
              <a:t>PST</a:t>
            </a:r>
          </a:p>
          <a:p>
            <a:pPr lvl="1"/>
            <a:r>
              <a:rPr lang="en-US" dirty="0"/>
              <a:t>Each edge describes dependencies between nodes.</a:t>
            </a:r>
          </a:p>
        </p:txBody>
      </p:sp>
      <p:pic>
        <p:nvPicPr>
          <p:cNvPr id="5" name="Picture 4">
            <a:extLst>
              <a:ext uri="{FF2B5EF4-FFF2-40B4-BE49-F238E27FC236}">
                <a16:creationId xmlns:a16="http://schemas.microsoft.com/office/drawing/2014/main" id="{15FE38B4-0F00-ACE0-CC39-5D0ADE264377}"/>
              </a:ext>
            </a:extLst>
          </p:cNvPr>
          <p:cNvPicPr>
            <a:picLocks noChangeAspect="1"/>
          </p:cNvPicPr>
          <p:nvPr/>
        </p:nvPicPr>
        <p:blipFill>
          <a:blip r:embed="rId2"/>
          <a:stretch>
            <a:fillRect/>
          </a:stretch>
        </p:blipFill>
        <p:spPr>
          <a:xfrm>
            <a:off x="395804" y="3650824"/>
            <a:ext cx="7161986" cy="2685744"/>
          </a:xfrm>
          <a:prstGeom prst="rect">
            <a:avLst/>
          </a:prstGeom>
        </p:spPr>
      </p:pic>
      <p:sp>
        <p:nvSpPr>
          <p:cNvPr id="7" name="Rounded Rectangle 6">
            <a:extLst>
              <a:ext uri="{FF2B5EF4-FFF2-40B4-BE49-F238E27FC236}">
                <a16:creationId xmlns:a16="http://schemas.microsoft.com/office/drawing/2014/main" id="{AEBD3517-D6E3-047C-FBD9-4134F5A47FC3}"/>
              </a:ext>
            </a:extLst>
          </p:cNvPr>
          <p:cNvSpPr/>
          <p:nvPr/>
        </p:nvSpPr>
        <p:spPr>
          <a:xfrm>
            <a:off x="828840" y="1081481"/>
            <a:ext cx="5265572" cy="2219890"/>
          </a:xfrm>
          <a:prstGeom prst="roundRect">
            <a:avLst/>
          </a:prstGeom>
          <a:solidFill>
            <a:schemeClr val="accent1">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19" tIns="60909" rIns="121819" bIns="60909" numCol="1" spcCol="0" rtlCol="0" fromWordArt="0" anchor="ctr" anchorCtr="0" forceAA="0" compatLnSpc="1">
            <a:prstTxWarp prst="textNoShape">
              <a:avLst/>
            </a:prstTxWarp>
            <a:noAutofit/>
          </a:bodyPr>
          <a:lstStyle/>
          <a:p>
            <a:pPr>
              <a:lnSpc>
                <a:spcPct val="90000"/>
              </a:lnSpc>
            </a:pPr>
            <a:r>
              <a:rPr lang="en-US" sz="2399" dirty="0">
                <a:solidFill>
                  <a:schemeClr val="bg1"/>
                </a:solidFill>
              </a:rPr>
              <a:t>Mechanisms to map work to computational targets</a:t>
            </a:r>
          </a:p>
          <a:p>
            <a:pPr marL="342797" indent="-342797">
              <a:lnSpc>
                <a:spcPct val="90000"/>
              </a:lnSpc>
              <a:buFont typeface="Arial" panose="020B0604020202020204" pitchFamily="34" charset="0"/>
              <a:buChar char="•"/>
            </a:pPr>
            <a:r>
              <a:rPr lang="en-US" sz="1999" dirty="0">
                <a:solidFill>
                  <a:schemeClr val="bg1"/>
                </a:solidFill>
              </a:rPr>
              <a:t>Figuring out the map</a:t>
            </a:r>
          </a:p>
          <a:p>
            <a:pPr marL="799860" lvl="1" indent="-342797">
              <a:lnSpc>
                <a:spcPct val="90000"/>
              </a:lnSpc>
              <a:buFont typeface="Arial" panose="020B0604020202020204" pitchFamily="34" charset="0"/>
              <a:buChar char="•"/>
            </a:pPr>
            <a:r>
              <a:rPr lang="en-US" sz="1999" dirty="0">
                <a:solidFill>
                  <a:schemeClr val="bg1"/>
                </a:solidFill>
              </a:rPr>
              <a:t>Expression of dependencies </a:t>
            </a:r>
          </a:p>
          <a:p>
            <a:pPr marL="799860" lvl="1" indent="-342797">
              <a:lnSpc>
                <a:spcPct val="90000"/>
              </a:lnSpc>
              <a:buFont typeface="Arial" panose="020B0604020202020204" pitchFamily="34" charset="0"/>
              <a:buChar char="•"/>
            </a:pPr>
            <a:r>
              <a:rPr lang="en-US" sz="1999" dirty="0">
                <a:solidFill>
                  <a:schemeClr val="bg1"/>
                </a:solidFill>
              </a:rPr>
              <a:t>Cost models</a:t>
            </a:r>
          </a:p>
          <a:p>
            <a:pPr marL="342797" indent="-342797">
              <a:lnSpc>
                <a:spcPct val="90000"/>
              </a:lnSpc>
              <a:buFont typeface="Arial" panose="020B0604020202020204" pitchFamily="34" charset="0"/>
              <a:buChar char="•"/>
            </a:pPr>
            <a:r>
              <a:rPr lang="en-US" sz="1999" dirty="0">
                <a:solidFill>
                  <a:schemeClr val="bg1"/>
                </a:solidFill>
              </a:rPr>
              <a:t>Expressing the map</a:t>
            </a:r>
          </a:p>
        </p:txBody>
      </p:sp>
      <p:sp>
        <p:nvSpPr>
          <p:cNvPr id="10" name="Title 1">
            <a:extLst>
              <a:ext uri="{FF2B5EF4-FFF2-40B4-BE49-F238E27FC236}">
                <a16:creationId xmlns:a16="http://schemas.microsoft.com/office/drawing/2014/main" id="{67CD1423-4C12-EB4D-9C88-408F9E478AE7}"/>
              </a:ext>
            </a:extLst>
          </p:cNvPr>
          <p:cNvSpPr txBox="1">
            <a:spLocks/>
          </p:cNvSpPr>
          <p:nvPr/>
        </p:nvSpPr>
        <p:spPr bwMode="auto">
          <a:xfrm>
            <a:off x="792273" y="101609"/>
            <a:ext cx="10512862" cy="1325218"/>
          </a:xfrm>
          <a:prstGeom prst="rect">
            <a:avLst/>
          </a:prstGeom>
          <a:noFill/>
          <a:ln w="9525">
            <a:noFill/>
            <a:miter lim="800000"/>
            <a:headEnd/>
            <a:tailEnd/>
          </a:ln>
        </p:spPr>
        <p:txBody>
          <a:bodyPr vert="horz" wrap="square" lIns="91416" tIns="45708" rIns="91416" bIns="45708" numCol="1" anchor="t" anchorCtr="0" compatLnSpc="1">
            <a:prstTxWarp prst="textNoShape">
              <a:avLst/>
            </a:prstTxWarp>
            <a:noAutofit/>
          </a:bodyPr>
          <a:lstStyle>
            <a:lvl1pPr algn="l" rtl="0" eaLnBrk="1" fontAlgn="base" hangingPunct="1">
              <a:lnSpc>
                <a:spcPct val="90000"/>
              </a:lnSpc>
              <a:spcBef>
                <a:spcPct val="0"/>
              </a:spcBef>
              <a:spcAft>
                <a:spcPct val="0"/>
              </a:spcAft>
              <a:defRPr sz="3000" b="0" kern="1200">
                <a:solidFill>
                  <a:schemeClr val="tx1"/>
                </a:solidFill>
                <a:latin typeface="+mj-lt"/>
                <a:ea typeface="+mj-ea"/>
                <a:cs typeface="+mj-cs"/>
              </a:defRPr>
            </a:lvl1pPr>
            <a:lvl2pPr algn="l" rtl="0" eaLnBrk="1" fontAlgn="base" hangingPunct="1">
              <a:lnSpc>
                <a:spcPct val="85000"/>
              </a:lnSpc>
              <a:spcBef>
                <a:spcPct val="0"/>
              </a:spcBef>
              <a:spcAft>
                <a:spcPct val="0"/>
              </a:spcAft>
              <a:defRPr sz="3000">
                <a:solidFill>
                  <a:srgbClr val="006C3A"/>
                </a:solidFill>
                <a:latin typeface="Arial Black" pitchFamily="34" charset="0"/>
              </a:defRPr>
            </a:lvl2pPr>
            <a:lvl3pPr algn="l" rtl="0" eaLnBrk="1" fontAlgn="base" hangingPunct="1">
              <a:lnSpc>
                <a:spcPct val="85000"/>
              </a:lnSpc>
              <a:spcBef>
                <a:spcPct val="0"/>
              </a:spcBef>
              <a:spcAft>
                <a:spcPct val="0"/>
              </a:spcAft>
              <a:defRPr sz="3000">
                <a:solidFill>
                  <a:srgbClr val="006C3A"/>
                </a:solidFill>
                <a:latin typeface="Arial Black" pitchFamily="34" charset="0"/>
              </a:defRPr>
            </a:lvl3pPr>
            <a:lvl4pPr algn="l" rtl="0" eaLnBrk="1" fontAlgn="base" hangingPunct="1">
              <a:lnSpc>
                <a:spcPct val="85000"/>
              </a:lnSpc>
              <a:spcBef>
                <a:spcPct val="0"/>
              </a:spcBef>
              <a:spcAft>
                <a:spcPct val="0"/>
              </a:spcAft>
              <a:defRPr sz="3000">
                <a:solidFill>
                  <a:srgbClr val="006C3A"/>
                </a:solidFill>
                <a:latin typeface="Arial Black" pitchFamily="34" charset="0"/>
              </a:defRPr>
            </a:lvl4pPr>
            <a:lvl5pPr algn="l" rtl="0" eaLnBrk="1" fontAlgn="base" hangingPunct="1">
              <a:lnSpc>
                <a:spcPct val="85000"/>
              </a:lnSpc>
              <a:spcBef>
                <a:spcPct val="0"/>
              </a:spcBef>
              <a:spcAft>
                <a:spcPct val="0"/>
              </a:spcAft>
              <a:defRPr sz="3000">
                <a:solidFill>
                  <a:srgbClr val="006C3A"/>
                </a:solidFill>
                <a:latin typeface="Arial Black" pitchFamily="34" charset="0"/>
              </a:defRPr>
            </a:lvl5pPr>
            <a:lvl6pPr marL="457200" algn="l" rtl="0" eaLnBrk="1" fontAlgn="base" hangingPunct="1">
              <a:lnSpc>
                <a:spcPct val="85000"/>
              </a:lnSpc>
              <a:spcBef>
                <a:spcPct val="0"/>
              </a:spcBef>
              <a:spcAft>
                <a:spcPct val="0"/>
              </a:spcAft>
              <a:defRPr sz="3000">
                <a:solidFill>
                  <a:srgbClr val="006C3A"/>
                </a:solidFill>
                <a:latin typeface="Arial Black" pitchFamily="34" charset="0"/>
              </a:defRPr>
            </a:lvl6pPr>
            <a:lvl7pPr marL="914400" algn="l" rtl="0" eaLnBrk="1" fontAlgn="base" hangingPunct="1">
              <a:lnSpc>
                <a:spcPct val="85000"/>
              </a:lnSpc>
              <a:spcBef>
                <a:spcPct val="0"/>
              </a:spcBef>
              <a:spcAft>
                <a:spcPct val="0"/>
              </a:spcAft>
              <a:defRPr sz="3000">
                <a:solidFill>
                  <a:srgbClr val="006C3A"/>
                </a:solidFill>
                <a:latin typeface="Arial Black" pitchFamily="34" charset="0"/>
              </a:defRPr>
            </a:lvl7pPr>
            <a:lvl8pPr marL="1371600" algn="l" rtl="0" eaLnBrk="1" fontAlgn="base" hangingPunct="1">
              <a:lnSpc>
                <a:spcPct val="85000"/>
              </a:lnSpc>
              <a:spcBef>
                <a:spcPct val="0"/>
              </a:spcBef>
              <a:spcAft>
                <a:spcPct val="0"/>
              </a:spcAft>
              <a:defRPr sz="3000">
                <a:solidFill>
                  <a:srgbClr val="006C3A"/>
                </a:solidFill>
                <a:latin typeface="Arial Black" pitchFamily="34" charset="0"/>
              </a:defRPr>
            </a:lvl8pPr>
            <a:lvl9pPr marL="1828800" algn="l" rtl="0" eaLnBrk="1" fontAlgn="base" hangingPunct="1">
              <a:lnSpc>
                <a:spcPct val="85000"/>
              </a:lnSpc>
              <a:spcBef>
                <a:spcPct val="0"/>
              </a:spcBef>
              <a:spcAft>
                <a:spcPct val="0"/>
              </a:spcAft>
              <a:defRPr sz="3000">
                <a:solidFill>
                  <a:srgbClr val="006C3A"/>
                </a:solidFill>
                <a:latin typeface="Arial Black" pitchFamily="34" charset="0"/>
              </a:defRPr>
            </a:lvl9pPr>
          </a:lstStyle>
          <a:p>
            <a:r>
              <a:rPr lang="en-US" sz="2800" b="1" dirty="0"/>
              <a:t>Mechanisms Needed by the Code </a:t>
            </a:r>
          </a:p>
        </p:txBody>
      </p:sp>
    </p:spTree>
    <p:extLst>
      <p:ext uri="{BB962C8B-B14F-4D97-AF65-F5344CB8AC3E}">
        <p14:creationId xmlns:p14="http://schemas.microsoft.com/office/powerpoint/2010/main" val="11873782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B3B40-7A22-89F8-6BB1-6167FDBA30F2}"/>
              </a:ext>
            </a:extLst>
          </p:cNvPr>
          <p:cNvSpPr>
            <a:spLocks noGrp="1"/>
          </p:cNvSpPr>
          <p:nvPr>
            <p:ph type="title"/>
          </p:nvPr>
        </p:nvSpPr>
        <p:spPr>
          <a:xfrm>
            <a:off x="792273" y="101609"/>
            <a:ext cx="10512862" cy="1325218"/>
          </a:xfrm>
        </p:spPr>
        <p:txBody>
          <a:bodyPr/>
          <a:lstStyle/>
          <a:p>
            <a:r>
              <a:rPr lang="en-US" dirty="0"/>
              <a:t>Mechanisms Needed by the Code </a:t>
            </a:r>
          </a:p>
        </p:txBody>
      </p:sp>
      <p:sp>
        <p:nvSpPr>
          <p:cNvPr id="7" name="Rounded Rectangle 6">
            <a:extLst>
              <a:ext uri="{FF2B5EF4-FFF2-40B4-BE49-F238E27FC236}">
                <a16:creationId xmlns:a16="http://schemas.microsoft.com/office/drawing/2014/main" id="{92BFB06A-BBA4-8BFB-FC00-AF67220E1D1D}"/>
              </a:ext>
            </a:extLst>
          </p:cNvPr>
          <p:cNvSpPr/>
          <p:nvPr/>
        </p:nvSpPr>
        <p:spPr>
          <a:xfrm>
            <a:off x="761316" y="882849"/>
            <a:ext cx="5265572" cy="2219890"/>
          </a:xfrm>
          <a:prstGeom prst="roundRect">
            <a:avLst/>
          </a:prstGeom>
          <a:solidFill>
            <a:srgbClr val="7030A0"/>
          </a:solidFill>
          <a:ln>
            <a:solidFill>
              <a:srgbClr val="0070C0"/>
            </a:solidFill>
          </a:ln>
          <a:effectLst>
            <a:outerShdw blurRad="44450" dist="27940" dir="5400000" algn="ctr">
              <a:srgbClr val="000000">
                <a:alpha val="32000"/>
              </a:srgbClr>
            </a:outerShdw>
          </a:effectLst>
        </p:spPr>
        <p:txBody>
          <a:bodyPr rot="0" spcFirstLastPara="0" vertOverflow="overflow" horzOverflow="overflow" vert="horz" wrap="square" lIns="121819" tIns="60909" rIns="121819" bIns="60909" numCol="1" spcCol="0" rtlCol="0" fromWordArt="0" anchor="ctr" anchorCtr="0" forceAA="0" compatLnSpc="1">
            <a:prstTxWarp prst="textNoShape">
              <a:avLst/>
            </a:prstTxWarp>
            <a:noAutofit/>
          </a:bodyPr>
          <a:lstStyle/>
          <a:p>
            <a:pPr>
              <a:lnSpc>
                <a:spcPct val="90000"/>
              </a:lnSpc>
            </a:pPr>
            <a:r>
              <a:rPr lang="en-US" sz="2399" dirty="0">
                <a:solidFill>
                  <a:schemeClr val="bg1"/>
                </a:solidFill>
              </a:rPr>
              <a:t>Mechanisms to move work and data to computational targets</a:t>
            </a:r>
          </a:p>
          <a:p>
            <a:pPr marL="342797" indent="-342797">
              <a:lnSpc>
                <a:spcPct val="90000"/>
              </a:lnSpc>
              <a:buFont typeface="Arial" panose="020B0604020202020204" pitchFamily="34" charset="0"/>
              <a:buChar char="•"/>
            </a:pPr>
            <a:r>
              <a:rPr lang="en-US" sz="1999" dirty="0">
                <a:solidFill>
                  <a:schemeClr val="bg1"/>
                </a:solidFill>
              </a:rPr>
              <a:t>Moving between devices</a:t>
            </a:r>
          </a:p>
          <a:p>
            <a:pPr marL="799860" lvl="1" indent="-342797">
              <a:lnSpc>
                <a:spcPct val="90000"/>
              </a:lnSpc>
              <a:buFont typeface="Arial" panose="020B0604020202020204" pitchFamily="34" charset="0"/>
              <a:buChar char="•"/>
            </a:pPr>
            <a:r>
              <a:rPr lang="en-US" sz="1999" dirty="0">
                <a:solidFill>
                  <a:schemeClr val="bg1"/>
                </a:solidFill>
              </a:rPr>
              <a:t>Launching work at the destination</a:t>
            </a:r>
          </a:p>
          <a:p>
            <a:pPr marL="799860" lvl="1" indent="-342797">
              <a:lnSpc>
                <a:spcPct val="90000"/>
              </a:lnSpc>
              <a:buFont typeface="Arial" panose="020B0604020202020204" pitchFamily="34" charset="0"/>
              <a:buChar char="•"/>
            </a:pPr>
            <a:r>
              <a:rPr lang="en-US" sz="1999" dirty="0">
                <a:solidFill>
                  <a:schemeClr val="bg1"/>
                </a:solidFill>
              </a:rPr>
              <a:t>Hiding latency of movement</a:t>
            </a:r>
          </a:p>
          <a:p>
            <a:pPr marL="342797" indent="-342797">
              <a:lnSpc>
                <a:spcPct val="90000"/>
              </a:lnSpc>
              <a:buFont typeface="Arial" panose="020B0604020202020204" pitchFamily="34" charset="0"/>
              <a:buChar char="•"/>
            </a:pPr>
            <a:r>
              <a:rPr lang="en-US" sz="1999" dirty="0">
                <a:solidFill>
                  <a:schemeClr val="bg1"/>
                </a:solidFill>
              </a:rPr>
              <a:t>Moving data off-node </a:t>
            </a:r>
          </a:p>
        </p:txBody>
      </p:sp>
      <p:sp>
        <p:nvSpPr>
          <p:cNvPr id="20" name="Title 1">
            <a:extLst>
              <a:ext uri="{FF2B5EF4-FFF2-40B4-BE49-F238E27FC236}">
                <a16:creationId xmlns:a16="http://schemas.microsoft.com/office/drawing/2014/main" id="{7C49023E-21CA-F4E0-9C36-3FAD51CCC9D2}"/>
              </a:ext>
            </a:extLst>
          </p:cNvPr>
          <p:cNvSpPr txBox="1">
            <a:spLocks/>
          </p:cNvSpPr>
          <p:nvPr/>
        </p:nvSpPr>
        <p:spPr>
          <a:xfrm>
            <a:off x="2190179" y="5688105"/>
            <a:ext cx="5915389" cy="622722"/>
          </a:xfrm>
          <a:prstGeom prst="rect">
            <a:avLst/>
          </a:prstGeom>
        </p:spPr>
        <p:txBody>
          <a:bodyPr vert="horz" lIns="91416" tIns="45708" rIns="91416" bIns="45708" rtlCol="0" anchor="ctr">
            <a:normAutofit fontScale="97500" lnSpcReduction="10000"/>
          </a:bodyPr>
          <a:lstStyle>
            <a:lvl1pPr algn="l" defTabSz="914400" rtl="0" eaLnBrk="1" latinLnBrk="0" hangingPunct="1">
              <a:lnSpc>
                <a:spcPct val="90000"/>
              </a:lnSpc>
              <a:spcBef>
                <a:spcPct val="0"/>
              </a:spcBef>
              <a:buNone/>
              <a:defRPr sz="4000" b="1" i="0" kern="1200" baseline="0">
                <a:solidFill>
                  <a:schemeClr val="tx1"/>
                </a:solidFill>
                <a:latin typeface="+mj-lt"/>
                <a:ea typeface="+mj-ea"/>
                <a:cs typeface="+mj-cs"/>
              </a:defRPr>
            </a:lvl1pPr>
          </a:lstStyle>
          <a:p>
            <a:endParaRPr lang="en-US" sz="3999" dirty="0"/>
          </a:p>
        </p:txBody>
      </p:sp>
      <p:sp>
        <p:nvSpPr>
          <p:cNvPr id="22" name="Text Placeholder 2">
            <a:extLst>
              <a:ext uri="{FF2B5EF4-FFF2-40B4-BE49-F238E27FC236}">
                <a16:creationId xmlns:a16="http://schemas.microsoft.com/office/drawing/2014/main" id="{0C752548-2228-3661-03A3-D07DB1A1BA5D}"/>
              </a:ext>
            </a:extLst>
          </p:cNvPr>
          <p:cNvSpPr txBox="1">
            <a:spLocks/>
          </p:cNvSpPr>
          <p:nvPr/>
        </p:nvSpPr>
        <p:spPr>
          <a:xfrm>
            <a:off x="696151" y="981829"/>
            <a:ext cx="8377269" cy="375080"/>
          </a:xfrm>
          <a:prstGeom prst="rect">
            <a:avLst/>
          </a:prstGeom>
        </p:spPr>
        <p:txBody>
          <a:bodyPr vert="horz" lIns="91416" tIns="45708" rIns="91416" bIns="45708" rtlCol="0">
            <a:normAutofit fontScale="77500" lnSpcReduction="20000"/>
          </a:bodyPr>
          <a:lstStyle>
            <a:lvl1pPr marL="342900" indent="-342900" algn="l" defTabSz="914400" rtl="0" eaLnBrk="1" latinLnBrk="0" hangingPunct="1">
              <a:spcBef>
                <a:spcPct val="20000"/>
              </a:spcBef>
              <a:buFont typeface="Wingdings" charset="2"/>
              <a:buChar char="q"/>
              <a:defRPr sz="28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Wingdings" charset="2"/>
              <a:buChar char="q"/>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Wingdings" charset="2"/>
              <a:buChar char="q"/>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Wingdings" charset="2"/>
              <a:buChar char="q"/>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Wingdings" charset="2"/>
              <a:buChar char="q"/>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endParaRPr lang="en-US" sz="2799" dirty="0"/>
          </a:p>
        </p:txBody>
      </p:sp>
      <p:sp>
        <p:nvSpPr>
          <p:cNvPr id="32" name="Rectangle 31">
            <a:extLst>
              <a:ext uri="{FF2B5EF4-FFF2-40B4-BE49-F238E27FC236}">
                <a16:creationId xmlns:a16="http://schemas.microsoft.com/office/drawing/2014/main" id="{1787DCFF-4CB0-5C59-C050-2F7469BE0304}"/>
              </a:ext>
            </a:extLst>
          </p:cNvPr>
          <p:cNvSpPr/>
          <p:nvPr/>
        </p:nvSpPr>
        <p:spPr>
          <a:xfrm>
            <a:off x="6284862" y="1349505"/>
            <a:ext cx="5142645" cy="13162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Milhoja</a:t>
            </a:r>
            <a:r>
              <a:rPr lang="en-US" dirty="0"/>
              <a:t>: A Domain Specific Runtime </a:t>
            </a:r>
          </a:p>
          <a:p>
            <a:pPr algn="ctr"/>
            <a:r>
              <a:rPr lang="en-US" dirty="0"/>
              <a:t>Capitalizes on the control flow remaining the same from one timestep to next – static analysis during application configuration</a:t>
            </a:r>
          </a:p>
        </p:txBody>
      </p:sp>
      <p:grpSp>
        <p:nvGrpSpPr>
          <p:cNvPr id="39" name="Group 38">
            <a:extLst>
              <a:ext uri="{FF2B5EF4-FFF2-40B4-BE49-F238E27FC236}">
                <a16:creationId xmlns:a16="http://schemas.microsoft.com/office/drawing/2014/main" id="{42CEDE91-A20E-A187-8A87-CC6AECEF3FBF}"/>
              </a:ext>
            </a:extLst>
          </p:cNvPr>
          <p:cNvGrpSpPr/>
          <p:nvPr/>
        </p:nvGrpSpPr>
        <p:grpSpPr>
          <a:xfrm>
            <a:off x="2190179" y="2974875"/>
            <a:ext cx="6961102" cy="2949496"/>
            <a:chOff x="1757563" y="2916448"/>
            <a:chExt cx="6192008" cy="2514558"/>
          </a:xfrm>
        </p:grpSpPr>
        <p:pic>
          <p:nvPicPr>
            <p:cNvPr id="40" name="Picture 5" descr="Picture 5">
              <a:extLst>
                <a:ext uri="{FF2B5EF4-FFF2-40B4-BE49-F238E27FC236}">
                  <a16:creationId xmlns:a16="http://schemas.microsoft.com/office/drawing/2014/main" id="{9BCC0E9B-C148-94BC-461C-C3376B3B39B6}"/>
                </a:ext>
              </a:extLst>
            </p:cNvPr>
            <p:cNvPicPr>
              <a:picLocks noChangeAspect="1"/>
            </p:cNvPicPr>
            <p:nvPr/>
          </p:nvPicPr>
          <p:blipFill>
            <a:blip r:embed="rId2"/>
            <a:stretch>
              <a:fillRect/>
            </a:stretch>
          </p:blipFill>
          <p:spPr>
            <a:xfrm>
              <a:off x="5739302" y="2916448"/>
              <a:ext cx="1150803" cy="1854823"/>
            </a:xfrm>
            <a:prstGeom prst="rect">
              <a:avLst/>
            </a:prstGeom>
            <a:ln w="12700">
              <a:miter lim="400000"/>
            </a:ln>
          </p:spPr>
        </p:pic>
        <p:sp>
          <p:nvSpPr>
            <p:cNvPr id="41" name="TextBox 40">
              <a:extLst>
                <a:ext uri="{FF2B5EF4-FFF2-40B4-BE49-F238E27FC236}">
                  <a16:creationId xmlns:a16="http://schemas.microsoft.com/office/drawing/2014/main" id="{58F088BD-EF29-DAE2-DFDE-A9B0728B9371}"/>
                </a:ext>
              </a:extLst>
            </p:cNvPr>
            <p:cNvSpPr txBox="1"/>
            <p:nvPr/>
          </p:nvSpPr>
          <p:spPr>
            <a:xfrm>
              <a:off x="1757563" y="3482394"/>
              <a:ext cx="2228546" cy="10230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4316" rIns="34316">
              <a:spAutoFit/>
            </a:bodyPr>
            <a:lstStyle/>
            <a:p>
              <a:pPr>
                <a:defRPr sz="2100"/>
              </a:pPr>
              <a:r>
                <a:rPr sz="1200" dirty="0"/>
                <a:t>Distributors</a:t>
              </a:r>
            </a:p>
            <a:p>
              <a:pPr marL="285897" indent="-285897">
                <a:buSzPct val="100000"/>
                <a:buFont typeface="Arial"/>
                <a:buChar char="•"/>
                <a:defRPr sz="1600"/>
              </a:pPr>
              <a:r>
                <a:rPr sz="1200" dirty="0"/>
                <a:t>Use block iterator</a:t>
              </a:r>
            </a:p>
            <a:p>
              <a:pPr marL="285897" indent="-285897">
                <a:buSzPct val="100000"/>
                <a:buFont typeface="Arial"/>
                <a:buChar char="•"/>
                <a:defRPr sz="1600"/>
              </a:pPr>
              <a:r>
                <a:rPr sz="1200" dirty="0"/>
                <a:t>Aggregate blocks if necessary</a:t>
              </a:r>
            </a:p>
            <a:p>
              <a:pPr marL="285897" indent="-285897">
                <a:buSzPct val="100000"/>
                <a:buFont typeface="Arial"/>
                <a:buChar char="•"/>
                <a:defRPr sz="1600"/>
              </a:pPr>
              <a:r>
                <a:rPr sz="1200" dirty="0"/>
                <a:t>Initiate asynchronous transfers if necessary</a:t>
              </a:r>
            </a:p>
            <a:p>
              <a:pPr marL="285897" indent="-285897">
                <a:buSzPct val="100000"/>
                <a:buFont typeface="Arial"/>
                <a:buChar char="•"/>
                <a:defRPr sz="1600"/>
              </a:pPr>
              <a:r>
                <a:rPr sz="1200" dirty="0"/>
                <a:t>Push blocks to other elements</a:t>
              </a:r>
            </a:p>
          </p:txBody>
        </p:sp>
        <p:sp>
          <p:nvSpPr>
            <p:cNvPr id="42" name="TextBox 41">
              <a:extLst>
                <a:ext uri="{FF2B5EF4-FFF2-40B4-BE49-F238E27FC236}">
                  <a16:creationId xmlns:a16="http://schemas.microsoft.com/office/drawing/2014/main" id="{4CD9F16E-DE56-9499-9259-A67FD3CAC671}"/>
                </a:ext>
              </a:extLst>
            </p:cNvPr>
            <p:cNvSpPr txBox="1"/>
            <p:nvPr/>
          </p:nvSpPr>
          <p:spPr>
            <a:xfrm>
              <a:off x="4210518" y="3482394"/>
              <a:ext cx="1039751" cy="5508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4316" rIns="34316">
              <a:spAutoFit/>
            </a:bodyPr>
            <a:lstStyle>
              <a:lvl1pPr>
                <a:defRPr sz="1300"/>
              </a:lvl1pPr>
            </a:lstStyle>
            <a:p>
              <a:r>
                <a:rPr sz="1200" dirty="0"/>
                <a:t>Computation to apply to each data item</a:t>
              </a:r>
            </a:p>
          </p:txBody>
        </p:sp>
        <p:sp>
          <p:nvSpPr>
            <p:cNvPr id="43" name="Straight Arrow Connector 15">
              <a:extLst>
                <a:ext uri="{FF2B5EF4-FFF2-40B4-BE49-F238E27FC236}">
                  <a16:creationId xmlns:a16="http://schemas.microsoft.com/office/drawing/2014/main" id="{5624AAF1-6A68-85DD-BA4E-23830B6192A8}"/>
                </a:ext>
              </a:extLst>
            </p:cNvPr>
            <p:cNvSpPr/>
            <p:nvPr/>
          </p:nvSpPr>
          <p:spPr>
            <a:xfrm flipV="1">
              <a:off x="5272734" y="3474330"/>
              <a:ext cx="500895" cy="167680"/>
            </a:xfrm>
            <a:prstGeom prst="line">
              <a:avLst/>
            </a:prstGeom>
            <a:ln w="25400">
              <a:solidFill>
                <a:srgbClr val="000000"/>
              </a:solidFill>
              <a:tailEnd type="triangle"/>
            </a:ln>
          </p:spPr>
          <p:txBody>
            <a:bodyPr lIns="34316" rIns="34316"/>
            <a:lstStyle/>
            <a:p>
              <a:endParaRPr sz="1200"/>
            </a:p>
          </p:txBody>
        </p:sp>
        <p:sp>
          <p:nvSpPr>
            <p:cNvPr id="44" name="Straight Arrow Connector 16">
              <a:extLst>
                <a:ext uri="{FF2B5EF4-FFF2-40B4-BE49-F238E27FC236}">
                  <a16:creationId xmlns:a16="http://schemas.microsoft.com/office/drawing/2014/main" id="{F6247936-1AF9-10CA-5A7C-A3E9BC2535F7}"/>
                </a:ext>
              </a:extLst>
            </p:cNvPr>
            <p:cNvSpPr/>
            <p:nvPr/>
          </p:nvSpPr>
          <p:spPr>
            <a:xfrm>
              <a:off x="5272734" y="3897406"/>
              <a:ext cx="500895" cy="481307"/>
            </a:xfrm>
            <a:prstGeom prst="line">
              <a:avLst/>
            </a:prstGeom>
            <a:ln w="25400">
              <a:solidFill>
                <a:srgbClr val="000000"/>
              </a:solidFill>
              <a:tailEnd type="triangle"/>
            </a:ln>
          </p:spPr>
          <p:txBody>
            <a:bodyPr lIns="34316" rIns="34316"/>
            <a:lstStyle/>
            <a:p>
              <a:endParaRPr sz="1200"/>
            </a:p>
          </p:txBody>
        </p:sp>
        <p:sp>
          <p:nvSpPr>
            <p:cNvPr id="45" name="TextBox 20">
              <a:extLst>
                <a:ext uri="{FF2B5EF4-FFF2-40B4-BE49-F238E27FC236}">
                  <a16:creationId xmlns:a16="http://schemas.microsoft.com/office/drawing/2014/main" id="{EDADB62E-4354-3200-6BBF-A8FA273C38DD}"/>
                </a:ext>
              </a:extLst>
            </p:cNvPr>
            <p:cNvSpPr txBox="1"/>
            <p:nvPr/>
          </p:nvSpPr>
          <p:spPr>
            <a:xfrm>
              <a:off x="7303460" y="3593421"/>
              <a:ext cx="646111" cy="2360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4316" rIns="34316">
              <a:spAutoFit/>
            </a:bodyPr>
            <a:lstStyle>
              <a:lvl1pPr>
                <a:defRPr sz="1300"/>
              </a:lvl1pPr>
            </a:lstStyle>
            <a:p>
              <a:r>
                <a:rPr sz="1200" dirty="0"/>
                <a:t>Data type</a:t>
              </a:r>
            </a:p>
          </p:txBody>
        </p:sp>
        <p:sp>
          <p:nvSpPr>
            <p:cNvPr id="46" name="Straight Arrow Connector 21">
              <a:extLst>
                <a:ext uri="{FF2B5EF4-FFF2-40B4-BE49-F238E27FC236}">
                  <a16:creationId xmlns:a16="http://schemas.microsoft.com/office/drawing/2014/main" id="{EABE14B3-6450-087C-CED9-47A2AFD311A3}"/>
                </a:ext>
              </a:extLst>
            </p:cNvPr>
            <p:cNvSpPr/>
            <p:nvPr/>
          </p:nvSpPr>
          <p:spPr>
            <a:xfrm flipH="1" flipV="1">
              <a:off x="6890105" y="3162459"/>
              <a:ext cx="413355" cy="479552"/>
            </a:xfrm>
            <a:prstGeom prst="line">
              <a:avLst/>
            </a:prstGeom>
            <a:ln w="25400">
              <a:solidFill>
                <a:srgbClr val="000000"/>
              </a:solidFill>
              <a:tailEnd type="triangle"/>
            </a:ln>
          </p:spPr>
          <p:txBody>
            <a:bodyPr lIns="34316" rIns="34316"/>
            <a:lstStyle/>
            <a:p>
              <a:endParaRPr sz="1200" dirty="0"/>
            </a:p>
          </p:txBody>
        </p:sp>
        <p:sp>
          <p:nvSpPr>
            <p:cNvPr id="47" name="Straight Arrow Connector 25">
              <a:extLst>
                <a:ext uri="{FF2B5EF4-FFF2-40B4-BE49-F238E27FC236}">
                  <a16:creationId xmlns:a16="http://schemas.microsoft.com/office/drawing/2014/main" id="{09FCA3B5-CDE8-6FFA-BA1A-3E8DA1F5E243}"/>
                </a:ext>
              </a:extLst>
            </p:cNvPr>
            <p:cNvSpPr/>
            <p:nvPr/>
          </p:nvSpPr>
          <p:spPr>
            <a:xfrm flipH="1">
              <a:off x="6890104" y="3750867"/>
              <a:ext cx="381690" cy="479552"/>
            </a:xfrm>
            <a:prstGeom prst="line">
              <a:avLst/>
            </a:prstGeom>
            <a:ln w="25400">
              <a:solidFill>
                <a:srgbClr val="000000"/>
              </a:solidFill>
              <a:tailEnd type="triangle"/>
            </a:ln>
          </p:spPr>
          <p:txBody>
            <a:bodyPr lIns="34316" rIns="34316"/>
            <a:lstStyle/>
            <a:p>
              <a:endParaRPr sz="1200"/>
            </a:p>
          </p:txBody>
        </p:sp>
        <p:sp>
          <p:nvSpPr>
            <p:cNvPr id="48" name="TextBox 28">
              <a:extLst>
                <a:ext uri="{FF2B5EF4-FFF2-40B4-BE49-F238E27FC236}">
                  <a16:creationId xmlns:a16="http://schemas.microsoft.com/office/drawing/2014/main" id="{B20B1E70-E7A6-194F-325F-3B1F1D73D468}"/>
                </a:ext>
              </a:extLst>
            </p:cNvPr>
            <p:cNvSpPr txBox="1"/>
            <p:nvPr/>
          </p:nvSpPr>
          <p:spPr>
            <a:xfrm>
              <a:off x="5307060" y="4880128"/>
              <a:ext cx="1489277" cy="5508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4316" rIns="34316">
              <a:spAutoFit/>
            </a:bodyPr>
            <a:lstStyle>
              <a:lvl1pPr>
                <a:defRPr sz="1300"/>
              </a:lvl1pPr>
            </a:lstStyle>
            <a:p>
              <a:r>
                <a:rPr sz="1200"/>
                <a:t>Number of threads in team activated to apply action to data items</a:t>
              </a:r>
            </a:p>
          </p:txBody>
        </p:sp>
      </p:grpSp>
    </p:spTree>
    <p:extLst>
      <p:ext uri="{BB962C8B-B14F-4D97-AF65-F5344CB8AC3E}">
        <p14:creationId xmlns:p14="http://schemas.microsoft.com/office/powerpoint/2010/main" val="5744416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1B3B5-A4DB-ADAA-DA36-03412ACA84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B91AA0-AD47-D570-F92C-5A70C5A1B2B0}"/>
              </a:ext>
            </a:extLst>
          </p:cNvPr>
          <p:cNvSpPr>
            <a:spLocks noGrp="1"/>
          </p:cNvSpPr>
          <p:nvPr>
            <p:ph type="title"/>
          </p:nvPr>
        </p:nvSpPr>
        <p:spPr>
          <a:xfrm>
            <a:off x="792273" y="101609"/>
            <a:ext cx="10512862" cy="1325218"/>
          </a:xfrm>
        </p:spPr>
        <p:txBody>
          <a:bodyPr/>
          <a:lstStyle/>
          <a:p>
            <a:br>
              <a:rPr lang="en-US" dirty="0"/>
            </a:br>
            <a:r>
              <a:rPr lang="en-US" dirty="0"/>
              <a:t>Orchestration of Data and Computation</a:t>
            </a:r>
          </a:p>
        </p:txBody>
      </p:sp>
      <p:sp>
        <p:nvSpPr>
          <p:cNvPr id="20" name="Title 1">
            <a:extLst>
              <a:ext uri="{FF2B5EF4-FFF2-40B4-BE49-F238E27FC236}">
                <a16:creationId xmlns:a16="http://schemas.microsoft.com/office/drawing/2014/main" id="{BFF68A5E-A1D6-099B-BFD9-DDB7833CF812}"/>
              </a:ext>
            </a:extLst>
          </p:cNvPr>
          <p:cNvSpPr txBox="1">
            <a:spLocks/>
          </p:cNvSpPr>
          <p:nvPr/>
        </p:nvSpPr>
        <p:spPr>
          <a:xfrm>
            <a:off x="2190179" y="5688105"/>
            <a:ext cx="5915389" cy="622722"/>
          </a:xfrm>
          <a:prstGeom prst="rect">
            <a:avLst/>
          </a:prstGeom>
        </p:spPr>
        <p:txBody>
          <a:bodyPr vert="horz" lIns="91416" tIns="45708" rIns="91416" bIns="45708" rtlCol="0" anchor="ctr">
            <a:normAutofit fontScale="97500" lnSpcReduction="10000"/>
          </a:bodyPr>
          <a:lstStyle>
            <a:lvl1pPr algn="l" defTabSz="914400" rtl="0" eaLnBrk="1" latinLnBrk="0" hangingPunct="1">
              <a:lnSpc>
                <a:spcPct val="90000"/>
              </a:lnSpc>
              <a:spcBef>
                <a:spcPct val="0"/>
              </a:spcBef>
              <a:buNone/>
              <a:defRPr sz="4000" b="1" i="0" kern="1200" baseline="0">
                <a:solidFill>
                  <a:schemeClr val="tx1"/>
                </a:solidFill>
                <a:latin typeface="+mj-lt"/>
                <a:ea typeface="+mj-ea"/>
                <a:cs typeface="+mj-cs"/>
              </a:defRPr>
            </a:lvl1pPr>
          </a:lstStyle>
          <a:p>
            <a:endParaRPr lang="en-US" sz="3999" dirty="0"/>
          </a:p>
        </p:txBody>
      </p:sp>
      <p:sp>
        <p:nvSpPr>
          <p:cNvPr id="22" name="Text Placeholder 2">
            <a:extLst>
              <a:ext uri="{FF2B5EF4-FFF2-40B4-BE49-F238E27FC236}">
                <a16:creationId xmlns:a16="http://schemas.microsoft.com/office/drawing/2014/main" id="{FBD61C27-2F54-9F94-AEC9-8A7140A83081}"/>
              </a:ext>
            </a:extLst>
          </p:cNvPr>
          <p:cNvSpPr txBox="1">
            <a:spLocks/>
          </p:cNvSpPr>
          <p:nvPr/>
        </p:nvSpPr>
        <p:spPr>
          <a:xfrm>
            <a:off x="696151" y="981829"/>
            <a:ext cx="8377269" cy="375080"/>
          </a:xfrm>
          <a:prstGeom prst="rect">
            <a:avLst/>
          </a:prstGeom>
        </p:spPr>
        <p:txBody>
          <a:bodyPr vert="horz" lIns="91416" tIns="45708" rIns="91416" bIns="45708" rtlCol="0">
            <a:normAutofit fontScale="77500" lnSpcReduction="20000"/>
          </a:bodyPr>
          <a:lstStyle>
            <a:lvl1pPr marL="342900" indent="-342900" algn="l" defTabSz="914400" rtl="0" eaLnBrk="1" latinLnBrk="0" hangingPunct="1">
              <a:spcBef>
                <a:spcPct val="20000"/>
              </a:spcBef>
              <a:buFont typeface="Wingdings" charset="2"/>
              <a:buChar char="q"/>
              <a:defRPr sz="28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Wingdings" charset="2"/>
              <a:buChar char="q"/>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Wingdings" charset="2"/>
              <a:buChar char="q"/>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Wingdings" charset="2"/>
              <a:buChar char="q"/>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Wingdings" charset="2"/>
              <a:buChar char="q"/>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endParaRPr lang="en-US" sz="2799" dirty="0"/>
          </a:p>
        </p:txBody>
      </p:sp>
      <p:grpSp>
        <p:nvGrpSpPr>
          <p:cNvPr id="3" name="Group 2">
            <a:extLst>
              <a:ext uri="{FF2B5EF4-FFF2-40B4-BE49-F238E27FC236}">
                <a16:creationId xmlns:a16="http://schemas.microsoft.com/office/drawing/2014/main" id="{8BCF9E74-F21B-AA00-1938-85AA687110EB}"/>
              </a:ext>
            </a:extLst>
          </p:cNvPr>
          <p:cNvGrpSpPr/>
          <p:nvPr/>
        </p:nvGrpSpPr>
        <p:grpSpPr>
          <a:xfrm>
            <a:off x="1828936" y="3076712"/>
            <a:ext cx="7142608" cy="3416479"/>
            <a:chOff x="1892165" y="1308476"/>
            <a:chExt cx="5358352" cy="2563027"/>
          </a:xfrm>
        </p:grpSpPr>
        <p:grpSp>
          <p:nvGrpSpPr>
            <p:cNvPr id="4" name="Group 3">
              <a:extLst>
                <a:ext uri="{FF2B5EF4-FFF2-40B4-BE49-F238E27FC236}">
                  <a16:creationId xmlns:a16="http://schemas.microsoft.com/office/drawing/2014/main" id="{D56E9CED-6269-E407-E3A7-D7358BDAD76E}"/>
                </a:ext>
              </a:extLst>
            </p:cNvPr>
            <p:cNvGrpSpPr/>
            <p:nvPr/>
          </p:nvGrpSpPr>
          <p:grpSpPr>
            <a:xfrm>
              <a:off x="1892165" y="1817915"/>
              <a:ext cx="5358352" cy="2053588"/>
              <a:chOff x="3871890" y="1294972"/>
              <a:chExt cx="5358352" cy="2053588"/>
            </a:xfrm>
          </p:grpSpPr>
          <p:sp>
            <p:nvSpPr>
              <p:cNvPr id="6" name="Oval 5">
                <a:extLst>
                  <a:ext uri="{FF2B5EF4-FFF2-40B4-BE49-F238E27FC236}">
                    <a16:creationId xmlns:a16="http://schemas.microsoft.com/office/drawing/2014/main" id="{3DB5BB9A-2C54-095B-6EA4-53A44587887F}"/>
                  </a:ext>
                </a:extLst>
              </p:cNvPr>
              <p:cNvSpPr/>
              <p:nvPr/>
            </p:nvSpPr>
            <p:spPr>
              <a:xfrm>
                <a:off x="4422083" y="2060357"/>
                <a:ext cx="253158" cy="253158"/>
              </a:xfrm>
              <a:prstGeom prst="ellipse">
                <a:avLst/>
              </a:prstGeom>
              <a:solidFill>
                <a:schemeClr val="tx2">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a:t>
                </a:r>
              </a:p>
            </p:txBody>
          </p:sp>
          <p:sp>
            <p:nvSpPr>
              <p:cNvPr id="8" name="Oval 7">
                <a:extLst>
                  <a:ext uri="{FF2B5EF4-FFF2-40B4-BE49-F238E27FC236}">
                    <a16:creationId xmlns:a16="http://schemas.microsoft.com/office/drawing/2014/main" id="{14FF985E-6A16-52AB-05C9-71317C8D9F2E}"/>
                  </a:ext>
                </a:extLst>
              </p:cNvPr>
              <p:cNvSpPr/>
              <p:nvPr/>
            </p:nvSpPr>
            <p:spPr>
              <a:xfrm>
                <a:off x="4932085" y="2060357"/>
                <a:ext cx="253158" cy="253158"/>
              </a:xfrm>
              <a:prstGeom prst="ellipse">
                <a:avLst/>
              </a:prstGeom>
              <a:solidFill>
                <a:schemeClr val="tx2">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a:t>
                </a:r>
              </a:p>
            </p:txBody>
          </p:sp>
          <p:cxnSp>
            <p:nvCxnSpPr>
              <p:cNvPr id="9" name="Straight Arrow Connector 8">
                <a:extLst>
                  <a:ext uri="{FF2B5EF4-FFF2-40B4-BE49-F238E27FC236}">
                    <a16:creationId xmlns:a16="http://schemas.microsoft.com/office/drawing/2014/main" id="{A6099FCF-EC15-091C-1997-815DD755DF99}"/>
                  </a:ext>
                </a:extLst>
              </p:cNvPr>
              <p:cNvCxnSpPr>
                <a:cxnSpLocks/>
                <a:stCxn id="6" idx="6"/>
                <a:endCxn id="8" idx="2"/>
              </p:cNvCxnSpPr>
              <p:nvPr/>
            </p:nvCxnSpPr>
            <p:spPr>
              <a:xfrm>
                <a:off x="4675241" y="2186936"/>
                <a:ext cx="25684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8A4D6BA1-07B1-D2EE-0612-620F13ECA8FA}"/>
                  </a:ext>
                </a:extLst>
              </p:cNvPr>
              <p:cNvCxnSpPr>
                <a:cxnSpLocks/>
                <a:stCxn id="21" idx="6"/>
                <a:endCxn id="13" idx="1"/>
              </p:cNvCxnSpPr>
              <p:nvPr/>
            </p:nvCxnSpPr>
            <p:spPr>
              <a:xfrm flipV="1">
                <a:off x="6538610" y="2182030"/>
                <a:ext cx="332833" cy="357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64">
                <a:extLst>
                  <a:ext uri="{FF2B5EF4-FFF2-40B4-BE49-F238E27FC236}">
                    <a16:creationId xmlns:a16="http://schemas.microsoft.com/office/drawing/2014/main" id="{D5BE35E9-55D4-87F2-AFC0-4F99CEC54899}"/>
                  </a:ext>
                </a:extLst>
              </p:cNvPr>
              <p:cNvCxnSpPr>
                <a:cxnSpLocks/>
                <a:stCxn id="21" idx="4"/>
                <a:endCxn id="35" idx="1"/>
              </p:cNvCxnSpPr>
              <p:nvPr/>
            </p:nvCxnSpPr>
            <p:spPr>
              <a:xfrm rot="16200000" flipH="1">
                <a:off x="5901424" y="2480111"/>
                <a:ext cx="619611" cy="358101"/>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8CEACF35-CA55-7364-5854-A550895F4061}"/>
                  </a:ext>
                </a:extLst>
              </p:cNvPr>
              <p:cNvGrpSpPr/>
              <p:nvPr/>
            </p:nvGrpSpPr>
            <p:grpSpPr>
              <a:xfrm>
                <a:off x="6390280" y="2589376"/>
                <a:ext cx="920193" cy="759184"/>
                <a:chOff x="6390280" y="2589376"/>
                <a:chExt cx="920193" cy="759184"/>
              </a:xfrm>
            </p:grpSpPr>
            <p:sp>
              <p:nvSpPr>
                <p:cNvPr id="35" name="Rounded Rectangle 34">
                  <a:extLst>
                    <a:ext uri="{FF2B5EF4-FFF2-40B4-BE49-F238E27FC236}">
                      <a16:creationId xmlns:a16="http://schemas.microsoft.com/office/drawing/2014/main" id="{34E0C85C-1E8E-B92B-97A2-02310A6B54B1}"/>
                    </a:ext>
                  </a:extLst>
                </p:cNvPr>
                <p:cNvSpPr/>
                <p:nvPr/>
              </p:nvSpPr>
              <p:spPr>
                <a:xfrm>
                  <a:off x="6390280" y="2589376"/>
                  <a:ext cx="920193" cy="759184"/>
                </a:xfrm>
                <a:prstGeom prst="roundRect">
                  <a:avLst/>
                </a:prstGeom>
                <a:solidFill>
                  <a:schemeClr val="accent1"/>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t"/>
                <a:lstStyle/>
                <a:p>
                  <a:pPr algn="ctr"/>
                  <a:r>
                    <a:rPr lang="en-US" sz="1200" dirty="0">
                      <a:solidFill>
                        <a:schemeClr val="tx1"/>
                      </a:solidFill>
                    </a:rPr>
                    <a:t>Task </a:t>
                  </a:r>
                  <a:r>
                    <a:rPr lang="en-US" sz="1200" dirty="0" err="1">
                      <a:solidFill>
                        <a:schemeClr val="tx1"/>
                      </a:solidFill>
                    </a:rPr>
                    <a:t>Fcn</a:t>
                  </a:r>
                  <a:r>
                    <a:rPr lang="en-US" sz="1200" dirty="0">
                      <a:solidFill>
                        <a:schemeClr val="tx1"/>
                      </a:solidFill>
                    </a:rPr>
                    <a:t> B (GPU)</a:t>
                  </a:r>
                </a:p>
              </p:txBody>
            </p:sp>
            <p:sp>
              <p:nvSpPr>
                <p:cNvPr id="36" name="Oval 35">
                  <a:extLst>
                    <a:ext uri="{FF2B5EF4-FFF2-40B4-BE49-F238E27FC236}">
                      <a16:creationId xmlns:a16="http://schemas.microsoft.com/office/drawing/2014/main" id="{0606037C-C5C9-6AC4-DC33-55C172B86126}"/>
                    </a:ext>
                  </a:extLst>
                </p:cNvPr>
                <p:cNvSpPr/>
                <p:nvPr/>
              </p:nvSpPr>
              <p:spPr>
                <a:xfrm>
                  <a:off x="6509050" y="2984432"/>
                  <a:ext cx="253158" cy="253158"/>
                </a:xfrm>
                <a:prstGeom prst="ellipse">
                  <a:avLst/>
                </a:prstGeom>
                <a:solidFill>
                  <a:schemeClr val="tx2">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X</a:t>
                  </a:r>
                </a:p>
              </p:txBody>
            </p:sp>
            <p:sp>
              <p:nvSpPr>
                <p:cNvPr id="37" name="Oval 36">
                  <a:extLst>
                    <a:ext uri="{FF2B5EF4-FFF2-40B4-BE49-F238E27FC236}">
                      <a16:creationId xmlns:a16="http://schemas.microsoft.com/office/drawing/2014/main" id="{23D0505A-2537-1C3C-724F-2F4D9F512C6B}"/>
                    </a:ext>
                  </a:extLst>
                </p:cNvPr>
                <p:cNvSpPr/>
                <p:nvPr/>
              </p:nvSpPr>
              <p:spPr>
                <a:xfrm>
                  <a:off x="6956149" y="2984432"/>
                  <a:ext cx="253158" cy="253158"/>
                </a:xfrm>
                <a:prstGeom prst="ellipse">
                  <a:avLst/>
                </a:prstGeom>
                <a:solidFill>
                  <a:schemeClr val="tx2">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Y</a:t>
                  </a:r>
                </a:p>
              </p:txBody>
            </p:sp>
            <p:cxnSp>
              <p:nvCxnSpPr>
                <p:cNvPr id="38" name="Straight Arrow Connector 37">
                  <a:extLst>
                    <a:ext uri="{FF2B5EF4-FFF2-40B4-BE49-F238E27FC236}">
                      <a16:creationId xmlns:a16="http://schemas.microsoft.com/office/drawing/2014/main" id="{8E768631-D84D-329C-CFAA-45B97285DAD2}"/>
                    </a:ext>
                  </a:extLst>
                </p:cNvPr>
                <p:cNvCxnSpPr>
                  <a:cxnSpLocks/>
                  <a:stCxn id="36" idx="6"/>
                  <a:endCxn id="37" idx="2"/>
                </p:cNvCxnSpPr>
                <p:nvPr/>
              </p:nvCxnSpPr>
              <p:spPr>
                <a:xfrm>
                  <a:off x="6762208" y="3111011"/>
                  <a:ext cx="193941"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3" name="Rounded Rectangle 12">
                <a:extLst>
                  <a:ext uri="{FF2B5EF4-FFF2-40B4-BE49-F238E27FC236}">
                    <a16:creationId xmlns:a16="http://schemas.microsoft.com/office/drawing/2014/main" id="{8AE875EF-4FFF-CB33-F1F0-F32B41E79B9D}"/>
                  </a:ext>
                </a:extLst>
              </p:cNvPr>
              <p:cNvSpPr/>
              <p:nvPr/>
            </p:nvSpPr>
            <p:spPr>
              <a:xfrm>
                <a:off x="6871443" y="1819599"/>
                <a:ext cx="892244" cy="724862"/>
              </a:xfrm>
              <a:prstGeom prst="roundRect">
                <a:avLst/>
              </a:prstGeom>
              <a:solidFill>
                <a:schemeClr val="tx2">
                  <a:lumMod val="60000"/>
                  <a:lumOff val="40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t"/>
              <a:lstStyle/>
              <a:p>
                <a:pPr algn="ctr"/>
                <a:r>
                  <a:rPr lang="en-US" sz="1200" dirty="0">
                    <a:solidFill>
                      <a:schemeClr val="tx1"/>
                    </a:solidFill>
                  </a:rPr>
                  <a:t>Task </a:t>
                </a:r>
                <a:r>
                  <a:rPr lang="en-US" sz="1200" dirty="0" err="1">
                    <a:solidFill>
                      <a:schemeClr val="tx1"/>
                    </a:solidFill>
                  </a:rPr>
                  <a:t>Fcn</a:t>
                </a:r>
                <a:r>
                  <a:rPr lang="en-US" sz="1200" dirty="0">
                    <a:solidFill>
                      <a:schemeClr val="tx1"/>
                    </a:solidFill>
                  </a:rPr>
                  <a:t> A (CPU)</a:t>
                </a:r>
              </a:p>
            </p:txBody>
          </p:sp>
          <p:sp>
            <p:nvSpPr>
              <p:cNvPr id="14" name="Oval 13">
                <a:extLst>
                  <a:ext uri="{FF2B5EF4-FFF2-40B4-BE49-F238E27FC236}">
                    <a16:creationId xmlns:a16="http://schemas.microsoft.com/office/drawing/2014/main" id="{90A11794-9064-2453-5887-BE718BE2858C}"/>
                  </a:ext>
                </a:extLst>
              </p:cNvPr>
              <p:cNvSpPr/>
              <p:nvPr/>
            </p:nvSpPr>
            <p:spPr>
              <a:xfrm>
                <a:off x="7190986" y="2216209"/>
                <a:ext cx="253158" cy="253158"/>
              </a:xfrm>
              <a:prstGeom prst="ellipse">
                <a:avLst/>
              </a:prstGeom>
              <a:solidFill>
                <a:schemeClr val="tx2">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a:t>
                </a:r>
              </a:p>
            </p:txBody>
          </p:sp>
          <p:grpSp>
            <p:nvGrpSpPr>
              <p:cNvPr id="15" name="Group 14">
                <a:extLst>
                  <a:ext uri="{FF2B5EF4-FFF2-40B4-BE49-F238E27FC236}">
                    <a16:creationId xmlns:a16="http://schemas.microsoft.com/office/drawing/2014/main" id="{885E60D2-356D-7EDE-0866-3561638F545A}"/>
                  </a:ext>
                </a:extLst>
              </p:cNvPr>
              <p:cNvGrpSpPr/>
              <p:nvPr/>
            </p:nvGrpSpPr>
            <p:grpSpPr>
              <a:xfrm>
                <a:off x="8112259" y="1812881"/>
                <a:ext cx="892244" cy="724862"/>
                <a:chOff x="7997010" y="1674713"/>
                <a:chExt cx="892244" cy="724862"/>
              </a:xfrm>
            </p:grpSpPr>
            <p:sp>
              <p:nvSpPr>
                <p:cNvPr id="33" name="Rounded Rectangle 32">
                  <a:extLst>
                    <a:ext uri="{FF2B5EF4-FFF2-40B4-BE49-F238E27FC236}">
                      <a16:creationId xmlns:a16="http://schemas.microsoft.com/office/drawing/2014/main" id="{003AE9F3-F877-8A1B-A426-1A012452809E}"/>
                    </a:ext>
                  </a:extLst>
                </p:cNvPr>
                <p:cNvSpPr/>
                <p:nvPr/>
              </p:nvSpPr>
              <p:spPr>
                <a:xfrm>
                  <a:off x="7997010" y="1674713"/>
                  <a:ext cx="892244" cy="724862"/>
                </a:xfrm>
                <a:prstGeom prst="roundRect">
                  <a:avLst/>
                </a:prstGeom>
                <a:solidFill>
                  <a:schemeClr val="tx2">
                    <a:lumMod val="60000"/>
                    <a:lumOff val="40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t"/>
                <a:lstStyle/>
                <a:p>
                  <a:pPr algn="ctr"/>
                  <a:r>
                    <a:rPr lang="en-US" sz="1200" dirty="0">
                      <a:solidFill>
                        <a:schemeClr val="tx1"/>
                      </a:solidFill>
                    </a:rPr>
                    <a:t>Task </a:t>
                  </a:r>
                  <a:r>
                    <a:rPr lang="en-US" sz="1200" dirty="0" err="1">
                      <a:solidFill>
                        <a:schemeClr val="tx1"/>
                      </a:solidFill>
                    </a:rPr>
                    <a:t>Fcn</a:t>
                  </a:r>
                  <a:r>
                    <a:rPr lang="en-US" sz="1200" dirty="0">
                      <a:solidFill>
                        <a:schemeClr val="tx1"/>
                      </a:solidFill>
                    </a:rPr>
                    <a:t> C (CPU)</a:t>
                  </a:r>
                </a:p>
              </p:txBody>
            </p:sp>
            <p:sp>
              <p:nvSpPr>
                <p:cNvPr id="34" name="Oval 33">
                  <a:extLst>
                    <a:ext uri="{FF2B5EF4-FFF2-40B4-BE49-F238E27FC236}">
                      <a16:creationId xmlns:a16="http://schemas.microsoft.com/office/drawing/2014/main" id="{427EF923-65F1-13F5-F661-081F4D477223}"/>
                    </a:ext>
                  </a:extLst>
                </p:cNvPr>
                <p:cNvSpPr/>
                <p:nvPr/>
              </p:nvSpPr>
              <p:spPr>
                <a:xfrm>
                  <a:off x="8316553" y="2078041"/>
                  <a:ext cx="253158" cy="253158"/>
                </a:xfrm>
                <a:prstGeom prst="ellipse">
                  <a:avLst/>
                </a:prstGeom>
                <a:solidFill>
                  <a:schemeClr val="tx2">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Z</a:t>
                  </a:r>
                </a:p>
              </p:txBody>
            </p:sp>
          </p:grpSp>
          <p:cxnSp>
            <p:nvCxnSpPr>
              <p:cNvPr id="16" name="Straight Arrow Connector 15">
                <a:extLst>
                  <a:ext uri="{FF2B5EF4-FFF2-40B4-BE49-F238E27FC236}">
                    <a16:creationId xmlns:a16="http://schemas.microsoft.com/office/drawing/2014/main" id="{7586DE8C-6752-AC97-DE89-266A4FDA1C7F}"/>
                  </a:ext>
                </a:extLst>
              </p:cNvPr>
              <p:cNvCxnSpPr>
                <a:cxnSpLocks/>
                <a:stCxn id="13" idx="3"/>
                <a:endCxn id="33" idx="1"/>
              </p:cNvCxnSpPr>
              <p:nvPr/>
            </p:nvCxnSpPr>
            <p:spPr>
              <a:xfrm flipV="1">
                <a:off x="7763687" y="2175312"/>
                <a:ext cx="348572" cy="671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72F05F14-C018-8CEA-9B02-2093A093F061}"/>
                  </a:ext>
                </a:extLst>
              </p:cNvPr>
              <p:cNvCxnSpPr>
                <a:cxnSpLocks/>
                <a:stCxn id="35" idx="3"/>
                <a:endCxn id="24" idx="2"/>
              </p:cNvCxnSpPr>
              <p:nvPr/>
            </p:nvCxnSpPr>
            <p:spPr>
              <a:xfrm flipV="1">
                <a:off x="7310473" y="2968967"/>
                <a:ext cx="664729" cy="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83BE0435-CD10-7485-10DF-50311748B3FC}"/>
                  </a:ext>
                </a:extLst>
              </p:cNvPr>
              <p:cNvSpPr txBox="1"/>
              <p:nvPr/>
            </p:nvSpPr>
            <p:spPr>
              <a:xfrm>
                <a:off x="4333183" y="2291776"/>
                <a:ext cx="381355" cy="207749"/>
              </a:xfrm>
              <a:prstGeom prst="rect">
                <a:avLst/>
              </a:prstGeom>
              <a:noFill/>
            </p:spPr>
            <p:txBody>
              <a:bodyPr wrap="none" rtlCol="0">
                <a:spAutoFit/>
              </a:bodyPr>
              <a:lstStyle/>
              <a:p>
                <a:r>
                  <a:rPr lang="en-US" sz="1200" dirty="0"/>
                  <a:t>CPU</a:t>
                </a:r>
              </a:p>
            </p:txBody>
          </p:sp>
          <p:sp>
            <p:nvSpPr>
              <p:cNvPr id="19" name="TextBox 18">
                <a:extLst>
                  <a:ext uri="{FF2B5EF4-FFF2-40B4-BE49-F238E27FC236}">
                    <a16:creationId xmlns:a16="http://schemas.microsoft.com/office/drawing/2014/main" id="{1F3AB4BB-0AB5-D8A4-0F44-F4AE31CADB52}"/>
                  </a:ext>
                </a:extLst>
              </p:cNvPr>
              <p:cNvSpPr txBox="1"/>
              <p:nvPr/>
            </p:nvSpPr>
            <p:spPr>
              <a:xfrm>
                <a:off x="4840176" y="2307745"/>
                <a:ext cx="381355" cy="207749"/>
              </a:xfrm>
              <a:prstGeom prst="rect">
                <a:avLst/>
              </a:prstGeom>
              <a:noFill/>
            </p:spPr>
            <p:txBody>
              <a:bodyPr wrap="none" rtlCol="0">
                <a:spAutoFit/>
              </a:bodyPr>
              <a:lstStyle/>
              <a:p>
                <a:r>
                  <a:rPr lang="en-US" sz="1200" dirty="0"/>
                  <a:t>CPU</a:t>
                </a:r>
              </a:p>
            </p:txBody>
          </p:sp>
          <p:sp>
            <p:nvSpPr>
              <p:cNvPr id="21" name="Oval 20">
                <a:extLst>
                  <a:ext uri="{FF2B5EF4-FFF2-40B4-BE49-F238E27FC236}">
                    <a16:creationId xmlns:a16="http://schemas.microsoft.com/office/drawing/2014/main" id="{275F6BD6-A0A9-A894-BE2E-0367327C5B7A}"/>
                  </a:ext>
                </a:extLst>
              </p:cNvPr>
              <p:cNvSpPr/>
              <p:nvPr/>
            </p:nvSpPr>
            <p:spPr>
              <a:xfrm>
                <a:off x="5525747" y="2021855"/>
                <a:ext cx="1012863" cy="327502"/>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Distributor</a:t>
                </a:r>
              </a:p>
            </p:txBody>
          </p:sp>
          <p:cxnSp>
            <p:nvCxnSpPr>
              <p:cNvPr id="23" name="Straight Arrow Connector 22">
                <a:extLst>
                  <a:ext uri="{FF2B5EF4-FFF2-40B4-BE49-F238E27FC236}">
                    <a16:creationId xmlns:a16="http://schemas.microsoft.com/office/drawing/2014/main" id="{0554FB02-22DF-6EE2-E258-E1046CE84A02}"/>
                  </a:ext>
                </a:extLst>
              </p:cNvPr>
              <p:cNvCxnSpPr>
                <a:cxnSpLocks/>
                <a:stCxn id="8" idx="6"/>
                <a:endCxn id="21" idx="2"/>
              </p:cNvCxnSpPr>
              <p:nvPr/>
            </p:nvCxnSpPr>
            <p:spPr>
              <a:xfrm flipV="1">
                <a:off x="5185243" y="2185606"/>
                <a:ext cx="340504" cy="133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4EA385B2-40F9-F945-0AAD-68C811A794E1}"/>
                  </a:ext>
                </a:extLst>
              </p:cNvPr>
              <p:cNvSpPr/>
              <p:nvPr/>
            </p:nvSpPr>
            <p:spPr>
              <a:xfrm>
                <a:off x="7975202" y="2805216"/>
                <a:ext cx="1159175" cy="327502"/>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DM/Unpack</a:t>
                </a:r>
              </a:p>
            </p:txBody>
          </p:sp>
          <p:cxnSp>
            <p:nvCxnSpPr>
              <p:cNvPr id="25" name="Straight Arrow Connector 24">
                <a:extLst>
                  <a:ext uri="{FF2B5EF4-FFF2-40B4-BE49-F238E27FC236}">
                    <a16:creationId xmlns:a16="http://schemas.microsoft.com/office/drawing/2014/main" id="{9F60BA3F-F78F-192B-476B-2FF6E8CC8605}"/>
                  </a:ext>
                </a:extLst>
              </p:cNvPr>
              <p:cNvCxnSpPr>
                <a:cxnSpLocks/>
                <a:stCxn id="24" idx="0"/>
                <a:endCxn id="33" idx="2"/>
              </p:cNvCxnSpPr>
              <p:nvPr/>
            </p:nvCxnSpPr>
            <p:spPr>
              <a:xfrm flipV="1">
                <a:off x="8554790" y="2537743"/>
                <a:ext cx="3591" cy="26747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Round Diagonal Corner Rectangle 26">
                <a:extLst>
                  <a:ext uri="{FF2B5EF4-FFF2-40B4-BE49-F238E27FC236}">
                    <a16:creationId xmlns:a16="http://schemas.microsoft.com/office/drawing/2014/main" id="{EFC1DB53-05B2-959A-6193-C47D615C6F69}"/>
                  </a:ext>
                </a:extLst>
              </p:cNvPr>
              <p:cNvSpPr/>
              <p:nvPr/>
            </p:nvSpPr>
            <p:spPr>
              <a:xfrm rot="16200000">
                <a:off x="5459202" y="2709976"/>
                <a:ext cx="847207" cy="215750"/>
              </a:xfrm>
              <a:prstGeom prst="round2DiagRect">
                <a:avLst/>
              </a:pr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Data Packet</a:t>
                </a:r>
              </a:p>
            </p:txBody>
          </p:sp>
          <p:sp>
            <p:nvSpPr>
              <p:cNvPr id="28" name="Rounded Rectangle 27">
                <a:extLst>
                  <a:ext uri="{FF2B5EF4-FFF2-40B4-BE49-F238E27FC236}">
                    <a16:creationId xmlns:a16="http://schemas.microsoft.com/office/drawing/2014/main" id="{0C420494-C5CF-F2D9-E8C2-531AAD419B2D}"/>
                  </a:ext>
                </a:extLst>
              </p:cNvPr>
              <p:cNvSpPr/>
              <p:nvPr/>
            </p:nvSpPr>
            <p:spPr>
              <a:xfrm>
                <a:off x="3871890" y="1294972"/>
                <a:ext cx="1350907" cy="232628"/>
              </a:xfrm>
              <a:prstGeom prst="roundRect">
                <a:avLst/>
              </a:prstGeom>
              <a:solidFill>
                <a:schemeClr val="accent1">
                  <a:lumMod val="20000"/>
                  <a:lumOff val="8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err="1">
                    <a:solidFill>
                      <a:schemeClr val="tx1"/>
                    </a:solidFill>
                  </a:rPr>
                  <a:t>ConcurrentDataBegin</a:t>
                </a:r>
                <a:endParaRPr lang="en-US" sz="1200" dirty="0">
                  <a:solidFill>
                    <a:schemeClr val="tx1"/>
                  </a:solidFill>
                </a:endParaRPr>
              </a:p>
            </p:txBody>
          </p:sp>
          <p:sp>
            <p:nvSpPr>
              <p:cNvPr id="29" name="Rounded Rectangle 28">
                <a:extLst>
                  <a:ext uri="{FF2B5EF4-FFF2-40B4-BE49-F238E27FC236}">
                    <a16:creationId xmlns:a16="http://schemas.microsoft.com/office/drawing/2014/main" id="{FA83CFE4-355B-72A5-D0EB-98B857FF24F7}"/>
                  </a:ext>
                </a:extLst>
              </p:cNvPr>
              <p:cNvSpPr/>
              <p:nvPr/>
            </p:nvSpPr>
            <p:spPr>
              <a:xfrm>
                <a:off x="7879335" y="1294972"/>
                <a:ext cx="1350907" cy="232628"/>
              </a:xfrm>
              <a:prstGeom prst="roundRect">
                <a:avLst/>
              </a:prstGeom>
              <a:solidFill>
                <a:schemeClr val="accent1">
                  <a:lumMod val="20000"/>
                  <a:lumOff val="8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err="1">
                    <a:solidFill>
                      <a:schemeClr val="tx1"/>
                    </a:solidFill>
                  </a:rPr>
                  <a:t>ConcurrentDataEnd</a:t>
                </a:r>
                <a:endParaRPr lang="en-US" sz="1200" dirty="0">
                  <a:solidFill>
                    <a:schemeClr val="tx1"/>
                  </a:solidFill>
                </a:endParaRPr>
              </a:p>
            </p:txBody>
          </p:sp>
          <p:cxnSp>
            <p:nvCxnSpPr>
              <p:cNvPr id="30" name="Straight Arrow Connector 29">
                <a:extLst>
                  <a:ext uri="{FF2B5EF4-FFF2-40B4-BE49-F238E27FC236}">
                    <a16:creationId xmlns:a16="http://schemas.microsoft.com/office/drawing/2014/main" id="{750D5C54-1C5F-6076-199C-F0C7DE5EEA09}"/>
                  </a:ext>
                </a:extLst>
              </p:cNvPr>
              <p:cNvCxnSpPr>
                <a:cxnSpLocks/>
                <a:stCxn id="28" idx="2"/>
                <a:endCxn id="6" idx="0"/>
              </p:cNvCxnSpPr>
              <p:nvPr/>
            </p:nvCxnSpPr>
            <p:spPr>
              <a:xfrm>
                <a:off x="4547344" y="1527600"/>
                <a:ext cx="1318" cy="53275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E096EC89-74C6-48CC-5BC3-0D025E106200}"/>
                  </a:ext>
                </a:extLst>
              </p:cNvPr>
              <p:cNvCxnSpPr>
                <a:cxnSpLocks/>
                <a:stCxn id="33" idx="0"/>
                <a:endCxn id="29" idx="2"/>
              </p:cNvCxnSpPr>
              <p:nvPr/>
            </p:nvCxnSpPr>
            <p:spPr>
              <a:xfrm flipH="1" flipV="1">
                <a:off x="8554789" y="1527600"/>
                <a:ext cx="3592" cy="28528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5" name="TextBox 43">
              <a:extLst>
                <a:ext uri="{FF2B5EF4-FFF2-40B4-BE49-F238E27FC236}">
                  <a16:creationId xmlns:a16="http://schemas.microsoft.com/office/drawing/2014/main" id="{50D90B6D-5F30-2ACF-D1FA-AA33DE948E43}"/>
                </a:ext>
              </a:extLst>
            </p:cNvPr>
            <p:cNvSpPr txBox="1"/>
            <p:nvPr/>
          </p:nvSpPr>
          <p:spPr>
            <a:xfrm>
              <a:off x="4621522" y="1308476"/>
              <a:ext cx="52038" cy="20957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4316" rIns="34316">
              <a:spAutoFit/>
            </a:bodyPr>
            <a:lstStyle>
              <a:lvl1pPr algn="ctr">
                <a:lnSpc>
                  <a:spcPct val="90000"/>
                </a:lnSpc>
              </a:lvl1pPr>
            </a:lstStyle>
            <a:p>
              <a:endParaRPr sz="1351" dirty="0"/>
            </a:p>
          </p:txBody>
        </p:sp>
      </p:grpSp>
      <p:pic>
        <p:nvPicPr>
          <p:cNvPr id="7" name="Picture 6">
            <a:extLst>
              <a:ext uri="{FF2B5EF4-FFF2-40B4-BE49-F238E27FC236}">
                <a16:creationId xmlns:a16="http://schemas.microsoft.com/office/drawing/2014/main" id="{E982F4DC-9FEB-FF68-359A-6761069608B7}"/>
              </a:ext>
            </a:extLst>
          </p:cNvPr>
          <p:cNvPicPr>
            <a:picLocks noChangeAspect="1"/>
          </p:cNvPicPr>
          <p:nvPr/>
        </p:nvPicPr>
        <p:blipFill>
          <a:blip r:embed="rId2"/>
          <a:stretch>
            <a:fillRect/>
          </a:stretch>
        </p:blipFill>
        <p:spPr>
          <a:xfrm>
            <a:off x="1566881" y="978175"/>
            <a:ext cx="7161986" cy="2685744"/>
          </a:xfrm>
          <a:prstGeom prst="rect">
            <a:avLst/>
          </a:prstGeom>
        </p:spPr>
      </p:pic>
    </p:spTree>
    <p:extLst>
      <p:ext uri="{BB962C8B-B14F-4D97-AF65-F5344CB8AC3E}">
        <p14:creationId xmlns:p14="http://schemas.microsoft.com/office/powerpoint/2010/main" val="429325479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E6DAAB3-39BB-75EB-3B84-2A238F4BD01E}"/>
              </a:ext>
            </a:extLst>
          </p:cNvPr>
          <p:cNvSpPr txBox="1">
            <a:spLocks/>
          </p:cNvSpPr>
          <p:nvPr/>
        </p:nvSpPr>
        <p:spPr>
          <a:xfrm>
            <a:off x="653094" y="52532"/>
            <a:ext cx="10512862" cy="792908"/>
          </a:xfrm>
          <a:prstGeom prst="rect">
            <a:avLst/>
          </a:prstGeom>
        </p:spPr>
        <p:txBody>
          <a:bodyPr vert="horz" lIns="91416" tIns="45708" rIns="91416" bIns="45708" rtlCol="0" anchor="ctr">
            <a:noAutofit/>
          </a:bodyPr>
          <a:lstStyle>
            <a:lvl1pPr algn="l" defTabSz="914400" rtl="0" eaLnBrk="1" latinLnBrk="0" hangingPunct="1">
              <a:lnSpc>
                <a:spcPct val="90000"/>
              </a:lnSpc>
              <a:spcBef>
                <a:spcPct val="0"/>
              </a:spcBef>
              <a:buNone/>
              <a:defRPr sz="4000" b="1" i="0" kern="1200" baseline="0">
                <a:solidFill>
                  <a:schemeClr val="tx1"/>
                </a:solidFill>
                <a:latin typeface="+mj-lt"/>
                <a:ea typeface="+mj-ea"/>
                <a:cs typeface="+mj-cs"/>
              </a:defRPr>
            </a:lvl1pPr>
          </a:lstStyle>
          <a:p>
            <a:r>
              <a:rPr lang="en-US" sz="3200" dirty="0"/>
              <a:t>Orthogonal Axes of Challenges and Optimization</a:t>
            </a:r>
          </a:p>
        </p:txBody>
      </p:sp>
      <p:sp>
        <p:nvSpPr>
          <p:cNvPr id="6" name="Content Placeholder 2">
            <a:extLst>
              <a:ext uri="{FF2B5EF4-FFF2-40B4-BE49-F238E27FC236}">
                <a16:creationId xmlns:a16="http://schemas.microsoft.com/office/drawing/2014/main" id="{9423F266-451C-82AA-8A0C-E7FE7144817F}"/>
              </a:ext>
            </a:extLst>
          </p:cNvPr>
          <p:cNvSpPr txBox="1">
            <a:spLocks/>
          </p:cNvSpPr>
          <p:nvPr/>
        </p:nvSpPr>
        <p:spPr>
          <a:xfrm>
            <a:off x="837981" y="812226"/>
            <a:ext cx="10512862" cy="1263509"/>
          </a:xfrm>
          <a:prstGeom prst="rect">
            <a:avLst/>
          </a:prstGeom>
        </p:spPr>
        <p:txBody>
          <a:bodyPr vert="horz" lIns="91416" tIns="45708" rIns="91416" bIns="45708" rtlCol="0">
            <a:normAutofit/>
          </a:bodyPr>
          <a:lstStyle>
            <a:lvl1pPr marL="228600" indent="-228600" algn="l" defTabSz="914400" rtl="0" eaLnBrk="1" latinLnBrk="0" hangingPunct="1">
              <a:lnSpc>
                <a:spcPct val="90000"/>
              </a:lnSpc>
              <a:spcBef>
                <a:spcPts val="1000"/>
              </a:spcBef>
              <a:buClr>
                <a:schemeClr val="accent2">
                  <a:lumMod val="75000"/>
                </a:schemeClr>
              </a:buClr>
              <a:buFont typeface="Wingdings" pitchFamily="2" charset="2"/>
              <a:buChar char="q"/>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lumMod val="75000"/>
                </a:schemeClr>
              </a:buClr>
              <a:buFont typeface="Wingdings" pitchFamily="2" charset="2"/>
              <a:buChar char="q"/>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lumMod val="75000"/>
                </a:schemeClr>
              </a:buClr>
              <a:buFont typeface="Wingdings" pitchFamily="2" charset="2"/>
              <a:buChar char="q"/>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lumMod val="75000"/>
                </a:schemeClr>
              </a:buClr>
              <a:buFont typeface="Wingdings" pitchFamily="2" charset="2"/>
              <a:buChar char="q"/>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lumMod val="75000"/>
                </a:schemeClr>
              </a:buClr>
              <a:buFont typeface="Wingdings" pitchFamily="2" charset="2"/>
              <a:buChar char="q"/>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sz="2399" dirty="0"/>
              <a:t>Have a method for expressing algorithmic variants</a:t>
            </a:r>
          </a:p>
          <a:p>
            <a:pPr lvl="2"/>
            <a:r>
              <a:rPr lang="en-US" sz="1999" dirty="0"/>
              <a:t>Without delving into the details of the arithmetic</a:t>
            </a:r>
          </a:p>
        </p:txBody>
      </p:sp>
      <p:sp>
        <p:nvSpPr>
          <p:cNvPr id="7" name="Content Placeholder 3">
            <a:extLst>
              <a:ext uri="{FF2B5EF4-FFF2-40B4-BE49-F238E27FC236}">
                <a16:creationId xmlns:a16="http://schemas.microsoft.com/office/drawing/2014/main" id="{353CFD6D-1F1A-981D-93D3-F7B208E44DDC}"/>
              </a:ext>
            </a:extLst>
          </p:cNvPr>
          <p:cNvSpPr txBox="1">
            <a:spLocks/>
          </p:cNvSpPr>
          <p:nvPr/>
        </p:nvSpPr>
        <p:spPr>
          <a:xfrm>
            <a:off x="653094" y="1627568"/>
            <a:ext cx="8032598" cy="1492092"/>
          </a:xfrm>
          <a:prstGeom prst="rect">
            <a:avLst/>
          </a:prstGeom>
        </p:spPr>
        <p:txBody>
          <a:bodyPr>
            <a:normAutofit fontScale="62500" lnSpcReduction="20000"/>
          </a:bodyPr>
          <a:lstStyle>
            <a:lvl1pPr marL="228600" indent="-228600" algn="l" defTabSz="914400" rtl="0" eaLnBrk="1" latinLnBrk="0" hangingPunct="1">
              <a:lnSpc>
                <a:spcPct val="90000"/>
              </a:lnSpc>
              <a:spcBef>
                <a:spcPts val="1000"/>
              </a:spcBef>
              <a:buClr>
                <a:schemeClr val="accent2">
                  <a:lumMod val="75000"/>
                </a:schemeClr>
              </a:buClr>
              <a:buFont typeface="Wingdings" pitchFamily="2" charset="2"/>
              <a:buChar char="q"/>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lumMod val="75000"/>
                </a:schemeClr>
              </a:buClr>
              <a:buFont typeface="Wingdings" pitchFamily="2" charset="2"/>
              <a:buChar char="q"/>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lumMod val="75000"/>
                </a:schemeClr>
              </a:buClr>
              <a:buFont typeface="Wingdings" pitchFamily="2" charset="2"/>
              <a:buChar char="q"/>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lumMod val="75000"/>
                </a:schemeClr>
              </a:buClr>
              <a:buFont typeface="Wingdings" pitchFamily="2" charset="2"/>
              <a:buChar char="q"/>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lumMod val="75000"/>
                </a:schemeClr>
              </a:buClr>
              <a:buFont typeface="Wingdings" pitchFamily="2" charset="2"/>
              <a:buChar char="q"/>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799" dirty="0"/>
              <a:t>Example -- Flash-X supports two block-structured AMR grid backends</a:t>
            </a:r>
          </a:p>
          <a:p>
            <a:pPr lvl="1"/>
            <a:r>
              <a:rPr lang="en-US" sz="2399" dirty="0"/>
              <a:t>Paramesh: Octree-based, </a:t>
            </a:r>
            <a:r>
              <a:rPr lang="en-US" sz="2399" dirty="0" err="1"/>
              <a:t>AMReX</a:t>
            </a:r>
            <a:r>
              <a:rPr lang="en-US" sz="2399" dirty="0"/>
              <a:t>: Level-based</a:t>
            </a:r>
          </a:p>
          <a:p>
            <a:r>
              <a:rPr lang="en-US" sz="2799" dirty="0"/>
              <a:t>Each has different preferences for flux correction at fine-coarse boundaries</a:t>
            </a:r>
          </a:p>
          <a:p>
            <a:r>
              <a:rPr lang="en-US" sz="2799" dirty="0"/>
              <a:t>For higher order RK integration Communication avoidance – telescoping mode</a:t>
            </a:r>
          </a:p>
          <a:p>
            <a:pPr marL="0" indent="0">
              <a:buNone/>
            </a:pPr>
            <a:endParaRPr lang="en-US" sz="2799" dirty="0"/>
          </a:p>
          <a:p>
            <a:endParaRPr lang="en-US" sz="2799" dirty="0"/>
          </a:p>
        </p:txBody>
      </p:sp>
      <p:pic>
        <p:nvPicPr>
          <p:cNvPr id="8" name="Picture 7">
            <a:extLst>
              <a:ext uri="{FF2B5EF4-FFF2-40B4-BE49-F238E27FC236}">
                <a16:creationId xmlns:a16="http://schemas.microsoft.com/office/drawing/2014/main" id="{6098C275-D845-46C4-0008-96411F6F7FF0}"/>
              </a:ext>
            </a:extLst>
          </p:cNvPr>
          <p:cNvPicPr>
            <a:picLocks noChangeAspect="1"/>
          </p:cNvPicPr>
          <p:nvPr/>
        </p:nvPicPr>
        <p:blipFill>
          <a:blip r:embed="rId2"/>
          <a:stretch>
            <a:fillRect/>
          </a:stretch>
        </p:blipFill>
        <p:spPr>
          <a:xfrm>
            <a:off x="467502" y="2835429"/>
            <a:ext cx="5442023" cy="1493080"/>
          </a:xfrm>
          <a:prstGeom prst="rect">
            <a:avLst/>
          </a:prstGeom>
        </p:spPr>
      </p:pic>
      <p:pic>
        <p:nvPicPr>
          <p:cNvPr id="9" name="Picture 8">
            <a:extLst>
              <a:ext uri="{FF2B5EF4-FFF2-40B4-BE49-F238E27FC236}">
                <a16:creationId xmlns:a16="http://schemas.microsoft.com/office/drawing/2014/main" id="{0FE551E7-6183-AD3B-5F3C-999B10F77062}"/>
              </a:ext>
            </a:extLst>
          </p:cNvPr>
          <p:cNvPicPr>
            <a:picLocks noChangeAspect="1"/>
          </p:cNvPicPr>
          <p:nvPr/>
        </p:nvPicPr>
        <p:blipFill>
          <a:blip r:embed="rId3"/>
          <a:stretch>
            <a:fillRect/>
          </a:stretch>
        </p:blipFill>
        <p:spPr>
          <a:xfrm>
            <a:off x="6052076" y="2817902"/>
            <a:ext cx="5655410" cy="1563241"/>
          </a:xfrm>
          <a:prstGeom prst="rect">
            <a:avLst/>
          </a:prstGeom>
        </p:spPr>
      </p:pic>
      <p:pic>
        <p:nvPicPr>
          <p:cNvPr id="10" name="Picture 9">
            <a:extLst>
              <a:ext uri="{FF2B5EF4-FFF2-40B4-BE49-F238E27FC236}">
                <a16:creationId xmlns:a16="http://schemas.microsoft.com/office/drawing/2014/main" id="{7E04467E-5033-B6B3-B0D8-CABA3E0AE6FB}"/>
              </a:ext>
            </a:extLst>
          </p:cNvPr>
          <p:cNvPicPr>
            <a:picLocks noChangeAspect="1"/>
          </p:cNvPicPr>
          <p:nvPr/>
        </p:nvPicPr>
        <p:blipFill>
          <a:blip r:embed="rId4"/>
          <a:stretch>
            <a:fillRect/>
          </a:stretch>
        </p:blipFill>
        <p:spPr>
          <a:xfrm>
            <a:off x="416190" y="4386588"/>
            <a:ext cx="5493335" cy="1516662"/>
          </a:xfrm>
          <a:prstGeom prst="rect">
            <a:avLst/>
          </a:prstGeom>
        </p:spPr>
      </p:pic>
      <p:pic>
        <p:nvPicPr>
          <p:cNvPr id="11" name="Picture 10">
            <a:extLst>
              <a:ext uri="{FF2B5EF4-FFF2-40B4-BE49-F238E27FC236}">
                <a16:creationId xmlns:a16="http://schemas.microsoft.com/office/drawing/2014/main" id="{5831DA50-696B-1715-965E-AA4ED080EAF7}"/>
              </a:ext>
            </a:extLst>
          </p:cNvPr>
          <p:cNvPicPr>
            <a:picLocks noChangeAspect="1"/>
          </p:cNvPicPr>
          <p:nvPr/>
        </p:nvPicPr>
        <p:blipFill>
          <a:blip r:embed="rId5"/>
          <a:stretch>
            <a:fillRect/>
          </a:stretch>
        </p:blipFill>
        <p:spPr>
          <a:xfrm>
            <a:off x="6009740" y="4381143"/>
            <a:ext cx="5697746" cy="1563241"/>
          </a:xfrm>
          <a:prstGeom prst="rect">
            <a:avLst/>
          </a:prstGeom>
        </p:spPr>
      </p:pic>
    </p:spTree>
    <p:extLst>
      <p:ext uri="{BB962C8B-B14F-4D97-AF65-F5344CB8AC3E}">
        <p14:creationId xmlns:p14="http://schemas.microsoft.com/office/powerpoint/2010/main" val="349346471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0FE5BE-D6D7-42CF-8A5E-D501516A65A8}"/>
              </a:ext>
            </a:extLst>
          </p:cNvPr>
          <p:cNvSpPr>
            <a:spLocks noGrp="1"/>
          </p:cNvSpPr>
          <p:nvPr>
            <p:ph type="title"/>
          </p:nvPr>
        </p:nvSpPr>
        <p:spPr>
          <a:xfrm>
            <a:off x="365125" y="243840"/>
            <a:ext cx="11372473" cy="914400"/>
          </a:xfrm>
        </p:spPr>
        <p:txBody>
          <a:bodyPr/>
          <a:lstStyle/>
          <a:p>
            <a:r>
              <a:rPr lang="en-US" dirty="0"/>
              <a:t>Final Takeaways</a:t>
            </a:r>
          </a:p>
        </p:txBody>
      </p:sp>
      <p:sp>
        <p:nvSpPr>
          <p:cNvPr id="4" name="Content Placeholder 3">
            <a:extLst>
              <a:ext uri="{FF2B5EF4-FFF2-40B4-BE49-F238E27FC236}">
                <a16:creationId xmlns:a16="http://schemas.microsoft.com/office/drawing/2014/main" id="{9EAF9B28-68BD-45D5-89A7-A961B5872359}"/>
              </a:ext>
            </a:extLst>
          </p:cNvPr>
          <p:cNvSpPr>
            <a:spLocks noGrp="1"/>
          </p:cNvSpPr>
          <p:nvPr>
            <p:ph idx="1"/>
          </p:nvPr>
        </p:nvSpPr>
        <p:spPr>
          <a:xfrm>
            <a:off x="365125" y="903576"/>
            <a:ext cx="11369675" cy="5050848"/>
          </a:xfrm>
        </p:spPr>
        <p:txBody>
          <a:bodyPr/>
          <a:lstStyle/>
          <a:p>
            <a:r>
              <a:rPr lang="en-US" dirty="0"/>
              <a:t>Requirements gathering and intentional design are indispensable for sustainable software development</a:t>
            </a:r>
          </a:p>
          <a:p>
            <a:r>
              <a:rPr lang="en-US" dirty="0"/>
              <a:t>Many books and online resources available for good design principles</a:t>
            </a:r>
          </a:p>
          <a:p>
            <a:r>
              <a:rPr lang="en-US" dirty="0"/>
              <a:t>Research software poses additional constraints on design and verification because of its exploratory nature</a:t>
            </a:r>
          </a:p>
          <a:p>
            <a:pPr lvl="1"/>
            <a:r>
              <a:rPr lang="en-US" dirty="0"/>
              <a:t>Scientific research software has further challenges</a:t>
            </a:r>
          </a:p>
          <a:p>
            <a:pPr lvl="1"/>
            <a:r>
              <a:rPr lang="en-US" dirty="0"/>
              <a:t>High performance computing research software has even more challenges</a:t>
            </a:r>
          </a:p>
          <a:p>
            <a:pPr lvl="1"/>
            <a:r>
              <a:rPr lang="en-US" dirty="0"/>
              <a:t>That are further exacerbated by the ubiquity of accelerators in platforms</a:t>
            </a:r>
          </a:p>
          <a:p>
            <a:r>
              <a:rPr lang="en-US" dirty="0"/>
              <a:t>Separation of concerns at various granularities, and abstractions enable sustainable software design and enable verification</a:t>
            </a:r>
          </a:p>
          <a:p>
            <a:r>
              <a:rPr lang="en-US" dirty="0"/>
              <a:t>Using good software engineering enables relying on LLM </a:t>
            </a:r>
            <a:r>
              <a:rPr lang="en-US"/>
              <a:t>for automating </a:t>
            </a:r>
            <a:r>
              <a:rPr lang="en-US" dirty="0"/>
              <a:t>aspects of coding.</a:t>
            </a:r>
          </a:p>
          <a:p>
            <a:pPr marL="0" indent="0">
              <a:buNone/>
            </a:pPr>
            <a:endParaRPr lang="en-US" dirty="0"/>
          </a:p>
        </p:txBody>
      </p:sp>
    </p:spTree>
    <p:extLst>
      <p:ext uri="{BB962C8B-B14F-4D97-AF65-F5344CB8AC3E}">
        <p14:creationId xmlns:p14="http://schemas.microsoft.com/office/powerpoint/2010/main" val="50704533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87.2|3.4|1.7|15|27"/>
</p:tagLst>
</file>

<file path=ppt/tags/tag2.xml><?xml version="1.0" encoding="utf-8"?>
<p:tagLst xmlns:a="http://schemas.openxmlformats.org/drawingml/2006/main" xmlns:r="http://schemas.openxmlformats.org/officeDocument/2006/relationships" xmlns:p="http://schemas.openxmlformats.org/presentationml/2006/main">
  <p:tag name="TIMING" val="|87.2|3.4|1.7|15|27"/>
</p:tagLst>
</file>

<file path=ppt/tags/tag3.xml><?xml version="1.0" encoding="utf-8"?>
<p:tagLst xmlns:a="http://schemas.openxmlformats.org/drawingml/2006/main" xmlns:r="http://schemas.openxmlformats.org/officeDocument/2006/relationships" xmlns:p="http://schemas.openxmlformats.org/presentationml/2006/main">
  <p:tag name="TIMING" val="|102|13.3"/>
</p:tagLst>
</file>

<file path=ppt/tags/tag4.xml><?xml version="1.0" encoding="utf-8"?>
<p:tagLst xmlns:a="http://schemas.openxmlformats.org/drawingml/2006/main" xmlns:r="http://schemas.openxmlformats.org/officeDocument/2006/relationships" xmlns:p="http://schemas.openxmlformats.org/presentationml/2006/main">
  <p:tag name="TIMING" val="|102|13.3"/>
</p:tagLst>
</file>

<file path=ppt/tags/tag5.xml><?xml version="1.0" encoding="utf-8"?>
<p:tagLst xmlns:a="http://schemas.openxmlformats.org/drawingml/2006/main" xmlns:r="http://schemas.openxmlformats.org/officeDocument/2006/relationships" xmlns:p="http://schemas.openxmlformats.org/presentationml/2006/main">
  <p:tag name="TIMING" val="|102|13.3"/>
</p:tagLst>
</file>

<file path=ppt/tags/tag6.xml><?xml version="1.0" encoding="utf-8"?>
<p:tagLst xmlns:a="http://schemas.openxmlformats.org/drawingml/2006/main" xmlns:r="http://schemas.openxmlformats.org/officeDocument/2006/relationships" xmlns:p="http://schemas.openxmlformats.org/presentationml/2006/main">
  <p:tag name="TIMING" val="|102|13.3"/>
</p:tagLst>
</file>

<file path=ppt/tags/tag7.xml><?xml version="1.0" encoding="utf-8"?>
<p:tagLst xmlns:a="http://schemas.openxmlformats.org/drawingml/2006/main" xmlns:r="http://schemas.openxmlformats.org/officeDocument/2006/relationships" xmlns:p="http://schemas.openxmlformats.org/presentationml/2006/main">
  <p:tag name="TIMING" val="|102|13.3"/>
</p:tagLst>
</file>

<file path=ppt/tags/tag8.xml><?xml version="1.0" encoding="utf-8"?>
<p:tagLst xmlns:a="http://schemas.openxmlformats.org/drawingml/2006/main" xmlns:r="http://schemas.openxmlformats.org/officeDocument/2006/relationships" xmlns:p="http://schemas.openxmlformats.org/presentationml/2006/main">
  <p:tag name="TIMING" val="|25.8|7|19.3|5.6|9|17.8|16.3|3.9|16.6|0.7"/>
</p:tagLst>
</file>

<file path=ppt/theme/theme1.xml><?xml version="1.0" encoding="utf-8"?>
<a:theme xmlns:a="http://schemas.openxmlformats.org/drawingml/2006/main" name="Presentations (Wide Screen)">
  <a:themeElements>
    <a:clrScheme name="ECP 171103 final">
      <a:dk1>
        <a:sysClr val="windowText" lastClr="000000"/>
      </a:dk1>
      <a:lt1>
        <a:sysClr val="window" lastClr="FFFFFF"/>
      </a:lt1>
      <a:dk2>
        <a:srgbClr val="266093"/>
      </a:dk2>
      <a:lt2>
        <a:srgbClr val="FFFFFF"/>
      </a:lt2>
      <a:accent1>
        <a:srgbClr val="2A75BB"/>
      </a:accent1>
      <a:accent2>
        <a:srgbClr val="84B641"/>
      </a:accent2>
      <a:accent3>
        <a:srgbClr val="43B1E5"/>
      </a:accent3>
      <a:accent4>
        <a:srgbClr val="D13940"/>
      </a:accent4>
      <a:accent5>
        <a:srgbClr val="C39C2F"/>
      </a:accent5>
      <a:accent6>
        <a:srgbClr val="7F7F7F"/>
      </a:accent6>
      <a:hlink>
        <a:srgbClr val="A03123"/>
      </a:hlink>
      <a:folHlink>
        <a:srgbClr val="00000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solidFill>
        <a:ln>
          <a:noFill/>
        </a:ln>
        <a:effectLst>
          <a:outerShdw blurRad="44450" dist="27940" dir="5400000" algn="ctr">
            <a:srgbClr val="000000">
              <a:alpha val="32000"/>
            </a:srgbClr>
          </a:outerShdw>
        </a:effectLst>
      </a:spPr>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defPPr algn="ctr">
          <a:lnSpc>
            <a:spcPct val="90000"/>
          </a:lnSpc>
          <a:defRPr sz="2000" dirty="0">
            <a:solidFill>
              <a:schemeClr val="bg1"/>
            </a:solidFill>
          </a:defRPr>
        </a:defPPr>
      </a:lstStyle>
    </a:spDef>
    <a:txDef>
      <a:spPr>
        <a:noFill/>
      </a:spPr>
      <a:bodyPr wrap="square" lIns="118872" tIns="91440" rIns="118872" bIns="91440" rtlCol="0" anchor="ctr" anchorCtr="0">
        <a:spAutoFit/>
      </a:bodyPr>
      <a:lstStyle>
        <a:defPPr algn="l">
          <a:lnSpc>
            <a:spcPct val="90000"/>
          </a:lnSpc>
          <a:defRPr dirty="0" smtClean="0"/>
        </a:defPPr>
      </a:lstStyle>
    </a:txDef>
  </a:objectDefaults>
  <a:extraClrSchemeLst/>
  <a:extLst>
    <a:ext uri="{05A4C25C-085E-4340-85A3-A5531E510DB2}">
      <thm15:themeFamily xmlns:thm15="http://schemas.microsoft.com/office/thememl/2012/main" name="ECP_PowerPointTemplate-v1.0_20171106" id="{82BFD86B-8FF4-4B2C-AD68-5655622D7E2C}" vid="{C92328A0-5FA1-40E2-AE72-E588ED49ADD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65464437F680748A68B85EB6594EA7D" ma:contentTypeVersion="0" ma:contentTypeDescription="Create a new document." ma:contentTypeScope="" ma:versionID="fe3f4dd58d5914c51cfc6deaa8ad845c">
  <xsd:schema xmlns:xsd="http://www.w3.org/2001/XMLSchema" xmlns:p="http://schemas.microsoft.com/office/2006/metadata/properties" targetNamespace="http://schemas.microsoft.com/office/2006/metadata/properties" ma:root="true" ma:fieldsID="4aeb20c0e3442673af7ee107864587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50EC660-24D0-43A0-AE5E-E274115E726B}">
  <ds:schemaRef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www.w3.org/XML/1998/namespace"/>
    <ds:schemaRef ds:uri="http://purl.org/dc/dcmitype/"/>
    <ds:schemaRef ds:uri="http://schemas.microsoft.com/office/infopath/2007/PartnerControls"/>
  </ds:schemaRefs>
</ds:datastoreItem>
</file>

<file path=customXml/itemProps2.xml><?xml version="1.0" encoding="utf-8"?>
<ds:datastoreItem xmlns:ds="http://schemas.openxmlformats.org/officeDocument/2006/customXml" ds:itemID="{E8DB7DEB-074E-4EE8-9B6E-FD277323109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3.xml><?xml version="1.0" encoding="utf-8"?>
<ds:datastoreItem xmlns:ds="http://schemas.openxmlformats.org/officeDocument/2006/customXml" ds:itemID="{19E20559-B232-4371-8690-E3D8007EDB8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ECP_PowerPoint_Template-v1.0_20171106</Template>
  <TotalTime>2683</TotalTime>
  <Words>6614</Words>
  <Application>Microsoft Office PowerPoint</Application>
  <PresentationFormat>Custom</PresentationFormat>
  <Paragraphs>1077</Paragraphs>
  <Slides>80</Slides>
  <Notes>26</Notes>
  <HiddenSlides>3</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80</vt:i4>
      </vt:variant>
    </vt:vector>
  </HeadingPairs>
  <TitlesOfParts>
    <vt:vector size="86" baseType="lpstr">
      <vt:lpstr>Arial</vt:lpstr>
      <vt:lpstr>Arial Black</vt:lpstr>
      <vt:lpstr>Calibri</vt:lpstr>
      <vt:lpstr>sohne</vt:lpstr>
      <vt:lpstr>Wingdings</vt:lpstr>
      <vt:lpstr>Presentations (Wide Screen)</vt:lpstr>
      <vt:lpstr>Responsible Software Development with LLMs</vt:lpstr>
      <vt:lpstr>License, Citation and Acknowledgements</vt:lpstr>
      <vt:lpstr>Introduction</vt:lpstr>
      <vt:lpstr>Designing Software – High Level Phases</vt:lpstr>
      <vt:lpstr>Example </vt:lpstr>
      <vt:lpstr>Requirements Gathering </vt:lpstr>
      <vt:lpstr>Decomposition</vt:lpstr>
      <vt:lpstr>Connectivity</vt:lpstr>
      <vt:lpstr>Connectivity</vt:lpstr>
      <vt:lpstr>Connectivity</vt:lpstr>
      <vt:lpstr>Connectivity</vt:lpstr>
      <vt:lpstr>Connectivity</vt:lpstr>
      <vt:lpstr>What is Testing</vt:lpstr>
      <vt:lpstr>What is Testing</vt:lpstr>
      <vt:lpstr>What is Testing</vt:lpstr>
      <vt:lpstr>What is Testing</vt:lpstr>
      <vt:lpstr>How to Think About Building Tests</vt:lpstr>
      <vt:lpstr>How to Think About Building Tests</vt:lpstr>
      <vt:lpstr>How to Think About Building Tests</vt:lpstr>
      <vt:lpstr>How to Think About Building Tests</vt:lpstr>
      <vt:lpstr>How to Think About Building Tests</vt:lpstr>
      <vt:lpstr>How to Think About Building Tests</vt:lpstr>
      <vt:lpstr>How to Think About Building Tests</vt:lpstr>
      <vt:lpstr>How to Think About Building Tests</vt:lpstr>
      <vt:lpstr>Types of Tests</vt:lpstr>
      <vt:lpstr>Types of Tests</vt:lpstr>
      <vt:lpstr>Test Driven Development</vt:lpstr>
      <vt:lpstr>Test Driven Development</vt:lpstr>
      <vt:lpstr>Using LLM </vt:lpstr>
      <vt:lpstr>Code Generation Steps</vt:lpstr>
      <vt:lpstr>Code Generation Steps</vt:lpstr>
      <vt:lpstr>PowerPoint Presentation</vt:lpstr>
      <vt:lpstr>Advanced Topic – Research Software Challenges in Design and Verification</vt:lpstr>
      <vt:lpstr>SOLID Principles Pose Some Difficulties</vt:lpstr>
      <vt:lpstr>Additional Considerations for Research Software</vt:lpstr>
      <vt:lpstr>More Complex Application Design – Sedov Blast Wave </vt:lpstr>
      <vt:lpstr>Deeper Dive into Requirements</vt:lpstr>
      <vt:lpstr>Components</vt:lpstr>
      <vt:lpstr>Connectivity</vt:lpstr>
      <vt:lpstr>Connectivity</vt:lpstr>
      <vt:lpstr>Connectivity</vt:lpstr>
      <vt:lpstr>Connectivity</vt:lpstr>
      <vt:lpstr>Connectivity</vt:lpstr>
      <vt:lpstr>A Design Model for Separation of Concerns</vt:lpstr>
      <vt:lpstr>Exploring Design Space – Abstractions</vt:lpstr>
      <vt:lpstr>Separation of Concerns Applied</vt:lpstr>
      <vt:lpstr>Takeaways so Far</vt:lpstr>
      <vt:lpstr>Building a Test-suite</vt:lpstr>
      <vt:lpstr>Building a Test-suite</vt:lpstr>
      <vt:lpstr>Building a Test-suite</vt:lpstr>
      <vt:lpstr>Example – Back to Sedov Blast</vt:lpstr>
      <vt:lpstr>Example – Shock Hydrodynamics with Adaptive Mesh Refinement</vt:lpstr>
      <vt:lpstr>Step 1 – Equation of State</vt:lpstr>
      <vt:lpstr>Step 1 – Equation of State</vt:lpstr>
      <vt:lpstr>Step 2 – Mesh</vt:lpstr>
      <vt:lpstr>Step 2 – Mesh</vt:lpstr>
      <vt:lpstr>Step 3 – Hydrodynamics</vt:lpstr>
      <vt:lpstr>Step  4 –  AMR</vt:lpstr>
      <vt:lpstr>Step  4 –  AMR</vt:lpstr>
      <vt:lpstr>Step  4 –  AMR</vt:lpstr>
      <vt:lpstr>PowerPoint Presentation</vt:lpstr>
      <vt:lpstr>PowerPoint Presentation</vt:lpstr>
      <vt:lpstr>State of Practice – Abstractions and Runtimes</vt:lpstr>
      <vt:lpstr>State of Practice – Abstractions and Runtimes</vt:lpstr>
      <vt:lpstr>Mechanisms Needed by the Code </vt:lpstr>
      <vt:lpstr>Mechanisms Needed by the Code </vt:lpstr>
      <vt:lpstr>Mechanisms Needed by the Code </vt:lpstr>
      <vt:lpstr>Mechanisms Needed by the Code </vt:lpstr>
      <vt:lpstr>Underlying Ideas: Unification of Computational Expressions</vt:lpstr>
      <vt:lpstr>Underlying Ideas: Moving Work and Data to the Target</vt:lpstr>
      <vt:lpstr>Underlying Ideas: Mapping Work to Targets</vt:lpstr>
      <vt:lpstr>State of Practice – Abstractions and Runtimes</vt:lpstr>
      <vt:lpstr>Mechanisms Needed by the Code: Example Flash-X</vt:lpstr>
      <vt:lpstr>Mechanisms Needed by the Code </vt:lpstr>
      <vt:lpstr>PowerPoint Presentation</vt:lpstr>
      <vt:lpstr>PowerPoint Presentation</vt:lpstr>
      <vt:lpstr>Mechanisms Needed by the Code </vt:lpstr>
      <vt:lpstr> Orchestration of Data and Computation</vt:lpstr>
      <vt:lpstr>PowerPoint Presentation</vt:lpstr>
      <vt:lpstr>Final Takeaways</vt:lpstr>
    </vt:vector>
  </TitlesOfParts>
  <Company>ORNL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Challenges of Exascale Computing</dc:title>
  <dc:creator>Bernholdt, David E.</dc:creator>
  <cp:lastModifiedBy>Bernholdt, David</cp:lastModifiedBy>
  <cp:revision>256</cp:revision>
  <cp:lastPrinted>2017-11-02T18:35:01Z</cp:lastPrinted>
  <dcterms:created xsi:type="dcterms:W3CDTF">2018-11-06T17:28:56Z</dcterms:created>
  <dcterms:modified xsi:type="dcterms:W3CDTF">2025-10-26T20:22:39Z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0x010100565464437F680748A68B85EB6594EA7D</vt:lpwstr>
  </property>
</Properties>
</file>