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tags/tag2.xml" ContentType="application/vnd.openxmlformats-officedocument.presentationml.tags+xml"/>
  <Override PartName="/ppt/notesSlides/notesSlide15.xml" ContentType="application/vnd.openxmlformats-officedocument.presentationml.notesSlide+xml"/>
  <Override PartName="/ppt/tags/tag3.xml" ContentType="application/vnd.openxmlformats-officedocument.presentationml.tags+xml"/>
  <Override PartName="/ppt/notesSlides/notesSlide16.xml" ContentType="application/vnd.openxmlformats-officedocument.presentationml.notesSlide+xml"/>
  <Override PartName="/ppt/tags/tag4.xml" ContentType="application/vnd.openxmlformats-officedocument.presentationml.tags+xml"/>
  <Override PartName="/ppt/notesSlides/notesSlide17.xml" ContentType="application/vnd.openxmlformats-officedocument.presentationml.notesSlide+xml"/>
  <Override PartName="/ppt/tags/tag5.xml" ContentType="application/vnd.openxmlformats-officedocument.presentationml.tags+xml"/>
  <Override PartName="/ppt/notesSlides/notesSlide18.xml" ContentType="application/vnd.openxmlformats-officedocument.presentationml.notesSlide+xml"/>
  <Override PartName="/ppt/tags/tag6.xml" ContentType="application/vnd.openxmlformats-officedocument.presentationml.tags+xml"/>
  <Override PartName="/ppt/notesSlides/notesSlide19.xml" ContentType="application/vnd.openxmlformats-officedocument.presentationml.notesSlide+xml"/>
  <Override PartName="/ppt/tags/tag7.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8.xml" ContentType="application/vnd.openxmlformats-officedocument.presentationml.tag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85"/>
  </p:notesMasterIdLst>
  <p:handoutMasterIdLst>
    <p:handoutMasterId r:id="rId86"/>
  </p:handoutMasterIdLst>
  <p:sldIdLst>
    <p:sldId id="5601" r:id="rId5"/>
    <p:sldId id="5695" r:id="rId6"/>
    <p:sldId id="5590" r:id="rId7"/>
    <p:sldId id="5577" r:id="rId8"/>
    <p:sldId id="5591" r:id="rId9"/>
    <p:sldId id="5593" r:id="rId10"/>
    <p:sldId id="5579" r:id="rId11"/>
    <p:sldId id="5683" r:id="rId12"/>
    <p:sldId id="5684" r:id="rId13"/>
    <p:sldId id="5580" r:id="rId14"/>
    <p:sldId id="5685" r:id="rId15"/>
    <p:sldId id="5689" r:id="rId16"/>
    <p:sldId id="1880" r:id="rId17"/>
    <p:sldId id="1882" r:id="rId18"/>
    <p:sldId id="1881" r:id="rId19"/>
    <p:sldId id="1883" r:id="rId20"/>
    <p:sldId id="1872" r:id="rId21"/>
    <p:sldId id="1888" r:id="rId22"/>
    <p:sldId id="1887" r:id="rId23"/>
    <p:sldId id="1886" r:id="rId24"/>
    <p:sldId id="1885" r:id="rId25"/>
    <p:sldId id="1889" r:id="rId26"/>
    <p:sldId id="1891" r:id="rId27"/>
    <p:sldId id="1890" r:id="rId28"/>
    <p:sldId id="1892" r:id="rId29"/>
    <p:sldId id="1893" r:id="rId30"/>
    <p:sldId id="1896" r:id="rId31"/>
    <p:sldId id="5690" r:id="rId32"/>
    <p:sldId id="5687" r:id="rId33"/>
    <p:sldId id="5688" r:id="rId34"/>
    <p:sldId id="5691" r:id="rId35"/>
    <p:sldId id="5696" r:id="rId36"/>
    <p:sldId id="5576" r:id="rId37"/>
    <p:sldId id="5572" r:id="rId38"/>
    <p:sldId id="5570" r:id="rId39"/>
    <p:sldId id="5584" r:id="rId40"/>
    <p:sldId id="5585" r:id="rId41"/>
    <p:sldId id="5587" r:id="rId42"/>
    <p:sldId id="5586" r:id="rId43"/>
    <p:sldId id="5596" r:id="rId44"/>
    <p:sldId id="5597" r:id="rId45"/>
    <p:sldId id="5598" r:id="rId46"/>
    <p:sldId id="5599" r:id="rId47"/>
    <p:sldId id="641" r:id="rId48"/>
    <p:sldId id="5600" r:id="rId49"/>
    <p:sldId id="642" r:id="rId50"/>
    <p:sldId id="5595" r:id="rId51"/>
    <p:sldId id="1884" r:id="rId52"/>
    <p:sldId id="1897" r:id="rId53"/>
    <p:sldId id="1898" r:id="rId54"/>
    <p:sldId id="1855" r:id="rId55"/>
    <p:sldId id="1864" r:id="rId56"/>
    <p:sldId id="1863" r:id="rId57"/>
    <p:sldId id="1867" r:id="rId58"/>
    <p:sldId id="1868" r:id="rId59"/>
    <p:sldId id="1865" r:id="rId60"/>
    <p:sldId id="1866" r:id="rId61"/>
    <p:sldId id="486" r:id="rId62"/>
    <p:sldId id="1869" r:id="rId63"/>
    <p:sldId id="1895" r:id="rId64"/>
    <p:sldId id="299" r:id="rId65"/>
    <p:sldId id="677" r:id="rId66"/>
    <p:sldId id="5673" r:id="rId67"/>
    <p:sldId id="5681" r:id="rId68"/>
    <p:sldId id="5557" r:id="rId69"/>
    <p:sldId id="5558" r:id="rId70"/>
    <p:sldId id="5559" r:id="rId71"/>
    <p:sldId id="5560" r:id="rId72"/>
    <p:sldId id="5561" r:id="rId73"/>
    <p:sldId id="5562" r:id="rId74"/>
    <p:sldId id="5563" r:id="rId75"/>
    <p:sldId id="5675" r:id="rId76"/>
    <p:sldId id="5567" r:id="rId77"/>
    <p:sldId id="5638" r:id="rId78"/>
    <p:sldId id="657" r:id="rId79"/>
    <p:sldId id="5693" r:id="rId80"/>
    <p:sldId id="5649" r:id="rId81"/>
    <p:sldId id="5694" r:id="rId82"/>
    <p:sldId id="5678" r:id="rId83"/>
    <p:sldId id="5682" r:id="rId8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16" autoAdjust="0"/>
    <p:restoredTop sz="96571" autoAdjust="0"/>
  </p:normalViewPr>
  <p:slideViewPr>
    <p:cSldViewPr snapToGrid="0" showGuides="1">
      <p:cViewPr varScale="1">
        <p:scale>
          <a:sx n="112" d="100"/>
          <a:sy n="112" d="100"/>
        </p:scale>
        <p:origin x="1096" y="20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theme" Target="theme/theme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tableStyles" Target="tableStyles.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presProps" Target="pres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11/9/25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11/9/25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45</a:t>
            </a:fld>
            <a:endParaRPr lang="en-US"/>
          </a:p>
        </p:txBody>
      </p:sp>
    </p:spTree>
    <p:extLst>
      <p:ext uri="{BB962C8B-B14F-4D97-AF65-F5344CB8AC3E}">
        <p14:creationId xmlns:p14="http://schemas.microsoft.com/office/powerpoint/2010/main" val="3880885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46</a:t>
            </a:fld>
            <a:endParaRPr lang="en-US"/>
          </a:p>
        </p:txBody>
      </p:sp>
    </p:spTree>
    <p:extLst>
      <p:ext uri="{BB962C8B-B14F-4D97-AF65-F5344CB8AC3E}">
        <p14:creationId xmlns:p14="http://schemas.microsoft.com/office/powerpoint/2010/main" val="2615353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48</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49</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50</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51</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52</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53</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54</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55</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56</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57</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58</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59</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60</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61</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Various forms :: CUDE, HIP, </a:t>
            </a:r>
            <a:r>
              <a:rPr lang="en-US" dirty="0" err="1"/>
              <a:t>OpenACC</a:t>
            </a:r>
            <a:r>
              <a:rPr lang="en-US" dirty="0"/>
              <a:t>, OpenMP, </a:t>
            </a:r>
            <a:r>
              <a:rPr lang="en-US" dirty="0" err="1"/>
              <a:t>OneAPI</a:t>
            </a:r>
            <a:r>
              <a:rPr lang="en-US" dirty="0"/>
              <a:t>, SYCL </a:t>
            </a:r>
            <a:r>
              <a:rPr lang="en-US" dirty="0" err="1"/>
              <a:t>etc</a:t>
            </a:r>
            <a:r>
              <a:rPr lang="en-US" dirty="0"/>
              <a:t> </a:t>
            </a:r>
            <a:r>
              <a:rPr lang="en-US" dirty="0" err="1"/>
              <a:t>etc</a:t>
            </a:r>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65</a:t>
            </a:fld>
            <a:endParaRPr lang="en-US"/>
          </a:p>
        </p:txBody>
      </p:sp>
    </p:spTree>
    <p:extLst>
      <p:ext uri="{BB962C8B-B14F-4D97-AF65-F5344CB8AC3E}">
        <p14:creationId xmlns:p14="http://schemas.microsoft.com/office/powerpoint/2010/main" val="10693789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accelerator systems these days have mechanisms for sharing (reading/writing) memory between host and device.  Easy, but generally not the most performant approach</a:t>
            </a:r>
          </a:p>
          <a:p>
            <a:r>
              <a:rPr lang="en-US" dirty="0"/>
              <a:t>confounding differences between systems with regard to how well that sharing is supported.</a:t>
            </a:r>
          </a:p>
          <a:p>
            <a:r>
              <a:rPr lang="en-US" dirty="0"/>
              <a:t>Task based examples – Legion, </a:t>
            </a:r>
            <a:r>
              <a:rPr lang="en-US" dirty="0" err="1"/>
              <a:t>PaRSEC</a:t>
            </a:r>
            <a:r>
              <a:rPr lang="en-US" dirty="0"/>
              <a:t>, HPX, </a:t>
            </a:r>
            <a:r>
              <a:rPr lang="en-US" dirty="0" err="1"/>
              <a:t>StarPU</a:t>
            </a:r>
            <a:r>
              <a:rPr lang="en-US" dirty="0"/>
              <a:t>, Charm++</a:t>
            </a:r>
          </a:p>
        </p:txBody>
      </p:sp>
      <p:sp>
        <p:nvSpPr>
          <p:cNvPr id="4" name="Slide Number Placeholder 3"/>
          <p:cNvSpPr>
            <a:spLocks noGrp="1"/>
          </p:cNvSpPr>
          <p:nvPr>
            <p:ph type="sldNum" sz="quarter" idx="5"/>
          </p:nvPr>
        </p:nvSpPr>
        <p:spPr/>
        <p:txBody>
          <a:bodyPr/>
          <a:lstStyle/>
          <a:p>
            <a:fld id="{54E672D7-8E2D-4611-973D-F4591A707C34}" type="slidenum">
              <a:rPr lang="en-US" smtClean="0"/>
              <a:t>70</a:t>
            </a:fld>
            <a:endParaRPr lang="en-US"/>
          </a:p>
        </p:txBody>
      </p:sp>
    </p:spTree>
    <p:extLst>
      <p:ext uri="{BB962C8B-B14F-4D97-AF65-F5344CB8AC3E}">
        <p14:creationId xmlns:p14="http://schemas.microsoft.com/office/powerpoint/2010/main" val="202441061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0.png"/><Relationship Id="rId3" Type="http://schemas.openxmlformats.org/officeDocument/2006/relationships/image" Target="../media/image6.png"/><Relationship Id="rId7" Type="http://schemas.openxmlformats.org/officeDocument/2006/relationships/image" Target="../media/image4.png"/><Relationship Id="rId12" Type="http://schemas.openxmlformats.org/officeDocument/2006/relationships/hyperlink" Target="https://cass.community/" TargetMode="External"/><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710248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861894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Title, Subtitle and Bullets">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a:extLst>
              <a:ext uri="{FF2B5EF4-FFF2-40B4-BE49-F238E27FC236}">
                <a16:creationId xmlns:a16="http://schemas.microsoft.com/office/drawing/2014/main" id="{0822AC07-3824-1527-347C-F3420A0D978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63613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 id="2147483953" r:id="rId8"/>
    <p:sldLayoutId id="2147483954" r:id="rId9"/>
    <p:sldLayoutId id="2147483955"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3.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Responsible Software Development with LLMs</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923330"/>
          </a:xfrm>
        </p:spPr>
        <p:txBody>
          <a:bodyPr/>
          <a:lstStyle/>
          <a:p>
            <a:pPr>
              <a:spcBef>
                <a:spcPts val="2800"/>
              </a:spcBef>
            </a:pPr>
            <a:r>
              <a:rPr lang="en-US" dirty="0">
                <a:solidFill>
                  <a:srgbClr val="111111"/>
                </a:solidFill>
              </a:rPr>
              <a:t>Better Software for Reproducible Science tutorial @ The International Conference for High-Performance Computing, Networking, Storage, and Analysis (SC25) conference</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Bernholdt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a:t>) programs</a:t>
            </a:r>
            <a:r>
              <a:rPr lang="en-US" sz="1400" dirty="0"/>
              <a:t>.</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0616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1" y="1179530"/>
            <a:ext cx="11185718" cy="4933035"/>
          </a:xfrm>
        </p:spPr>
        <p:txBody>
          <a:bodyPr>
            <a:normAutofit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lvl="1"/>
            <a:r>
              <a:rPr lang="en-US" dirty="0"/>
              <a:t>Many projects have had this happen </a:t>
            </a:r>
          </a:p>
          <a:p>
            <a:pPr lvl="1"/>
            <a:r>
              <a:rPr lang="en-US" dirty="0"/>
              <a:t>Most end up with a hard reset and start over again</a:t>
            </a:r>
          </a:p>
          <a:p>
            <a:r>
              <a:rPr lang="en-US" dirty="0"/>
              <a:t>Arrival of LLMs and their usefulness in increasing productivity has made this topic even more relevant</a:t>
            </a:r>
          </a:p>
          <a:p>
            <a:r>
              <a:rPr lang="en-US" dirty="0"/>
              <a:t>Rigorous verification is absolutely essential for using LLMs in any coding task.</a:t>
            </a:r>
          </a:p>
          <a:p>
            <a:r>
              <a:rPr lang="en-US" dirty="0"/>
              <a:t>In this module we will cover general design principles with test-driven development, and verification, and apply them to coding with LLM</a:t>
            </a:r>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11586806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327214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Example </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85000" lnSpcReduction="1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089476"/>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1BA6760E-8AF2-0D3E-F7EB-394D121139A5}"/>
              </a:ext>
            </a:extLst>
          </p:cNvPr>
          <p:cNvSpPr/>
          <p:nvPr/>
        </p:nvSpPr>
        <p:spPr>
          <a:xfrm>
            <a:off x="1331843" y="5724939"/>
            <a:ext cx="4850296" cy="8746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where we start using LLM</a:t>
            </a:r>
          </a:p>
        </p:txBody>
      </p: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42AEF-0C68-911F-66EC-694FCFB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77CD08-3B89-1C2E-9C46-4C44760390C0}"/>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B7FD4A96-CF35-F403-8EE7-524702CAF206}"/>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E576EB2F-8AA3-1656-3EAB-5967D4302BA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88127221-F5CA-2AF3-C0EC-87E8518232B0}"/>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25251A-6BD5-8D26-7D4E-7A6358AFAD4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35212325-A8EA-2F4A-A2A8-8FF3E4A97D00}"/>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32D8E367-F0CA-C79B-DDA5-3D02E01ED4F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2B284560-00AE-2261-ABC7-1BFA1DCB2BAA}"/>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196ACCC6-11AD-FB22-4A8A-9C68502EBA16}"/>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250C5EA-0919-7AD8-CDDB-EFAD6691CD08}"/>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E42352E-7C6A-8F13-643D-493834370EDA}"/>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F8A3B094-ED7A-21B6-6545-C51AD147A668}"/>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DD50DC6-C407-174E-1FFF-51CD74FBC7D4}"/>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DAB314E2-9D60-DA13-0D9E-341345104BA1}"/>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13ADA034-CDC4-4336-4D04-0BE5C9C83D02}"/>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F9CF650-1DF1-A9CF-7BCE-FA1A50D91704}"/>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B2223346-8F6A-1B9B-49CD-6E53D931A69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EF2F7F50-E35D-1654-43DF-1AF7685BA58B}"/>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B55286-B73A-BC26-2962-913454C01FB6}"/>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DE31DAF8-DECD-7C69-244F-871643E45E02}"/>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7606C28B-6036-C42B-40F0-4118E353EBFB}"/>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E14DF27-79AA-865C-5EB1-BB529505E097}"/>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8B213DB-74C6-C6AC-94E3-8E8B47694C7B}"/>
              </a:ext>
            </a:extLst>
          </p:cNvPr>
          <p:cNvSpPr/>
          <p:nvPr/>
        </p:nvSpPr>
        <p:spPr>
          <a:xfrm>
            <a:off x="1331843" y="5724939"/>
            <a:ext cx="4850296" cy="8746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where we start using LLM</a:t>
            </a:r>
          </a:p>
        </p:txBody>
      </p:sp>
      <p:sp>
        <p:nvSpPr>
          <p:cNvPr id="7" name="Rectangle 6">
            <a:extLst>
              <a:ext uri="{FF2B5EF4-FFF2-40B4-BE49-F238E27FC236}">
                <a16:creationId xmlns:a16="http://schemas.microsoft.com/office/drawing/2014/main" id="{0633614B-1A17-7FF6-98C1-F23F4BD266E9}"/>
              </a:ext>
            </a:extLst>
          </p:cNvPr>
          <p:cNvSpPr/>
          <p:nvPr/>
        </p:nvSpPr>
        <p:spPr>
          <a:xfrm>
            <a:off x="6483927" y="5852706"/>
            <a:ext cx="5408613" cy="746877"/>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But first, we figure out verification</a:t>
            </a:r>
          </a:p>
        </p:txBody>
      </p:sp>
    </p:spTree>
    <p:extLst>
      <p:ext uri="{BB962C8B-B14F-4D97-AF65-F5344CB8AC3E}">
        <p14:creationId xmlns:p14="http://schemas.microsoft.com/office/powerpoint/2010/main" val="3335153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740228" y="5919849"/>
            <a:ext cx="8795657"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has been intimidating to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22516" y="5721668"/>
            <a:ext cx="5902036"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our mesh/particle problem</a:t>
            </a:r>
          </a:p>
        </p:txBody>
      </p:sp>
    </p:spTree>
    <p:extLst>
      <p:ext uri="{BB962C8B-B14F-4D97-AF65-F5344CB8AC3E}">
        <p14:creationId xmlns:p14="http://schemas.microsoft.com/office/powerpoint/2010/main" val="36712083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6C9F-FDF8-2818-603D-2E88A5CF3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581AD-9CFC-65BC-07D6-59AFCDAE1F5F}"/>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6CCA052-18DD-658F-2AD5-D4594508F3D8}"/>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037FC1A5-BB4A-88E2-CF61-6D5A5A6AD855}"/>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89D56294-85E9-809F-2CA0-D11879921072}"/>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8A8487AE-FB84-114B-8350-F15F26C80570}"/>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4C73FF2E-F2A0-7F4A-73CA-9771D5921DBA}"/>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3E30608C-5ED6-802D-A08B-7FBDE96939E5}"/>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BA9ABE47-BC8B-391B-55D5-2364137B0A7C}"/>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F971724E-1F4F-2A47-C4A9-DBA02C002D3D}"/>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1577B89A-7F66-EEAC-5744-D91F5EEC381C}"/>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C1F8FEEA-11A2-630B-CDE7-13B0332A03EA}"/>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7D796581-014C-2B25-078D-5038751F375B}"/>
              </a:ext>
            </a:extLst>
          </p:cNvPr>
          <p:cNvSpPr/>
          <p:nvPr/>
        </p:nvSpPr>
        <p:spPr>
          <a:xfrm>
            <a:off x="522516" y="5721668"/>
            <a:ext cx="5902036"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our mesh/particle problem</a:t>
            </a:r>
          </a:p>
        </p:txBody>
      </p:sp>
      <p:sp>
        <p:nvSpPr>
          <p:cNvPr id="9" name="Rectangle 8">
            <a:extLst>
              <a:ext uri="{FF2B5EF4-FFF2-40B4-BE49-F238E27FC236}">
                <a16:creationId xmlns:a16="http://schemas.microsoft.com/office/drawing/2014/main" id="{6017FC48-A07A-E07F-8C4A-396867041309}"/>
              </a:ext>
            </a:extLst>
          </p:cNvPr>
          <p:cNvSpPr/>
          <p:nvPr/>
        </p:nvSpPr>
        <p:spPr>
          <a:xfrm>
            <a:off x="6602680" y="5755068"/>
            <a:ext cx="5457268"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Now we are really ready to use LLM</a:t>
            </a:r>
          </a:p>
        </p:txBody>
      </p:sp>
    </p:spTree>
    <p:extLst>
      <p:ext uri="{BB962C8B-B14F-4D97-AF65-F5344CB8AC3E}">
        <p14:creationId xmlns:p14="http://schemas.microsoft.com/office/powerpoint/2010/main" val="8273300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E5A57-D863-6A60-F35D-86B0BC184716}"/>
              </a:ext>
            </a:extLst>
          </p:cNvPr>
          <p:cNvSpPr>
            <a:spLocks noGrp="1"/>
          </p:cNvSpPr>
          <p:nvPr>
            <p:ph type="title"/>
          </p:nvPr>
        </p:nvSpPr>
        <p:spPr/>
        <p:txBody>
          <a:bodyPr/>
          <a:lstStyle/>
          <a:p>
            <a:r>
              <a:rPr lang="en-US" dirty="0"/>
              <a:t>Using LLM </a:t>
            </a:r>
          </a:p>
        </p:txBody>
      </p:sp>
      <p:sp>
        <p:nvSpPr>
          <p:cNvPr id="3" name="Content Placeholder 2">
            <a:extLst>
              <a:ext uri="{FF2B5EF4-FFF2-40B4-BE49-F238E27FC236}">
                <a16:creationId xmlns:a16="http://schemas.microsoft.com/office/drawing/2014/main" id="{40BD5AF5-4080-F485-9DBD-1F7A07A0901B}"/>
              </a:ext>
            </a:extLst>
          </p:cNvPr>
          <p:cNvSpPr>
            <a:spLocks noGrp="1"/>
          </p:cNvSpPr>
          <p:nvPr>
            <p:ph idx="1"/>
          </p:nvPr>
        </p:nvSpPr>
        <p:spPr>
          <a:xfrm>
            <a:off x="365760" y="1737359"/>
            <a:ext cx="11369809" cy="4531093"/>
          </a:xfrm>
        </p:spPr>
        <p:txBody>
          <a:bodyPr>
            <a:normAutofit/>
          </a:bodyPr>
          <a:lstStyle/>
          <a:p>
            <a:r>
              <a:rPr lang="en-US" dirty="0"/>
              <a:t>If you don’t have </a:t>
            </a:r>
            <a:r>
              <a:rPr lang="en-US" dirty="0" err="1"/>
              <a:t>CodeScribe</a:t>
            </a:r>
            <a:r>
              <a:rPr lang="en-US" dirty="0"/>
              <a:t> you can still use web-interface</a:t>
            </a:r>
          </a:p>
          <a:p>
            <a:pPr lvl="1"/>
            <a:r>
              <a:rPr lang="en-US" dirty="0"/>
              <a:t>For this example </a:t>
            </a:r>
            <a:r>
              <a:rPr lang="en-US" dirty="0" err="1"/>
              <a:t>CodeScribe</a:t>
            </a:r>
            <a:r>
              <a:rPr lang="en-US" dirty="0"/>
              <a:t> is not really needed.</a:t>
            </a:r>
          </a:p>
          <a:p>
            <a:r>
              <a:rPr lang="en-US" dirty="0"/>
              <a:t>In every step of the development we will explain the requirement in the prompt, ensure that the model has not misinterpreted any of the requirements, and then ask it to code.</a:t>
            </a:r>
          </a:p>
          <a:p>
            <a:r>
              <a:rPr lang="en-US" dirty="0"/>
              <a:t>For every function generated we will also ask for a test – in this case our tests are going to rely upon visual inspection by the human-in-the-loop – you.</a:t>
            </a:r>
          </a:p>
          <a:p>
            <a:r>
              <a:rPr lang="en-US" dirty="0"/>
              <a:t>We will provide a set of prompts as reference, but you should use your own.</a:t>
            </a:r>
          </a:p>
          <a:p>
            <a:r>
              <a:rPr lang="en-US" dirty="0"/>
              <a:t>For </a:t>
            </a:r>
            <a:r>
              <a:rPr lang="en-US" dirty="0" err="1"/>
              <a:t>CodeScribe</a:t>
            </a:r>
            <a:r>
              <a:rPr lang="en-US" dirty="0"/>
              <a:t> the prompts are appended in the </a:t>
            </a:r>
            <a:r>
              <a:rPr lang="en-US" dirty="0" err="1"/>
              <a:t>toml</a:t>
            </a:r>
            <a:r>
              <a:rPr lang="en-US" dirty="0"/>
              <a:t> file, in direct interaction you have to provide them one after another.</a:t>
            </a:r>
          </a:p>
          <a:p>
            <a:endParaRPr lang="en-US" dirty="0"/>
          </a:p>
          <a:p>
            <a:endParaRPr lang="en-US" dirty="0"/>
          </a:p>
        </p:txBody>
      </p:sp>
      <p:sp>
        <p:nvSpPr>
          <p:cNvPr id="4" name="Rectangle 3">
            <a:extLst>
              <a:ext uri="{FF2B5EF4-FFF2-40B4-BE49-F238E27FC236}">
                <a16:creationId xmlns:a16="http://schemas.microsoft.com/office/drawing/2014/main" id="{AE2AED9E-D4C3-34CF-8446-E39E7A9A0959}"/>
              </a:ext>
            </a:extLst>
          </p:cNvPr>
          <p:cNvSpPr/>
          <p:nvPr/>
        </p:nvSpPr>
        <p:spPr>
          <a:xfrm>
            <a:off x="715617" y="1002858"/>
            <a:ext cx="10336696" cy="6460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 the hands-on info, we had provided a tutorial for </a:t>
            </a:r>
            <a:r>
              <a:rPr lang="en-US" sz="2000" dirty="0" err="1">
                <a:solidFill>
                  <a:schemeClr val="bg1"/>
                </a:solidFill>
              </a:rPr>
              <a:t>CodeScribe</a:t>
            </a:r>
            <a:r>
              <a:rPr lang="en-US" sz="2000" dirty="0">
                <a:solidFill>
                  <a:schemeClr val="bg1"/>
                </a:solidFill>
              </a:rPr>
              <a:t>– getting and using it</a:t>
            </a:r>
          </a:p>
        </p:txBody>
      </p:sp>
    </p:spTree>
    <p:extLst>
      <p:ext uri="{BB962C8B-B14F-4D97-AF65-F5344CB8AC3E}">
        <p14:creationId xmlns:p14="http://schemas.microsoft.com/office/powerpoint/2010/main" val="3523000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DCA4D-81E7-4285-8358-329C8391DB92}"/>
              </a:ext>
            </a:extLst>
          </p:cNvPr>
          <p:cNvSpPr>
            <a:spLocks noGrp="1"/>
          </p:cNvSpPr>
          <p:nvPr>
            <p:ph type="title"/>
          </p:nvPr>
        </p:nvSpPr>
        <p:spPr/>
        <p:txBody>
          <a:bodyPr/>
          <a:lstStyle/>
          <a:p>
            <a:r>
              <a:rPr lang="en-US" dirty="0"/>
              <a:t>Code Generation Steps</a:t>
            </a:r>
          </a:p>
        </p:txBody>
      </p:sp>
      <p:sp>
        <p:nvSpPr>
          <p:cNvPr id="3" name="Content Placeholder 2">
            <a:extLst>
              <a:ext uri="{FF2B5EF4-FFF2-40B4-BE49-F238E27FC236}">
                <a16:creationId xmlns:a16="http://schemas.microsoft.com/office/drawing/2014/main" id="{BD153465-7212-EDD5-B45A-CD956DA689A2}"/>
              </a:ext>
            </a:extLst>
          </p:cNvPr>
          <p:cNvSpPr>
            <a:spLocks noGrp="1"/>
          </p:cNvSpPr>
          <p:nvPr>
            <p:ph idx="1"/>
          </p:nvPr>
        </p:nvSpPr>
        <p:spPr>
          <a:xfrm>
            <a:off x="916874" y="1793174"/>
            <a:ext cx="4913910" cy="4465122"/>
          </a:xfrm>
        </p:spPr>
        <p:txBody>
          <a:bodyPr>
            <a:normAutofit lnSpcReduction="10000"/>
          </a:bodyPr>
          <a:lstStyle/>
          <a:p>
            <a:r>
              <a:rPr lang="en-US" dirty="0"/>
              <a:t>Step 1 – Generate the mesh</a:t>
            </a:r>
          </a:p>
          <a:p>
            <a:pPr lvl="1"/>
            <a:r>
              <a:rPr lang="en-US" dirty="0"/>
              <a:t>Bounds &lt;0,0&gt; to &lt;64,64&gt;</a:t>
            </a:r>
          </a:p>
          <a:p>
            <a:pPr lvl="1"/>
            <a:r>
              <a:rPr lang="en-US" dirty="0"/>
              <a:t>Divided into 16 blocks, numbered in lexicographic order</a:t>
            </a:r>
          </a:p>
          <a:p>
            <a:pPr lvl="1"/>
            <a:r>
              <a:rPr lang="en-US" dirty="0"/>
              <a:t>Keep track of bounds for each block</a:t>
            </a:r>
          </a:p>
          <a:p>
            <a:r>
              <a:rPr lang="en-US" dirty="0"/>
              <a:t>Test needs</a:t>
            </a:r>
          </a:p>
          <a:p>
            <a:pPr lvl="1"/>
            <a:r>
              <a:rPr lang="en-US" dirty="0"/>
              <a:t>Function to print all the meta information about the mesh – domain bounds, blocks, bounds for each block and block identity</a:t>
            </a:r>
          </a:p>
          <a:p>
            <a:pPr lvl="1"/>
            <a:r>
              <a:rPr lang="en-US" dirty="0"/>
              <a:t>Human-in-the-loop checks the printed values against the figure on the right. </a:t>
            </a:r>
          </a:p>
          <a:p>
            <a:pPr marL="346075" lvl="1" indent="0">
              <a:buNone/>
            </a:pPr>
            <a:r>
              <a:rPr lang="en-US" dirty="0"/>
              <a:t> </a:t>
            </a:r>
          </a:p>
          <a:p>
            <a:pPr marL="0" indent="0">
              <a:buNone/>
            </a:pPr>
            <a:endParaRPr lang="en-US" dirty="0"/>
          </a:p>
          <a:p>
            <a:endParaRPr lang="en-US" dirty="0"/>
          </a:p>
        </p:txBody>
      </p:sp>
      <p:sp>
        <p:nvSpPr>
          <p:cNvPr id="4" name="Rectangle 3">
            <a:extLst>
              <a:ext uri="{FF2B5EF4-FFF2-40B4-BE49-F238E27FC236}">
                <a16:creationId xmlns:a16="http://schemas.microsoft.com/office/drawing/2014/main" id="{8D8AED24-2295-FC5B-613C-AA05618E7104}"/>
              </a:ext>
            </a:extLst>
          </p:cNvPr>
          <p:cNvSpPr/>
          <p:nvPr/>
        </p:nvSpPr>
        <p:spPr>
          <a:xfrm>
            <a:off x="665018" y="878774"/>
            <a:ext cx="10474037" cy="736270"/>
          </a:xfrm>
          <a:prstGeom prst="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you wish to use your own methodology, feel free to do so</a:t>
            </a:r>
          </a:p>
        </p:txBody>
      </p:sp>
      <p:pic>
        <p:nvPicPr>
          <p:cNvPr id="6" name="Picture 5">
            <a:extLst>
              <a:ext uri="{FF2B5EF4-FFF2-40B4-BE49-F238E27FC236}">
                <a16:creationId xmlns:a16="http://schemas.microsoft.com/office/drawing/2014/main" id="{E8AD93FB-633E-B4B0-01D6-120C96CEE4F8}"/>
              </a:ext>
            </a:extLst>
          </p:cNvPr>
          <p:cNvPicPr>
            <a:picLocks noChangeAspect="1"/>
          </p:cNvPicPr>
          <p:nvPr/>
        </p:nvPicPr>
        <p:blipFill>
          <a:blip r:embed="rId2"/>
          <a:stretch>
            <a:fillRect/>
          </a:stretch>
        </p:blipFill>
        <p:spPr>
          <a:xfrm>
            <a:off x="6094412" y="1951709"/>
            <a:ext cx="5058785" cy="4623907"/>
          </a:xfrm>
          <a:prstGeom prst="rect">
            <a:avLst/>
          </a:prstGeom>
        </p:spPr>
      </p:pic>
    </p:spTree>
    <p:extLst>
      <p:ext uri="{BB962C8B-B14F-4D97-AF65-F5344CB8AC3E}">
        <p14:creationId xmlns:p14="http://schemas.microsoft.com/office/powerpoint/2010/main" val="7782555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2D43C-E534-AF99-A79D-7E214A934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3DA4E-6804-9523-D3CA-1770586AE438}"/>
              </a:ext>
            </a:extLst>
          </p:cNvPr>
          <p:cNvSpPr>
            <a:spLocks noGrp="1"/>
          </p:cNvSpPr>
          <p:nvPr>
            <p:ph type="title"/>
          </p:nvPr>
        </p:nvSpPr>
        <p:spPr/>
        <p:txBody>
          <a:bodyPr/>
          <a:lstStyle/>
          <a:p>
            <a:r>
              <a:rPr lang="en-US" dirty="0"/>
              <a:t>Code Generation Steps</a:t>
            </a:r>
          </a:p>
        </p:txBody>
      </p:sp>
      <p:sp>
        <p:nvSpPr>
          <p:cNvPr id="3" name="Content Placeholder 2">
            <a:extLst>
              <a:ext uri="{FF2B5EF4-FFF2-40B4-BE49-F238E27FC236}">
                <a16:creationId xmlns:a16="http://schemas.microsoft.com/office/drawing/2014/main" id="{F1267266-F18F-D5F1-1DA3-E5209C299323}"/>
              </a:ext>
            </a:extLst>
          </p:cNvPr>
          <p:cNvSpPr>
            <a:spLocks noGrp="1"/>
          </p:cNvSpPr>
          <p:nvPr>
            <p:ph idx="1"/>
          </p:nvPr>
        </p:nvSpPr>
        <p:spPr>
          <a:xfrm>
            <a:off x="916874" y="1793173"/>
            <a:ext cx="4848976" cy="4833257"/>
          </a:xfrm>
        </p:spPr>
        <p:txBody>
          <a:bodyPr>
            <a:normAutofit fontScale="92500" lnSpcReduction="20000"/>
          </a:bodyPr>
          <a:lstStyle/>
          <a:p>
            <a:r>
              <a:rPr lang="en-US" dirty="0"/>
              <a:t>Step 2 – Place particles on the mesh</a:t>
            </a:r>
          </a:p>
          <a:p>
            <a:pPr lvl="1"/>
            <a:r>
              <a:rPr lang="en-US" dirty="0"/>
              <a:t>In this figure the lattice is 10x10</a:t>
            </a:r>
          </a:p>
          <a:p>
            <a:pPr lvl="1"/>
            <a:r>
              <a:rPr lang="en-US" dirty="0"/>
              <a:t>Each particle has 3 values connected to it. &lt;</a:t>
            </a:r>
            <a:r>
              <a:rPr lang="en-US" dirty="0" err="1"/>
              <a:t>x,y</a:t>
            </a:r>
            <a:r>
              <a:rPr lang="en-US" dirty="0"/>
              <a:t>&gt; position coordinates, and the block that it is associated with</a:t>
            </a:r>
          </a:p>
          <a:p>
            <a:pPr lvl="1"/>
            <a:r>
              <a:rPr lang="en-US" dirty="0"/>
              <a:t>Needs a function to find the block that overlaps with the particle position</a:t>
            </a:r>
          </a:p>
          <a:p>
            <a:r>
              <a:rPr lang="en-US" dirty="0"/>
              <a:t>Test needs</a:t>
            </a:r>
          </a:p>
          <a:p>
            <a:pPr lvl="1"/>
            <a:r>
              <a:rPr lang="en-US" dirty="0"/>
              <a:t>To test the function to find the right block user is prompted to give a position coordinate, the tester prints the block number, and the user verifies that it is correct </a:t>
            </a:r>
          </a:p>
          <a:p>
            <a:pPr lvl="1"/>
            <a:r>
              <a:rPr lang="en-US" dirty="0"/>
              <a:t>To test that particles are initialized correctly  process the entire list of particles and confirm that they are associated with the right block</a:t>
            </a:r>
          </a:p>
          <a:p>
            <a:pPr marL="346075" lvl="1" indent="0">
              <a:buNone/>
            </a:pPr>
            <a:r>
              <a:rPr lang="en-US" dirty="0"/>
              <a:t> </a:t>
            </a:r>
          </a:p>
          <a:p>
            <a:pPr marL="0" indent="0">
              <a:buNone/>
            </a:pPr>
            <a:endParaRPr lang="en-US" dirty="0"/>
          </a:p>
          <a:p>
            <a:endParaRPr lang="en-US" dirty="0"/>
          </a:p>
        </p:txBody>
      </p:sp>
      <p:pic>
        <p:nvPicPr>
          <p:cNvPr id="5" name="Picture 4">
            <a:extLst>
              <a:ext uri="{FF2B5EF4-FFF2-40B4-BE49-F238E27FC236}">
                <a16:creationId xmlns:a16="http://schemas.microsoft.com/office/drawing/2014/main" id="{C70AB5C1-802E-EBA1-577C-180AEA9DA9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621582"/>
            <a:ext cx="6422975" cy="5636714"/>
          </a:xfrm>
          <a:prstGeom prst="rect">
            <a:avLst/>
          </a:prstGeom>
        </p:spPr>
      </p:pic>
    </p:spTree>
    <p:extLst>
      <p:ext uri="{BB962C8B-B14F-4D97-AF65-F5344CB8AC3E}">
        <p14:creationId xmlns:p14="http://schemas.microsoft.com/office/powerpoint/2010/main" val="26600552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36412A1-4DCA-4C2F-0A61-76C9F661084C}"/>
              </a:ext>
            </a:extLst>
          </p:cNvPr>
          <p:cNvSpPr>
            <a:spLocks noGrp="1"/>
          </p:cNvSpPr>
          <p:nvPr>
            <p:ph type="title"/>
          </p:nvPr>
        </p:nvSpPr>
        <p:spPr>
          <a:xfrm>
            <a:off x="365760" y="411480"/>
            <a:ext cx="11372473" cy="914400"/>
          </a:xfrm>
        </p:spPr>
        <p:txBody>
          <a:bodyPr/>
          <a:lstStyle/>
          <a:p>
            <a:r>
              <a:rPr lang="en-US" dirty="0"/>
              <a:t>My Steps</a:t>
            </a:r>
          </a:p>
        </p:txBody>
      </p:sp>
      <p:sp>
        <p:nvSpPr>
          <p:cNvPr id="5" name="Content Placeholder 4">
            <a:extLst>
              <a:ext uri="{FF2B5EF4-FFF2-40B4-BE49-F238E27FC236}">
                <a16:creationId xmlns:a16="http://schemas.microsoft.com/office/drawing/2014/main" id="{3F8F78F7-F963-553A-F559-38CC1BB739FC}"/>
              </a:ext>
            </a:extLst>
          </p:cNvPr>
          <p:cNvSpPr txBox="1">
            <a:spLocks/>
          </p:cNvSpPr>
          <p:nvPr/>
        </p:nvSpPr>
        <p:spPr>
          <a:xfrm>
            <a:off x="6246812" y="1111026"/>
            <a:ext cx="5317834" cy="5458572"/>
          </a:xfrm>
          <a:prstGeom prst="rect">
            <a:avLst/>
          </a:prstGeom>
        </p:spPr>
        <p:txBody>
          <a:bodyPr>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Test for mesh generation</a:t>
            </a:r>
          </a:p>
          <a:p>
            <a:pPr lvl="1"/>
            <a:r>
              <a:rPr lang="en-US" dirty="0"/>
              <a:t>Manual inspection</a:t>
            </a:r>
          </a:p>
          <a:p>
            <a:pPr lvl="2"/>
            <a:r>
              <a:rPr lang="en-US" dirty="0"/>
              <a:t>You can automate, I have a sample test, you can use my output and use it as baseline</a:t>
            </a:r>
          </a:p>
          <a:p>
            <a:pPr lvl="2"/>
            <a:r>
              <a:rPr lang="en-US" dirty="0"/>
              <a:t>I can give you the reader for baseline</a:t>
            </a:r>
          </a:p>
          <a:p>
            <a:r>
              <a:rPr lang="en-US" dirty="0"/>
              <a:t>Helper function to get </a:t>
            </a:r>
            <a:r>
              <a:rPr lang="en-US" dirty="0" err="1"/>
              <a:t>BlockID</a:t>
            </a:r>
            <a:r>
              <a:rPr lang="en-US" dirty="0"/>
              <a:t> from coordinates</a:t>
            </a:r>
          </a:p>
          <a:p>
            <a:r>
              <a:rPr lang="en-US" dirty="0"/>
              <a:t>Code for creating particles lattice</a:t>
            </a:r>
          </a:p>
          <a:p>
            <a:r>
              <a:rPr lang="en-US" dirty="0"/>
              <a:t>Test for lattice verification</a:t>
            </a:r>
          </a:p>
          <a:p>
            <a:pPr lvl="1"/>
            <a:r>
              <a:rPr lang="en-US" dirty="0"/>
              <a:t>You can use the same sample and reader</a:t>
            </a:r>
          </a:p>
          <a:p>
            <a:r>
              <a:rPr lang="en-US" dirty="0"/>
              <a:t>Code for making particles move</a:t>
            </a:r>
          </a:p>
          <a:p>
            <a:pPr lvl="1"/>
            <a:r>
              <a:rPr lang="en-US" dirty="0"/>
              <a:t>Testing for verifying correct block association after the move</a:t>
            </a:r>
          </a:p>
          <a:p>
            <a:pPr lvl="1"/>
            <a:endParaRPr lang="en-US" dirty="0"/>
          </a:p>
        </p:txBody>
      </p:sp>
      <p:sp>
        <p:nvSpPr>
          <p:cNvPr id="6" name="Content Placeholder 4">
            <a:extLst>
              <a:ext uri="{FF2B5EF4-FFF2-40B4-BE49-F238E27FC236}">
                <a16:creationId xmlns:a16="http://schemas.microsoft.com/office/drawing/2014/main" id="{515FC2F3-23CD-078A-36FF-BB3C5266581C}"/>
              </a:ext>
            </a:extLst>
          </p:cNvPr>
          <p:cNvSpPr txBox="1">
            <a:spLocks/>
          </p:cNvSpPr>
          <p:nvPr/>
        </p:nvSpPr>
        <p:spPr>
          <a:xfrm>
            <a:off x="928978" y="1140348"/>
            <a:ext cx="5317834" cy="5458572"/>
          </a:xfrm>
          <a:prstGeom prst="rect">
            <a:avLst/>
          </a:prstGeom>
        </p:spPr>
        <p:txBody>
          <a:bodyPr>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Defined some constants</a:t>
            </a:r>
          </a:p>
          <a:p>
            <a:pPr lvl="1">
              <a:spcBef>
                <a:spcPts val="200"/>
              </a:spcBef>
            </a:pPr>
            <a:r>
              <a:rPr lang="en-US" sz="2000" dirty="0"/>
              <a:t>LOW =1 1 lower end</a:t>
            </a:r>
          </a:p>
          <a:p>
            <a:pPr lvl="1">
              <a:spcBef>
                <a:spcPts val="200"/>
              </a:spcBef>
            </a:pPr>
            <a:r>
              <a:rPr lang="en-US" sz="2000" dirty="0"/>
              <a:t>HIGH = 2 upper end</a:t>
            </a:r>
          </a:p>
          <a:p>
            <a:pPr lvl="1">
              <a:spcBef>
                <a:spcPts val="200"/>
              </a:spcBef>
            </a:pPr>
            <a:r>
              <a:rPr lang="en-US" sz="2000" dirty="0"/>
              <a:t>INTERIOR = 3 </a:t>
            </a:r>
          </a:p>
          <a:p>
            <a:pPr lvl="1">
              <a:spcBef>
                <a:spcPts val="200"/>
              </a:spcBef>
            </a:pPr>
            <a:r>
              <a:rPr lang="en-US" sz="2000" dirty="0"/>
              <a:t>MDIM =  3 the maximum possible dimensionality</a:t>
            </a:r>
          </a:p>
          <a:p>
            <a:pPr lvl="1">
              <a:spcBef>
                <a:spcPts val="200"/>
              </a:spcBef>
            </a:pPr>
            <a:r>
              <a:rPr lang="en-US" sz="2000" dirty="0"/>
              <a:t>IAXIS  =1  x axis</a:t>
            </a:r>
          </a:p>
          <a:p>
            <a:pPr lvl="1">
              <a:spcBef>
                <a:spcPts val="200"/>
              </a:spcBef>
            </a:pPr>
            <a:r>
              <a:rPr lang="en-US" sz="2000" dirty="0"/>
              <a:t>JAXIS  =2  y axis</a:t>
            </a:r>
          </a:p>
          <a:p>
            <a:pPr lvl="1">
              <a:spcBef>
                <a:spcPts val="200"/>
              </a:spcBef>
            </a:pPr>
            <a:r>
              <a:rPr lang="en-US" sz="2000" dirty="0"/>
              <a:t>KAXIS  =3  z  axis</a:t>
            </a:r>
          </a:p>
          <a:p>
            <a:pPr lvl="1">
              <a:spcBef>
                <a:spcPts val="200"/>
              </a:spcBef>
            </a:pPr>
            <a:r>
              <a:rPr lang="en-US" sz="2000" dirty="0"/>
              <a:t>BLOCK = 4 identity of the block</a:t>
            </a:r>
          </a:p>
          <a:p>
            <a:pPr lvl="1">
              <a:spcBef>
                <a:spcPts val="200"/>
              </a:spcBef>
            </a:pPr>
            <a:r>
              <a:rPr lang="en-US" sz="2000" dirty="0"/>
              <a:t>PERIODIC =10 -- periodic boundary condition</a:t>
            </a:r>
          </a:p>
          <a:p>
            <a:pPr lvl="1">
              <a:spcBef>
                <a:spcPts val="200"/>
              </a:spcBef>
            </a:pPr>
            <a:r>
              <a:rPr lang="en-US" sz="2000" dirty="0"/>
              <a:t>REFLECTIVE  = 11 -- reflective boundary condition</a:t>
            </a:r>
          </a:p>
          <a:p>
            <a:pPr lvl="1">
              <a:spcBef>
                <a:spcPts val="200"/>
              </a:spcBef>
            </a:pPr>
            <a:r>
              <a:rPr lang="en-US" sz="2000" dirty="0"/>
              <a:t>OUTFLOW  = 12  outflow boundary condition</a:t>
            </a:r>
            <a:endParaRPr lang="en-US" dirty="0"/>
          </a:p>
          <a:p>
            <a:r>
              <a:rPr lang="en-US" dirty="0"/>
              <a:t>Code for mesh generation</a:t>
            </a:r>
          </a:p>
          <a:p>
            <a:pPr lvl="1"/>
            <a:r>
              <a:rPr lang="en-US" dirty="0"/>
              <a:t>I opted to prompt user for mesh specs</a:t>
            </a:r>
          </a:p>
        </p:txBody>
      </p:sp>
    </p:spTree>
    <p:extLst>
      <p:ext uri="{BB962C8B-B14F-4D97-AF65-F5344CB8AC3E}">
        <p14:creationId xmlns:p14="http://schemas.microsoft.com/office/powerpoint/2010/main" val="32513777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Advanced Topic – Research Software Challenges in Design and Verification</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519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a:xfrm>
            <a:off x="365760" y="205740"/>
            <a:ext cx="11372473" cy="914400"/>
          </a:xfrm>
        </p:spPr>
        <p:txBody>
          <a:bodyPr/>
          <a:lstStyle/>
          <a:p>
            <a:r>
              <a:rPr lang="en-US" dirty="0"/>
              <a:t>SOLID Principles Pose Some Difficulties</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109445" y="983597"/>
            <a:ext cx="5721178" cy="4868564"/>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b="1" dirty="0">
              <a:solidFill>
                <a:schemeClr val="accent2">
                  <a:lumMod val="50000"/>
                </a:schemeClr>
              </a:solidFill>
            </a:endParaRPr>
          </a:p>
          <a:p>
            <a:pPr algn="ct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5">
                    <a:lumMod val="50000"/>
                  </a:schemeClr>
                </a:solidFill>
              </a:rPr>
              <a:t>Single responsibility</a:t>
            </a:r>
          </a:p>
          <a:p>
            <a:pPr marL="800100" lvl="1" indent="-342900">
              <a:lnSpc>
                <a:spcPct val="90000"/>
              </a:lnSpc>
              <a:buFont typeface="Wingdings" pitchFamily="2" charset="2"/>
              <a:buChar char="q"/>
            </a:pPr>
            <a:r>
              <a:rPr lang="en-US" dirty="0">
                <a:solidFill>
                  <a:schemeClr val="accent5">
                    <a:lumMod val="50000"/>
                  </a:schemeClr>
                </a:solidFill>
              </a:rPr>
              <a:t>Class/method/function should do only one thing</a:t>
            </a:r>
          </a:p>
          <a:p>
            <a:pPr marL="342900" indent="-342900">
              <a:lnSpc>
                <a:spcPct val="90000"/>
              </a:lnSpc>
              <a:buFont typeface="Wingdings" pitchFamily="2" charset="2"/>
              <a:buChar char="q"/>
            </a:pPr>
            <a:r>
              <a:rPr lang="en-US" sz="2000" dirty="0">
                <a:solidFill>
                  <a:schemeClr val="accent5">
                    <a:lumMod val="50000"/>
                  </a:schemeClr>
                </a:solidFill>
              </a:rPr>
              <a:t>Open/closed</a:t>
            </a:r>
          </a:p>
          <a:p>
            <a:pPr marL="800100" lvl="1" indent="-342900">
              <a:lnSpc>
                <a:spcPct val="90000"/>
              </a:lnSpc>
              <a:buFont typeface="Wingdings" pitchFamily="2" charset="2"/>
              <a:buChar char="q"/>
            </a:pPr>
            <a:r>
              <a:rPr lang="en-US" dirty="0">
                <a:solidFill>
                  <a:schemeClr val="accent5">
                    <a:lumMod val="50000"/>
                  </a:schemeClr>
                </a:solidFill>
              </a:rPr>
              <a:t>Open for extension, close for modification</a:t>
            </a:r>
          </a:p>
          <a:p>
            <a:pPr marL="342900" indent="-342900">
              <a:lnSpc>
                <a:spcPct val="90000"/>
              </a:lnSpc>
              <a:buFont typeface="Wingdings" pitchFamily="2" charset="2"/>
              <a:buChar char="q"/>
            </a:pPr>
            <a:r>
              <a:rPr lang="en-US" sz="2000" dirty="0" err="1">
                <a:solidFill>
                  <a:schemeClr val="accent5">
                    <a:lumMod val="50000"/>
                  </a:schemeClr>
                </a:solidFill>
              </a:rPr>
              <a:t>Liskov</a:t>
            </a:r>
            <a:r>
              <a:rPr lang="en-US" sz="2000" dirty="0">
                <a:solidFill>
                  <a:schemeClr val="accent5">
                    <a:lumMod val="50000"/>
                  </a:schemeClr>
                </a:solidFill>
              </a:rPr>
              <a:t> substitution</a:t>
            </a:r>
          </a:p>
          <a:p>
            <a:pPr marL="800100" lvl="1" indent="-342900">
              <a:lnSpc>
                <a:spcPct val="90000"/>
              </a:lnSpc>
              <a:buFont typeface="Wingdings" pitchFamily="2" charset="2"/>
              <a:buChar char="q"/>
            </a:pPr>
            <a:r>
              <a:rPr lang="en-US" dirty="0">
                <a:solidFill>
                  <a:schemeClr val="accent5">
                    <a:lumMod val="50000"/>
                  </a:schemeClr>
                </a:solidFill>
              </a:rPr>
              <a:t>Implementations of an interface should give same result</a:t>
            </a:r>
          </a:p>
          <a:p>
            <a:pPr marL="342900" indent="-342900">
              <a:lnSpc>
                <a:spcPct val="90000"/>
              </a:lnSpc>
              <a:buFont typeface="Wingdings" pitchFamily="2" charset="2"/>
              <a:buChar char="q"/>
            </a:pPr>
            <a:r>
              <a:rPr lang="en-US" sz="2000" dirty="0">
                <a:solidFill>
                  <a:schemeClr val="accent5">
                    <a:lumMod val="50000"/>
                  </a:schemeClr>
                </a:solidFill>
              </a:rPr>
              <a:t>Interface segregation</a:t>
            </a:r>
          </a:p>
          <a:p>
            <a:pPr marL="800100" lvl="1" indent="-342900">
              <a:lnSpc>
                <a:spcPct val="90000"/>
              </a:lnSpc>
              <a:buFont typeface="Wingdings" pitchFamily="2" charset="2"/>
              <a:buChar char="q"/>
            </a:pPr>
            <a:r>
              <a:rPr lang="en-US" dirty="0">
                <a:solidFill>
                  <a:schemeClr val="accent5">
                    <a:lumMod val="50000"/>
                  </a:schemeClr>
                </a:solidFill>
              </a:rPr>
              <a:t>Client should not have to use methods it does not need</a:t>
            </a:r>
          </a:p>
          <a:p>
            <a:pPr marL="342900" indent="-342900">
              <a:lnSpc>
                <a:spcPct val="90000"/>
              </a:lnSpc>
              <a:buFont typeface="Wingdings" pitchFamily="2" charset="2"/>
              <a:buChar char="q"/>
            </a:pPr>
            <a:r>
              <a:rPr lang="en-US" sz="2000" dirty="0">
                <a:solidFill>
                  <a:schemeClr val="accent5">
                    <a:lumMod val="50000"/>
                  </a:schemeClr>
                </a:solidFill>
              </a:rPr>
              <a:t>Dependency inversion</a:t>
            </a:r>
          </a:p>
          <a:p>
            <a:pPr marL="800100" lvl="1" indent="-342900">
              <a:lnSpc>
                <a:spcPct val="90000"/>
              </a:lnSpc>
              <a:buFont typeface="Wingdings" pitchFamily="2" charset="2"/>
              <a:buChar char="q"/>
            </a:pPr>
            <a:r>
              <a:rPr lang="en-US" dirty="0">
                <a:solidFill>
                  <a:schemeClr val="accent5">
                    <a:lumMod val="50000"/>
                  </a:schemeClr>
                </a:solidFill>
              </a:rPr>
              <a:t>High level modules should not depend on low level modules, only on abstractions</a:t>
            </a:r>
          </a:p>
          <a:p>
            <a:pPr>
              <a:lnSpc>
                <a:spcPct val="90000"/>
              </a:lnSpc>
            </a:pPr>
            <a:r>
              <a:rPr lang="en-US" sz="2000" dirty="0">
                <a:solidFill>
                  <a:schemeClr val="accent5">
                    <a:lumMod val="50000"/>
                  </a:schemeClr>
                </a:solidFill>
              </a:rPr>
              <a:t> </a:t>
            </a: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15" name="Rounded Rectangle 14">
            <a:extLst>
              <a:ext uri="{FF2B5EF4-FFF2-40B4-BE49-F238E27FC236}">
                <a16:creationId xmlns:a16="http://schemas.microsoft.com/office/drawing/2014/main" id="{818EF71D-D46F-983C-1736-1808FD8BCE62}"/>
              </a:ext>
            </a:extLst>
          </p:cNvPr>
          <p:cNvSpPr/>
          <p:nvPr/>
        </p:nvSpPr>
        <p:spPr>
          <a:xfrm>
            <a:off x="6017055" y="983596"/>
            <a:ext cx="5721178" cy="4948574"/>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b="1" dirty="0">
              <a:solidFill>
                <a:schemeClr val="accent2">
                  <a:lumMod val="20000"/>
                  <a:lumOff val="80000"/>
                </a:schemeClr>
              </a:solidFill>
            </a:endParaRPr>
          </a:p>
          <a:p>
            <a:pPr marL="342900" indent="-342900" algn="l">
              <a:buFont typeface="Wingdings" pitchFamily="2" charset="2"/>
              <a:buChar char="q"/>
            </a:pPr>
            <a:r>
              <a:rPr lang="en-US" sz="2000" b="0" dirty="0">
                <a:solidFill>
                  <a:schemeClr val="accent2">
                    <a:lumMod val="20000"/>
                    <a:lumOff val="80000"/>
                  </a:schemeClr>
                </a:solidFill>
                <a:effectLst/>
                <a:latin typeface="sohne"/>
              </a:rPr>
              <a:t>Function calls hav</a:t>
            </a:r>
            <a:r>
              <a:rPr lang="en-US" sz="2000" dirty="0">
                <a:solidFill>
                  <a:schemeClr val="accent2">
                    <a:lumMod val="20000"/>
                    <a:lumOff val="80000"/>
                  </a:schemeClr>
                </a:solidFill>
                <a:latin typeface="sohne"/>
              </a:rPr>
              <a:t>e overheads</a:t>
            </a:r>
          </a:p>
          <a:p>
            <a:pPr marL="800100" lvl="1" indent="-342900">
              <a:buFont typeface="Wingdings" pitchFamily="2" charset="2"/>
              <a:buChar char="q"/>
            </a:pPr>
            <a:r>
              <a:rPr lang="en-US" b="0" dirty="0">
                <a:solidFill>
                  <a:schemeClr val="accent2">
                    <a:lumMod val="20000"/>
                    <a:lumOff val="80000"/>
                  </a:schemeClr>
                </a:solidFill>
                <a:effectLst/>
                <a:latin typeface="sohne"/>
              </a:rPr>
              <a:t>Performance matters – quick turnaround of results desirable</a:t>
            </a:r>
          </a:p>
          <a:p>
            <a:pPr marL="342900" indent="-342900" algn="l">
              <a:buFont typeface="Wingdings" pitchFamily="2" charset="2"/>
              <a:buChar char="q"/>
            </a:pPr>
            <a:r>
              <a:rPr lang="en-US" sz="2000" b="0" dirty="0">
                <a:solidFill>
                  <a:schemeClr val="accent2">
                    <a:lumMod val="20000"/>
                    <a:lumOff val="80000"/>
                  </a:schemeClr>
                </a:solidFill>
                <a:effectLst/>
                <a:latin typeface="sohne"/>
              </a:rPr>
              <a:t>New insights may cause modification</a:t>
            </a:r>
          </a:p>
          <a:p>
            <a:pPr marL="800100" lvl="1" indent="-342900">
              <a:buFont typeface="Wingdings" pitchFamily="2" charset="2"/>
              <a:buChar char="q"/>
            </a:pPr>
            <a:r>
              <a:rPr lang="en-US" dirty="0">
                <a:solidFill>
                  <a:schemeClr val="accent2">
                    <a:lumMod val="20000"/>
                    <a:lumOff val="80000"/>
                  </a:schemeClr>
                </a:solidFill>
                <a:latin typeface="sohne"/>
              </a:rPr>
              <a:t>May lead to unmaintainable code duplication</a:t>
            </a:r>
          </a:p>
          <a:p>
            <a:pPr marL="800100" lvl="1" indent="-342900">
              <a:buFont typeface="Wingdings" pitchFamily="2" charset="2"/>
              <a:buChar char="q"/>
            </a:pPr>
            <a:endParaRPr lang="en-US" b="0" dirty="0">
              <a:solidFill>
                <a:schemeClr val="accent2">
                  <a:lumMod val="20000"/>
                  <a:lumOff val="80000"/>
                </a:schemeClr>
              </a:solidFill>
              <a:effectLst/>
              <a:latin typeface="sohne"/>
            </a:endParaRPr>
          </a:p>
          <a:p>
            <a:pPr algn="l"/>
            <a:endParaRPr lang="en-US" sz="2000" b="0" dirty="0">
              <a:solidFill>
                <a:schemeClr val="accent2">
                  <a:lumMod val="20000"/>
                  <a:lumOff val="80000"/>
                </a:schemeClr>
              </a:solidFill>
              <a:effectLst/>
              <a:latin typeface="sohne"/>
            </a:endParaRPr>
          </a:p>
          <a:p>
            <a:pPr algn="l"/>
            <a:endParaRPr lang="en-US" sz="2000" b="0" dirty="0">
              <a:solidFill>
                <a:schemeClr val="accent2">
                  <a:lumMod val="20000"/>
                  <a:lumOff val="80000"/>
                </a:schemeClr>
              </a:solidFill>
              <a:effectLst/>
              <a:latin typeface="sohne"/>
            </a:endParaRPr>
          </a:p>
          <a:p>
            <a:pPr marL="342900" indent="-342900" algn="l">
              <a:buFont typeface="Wingdings" pitchFamily="2" charset="2"/>
              <a:buChar char="q"/>
            </a:pPr>
            <a:r>
              <a:rPr lang="en-US" sz="2000" dirty="0">
                <a:solidFill>
                  <a:schemeClr val="accent2">
                    <a:lumMod val="20000"/>
                    <a:lumOff val="80000"/>
                  </a:schemeClr>
                </a:solidFill>
                <a:latin typeface="sohne"/>
              </a:rPr>
              <a:t>It is not always possible to eliminate lateral interactions</a:t>
            </a:r>
            <a:endParaRPr lang="en-US" sz="2000" b="0" dirty="0">
              <a:solidFill>
                <a:schemeClr val="accent2">
                  <a:lumMod val="20000"/>
                  <a:lumOff val="80000"/>
                </a:schemeClr>
              </a:solidFill>
              <a:effectLst/>
              <a:latin typeface="sohne"/>
            </a:endParaRPr>
          </a:p>
          <a:p>
            <a:pPr marL="342900" indent="-342900">
              <a:lnSpc>
                <a:spcPct val="90000"/>
              </a:lnSpc>
              <a:buFont typeface="Wingdings" pitchFamily="2" charset="2"/>
              <a:buChar char="q"/>
            </a:pPr>
            <a:r>
              <a:rPr lang="en-US" sz="2000" dirty="0">
                <a:solidFill>
                  <a:schemeClr val="accent2">
                    <a:lumMod val="20000"/>
                    <a:lumOff val="80000"/>
                  </a:schemeClr>
                </a:solidFill>
              </a:rPr>
              <a:t>Not always possible </a:t>
            </a: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p:txBody>
      </p:sp>
      <p:sp>
        <p:nvSpPr>
          <p:cNvPr id="16" name="Right Arrow 15">
            <a:extLst>
              <a:ext uri="{FF2B5EF4-FFF2-40B4-BE49-F238E27FC236}">
                <a16:creationId xmlns:a16="http://schemas.microsoft.com/office/drawing/2014/main" id="{AE72FB0F-483C-CBB5-550B-89C8865463BC}"/>
              </a:ext>
            </a:extLst>
          </p:cNvPr>
          <p:cNvSpPr/>
          <p:nvPr/>
        </p:nvSpPr>
        <p:spPr>
          <a:xfrm>
            <a:off x="5113943" y="1444414"/>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7" name="Right Arrow 16">
            <a:extLst>
              <a:ext uri="{FF2B5EF4-FFF2-40B4-BE49-F238E27FC236}">
                <a16:creationId xmlns:a16="http://schemas.microsoft.com/office/drawing/2014/main" id="{F8A1BBE8-2381-BCF2-4AA3-9719C7A875F5}"/>
              </a:ext>
            </a:extLst>
          </p:cNvPr>
          <p:cNvSpPr/>
          <p:nvPr/>
        </p:nvSpPr>
        <p:spPr>
          <a:xfrm>
            <a:off x="5113942" y="2214303"/>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8" name="Right Arrow 17">
            <a:extLst>
              <a:ext uri="{FF2B5EF4-FFF2-40B4-BE49-F238E27FC236}">
                <a16:creationId xmlns:a16="http://schemas.microsoft.com/office/drawing/2014/main" id="{64C7E6C2-0B1A-99DC-F18E-EE5B2E6FDB3B}"/>
              </a:ext>
            </a:extLst>
          </p:cNvPr>
          <p:cNvSpPr/>
          <p:nvPr/>
        </p:nvSpPr>
        <p:spPr>
          <a:xfrm>
            <a:off x="5131539" y="3839812"/>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9" name="Right Arrow 18">
            <a:extLst>
              <a:ext uri="{FF2B5EF4-FFF2-40B4-BE49-F238E27FC236}">
                <a16:creationId xmlns:a16="http://schemas.microsoft.com/office/drawing/2014/main" id="{DADA3D3B-86CD-0F77-F175-8AB06EC3C1FD}"/>
              </a:ext>
            </a:extLst>
          </p:cNvPr>
          <p:cNvSpPr/>
          <p:nvPr/>
        </p:nvSpPr>
        <p:spPr>
          <a:xfrm>
            <a:off x="5113942" y="4484558"/>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0373609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767128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518042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at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7683146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err="1"/>
              <a:t>Remesh</a:t>
            </a:r>
            <a:r>
              <a:rPr lang="en-US" dirty="0"/>
              <a:t>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11662572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spTree>
    <p:extLst>
      <p:ext uri="{BB962C8B-B14F-4D97-AF65-F5344CB8AC3E}">
        <p14:creationId xmlns:p14="http://schemas.microsoft.com/office/powerpoint/2010/main" val="488019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893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93193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776E6BA-1976-AFDF-65EA-F93DD21FC5B0}"/>
              </a:ext>
            </a:extLst>
          </p:cNvPr>
          <p:cNvCxnSpPr>
            <a:cxnSpLocks/>
            <a:stCxn id="20" idx="1"/>
            <a:endCxn id="21" idx="3"/>
          </p:cNvCxnSpPr>
          <p:nvPr/>
        </p:nvCxnSpPr>
        <p:spPr>
          <a:xfrm flipH="1">
            <a:off x="6431995" y="5518007"/>
            <a:ext cx="974653" cy="61354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318B9C8-BD4E-1090-2F25-2C5ACA1E988E}"/>
              </a:ext>
            </a:extLst>
          </p:cNvPr>
          <p:cNvCxnSpPr>
            <a:cxnSpLocks/>
            <a:stCxn id="20" idx="1"/>
          </p:cNvCxnSpPr>
          <p:nvPr/>
        </p:nvCxnSpPr>
        <p:spPr>
          <a:xfrm flipH="1" flipV="1">
            <a:off x="3544533" y="3696263"/>
            <a:ext cx="3862115" cy="1821744"/>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63578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776E6BA-1976-AFDF-65EA-F93DD21FC5B0}"/>
              </a:ext>
            </a:extLst>
          </p:cNvPr>
          <p:cNvCxnSpPr>
            <a:cxnSpLocks/>
            <a:stCxn id="20" idx="1"/>
            <a:endCxn id="21" idx="3"/>
          </p:cNvCxnSpPr>
          <p:nvPr/>
        </p:nvCxnSpPr>
        <p:spPr>
          <a:xfrm flipH="1">
            <a:off x="6431995" y="5518007"/>
            <a:ext cx="974653" cy="61354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A5C21F6-A544-F80D-CA8C-02C34DA8BF3D}"/>
              </a:ext>
            </a:extLst>
          </p:cNvPr>
          <p:cNvCxnSpPr>
            <a:cxnSpLocks/>
            <a:endCxn id="21" idx="1"/>
          </p:cNvCxnSpPr>
          <p:nvPr/>
        </p:nvCxnSpPr>
        <p:spPr>
          <a:xfrm>
            <a:off x="3550355" y="4306708"/>
            <a:ext cx="1367341" cy="182484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318B9C8-BD4E-1090-2F25-2C5ACA1E988E}"/>
              </a:ext>
            </a:extLst>
          </p:cNvPr>
          <p:cNvCxnSpPr>
            <a:cxnSpLocks/>
            <a:stCxn id="20" idx="1"/>
          </p:cNvCxnSpPr>
          <p:nvPr/>
        </p:nvCxnSpPr>
        <p:spPr>
          <a:xfrm flipH="1" flipV="1">
            <a:off x="3544533" y="3696263"/>
            <a:ext cx="3862115" cy="1821744"/>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9202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32663527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17909109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25971758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2231600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Back to Sedov Blast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  AMR</a:t>
            </a:r>
          </a:p>
        </p:txBody>
      </p:sp>
    </p:spTree>
    <p:extLst>
      <p:ext uri="{BB962C8B-B14F-4D97-AF65-F5344CB8AC3E}">
        <p14:creationId xmlns:p14="http://schemas.microsoft.com/office/powerpoint/2010/main" val="4206755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21419"/>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in Design Because of Platform Heterogeneity</a:t>
            </a:r>
          </a:p>
        </p:txBody>
      </p:sp>
    </p:spTree>
    <p:extLst>
      <p:ext uri="{BB962C8B-B14F-4D97-AF65-F5344CB8AC3E}">
        <p14:creationId xmlns:p14="http://schemas.microsoft.com/office/powerpoint/2010/main" val="39618638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7168514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957059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16112073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36052042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10867898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8575364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D111B62-9139-BD45-973A-64F08EA0ADA8}"/>
              </a:ext>
            </a:extLst>
          </p:cNvPr>
          <p:cNvSpPr/>
          <p:nvPr/>
        </p:nvSpPr>
        <p:spPr>
          <a:xfrm>
            <a:off x="743983" y="1609343"/>
            <a:ext cx="10700856" cy="2133601"/>
          </a:xfrm>
          <a:prstGeom prst="roundRect">
            <a:avLst/>
          </a:prstGeom>
          <a:solidFill>
            <a:schemeClr val="accent4">
              <a:lumMod val="60000"/>
              <a:lumOff val="40000"/>
            </a:scheme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endParaRPr lang="en-US" sz="2000" b="1" dirty="0"/>
          </a:p>
          <a:p>
            <a:r>
              <a:rPr lang="en-US" b="1" dirty="0">
                <a:solidFill>
                  <a:schemeClr val="accent1">
                    <a:lumMod val="50000"/>
                  </a:schemeClr>
                </a:solidFill>
              </a:rPr>
              <a:t>Same algorithm different data layouts or operation sequence:</a:t>
            </a:r>
            <a:endParaRPr lang="en-US" b="1" dirty="0"/>
          </a:p>
          <a:p>
            <a:pPr marL="742950" lvl="1" indent="-285750">
              <a:buFont typeface="Arial" panose="020B0604020202020204" pitchFamily="34" charset="0"/>
              <a:buChar char="•"/>
            </a:pPr>
            <a:r>
              <a:rPr lang="en-US" dirty="0"/>
              <a:t>A way to let compiler know that ”this” expression can be specialized in many ways</a:t>
            </a:r>
          </a:p>
          <a:p>
            <a:pPr marL="742950" lvl="1" indent="-285750">
              <a:buFont typeface="Arial" panose="020B0604020202020204" pitchFamily="34" charset="0"/>
              <a:buChar char="•"/>
            </a:pPr>
            <a:r>
              <a:rPr lang="en-US" dirty="0"/>
              <a:t>Definition of specializations</a:t>
            </a:r>
          </a:p>
          <a:p>
            <a:pPr marL="742950" lvl="1" indent="-285750">
              <a:buFont typeface="Arial" panose="020B0604020202020204" pitchFamily="34" charset="0"/>
              <a:buChar char="•"/>
            </a:pPr>
            <a:r>
              <a:rPr lang="en-US" dirty="0"/>
              <a:t>Often done with template meta-programming</a:t>
            </a:r>
          </a:p>
          <a:p>
            <a:pPr marL="742950" lvl="1" indent="-285750">
              <a:buFont typeface="Arial" panose="020B0604020202020204" pitchFamily="34" charset="0"/>
              <a:buChar char="•"/>
            </a:pPr>
            <a:endParaRPr lang="en-US" dirty="0"/>
          </a:p>
        </p:txBody>
      </p:sp>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Unification of Computational Expressions</a:t>
            </a:r>
          </a:p>
        </p:txBody>
      </p:sp>
      <p:sp>
        <p:nvSpPr>
          <p:cNvPr id="3" name="Rounded Rectangle 2">
            <a:extLst>
              <a:ext uri="{FF2B5EF4-FFF2-40B4-BE49-F238E27FC236}">
                <a16:creationId xmlns:a16="http://schemas.microsoft.com/office/drawing/2014/main" id="{FA5AC1FE-958A-777B-BE12-70917764B9EB}"/>
              </a:ext>
            </a:extLst>
          </p:cNvPr>
          <p:cNvSpPr/>
          <p:nvPr/>
        </p:nvSpPr>
        <p:spPr>
          <a:xfrm>
            <a:off x="743984" y="4059935"/>
            <a:ext cx="10700856" cy="1450849"/>
          </a:xfrm>
          <a:prstGeom prst="roundRect">
            <a:avLst/>
          </a:prstGeom>
          <a:solidFill>
            <a:schemeClr val="accent4">
              <a:lumMod val="40000"/>
              <a:lumOff val="60000"/>
            </a:scheme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742950" lvl="1" indent="-285750">
              <a:buFont typeface="Arial" panose="020B0604020202020204" pitchFamily="34" charset="0"/>
              <a:buChar char="•"/>
            </a:pPr>
            <a:endParaRPr lang="en-US" dirty="0"/>
          </a:p>
          <a:p>
            <a:r>
              <a:rPr lang="en-US" b="1" dirty="0">
                <a:solidFill>
                  <a:schemeClr val="accent1">
                    <a:lumMod val="50000"/>
                  </a:schemeClr>
                </a:solidFill>
              </a:rPr>
              <a:t>More challenging if algorithms need to be fundamentally different</a:t>
            </a:r>
          </a:p>
          <a:p>
            <a:pPr marL="742950" lvl="1" indent="-285750">
              <a:buFont typeface="Arial" panose="020B0604020202020204" pitchFamily="34" charset="0"/>
              <a:buChar char="•"/>
            </a:pPr>
            <a:r>
              <a:rPr lang="en-US" dirty="0"/>
              <a:t>Support for alternatives</a:t>
            </a:r>
          </a:p>
        </p:txBody>
      </p:sp>
      <p:sp>
        <p:nvSpPr>
          <p:cNvPr id="4" name="TextBox 3">
            <a:extLst>
              <a:ext uri="{FF2B5EF4-FFF2-40B4-BE49-F238E27FC236}">
                <a16:creationId xmlns:a16="http://schemas.microsoft.com/office/drawing/2014/main" id="{4AD94BBA-B419-381E-1B10-23CBCA34DE94}"/>
              </a:ext>
            </a:extLst>
          </p:cNvPr>
          <p:cNvSpPr txBox="1"/>
          <p:nvPr/>
        </p:nvSpPr>
        <p:spPr>
          <a:xfrm>
            <a:off x="2928562" y="977350"/>
            <a:ext cx="5331203" cy="683264"/>
          </a:xfrm>
          <a:prstGeom prst="rect">
            <a:avLst/>
          </a:prstGeom>
          <a:noFill/>
        </p:spPr>
        <p:txBody>
          <a:bodyPr wrap="none" lIns="118872" tIns="91440" rIns="118872" bIns="91440" rtlCol="0" anchor="ctr" anchorCtr="0">
            <a:spAutoFit/>
          </a:bodyPr>
          <a:lstStyle/>
          <a:p>
            <a:pPr>
              <a:lnSpc>
                <a:spcPct val="90000"/>
              </a:lnSpc>
            </a:pPr>
            <a:r>
              <a:rPr lang="en-US" b="1" dirty="0"/>
              <a:t>Make the same code work on different devices</a:t>
            </a:r>
          </a:p>
          <a:p>
            <a:pPr algn="l">
              <a:lnSpc>
                <a:spcPct val="90000"/>
              </a:lnSpc>
            </a:pPr>
            <a:endParaRPr lang="en-US" dirty="0"/>
          </a:p>
        </p:txBody>
      </p:sp>
    </p:spTree>
    <p:extLst>
      <p:ext uri="{BB962C8B-B14F-4D97-AF65-F5344CB8AC3E}">
        <p14:creationId xmlns:p14="http://schemas.microsoft.com/office/powerpoint/2010/main" val="11530498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Moving Work and Data to the Target</a:t>
            </a:r>
          </a:p>
        </p:txBody>
      </p:sp>
      <p:sp>
        <p:nvSpPr>
          <p:cNvPr id="3" name="Rounded Rectangle 2">
            <a:extLst>
              <a:ext uri="{FF2B5EF4-FFF2-40B4-BE49-F238E27FC236}">
                <a16:creationId xmlns:a16="http://schemas.microsoft.com/office/drawing/2014/main" id="{FA5AC1FE-958A-777B-BE12-70917764B9EB}"/>
              </a:ext>
            </a:extLst>
          </p:cNvPr>
          <p:cNvSpPr/>
          <p:nvPr/>
        </p:nvSpPr>
        <p:spPr>
          <a:xfrm>
            <a:off x="597680" y="1660614"/>
            <a:ext cx="10700856" cy="1450849"/>
          </a:xfrm>
          <a:prstGeom prst="roundRect">
            <a:avLst/>
          </a:prstGeom>
          <a:solidFill>
            <a:srgbClr val="A952EE">
              <a:alpha val="62966"/>
            </a:srgb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742950" lvl="1" indent="-285750">
              <a:buFont typeface="Arial" panose="020B0604020202020204" pitchFamily="34" charset="0"/>
              <a:buChar char="•"/>
            </a:pPr>
            <a:endParaRPr lang="en-US" dirty="0"/>
          </a:p>
          <a:p>
            <a:r>
              <a:rPr lang="en-US" sz="2000" b="1" dirty="0"/>
              <a:t>Hierarchy in domain decomposition</a:t>
            </a:r>
          </a:p>
          <a:p>
            <a:endParaRPr lang="en-US" b="1" dirty="0">
              <a:solidFill>
                <a:schemeClr val="accent1">
                  <a:lumMod val="50000"/>
                </a:schemeClr>
              </a:solidFill>
            </a:endParaRPr>
          </a:p>
          <a:p>
            <a:pPr marL="742950" lvl="1" indent="-285750">
              <a:buFont typeface="Arial" panose="020B0604020202020204" pitchFamily="34" charset="0"/>
              <a:buChar char="•"/>
            </a:pPr>
            <a:r>
              <a:rPr lang="en-US" dirty="0"/>
              <a:t>Distributed memory model at node level – still very prevalent, likely to remain so for a while</a:t>
            </a:r>
          </a:p>
          <a:p>
            <a:pPr marL="742950" lvl="1" indent="-285750">
              <a:buFont typeface="Arial" panose="020B0604020202020204" pitchFamily="34" charset="0"/>
              <a:buChar char="•"/>
            </a:pPr>
            <a:r>
              <a:rPr lang="en-US" dirty="0"/>
              <a:t>Also done with PGAS models – shared with locality being important</a:t>
            </a:r>
          </a:p>
          <a:p>
            <a:pPr marL="742950" lvl="1" indent="-285750">
              <a:buFont typeface="Arial" panose="020B0604020202020204" pitchFamily="34" charset="0"/>
              <a:buChar char="•"/>
            </a:pPr>
            <a:endParaRPr lang="en-US" dirty="0"/>
          </a:p>
        </p:txBody>
      </p:sp>
      <p:sp>
        <p:nvSpPr>
          <p:cNvPr id="4" name="TextBox 3">
            <a:extLst>
              <a:ext uri="{FF2B5EF4-FFF2-40B4-BE49-F238E27FC236}">
                <a16:creationId xmlns:a16="http://schemas.microsoft.com/office/drawing/2014/main" id="{4AD94BBA-B419-381E-1B10-23CBCA34DE94}"/>
              </a:ext>
            </a:extLst>
          </p:cNvPr>
          <p:cNvSpPr txBox="1"/>
          <p:nvPr/>
        </p:nvSpPr>
        <p:spPr>
          <a:xfrm>
            <a:off x="2928562" y="977350"/>
            <a:ext cx="2650982" cy="683264"/>
          </a:xfrm>
          <a:prstGeom prst="rect">
            <a:avLst/>
          </a:prstGeom>
          <a:noFill/>
        </p:spPr>
        <p:txBody>
          <a:bodyPr wrap="none" lIns="118872" tIns="91440" rIns="118872" bIns="91440" rtlCol="0" anchor="ctr" anchorCtr="0">
            <a:spAutoFit/>
          </a:bodyPr>
          <a:lstStyle/>
          <a:p>
            <a:pPr>
              <a:lnSpc>
                <a:spcPct val="90000"/>
              </a:lnSpc>
            </a:pPr>
            <a:r>
              <a:rPr lang="en-US" b="1" dirty="0"/>
              <a:t>Parallelization Models</a:t>
            </a:r>
          </a:p>
          <a:p>
            <a:pPr algn="l">
              <a:lnSpc>
                <a:spcPct val="90000"/>
              </a:lnSpc>
            </a:pPr>
            <a:endParaRPr lang="en-US" dirty="0"/>
          </a:p>
        </p:txBody>
      </p:sp>
      <p:sp>
        <p:nvSpPr>
          <p:cNvPr id="2" name="Rounded Rectangle 1">
            <a:extLst>
              <a:ext uri="{FF2B5EF4-FFF2-40B4-BE49-F238E27FC236}">
                <a16:creationId xmlns:a16="http://schemas.microsoft.com/office/drawing/2014/main" id="{AF718C10-22F9-DE1F-1A8C-F236C60F9659}"/>
              </a:ext>
            </a:extLst>
          </p:cNvPr>
          <p:cNvSpPr/>
          <p:nvPr/>
        </p:nvSpPr>
        <p:spPr>
          <a:xfrm>
            <a:off x="597680" y="3257480"/>
            <a:ext cx="10700856" cy="2623170"/>
          </a:xfrm>
          <a:prstGeom prst="roundRect">
            <a:avLst/>
          </a:prstGeom>
          <a:solidFill>
            <a:srgbClr val="EEC8FA"/>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Assigning work within the node</a:t>
            </a:r>
          </a:p>
          <a:p>
            <a:endParaRPr lang="en-US" sz="2000" b="1" dirty="0"/>
          </a:p>
          <a:p>
            <a:pPr marL="285750" indent="-285750">
              <a:buFont typeface="Arial" panose="020B0604020202020204" pitchFamily="34" charset="0"/>
              <a:buChar char="•"/>
            </a:pPr>
            <a:r>
              <a:rPr lang="en-US" dirty="0"/>
              <a:t>“Parallel For” or directives with  unified memory</a:t>
            </a:r>
          </a:p>
          <a:p>
            <a:pPr marL="285750" indent="-285750">
              <a:buFont typeface="Arial" panose="020B0604020202020204" pitchFamily="34" charset="0"/>
              <a:buChar char="•"/>
            </a:pPr>
            <a:r>
              <a:rPr lang="en-US" dirty="0"/>
              <a:t>Directives or specific programming model for explicit data movement</a:t>
            </a:r>
          </a:p>
          <a:p>
            <a:endParaRPr lang="en-US" b="1" dirty="0">
              <a:solidFill>
                <a:schemeClr val="accent1">
                  <a:lumMod val="50000"/>
                </a:schemeClr>
              </a:solidFill>
            </a:endParaRPr>
          </a:p>
          <a:p>
            <a:r>
              <a:rPr lang="en-US" b="1" dirty="0">
                <a:solidFill>
                  <a:schemeClr val="accent1">
                    <a:lumMod val="50000"/>
                  </a:schemeClr>
                </a:solidFill>
              </a:rPr>
              <a:t>More complex data orchestration system for asynchronous computation</a:t>
            </a:r>
          </a:p>
          <a:p>
            <a:endParaRPr lang="en-US" b="1" dirty="0">
              <a:solidFill>
                <a:schemeClr val="accent1">
                  <a:lumMod val="50000"/>
                </a:schemeClr>
              </a:solidFill>
            </a:endParaRPr>
          </a:p>
          <a:p>
            <a:pPr marL="285750" indent="-285750">
              <a:buFont typeface="Arial" panose="020B0604020202020204" pitchFamily="34" charset="0"/>
              <a:buChar char="•"/>
            </a:pPr>
            <a:r>
              <a:rPr lang="en-US" dirty="0"/>
              <a:t>Task based work distribution</a:t>
            </a:r>
          </a:p>
        </p:txBody>
      </p:sp>
    </p:spTree>
    <p:extLst>
      <p:ext uri="{BB962C8B-B14F-4D97-AF65-F5344CB8AC3E}">
        <p14:creationId xmlns:p14="http://schemas.microsoft.com/office/powerpoint/2010/main" val="42588856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Mapping Work to Targets</a:t>
            </a:r>
          </a:p>
        </p:txBody>
      </p:sp>
      <p:sp>
        <p:nvSpPr>
          <p:cNvPr id="2" name="Rounded Rectangle 1">
            <a:extLst>
              <a:ext uri="{FF2B5EF4-FFF2-40B4-BE49-F238E27FC236}">
                <a16:creationId xmlns:a16="http://schemas.microsoft.com/office/drawing/2014/main" id="{AF718C10-22F9-DE1F-1A8C-F236C60F9659}"/>
              </a:ext>
            </a:extLst>
          </p:cNvPr>
          <p:cNvSpPr/>
          <p:nvPr/>
        </p:nvSpPr>
        <p:spPr>
          <a:xfrm>
            <a:off x="579392" y="959137"/>
            <a:ext cx="10700856" cy="3320919"/>
          </a:xfrm>
          <a:prstGeom prst="roundRect">
            <a:avLst/>
          </a:prstGeom>
          <a:solidFill>
            <a:srgbClr val="0070C0">
              <a:alpha val="42147"/>
            </a:srgb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This is how many abstraction layers work</a:t>
            </a:r>
          </a:p>
          <a:p>
            <a:endParaRPr lang="en-US" sz="2000" dirty="0"/>
          </a:p>
          <a:p>
            <a:pPr marL="342900" indent="-342900">
              <a:buFont typeface="Arial" panose="020B0604020202020204" pitchFamily="34" charset="0"/>
              <a:buChar char="•"/>
            </a:pPr>
            <a:r>
              <a:rPr lang="en-US" sz="2000" dirty="0"/>
              <a:t>Infer the structure of the code</a:t>
            </a:r>
          </a:p>
          <a:p>
            <a:pPr marL="342900" indent="-342900">
              <a:buFont typeface="Arial" panose="020B0604020202020204" pitchFamily="34" charset="0"/>
              <a:buChar char="•"/>
            </a:pPr>
            <a:r>
              <a:rPr lang="en-US" sz="2000" dirty="0"/>
              <a:t>Infer the map between algorithms and devices</a:t>
            </a:r>
          </a:p>
          <a:p>
            <a:pPr marL="342900" indent="-342900">
              <a:buFont typeface="Arial" panose="020B0604020202020204" pitchFamily="34" charset="0"/>
              <a:buChar char="•"/>
            </a:pPr>
            <a:r>
              <a:rPr lang="en-US" sz="2000" dirty="0"/>
              <a:t>Infer the data movements</a:t>
            </a:r>
          </a:p>
          <a:p>
            <a:pPr marL="342900" indent="-342900">
              <a:buFont typeface="Arial" panose="020B0604020202020204" pitchFamily="34" charset="0"/>
              <a:buChar char="•"/>
            </a:pPr>
            <a:r>
              <a:rPr lang="en-US" sz="2000" dirty="0"/>
              <a:t>Map computations to devices</a:t>
            </a:r>
          </a:p>
          <a:p>
            <a:pPr marL="342900" indent="-342900">
              <a:buFont typeface="Arial" panose="020B0604020202020204" pitchFamily="34" charset="0"/>
              <a:buChar char="•"/>
            </a:pPr>
            <a:r>
              <a:rPr lang="en-US" sz="2000" dirty="0"/>
              <a:t>These are specified either through constructs or pragmas</a:t>
            </a:r>
          </a:p>
          <a:p>
            <a:endParaRPr lang="en-US" sz="2000" dirty="0"/>
          </a:p>
        </p:txBody>
      </p:sp>
      <p:sp>
        <p:nvSpPr>
          <p:cNvPr id="6" name="Rectangle 5">
            <a:extLst>
              <a:ext uri="{FF2B5EF4-FFF2-40B4-BE49-F238E27FC236}">
                <a16:creationId xmlns:a16="http://schemas.microsoft.com/office/drawing/2014/main" id="{56994EF6-4771-DB83-B9DD-4A338ABCF8E4}"/>
              </a:ext>
            </a:extLst>
          </p:cNvPr>
          <p:cNvSpPr/>
          <p:nvPr/>
        </p:nvSpPr>
        <p:spPr>
          <a:xfrm>
            <a:off x="2434780" y="4609699"/>
            <a:ext cx="6092825" cy="369332"/>
          </a:xfrm>
          <a:prstGeom prst="rect">
            <a:avLst/>
          </a:prstGeom>
        </p:spPr>
        <p:txBody>
          <a:bodyPr>
            <a:spAutoFit/>
          </a:bodyPr>
          <a:lstStyle/>
          <a:p>
            <a:r>
              <a:rPr lang="en-US" b="1" dirty="0">
                <a:solidFill>
                  <a:schemeClr val="accent4">
                    <a:lumMod val="50000"/>
                  </a:schemeClr>
                </a:solidFill>
              </a:rPr>
              <a:t>.</a:t>
            </a:r>
          </a:p>
        </p:txBody>
      </p:sp>
      <p:sp>
        <p:nvSpPr>
          <p:cNvPr id="7" name="Rounded Rectangle 6">
            <a:extLst>
              <a:ext uri="{FF2B5EF4-FFF2-40B4-BE49-F238E27FC236}">
                <a16:creationId xmlns:a16="http://schemas.microsoft.com/office/drawing/2014/main" id="{50957D32-6340-7CCA-E204-70855E162224}"/>
              </a:ext>
            </a:extLst>
          </p:cNvPr>
          <p:cNvSpPr/>
          <p:nvPr/>
        </p:nvSpPr>
        <p:spPr>
          <a:xfrm>
            <a:off x="579392" y="4609699"/>
            <a:ext cx="10700856" cy="1035198"/>
          </a:xfrm>
          <a:prstGeom prst="roundRect">
            <a:avLst/>
          </a:prstGeom>
          <a:solidFill>
            <a:srgbClr val="00B0F0">
              <a:alpha val="42147"/>
            </a:srgb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It can also be the end user who figures out the mapping</a:t>
            </a:r>
          </a:p>
          <a:p>
            <a:r>
              <a:rPr lang="en-US" sz="2000" b="1" dirty="0"/>
              <a:t>In either case performance depends upon how well the mapping is done</a:t>
            </a:r>
            <a:r>
              <a:rPr lang="en-US" sz="2000" dirty="0"/>
              <a:t> </a:t>
            </a:r>
          </a:p>
          <a:p>
            <a:r>
              <a:rPr lang="en-US" sz="2000" b="1" dirty="0"/>
              <a:t> </a:t>
            </a:r>
          </a:p>
        </p:txBody>
      </p:sp>
    </p:spTree>
    <p:extLst>
      <p:ext uri="{BB962C8B-B14F-4D97-AF65-F5344CB8AC3E}">
        <p14:creationId xmlns:p14="http://schemas.microsoft.com/office/powerpoint/2010/main" val="15835683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23159162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9200822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a:xfrm>
            <a:off x="792273" y="101609"/>
            <a:ext cx="10512862" cy="1325218"/>
          </a:xfrm>
        </p:spPr>
        <p:txBody>
          <a:bodyPr/>
          <a:lstStyle/>
          <a:p>
            <a:r>
              <a:rPr lang="en-US" dirty="0"/>
              <a:t>Mechanisms Needed by the Code </a:t>
            </a:r>
          </a:p>
        </p:txBody>
      </p:sp>
      <p:sp>
        <p:nvSpPr>
          <p:cNvPr id="3" name="TextBox 2">
            <a:extLst>
              <a:ext uri="{FF2B5EF4-FFF2-40B4-BE49-F238E27FC236}">
                <a16:creationId xmlns:a16="http://schemas.microsoft.com/office/drawing/2014/main" id="{3CF76096-66D6-FA7D-C3FD-229037FD0777}"/>
              </a:ext>
            </a:extLst>
          </p:cNvPr>
          <p:cNvSpPr txBox="1"/>
          <p:nvPr/>
        </p:nvSpPr>
        <p:spPr>
          <a:xfrm>
            <a:off x="2603178" y="3690387"/>
            <a:ext cx="5265572" cy="2307723"/>
          </a:xfrm>
          <a:prstGeom prst="rect">
            <a:avLst/>
          </a:prstGeom>
          <a:solidFill>
            <a:srgbClr val="002060"/>
          </a:solidFill>
        </p:spPr>
        <p:txBody>
          <a:bodyPr wrap="square" rtlCol="0">
            <a:spAutoFit/>
          </a:bodyPr>
          <a:lstStyle/>
          <a:p>
            <a:pPr algn="ctr"/>
            <a:r>
              <a:rPr lang="en-US" dirty="0">
                <a:solidFill>
                  <a:schemeClr val="bg1"/>
                </a:solidFill>
              </a:rPr>
              <a:t>Express code with embedded macros</a:t>
            </a:r>
          </a:p>
          <a:p>
            <a:pPr marL="285664" indent="-285664">
              <a:buFont typeface="Arial" panose="020B0604020202020204" pitchFamily="34" charset="0"/>
              <a:buChar char="•"/>
            </a:pPr>
            <a:r>
              <a:rPr lang="en-US" dirty="0">
                <a:solidFill>
                  <a:schemeClr val="bg1"/>
                </a:solidFill>
              </a:rPr>
              <a:t>Let macros have multiple alternative definitions</a:t>
            </a:r>
          </a:p>
          <a:p>
            <a:pPr marL="285664" indent="-285664">
              <a:buFont typeface="Arial" panose="020B0604020202020204" pitchFamily="34" charset="0"/>
              <a:buChar char="•"/>
            </a:pPr>
            <a:r>
              <a:rPr lang="en-US" dirty="0">
                <a:solidFill>
                  <a:schemeClr val="bg1"/>
                </a:solidFill>
              </a:rPr>
              <a:t>Implement mechanism to select specific macro definition</a:t>
            </a:r>
          </a:p>
          <a:p>
            <a:pPr marL="285664" indent="-285664">
              <a:buFont typeface="Arial" panose="020B0604020202020204" pitchFamily="34" charset="0"/>
              <a:buChar char="•"/>
            </a:pPr>
            <a:r>
              <a:rPr lang="en-US" dirty="0">
                <a:solidFill>
                  <a:schemeClr val="bg1"/>
                </a:solidFill>
              </a:rPr>
              <a:t>Implement mechanism to safely include more than one definition</a:t>
            </a:r>
          </a:p>
          <a:p>
            <a:pPr marL="285664" indent="-285664">
              <a:buFont typeface="Arial" panose="020B0604020202020204" pitchFamily="34" charset="0"/>
              <a:buChar char="•"/>
            </a:pPr>
            <a:r>
              <a:rPr lang="en-US" dirty="0">
                <a:solidFill>
                  <a:schemeClr val="bg1"/>
                </a:solidFill>
              </a:rPr>
              <a:t>Allow inline, recursion and arguments in macros</a:t>
            </a:r>
          </a:p>
        </p:txBody>
      </p:sp>
      <p:sp>
        <p:nvSpPr>
          <p:cNvPr id="10" name="Rounded Rectangle 9">
            <a:extLst>
              <a:ext uri="{FF2B5EF4-FFF2-40B4-BE49-F238E27FC236}">
                <a16:creationId xmlns:a16="http://schemas.microsoft.com/office/drawing/2014/main" id="{8B151DF0-8BAF-AEF2-EC77-A49FECBA77A2}"/>
              </a:ext>
            </a:extLst>
          </p:cNvPr>
          <p:cNvSpPr/>
          <p:nvPr/>
        </p:nvSpPr>
        <p:spPr>
          <a:xfrm>
            <a:off x="2603178" y="1211728"/>
            <a:ext cx="5265572" cy="2219890"/>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unify expression of computation</a:t>
            </a:r>
          </a:p>
          <a:p>
            <a:pPr marL="342797" indent="-342797">
              <a:lnSpc>
                <a:spcPct val="90000"/>
              </a:lnSpc>
              <a:buFont typeface="Arial" panose="020B0604020202020204" pitchFamily="34" charset="0"/>
              <a:buChar char="•"/>
            </a:pPr>
            <a:r>
              <a:rPr lang="en-US" sz="1999" dirty="0">
                <a:solidFill>
                  <a:schemeClr val="bg1"/>
                </a:solidFill>
              </a:rPr>
              <a:t>Minimize maintained variants of source suitable for all computational devices</a:t>
            </a:r>
          </a:p>
          <a:p>
            <a:pPr marL="342797" indent="-342797">
              <a:lnSpc>
                <a:spcPct val="90000"/>
              </a:lnSpc>
              <a:buFont typeface="Arial" panose="020B0604020202020204" pitchFamily="34" charset="0"/>
              <a:buChar char="•"/>
            </a:pPr>
            <a:r>
              <a:rPr lang="en-US" sz="1999" dirty="0">
                <a:solidFill>
                  <a:schemeClr val="bg1"/>
                </a:solidFill>
              </a:rPr>
              <a:t>Reconcile differences in data structures</a:t>
            </a:r>
          </a:p>
        </p:txBody>
      </p:sp>
    </p:spTree>
    <p:extLst>
      <p:ext uri="{BB962C8B-B14F-4D97-AF65-F5344CB8AC3E}">
        <p14:creationId xmlns:p14="http://schemas.microsoft.com/office/powerpoint/2010/main" val="35859234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A8ADA09-EC9A-5240-B8B3-EA116C38BB48}"/>
              </a:ext>
            </a:extLst>
          </p:cNvPr>
          <p:cNvSpPr/>
          <p:nvPr/>
        </p:nvSpPr>
        <p:spPr>
          <a:xfrm>
            <a:off x="0" y="3211887"/>
            <a:ext cx="2936745" cy="3645220"/>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Definitions for CPU </a:t>
            </a:r>
          </a:p>
          <a:p>
            <a:r>
              <a:rPr lang="en-US" dirty="0">
                <a:solidFill>
                  <a:schemeClr val="tx1"/>
                </a:solidFill>
              </a:rPr>
              <a:t>[</a:t>
            </a:r>
            <a:r>
              <a:rPr lang="en-US" dirty="0">
                <a:solidFill>
                  <a:srgbClr val="7030A0"/>
                </a:solidFill>
              </a:rPr>
              <a:t>declare</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cpu</a:t>
            </a:r>
            <a:r>
              <a:rPr lang="en-US" dirty="0">
                <a:solidFill>
                  <a:schemeClr val="tx1"/>
                </a:solidFill>
              </a:rPr>
              <a:t>-specific declarations</a:t>
            </a:r>
          </a:p>
          <a:p>
            <a:r>
              <a:rPr lang="en-US" dirty="0">
                <a:solidFill>
                  <a:schemeClr val="tx1"/>
                </a:solidFill>
              </a:rPr>
              <a:t>[</a:t>
            </a:r>
            <a:r>
              <a:rPr lang="en-US" dirty="0">
                <a:solidFill>
                  <a:srgbClr val="7030A0"/>
                </a:solidFill>
              </a:rPr>
              <a:t>directive1</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omp</a:t>
            </a:r>
            <a:r>
              <a:rPr lang="en-US" dirty="0">
                <a:solidFill>
                  <a:schemeClr val="tx1"/>
                </a:solidFill>
              </a:rPr>
              <a:t> directive for </a:t>
            </a:r>
            <a:r>
              <a:rPr lang="en-US" dirty="0" err="1">
                <a:solidFill>
                  <a:schemeClr val="tx1"/>
                </a:solidFill>
              </a:rPr>
              <a:t>cpu</a:t>
            </a:r>
            <a:endParaRPr lang="en-US" dirty="0">
              <a:solidFill>
                <a:schemeClr val="tx1"/>
              </a:solidFill>
            </a:endParaRPr>
          </a:p>
          <a:p>
            <a:r>
              <a:rPr lang="en-US" dirty="0">
                <a:solidFill>
                  <a:schemeClr val="tx1"/>
                </a:solidFill>
              </a:rPr>
              <a:t>[</a:t>
            </a:r>
            <a:r>
              <a:rPr lang="en-US" dirty="0">
                <a:solidFill>
                  <a:srgbClr val="7030A0"/>
                </a:solidFill>
              </a:rPr>
              <a:t>endloop_2d_spl</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a:solidFill>
                  <a:srgbClr val="7030A0"/>
                </a:solidFill>
              </a:rPr>
              <a:t>directive2</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a:solidFill>
                  <a:srgbClr val="7030A0"/>
                </a:solidFill>
              </a:rPr>
              <a:t>loop_2d_spl</a:t>
            </a:r>
            <a:r>
              <a:rPr lang="en-US" dirty="0">
                <a:solidFill>
                  <a:schemeClr val="tx1"/>
                </a:solidFill>
              </a:rPr>
              <a:t>]</a:t>
            </a:r>
          </a:p>
          <a:p>
            <a:r>
              <a:rPr lang="en-US" dirty="0">
                <a:solidFill>
                  <a:schemeClr val="tx1"/>
                </a:solidFill>
              </a:rPr>
              <a:t> definition=</a:t>
            </a:r>
          </a:p>
        </p:txBody>
      </p:sp>
      <p:sp>
        <p:nvSpPr>
          <p:cNvPr id="11" name="Rectangle 10">
            <a:extLst>
              <a:ext uri="{FF2B5EF4-FFF2-40B4-BE49-F238E27FC236}">
                <a16:creationId xmlns:a16="http://schemas.microsoft.com/office/drawing/2014/main" id="{5CB3175D-1AE3-AF4F-B29C-3EF023378FE8}"/>
              </a:ext>
            </a:extLst>
          </p:cNvPr>
          <p:cNvSpPr/>
          <p:nvPr/>
        </p:nvSpPr>
        <p:spPr>
          <a:xfrm>
            <a:off x="25644" y="12324"/>
            <a:ext cx="2911101" cy="3119574"/>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Code Expressed with macros</a:t>
            </a:r>
            <a:endParaRPr lang="en-US" dirty="0">
              <a:solidFill>
                <a:schemeClr val="tx1"/>
              </a:solidFill>
            </a:endParaRPr>
          </a:p>
          <a:p>
            <a:r>
              <a:rPr lang="en-US" dirty="0">
                <a:solidFill>
                  <a:srgbClr val="7030A0"/>
                </a:solidFill>
              </a:rPr>
              <a:t>@M declare</a:t>
            </a:r>
          </a:p>
          <a:p>
            <a:r>
              <a:rPr lang="en-US" dirty="0">
                <a:solidFill>
                  <a:srgbClr val="7030A0"/>
                </a:solidFill>
              </a:rPr>
              <a:t>@M directive1</a:t>
            </a:r>
          </a:p>
          <a:p>
            <a:r>
              <a:rPr lang="en-US" dirty="0">
                <a:solidFill>
                  <a:srgbClr val="C00000"/>
                </a:solidFill>
              </a:rPr>
              <a:t>@M loop_2d</a:t>
            </a:r>
          </a:p>
          <a:p>
            <a:r>
              <a:rPr lang="en-US" dirty="0"/>
              <a:t>        </a:t>
            </a:r>
            <a:r>
              <a:rPr lang="en-US" dirty="0">
                <a:solidFill>
                  <a:schemeClr val="tx1"/>
                </a:solidFill>
              </a:rPr>
              <a:t>…. computation 1</a:t>
            </a:r>
          </a:p>
          <a:p>
            <a:r>
              <a:rPr lang="en-US" dirty="0">
                <a:solidFill>
                  <a:schemeClr val="tx1"/>
                </a:solidFill>
              </a:rPr>
              <a:t>        …. computation 2</a:t>
            </a:r>
          </a:p>
          <a:p>
            <a:r>
              <a:rPr lang="en-US" dirty="0">
                <a:solidFill>
                  <a:srgbClr val="7030A0"/>
                </a:solidFill>
              </a:rPr>
              <a:t>@M endloop_2d_spl</a:t>
            </a:r>
          </a:p>
          <a:p>
            <a:r>
              <a:rPr lang="en-US" dirty="0">
                <a:solidFill>
                  <a:srgbClr val="7030A0"/>
                </a:solidFill>
              </a:rPr>
              <a:t>@M directive2</a:t>
            </a:r>
          </a:p>
          <a:p>
            <a:r>
              <a:rPr lang="en-US" dirty="0">
                <a:solidFill>
                  <a:srgbClr val="7030A0"/>
                </a:solidFill>
              </a:rPr>
              <a:t>@M loop_2d_spl</a:t>
            </a:r>
          </a:p>
          <a:p>
            <a:r>
              <a:rPr lang="en-US" dirty="0">
                <a:solidFill>
                  <a:schemeClr val="tx1"/>
                </a:solidFill>
              </a:rPr>
              <a:t>        …. computation 3</a:t>
            </a:r>
          </a:p>
          <a:p>
            <a:r>
              <a:rPr lang="en-US" dirty="0">
                <a:solidFill>
                  <a:srgbClr val="C00000"/>
                </a:solidFill>
              </a:rPr>
              <a:t>@M endloop_2d</a:t>
            </a:r>
          </a:p>
        </p:txBody>
      </p:sp>
      <p:sp>
        <p:nvSpPr>
          <p:cNvPr id="18" name="Rectangle 17">
            <a:extLst>
              <a:ext uri="{FF2B5EF4-FFF2-40B4-BE49-F238E27FC236}">
                <a16:creationId xmlns:a16="http://schemas.microsoft.com/office/drawing/2014/main" id="{DDA60C92-C03F-534C-851E-F0826F9F6F00}"/>
              </a:ext>
            </a:extLst>
          </p:cNvPr>
          <p:cNvSpPr/>
          <p:nvPr/>
        </p:nvSpPr>
        <p:spPr>
          <a:xfrm>
            <a:off x="3052420" y="2146108"/>
            <a:ext cx="3041993" cy="4688144"/>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Definitions for GPU </a:t>
            </a:r>
          </a:p>
          <a:p>
            <a:r>
              <a:rPr lang="en-US" dirty="0">
                <a:solidFill>
                  <a:schemeClr val="tx1"/>
                </a:solidFill>
              </a:rPr>
              <a:t>[</a:t>
            </a:r>
            <a:r>
              <a:rPr lang="en-US" dirty="0">
                <a:solidFill>
                  <a:srgbClr val="7030A0"/>
                </a:solidFill>
              </a:rPr>
              <a:t>declare</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gpu</a:t>
            </a:r>
            <a:r>
              <a:rPr lang="en-US" dirty="0">
                <a:solidFill>
                  <a:schemeClr val="tx1"/>
                </a:solidFill>
              </a:rPr>
              <a:t>-specific declarations</a:t>
            </a:r>
          </a:p>
          <a:p>
            <a:r>
              <a:rPr lang="en-US" dirty="0">
                <a:solidFill>
                  <a:schemeClr val="tx1"/>
                </a:solidFill>
              </a:rPr>
              <a:t>[</a:t>
            </a:r>
            <a:r>
              <a:rPr lang="en-US" dirty="0">
                <a:solidFill>
                  <a:srgbClr val="7030A0"/>
                </a:solidFill>
              </a:rPr>
              <a:t>directive1</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omp</a:t>
            </a:r>
            <a:r>
              <a:rPr lang="en-US" dirty="0">
                <a:solidFill>
                  <a:schemeClr val="tx1"/>
                </a:solidFill>
              </a:rPr>
              <a:t> directive1 for </a:t>
            </a:r>
            <a:r>
              <a:rPr lang="en-US" dirty="0" err="1">
                <a:solidFill>
                  <a:schemeClr val="tx1"/>
                </a:solidFill>
              </a:rPr>
              <a:t>gpu</a:t>
            </a:r>
            <a:endParaRPr lang="en-US" dirty="0">
              <a:solidFill>
                <a:schemeClr val="tx1"/>
              </a:solidFill>
            </a:endParaRPr>
          </a:p>
          <a:p>
            <a:r>
              <a:rPr lang="en-US" dirty="0">
                <a:solidFill>
                  <a:schemeClr val="tx1"/>
                </a:solidFill>
              </a:rPr>
              <a:t>[</a:t>
            </a:r>
            <a:r>
              <a:rPr lang="en-US" dirty="0">
                <a:solidFill>
                  <a:srgbClr val="7030A0"/>
                </a:solidFill>
              </a:rPr>
              <a:t>endloop_2d_spl</a:t>
            </a:r>
            <a:r>
              <a:rPr lang="en-US" dirty="0">
                <a:solidFill>
                  <a:schemeClr val="tx1"/>
                </a:solidFill>
              </a:rPr>
              <a:t>]</a:t>
            </a:r>
          </a:p>
          <a:p>
            <a:r>
              <a:rPr lang="en-US" dirty="0">
                <a:solidFill>
                  <a:schemeClr val="tx1"/>
                </a:solidFill>
              </a:rPr>
              <a:t> definition=</a:t>
            </a:r>
          </a:p>
          <a:p>
            <a:r>
              <a:rPr lang="en-US" dirty="0">
                <a:solidFill>
                  <a:schemeClr val="tx1"/>
                </a:solidFill>
              </a:rPr>
              <a:t>    @M </a:t>
            </a:r>
            <a:r>
              <a:rPr lang="en-US" dirty="0">
                <a:solidFill>
                  <a:srgbClr val="C00000"/>
                </a:solidFill>
              </a:rPr>
              <a:t>endloop_2d</a:t>
            </a:r>
            <a:endParaRPr lang="en-US" dirty="0">
              <a:solidFill>
                <a:schemeClr val="tx1"/>
              </a:solidFill>
            </a:endParaRPr>
          </a:p>
          <a:p>
            <a:r>
              <a:rPr lang="en-US" dirty="0">
                <a:solidFill>
                  <a:schemeClr val="tx1"/>
                </a:solidFill>
              </a:rPr>
              <a:t>[</a:t>
            </a:r>
            <a:r>
              <a:rPr lang="en-US" dirty="0">
                <a:solidFill>
                  <a:srgbClr val="7030A0"/>
                </a:solidFill>
              </a:rPr>
              <a:t>directive2</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err="1">
                <a:solidFill>
                  <a:schemeClr val="tx1"/>
                </a:solidFill>
              </a:rPr>
              <a:t>omp</a:t>
            </a:r>
            <a:r>
              <a:rPr lang="en-US" dirty="0">
                <a:solidFill>
                  <a:schemeClr val="tx1"/>
                </a:solidFill>
              </a:rPr>
              <a:t> directive2 for </a:t>
            </a:r>
            <a:r>
              <a:rPr lang="en-US" dirty="0" err="1">
                <a:solidFill>
                  <a:schemeClr val="tx1"/>
                </a:solidFill>
              </a:rPr>
              <a:t>gpu</a:t>
            </a:r>
            <a:endParaRPr lang="en-US" dirty="0">
              <a:solidFill>
                <a:schemeClr val="tx1"/>
              </a:solidFill>
            </a:endParaRPr>
          </a:p>
          <a:p>
            <a:r>
              <a:rPr lang="en-US" dirty="0">
                <a:solidFill>
                  <a:schemeClr val="tx1"/>
                </a:solidFill>
              </a:rPr>
              <a:t>[</a:t>
            </a:r>
            <a:r>
              <a:rPr lang="en-US" dirty="0">
                <a:solidFill>
                  <a:srgbClr val="7030A0"/>
                </a:solidFill>
              </a:rPr>
              <a:t>loop_2d_spl</a:t>
            </a:r>
            <a:r>
              <a:rPr lang="en-US" dirty="0">
                <a:solidFill>
                  <a:schemeClr val="tx1"/>
                </a:solidFill>
              </a:rPr>
              <a:t>]</a:t>
            </a:r>
          </a:p>
          <a:p>
            <a:r>
              <a:rPr lang="en-US" dirty="0">
                <a:solidFill>
                  <a:schemeClr val="tx1"/>
                </a:solidFill>
              </a:rPr>
              <a:t> definition=</a:t>
            </a:r>
          </a:p>
          <a:p>
            <a:r>
              <a:rPr lang="en-US" dirty="0"/>
              <a:t>    </a:t>
            </a:r>
            <a:r>
              <a:rPr lang="en-US" dirty="0">
                <a:solidFill>
                  <a:srgbClr val="C00000"/>
                </a:solidFill>
              </a:rPr>
              <a:t>@M loop_2d</a:t>
            </a:r>
            <a:endParaRPr lang="en-US" dirty="0">
              <a:solidFill>
                <a:schemeClr val="tx1"/>
              </a:solidFill>
            </a:endParaRPr>
          </a:p>
        </p:txBody>
      </p:sp>
      <p:sp>
        <p:nvSpPr>
          <p:cNvPr id="21" name="Rectangle 20">
            <a:extLst>
              <a:ext uri="{FF2B5EF4-FFF2-40B4-BE49-F238E27FC236}">
                <a16:creationId xmlns:a16="http://schemas.microsoft.com/office/drawing/2014/main" id="{B283C2D5-1C22-9746-B3D3-B0CB738A1774}"/>
              </a:ext>
            </a:extLst>
          </p:cNvPr>
          <p:cNvSpPr/>
          <p:nvPr/>
        </p:nvSpPr>
        <p:spPr>
          <a:xfrm>
            <a:off x="3065233" y="23750"/>
            <a:ext cx="3029180" cy="1565499"/>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Common definitions</a:t>
            </a:r>
          </a:p>
          <a:p>
            <a:r>
              <a:rPr lang="en-US" dirty="0">
                <a:solidFill>
                  <a:schemeClr val="tx1"/>
                </a:solidFill>
              </a:rPr>
              <a:t>[</a:t>
            </a:r>
            <a:r>
              <a:rPr lang="en-US" dirty="0">
                <a:solidFill>
                  <a:srgbClr val="C00000"/>
                </a:solidFill>
              </a:rPr>
              <a:t>loop_2d</a:t>
            </a:r>
            <a:r>
              <a:rPr lang="en-US" dirty="0">
                <a:solidFill>
                  <a:schemeClr val="tx1"/>
                </a:solidFill>
              </a:rPr>
              <a:t>]             [</a:t>
            </a:r>
            <a:r>
              <a:rPr lang="en-US" dirty="0">
                <a:solidFill>
                  <a:srgbClr val="C00000"/>
                </a:solidFill>
              </a:rPr>
              <a:t>endloop_2d</a:t>
            </a:r>
            <a:r>
              <a:rPr lang="en-US" dirty="0">
                <a:solidFill>
                  <a:schemeClr val="tx1"/>
                </a:solidFill>
              </a:rPr>
              <a:t>]</a:t>
            </a:r>
          </a:p>
          <a:p>
            <a:r>
              <a:rPr lang="en-US" dirty="0">
                <a:solidFill>
                  <a:schemeClr val="tx1"/>
                </a:solidFill>
              </a:rPr>
              <a:t>   definition=          definition=        </a:t>
            </a:r>
          </a:p>
          <a:p>
            <a:r>
              <a:rPr lang="en-US" dirty="0">
                <a:solidFill>
                  <a:schemeClr val="tx1"/>
                </a:solidFill>
              </a:rPr>
              <a:t>   do j=1,n                   end do</a:t>
            </a:r>
          </a:p>
          <a:p>
            <a:r>
              <a:rPr lang="en-US" dirty="0">
                <a:solidFill>
                  <a:schemeClr val="tx1"/>
                </a:solidFill>
              </a:rPr>
              <a:t>     do </a:t>
            </a:r>
            <a:r>
              <a:rPr lang="en-US" dirty="0" err="1">
                <a:solidFill>
                  <a:schemeClr val="tx1"/>
                </a:solidFill>
              </a:rPr>
              <a:t>i</a:t>
            </a:r>
            <a:r>
              <a:rPr lang="en-US" dirty="0">
                <a:solidFill>
                  <a:schemeClr val="tx1"/>
                </a:solidFill>
              </a:rPr>
              <a:t>=1,m            end do</a:t>
            </a:r>
          </a:p>
        </p:txBody>
      </p:sp>
      <p:sp>
        <p:nvSpPr>
          <p:cNvPr id="16" name="Rectangle 15">
            <a:extLst>
              <a:ext uri="{FF2B5EF4-FFF2-40B4-BE49-F238E27FC236}">
                <a16:creationId xmlns:a16="http://schemas.microsoft.com/office/drawing/2014/main" id="{64AAA85F-4C32-4ECC-78BC-686D639D3F7D}"/>
              </a:ext>
            </a:extLst>
          </p:cNvPr>
          <p:cNvSpPr/>
          <p:nvPr/>
        </p:nvSpPr>
        <p:spPr>
          <a:xfrm>
            <a:off x="9483047" y="97440"/>
            <a:ext cx="2651592" cy="2452225"/>
          </a:xfrm>
          <a:prstGeom prst="rect">
            <a:avLst/>
          </a:prstGeom>
          <a:solidFill>
            <a:schemeClr val="accent4">
              <a:lumMod val="50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pPr lvl="0"/>
            <a:r>
              <a:rPr lang="en-US" dirty="0" err="1">
                <a:solidFill>
                  <a:schemeClr val="bg1"/>
                </a:solidFill>
                <a:latin typeface="Arial" charset="0"/>
                <a:cs typeface="Arial" charset="0"/>
              </a:rPr>
              <a:t>cpu</a:t>
            </a:r>
            <a:r>
              <a:rPr lang="en-US" dirty="0">
                <a:solidFill>
                  <a:schemeClr val="bg1"/>
                </a:solidFill>
                <a:latin typeface="Arial" charset="0"/>
                <a:cs typeface="Arial" charset="0"/>
              </a:rPr>
              <a:t>-specific declaration</a:t>
            </a:r>
          </a:p>
          <a:p>
            <a:pPr lvl="0"/>
            <a:r>
              <a:rPr lang="en-US" dirty="0">
                <a:solidFill>
                  <a:schemeClr val="bg1"/>
                </a:solidFill>
                <a:latin typeface="Arial" charset="0"/>
                <a:cs typeface="Arial" charset="0"/>
              </a:rPr>
              <a:t>!!</a:t>
            </a:r>
            <a:r>
              <a:rPr lang="en-US" dirty="0" err="1">
                <a:solidFill>
                  <a:schemeClr val="bg1"/>
                </a:solidFill>
                <a:latin typeface="Arial" charset="0"/>
                <a:cs typeface="Arial" charset="0"/>
              </a:rPr>
              <a:t>omp</a:t>
            </a:r>
            <a:r>
              <a:rPr lang="en-US" dirty="0">
                <a:solidFill>
                  <a:schemeClr val="bg1"/>
                </a:solidFill>
                <a:latin typeface="Arial" charset="0"/>
                <a:cs typeface="Arial" charset="0"/>
              </a:rPr>
              <a:t> directive for CPU</a:t>
            </a:r>
          </a:p>
          <a:p>
            <a:pPr lvl="0"/>
            <a:r>
              <a:rPr lang="en-US" dirty="0">
                <a:solidFill>
                  <a:schemeClr val="bg1"/>
                </a:solidFill>
                <a:latin typeface="Arial" charset="0"/>
                <a:cs typeface="Arial" charset="0"/>
              </a:rPr>
              <a:t>do j=1,n</a:t>
            </a:r>
          </a:p>
          <a:p>
            <a:pPr lvl="0"/>
            <a:r>
              <a:rPr lang="en-US" dirty="0">
                <a:solidFill>
                  <a:schemeClr val="bg1"/>
                </a:solidFill>
                <a:latin typeface="Arial" charset="0"/>
                <a:cs typeface="Arial" charset="0"/>
              </a:rPr>
              <a:t>    do </a:t>
            </a:r>
            <a:r>
              <a:rPr lang="en-US" dirty="0" err="1">
                <a:solidFill>
                  <a:schemeClr val="bg1"/>
                </a:solidFill>
                <a:latin typeface="Arial" charset="0"/>
                <a:cs typeface="Arial" charset="0"/>
              </a:rPr>
              <a:t>i</a:t>
            </a:r>
            <a:r>
              <a:rPr lang="en-US" dirty="0">
                <a:solidFill>
                  <a:schemeClr val="bg1"/>
                </a:solidFill>
                <a:latin typeface="Arial" charset="0"/>
                <a:cs typeface="Arial" charset="0"/>
              </a:rPr>
              <a:t>=1,m</a:t>
            </a:r>
          </a:p>
          <a:p>
            <a:pPr lvl="0"/>
            <a:r>
              <a:rPr lang="en-US" dirty="0">
                <a:solidFill>
                  <a:schemeClr val="bg1"/>
                </a:solidFill>
                <a:latin typeface="Arial" charset="0"/>
                <a:cs typeface="Arial" charset="0"/>
              </a:rPr>
              <a:t>        …. computation 1</a:t>
            </a:r>
          </a:p>
          <a:p>
            <a:pPr lvl="0"/>
            <a:r>
              <a:rPr lang="en-US" dirty="0">
                <a:solidFill>
                  <a:schemeClr val="bg1"/>
                </a:solidFill>
                <a:latin typeface="Arial" charset="0"/>
                <a:cs typeface="Arial" charset="0"/>
              </a:rPr>
              <a:t>        …. computation 2</a:t>
            </a:r>
          </a:p>
          <a:p>
            <a:pPr lvl="0"/>
            <a:r>
              <a:rPr lang="en-US" dirty="0">
                <a:solidFill>
                  <a:schemeClr val="bg1"/>
                </a:solidFill>
                <a:latin typeface="Arial" charset="0"/>
                <a:cs typeface="Arial" charset="0"/>
              </a:rPr>
              <a:t>        …. computation 3</a:t>
            </a:r>
          </a:p>
          <a:p>
            <a:pPr lvl="0"/>
            <a:r>
              <a:rPr lang="en-US" dirty="0">
                <a:solidFill>
                  <a:schemeClr val="bg1"/>
                </a:solidFill>
                <a:latin typeface="Arial" charset="0"/>
                <a:cs typeface="Arial" charset="0"/>
              </a:rPr>
              <a:t>    end do</a:t>
            </a:r>
          </a:p>
          <a:p>
            <a:pPr lvl="0"/>
            <a:r>
              <a:rPr lang="en-US" dirty="0">
                <a:solidFill>
                  <a:schemeClr val="bg1"/>
                </a:solidFill>
                <a:latin typeface="Arial" charset="0"/>
                <a:cs typeface="Arial" charset="0"/>
              </a:rPr>
              <a:t> end do</a:t>
            </a:r>
          </a:p>
        </p:txBody>
      </p:sp>
      <p:cxnSp>
        <p:nvCxnSpPr>
          <p:cNvPr id="25" name="Straight Arrow Connector 24">
            <a:extLst>
              <a:ext uri="{FF2B5EF4-FFF2-40B4-BE49-F238E27FC236}">
                <a16:creationId xmlns:a16="http://schemas.microsoft.com/office/drawing/2014/main" id="{C2E546FF-549F-3174-8E9B-75A20AB6F3AF}"/>
              </a:ext>
            </a:extLst>
          </p:cNvPr>
          <p:cNvCxnSpPr>
            <a:cxnSpLocks/>
            <a:stCxn id="2" idx="3"/>
            <a:endCxn id="36" idx="1"/>
          </p:cNvCxnSpPr>
          <p:nvPr/>
        </p:nvCxnSpPr>
        <p:spPr>
          <a:xfrm flipV="1">
            <a:off x="7460960" y="1322634"/>
            <a:ext cx="454863" cy="91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A730AE47-D396-6645-9CCF-0FC4E835C085}"/>
              </a:ext>
            </a:extLst>
          </p:cNvPr>
          <p:cNvSpPr/>
          <p:nvPr/>
        </p:nvSpPr>
        <p:spPr>
          <a:xfrm>
            <a:off x="9489051" y="2606260"/>
            <a:ext cx="2651592" cy="4022235"/>
          </a:xfrm>
          <a:prstGeom prst="rect">
            <a:avLst/>
          </a:prstGeom>
          <a:solidFill>
            <a:schemeClr val="accent4">
              <a:lumMod val="50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dirty="0" err="1">
                <a:solidFill>
                  <a:schemeClr val="bg1"/>
                </a:solidFill>
                <a:latin typeface="Arial" panose="020B0604020202020204" pitchFamily="34" charset="0"/>
                <a:cs typeface="Arial" panose="020B0604020202020204" pitchFamily="34" charset="0"/>
              </a:rPr>
              <a:t>gpu</a:t>
            </a:r>
            <a:r>
              <a:rPr lang="en-US" dirty="0">
                <a:solidFill>
                  <a:schemeClr val="bg1"/>
                </a:solidFill>
                <a:latin typeface="Arial" panose="020B0604020202020204" pitchFamily="34" charset="0"/>
                <a:cs typeface="Arial" panose="020B0604020202020204" pitchFamily="34" charset="0"/>
              </a:rPr>
              <a:t>-specific declarations</a:t>
            </a:r>
          </a:p>
          <a:p>
            <a:r>
              <a:rPr lang="en-US" dirty="0">
                <a:solidFill>
                  <a:schemeClr val="bg1"/>
                </a:solidFill>
                <a:latin typeface="Arial" panose="020B0604020202020204" pitchFamily="34" charset="0"/>
                <a:cs typeface="Arial" panose="020B0604020202020204" pitchFamily="34" charset="0"/>
              </a:rPr>
              <a:t>!!</a:t>
            </a:r>
            <a:r>
              <a:rPr lang="en-US" dirty="0" err="1">
                <a:solidFill>
                  <a:schemeClr val="bg1"/>
                </a:solidFill>
                <a:latin typeface="Arial" panose="020B0604020202020204" pitchFamily="34" charset="0"/>
                <a:cs typeface="Arial" panose="020B0604020202020204" pitchFamily="34" charset="0"/>
              </a:rPr>
              <a:t>omp</a:t>
            </a:r>
            <a:r>
              <a:rPr lang="en-US" dirty="0">
                <a:solidFill>
                  <a:schemeClr val="bg1"/>
                </a:solidFill>
                <a:latin typeface="Arial" panose="020B0604020202020204" pitchFamily="34" charset="0"/>
                <a:cs typeface="Arial" panose="020B0604020202020204" pitchFamily="34" charset="0"/>
              </a:rPr>
              <a:t> directive1 for GPU</a:t>
            </a:r>
          </a:p>
          <a:p>
            <a:r>
              <a:rPr lang="en-US" dirty="0">
                <a:solidFill>
                  <a:schemeClr val="bg1"/>
                </a:solidFill>
                <a:latin typeface="Arial" panose="020B0604020202020204" pitchFamily="34" charset="0"/>
                <a:cs typeface="Arial" panose="020B0604020202020204" pitchFamily="34" charset="0"/>
              </a:rPr>
              <a:t>do j=1,n</a:t>
            </a:r>
          </a:p>
          <a:p>
            <a:r>
              <a:rPr lang="en-US" dirty="0">
                <a:solidFill>
                  <a:schemeClr val="bg1"/>
                </a:solidFill>
                <a:latin typeface="Arial" panose="020B0604020202020204" pitchFamily="34" charset="0"/>
                <a:cs typeface="Arial" panose="020B0604020202020204" pitchFamily="34" charset="0"/>
              </a:rPr>
              <a:t>    do </a:t>
            </a:r>
            <a:r>
              <a:rPr lang="en-US" dirty="0" err="1">
                <a:solidFill>
                  <a:schemeClr val="bg1"/>
                </a:solidFill>
                <a:latin typeface="Arial" panose="020B0604020202020204" pitchFamily="34" charset="0"/>
                <a:cs typeface="Arial" panose="020B0604020202020204" pitchFamily="34" charset="0"/>
              </a:rPr>
              <a:t>i</a:t>
            </a:r>
            <a:r>
              <a:rPr lang="en-US" dirty="0">
                <a:solidFill>
                  <a:schemeClr val="bg1"/>
                </a:solidFill>
                <a:latin typeface="Arial" panose="020B0604020202020204" pitchFamily="34" charset="0"/>
                <a:cs typeface="Arial" panose="020B0604020202020204" pitchFamily="34" charset="0"/>
              </a:rPr>
              <a:t>=1,m</a:t>
            </a:r>
          </a:p>
          <a:p>
            <a:r>
              <a:rPr lang="en-US" dirty="0">
                <a:solidFill>
                  <a:schemeClr val="bg1"/>
                </a:solidFill>
                <a:latin typeface="Arial" panose="020B0604020202020204" pitchFamily="34" charset="0"/>
                <a:cs typeface="Arial" panose="020B0604020202020204" pitchFamily="34" charset="0"/>
              </a:rPr>
              <a:t>        …. computation 1</a:t>
            </a:r>
          </a:p>
          <a:p>
            <a:r>
              <a:rPr lang="en-US" dirty="0">
                <a:solidFill>
                  <a:schemeClr val="bg1"/>
                </a:solidFill>
                <a:latin typeface="Arial" panose="020B0604020202020204" pitchFamily="34" charset="0"/>
                <a:cs typeface="Arial" panose="020B0604020202020204" pitchFamily="34" charset="0"/>
              </a:rPr>
              <a:t>        …. computation 2</a:t>
            </a:r>
          </a:p>
          <a:p>
            <a:r>
              <a:rPr lang="en-US" dirty="0">
                <a:solidFill>
                  <a:schemeClr val="bg1"/>
                </a:solidFill>
                <a:latin typeface="Arial" panose="020B0604020202020204" pitchFamily="34" charset="0"/>
                <a:cs typeface="Arial" panose="020B0604020202020204" pitchFamily="34" charset="0"/>
              </a:rPr>
              <a:t>    end do</a:t>
            </a:r>
          </a:p>
          <a:p>
            <a:r>
              <a:rPr lang="en-US" dirty="0">
                <a:solidFill>
                  <a:schemeClr val="bg1"/>
                </a:solidFill>
                <a:latin typeface="Arial" panose="020B0604020202020204" pitchFamily="34" charset="0"/>
                <a:cs typeface="Arial" panose="020B0604020202020204" pitchFamily="34" charset="0"/>
              </a:rPr>
              <a:t>end do</a:t>
            </a:r>
          </a:p>
          <a:p>
            <a:r>
              <a:rPr lang="en-US" dirty="0">
                <a:solidFill>
                  <a:schemeClr val="bg1"/>
                </a:solidFill>
                <a:latin typeface="Arial" panose="020B0604020202020204" pitchFamily="34" charset="0"/>
                <a:cs typeface="Arial" panose="020B0604020202020204" pitchFamily="34" charset="0"/>
              </a:rPr>
              <a:t>!!</a:t>
            </a:r>
            <a:r>
              <a:rPr lang="en-US" dirty="0" err="1">
                <a:solidFill>
                  <a:schemeClr val="bg1"/>
                </a:solidFill>
                <a:latin typeface="Arial" panose="020B0604020202020204" pitchFamily="34" charset="0"/>
                <a:cs typeface="Arial" panose="020B0604020202020204" pitchFamily="34" charset="0"/>
              </a:rPr>
              <a:t>omp</a:t>
            </a:r>
            <a:r>
              <a:rPr lang="en-US" dirty="0">
                <a:solidFill>
                  <a:schemeClr val="bg1"/>
                </a:solidFill>
                <a:latin typeface="Arial" panose="020B0604020202020204" pitchFamily="34" charset="0"/>
                <a:cs typeface="Arial" panose="020B0604020202020204" pitchFamily="34" charset="0"/>
              </a:rPr>
              <a:t> directive2 for GPU</a:t>
            </a:r>
          </a:p>
          <a:p>
            <a:r>
              <a:rPr lang="en-US" dirty="0">
                <a:solidFill>
                  <a:schemeClr val="bg1"/>
                </a:solidFill>
                <a:latin typeface="Arial" panose="020B0604020202020204" pitchFamily="34" charset="0"/>
                <a:cs typeface="Arial" panose="020B0604020202020204" pitchFamily="34" charset="0"/>
              </a:rPr>
              <a:t>do j=1,n</a:t>
            </a:r>
          </a:p>
          <a:p>
            <a:r>
              <a:rPr lang="en-US" dirty="0">
                <a:solidFill>
                  <a:schemeClr val="bg1"/>
                </a:solidFill>
                <a:latin typeface="Arial" panose="020B0604020202020204" pitchFamily="34" charset="0"/>
                <a:cs typeface="Arial" panose="020B0604020202020204" pitchFamily="34" charset="0"/>
              </a:rPr>
              <a:t>    do </a:t>
            </a:r>
            <a:r>
              <a:rPr lang="en-US" dirty="0" err="1">
                <a:solidFill>
                  <a:schemeClr val="bg1"/>
                </a:solidFill>
                <a:latin typeface="Arial" panose="020B0604020202020204" pitchFamily="34" charset="0"/>
                <a:cs typeface="Arial" panose="020B0604020202020204" pitchFamily="34" charset="0"/>
              </a:rPr>
              <a:t>i</a:t>
            </a:r>
            <a:r>
              <a:rPr lang="en-US" dirty="0">
                <a:solidFill>
                  <a:schemeClr val="bg1"/>
                </a:solidFill>
                <a:latin typeface="Arial" panose="020B0604020202020204" pitchFamily="34" charset="0"/>
                <a:cs typeface="Arial" panose="020B0604020202020204" pitchFamily="34" charset="0"/>
              </a:rPr>
              <a:t>=1,m</a:t>
            </a:r>
          </a:p>
          <a:p>
            <a:r>
              <a:rPr lang="en-US" dirty="0">
                <a:solidFill>
                  <a:schemeClr val="bg1"/>
                </a:solidFill>
                <a:latin typeface="Arial" panose="020B0604020202020204" pitchFamily="34" charset="0"/>
                <a:cs typeface="Arial" panose="020B0604020202020204" pitchFamily="34" charset="0"/>
              </a:rPr>
              <a:t>        …. computation 3</a:t>
            </a:r>
          </a:p>
          <a:p>
            <a:r>
              <a:rPr lang="en-US" dirty="0">
                <a:solidFill>
                  <a:schemeClr val="bg1"/>
                </a:solidFill>
                <a:latin typeface="Arial" panose="020B0604020202020204" pitchFamily="34" charset="0"/>
                <a:cs typeface="Arial" panose="020B0604020202020204" pitchFamily="34" charset="0"/>
              </a:rPr>
              <a:t>    end do</a:t>
            </a:r>
          </a:p>
          <a:p>
            <a:r>
              <a:rPr lang="en-US" dirty="0">
                <a:solidFill>
                  <a:schemeClr val="bg1"/>
                </a:solidFill>
                <a:latin typeface="Arial" panose="020B0604020202020204" pitchFamily="34" charset="0"/>
                <a:cs typeface="Arial" panose="020B0604020202020204" pitchFamily="34" charset="0"/>
              </a:rPr>
              <a:t> end do</a:t>
            </a:r>
            <a:endParaRPr lang="en-US" dirty="0">
              <a:solidFill>
                <a:schemeClr val="bg1"/>
              </a:solidFill>
            </a:endParaRPr>
          </a:p>
        </p:txBody>
      </p:sp>
      <p:cxnSp>
        <p:nvCxnSpPr>
          <p:cNvPr id="27" name="Straight Arrow Connector 26">
            <a:extLst>
              <a:ext uri="{FF2B5EF4-FFF2-40B4-BE49-F238E27FC236}">
                <a16:creationId xmlns:a16="http://schemas.microsoft.com/office/drawing/2014/main" id="{7FB0ADC1-2086-5D48-1344-62F02D8D3B43}"/>
              </a:ext>
            </a:extLst>
          </p:cNvPr>
          <p:cNvCxnSpPr>
            <a:cxnSpLocks/>
            <a:stCxn id="35" idx="0"/>
            <a:endCxn id="36" idx="2"/>
          </p:cNvCxnSpPr>
          <p:nvPr/>
        </p:nvCxnSpPr>
        <p:spPr>
          <a:xfrm flipH="1" flipV="1">
            <a:off x="8516326" y="1907169"/>
            <a:ext cx="423" cy="629505"/>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4927CE-D76E-3D84-37F3-C2FA1B032155}"/>
              </a:ext>
            </a:extLst>
          </p:cNvPr>
          <p:cNvCxnSpPr>
            <a:cxnSpLocks/>
            <a:stCxn id="36" idx="3"/>
            <a:endCxn id="16" idx="1"/>
          </p:cNvCxnSpPr>
          <p:nvPr/>
        </p:nvCxnSpPr>
        <p:spPr>
          <a:xfrm>
            <a:off x="9116828" y="1322634"/>
            <a:ext cx="366219" cy="91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6AB65ED-27A5-8AE1-EDC5-4786B25B9D4E}"/>
              </a:ext>
            </a:extLst>
          </p:cNvPr>
          <p:cNvCxnSpPr>
            <a:cxnSpLocks/>
            <a:stCxn id="34" idx="3"/>
            <a:endCxn id="37" idx="1"/>
          </p:cNvCxnSpPr>
          <p:nvPr/>
        </p:nvCxnSpPr>
        <p:spPr>
          <a:xfrm>
            <a:off x="7460961" y="5151228"/>
            <a:ext cx="464008"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1186300-6288-50AC-EB77-4F92777450AC}"/>
              </a:ext>
            </a:extLst>
          </p:cNvPr>
          <p:cNvCxnSpPr>
            <a:cxnSpLocks/>
            <a:stCxn id="35" idx="2"/>
            <a:endCxn id="37" idx="0"/>
          </p:cNvCxnSpPr>
          <p:nvPr/>
        </p:nvCxnSpPr>
        <p:spPr>
          <a:xfrm>
            <a:off x="8516748" y="3705744"/>
            <a:ext cx="8723" cy="86094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3230798-F894-85B8-99FF-2AA118CA03D1}"/>
              </a:ext>
            </a:extLst>
          </p:cNvPr>
          <p:cNvCxnSpPr>
            <a:cxnSpLocks/>
            <a:stCxn id="37" idx="3"/>
          </p:cNvCxnSpPr>
          <p:nvPr/>
        </p:nvCxnSpPr>
        <p:spPr>
          <a:xfrm>
            <a:off x="9125973" y="5151228"/>
            <a:ext cx="357073"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117D9AAA-82B8-3EED-18A0-6803DBB3956F}"/>
              </a:ext>
            </a:extLst>
          </p:cNvPr>
          <p:cNvSpPr/>
          <p:nvPr/>
        </p:nvSpPr>
        <p:spPr>
          <a:xfrm>
            <a:off x="6222900" y="739017"/>
            <a:ext cx="1238061" cy="1169070"/>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CPU specific definitions</a:t>
            </a:r>
          </a:p>
        </p:txBody>
      </p:sp>
      <p:sp>
        <p:nvSpPr>
          <p:cNvPr id="3" name="TextBox 2">
            <a:extLst>
              <a:ext uri="{FF2B5EF4-FFF2-40B4-BE49-F238E27FC236}">
                <a16:creationId xmlns:a16="http://schemas.microsoft.com/office/drawing/2014/main" id="{A2AF0B07-2851-2431-9F8C-D2406BC2A839}"/>
              </a:ext>
            </a:extLst>
          </p:cNvPr>
          <p:cNvSpPr txBox="1"/>
          <p:nvPr/>
        </p:nvSpPr>
        <p:spPr>
          <a:xfrm>
            <a:off x="6547684" y="4263173"/>
            <a:ext cx="184683" cy="369236"/>
          </a:xfrm>
          <a:prstGeom prst="rect">
            <a:avLst/>
          </a:prstGeom>
          <a:noFill/>
        </p:spPr>
        <p:txBody>
          <a:bodyPr wrap="none" rtlCol="0">
            <a:spAutoFit/>
          </a:bodyPr>
          <a:lstStyle/>
          <a:p>
            <a:endParaRPr lang="en-US" dirty="0"/>
          </a:p>
        </p:txBody>
      </p:sp>
      <p:sp>
        <p:nvSpPr>
          <p:cNvPr id="34" name="Rectangle 33">
            <a:extLst>
              <a:ext uri="{FF2B5EF4-FFF2-40B4-BE49-F238E27FC236}">
                <a16:creationId xmlns:a16="http://schemas.microsoft.com/office/drawing/2014/main" id="{E10A4501-8B12-FD45-5AD3-2592E619C567}"/>
              </a:ext>
            </a:extLst>
          </p:cNvPr>
          <p:cNvSpPr/>
          <p:nvPr/>
        </p:nvSpPr>
        <p:spPr>
          <a:xfrm>
            <a:off x="6222900" y="4566693"/>
            <a:ext cx="1238061" cy="1169070"/>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 specific definitions</a:t>
            </a:r>
          </a:p>
        </p:txBody>
      </p:sp>
      <p:sp>
        <p:nvSpPr>
          <p:cNvPr id="35" name="Rectangle 34">
            <a:extLst>
              <a:ext uri="{FF2B5EF4-FFF2-40B4-BE49-F238E27FC236}">
                <a16:creationId xmlns:a16="http://schemas.microsoft.com/office/drawing/2014/main" id="{F8FFB2AF-4FE0-C781-79DF-D46B0270151E}"/>
              </a:ext>
            </a:extLst>
          </p:cNvPr>
          <p:cNvSpPr/>
          <p:nvPr/>
        </p:nvSpPr>
        <p:spPr>
          <a:xfrm>
            <a:off x="7810876" y="2536674"/>
            <a:ext cx="1411744" cy="116907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Common definitions</a:t>
            </a:r>
          </a:p>
        </p:txBody>
      </p:sp>
      <p:sp>
        <p:nvSpPr>
          <p:cNvPr id="36" name="Rectangle 35">
            <a:extLst>
              <a:ext uri="{FF2B5EF4-FFF2-40B4-BE49-F238E27FC236}">
                <a16:creationId xmlns:a16="http://schemas.microsoft.com/office/drawing/2014/main" id="{AA41DFC3-2895-BB06-30E1-963E9CB46CA2}"/>
              </a:ext>
            </a:extLst>
          </p:cNvPr>
          <p:cNvSpPr/>
          <p:nvPr/>
        </p:nvSpPr>
        <p:spPr>
          <a:xfrm>
            <a:off x="7915823" y="738099"/>
            <a:ext cx="1201005" cy="116907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Macro-processor</a:t>
            </a:r>
          </a:p>
        </p:txBody>
      </p:sp>
      <p:sp>
        <p:nvSpPr>
          <p:cNvPr id="37" name="Rectangle 36">
            <a:extLst>
              <a:ext uri="{FF2B5EF4-FFF2-40B4-BE49-F238E27FC236}">
                <a16:creationId xmlns:a16="http://schemas.microsoft.com/office/drawing/2014/main" id="{AAA7F279-5012-E195-9B3B-F7799570F431}"/>
              </a:ext>
            </a:extLst>
          </p:cNvPr>
          <p:cNvSpPr/>
          <p:nvPr/>
        </p:nvSpPr>
        <p:spPr>
          <a:xfrm>
            <a:off x="7924968" y="4566693"/>
            <a:ext cx="1201005" cy="116907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Macro-processor</a:t>
            </a:r>
          </a:p>
        </p:txBody>
      </p:sp>
    </p:spTree>
    <p:extLst>
      <p:ext uri="{BB962C8B-B14F-4D97-AF65-F5344CB8AC3E}">
        <p14:creationId xmlns:p14="http://schemas.microsoft.com/office/powerpoint/2010/main" val="384462568"/>
      </p:ext>
    </p:extLst>
  </p:cSld>
  <p:clrMapOvr>
    <a:masterClrMapping/>
  </p:clrMapOvr>
  <mc:AlternateContent xmlns:mc="http://schemas.openxmlformats.org/markup-compatibility/2006" xmlns:p14="http://schemas.microsoft.com/office/powerpoint/2010/main">
    <mc:Choice Requires="p14">
      <p:transition spd="slow" p14:dur="2000" advTm="129696"/>
    </mc:Choice>
    <mc:Fallback xmlns="">
      <p:transition spd="slow" advTm="129696"/>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0C9C02F-985B-B693-1D83-44493EF88EA9}"/>
              </a:ext>
            </a:extLst>
          </p:cNvPr>
          <p:cNvSpPr>
            <a:spLocks noGrp="1"/>
          </p:cNvSpPr>
          <p:nvPr>
            <p:ph sz="quarter" idx="14"/>
          </p:nvPr>
        </p:nvSpPr>
        <p:spPr>
          <a:xfrm>
            <a:off x="7557790" y="1493049"/>
            <a:ext cx="4235231" cy="4843519"/>
          </a:xfrm>
        </p:spPr>
        <p:txBody>
          <a:bodyPr/>
          <a:lstStyle/>
          <a:p>
            <a:r>
              <a:rPr lang="en-US" dirty="0"/>
              <a:t>CG-Kit generates Control Flow Graph by reading user input (recipe).</a:t>
            </a:r>
          </a:p>
          <a:p>
            <a:pPr lvl="1"/>
            <a:r>
              <a:rPr lang="en-US" dirty="0"/>
              <a:t>Represented as a directed acyclic graph (DAG)</a:t>
            </a:r>
          </a:p>
          <a:p>
            <a:pPr lvl="1"/>
            <a:r>
              <a:rPr lang="en-US" dirty="0"/>
              <a:t>Each node represents user-defined code generation operations.</a:t>
            </a:r>
          </a:p>
          <a:p>
            <a:pPr lvl="2"/>
            <a:r>
              <a:rPr lang="en-US" dirty="0"/>
              <a:t>PST</a:t>
            </a:r>
          </a:p>
          <a:p>
            <a:pPr lvl="1"/>
            <a:r>
              <a:rPr lang="en-US" dirty="0"/>
              <a:t>Each edge describes dependencies between nodes.</a:t>
            </a:r>
          </a:p>
        </p:txBody>
      </p:sp>
      <p:pic>
        <p:nvPicPr>
          <p:cNvPr id="5" name="Picture 4">
            <a:extLst>
              <a:ext uri="{FF2B5EF4-FFF2-40B4-BE49-F238E27FC236}">
                <a16:creationId xmlns:a16="http://schemas.microsoft.com/office/drawing/2014/main" id="{15FE38B4-0F00-ACE0-CC39-5D0ADE264377}"/>
              </a:ext>
            </a:extLst>
          </p:cNvPr>
          <p:cNvPicPr>
            <a:picLocks noChangeAspect="1"/>
          </p:cNvPicPr>
          <p:nvPr/>
        </p:nvPicPr>
        <p:blipFill>
          <a:blip r:embed="rId2"/>
          <a:stretch>
            <a:fillRect/>
          </a:stretch>
        </p:blipFill>
        <p:spPr>
          <a:xfrm>
            <a:off x="395804" y="3650824"/>
            <a:ext cx="7161986" cy="2685744"/>
          </a:xfrm>
          <a:prstGeom prst="rect">
            <a:avLst/>
          </a:prstGeom>
        </p:spPr>
      </p:pic>
      <p:sp>
        <p:nvSpPr>
          <p:cNvPr id="7" name="Rounded Rectangle 6">
            <a:extLst>
              <a:ext uri="{FF2B5EF4-FFF2-40B4-BE49-F238E27FC236}">
                <a16:creationId xmlns:a16="http://schemas.microsoft.com/office/drawing/2014/main" id="{AEBD3517-D6E3-047C-FBD9-4134F5A47FC3}"/>
              </a:ext>
            </a:extLst>
          </p:cNvPr>
          <p:cNvSpPr/>
          <p:nvPr/>
        </p:nvSpPr>
        <p:spPr>
          <a:xfrm>
            <a:off x="828840" y="1081481"/>
            <a:ext cx="5265572" cy="2219890"/>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map work to computational targets</a:t>
            </a:r>
          </a:p>
          <a:p>
            <a:pPr marL="342797" indent="-342797">
              <a:lnSpc>
                <a:spcPct val="90000"/>
              </a:lnSpc>
              <a:buFont typeface="Arial" panose="020B0604020202020204" pitchFamily="34" charset="0"/>
              <a:buChar char="•"/>
            </a:pPr>
            <a:r>
              <a:rPr lang="en-US" sz="1999" dirty="0">
                <a:solidFill>
                  <a:schemeClr val="bg1"/>
                </a:solidFill>
              </a:rPr>
              <a:t>Figuring out the map</a:t>
            </a:r>
          </a:p>
          <a:p>
            <a:pPr marL="799860" lvl="1" indent="-342797">
              <a:lnSpc>
                <a:spcPct val="90000"/>
              </a:lnSpc>
              <a:buFont typeface="Arial" panose="020B0604020202020204" pitchFamily="34" charset="0"/>
              <a:buChar char="•"/>
            </a:pPr>
            <a:r>
              <a:rPr lang="en-US" sz="1999" dirty="0">
                <a:solidFill>
                  <a:schemeClr val="bg1"/>
                </a:solidFill>
              </a:rPr>
              <a:t>Expression of dependencies </a:t>
            </a:r>
          </a:p>
          <a:p>
            <a:pPr marL="799860" lvl="1" indent="-342797">
              <a:lnSpc>
                <a:spcPct val="90000"/>
              </a:lnSpc>
              <a:buFont typeface="Arial" panose="020B0604020202020204" pitchFamily="34" charset="0"/>
              <a:buChar char="•"/>
            </a:pPr>
            <a:r>
              <a:rPr lang="en-US" sz="1999" dirty="0">
                <a:solidFill>
                  <a:schemeClr val="bg1"/>
                </a:solidFill>
              </a:rPr>
              <a:t>Cost models</a:t>
            </a:r>
          </a:p>
          <a:p>
            <a:pPr marL="342797" indent="-342797">
              <a:lnSpc>
                <a:spcPct val="90000"/>
              </a:lnSpc>
              <a:buFont typeface="Arial" panose="020B0604020202020204" pitchFamily="34" charset="0"/>
              <a:buChar char="•"/>
            </a:pPr>
            <a:r>
              <a:rPr lang="en-US" sz="1999" dirty="0">
                <a:solidFill>
                  <a:schemeClr val="bg1"/>
                </a:solidFill>
              </a:rPr>
              <a:t>Expressing the map</a:t>
            </a:r>
          </a:p>
        </p:txBody>
      </p:sp>
      <p:sp>
        <p:nvSpPr>
          <p:cNvPr id="10" name="Title 1">
            <a:extLst>
              <a:ext uri="{FF2B5EF4-FFF2-40B4-BE49-F238E27FC236}">
                <a16:creationId xmlns:a16="http://schemas.microsoft.com/office/drawing/2014/main" id="{67CD1423-4C12-EB4D-9C88-408F9E478AE7}"/>
              </a:ext>
            </a:extLst>
          </p:cNvPr>
          <p:cNvSpPr txBox="1">
            <a:spLocks/>
          </p:cNvSpPr>
          <p:nvPr/>
        </p:nvSpPr>
        <p:spPr bwMode="auto">
          <a:xfrm>
            <a:off x="792273" y="101609"/>
            <a:ext cx="10512862" cy="1325218"/>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Autofit/>
          </a:bodyPr>
          <a:lstStyle>
            <a:lvl1pPr algn="l" rtl="0" eaLnBrk="1" fontAlgn="base" hangingPunct="1">
              <a:lnSpc>
                <a:spcPct val="90000"/>
              </a:lnSpc>
              <a:spcBef>
                <a:spcPct val="0"/>
              </a:spcBef>
              <a:spcAft>
                <a:spcPct val="0"/>
              </a:spcAft>
              <a:defRPr sz="3000" b="0" kern="1200">
                <a:solidFill>
                  <a:schemeClr val="tx1"/>
                </a:solidFill>
                <a:latin typeface="+mj-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sz="2800" b="1" dirty="0"/>
              <a:t>Mechanisms Needed by the Code </a:t>
            </a:r>
          </a:p>
        </p:txBody>
      </p:sp>
    </p:spTree>
    <p:extLst>
      <p:ext uri="{BB962C8B-B14F-4D97-AF65-F5344CB8AC3E}">
        <p14:creationId xmlns:p14="http://schemas.microsoft.com/office/powerpoint/2010/main" val="11873782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a:xfrm>
            <a:off x="792273" y="101609"/>
            <a:ext cx="10512862" cy="1325218"/>
          </a:xfrm>
        </p:spPr>
        <p:txBody>
          <a:bodyPr/>
          <a:lstStyle/>
          <a:p>
            <a:r>
              <a:rPr lang="en-US" dirty="0"/>
              <a:t>Mechanisms Needed by the Code </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761316" y="882849"/>
            <a:ext cx="5265572" cy="2219890"/>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move work and data to computational targets</a:t>
            </a:r>
          </a:p>
          <a:p>
            <a:pPr marL="342797" indent="-342797">
              <a:lnSpc>
                <a:spcPct val="90000"/>
              </a:lnSpc>
              <a:buFont typeface="Arial" panose="020B0604020202020204" pitchFamily="34" charset="0"/>
              <a:buChar char="•"/>
            </a:pPr>
            <a:r>
              <a:rPr lang="en-US" sz="1999" dirty="0">
                <a:solidFill>
                  <a:schemeClr val="bg1"/>
                </a:solidFill>
              </a:rPr>
              <a:t>Moving between devices</a:t>
            </a:r>
          </a:p>
          <a:p>
            <a:pPr marL="799860" lvl="1" indent="-342797">
              <a:lnSpc>
                <a:spcPct val="90000"/>
              </a:lnSpc>
              <a:buFont typeface="Arial" panose="020B0604020202020204" pitchFamily="34" charset="0"/>
              <a:buChar char="•"/>
            </a:pPr>
            <a:r>
              <a:rPr lang="en-US" sz="1999" dirty="0">
                <a:solidFill>
                  <a:schemeClr val="bg1"/>
                </a:solidFill>
              </a:rPr>
              <a:t>Launching work at the destination</a:t>
            </a:r>
          </a:p>
          <a:p>
            <a:pPr marL="799860" lvl="1" indent="-342797">
              <a:lnSpc>
                <a:spcPct val="90000"/>
              </a:lnSpc>
              <a:buFont typeface="Arial" panose="020B0604020202020204" pitchFamily="34" charset="0"/>
              <a:buChar char="•"/>
            </a:pPr>
            <a:r>
              <a:rPr lang="en-US" sz="1999" dirty="0">
                <a:solidFill>
                  <a:schemeClr val="bg1"/>
                </a:solidFill>
              </a:rPr>
              <a:t>Hiding latency of movement</a:t>
            </a:r>
          </a:p>
          <a:p>
            <a:pPr marL="342797" indent="-342797">
              <a:lnSpc>
                <a:spcPct val="90000"/>
              </a:lnSpc>
              <a:buFont typeface="Arial" panose="020B0604020202020204" pitchFamily="34" charset="0"/>
              <a:buChar char="•"/>
            </a:pPr>
            <a:r>
              <a:rPr lang="en-US" sz="1999" dirty="0">
                <a:solidFill>
                  <a:schemeClr val="bg1"/>
                </a:solidFill>
              </a:rPr>
              <a:t>Moving data off-node </a:t>
            </a:r>
          </a:p>
        </p:txBody>
      </p:sp>
      <p:sp>
        <p:nvSpPr>
          <p:cNvPr id="20" name="Title 1">
            <a:extLst>
              <a:ext uri="{FF2B5EF4-FFF2-40B4-BE49-F238E27FC236}">
                <a16:creationId xmlns:a16="http://schemas.microsoft.com/office/drawing/2014/main" id="{7C49023E-21CA-F4E0-9C36-3FAD51CCC9D2}"/>
              </a:ext>
            </a:extLst>
          </p:cNvPr>
          <p:cNvSpPr txBox="1">
            <a:spLocks/>
          </p:cNvSpPr>
          <p:nvPr/>
        </p:nvSpPr>
        <p:spPr>
          <a:xfrm>
            <a:off x="2190179" y="5688105"/>
            <a:ext cx="5915389" cy="622722"/>
          </a:xfrm>
          <a:prstGeom prst="rect">
            <a:avLst/>
          </a:prstGeom>
        </p:spPr>
        <p:txBody>
          <a:bodyPr vert="horz" lIns="91416" tIns="45708" rIns="91416" bIns="45708" rtlCol="0" anchor="ctr">
            <a:normAutofit fontScale="975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endParaRPr lang="en-US" sz="3999" dirty="0"/>
          </a:p>
        </p:txBody>
      </p:sp>
      <p:sp>
        <p:nvSpPr>
          <p:cNvPr id="22" name="Text Placeholder 2">
            <a:extLst>
              <a:ext uri="{FF2B5EF4-FFF2-40B4-BE49-F238E27FC236}">
                <a16:creationId xmlns:a16="http://schemas.microsoft.com/office/drawing/2014/main" id="{0C752548-2228-3661-03A3-D07DB1A1BA5D}"/>
              </a:ext>
            </a:extLst>
          </p:cNvPr>
          <p:cNvSpPr txBox="1">
            <a:spLocks/>
          </p:cNvSpPr>
          <p:nvPr/>
        </p:nvSpPr>
        <p:spPr>
          <a:xfrm>
            <a:off x="696151" y="981829"/>
            <a:ext cx="8377269" cy="375080"/>
          </a:xfrm>
          <a:prstGeom prst="rect">
            <a:avLst/>
          </a:prstGeom>
        </p:spPr>
        <p:txBody>
          <a:bodyPr vert="horz" lIns="91416" tIns="45708" rIns="91416" bIns="45708" rtlCol="0">
            <a:normAutofit fontScale="77500" lnSpcReduction="20000"/>
          </a:bodyPr>
          <a:lstStyle>
            <a:lvl1pPr marL="342900" indent="-342900" algn="l" defTabSz="914400" rtl="0" eaLnBrk="1" latinLnBrk="0" hangingPunct="1">
              <a:spcBef>
                <a:spcPct val="20000"/>
              </a:spcBef>
              <a:buFont typeface="Wingdings" charset="2"/>
              <a:buChar char="q"/>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Wingdings" charset="2"/>
              <a:buChar char="q"/>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Wingdings" charset="2"/>
              <a:buChar char="q"/>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endParaRPr lang="en-US" sz="2799" dirty="0"/>
          </a:p>
        </p:txBody>
      </p:sp>
      <p:sp>
        <p:nvSpPr>
          <p:cNvPr id="32" name="Rectangle 31">
            <a:extLst>
              <a:ext uri="{FF2B5EF4-FFF2-40B4-BE49-F238E27FC236}">
                <a16:creationId xmlns:a16="http://schemas.microsoft.com/office/drawing/2014/main" id="{1787DCFF-4CB0-5C59-C050-2F7469BE0304}"/>
              </a:ext>
            </a:extLst>
          </p:cNvPr>
          <p:cNvSpPr/>
          <p:nvPr/>
        </p:nvSpPr>
        <p:spPr>
          <a:xfrm>
            <a:off x="6284862" y="1349505"/>
            <a:ext cx="5142645" cy="13162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Milhoja</a:t>
            </a:r>
            <a:r>
              <a:rPr lang="en-US" dirty="0"/>
              <a:t>: A Domain Specific Runtime </a:t>
            </a:r>
          </a:p>
          <a:p>
            <a:pPr algn="ctr"/>
            <a:r>
              <a:rPr lang="en-US" dirty="0"/>
              <a:t>Capitalizes on the control flow remaining the same from one timestep to next – static analysis during application configuration</a:t>
            </a:r>
          </a:p>
        </p:txBody>
      </p:sp>
      <p:grpSp>
        <p:nvGrpSpPr>
          <p:cNvPr id="39" name="Group 38">
            <a:extLst>
              <a:ext uri="{FF2B5EF4-FFF2-40B4-BE49-F238E27FC236}">
                <a16:creationId xmlns:a16="http://schemas.microsoft.com/office/drawing/2014/main" id="{42CEDE91-A20E-A187-8A87-CC6AECEF3FBF}"/>
              </a:ext>
            </a:extLst>
          </p:cNvPr>
          <p:cNvGrpSpPr/>
          <p:nvPr/>
        </p:nvGrpSpPr>
        <p:grpSpPr>
          <a:xfrm>
            <a:off x="2190179" y="2974875"/>
            <a:ext cx="6961102" cy="2949496"/>
            <a:chOff x="1757563" y="2916448"/>
            <a:chExt cx="6192008" cy="2514558"/>
          </a:xfrm>
        </p:grpSpPr>
        <p:pic>
          <p:nvPicPr>
            <p:cNvPr id="40" name="Picture 5" descr="Picture 5">
              <a:extLst>
                <a:ext uri="{FF2B5EF4-FFF2-40B4-BE49-F238E27FC236}">
                  <a16:creationId xmlns:a16="http://schemas.microsoft.com/office/drawing/2014/main" id="{9BCC0E9B-C148-94BC-461C-C3376B3B39B6}"/>
                </a:ext>
              </a:extLst>
            </p:cNvPr>
            <p:cNvPicPr>
              <a:picLocks noChangeAspect="1"/>
            </p:cNvPicPr>
            <p:nvPr/>
          </p:nvPicPr>
          <p:blipFill>
            <a:blip r:embed="rId2"/>
            <a:stretch>
              <a:fillRect/>
            </a:stretch>
          </p:blipFill>
          <p:spPr>
            <a:xfrm>
              <a:off x="5739302" y="2916448"/>
              <a:ext cx="1150803" cy="1854823"/>
            </a:xfrm>
            <a:prstGeom prst="rect">
              <a:avLst/>
            </a:prstGeom>
            <a:ln w="12700">
              <a:miter lim="400000"/>
            </a:ln>
          </p:spPr>
        </p:pic>
        <p:sp>
          <p:nvSpPr>
            <p:cNvPr id="41" name="TextBox 40">
              <a:extLst>
                <a:ext uri="{FF2B5EF4-FFF2-40B4-BE49-F238E27FC236}">
                  <a16:creationId xmlns:a16="http://schemas.microsoft.com/office/drawing/2014/main" id="{58F088BD-EF29-DAE2-DFDE-A9B0728B9371}"/>
                </a:ext>
              </a:extLst>
            </p:cNvPr>
            <p:cNvSpPr txBox="1"/>
            <p:nvPr/>
          </p:nvSpPr>
          <p:spPr>
            <a:xfrm>
              <a:off x="1757563" y="3482394"/>
              <a:ext cx="2228546" cy="10230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p>
              <a:pPr>
                <a:defRPr sz="2100"/>
              </a:pPr>
              <a:r>
                <a:rPr sz="1200" dirty="0"/>
                <a:t>Distributors</a:t>
              </a:r>
            </a:p>
            <a:p>
              <a:pPr marL="285897" indent="-285897">
                <a:buSzPct val="100000"/>
                <a:buFont typeface="Arial"/>
                <a:buChar char="•"/>
                <a:defRPr sz="1600"/>
              </a:pPr>
              <a:r>
                <a:rPr sz="1200" dirty="0"/>
                <a:t>Use block iterator</a:t>
              </a:r>
            </a:p>
            <a:p>
              <a:pPr marL="285897" indent="-285897">
                <a:buSzPct val="100000"/>
                <a:buFont typeface="Arial"/>
                <a:buChar char="•"/>
                <a:defRPr sz="1600"/>
              </a:pPr>
              <a:r>
                <a:rPr sz="1200" dirty="0"/>
                <a:t>Aggregate blocks if necessary</a:t>
              </a:r>
            </a:p>
            <a:p>
              <a:pPr marL="285897" indent="-285897">
                <a:buSzPct val="100000"/>
                <a:buFont typeface="Arial"/>
                <a:buChar char="•"/>
                <a:defRPr sz="1600"/>
              </a:pPr>
              <a:r>
                <a:rPr sz="1200" dirty="0"/>
                <a:t>Initiate asynchronous transfers if necessary</a:t>
              </a:r>
            </a:p>
            <a:p>
              <a:pPr marL="285897" indent="-285897">
                <a:buSzPct val="100000"/>
                <a:buFont typeface="Arial"/>
                <a:buChar char="•"/>
                <a:defRPr sz="1600"/>
              </a:pPr>
              <a:r>
                <a:rPr sz="1200" dirty="0"/>
                <a:t>Push blocks to other elements</a:t>
              </a:r>
            </a:p>
          </p:txBody>
        </p:sp>
        <p:sp>
          <p:nvSpPr>
            <p:cNvPr id="42" name="TextBox 41">
              <a:extLst>
                <a:ext uri="{FF2B5EF4-FFF2-40B4-BE49-F238E27FC236}">
                  <a16:creationId xmlns:a16="http://schemas.microsoft.com/office/drawing/2014/main" id="{4CD9F16E-DE56-9499-9259-A67FD3CAC671}"/>
                </a:ext>
              </a:extLst>
            </p:cNvPr>
            <p:cNvSpPr txBox="1"/>
            <p:nvPr/>
          </p:nvSpPr>
          <p:spPr>
            <a:xfrm>
              <a:off x="4210518" y="3482394"/>
              <a:ext cx="1039751" cy="5508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lvl1pPr>
                <a:defRPr sz="1300"/>
              </a:lvl1pPr>
            </a:lstStyle>
            <a:p>
              <a:r>
                <a:rPr sz="1200" dirty="0"/>
                <a:t>Computation to apply to each data item</a:t>
              </a:r>
            </a:p>
          </p:txBody>
        </p:sp>
        <p:sp>
          <p:nvSpPr>
            <p:cNvPr id="43" name="Straight Arrow Connector 15">
              <a:extLst>
                <a:ext uri="{FF2B5EF4-FFF2-40B4-BE49-F238E27FC236}">
                  <a16:creationId xmlns:a16="http://schemas.microsoft.com/office/drawing/2014/main" id="{5624AAF1-6A68-85DD-BA4E-23830B6192A8}"/>
                </a:ext>
              </a:extLst>
            </p:cNvPr>
            <p:cNvSpPr/>
            <p:nvPr/>
          </p:nvSpPr>
          <p:spPr>
            <a:xfrm flipV="1">
              <a:off x="5272734" y="3474330"/>
              <a:ext cx="500895" cy="167680"/>
            </a:xfrm>
            <a:prstGeom prst="line">
              <a:avLst/>
            </a:prstGeom>
            <a:ln w="25400">
              <a:solidFill>
                <a:srgbClr val="000000"/>
              </a:solidFill>
              <a:tailEnd type="triangle"/>
            </a:ln>
          </p:spPr>
          <p:txBody>
            <a:bodyPr lIns="34316" rIns="34316"/>
            <a:lstStyle/>
            <a:p>
              <a:endParaRPr sz="1200"/>
            </a:p>
          </p:txBody>
        </p:sp>
        <p:sp>
          <p:nvSpPr>
            <p:cNvPr id="44" name="Straight Arrow Connector 16">
              <a:extLst>
                <a:ext uri="{FF2B5EF4-FFF2-40B4-BE49-F238E27FC236}">
                  <a16:creationId xmlns:a16="http://schemas.microsoft.com/office/drawing/2014/main" id="{F6247936-1AF9-10CA-5A7C-A3E9BC2535F7}"/>
                </a:ext>
              </a:extLst>
            </p:cNvPr>
            <p:cNvSpPr/>
            <p:nvPr/>
          </p:nvSpPr>
          <p:spPr>
            <a:xfrm>
              <a:off x="5272734" y="3897406"/>
              <a:ext cx="500895" cy="481307"/>
            </a:xfrm>
            <a:prstGeom prst="line">
              <a:avLst/>
            </a:prstGeom>
            <a:ln w="25400">
              <a:solidFill>
                <a:srgbClr val="000000"/>
              </a:solidFill>
              <a:tailEnd type="triangle"/>
            </a:ln>
          </p:spPr>
          <p:txBody>
            <a:bodyPr lIns="34316" rIns="34316"/>
            <a:lstStyle/>
            <a:p>
              <a:endParaRPr sz="1200"/>
            </a:p>
          </p:txBody>
        </p:sp>
        <p:sp>
          <p:nvSpPr>
            <p:cNvPr id="45" name="TextBox 20">
              <a:extLst>
                <a:ext uri="{FF2B5EF4-FFF2-40B4-BE49-F238E27FC236}">
                  <a16:creationId xmlns:a16="http://schemas.microsoft.com/office/drawing/2014/main" id="{EDADB62E-4354-3200-6BBF-A8FA273C38DD}"/>
                </a:ext>
              </a:extLst>
            </p:cNvPr>
            <p:cNvSpPr txBox="1"/>
            <p:nvPr/>
          </p:nvSpPr>
          <p:spPr>
            <a:xfrm>
              <a:off x="7303460" y="3593421"/>
              <a:ext cx="646111" cy="2360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316" rIns="34316">
              <a:spAutoFit/>
            </a:bodyPr>
            <a:lstStyle>
              <a:lvl1pPr>
                <a:defRPr sz="1300"/>
              </a:lvl1pPr>
            </a:lstStyle>
            <a:p>
              <a:r>
                <a:rPr sz="1200" dirty="0"/>
                <a:t>Data type</a:t>
              </a:r>
            </a:p>
          </p:txBody>
        </p:sp>
        <p:sp>
          <p:nvSpPr>
            <p:cNvPr id="46" name="Straight Arrow Connector 21">
              <a:extLst>
                <a:ext uri="{FF2B5EF4-FFF2-40B4-BE49-F238E27FC236}">
                  <a16:creationId xmlns:a16="http://schemas.microsoft.com/office/drawing/2014/main" id="{EABE14B3-6450-087C-CED9-47A2AFD311A3}"/>
                </a:ext>
              </a:extLst>
            </p:cNvPr>
            <p:cNvSpPr/>
            <p:nvPr/>
          </p:nvSpPr>
          <p:spPr>
            <a:xfrm flipH="1" flipV="1">
              <a:off x="6890105" y="3162459"/>
              <a:ext cx="413355" cy="479552"/>
            </a:xfrm>
            <a:prstGeom prst="line">
              <a:avLst/>
            </a:prstGeom>
            <a:ln w="25400">
              <a:solidFill>
                <a:srgbClr val="000000"/>
              </a:solidFill>
              <a:tailEnd type="triangle"/>
            </a:ln>
          </p:spPr>
          <p:txBody>
            <a:bodyPr lIns="34316" rIns="34316"/>
            <a:lstStyle/>
            <a:p>
              <a:endParaRPr sz="1200" dirty="0"/>
            </a:p>
          </p:txBody>
        </p:sp>
        <p:sp>
          <p:nvSpPr>
            <p:cNvPr id="47" name="Straight Arrow Connector 25">
              <a:extLst>
                <a:ext uri="{FF2B5EF4-FFF2-40B4-BE49-F238E27FC236}">
                  <a16:creationId xmlns:a16="http://schemas.microsoft.com/office/drawing/2014/main" id="{09FCA3B5-CDE8-6FFA-BA1A-3E8DA1F5E243}"/>
                </a:ext>
              </a:extLst>
            </p:cNvPr>
            <p:cNvSpPr/>
            <p:nvPr/>
          </p:nvSpPr>
          <p:spPr>
            <a:xfrm flipH="1">
              <a:off x="6890104" y="3750867"/>
              <a:ext cx="381690" cy="479552"/>
            </a:xfrm>
            <a:prstGeom prst="line">
              <a:avLst/>
            </a:prstGeom>
            <a:ln w="25400">
              <a:solidFill>
                <a:srgbClr val="000000"/>
              </a:solidFill>
              <a:tailEnd type="triangle"/>
            </a:ln>
          </p:spPr>
          <p:txBody>
            <a:bodyPr lIns="34316" rIns="34316"/>
            <a:lstStyle/>
            <a:p>
              <a:endParaRPr sz="1200"/>
            </a:p>
          </p:txBody>
        </p:sp>
        <p:sp>
          <p:nvSpPr>
            <p:cNvPr id="48" name="TextBox 28">
              <a:extLst>
                <a:ext uri="{FF2B5EF4-FFF2-40B4-BE49-F238E27FC236}">
                  <a16:creationId xmlns:a16="http://schemas.microsoft.com/office/drawing/2014/main" id="{B20B1E70-E7A6-194F-325F-3B1F1D73D468}"/>
                </a:ext>
              </a:extLst>
            </p:cNvPr>
            <p:cNvSpPr txBox="1"/>
            <p:nvPr/>
          </p:nvSpPr>
          <p:spPr>
            <a:xfrm>
              <a:off x="5307060" y="4880128"/>
              <a:ext cx="1489277" cy="5508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lvl1pPr>
                <a:defRPr sz="1300"/>
              </a:lvl1pPr>
            </a:lstStyle>
            <a:p>
              <a:r>
                <a:rPr sz="1200"/>
                <a:t>Number of threads in team activated to apply action to data items</a:t>
              </a:r>
            </a:p>
          </p:txBody>
        </p:sp>
      </p:grpSp>
    </p:spTree>
    <p:extLst>
      <p:ext uri="{BB962C8B-B14F-4D97-AF65-F5344CB8AC3E}">
        <p14:creationId xmlns:p14="http://schemas.microsoft.com/office/powerpoint/2010/main" val="5744416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1B3B5-A4DB-ADAA-DA36-03412ACA84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91AA0-AD47-D570-F92C-5A70C5A1B2B0}"/>
              </a:ext>
            </a:extLst>
          </p:cNvPr>
          <p:cNvSpPr>
            <a:spLocks noGrp="1"/>
          </p:cNvSpPr>
          <p:nvPr>
            <p:ph type="title"/>
          </p:nvPr>
        </p:nvSpPr>
        <p:spPr>
          <a:xfrm>
            <a:off x="792273" y="101609"/>
            <a:ext cx="10512862" cy="1325218"/>
          </a:xfrm>
        </p:spPr>
        <p:txBody>
          <a:bodyPr/>
          <a:lstStyle/>
          <a:p>
            <a:br>
              <a:rPr lang="en-US" dirty="0"/>
            </a:br>
            <a:r>
              <a:rPr lang="en-US" dirty="0"/>
              <a:t>Orchestration of Data and Computation</a:t>
            </a:r>
          </a:p>
        </p:txBody>
      </p:sp>
      <p:sp>
        <p:nvSpPr>
          <p:cNvPr id="20" name="Title 1">
            <a:extLst>
              <a:ext uri="{FF2B5EF4-FFF2-40B4-BE49-F238E27FC236}">
                <a16:creationId xmlns:a16="http://schemas.microsoft.com/office/drawing/2014/main" id="{BFF68A5E-A1D6-099B-BFD9-DDB7833CF812}"/>
              </a:ext>
            </a:extLst>
          </p:cNvPr>
          <p:cNvSpPr txBox="1">
            <a:spLocks/>
          </p:cNvSpPr>
          <p:nvPr/>
        </p:nvSpPr>
        <p:spPr>
          <a:xfrm>
            <a:off x="2190179" y="5688105"/>
            <a:ext cx="5915389" cy="622722"/>
          </a:xfrm>
          <a:prstGeom prst="rect">
            <a:avLst/>
          </a:prstGeom>
        </p:spPr>
        <p:txBody>
          <a:bodyPr vert="horz" lIns="91416" tIns="45708" rIns="91416" bIns="45708" rtlCol="0" anchor="ctr">
            <a:normAutofit fontScale="975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endParaRPr lang="en-US" sz="3999" dirty="0"/>
          </a:p>
        </p:txBody>
      </p:sp>
      <p:sp>
        <p:nvSpPr>
          <p:cNvPr id="22" name="Text Placeholder 2">
            <a:extLst>
              <a:ext uri="{FF2B5EF4-FFF2-40B4-BE49-F238E27FC236}">
                <a16:creationId xmlns:a16="http://schemas.microsoft.com/office/drawing/2014/main" id="{FBD61C27-2F54-9F94-AEC9-8A7140A83081}"/>
              </a:ext>
            </a:extLst>
          </p:cNvPr>
          <p:cNvSpPr txBox="1">
            <a:spLocks/>
          </p:cNvSpPr>
          <p:nvPr/>
        </p:nvSpPr>
        <p:spPr>
          <a:xfrm>
            <a:off x="696151" y="981829"/>
            <a:ext cx="8377269" cy="375080"/>
          </a:xfrm>
          <a:prstGeom prst="rect">
            <a:avLst/>
          </a:prstGeom>
        </p:spPr>
        <p:txBody>
          <a:bodyPr vert="horz" lIns="91416" tIns="45708" rIns="91416" bIns="45708" rtlCol="0">
            <a:normAutofit fontScale="77500" lnSpcReduction="20000"/>
          </a:bodyPr>
          <a:lstStyle>
            <a:lvl1pPr marL="342900" indent="-342900" algn="l" defTabSz="914400" rtl="0" eaLnBrk="1" latinLnBrk="0" hangingPunct="1">
              <a:spcBef>
                <a:spcPct val="20000"/>
              </a:spcBef>
              <a:buFont typeface="Wingdings" charset="2"/>
              <a:buChar char="q"/>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Wingdings" charset="2"/>
              <a:buChar char="q"/>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Wingdings" charset="2"/>
              <a:buChar char="q"/>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endParaRPr lang="en-US" sz="2799" dirty="0"/>
          </a:p>
        </p:txBody>
      </p:sp>
      <p:grpSp>
        <p:nvGrpSpPr>
          <p:cNvPr id="3" name="Group 2">
            <a:extLst>
              <a:ext uri="{FF2B5EF4-FFF2-40B4-BE49-F238E27FC236}">
                <a16:creationId xmlns:a16="http://schemas.microsoft.com/office/drawing/2014/main" id="{8BCF9E74-F21B-AA00-1938-85AA687110EB}"/>
              </a:ext>
            </a:extLst>
          </p:cNvPr>
          <p:cNvGrpSpPr/>
          <p:nvPr/>
        </p:nvGrpSpPr>
        <p:grpSpPr>
          <a:xfrm>
            <a:off x="1828936" y="3076712"/>
            <a:ext cx="7142608" cy="3416479"/>
            <a:chOff x="1892165" y="1308476"/>
            <a:chExt cx="5358352" cy="2563027"/>
          </a:xfrm>
        </p:grpSpPr>
        <p:grpSp>
          <p:nvGrpSpPr>
            <p:cNvPr id="4" name="Group 3">
              <a:extLst>
                <a:ext uri="{FF2B5EF4-FFF2-40B4-BE49-F238E27FC236}">
                  <a16:creationId xmlns:a16="http://schemas.microsoft.com/office/drawing/2014/main" id="{D56E9CED-6269-E407-E3A7-D7358BDAD76E}"/>
                </a:ext>
              </a:extLst>
            </p:cNvPr>
            <p:cNvGrpSpPr/>
            <p:nvPr/>
          </p:nvGrpSpPr>
          <p:grpSpPr>
            <a:xfrm>
              <a:off x="1892165" y="1817915"/>
              <a:ext cx="5358352" cy="2053588"/>
              <a:chOff x="3871890" y="1294972"/>
              <a:chExt cx="5358352" cy="2053588"/>
            </a:xfrm>
          </p:grpSpPr>
          <p:sp>
            <p:nvSpPr>
              <p:cNvPr id="6" name="Oval 5">
                <a:extLst>
                  <a:ext uri="{FF2B5EF4-FFF2-40B4-BE49-F238E27FC236}">
                    <a16:creationId xmlns:a16="http://schemas.microsoft.com/office/drawing/2014/main" id="{3DB5BB9A-2C54-095B-6EA4-53A44587887F}"/>
                  </a:ext>
                </a:extLst>
              </p:cNvPr>
              <p:cNvSpPr/>
              <p:nvPr/>
            </p:nvSpPr>
            <p:spPr>
              <a:xfrm>
                <a:off x="4422083" y="2060357"/>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a:t>
                </a:r>
              </a:p>
            </p:txBody>
          </p:sp>
          <p:sp>
            <p:nvSpPr>
              <p:cNvPr id="8" name="Oval 7">
                <a:extLst>
                  <a:ext uri="{FF2B5EF4-FFF2-40B4-BE49-F238E27FC236}">
                    <a16:creationId xmlns:a16="http://schemas.microsoft.com/office/drawing/2014/main" id="{14FF985E-6A16-52AB-05C9-71317C8D9F2E}"/>
                  </a:ext>
                </a:extLst>
              </p:cNvPr>
              <p:cNvSpPr/>
              <p:nvPr/>
            </p:nvSpPr>
            <p:spPr>
              <a:xfrm>
                <a:off x="4932085" y="2060357"/>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a:t>
                </a:r>
              </a:p>
            </p:txBody>
          </p:sp>
          <p:cxnSp>
            <p:nvCxnSpPr>
              <p:cNvPr id="9" name="Straight Arrow Connector 8">
                <a:extLst>
                  <a:ext uri="{FF2B5EF4-FFF2-40B4-BE49-F238E27FC236}">
                    <a16:creationId xmlns:a16="http://schemas.microsoft.com/office/drawing/2014/main" id="{A6099FCF-EC15-091C-1997-815DD755DF99}"/>
                  </a:ext>
                </a:extLst>
              </p:cNvPr>
              <p:cNvCxnSpPr>
                <a:cxnSpLocks/>
                <a:stCxn id="6" idx="6"/>
                <a:endCxn id="8" idx="2"/>
              </p:cNvCxnSpPr>
              <p:nvPr/>
            </p:nvCxnSpPr>
            <p:spPr>
              <a:xfrm>
                <a:off x="4675241" y="2186936"/>
                <a:ext cx="2568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A4D6BA1-07B1-D2EE-0612-620F13ECA8FA}"/>
                  </a:ext>
                </a:extLst>
              </p:cNvPr>
              <p:cNvCxnSpPr>
                <a:cxnSpLocks/>
                <a:stCxn id="21" idx="6"/>
                <a:endCxn id="13" idx="1"/>
              </p:cNvCxnSpPr>
              <p:nvPr/>
            </p:nvCxnSpPr>
            <p:spPr>
              <a:xfrm flipV="1">
                <a:off x="6538610" y="2182030"/>
                <a:ext cx="332833" cy="3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64">
                <a:extLst>
                  <a:ext uri="{FF2B5EF4-FFF2-40B4-BE49-F238E27FC236}">
                    <a16:creationId xmlns:a16="http://schemas.microsoft.com/office/drawing/2014/main" id="{D5BE35E9-55D4-87F2-AFC0-4F99CEC54899}"/>
                  </a:ext>
                </a:extLst>
              </p:cNvPr>
              <p:cNvCxnSpPr>
                <a:cxnSpLocks/>
                <a:stCxn id="21" idx="4"/>
                <a:endCxn id="35" idx="1"/>
              </p:cNvCxnSpPr>
              <p:nvPr/>
            </p:nvCxnSpPr>
            <p:spPr>
              <a:xfrm rot="16200000" flipH="1">
                <a:off x="5901424" y="2480111"/>
                <a:ext cx="619611" cy="35810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8CEACF35-CA55-7364-5854-A550895F4061}"/>
                  </a:ext>
                </a:extLst>
              </p:cNvPr>
              <p:cNvGrpSpPr/>
              <p:nvPr/>
            </p:nvGrpSpPr>
            <p:grpSpPr>
              <a:xfrm>
                <a:off x="6390280" y="2589376"/>
                <a:ext cx="920193" cy="759184"/>
                <a:chOff x="6390280" y="2589376"/>
                <a:chExt cx="920193" cy="759184"/>
              </a:xfrm>
            </p:grpSpPr>
            <p:sp>
              <p:nvSpPr>
                <p:cNvPr id="35" name="Rounded Rectangle 34">
                  <a:extLst>
                    <a:ext uri="{FF2B5EF4-FFF2-40B4-BE49-F238E27FC236}">
                      <a16:creationId xmlns:a16="http://schemas.microsoft.com/office/drawing/2014/main" id="{34E0C85C-1E8E-B92B-97A2-02310A6B54B1}"/>
                    </a:ext>
                  </a:extLst>
                </p:cNvPr>
                <p:cNvSpPr/>
                <p:nvPr/>
              </p:nvSpPr>
              <p:spPr>
                <a:xfrm>
                  <a:off x="6390280" y="2589376"/>
                  <a:ext cx="920193" cy="759184"/>
                </a:xfrm>
                <a:prstGeom prst="roundRect">
                  <a:avLst/>
                </a:prstGeom>
                <a:solidFill>
                  <a:schemeClr val="accent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B (GPU)</a:t>
                  </a:r>
                </a:p>
              </p:txBody>
            </p:sp>
            <p:sp>
              <p:nvSpPr>
                <p:cNvPr id="36" name="Oval 35">
                  <a:extLst>
                    <a:ext uri="{FF2B5EF4-FFF2-40B4-BE49-F238E27FC236}">
                      <a16:creationId xmlns:a16="http://schemas.microsoft.com/office/drawing/2014/main" id="{0606037C-C5C9-6AC4-DC33-55C172B86126}"/>
                    </a:ext>
                  </a:extLst>
                </p:cNvPr>
                <p:cNvSpPr/>
                <p:nvPr/>
              </p:nvSpPr>
              <p:spPr>
                <a:xfrm>
                  <a:off x="6509050" y="2984432"/>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X</a:t>
                  </a:r>
                </a:p>
              </p:txBody>
            </p:sp>
            <p:sp>
              <p:nvSpPr>
                <p:cNvPr id="37" name="Oval 36">
                  <a:extLst>
                    <a:ext uri="{FF2B5EF4-FFF2-40B4-BE49-F238E27FC236}">
                      <a16:creationId xmlns:a16="http://schemas.microsoft.com/office/drawing/2014/main" id="{23D0505A-2537-1C3C-724F-2F4D9F512C6B}"/>
                    </a:ext>
                  </a:extLst>
                </p:cNvPr>
                <p:cNvSpPr/>
                <p:nvPr/>
              </p:nvSpPr>
              <p:spPr>
                <a:xfrm>
                  <a:off x="6956149" y="2984432"/>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Y</a:t>
                  </a:r>
                </a:p>
              </p:txBody>
            </p:sp>
            <p:cxnSp>
              <p:nvCxnSpPr>
                <p:cNvPr id="38" name="Straight Arrow Connector 37">
                  <a:extLst>
                    <a:ext uri="{FF2B5EF4-FFF2-40B4-BE49-F238E27FC236}">
                      <a16:creationId xmlns:a16="http://schemas.microsoft.com/office/drawing/2014/main" id="{8E768631-D84D-329C-CFAA-45B97285DAD2}"/>
                    </a:ext>
                  </a:extLst>
                </p:cNvPr>
                <p:cNvCxnSpPr>
                  <a:cxnSpLocks/>
                  <a:stCxn id="36" idx="6"/>
                  <a:endCxn id="37" idx="2"/>
                </p:cNvCxnSpPr>
                <p:nvPr/>
              </p:nvCxnSpPr>
              <p:spPr>
                <a:xfrm>
                  <a:off x="6762208" y="3111011"/>
                  <a:ext cx="19394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3" name="Rounded Rectangle 12">
                <a:extLst>
                  <a:ext uri="{FF2B5EF4-FFF2-40B4-BE49-F238E27FC236}">
                    <a16:creationId xmlns:a16="http://schemas.microsoft.com/office/drawing/2014/main" id="{8AE875EF-4FFF-CB33-F1F0-F32B41E79B9D}"/>
                  </a:ext>
                </a:extLst>
              </p:cNvPr>
              <p:cNvSpPr/>
              <p:nvPr/>
            </p:nvSpPr>
            <p:spPr>
              <a:xfrm>
                <a:off x="6871443" y="1819599"/>
                <a:ext cx="892244" cy="724862"/>
              </a:xfrm>
              <a:prstGeom prst="roundRect">
                <a:avLst/>
              </a:prstGeom>
              <a:solidFill>
                <a:schemeClr val="tx2">
                  <a:lumMod val="60000"/>
                  <a:lumOff val="4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A (CPU)</a:t>
                </a:r>
              </a:p>
            </p:txBody>
          </p:sp>
          <p:sp>
            <p:nvSpPr>
              <p:cNvPr id="14" name="Oval 13">
                <a:extLst>
                  <a:ext uri="{FF2B5EF4-FFF2-40B4-BE49-F238E27FC236}">
                    <a16:creationId xmlns:a16="http://schemas.microsoft.com/office/drawing/2014/main" id="{90A11794-9064-2453-5887-BE718BE2858C}"/>
                  </a:ext>
                </a:extLst>
              </p:cNvPr>
              <p:cNvSpPr/>
              <p:nvPr/>
            </p:nvSpPr>
            <p:spPr>
              <a:xfrm>
                <a:off x="7190986" y="2216209"/>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t>
                </a:r>
              </a:p>
            </p:txBody>
          </p:sp>
          <p:grpSp>
            <p:nvGrpSpPr>
              <p:cNvPr id="15" name="Group 14">
                <a:extLst>
                  <a:ext uri="{FF2B5EF4-FFF2-40B4-BE49-F238E27FC236}">
                    <a16:creationId xmlns:a16="http://schemas.microsoft.com/office/drawing/2014/main" id="{885E60D2-356D-7EDE-0866-3561638F545A}"/>
                  </a:ext>
                </a:extLst>
              </p:cNvPr>
              <p:cNvGrpSpPr/>
              <p:nvPr/>
            </p:nvGrpSpPr>
            <p:grpSpPr>
              <a:xfrm>
                <a:off x="8112259" y="1812881"/>
                <a:ext cx="892244" cy="724862"/>
                <a:chOff x="7997010" y="1674713"/>
                <a:chExt cx="892244" cy="724862"/>
              </a:xfrm>
            </p:grpSpPr>
            <p:sp>
              <p:nvSpPr>
                <p:cNvPr id="33" name="Rounded Rectangle 32">
                  <a:extLst>
                    <a:ext uri="{FF2B5EF4-FFF2-40B4-BE49-F238E27FC236}">
                      <a16:creationId xmlns:a16="http://schemas.microsoft.com/office/drawing/2014/main" id="{003AE9F3-F877-8A1B-A426-1A012452809E}"/>
                    </a:ext>
                  </a:extLst>
                </p:cNvPr>
                <p:cNvSpPr/>
                <p:nvPr/>
              </p:nvSpPr>
              <p:spPr>
                <a:xfrm>
                  <a:off x="7997010" y="1674713"/>
                  <a:ext cx="892244" cy="724862"/>
                </a:xfrm>
                <a:prstGeom prst="roundRect">
                  <a:avLst/>
                </a:prstGeom>
                <a:solidFill>
                  <a:schemeClr val="tx2">
                    <a:lumMod val="60000"/>
                    <a:lumOff val="4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C (CPU)</a:t>
                  </a:r>
                </a:p>
              </p:txBody>
            </p:sp>
            <p:sp>
              <p:nvSpPr>
                <p:cNvPr id="34" name="Oval 33">
                  <a:extLst>
                    <a:ext uri="{FF2B5EF4-FFF2-40B4-BE49-F238E27FC236}">
                      <a16:creationId xmlns:a16="http://schemas.microsoft.com/office/drawing/2014/main" id="{427EF923-65F1-13F5-F661-081F4D477223}"/>
                    </a:ext>
                  </a:extLst>
                </p:cNvPr>
                <p:cNvSpPr/>
                <p:nvPr/>
              </p:nvSpPr>
              <p:spPr>
                <a:xfrm>
                  <a:off x="8316553" y="2078041"/>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Z</a:t>
                  </a:r>
                </a:p>
              </p:txBody>
            </p:sp>
          </p:grpSp>
          <p:cxnSp>
            <p:nvCxnSpPr>
              <p:cNvPr id="16" name="Straight Arrow Connector 15">
                <a:extLst>
                  <a:ext uri="{FF2B5EF4-FFF2-40B4-BE49-F238E27FC236}">
                    <a16:creationId xmlns:a16="http://schemas.microsoft.com/office/drawing/2014/main" id="{7586DE8C-6752-AC97-DE89-266A4FDA1C7F}"/>
                  </a:ext>
                </a:extLst>
              </p:cNvPr>
              <p:cNvCxnSpPr>
                <a:cxnSpLocks/>
                <a:stCxn id="13" idx="3"/>
                <a:endCxn id="33" idx="1"/>
              </p:cNvCxnSpPr>
              <p:nvPr/>
            </p:nvCxnSpPr>
            <p:spPr>
              <a:xfrm flipV="1">
                <a:off x="7763687" y="2175312"/>
                <a:ext cx="348572" cy="671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F05F14-C018-8CEA-9B02-2093A093F061}"/>
                  </a:ext>
                </a:extLst>
              </p:cNvPr>
              <p:cNvCxnSpPr>
                <a:cxnSpLocks/>
                <a:stCxn id="35" idx="3"/>
                <a:endCxn id="24" idx="2"/>
              </p:cNvCxnSpPr>
              <p:nvPr/>
            </p:nvCxnSpPr>
            <p:spPr>
              <a:xfrm flipV="1">
                <a:off x="7310473" y="2968967"/>
                <a:ext cx="664729" cy="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83BE0435-CD10-7485-10DF-50311748B3FC}"/>
                  </a:ext>
                </a:extLst>
              </p:cNvPr>
              <p:cNvSpPr txBox="1"/>
              <p:nvPr/>
            </p:nvSpPr>
            <p:spPr>
              <a:xfrm>
                <a:off x="4333183" y="2291776"/>
                <a:ext cx="381355" cy="207749"/>
              </a:xfrm>
              <a:prstGeom prst="rect">
                <a:avLst/>
              </a:prstGeom>
              <a:noFill/>
            </p:spPr>
            <p:txBody>
              <a:bodyPr wrap="none" rtlCol="0">
                <a:spAutoFit/>
              </a:bodyPr>
              <a:lstStyle/>
              <a:p>
                <a:r>
                  <a:rPr lang="en-US" sz="1200" dirty="0"/>
                  <a:t>CPU</a:t>
                </a:r>
              </a:p>
            </p:txBody>
          </p:sp>
          <p:sp>
            <p:nvSpPr>
              <p:cNvPr id="19" name="TextBox 18">
                <a:extLst>
                  <a:ext uri="{FF2B5EF4-FFF2-40B4-BE49-F238E27FC236}">
                    <a16:creationId xmlns:a16="http://schemas.microsoft.com/office/drawing/2014/main" id="{1F3AB4BB-0AB5-D8A4-0F44-F4AE31CADB52}"/>
                  </a:ext>
                </a:extLst>
              </p:cNvPr>
              <p:cNvSpPr txBox="1"/>
              <p:nvPr/>
            </p:nvSpPr>
            <p:spPr>
              <a:xfrm>
                <a:off x="4840176" y="2307745"/>
                <a:ext cx="381355" cy="207749"/>
              </a:xfrm>
              <a:prstGeom prst="rect">
                <a:avLst/>
              </a:prstGeom>
              <a:noFill/>
            </p:spPr>
            <p:txBody>
              <a:bodyPr wrap="none" rtlCol="0">
                <a:spAutoFit/>
              </a:bodyPr>
              <a:lstStyle/>
              <a:p>
                <a:r>
                  <a:rPr lang="en-US" sz="1200" dirty="0"/>
                  <a:t>CPU</a:t>
                </a:r>
              </a:p>
            </p:txBody>
          </p:sp>
          <p:sp>
            <p:nvSpPr>
              <p:cNvPr id="21" name="Oval 20">
                <a:extLst>
                  <a:ext uri="{FF2B5EF4-FFF2-40B4-BE49-F238E27FC236}">
                    <a16:creationId xmlns:a16="http://schemas.microsoft.com/office/drawing/2014/main" id="{275F6BD6-A0A9-A894-BE2E-0367327C5B7A}"/>
                  </a:ext>
                </a:extLst>
              </p:cNvPr>
              <p:cNvSpPr/>
              <p:nvPr/>
            </p:nvSpPr>
            <p:spPr>
              <a:xfrm>
                <a:off x="5525747" y="2021855"/>
                <a:ext cx="1012863" cy="327502"/>
              </a:xfrm>
              <a:prstGeom prst="ellipse">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Distributor</a:t>
                </a:r>
              </a:p>
            </p:txBody>
          </p:sp>
          <p:cxnSp>
            <p:nvCxnSpPr>
              <p:cNvPr id="23" name="Straight Arrow Connector 22">
                <a:extLst>
                  <a:ext uri="{FF2B5EF4-FFF2-40B4-BE49-F238E27FC236}">
                    <a16:creationId xmlns:a16="http://schemas.microsoft.com/office/drawing/2014/main" id="{0554FB02-22DF-6EE2-E258-E1046CE84A02}"/>
                  </a:ext>
                </a:extLst>
              </p:cNvPr>
              <p:cNvCxnSpPr>
                <a:cxnSpLocks/>
                <a:stCxn id="8" idx="6"/>
                <a:endCxn id="21" idx="2"/>
              </p:cNvCxnSpPr>
              <p:nvPr/>
            </p:nvCxnSpPr>
            <p:spPr>
              <a:xfrm flipV="1">
                <a:off x="5185243" y="2185606"/>
                <a:ext cx="340504" cy="13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4EA385B2-40F9-F945-0AAD-68C811A794E1}"/>
                  </a:ext>
                </a:extLst>
              </p:cNvPr>
              <p:cNvSpPr/>
              <p:nvPr/>
            </p:nvSpPr>
            <p:spPr>
              <a:xfrm>
                <a:off x="7975202" y="2805216"/>
                <a:ext cx="1159175" cy="327502"/>
              </a:xfrm>
              <a:prstGeom prst="ellipse">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DM/Unpack</a:t>
                </a:r>
              </a:p>
            </p:txBody>
          </p:sp>
          <p:cxnSp>
            <p:nvCxnSpPr>
              <p:cNvPr id="25" name="Straight Arrow Connector 24">
                <a:extLst>
                  <a:ext uri="{FF2B5EF4-FFF2-40B4-BE49-F238E27FC236}">
                    <a16:creationId xmlns:a16="http://schemas.microsoft.com/office/drawing/2014/main" id="{9F60BA3F-F78F-192B-476B-2FF6E8CC8605}"/>
                  </a:ext>
                </a:extLst>
              </p:cNvPr>
              <p:cNvCxnSpPr>
                <a:cxnSpLocks/>
                <a:stCxn id="24" idx="0"/>
                <a:endCxn id="33" idx="2"/>
              </p:cNvCxnSpPr>
              <p:nvPr/>
            </p:nvCxnSpPr>
            <p:spPr>
              <a:xfrm flipV="1">
                <a:off x="8554790" y="2537743"/>
                <a:ext cx="3591" cy="267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EFC1DB53-05B2-959A-6193-C47D615C6F69}"/>
                  </a:ext>
                </a:extLst>
              </p:cNvPr>
              <p:cNvSpPr/>
              <p:nvPr/>
            </p:nvSpPr>
            <p:spPr>
              <a:xfrm rot="16200000">
                <a:off x="5459202" y="2709976"/>
                <a:ext cx="847207" cy="215750"/>
              </a:xfrm>
              <a:prstGeom prst="round2Diag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 Packet</a:t>
                </a:r>
              </a:p>
            </p:txBody>
          </p:sp>
          <p:sp>
            <p:nvSpPr>
              <p:cNvPr id="28" name="Rounded Rectangle 27">
                <a:extLst>
                  <a:ext uri="{FF2B5EF4-FFF2-40B4-BE49-F238E27FC236}">
                    <a16:creationId xmlns:a16="http://schemas.microsoft.com/office/drawing/2014/main" id="{0C420494-C5CF-F2D9-E8C2-531AAD419B2D}"/>
                  </a:ext>
                </a:extLst>
              </p:cNvPr>
              <p:cNvSpPr/>
              <p:nvPr/>
            </p:nvSpPr>
            <p:spPr>
              <a:xfrm>
                <a:off x="3871890" y="1294972"/>
                <a:ext cx="1350907" cy="232628"/>
              </a:xfrm>
              <a:prstGeom prst="roundRect">
                <a:avLst/>
              </a:prstGeom>
              <a:solidFill>
                <a:schemeClr val="accent1">
                  <a:lumMod val="20000"/>
                  <a:lumOff val="80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ConcurrentDataBegin</a:t>
                </a:r>
                <a:endParaRPr lang="en-US" sz="1200" dirty="0">
                  <a:solidFill>
                    <a:schemeClr val="tx1"/>
                  </a:solidFill>
                </a:endParaRPr>
              </a:p>
            </p:txBody>
          </p:sp>
          <p:sp>
            <p:nvSpPr>
              <p:cNvPr id="29" name="Rounded Rectangle 28">
                <a:extLst>
                  <a:ext uri="{FF2B5EF4-FFF2-40B4-BE49-F238E27FC236}">
                    <a16:creationId xmlns:a16="http://schemas.microsoft.com/office/drawing/2014/main" id="{FA83CFE4-355B-72A5-D0EB-98B857FF24F7}"/>
                  </a:ext>
                </a:extLst>
              </p:cNvPr>
              <p:cNvSpPr/>
              <p:nvPr/>
            </p:nvSpPr>
            <p:spPr>
              <a:xfrm>
                <a:off x="7879335" y="1294972"/>
                <a:ext cx="1350907" cy="232628"/>
              </a:xfrm>
              <a:prstGeom prst="roundRect">
                <a:avLst/>
              </a:prstGeom>
              <a:solidFill>
                <a:schemeClr val="accent1">
                  <a:lumMod val="20000"/>
                  <a:lumOff val="80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ConcurrentDataEnd</a:t>
                </a:r>
                <a:endParaRPr lang="en-US" sz="1200" dirty="0">
                  <a:solidFill>
                    <a:schemeClr val="tx1"/>
                  </a:solidFill>
                </a:endParaRPr>
              </a:p>
            </p:txBody>
          </p:sp>
          <p:cxnSp>
            <p:nvCxnSpPr>
              <p:cNvPr id="30" name="Straight Arrow Connector 29">
                <a:extLst>
                  <a:ext uri="{FF2B5EF4-FFF2-40B4-BE49-F238E27FC236}">
                    <a16:creationId xmlns:a16="http://schemas.microsoft.com/office/drawing/2014/main" id="{750D5C54-1C5F-6076-199C-F0C7DE5EEA09}"/>
                  </a:ext>
                </a:extLst>
              </p:cNvPr>
              <p:cNvCxnSpPr>
                <a:cxnSpLocks/>
                <a:stCxn id="28" idx="2"/>
                <a:endCxn id="6" idx="0"/>
              </p:cNvCxnSpPr>
              <p:nvPr/>
            </p:nvCxnSpPr>
            <p:spPr>
              <a:xfrm>
                <a:off x="4547344" y="1527600"/>
                <a:ext cx="1318" cy="5327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096EC89-74C6-48CC-5BC3-0D025E106200}"/>
                  </a:ext>
                </a:extLst>
              </p:cNvPr>
              <p:cNvCxnSpPr>
                <a:cxnSpLocks/>
                <a:stCxn id="33" idx="0"/>
                <a:endCxn id="29" idx="2"/>
              </p:cNvCxnSpPr>
              <p:nvPr/>
            </p:nvCxnSpPr>
            <p:spPr>
              <a:xfrm flipH="1" flipV="1">
                <a:off x="8554789" y="1527600"/>
                <a:ext cx="3592" cy="2852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 name="TextBox 43">
              <a:extLst>
                <a:ext uri="{FF2B5EF4-FFF2-40B4-BE49-F238E27FC236}">
                  <a16:creationId xmlns:a16="http://schemas.microsoft.com/office/drawing/2014/main" id="{50D90B6D-5F30-2ACF-D1FA-AA33DE948E43}"/>
                </a:ext>
              </a:extLst>
            </p:cNvPr>
            <p:cNvSpPr txBox="1"/>
            <p:nvPr/>
          </p:nvSpPr>
          <p:spPr>
            <a:xfrm>
              <a:off x="4621522" y="1308476"/>
              <a:ext cx="52038" cy="209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316" rIns="34316">
              <a:spAutoFit/>
            </a:bodyPr>
            <a:lstStyle>
              <a:lvl1pPr algn="ctr">
                <a:lnSpc>
                  <a:spcPct val="90000"/>
                </a:lnSpc>
              </a:lvl1pPr>
            </a:lstStyle>
            <a:p>
              <a:endParaRPr sz="1351" dirty="0"/>
            </a:p>
          </p:txBody>
        </p:sp>
      </p:grpSp>
      <p:pic>
        <p:nvPicPr>
          <p:cNvPr id="7" name="Picture 6">
            <a:extLst>
              <a:ext uri="{FF2B5EF4-FFF2-40B4-BE49-F238E27FC236}">
                <a16:creationId xmlns:a16="http://schemas.microsoft.com/office/drawing/2014/main" id="{E982F4DC-9FEB-FF68-359A-6761069608B7}"/>
              </a:ext>
            </a:extLst>
          </p:cNvPr>
          <p:cNvPicPr>
            <a:picLocks noChangeAspect="1"/>
          </p:cNvPicPr>
          <p:nvPr/>
        </p:nvPicPr>
        <p:blipFill>
          <a:blip r:embed="rId2"/>
          <a:stretch>
            <a:fillRect/>
          </a:stretch>
        </p:blipFill>
        <p:spPr>
          <a:xfrm>
            <a:off x="1566881" y="978175"/>
            <a:ext cx="7161986" cy="2685744"/>
          </a:xfrm>
          <a:prstGeom prst="rect">
            <a:avLst/>
          </a:prstGeom>
        </p:spPr>
      </p:pic>
    </p:spTree>
    <p:extLst>
      <p:ext uri="{BB962C8B-B14F-4D97-AF65-F5344CB8AC3E}">
        <p14:creationId xmlns:p14="http://schemas.microsoft.com/office/powerpoint/2010/main" val="429325479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E6DAAB3-39BB-75EB-3B84-2A238F4BD01E}"/>
              </a:ext>
            </a:extLst>
          </p:cNvPr>
          <p:cNvSpPr txBox="1">
            <a:spLocks/>
          </p:cNvSpPr>
          <p:nvPr/>
        </p:nvSpPr>
        <p:spPr>
          <a:xfrm>
            <a:off x="653094" y="52532"/>
            <a:ext cx="10512862" cy="792908"/>
          </a:xfrm>
          <a:prstGeom prst="rect">
            <a:avLst/>
          </a:prstGeom>
        </p:spPr>
        <p:txBody>
          <a:bodyPr vert="horz" lIns="91416" tIns="45708" rIns="91416" bIns="45708" rtlCol="0" anchor="ctr">
            <a:noAutofit/>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200" dirty="0"/>
              <a:t>Orthogonal Axes of Challenges and Optimization</a:t>
            </a:r>
          </a:p>
        </p:txBody>
      </p:sp>
      <p:sp>
        <p:nvSpPr>
          <p:cNvPr id="6" name="Content Placeholder 2">
            <a:extLst>
              <a:ext uri="{FF2B5EF4-FFF2-40B4-BE49-F238E27FC236}">
                <a16:creationId xmlns:a16="http://schemas.microsoft.com/office/drawing/2014/main" id="{9423F266-451C-82AA-8A0C-E7FE7144817F}"/>
              </a:ext>
            </a:extLst>
          </p:cNvPr>
          <p:cNvSpPr txBox="1">
            <a:spLocks/>
          </p:cNvSpPr>
          <p:nvPr/>
        </p:nvSpPr>
        <p:spPr>
          <a:xfrm>
            <a:off x="837981" y="812226"/>
            <a:ext cx="10512862" cy="1263509"/>
          </a:xfrm>
          <a:prstGeom prst="rect">
            <a:avLst/>
          </a:prstGeom>
        </p:spPr>
        <p:txBody>
          <a:bodyPr vert="horz" lIns="91416" tIns="45708" rIns="91416" bIns="45708" rtlCol="0">
            <a:normAutofit/>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method for expressing algorithmic variants</a:t>
            </a:r>
          </a:p>
          <a:p>
            <a:pPr lvl="2"/>
            <a:r>
              <a:rPr lang="en-US" sz="1999" dirty="0"/>
              <a:t>Without delving into the details of the arithmetic</a:t>
            </a:r>
          </a:p>
        </p:txBody>
      </p:sp>
      <p:sp>
        <p:nvSpPr>
          <p:cNvPr id="7" name="Content Placeholder 3">
            <a:extLst>
              <a:ext uri="{FF2B5EF4-FFF2-40B4-BE49-F238E27FC236}">
                <a16:creationId xmlns:a16="http://schemas.microsoft.com/office/drawing/2014/main" id="{353CFD6D-1F1A-981D-93D3-F7B208E44DDC}"/>
              </a:ext>
            </a:extLst>
          </p:cNvPr>
          <p:cNvSpPr txBox="1">
            <a:spLocks/>
          </p:cNvSpPr>
          <p:nvPr/>
        </p:nvSpPr>
        <p:spPr>
          <a:xfrm>
            <a:off x="653094" y="1627568"/>
            <a:ext cx="8032598" cy="1492092"/>
          </a:xfrm>
          <a:prstGeom prst="rect">
            <a:avLst/>
          </a:prstGeom>
        </p:spPr>
        <p:txBody>
          <a:bodyPr>
            <a:normAutofit fontScale="62500" lnSpcReduction="2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Example -- Flash-X supports two block-structured AMR grid backends</a:t>
            </a:r>
          </a:p>
          <a:p>
            <a:pPr lvl="1"/>
            <a:r>
              <a:rPr lang="en-US" sz="2399" dirty="0"/>
              <a:t>Paramesh: Octree-based, </a:t>
            </a:r>
            <a:r>
              <a:rPr lang="en-US" sz="2399" dirty="0" err="1"/>
              <a:t>AMReX</a:t>
            </a:r>
            <a:r>
              <a:rPr lang="en-US" sz="2399" dirty="0"/>
              <a:t>: Level-based</a:t>
            </a:r>
          </a:p>
          <a:p>
            <a:r>
              <a:rPr lang="en-US" sz="2799" dirty="0"/>
              <a:t>Each has different preferences for flux correction at fine-coarse boundaries</a:t>
            </a:r>
          </a:p>
          <a:p>
            <a:r>
              <a:rPr lang="en-US" sz="2799" dirty="0"/>
              <a:t>For higher order RK integration Communication avoidance – telescoping mode</a:t>
            </a:r>
          </a:p>
          <a:p>
            <a:pPr marL="0" indent="0">
              <a:buNone/>
            </a:pPr>
            <a:endParaRPr lang="en-US" sz="2799" dirty="0"/>
          </a:p>
          <a:p>
            <a:endParaRPr lang="en-US" sz="2799" dirty="0"/>
          </a:p>
        </p:txBody>
      </p:sp>
      <p:pic>
        <p:nvPicPr>
          <p:cNvPr id="8" name="Picture 7">
            <a:extLst>
              <a:ext uri="{FF2B5EF4-FFF2-40B4-BE49-F238E27FC236}">
                <a16:creationId xmlns:a16="http://schemas.microsoft.com/office/drawing/2014/main" id="{6098C275-D845-46C4-0008-96411F6F7FF0}"/>
              </a:ext>
            </a:extLst>
          </p:cNvPr>
          <p:cNvPicPr>
            <a:picLocks noChangeAspect="1"/>
          </p:cNvPicPr>
          <p:nvPr/>
        </p:nvPicPr>
        <p:blipFill>
          <a:blip r:embed="rId2"/>
          <a:stretch>
            <a:fillRect/>
          </a:stretch>
        </p:blipFill>
        <p:spPr>
          <a:xfrm>
            <a:off x="467502" y="2835429"/>
            <a:ext cx="5442023" cy="1493080"/>
          </a:xfrm>
          <a:prstGeom prst="rect">
            <a:avLst/>
          </a:prstGeom>
        </p:spPr>
      </p:pic>
      <p:pic>
        <p:nvPicPr>
          <p:cNvPr id="9" name="Picture 8">
            <a:extLst>
              <a:ext uri="{FF2B5EF4-FFF2-40B4-BE49-F238E27FC236}">
                <a16:creationId xmlns:a16="http://schemas.microsoft.com/office/drawing/2014/main" id="{0FE551E7-6183-AD3B-5F3C-999B10F77062}"/>
              </a:ext>
            </a:extLst>
          </p:cNvPr>
          <p:cNvPicPr>
            <a:picLocks noChangeAspect="1"/>
          </p:cNvPicPr>
          <p:nvPr/>
        </p:nvPicPr>
        <p:blipFill>
          <a:blip r:embed="rId3"/>
          <a:stretch>
            <a:fillRect/>
          </a:stretch>
        </p:blipFill>
        <p:spPr>
          <a:xfrm>
            <a:off x="6052076" y="2817902"/>
            <a:ext cx="5655410" cy="1563241"/>
          </a:xfrm>
          <a:prstGeom prst="rect">
            <a:avLst/>
          </a:prstGeom>
        </p:spPr>
      </p:pic>
      <p:pic>
        <p:nvPicPr>
          <p:cNvPr id="10" name="Picture 9">
            <a:extLst>
              <a:ext uri="{FF2B5EF4-FFF2-40B4-BE49-F238E27FC236}">
                <a16:creationId xmlns:a16="http://schemas.microsoft.com/office/drawing/2014/main" id="{7E04467E-5033-B6B3-B0D8-CABA3E0AE6FB}"/>
              </a:ext>
            </a:extLst>
          </p:cNvPr>
          <p:cNvPicPr>
            <a:picLocks noChangeAspect="1"/>
          </p:cNvPicPr>
          <p:nvPr/>
        </p:nvPicPr>
        <p:blipFill>
          <a:blip r:embed="rId4"/>
          <a:stretch>
            <a:fillRect/>
          </a:stretch>
        </p:blipFill>
        <p:spPr>
          <a:xfrm>
            <a:off x="416190" y="4386588"/>
            <a:ext cx="5493335" cy="1516662"/>
          </a:xfrm>
          <a:prstGeom prst="rect">
            <a:avLst/>
          </a:prstGeom>
        </p:spPr>
      </p:pic>
      <p:pic>
        <p:nvPicPr>
          <p:cNvPr id="11" name="Picture 10">
            <a:extLst>
              <a:ext uri="{FF2B5EF4-FFF2-40B4-BE49-F238E27FC236}">
                <a16:creationId xmlns:a16="http://schemas.microsoft.com/office/drawing/2014/main" id="{5831DA50-696B-1715-965E-AA4ED080EAF7}"/>
              </a:ext>
            </a:extLst>
          </p:cNvPr>
          <p:cNvPicPr>
            <a:picLocks noChangeAspect="1"/>
          </p:cNvPicPr>
          <p:nvPr/>
        </p:nvPicPr>
        <p:blipFill>
          <a:blip r:embed="rId5"/>
          <a:stretch>
            <a:fillRect/>
          </a:stretch>
        </p:blipFill>
        <p:spPr>
          <a:xfrm>
            <a:off x="6009740" y="4381143"/>
            <a:ext cx="5697746" cy="1563241"/>
          </a:xfrm>
          <a:prstGeom prst="rect">
            <a:avLst/>
          </a:prstGeom>
        </p:spPr>
      </p:pic>
    </p:spTree>
    <p:extLst>
      <p:ext uri="{BB962C8B-B14F-4D97-AF65-F5344CB8AC3E}">
        <p14:creationId xmlns:p14="http://schemas.microsoft.com/office/powerpoint/2010/main" val="34934647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903576"/>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and verification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and enable verification</a:t>
            </a:r>
          </a:p>
          <a:p>
            <a:r>
              <a:rPr lang="en-US" dirty="0"/>
              <a:t>Using good software engineering enables relying on LLM </a:t>
            </a:r>
            <a:r>
              <a:rPr lang="en-US"/>
              <a:t>for automating </a:t>
            </a:r>
            <a:r>
              <a:rPr lang="en-US" dirty="0"/>
              <a:t>aspects of coding.</a:t>
            </a:r>
          </a:p>
          <a:p>
            <a:pPr marL="0" indent="0">
              <a:buNone/>
            </a:pPr>
            <a:endParaRPr lang="en-US" dirty="0"/>
          </a:p>
        </p:txBody>
      </p:sp>
    </p:spTree>
    <p:extLst>
      <p:ext uri="{BB962C8B-B14F-4D97-AF65-F5344CB8AC3E}">
        <p14:creationId xmlns:p14="http://schemas.microsoft.com/office/powerpoint/2010/main" val="5070453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2728</TotalTime>
  <Words>6763</Words>
  <Application>Microsoft Macintosh PowerPoint</Application>
  <PresentationFormat>Custom</PresentationFormat>
  <Paragraphs>1101</Paragraphs>
  <Slides>80</Slides>
  <Notes>26</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80</vt:i4>
      </vt:variant>
    </vt:vector>
  </HeadingPairs>
  <TitlesOfParts>
    <vt:vector size="86" baseType="lpstr">
      <vt:lpstr>Arial</vt:lpstr>
      <vt:lpstr>Arial Black</vt:lpstr>
      <vt:lpstr>Calibri</vt:lpstr>
      <vt:lpstr>sohne</vt:lpstr>
      <vt:lpstr>Wingdings</vt:lpstr>
      <vt:lpstr>Presentations (Wide Screen)</vt:lpstr>
      <vt:lpstr>Responsible Software Development with LLMs</vt:lpstr>
      <vt:lpstr>License, Citation and Acknowledgements</vt:lpstr>
      <vt:lpstr>Introduction</vt:lpstr>
      <vt:lpstr>Designing Software – High Level Phases</vt:lpstr>
      <vt:lpstr>Example </vt:lpstr>
      <vt:lpstr>Requirements Gathering </vt:lpstr>
      <vt:lpstr>Decomposition</vt:lpstr>
      <vt:lpstr>Connectivity</vt:lpstr>
      <vt:lpstr>Connectivity</vt:lpstr>
      <vt:lpstr>Connectivity</vt:lpstr>
      <vt:lpstr>Connectivity</vt:lpstr>
      <vt:lpstr>Connectivity</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Test Driven Development</vt:lpstr>
      <vt:lpstr>Test Driven Development</vt:lpstr>
      <vt:lpstr>Using LLM </vt:lpstr>
      <vt:lpstr>Code Generation Steps</vt:lpstr>
      <vt:lpstr>Code Generation Steps</vt:lpstr>
      <vt:lpstr>My Steps</vt:lpstr>
      <vt:lpstr>Advanced Topic – Research Software Challenges in Design and Verification</vt:lpstr>
      <vt:lpstr>SOLID Principles Pose Some Difficulties</vt:lpstr>
      <vt:lpstr>Additional Considerations for Research Software</vt:lpstr>
      <vt:lpstr>More Complex Application Design – Sedov Blast Wave </vt:lpstr>
      <vt:lpstr>Deeper Dive into Requirements</vt:lpstr>
      <vt:lpstr>Components</vt:lpstr>
      <vt:lpstr>Connectivity</vt:lpstr>
      <vt:lpstr>Connectivity</vt:lpstr>
      <vt:lpstr>Connectivity</vt:lpstr>
      <vt:lpstr>Connectivity</vt:lpstr>
      <vt:lpstr>Connectivity</vt:lpstr>
      <vt:lpstr>A Design Model for Separation of Concerns</vt:lpstr>
      <vt:lpstr>Exploring Design Space – Abstractions</vt:lpstr>
      <vt:lpstr>Separation of Concerns Applied</vt:lpstr>
      <vt:lpstr>Takeaways so Far</vt:lpstr>
      <vt:lpstr>Building a Test-suite</vt:lpstr>
      <vt:lpstr>Building a Test-suite</vt:lpstr>
      <vt:lpstr>Building a Test-suite</vt:lpstr>
      <vt:lpstr>Example – Back to Sedov Blast</vt:lpstr>
      <vt:lpstr>Example – Shock Hydrodynamics with Adaptive Mesh Refinement</vt:lpstr>
      <vt:lpstr>Step 1 – Equation of State</vt:lpstr>
      <vt:lpstr>Step 1 – Equation of State</vt:lpstr>
      <vt:lpstr>Step 2 – Mesh</vt:lpstr>
      <vt:lpstr>Step 2 – Mesh</vt:lpstr>
      <vt:lpstr>Step 3 – Hydrodynamics</vt:lpstr>
      <vt:lpstr>Step  4 –  AMR</vt:lpstr>
      <vt:lpstr>Step  4 –  AMR</vt:lpstr>
      <vt:lpstr>Step  4 –  AMR</vt:lpstr>
      <vt:lpstr>PowerPoint Presentation</vt:lpstr>
      <vt:lpstr>PowerPoint Presentation</vt:lpstr>
      <vt:lpstr>State of Practice – Abstractions and Runtimes</vt:lpstr>
      <vt:lpstr>State of Practice – Abstractions and Runtimes</vt:lpstr>
      <vt:lpstr>Mechanisms Needed by the Code </vt:lpstr>
      <vt:lpstr>Mechanisms Needed by the Code </vt:lpstr>
      <vt:lpstr>Mechanisms Needed by the Code </vt:lpstr>
      <vt:lpstr>Mechanisms Needed by the Code </vt:lpstr>
      <vt:lpstr>Underlying Ideas: Unification of Computational Expressions</vt:lpstr>
      <vt:lpstr>Underlying Ideas: Moving Work and Data to the Target</vt:lpstr>
      <vt:lpstr>Underlying Ideas: Mapping Work to Targets</vt:lpstr>
      <vt:lpstr>State of Practice – Abstractions and Runtimes</vt:lpstr>
      <vt:lpstr>Mechanisms Needed by the Code: Example Flash-X</vt:lpstr>
      <vt:lpstr>Mechanisms Needed by the Code </vt:lpstr>
      <vt:lpstr>PowerPoint Presentation</vt:lpstr>
      <vt:lpstr>PowerPoint Presentation</vt:lpstr>
      <vt:lpstr>Mechanisms Needed by the Code </vt:lpstr>
      <vt:lpstr> Orchestration of Data and Computation</vt:lpstr>
      <vt:lpstr>PowerPoint Presentation</vt:lpstr>
      <vt:lpstr>Final Takeaways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258</cp:revision>
  <cp:lastPrinted>2017-11-02T18:35:01Z</cp:lastPrinted>
  <dcterms:created xsi:type="dcterms:W3CDTF">2018-11-06T17:28:56Z</dcterms:created>
  <dcterms:modified xsi:type="dcterms:W3CDTF">2025-11-09T20:25:24Z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