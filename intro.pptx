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625" r:id="rId6"/>
    <p:sldId id="308" r:id="rId7"/>
    <p:sldId id="324" r:id="rId8"/>
    <p:sldId id="329" r:id="rId9"/>
    <p:sldId id="620" r:id="rId10"/>
    <p:sldId id="622" r:id="rId11"/>
    <p:sldId id="616" r:id="rId12"/>
    <p:sldId id="626" r:id="rId13"/>
    <p:sldId id="624"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5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10/25/2025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10/25/2025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pesoproject.org/" TargetMode="External"/><Relationship Id="rId7" Type="http://schemas.openxmlformats.org/officeDocument/2006/relationships/image" Target="../media/image10.jpeg"/><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hyperlink" Target="https://ideas-productivity.org/" TargetMode="External"/><Relationship Id="rId4" Type="http://schemas.openxmlformats.org/officeDocument/2006/relationships/hyperlink" Target="https://rapids.lbl.gov/"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 Id="rId4" Type="http://schemas.openxmlformats.org/officeDocument/2006/relationships/hyperlink" Target="https://bssw.io/events/sc25-software-related-events"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2025-11-16-sc/"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Reproducible Science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2" y="1959498"/>
            <a:ext cx="7772308" cy="2855300"/>
          </a:xfrm>
        </p:spPr>
        <p:txBody>
          <a:bodyPr/>
          <a:lstStyle/>
          <a:p>
            <a:r>
              <a:rPr lang="en-US" dirty="0"/>
              <a:t>David E. Bernholdt, Anshu Dubey</a:t>
            </a:r>
          </a:p>
          <a:p>
            <a:pPr>
              <a:spcBef>
                <a:spcPts val="2800"/>
              </a:spcBef>
            </a:pPr>
            <a:r>
              <a:rPr lang="en-US" sz="2000" dirty="0"/>
              <a:t>The International Conference for High-Performance Computing, Networking, Storage, and Analysis (SC25) conference</a:t>
            </a:r>
            <a:endParaRPr lang="en-US" sz="16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a:p>
            <a:pPr>
              <a:spcBef>
                <a:spcPts val="1000"/>
              </a:spcBef>
            </a:pPr>
            <a:r>
              <a:rPr lang="en-US" dirty="0"/>
              <a:t>Anshu Dubey,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and </a:t>
            </a:r>
            <a:r>
              <a:rPr lang="en-US" sz="2000" dirty="0">
                <a:hlinkClick r:id="rId4"/>
              </a:rPr>
              <a:t>RAPIDS</a:t>
            </a:r>
            <a:r>
              <a:rPr lang="en-US" sz="2000" dirty="0"/>
              <a:t> projects</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5"/>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9515196"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7899602"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
        <p:nvSpPr>
          <p:cNvPr id="4" name="TextBox 3">
            <a:extLst>
              <a:ext uri="{FF2B5EF4-FFF2-40B4-BE49-F238E27FC236}">
                <a16:creationId xmlns:a16="http://schemas.microsoft.com/office/drawing/2014/main" id="{6067EE83-B4F9-019B-E0E8-E80C48D26F36}"/>
              </a:ext>
            </a:extLst>
          </p:cNvPr>
          <p:cNvSpPr txBox="1"/>
          <p:nvPr/>
        </p:nvSpPr>
        <p:spPr>
          <a:xfrm>
            <a:off x="3361713" y="4561262"/>
            <a:ext cx="5465397" cy="1846659"/>
          </a:xfrm>
          <a:prstGeom prst="rect">
            <a:avLst/>
          </a:prstGeom>
          <a:solidFill>
            <a:srgbClr val="FFFF00"/>
          </a:solidFill>
          <a:ln>
            <a:solidFill>
              <a:schemeClr val="tx1"/>
            </a:solidFill>
          </a:ln>
        </p:spPr>
        <p:txBody>
          <a:bodyPr wrap="square" lIns="118872" tIns="91440" rIns="118872" bIns="91440" rtlCol="0" anchor="ctr" anchorCtr="0">
            <a:spAutoFit/>
          </a:bodyPr>
          <a:lstStyle/>
          <a:p>
            <a:pPr algn="ctr">
              <a:lnSpc>
                <a:spcPct val="90000"/>
              </a:lnSpc>
            </a:pPr>
            <a:r>
              <a:rPr lang="en-US" sz="2400" dirty="0"/>
              <a:t>You may also be interested in these other software-related events at SC25: </a:t>
            </a:r>
            <a:r>
              <a:rPr lang="en-US" sz="2400" dirty="0">
                <a:hlinkClick r:id="rId4"/>
              </a:rPr>
              <a:t>https://bssw.io/events/sc25-software-related-events </a:t>
            </a:r>
            <a:endParaRPr lang="en-US" sz="2400" dirty="0"/>
          </a:p>
          <a:p>
            <a:pPr algn="ctr">
              <a:lnSpc>
                <a:spcPct val="90000"/>
              </a:lnSpc>
            </a:pPr>
            <a:r>
              <a:rPr lang="en-US" dirty="0"/>
              <a:t>(link is also on tutorial web page)</a:t>
            </a:r>
            <a:endParaRPr lang="en-US" sz="2400" dirty="0"/>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857B-C8AE-3636-C96D-01CD92D9CB12}"/>
              </a:ext>
            </a:extLst>
          </p:cNvPr>
          <p:cNvSpPr>
            <a:spLocks noGrp="1"/>
          </p:cNvSpPr>
          <p:nvPr>
            <p:ph type="title"/>
          </p:nvPr>
        </p:nvSpPr>
        <p:spPr/>
        <p:txBody>
          <a:bodyPr/>
          <a:lstStyle/>
          <a:p>
            <a:r>
              <a:rPr lang="en-US" dirty="0"/>
              <a:t>Hands-On Activities</a:t>
            </a:r>
          </a:p>
        </p:txBody>
      </p:sp>
      <p:sp>
        <p:nvSpPr>
          <p:cNvPr id="3" name="Content Placeholder 2">
            <a:extLst>
              <a:ext uri="{FF2B5EF4-FFF2-40B4-BE49-F238E27FC236}">
                <a16:creationId xmlns:a16="http://schemas.microsoft.com/office/drawing/2014/main" id="{097E720E-7D3E-58A1-FD58-328F8C1D8DC1}"/>
              </a:ext>
            </a:extLst>
          </p:cNvPr>
          <p:cNvSpPr>
            <a:spLocks noGrp="1"/>
          </p:cNvSpPr>
          <p:nvPr>
            <p:ph idx="1"/>
          </p:nvPr>
        </p:nvSpPr>
        <p:spPr>
          <a:xfrm>
            <a:off x="365760" y="1100865"/>
            <a:ext cx="11369809" cy="4047778"/>
          </a:xfrm>
        </p:spPr>
        <p:txBody>
          <a:bodyPr/>
          <a:lstStyle/>
          <a:p>
            <a:r>
              <a:rPr lang="en-US" dirty="0"/>
              <a:t>The “Responsible Software Development with LLMs” module includes a hands-on component</a:t>
            </a:r>
          </a:p>
          <a:p>
            <a:pPr lvl="1">
              <a:spcBef>
                <a:spcPts val="200"/>
              </a:spcBef>
            </a:pPr>
            <a:r>
              <a:rPr lang="en-US" dirty="0"/>
              <a:t>You will be using an LLM to generate code and tests</a:t>
            </a:r>
          </a:p>
          <a:p>
            <a:r>
              <a:rPr lang="en-US" dirty="0"/>
              <a:t>Participation in the hands-on is encouraged but not required</a:t>
            </a:r>
          </a:p>
          <a:p>
            <a:pPr lvl="1">
              <a:spcBef>
                <a:spcPts val="200"/>
              </a:spcBef>
            </a:pPr>
            <a:r>
              <a:rPr lang="en-US" dirty="0"/>
              <a:t>The instructor’s prompts and generated code will be made available to participants after the exercise</a:t>
            </a:r>
          </a:p>
          <a:p>
            <a:r>
              <a:rPr lang="en-US" dirty="0"/>
              <a:t>To participate in the hands-on, you will need access to a web-based LLM chat tool</a:t>
            </a:r>
          </a:p>
          <a:p>
            <a:pPr lvl="1">
              <a:spcBef>
                <a:spcPts val="200"/>
              </a:spcBef>
            </a:pPr>
            <a:r>
              <a:rPr lang="en-US" dirty="0"/>
              <a:t>The instructor will be using ChatGPT, but any similar tool will work</a:t>
            </a:r>
          </a:p>
          <a:p>
            <a:r>
              <a:rPr lang="en-US" dirty="0"/>
              <a:t>Access to a C compiler will be needed to compile and run the generated code</a:t>
            </a:r>
          </a:p>
          <a:p>
            <a:pPr lvl="1">
              <a:spcBef>
                <a:spcPts val="200"/>
              </a:spcBef>
            </a:pPr>
            <a:r>
              <a:rPr lang="en-US" dirty="0"/>
              <a:t>Local or remote doesn’t matter</a:t>
            </a:r>
          </a:p>
          <a:p>
            <a:pPr lvl="1">
              <a:spcBef>
                <a:spcPts val="200"/>
              </a:spcBef>
            </a:pPr>
            <a:r>
              <a:rPr lang="en-US" dirty="0"/>
              <a:t>Alternatively, you can inspect the code – not as rigorous, but fine for this tutorial</a:t>
            </a:r>
          </a:p>
          <a:p>
            <a:r>
              <a:rPr lang="en-US" dirty="0"/>
              <a:t>For complete details, see the tutorial web page</a:t>
            </a:r>
            <a:r>
              <a:rPr lang="en-US"/>
              <a:t>: </a:t>
            </a:r>
            <a:r>
              <a:rPr lang="en-US">
                <a:hlinkClick r:id="rId2"/>
              </a:rPr>
              <a:t>https://bssw-tutorial.github.io/2025-11-16-sc/</a:t>
            </a:r>
            <a:endParaRPr lang="en-US"/>
          </a:p>
        </p:txBody>
      </p:sp>
    </p:spTree>
    <p:extLst>
      <p:ext uri="{BB962C8B-B14F-4D97-AF65-F5344CB8AC3E}">
        <p14:creationId xmlns:p14="http://schemas.microsoft.com/office/powerpoint/2010/main" val="2959188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3590364095"/>
              </p:ext>
            </p:extLst>
          </p:nvPr>
        </p:nvGraphicFramePr>
        <p:xfrm>
          <a:off x="1051560" y="1074420"/>
          <a:ext cx="9692640" cy="4323588"/>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(CDT)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buNone/>
                      </a:pPr>
                      <a:r>
                        <a:rPr lang="en-US">
                          <a:effectLst/>
                        </a:rPr>
                        <a:t>8:30 AM</a:t>
                      </a:r>
                    </a:p>
                  </a:txBody>
                  <a:tcPr marL="142875" marR="142875" marT="95250" marB="95250" anchor="ctr"/>
                </a:tc>
                <a:tc>
                  <a:txBody>
                    <a:bodyPr/>
                    <a:lstStyle/>
                    <a:p>
                      <a:pPr>
                        <a:buNone/>
                      </a:pPr>
                      <a:r>
                        <a:rPr lang="en-US">
                          <a:effectLst/>
                        </a:rPr>
                        <a:t>Introduction</a:t>
                      </a:r>
                    </a:p>
                  </a:txBody>
                  <a:tcPr marL="142875" marR="142875" marT="95250" marB="95250" anchor="ctr"/>
                </a:tc>
                <a:tc>
                  <a:txBody>
                    <a:bodyPr/>
                    <a:lstStyle/>
                    <a:p>
                      <a:pPr>
                        <a:buNone/>
                      </a:pPr>
                      <a:r>
                        <a:rPr lang="en-US" dirty="0">
                          <a:effectLst/>
                        </a:rPr>
                        <a:t>David E. Bernholdt (ORNL)</a:t>
                      </a:r>
                    </a:p>
                  </a:txBody>
                  <a:tcPr marL="142875" marR="142875" marT="95250" marB="95250" anchor="ctr"/>
                </a:tc>
                <a:extLst>
                  <a:ext uri="{0D108BD9-81ED-4DB2-BD59-A6C34878D82A}">
                    <a16:rowId xmlns:a16="http://schemas.microsoft.com/office/drawing/2014/main" val="541819896"/>
                  </a:ext>
                </a:extLst>
              </a:tr>
              <a:tr h="526542">
                <a:tc>
                  <a:txBody>
                    <a:bodyPr/>
                    <a:lstStyle/>
                    <a:p>
                      <a:pPr algn="r">
                        <a:buNone/>
                      </a:pPr>
                      <a:r>
                        <a:rPr lang="en-US">
                          <a:effectLst/>
                        </a:rPr>
                        <a:t>8:45 AM</a:t>
                      </a:r>
                    </a:p>
                  </a:txBody>
                  <a:tcPr marL="142875" marR="142875" marT="95250" marB="95250" anchor="ctr"/>
                </a:tc>
                <a:tc>
                  <a:txBody>
                    <a:bodyPr/>
                    <a:lstStyle/>
                    <a:p>
                      <a:pPr>
                        <a:buNone/>
                      </a:pPr>
                      <a:r>
                        <a:rPr lang="en-US">
                          <a:effectLst/>
                        </a:rPr>
                        <a:t>Motivation and Overview of Best Practices in HPC Software Development</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3922137579"/>
                  </a:ext>
                </a:extLst>
              </a:tr>
              <a:tr h="526542">
                <a:tc>
                  <a:txBody>
                    <a:bodyPr/>
                    <a:lstStyle/>
                    <a:p>
                      <a:pPr algn="r">
                        <a:buNone/>
                      </a:pPr>
                      <a:r>
                        <a:rPr lang="en-US">
                          <a:effectLst/>
                        </a:rPr>
                        <a:t>9:15 AM</a:t>
                      </a:r>
                    </a:p>
                  </a:txBody>
                  <a:tcPr marL="142875" marR="142875" marT="95250" marB="95250" anchor="ctr"/>
                </a:tc>
                <a:tc>
                  <a:txBody>
                    <a:bodyPr/>
                    <a:lstStyle/>
                    <a:p>
                      <a:pPr>
                        <a:buNone/>
                      </a:pPr>
                      <a:r>
                        <a:rPr lang="en-US">
                          <a:effectLst/>
                        </a:rPr>
                        <a:t>Improving Reproducibility Through Better Software Practices</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476507548"/>
                  </a:ext>
                </a:extLst>
              </a:tr>
              <a:tr h="526542">
                <a:tc>
                  <a:txBody>
                    <a:bodyPr/>
                    <a:lstStyle/>
                    <a:p>
                      <a:pPr algn="r">
                        <a:buNone/>
                      </a:pPr>
                      <a:r>
                        <a:rPr lang="en-US">
                          <a:effectLst/>
                        </a:rPr>
                        <a:t>10:00 AM</a:t>
                      </a:r>
                    </a:p>
                  </a:txBody>
                  <a:tcPr marL="142875" marR="142875" marT="95250" marB="95250" anchor="ctr"/>
                </a:tc>
                <a:tc>
                  <a:txBody>
                    <a:bodyPr/>
                    <a:lstStyle/>
                    <a:p>
                      <a:pPr>
                        <a:buNone/>
                      </a:pPr>
                      <a:r>
                        <a:rPr lang="en-US" i="1">
                          <a:effectLst/>
                        </a:rPr>
                        <a:t>Morning break</a:t>
                      </a:r>
                      <a:endParaRPr lang="en-US">
                        <a:effectLst/>
                      </a:endParaRPr>
                    </a:p>
                  </a:txBody>
                  <a:tcPr marL="142875" marR="142875" marT="95250" marB="95250" anchor="ctr"/>
                </a:tc>
                <a:tc>
                  <a:txBody>
                    <a:bodyPr/>
                    <a:lstStyle/>
                    <a:p>
                      <a:pPr>
                        <a:buNone/>
                      </a:pPr>
                      <a:endParaRPr lang="en-US">
                        <a:effectLst/>
                      </a:endParaRPr>
                    </a:p>
                  </a:txBody>
                  <a:tcPr marL="142875" marR="142875" marT="95250" marB="95250" anchor="ctr"/>
                </a:tc>
                <a:extLst>
                  <a:ext uri="{0D108BD9-81ED-4DB2-BD59-A6C34878D82A}">
                    <a16:rowId xmlns:a16="http://schemas.microsoft.com/office/drawing/2014/main" val="3487810232"/>
                  </a:ext>
                </a:extLst>
              </a:tr>
              <a:tr h="526542">
                <a:tc>
                  <a:txBody>
                    <a:bodyPr/>
                    <a:lstStyle/>
                    <a:p>
                      <a:pPr algn="r">
                        <a:buNone/>
                      </a:pPr>
                      <a:r>
                        <a:rPr lang="en-US">
                          <a:effectLst/>
                        </a:rPr>
                        <a:t>10:30 AM</a:t>
                      </a:r>
                    </a:p>
                  </a:txBody>
                  <a:tcPr marL="142875" marR="142875" marT="95250" marB="95250" anchor="ctr"/>
                </a:tc>
                <a:tc>
                  <a:txBody>
                    <a:bodyPr/>
                    <a:lstStyle/>
                    <a:p>
                      <a:pPr>
                        <a:buNone/>
                      </a:pPr>
                      <a:r>
                        <a:rPr lang="en-US" dirty="0">
                          <a:effectLst/>
                        </a:rPr>
                        <a:t>Responsible Software Development with LLMs</a:t>
                      </a:r>
                    </a:p>
                  </a:txBody>
                  <a:tcPr marL="142875" marR="142875" marT="95250" marB="95250" anchor="ctr"/>
                </a:tc>
                <a:tc>
                  <a:txBody>
                    <a:bodyPr/>
                    <a:lstStyle/>
                    <a:p>
                      <a:pPr>
                        <a:buNone/>
                      </a:pPr>
                      <a:r>
                        <a:rPr lang="en-US">
                          <a:effectLst/>
                        </a:rPr>
                        <a:t>Anshu Dubey (ANL)</a:t>
                      </a:r>
                    </a:p>
                  </a:txBody>
                  <a:tcPr marL="142875" marR="142875" marT="95250" marB="95250" anchor="ctr"/>
                </a:tc>
                <a:extLst>
                  <a:ext uri="{0D108BD9-81ED-4DB2-BD59-A6C34878D82A}">
                    <a16:rowId xmlns:a16="http://schemas.microsoft.com/office/drawing/2014/main" val="2034051112"/>
                  </a:ext>
                </a:extLst>
              </a:tr>
              <a:tr h="526542">
                <a:tc>
                  <a:txBody>
                    <a:bodyPr/>
                    <a:lstStyle/>
                    <a:p>
                      <a:pPr algn="r">
                        <a:buNone/>
                      </a:pPr>
                      <a:r>
                        <a:rPr lang="en-US">
                          <a:effectLst/>
                        </a:rPr>
                        <a:t>12:00 PM</a:t>
                      </a:r>
                    </a:p>
                  </a:txBody>
                  <a:tcPr marL="142875" marR="142875" marT="95250" marB="95250" anchor="ctr"/>
                </a:tc>
                <a:tc>
                  <a:txBody>
                    <a:bodyPr/>
                    <a:lstStyle/>
                    <a:p>
                      <a:pPr>
                        <a:buNone/>
                      </a:pPr>
                      <a:r>
                        <a:rPr lang="en-US" i="1">
                          <a:effectLst/>
                        </a:rPr>
                        <a:t>Adjourn</a:t>
                      </a:r>
                      <a:endParaRPr lang="en-US">
                        <a:effectLst/>
                      </a:endParaRPr>
                    </a:p>
                  </a:txBody>
                  <a:tcPr marL="142875" marR="142875" marT="95250" marB="95250" anchor="ctr"/>
                </a:tc>
                <a:tc>
                  <a:txBody>
                    <a:bodyPr/>
                    <a:lstStyle/>
                    <a:p>
                      <a:pPr>
                        <a:buNone/>
                      </a:pPr>
                      <a:endParaRPr lang="en-US" dirty="0">
                        <a:effectLst/>
                      </a:endParaRPr>
                    </a:p>
                  </a:txBody>
                  <a:tcPr marL="142875" marR="142875" marT="95250" marB="95250" anchor="ctr"/>
                </a:tc>
                <a:extLst>
                  <a:ext uri="{0D108BD9-81ED-4DB2-BD59-A6C34878D82A}">
                    <a16:rowId xmlns:a16="http://schemas.microsoft.com/office/drawing/2014/main" val="1459939263"/>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4478</TotalTime>
  <Words>1171</Words>
  <Application>Microsoft Office PowerPoint</Application>
  <PresentationFormat>Custom</PresentationFormat>
  <Paragraphs>103</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Better Software for Reproducible Science </vt:lpstr>
      <vt:lpstr>License, Citation and Acknowledgements</vt:lpstr>
      <vt:lpstr>About Us</vt:lpstr>
      <vt:lpstr>Building an Online Community</vt:lpstr>
      <vt:lpstr>Follow BSSw</vt:lpstr>
      <vt:lpstr>BSSw Tutorial Web Site</vt:lpstr>
      <vt:lpstr>Explaining Slide 2</vt:lpstr>
      <vt:lpstr>We Want to Interact with You!</vt:lpstr>
      <vt:lpstr>Hands-On Activities</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483</cp:revision>
  <cp:lastPrinted>2017-11-02T18:35:01Z</cp:lastPrinted>
  <dcterms:created xsi:type="dcterms:W3CDTF">2018-11-06T17:28:56Z</dcterms:created>
  <dcterms:modified xsi:type="dcterms:W3CDTF">2025-10-25T20:32:23Z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