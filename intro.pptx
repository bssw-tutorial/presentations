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4"/>
  </p:notesMasterIdLst>
  <p:handoutMasterIdLst>
    <p:handoutMasterId r:id="rId15"/>
  </p:handoutMasterIdLst>
  <p:sldIdLst>
    <p:sldId id="617" r:id="rId5"/>
    <p:sldId id="627" r:id="rId6"/>
    <p:sldId id="308" r:id="rId7"/>
    <p:sldId id="324" r:id="rId8"/>
    <p:sldId id="329" r:id="rId9"/>
    <p:sldId id="620" r:id="rId10"/>
    <p:sldId id="622" r:id="rId11"/>
    <p:sldId id="616" r:id="rId12"/>
    <p:sldId id="624" r:id="rId13"/>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840" autoAdjust="0"/>
    <p:restoredTop sz="96571" autoAdjust="0"/>
  </p:normalViewPr>
  <p:slideViewPr>
    <p:cSldViewPr snapToGrid="0" showGuides="1">
      <p:cViewPr varScale="1">
        <p:scale>
          <a:sx n="123" d="100"/>
          <a:sy n="123" d="100"/>
        </p:scale>
        <p:origin x="15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openxmlformats.org/officeDocument/2006/relationships/image" Target="../media/image2.png"/><Relationship Id="rId9" Type="http://schemas.openxmlformats.org/officeDocument/2006/relationships/hyperlink" Target="https://pesoproject.org/"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232445"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30" name="TextBox 29">
            <a:extLst>
              <a:ext uri="{FF2B5EF4-FFF2-40B4-BE49-F238E27FC236}">
                <a16:creationId xmlns:a16="http://schemas.microsoft.com/office/drawing/2014/main" id="{803AFA0D-94D6-5454-A9A3-782EA3D7B912}"/>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33139910"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pesoproject.org/" TargetMode="External"/><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5" Type="http://schemas.openxmlformats.org/officeDocument/2006/relationships/image" Target="../media/image8.jpeg"/><Relationship Id="rId4" Type="http://schemas.openxmlformats.org/officeDocument/2006/relationships/hyperlink" Target="https://ideas-productivity.org/"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b="0" dirty="0"/>
              <a:t>Software Sustainability</a:t>
            </a:r>
            <a:endParaRPr lang="en-US" dirty="0"/>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3" y="1959497"/>
            <a:ext cx="7772308" cy="2855300"/>
          </a:xfrm>
        </p:spPr>
        <p:txBody>
          <a:bodyPr/>
          <a:lstStyle/>
          <a:p>
            <a:r>
              <a:rPr lang="en-US" dirty="0"/>
              <a:t>David E. Bernholdt</a:t>
            </a:r>
          </a:p>
          <a:p>
            <a:pPr>
              <a:spcBef>
                <a:spcPts val="2800"/>
              </a:spcBef>
            </a:pPr>
            <a:r>
              <a:rPr lang="en-US" sz="2000" dirty="0"/>
              <a:t>Argonne Training Program on Extreme-Scale Computing summer school (2026)</a:t>
            </a:r>
            <a:endParaRPr lang="en-US" sz="1400" b="0" i="0" dirty="0">
              <a:solidFill>
                <a:srgbClr val="111111"/>
              </a:solidFill>
              <a:effectLst/>
              <a:latin typeface="+mn-lt"/>
            </a:endParaRP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David E. Bernholdt, ORNL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263149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PESO</a:t>
            </a:r>
            <a:r>
              <a:rPr lang="en-US" sz="2000" dirty="0"/>
              <a:t> project</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4"/>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12" name="Group 11">
            <a:extLst>
              <a:ext uri="{FF2B5EF4-FFF2-40B4-BE49-F238E27FC236}">
                <a16:creationId xmlns:a16="http://schemas.microsoft.com/office/drawing/2014/main" id="{C1CB8376-FC49-BC56-A4AC-5F5C8E6F61B2}"/>
              </a:ext>
            </a:extLst>
          </p:cNvPr>
          <p:cNvGrpSpPr/>
          <p:nvPr/>
        </p:nvGrpSpPr>
        <p:grpSpPr>
          <a:xfrm>
            <a:off x="9553668" y="1280696"/>
            <a:ext cx="914400" cy="1517469"/>
            <a:chOff x="9553668" y="1280696"/>
            <a:chExt cx="914400" cy="1517469"/>
          </a:xfrm>
        </p:grpSpPr>
        <p:sp>
          <p:nvSpPr>
            <p:cNvPr id="7" name="TextBox 6">
              <a:extLst>
                <a:ext uri="{FF2B5EF4-FFF2-40B4-BE49-F238E27FC236}">
                  <a16:creationId xmlns:a16="http://schemas.microsoft.com/office/drawing/2014/main" id="{A721C738-DF8D-3EA9-2614-5824FE3BD0E9}"/>
                </a:ext>
              </a:extLst>
            </p:cNvPr>
            <p:cNvSpPr txBox="1"/>
            <p:nvPr/>
          </p:nvSpPr>
          <p:spPr>
            <a:xfrm>
              <a:off x="9553668" y="2207234"/>
              <a:ext cx="877164" cy="590931"/>
            </a:xfrm>
            <a:prstGeom prst="rect">
              <a:avLst/>
            </a:prstGeom>
            <a:noFill/>
          </p:spPr>
          <p:txBody>
            <a:bodyPr wrap="none" rtlCol="0">
              <a:spAutoFit/>
            </a:bodyPr>
            <a:lstStyle/>
            <a:p>
              <a:pPr algn="ctr">
                <a:lnSpc>
                  <a:spcPct val="90000"/>
                </a:lnSpc>
              </a:pPr>
              <a:r>
                <a:rPr lang="en-US" dirty="0"/>
                <a:t>David</a:t>
              </a:r>
            </a:p>
            <a:p>
              <a:pPr algn="ctr">
                <a:lnSpc>
                  <a:spcPct val="90000"/>
                </a:lnSpc>
              </a:pPr>
              <a:r>
                <a:rPr lang="en-US" i="1" dirty="0"/>
                <a:t>he/him</a:t>
              </a:r>
            </a:p>
          </p:txBody>
        </p:sp>
        <p:pic>
          <p:nvPicPr>
            <p:cNvPr id="11" name="Picture 10">
              <a:extLst>
                <a:ext uri="{FF2B5EF4-FFF2-40B4-BE49-F238E27FC236}">
                  <a16:creationId xmlns:a16="http://schemas.microsoft.com/office/drawing/2014/main" id="{CB83ECAB-4195-38FC-D057-70946F05D1D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553668" y="1280696"/>
              <a:ext cx="914400" cy="914400"/>
            </a:xfrm>
            <a:prstGeom prst="rect">
              <a:avLst/>
            </a:prstGeom>
          </p:spPr>
        </p:pic>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2307727803"/>
              </p:ext>
            </p:extLst>
          </p:nvPr>
        </p:nvGraphicFramePr>
        <p:xfrm>
          <a:off x="626110" y="722531"/>
          <a:ext cx="10905491" cy="4922520"/>
        </p:xfrm>
        <a:graphic>
          <a:graphicData uri="http://schemas.openxmlformats.org/drawingml/2006/table">
            <a:tbl>
              <a:tblPr firstRow="1" bandRow="1">
                <a:tableStyleId>{5C22544A-7EE6-4342-B048-85BDC9FD1C3A}</a:tableStyleId>
              </a:tblPr>
              <a:tblGrid>
                <a:gridCol w="1210439">
                  <a:extLst>
                    <a:ext uri="{9D8B030D-6E8A-4147-A177-3AD203B41FA5}">
                      <a16:colId xmlns:a16="http://schemas.microsoft.com/office/drawing/2014/main" val="41390910"/>
                    </a:ext>
                  </a:extLst>
                </a:gridCol>
                <a:gridCol w="6524787">
                  <a:extLst>
                    <a:ext uri="{9D8B030D-6E8A-4147-A177-3AD203B41FA5}">
                      <a16:colId xmlns:a16="http://schemas.microsoft.com/office/drawing/2014/main" val="2092910534"/>
                    </a:ext>
                  </a:extLst>
                </a:gridCol>
                <a:gridCol w="3170265">
                  <a:extLst>
                    <a:ext uri="{9D8B030D-6E8A-4147-A177-3AD203B41FA5}">
                      <a16:colId xmlns:a16="http://schemas.microsoft.com/office/drawing/2014/main" val="1261297711"/>
                    </a:ext>
                  </a:extLst>
                </a:gridCol>
              </a:tblGrid>
              <a:tr h="439813">
                <a:tc>
                  <a:txBody>
                    <a:bodyPr/>
                    <a:lstStyle/>
                    <a:p>
                      <a:pPr algn="r"/>
                      <a:r>
                        <a:rPr lang="en-US" sz="1800" dirty="0">
                          <a:effectLst/>
                        </a:rPr>
                        <a:t>Time</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382132">
                <a:tc>
                  <a:txBody>
                    <a:bodyPr/>
                    <a:lstStyle/>
                    <a:p>
                      <a:pPr algn="r">
                        <a:spcAft>
                          <a:spcPts val="2250"/>
                        </a:spcAft>
                        <a:buNone/>
                      </a:pPr>
                      <a:r>
                        <a:rPr lang="en-US" sz="1800" b="0" i="0" dirty="0">
                          <a:solidFill>
                            <a:srgbClr val="3F3F3F"/>
                          </a:solidFill>
                          <a:effectLst/>
                          <a:latin typeface="+mn-lt"/>
                        </a:rPr>
                        <a:t>3:00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Introduction</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178223575"/>
                  </a:ext>
                </a:extLst>
              </a:tr>
              <a:tr h="382132">
                <a:tc>
                  <a:txBody>
                    <a:bodyPr/>
                    <a:lstStyle/>
                    <a:p>
                      <a:pPr algn="r">
                        <a:spcAft>
                          <a:spcPts val="2250"/>
                        </a:spcAft>
                        <a:buNone/>
                      </a:pPr>
                      <a:r>
                        <a:rPr lang="en-US" sz="1800" b="0" i="0" dirty="0">
                          <a:solidFill>
                            <a:srgbClr val="3F3F3F"/>
                          </a:solidFill>
                          <a:effectLst/>
                          <a:latin typeface="+mn-lt"/>
                        </a:rPr>
                        <a:t>3:05 PM</a:t>
                      </a:r>
                    </a:p>
                  </a:txBody>
                  <a:tcPr marL="142875" marR="142875" marT="95250" marB="95250" anchor="ctr"/>
                </a:tc>
                <a:tc>
                  <a:txBody>
                    <a:bodyPr/>
                    <a:lstStyle/>
                    <a:p>
                      <a:pPr algn="l">
                        <a:spcAft>
                          <a:spcPts val="2250"/>
                        </a:spcAft>
                        <a:buNone/>
                      </a:pPr>
                      <a:r>
                        <a:rPr lang="en-US" sz="1800" b="0" i="0">
                          <a:solidFill>
                            <a:srgbClr val="3F3F3F"/>
                          </a:solidFill>
                          <a:effectLst/>
                          <a:latin typeface="+mn-lt"/>
                        </a:rPr>
                        <a:t>Motivation and Overview of Best Practices in HPC Software Development</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3434665218"/>
                  </a:ext>
                </a:extLst>
              </a:tr>
              <a:tr h="382132">
                <a:tc>
                  <a:txBody>
                    <a:bodyPr/>
                    <a:lstStyle/>
                    <a:p>
                      <a:pPr algn="r">
                        <a:spcAft>
                          <a:spcPts val="2250"/>
                        </a:spcAft>
                        <a:buNone/>
                      </a:pPr>
                      <a:r>
                        <a:rPr lang="en-US" sz="1800" b="0" i="0">
                          <a:solidFill>
                            <a:srgbClr val="3F3F3F"/>
                          </a:solidFill>
                          <a:effectLst/>
                          <a:latin typeface="+mn-lt"/>
                        </a:rPr>
                        <a:t>3:30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Scientific Software Design</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4182577452"/>
                  </a:ext>
                </a:extLst>
              </a:tr>
              <a:tr h="382132">
                <a:tc>
                  <a:txBody>
                    <a:bodyPr/>
                    <a:lstStyle/>
                    <a:p>
                      <a:pPr algn="r">
                        <a:spcAft>
                          <a:spcPts val="2250"/>
                        </a:spcAft>
                        <a:buNone/>
                      </a:pPr>
                      <a:r>
                        <a:rPr lang="en-US" sz="1800" b="0" i="0">
                          <a:solidFill>
                            <a:srgbClr val="3F3F3F"/>
                          </a:solidFill>
                          <a:effectLst/>
                          <a:latin typeface="+mn-lt"/>
                        </a:rPr>
                        <a:t>4:00 PM</a:t>
                      </a:r>
                    </a:p>
                  </a:txBody>
                  <a:tcPr marL="142875" marR="142875" marT="95250" marB="95250" anchor="ctr"/>
                </a:tc>
                <a:tc>
                  <a:txBody>
                    <a:bodyPr/>
                    <a:lstStyle/>
                    <a:p>
                      <a:pPr algn="l">
                        <a:spcAft>
                          <a:spcPts val="2250"/>
                        </a:spcAft>
                        <a:buNone/>
                      </a:pPr>
                      <a:r>
                        <a:rPr lang="en-US" sz="1800" b="0" i="1" dirty="0">
                          <a:solidFill>
                            <a:srgbClr val="3F3F3F"/>
                          </a:solidFill>
                          <a:effectLst/>
                          <a:latin typeface="+mn-lt"/>
                        </a:rPr>
                        <a:t>Break</a:t>
                      </a:r>
                      <a:endParaRPr lang="en-US" sz="1800" b="0" i="0" dirty="0">
                        <a:solidFill>
                          <a:srgbClr val="3F3F3F"/>
                        </a:solidFill>
                        <a:effectLst/>
                        <a:latin typeface="+mn-lt"/>
                      </a:endParaRPr>
                    </a:p>
                  </a:txBody>
                  <a:tcPr marL="142875" marR="142875" marT="95250" marB="95250" anchor="ctr"/>
                </a:tc>
                <a:tc>
                  <a:txBody>
                    <a:bodyPr/>
                    <a:lstStyle/>
                    <a:p>
                      <a:pPr algn="l">
                        <a:spcAft>
                          <a:spcPts val="2250"/>
                        </a:spcAft>
                        <a:buNone/>
                      </a:pPr>
                      <a:endParaRPr lang="en-US" sz="1800" b="0" i="0">
                        <a:solidFill>
                          <a:srgbClr val="3F3F3F"/>
                        </a:solidFill>
                        <a:effectLst/>
                        <a:latin typeface="+mn-lt"/>
                      </a:endParaRPr>
                    </a:p>
                  </a:txBody>
                  <a:tcPr marL="142875" marR="142875" marT="95250" marB="95250" anchor="ctr"/>
                </a:tc>
                <a:extLst>
                  <a:ext uri="{0D108BD9-81ED-4DB2-BD59-A6C34878D82A}">
                    <a16:rowId xmlns:a16="http://schemas.microsoft.com/office/drawing/2014/main" val="4021121108"/>
                  </a:ext>
                </a:extLst>
              </a:tr>
              <a:tr h="382132">
                <a:tc>
                  <a:txBody>
                    <a:bodyPr/>
                    <a:lstStyle/>
                    <a:p>
                      <a:pPr algn="r">
                        <a:spcAft>
                          <a:spcPts val="2250"/>
                        </a:spcAft>
                        <a:buNone/>
                      </a:pPr>
                      <a:r>
                        <a:rPr lang="en-US" sz="1800" b="0" i="0">
                          <a:solidFill>
                            <a:srgbClr val="3F3F3F"/>
                          </a:solidFill>
                          <a:effectLst/>
                          <a:latin typeface="+mn-lt"/>
                        </a:rPr>
                        <a:t>4:30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Software Testing and Verification</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2552146737"/>
                  </a:ext>
                </a:extLst>
              </a:tr>
              <a:tr h="382132">
                <a:tc>
                  <a:txBody>
                    <a:bodyPr/>
                    <a:lstStyle/>
                    <a:p>
                      <a:pPr algn="r">
                        <a:spcAft>
                          <a:spcPts val="2250"/>
                        </a:spcAft>
                        <a:buNone/>
                      </a:pPr>
                      <a:r>
                        <a:rPr lang="en-US" sz="1800" b="0" i="0">
                          <a:solidFill>
                            <a:srgbClr val="3F3F3F"/>
                          </a:solidFill>
                          <a:effectLst/>
                          <a:latin typeface="+mn-lt"/>
                        </a:rPr>
                        <a:t>5:00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Refactoring Scientific Software</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694601206"/>
                  </a:ext>
                </a:extLst>
              </a:tr>
              <a:tr h="382132">
                <a:tc>
                  <a:txBody>
                    <a:bodyPr/>
                    <a:lstStyle/>
                    <a:p>
                      <a:pPr algn="r">
                        <a:spcAft>
                          <a:spcPts val="2250"/>
                        </a:spcAft>
                        <a:buNone/>
                      </a:pPr>
                      <a:r>
                        <a:rPr lang="en-US" sz="1800" b="0" i="0">
                          <a:solidFill>
                            <a:srgbClr val="3F3F3F"/>
                          </a:solidFill>
                          <a:effectLst/>
                          <a:latin typeface="+mn-lt"/>
                        </a:rPr>
                        <a:t>5:30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Improving Reproducibility Through Better Software Practices</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3870447031"/>
                  </a:ext>
                </a:extLst>
              </a:tr>
              <a:tr h="382132">
                <a:tc>
                  <a:txBody>
                    <a:bodyPr/>
                    <a:lstStyle/>
                    <a:p>
                      <a:pPr algn="r">
                        <a:spcAft>
                          <a:spcPts val="2250"/>
                        </a:spcAft>
                        <a:buNone/>
                      </a:pPr>
                      <a:r>
                        <a:rPr lang="en-US" sz="1800" b="0" i="0">
                          <a:solidFill>
                            <a:srgbClr val="3F3F3F"/>
                          </a:solidFill>
                          <a:effectLst/>
                          <a:latin typeface="+mn-lt"/>
                        </a:rPr>
                        <a:t>6:00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AI for Software Development and Maintenance</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536208135"/>
                  </a:ext>
                </a:extLst>
              </a:tr>
              <a:tr h="382132">
                <a:tc>
                  <a:txBody>
                    <a:bodyPr/>
                    <a:lstStyle/>
                    <a:p>
                      <a:pPr algn="r">
                        <a:spcAft>
                          <a:spcPts val="2250"/>
                        </a:spcAft>
                        <a:buNone/>
                      </a:pPr>
                      <a:r>
                        <a:rPr lang="en-US" sz="1800" b="0" i="0">
                          <a:solidFill>
                            <a:srgbClr val="3F3F3F"/>
                          </a:solidFill>
                          <a:effectLst/>
                          <a:latin typeface="+mn-lt"/>
                        </a:rPr>
                        <a:t>6:30 PM</a:t>
                      </a:r>
                    </a:p>
                  </a:txBody>
                  <a:tcPr marL="142875" marR="142875" marT="95250" marB="95250" anchor="ctr"/>
                </a:tc>
                <a:tc>
                  <a:txBody>
                    <a:bodyPr/>
                    <a:lstStyle/>
                    <a:p>
                      <a:pPr algn="l">
                        <a:spcAft>
                          <a:spcPts val="2250"/>
                        </a:spcAft>
                        <a:buNone/>
                      </a:pPr>
                      <a:r>
                        <a:rPr lang="en-US" sz="1800" b="0" i="1">
                          <a:solidFill>
                            <a:srgbClr val="3F3F3F"/>
                          </a:solidFill>
                          <a:effectLst/>
                          <a:latin typeface="+mn-lt"/>
                        </a:rPr>
                        <a:t>Adjourn</a:t>
                      </a:r>
                      <a:endParaRPr lang="en-US" sz="1800" b="0" i="0">
                        <a:solidFill>
                          <a:srgbClr val="3F3F3F"/>
                        </a:solidFill>
                        <a:effectLst/>
                        <a:latin typeface="+mn-lt"/>
                      </a:endParaRPr>
                    </a:p>
                  </a:txBody>
                  <a:tcPr marL="142875" marR="142875" marT="95250" marB="95250" anchor="ctr"/>
                </a:tc>
                <a:tc>
                  <a:txBody>
                    <a:bodyPr/>
                    <a:lstStyle/>
                    <a:p>
                      <a:pPr algn="l">
                        <a:spcAft>
                          <a:spcPts val="2250"/>
                        </a:spcAft>
                        <a:buNone/>
                      </a:pPr>
                      <a:endParaRPr lang="en-US" sz="1800" b="0" i="0" dirty="0">
                        <a:solidFill>
                          <a:srgbClr val="3F3F3F"/>
                        </a:solidFill>
                        <a:effectLst/>
                        <a:latin typeface="+mn-lt"/>
                      </a:endParaRPr>
                    </a:p>
                  </a:txBody>
                  <a:tcPr marL="142875" marR="142875" marT="95250" marB="95250" anchor="ctr"/>
                </a:tc>
                <a:extLst>
                  <a:ext uri="{0D108BD9-81ED-4DB2-BD59-A6C34878D82A}">
                    <a16:rowId xmlns:a16="http://schemas.microsoft.com/office/drawing/2014/main" val="662051237"/>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4559</TotalTime>
  <Words>1003</Words>
  <Application>Microsoft Office PowerPoint</Application>
  <PresentationFormat>Custom</PresentationFormat>
  <Paragraphs>96</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Arial Black</vt:lpstr>
      <vt:lpstr>Calibri</vt:lpstr>
      <vt:lpstr>Presentations (Wide Screen)</vt:lpstr>
      <vt:lpstr>Software Sustainability</vt:lpstr>
      <vt:lpstr>License, Citation and Acknowledgements</vt:lpstr>
      <vt:lpstr>About Us</vt:lpstr>
      <vt:lpstr>Building an Online Community</vt:lpstr>
      <vt:lpstr>Follow BSSw</vt:lpstr>
      <vt:lpstr>BSSw Tutorial Web Site</vt:lpstr>
      <vt:lpstr>Explaining Slide 2</vt:lpstr>
      <vt:lpstr>We Want to Interact with You!</vt:lpstr>
      <vt:lpstr>Agenda</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514</cp:revision>
  <cp:lastPrinted>2017-11-02T18:35:01Z</cp:lastPrinted>
  <dcterms:created xsi:type="dcterms:W3CDTF">2018-11-06T17:28:56Z</dcterms:created>
  <dcterms:modified xsi:type="dcterms:W3CDTF">2026-08-02T18:25:09Z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