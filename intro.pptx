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4"/>
  </p:notesMasterIdLst>
  <p:handoutMasterIdLst>
    <p:handoutMasterId r:id="rId15"/>
  </p:handoutMasterIdLst>
  <p:sldIdLst>
    <p:sldId id="617" r:id="rId5"/>
    <p:sldId id="320" r:id="rId6"/>
    <p:sldId id="308" r:id="rId7"/>
    <p:sldId id="324" r:id="rId8"/>
    <p:sldId id="329" r:id="rId9"/>
    <p:sldId id="620" r:id="rId10"/>
    <p:sldId id="622" r:id="rId11"/>
    <p:sldId id="616" r:id="rId12"/>
    <p:sldId id="624" r:id="rId13"/>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54" autoAdjust="0"/>
    <p:restoredTop sz="96571" autoAdjust="0"/>
  </p:normalViewPr>
  <p:slideViewPr>
    <p:cSldViewPr snapToGrid="0" showGuides="1">
      <p:cViewPr varScale="1">
        <p:scale>
          <a:sx n="107" d="100"/>
          <a:sy n="107" d="100"/>
        </p:scale>
        <p:origin x="1008"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10/19/2025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10/18/2025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3.png"/><Relationship Id="rId10" Type="http://schemas.openxmlformats.org/officeDocument/2006/relationships/hyperlink" Target="https://pesoproject.org/" TargetMode="External"/><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9" name="Group 28">
            <a:extLst>
              <a:ext uri="{FF2B5EF4-FFF2-40B4-BE49-F238E27FC236}">
                <a16:creationId xmlns:a16="http://schemas.microsoft.com/office/drawing/2014/main" id="{AB0D32FE-ACDB-0573-B6AB-58AEF4858851}"/>
              </a:ext>
            </a:extLst>
          </p:cNvPr>
          <p:cNvGrpSpPr/>
          <p:nvPr userDrawn="1"/>
        </p:nvGrpSpPr>
        <p:grpSpPr>
          <a:xfrm>
            <a:off x="-69503" y="1892144"/>
            <a:ext cx="2985270" cy="790169"/>
            <a:chOff x="-69503" y="2214872"/>
            <a:chExt cx="2985270" cy="790169"/>
          </a:xfrm>
        </p:grpSpPr>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24" name="TextBox 23">
              <a:extLst>
                <a:ext uri="{FF2B5EF4-FFF2-40B4-BE49-F238E27FC236}">
                  <a16:creationId xmlns:a16="http://schemas.microsoft.com/office/drawing/2014/main" id="{F26C03A6-6B94-ABCF-9A4D-F1700CC7A8C8}"/>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0" name="TextBox 29">
            <a:extLst>
              <a:ext uri="{FF2B5EF4-FFF2-40B4-BE49-F238E27FC236}">
                <a16:creationId xmlns:a16="http://schemas.microsoft.com/office/drawing/2014/main" id="{803AFA0D-94D6-5454-A9A3-782EA3D7B91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pesoproject.org/" TargetMode="External"/><Relationship Id="rId7" Type="http://schemas.openxmlformats.org/officeDocument/2006/relationships/image" Target="../media/image10.jpeg"/><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hyperlink" Target="https://ideas-productivity.org/" TargetMode="External"/><Relationship Id="rId4" Type="http://schemas.openxmlformats.org/officeDocument/2006/relationships/hyperlink" Target="https://rapids.lbl.gov/"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 Id="rId4" Type="http://schemas.openxmlformats.org/officeDocument/2006/relationships/hyperlink" Target="https://bssw.io/events/sc25-software-related-events" TargetMode="Externa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dirty="0"/>
              <a:t>Better Software for Reproducible Science </a:t>
            </a:r>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2" y="1959498"/>
            <a:ext cx="7772308" cy="2855300"/>
          </a:xfrm>
        </p:spPr>
        <p:txBody>
          <a:bodyPr/>
          <a:lstStyle/>
          <a:p>
            <a:r>
              <a:rPr lang="en-US" dirty="0"/>
              <a:t>David E. Bernholdt, Anshu Dubey</a:t>
            </a:r>
          </a:p>
          <a:p>
            <a:pPr>
              <a:spcBef>
                <a:spcPts val="2800"/>
              </a:spcBef>
            </a:pPr>
            <a:r>
              <a:rPr lang="en-US" sz="2000" dirty="0"/>
              <a:t>The International Conference for High-Performance Computing, Networking, Storage, and Analysis (SC25) conference</a:t>
            </a:r>
            <a:endParaRPr lang="en-US" sz="1600" b="0" i="0" dirty="0">
              <a:solidFill>
                <a:srgbClr val="111111"/>
              </a:solidFill>
              <a:effectLst/>
              <a:latin typeface="+mn-lt"/>
            </a:endParaRP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7709"/>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74909"/>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92283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David E. Bernholdt, ORNL</a:t>
            </a:r>
          </a:p>
          <a:p>
            <a:pPr>
              <a:spcBef>
                <a:spcPts val="1000"/>
              </a:spcBef>
            </a:pPr>
            <a:r>
              <a:rPr lang="en-US" dirty="0"/>
              <a:t>Anshu Dubey, ANL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263149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Participants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PESO</a:t>
            </a:r>
            <a:r>
              <a:rPr lang="en-US" sz="2000" dirty="0"/>
              <a:t> and </a:t>
            </a:r>
            <a:r>
              <a:rPr lang="en-US" sz="2000" dirty="0">
                <a:hlinkClick r:id="rId4"/>
              </a:rPr>
              <a:t>RAPIDS</a:t>
            </a:r>
            <a:r>
              <a:rPr lang="en-US" sz="2000" dirty="0"/>
              <a:t> projects</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5"/>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8" name="Group 7">
            <a:extLst>
              <a:ext uri="{FF2B5EF4-FFF2-40B4-BE49-F238E27FC236}">
                <a16:creationId xmlns:a16="http://schemas.microsoft.com/office/drawing/2014/main" id="{C22DEB37-50E6-2254-1FB5-B0F6E81B4E4A}"/>
              </a:ext>
            </a:extLst>
          </p:cNvPr>
          <p:cNvGrpSpPr/>
          <p:nvPr/>
        </p:nvGrpSpPr>
        <p:grpSpPr>
          <a:xfrm>
            <a:off x="9515196" y="1325880"/>
            <a:ext cx="954107" cy="1805497"/>
            <a:chOff x="6614147" y="1346049"/>
            <a:chExt cx="954107" cy="1805497"/>
          </a:xfrm>
        </p:grpSpPr>
        <p:sp>
          <p:nvSpPr>
            <p:cNvPr id="9" name="TextBox 8">
              <a:extLst>
                <a:ext uri="{FF2B5EF4-FFF2-40B4-BE49-F238E27FC236}">
                  <a16:creationId xmlns:a16="http://schemas.microsoft.com/office/drawing/2014/main" id="{CEB57978-C3B6-32C4-C6C6-52ACB58C8A06}"/>
                </a:ext>
              </a:extLst>
            </p:cNvPr>
            <p:cNvSpPr txBox="1"/>
            <p:nvPr/>
          </p:nvSpPr>
          <p:spPr>
            <a:xfrm>
              <a:off x="6614147" y="2560615"/>
              <a:ext cx="954107" cy="590931"/>
            </a:xfrm>
            <a:prstGeom prst="rect">
              <a:avLst/>
            </a:prstGeom>
            <a:noFill/>
          </p:spPr>
          <p:txBody>
            <a:bodyPr wrap="none" rtlCol="0">
              <a:spAutoFit/>
            </a:bodyPr>
            <a:lstStyle/>
            <a:p>
              <a:pPr algn="ctr">
                <a:lnSpc>
                  <a:spcPct val="90000"/>
                </a:lnSpc>
              </a:pPr>
              <a:r>
                <a:rPr lang="en-US" dirty="0"/>
                <a:t>Anshu</a:t>
              </a:r>
            </a:p>
            <a:p>
              <a:pPr algn="ctr">
                <a:lnSpc>
                  <a:spcPct val="90000"/>
                </a:lnSpc>
              </a:pPr>
              <a:r>
                <a:rPr lang="en-US" i="1" dirty="0"/>
                <a:t>she/her</a:t>
              </a:r>
            </a:p>
          </p:txBody>
        </p:sp>
        <p:pic>
          <p:nvPicPr>
            <p:cNvPr id="10" name="Picture 9" descr="A person smiling for the camera&#10;&#10;Description automatically generated with low confidence">
              <a:extLst>
                <a:ext uri="{FF2B5EF4-FFF2-40B4-BE49-F238E27FC236}">
                  <a16:creationId xmlns:a16="http://schemas.microsoft.com/office/drawing/2014/main" id="{4F1A04F2-5B52-D284-D8CF-CD12780422C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32063" y="1346049"/>
              <a:ext cx="918273" cy="1207008"/>
            </a:xfrm>
            <a:prstGeom prst="rect">
              <a:avLst/>
            </a:prstGeom>
          </p:spPr>
        </p:pic>
      </p:grpSp>
      <p:grpSp>
        <p:nvGrpSpPr>
          <p:cNvPr id="11" name="Group 10">
            <a:extLst>
              <a:ext uri="{FF2B5EF4-FFF2-40B4-BE49-F238E27FC236}">
                <a16:creationId xmlns:a16="http://schemas.microsoft.com/office/drawing/2014/main" id="{BF360452-D7C7-247A-386F-D3315474AFCB}"/>
              </a:ext>
            </a:extLst>
          </p:cNvPr>
          <p:cNvGrpSpPr/>
          <p:nvPr/>
        </p:nvGrpSpPr>
        <p:grpSpPr>
          <a:xfrm>
            <a:off x="7899602" y="1325880"/>
            <a:ext cx="1038027" cy="1797939"/>
            <a:chOff x="4187619" y="4211394"/>
            <a:chExt cx="1038027" cy="1797939"/>
          </a:xfrm>
        </p:grpSpPr>
        <p:pic>
          <p:nvPicPr>
            <p:cNvPr id="12" name="Picture 11" descr="A person wearing glasses&#10;&#10;Description automatically generated with low confidence">
              <a:extLst>
                <a:ext uri="{FF2B5EF4-FFF2-40B4-BE49-F238E27FC236}">
                  <a16:creationId xmlns:a16="http://schemas.microsoft.com/office/drawing/2014/main" id="{8B9A3899-C96B-3A08-5E0A-2906D305F982}"/>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8053" t="854" r="5947" b="-854"/>
            <a:stretch/>
          </p:blipFill>
          <p:spPr>
            <a:xfrm>
              <a:off x="4187619" y="4211394"/>
              <a:ext cx="1038027" cy="1207008"/>
            </a:xfrm>
            <a:prstGeom prst="rect">
              <a:avLst/>
            </a:prstGeom>
          </p:spPr>
        </p:pic>
        <p:sp>
          <p:nvSpPr>
            <p:cNvPr id="13" name="TextBox 12">
              <a:extLst>
                <a:ext uri="{FF2B5EF4-FFF2-40B4-BE49-F238E27FC236}">
                  <a16:creationId xmlns:a16="http://schemas.microsoft.com/office/drawing/2014/main" id="{2B5EF80D-04B1-F98E-6FF3-532C3F5A9955}"/>
                </a:ext>
              </a:extLst>
            </p:cNvPr>
            <p:cNvSpPr txBox="1"/>
            <p:nvPr/>
          </p:nvSpPr>
          <p:spPr>
            <a:xfrm>
              <a:off x="4268051" y="5418402"/>
              <a:ext cx="877163" cy="590931"/>
            </a:xfrm>
            <a:prstGeom prst="rect">
              <a:avLst/>
            </a:prstGeom>
            <a:noFill/>
          </p:spPr>
          <p:txBody>
            <a:bodyPr wrap="none" rtlCol="0">
              <a:spAutoFit/>
            </a:bodyPr>
            <a:lstStyle/>
            <a:p>
              <a:pPr algn="ctr">
                <a:lnSpc>
                  <a:spcPct val="90000"/>
                </a:lnSpc>
              </a:pPr>
              <a:r>
                <a:rPr lang="en-US" dirty="0"/>
                <a:t>David</a:t>
              </a:r>
            </a:p>
            <a:p>
              <a:pPr algn="ctr">
                <a:lnSpc>
                  <a:spcPct val="90000"/>
                </a:lnSpc>
              </a:pPr>
              <a:r>
                <a:rPr lang="en-US" i="1" dirty="0"/>
                <a:t>he/him</a:t>
              </a:r>
            </a:p>
          </p:txBody>
        </p:sp>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
        <p:nvSpPr>
          <p:cNvPr id="4" name="TextBox 3">
            <a:extLst>
              <a:ext uri="{FF2B5EF4-FFF2-40B4-BE49-F238E27FC236}">
                <a16:creationId xmlns:a16="http://schemas.microsoft.com/office/drawing/2014/main" id="{6067EE83-B4F9-019B-E0E8-E80C48D26F36}"/>
              </a:ext>
            </a:extLst>
          </p:cNvPr>
          <p:cNvSpPr txBox="1"/>
          <p:nvPr/>
        </p:nvSpPr>
        <p:spPr>
          <a:xfrm>
            <a:off x="3361713" y="4561262"/>
            <a:ext cx="5465397" cy="1846659"/>
          </a:xfrm>
          <a:prstGeom prst="rect">
            <a:avLst/>
          </a:prstGeom>
          <a:solidFill>
            <a:srgbClr val="FFFF00"/>
          </a:solidFill>
          <a:ln>
            <a:solidFill>
              <a:schemeClr val="tx1"/>
            </a:solidFill>
          </a:ln>
        </p:spPr>
        <p:txBody>
          <a:bodyPr wrap="square" lIns="118872" tIns="91440" rIns="118872" bIns="91440" rtlCol="0" anchor="ctr" anchorCtr="0">
            <a:spAutoFit/>
          </a:bodyPr>
          <a:lstStyle/>
          <a:p>
            <a:pPr algn="ctr">
              <a:lnSpc>
                <a:spcPct val="90000"/>
              </a:lnSpc>
            </a:pPr>
            <a:r>
              <a:rPr lang="en-US" sz="2400" dirty="0"/>
              <a:t>You may also be interested in these other software-related events at SC25: </a:t>
            </a:r>
            <a:r>
              <a:rPr lang="en-US" sz="2400" dirty="0">
                <a:hlinkClick r:id="rId4"/>
              </a:rPr>
              <a:t>https://bssw.io/events/sc25-software-related-events </a:t>
            </a:r>
            <a:endParaRPr lang="en-US" sz="2400" dirty="0"/>
          </a:p>
          <a:p>
            <a:pPr algn="ctr">
              <a:lnSpc>
                <a:spcPct val="90000"/>
              </a:lnSpc>
            </a:pPr>
            <a:r>
              <a:rPr lang="en-US" dirty="0"/>
              <a:t>(link is also on tutorial web page)</a:t>
            </a:r>
            <a:endParaRPr lang="en-US" sz="2400" dirty="0"/>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3590364095"/>
              </p:ext>
            </p:extLst>
          </p:nvPr>
        </p:nvGraphicFramePr>
        <p:xfrm>
          <a:off x="1051560" y="1074420"/>
          <a:ext cx="9692640" cy="4323588"/>
        </p:xfrm>
        <a:graphic>
          <a:graphicData uri="http://schemas.openxmlformats.org/drawingml/2006/table">
            <a:tbl>
              <a:tblPr firstRow="1" bandRow="1">
                <a:tableStyleId>{5C22544A-7EE6-4342-B048-85BDC9FD1C3A}</a:tableStyleId>
              </a:tblPr>
              <a:tblGrid>
                <a:gridCol w="1328947">
                  <a:extLst>
                    <a:ext uri="{9D8B030D-6E8A-4147-A177-3AD203B41FA5}">
                      <a16:colId xmlns:a16="http://schemas.microsoft.com/office/drawing/2014/main" val="41390910"/>
                    </a:ext>
                  </a:extLst>
                </a:gridCol>
                <a:gridCol w="5033753">
                  <a:extLst>
                    <a:ext uri="{9D8B030D-6E8A-4147-A177-3AD203B41FA5}">
                      <a16:colId xmlns:a16="http://schemas.microsoft.com/office/drawing/2014/main" val="2092910534"/>
                    </a:ext>
                  </a:extLst>
                </a:gridCol>
                <a:gridCol w="3329940">
                  <a:extLst>
                    <a:ext uri="{9D8B030D-6E8A-4147-A177-3AD203B41FA5}">
                      <a16:colId xmlns:a16="http://schemas.microsoft.com/office/drawing/2014/main" val="1261297711"/>
                    </a:ext>
                  </a:extLst>
                </a:gridCol>
              </a:tblGrid>
              <a:tr h="526542">
                <a:tc>
                  <a:txBody>
                    <a:bodyPr/>
                    <a:lstStyle/>
                    <a:p>
                      <a:pPr algn="r"/>
                      <a:r>
                        <a:rPr lang="en-US" sz="1800" dirty="0">
                          <a:effectLst/>
                        </a:rPr>
                        <a:t>Time (CDT)</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526542">
                <a:tc>
                  <a:txBody>
                    <a:bodyPr/>
                    <a:lstStyle/>
                    <a:p>
                      <a:pPr algn="r">
                        <a:buNone/>
                      </a:pPr>
                      <a:r>
                        <a:rPr lang="en-US">
                          <a:effectLst/>
                        </a:rPr>
                        <a:t>8:30 AM</a:t>
                      </a:r>
                    </a:p>
                  </a:txBody>
                  <a:tcPr marL="142875" marR="142875" marT="95250" marB="95250" anchor="ctr"/>
                </a:tc>
                <a:tc>
                  <a:txBody>
                    <a:bodyPr/>
                    <a:lstStyle/>
                    <a:p>
                      <a:pPr>
                        <a:buNone/>
                      </a:pPr>
                      <a:r>
                        <a:rPr lang="en-US">
                          <a:effectLst/>
                        </a:rPr>
                        <a:t>Introduction</a:t>
                      </a:r>
                    </a:p>
                  </a:txBody>
                  <a:tcPr marL="142875" marR="142875" marT="95250" marB="95250" anchor="ctr"/>
                </a:tc>
                <a:tc>
                  <a:txBody>
                    <a:bodyPr/>
                    <a:lstStyle/>
                    <a:p>
                      <a:pPr>
                        <a:buNone/>
                      </a:pPr>
                      <a:r>
                        <a:rPr lang="en-US" dirty="0">
                          <a:effectLst/>
                        </a:rPr>
                        <a:t>David E. Bernholdt (ORNL)</a:t>
                      </a:r>
                    </a:p>
                  </a:txBody>
                  <a:tcPr marL="142875" marR="142875" marT="95250" marB="95250" anchor="ctr"/>
                </a:tc>
                <a:extLst>
                  <a:ext uri="{0D108BD9-81ED-4DB2-BD59-A6C34878D82A}">
                    <a16:rowId xmlns:a16="http://schemas.microsoft.com/office/drawing/2014/main" val="541819896"/>
                  </a:ext>
                </a:extLst>
              </a:tr>
              <a:tr h="526542">
                <a:tc>
                  <a:txBody>
                    <a:bodyPr/>
                    <a:lstStyle/>
                    <a:p>
                      <a:pPr algn="r">
                        <a:buNone/>
                      </a:pPr>
                      <a:r>
                        <a:rPr lang="en-US">
                          <a:effectLst/>
                        </a:rPr>
                        <a:t>8:45 AM</a:t>
                      </a:r>
                    </a:p>
                  </a:txBody>
                  <a:tcPr marL="142875" marR="142875" marT="95250" marB="95250" anchor="ctr"/>
                </a:tc>
                <a:tc>
                  <a:txBody>
                    <a:bodyPr/>
                    <a:lstStyle/>
                    <a:p>
                      <a:pPr>
                        <a:buNone/>
                      </a:pPr>
                      <a:r>
                        <a:rPr lang="en-US">
                          <a:effectLst/>
                        </a:rPr>
                        <a:t>Motivation and Overview of Best Practices in HPC Software Development</a:t>
                      </a:r>
                    </a:p>
                  </a:txBody>
                  <a:tcPr marL="142875" marR="142875" marT="95250" marB="95250" anchor="ctr"/>
                </a:tc>
                <a:tc>
                  <a:txBody>
                    <a:bodyPr/>
                    <a:lstStyle/>
                    <a:p>
                      <a:pPr>
                        <a:buNone/>
                      </a:pPr>
                      <a:r>
                        <a:rPr lang="en-US">
                          <a:effectLst/>
                        </a:rPr>
                        <a:t>David E. Bernholdt (ORNL)</a:t>
                      </a:r>
                    </a:p>
                  </a:txBody>
                  <a:tcPr marL="142875" marR="142875" marT="95250" marB="95250" anchor="ctr"/>
                </a:tc>
                <a:extLst>
                  <a:ext uri="{0D108BD9-81ED-4DB2-BD59-A6C34878D82A}">
                    <a16:rowId xmlns:a16="http://schemas.microsoft.com/office/drawing/2014/main" val="3922137579"/>
                  </a:ext>
                </a:extLst>
              </a:tr>
              <a:tr h="526542">
                <a:tc>
                  <a:txBody>
                    <a:bodyPr/>
                    <a:lstStyle/>
                    <a:p>
                      <a:pPr algn="r">
                        <a:buNone/>
                      </a:pPr>
                      <a:r>
                        <a:rPr lang="en-US">
                          <a:effectLst/>
                        </a:rPr>
                        <a:t>9:15 AM</a:t>
                      </a:r>
                    </a:p>
                  </a:txBody>
                  <a:tcPr marL="142875" marR="142875" marT="95250" marB="95250" anchor="ctr"/>
                </a:tc>
                <a:tc>
                  <a:txBody>
                    <a:bodyPr/>
                    <a:lstStyle/>
                    <a:p>
                      <a:pPr>
                        <a:buNone/>
                      </a:pPr>
                      <a:r>
                        <a:rPr lang="en-US">
                          <a:effectLst/>
                        </a:rPr>
                        <a:t>Improving Reproducibility Through Better Software Practices</a:t>
                      </a:r>
                    </a:p>
                  </a:txBody>
                  <a:tcPr marL="142875" marR="142875" marT="95250" marB="95250" anchor="ctr"/>
                </a:tc>
                <a:tc>
                  <a:txBody>
                    <a:bodyPr/>
                    <a:lstStyle/>
                    <a:p>
                      <a:pPr>
                        <a:buNone/>
                      </a:pPr>
                      <a:r>
                        <a:rPr lang="en-US">
                          <a:effectLst/>
                        </a:rPr>
                        <a:t>David E. Bernholdt (ORNL)</a:t>
                      </a:r>
                    </a:p>
                  </a:txBody>
                  <a:tcPr marL="142875" marR="142875" marT="95250" marB="95250" anchor="ctr"/>
                </a:tc>
                <a:extLst>
                  <a:ext uri="{0D108BD9-81ED-4DB2-BD59-A6C34878D82A}">
                    <a16:rowId xmlns:a16="http://schemas.microsoft.com/office/drawing/2014/main" val="476507548"/>
                  </a:ext>
                </a:extLst>
              </a:tr>
              <a:tr h="526542">
                <a:tc>
                  <a:txBody>
                    <a:bodyPr/>
                    <a:lstStyle/>
                    <a:p>
                      <a:pPr algn="r">
                        <a:buNone/>
                      </a:pPr>
                      <a:r>
                        <a:rPr lang="en-US">
                          <a:effectLst/>
                        </a:rPr>
                        <a:t>10:00 AM</a:t>
                      </a:r>
                    </a:p>
                  </a:txBody>
                  <a:tcPr marL="142875" marR="142875" marT="95250" marB="95250" anchor="ctr"/>
                </a:tc>
                <a:tc>
                  <a:txBody>
                    <a:bodyPr/>
                    <a:lstStyle/>
                    <a:p>
                      <a:pPr>
                        <a:buNone/>
                      </a:pPr>
                      <a:r>
                        <a:rPr lang="en-US" i="1">
                          <a:effectLst/>
                        </a:rPr>
                        <a:t>Morning break</a:t>
                      </a:r>
                      <a:endParaRPr lang="en-US">
                        <a:effectLst/>
                      </a:endParaRPr>
                    </a:p>
                  </a:txBody>
                  <a:tcPr marL="142875" marR="142875" marT="95250" marB="95250" anchor="ctr"/>
                </a:tc>
                <a:tc>
                  <a:txBody>
                    <a:bodyPr/>
                    <a:lstStyle/>
                    <a:p>
                      <a:pPr>
                        <a:buNone/>
                      </a:pPr>
                      <a:endParaRPr lang="en-US">
                        <a:effectLst/>
                      </a:endParaRPr>
                    </a:p>
                  </a:txBody>
                  <a:tcPr marL="142875" marR="142875" marT="95250" marB="95250" anchor="ctr"/>
                </a:tc>
                <a:extLst>
                  <a:ext uri="{0D108BD9-81ED-4DB2-BD59-A6C34878D82A}">
                    <a16:rowId xmlns:a16="http://schemas.microsoft.com/office/drawing/2014/main" val="3487810232"/>
                  </a:ext>
                </a:extLst>
              </a:tr>
              <a:tr h="526542">
                <a:tc>
                  <a:txBody>
                    <a:bodyPr/>
                    <a:lstStyle/>
                    <a:p>
                      <a:pPr algn="r">
                        <a:buNone/>
                      </a:pPr>
                      <a:r>
                        <a:rPr lang="en-US">
                          <a:effectLst/>
                        </a:rPr>
                        <a:t>10:30 AM</a:t>
                      </a:r>
                    </a:p>
                  </a:txBody>
                  <a:tcPr marL="142875" marR="142875" marT="95250" marB="95250" anchor="ctr"/>
                </a:tc>
                <a:tc>
                  <a:txBody>
                    <a:bodyPr/>
                    <a:lstStyle/>
                    <a:p>
                      <a:pPr>
                        <a:buNone/>
                      </a:pPr>
                      <a:r>
                        <a:rPr lang="en-US">
                          <a:effectLst/>
                        </a:rPr>
                        <a:t>Responsible Software Development with LLMs</a:t>
                      </a:r>
                    </a:p>
                  </a:txBody>
                  <a:tcPr marL="142875" marR="142875" marT="95250" marB="95250" anchor="ctr"/>
                </a:tc>
                <a:tc>
                  <a:txBody>
                    <a:bodyPr/>
                    <a:lstStyle/>
                    <a:p>
                      <a:pPr>
                        <a:buNone/>
                      </a:pPr>
                      <a:r>
                        <a:rPr lang="en-US">
                          <a:effectLst/>
                        </a:rPr>
                        <a:t>Anshu Dubey (ANL)</a:t>
                      </a:r>
                    </a:p>
                  </a:txBody>
                  <a:tcPr marL="142875" marR="142875" marT="95250" marB="95250" anchor="ctr"/>
                </a:tc>
                <a:extLst>
                  <a:ext uri="{0D108BD9-81ED-4DB2-BD59-A6C34878D82A}">
                    <a16:rowId xmlns:a16="http://schemas.microsoft.com/office/drawing/2014/main" val="2034051112"/>
                  </a:ext>
                </a:extLst>
              </a:tr>
              <a:tr h="526542">
                <a:tc>
                  <a:txBody>
                    <a:bodyPr/>
                    <a:lstStyle/>
                    <a:p>
                      <a:pPr algn="r">
                        <a:buNone/>
                      </a:pPr>
                      <a:r>
                        <a:rPr lang="en-US">
                          <a:effectLst/>
                        </a:rPr>
                        <a:t>12:00 PM</a:t>
                      </a:r>
                    </a:p>
                  </a:txBody>
                  <a:tcPr marL="142875" marR="142875" marT="95250" marB="95250" anchor="ctr"/>
                </a:tc>
                <a:tc>
                  <a:txBody>
                    <a:bodyPr/>
                    <a:lstStyle/>
                    <a:p>
                      <a:pPr>
                        <a:buNone/>
                      </a:pPr>
                      <a:r>
                        <a:rPr lang="en-US" i="1">
                          <a:effectLst/>
                        </a:rPr>
                        <a:t>Adjourn</a:t>
                      </a:r>
                      <a:endParaRPr lang="en-US">
                        <a:effectLst/>
                      </a:endParaRPr>
                    </a:p>
                  </a:txBody>
                  <a:tcPr marL="142875" marR="142875" marT="95250" marB="95250" anchor="ctr"/>
                </a:tc>
                <a:tc>
                  <a:txBody>
                    <a:bodyPr/>
                    <a:lstStyle/>
                    <a:p>
                      <a:pPr>
                        <a:buNone/>
                      </a:pPr>
                      <a:endParaRPr lang="en-US" dirty="0">
                        <a:effectLst/>
                      </a:endParaRPr>
                    </a:p>
                  </a:txBody>
                  <a:tcPr marL="142875" marR="142875" marT="95250" marB="95250" anchor="ctr"/>
                </a:tc>
                <a:extLst>
                  <a:ext uri="{0D108BD9-81ED-4DB2-BD59-A6C34878D82A}">
                    <a16:rowId xmlns:a16="http://schemas.microsoft.com/office/drawing/2014/main" val="1459939263"/>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4458</TotalTime>
  <Words>1026</Words>
  <Application>Microsoft Office PowerPoint</Application>
  <PresentationFormat>Custom</PresentationFormat>
  <Paragraphs>92</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Arial Black</vt:lpstr>
      <vt:lpstr>Calibri</vt:lpstr>
      <vt:lpstr>Presentations (Wide Screen)</vt:lpstr>
      <vt:lpstr>Better Software for Reproducible Science </vt:lpstr>
      <vt:lpstr>License, Citation and Acknowledgements</vt:lpstr>
      <vt:lpstr>About Us</vt:lpstr>
      <vt:lpstr>Building an Online Community</vt:lpstr>
      <vt:lpstr>Follow BSSw</vt:lpstr>
      <vt:lpstr>BSSw Tutorial Web Site</vt:lpstr>
      <vt:lpstr>Explaining Slide 2</vt:lpstr>
      <vt:lpstr>We Want to Interact with You!</vt:lpstr>
      <vt:lpstr>Agenda</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476</cp:revision>
  <cp:lastPrinted>2017-11-02T18:35:01Z</cp:lastPrinted>
  <dcterms:created xsi:type="dcterms:W3CDTF">2018-11-06T17:28:56Z</dcterms:created>
  <dcterms:modified xsi:type="dcterms:W3CDTF">2025-10-19T15:53:31Z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