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636" r:id="rId6"/>
    <p:sldId id="308" r:id="rId7"/>
    <p:sldId id="324" r:id="rId8"/>
    <p:sldId id="329" r:id="rId9"/>
    <p:sldId id="620" r:id="rId10"/>
    <p:sldId id="622" r:id="rId11"/>
    <p:sldId id="616" r:id="rId12"/>
    <p:sldId id="624" r:id="rId13"/>
    <p:sldId id="261"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5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hyperlink" Target="https://pesoproject.org/" TargetMode="External"/><Relationship Id="rId7" Type="http://schemas.openxmlformats.org/officeDocument/2006/relationships/image" Target="../media/image9.png"/><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hyperlink" Target="https://ideas-productivity.org/" TargetMode="External"/><Relationship Id="rId5" Type="http://schemas.openxmlformats.org/officeDocument/2006/relationships/hyperlink" Target="https://spack.io/" TargetMode="External"/><Relationship Id="rId4" Type="http://schemas.openxmlformats.org/officeDocument/2006/relationships/hyperlink" Target="https://rapids.lbl.gov/" TargetMode="External"/><Relationship Id="rId9" Type="http://schemas.openxmlformats.org/officeDocument/2006/relationships/image" Target="../media/image11.jpe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Software Sustainability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2" y="1959498"/>
            <a:ext cx="7772308" cy="2855300"/>
          </a:xfrm>
        </p:spPr>
        <p:txBody>
          <a:bodyPr/>
          <a:lstStyle/>
          <a:p>
            <a:r>
              <a:rPr lang="en-US" dirty="0"/>
              <a:t>David E. Bernholdt, Anshu Dubey, and Todd Gamblin</a:t>
            </a:r>
          </a:p>
          <a:p>
            <a:pPr>
              <a:spcBef>
                <a:spcPts val="2800"/>
              </a:spcBef>
            </a:pPr>
            <a:r>
              <a:rPr lang="en-US" sz="2000" b="0" i="0" dirty="0">
                <a:solidFill>
                  <a:srgbClr val="111111"/>
                </a:solidFill>
                <a:effectLst/>
                <a:latin typeface="+mn-lt"/>
              </a:rPr>
              <a:t>Argonne Training Program on Extreme-Scale Computing summer school (2025)</a:t>
            </a: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a:p>
            <a:pPr>
              <a:spcBef>
                <a:spcPts val="1000"/>
              </a:spcBef>
            </a:pPr>
            <a:r>
              <a:rPr lang="en-US" dirty="0"/>
              <a:t>Anshu Dubey, ANL</a:t>
            </a:r>
          </a:p>
          <a:p>
            <a:pPr>
              <a:spcBef>
                <a:spcPts val="1000"/>
              </a:spcBef>
            </a:pPr>
            <a:r>
              <a:rPr lang="en-US" dirty="0"/>
              <a:t>Todd Gamblin, LLNL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301621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and </a:t>
            </a:r>
            <a:r>
              <a:rPr lang="en-US" sz="2000" dirty="0">
                <a:hlinkClick r:id="rId4"/>
              </a:rPr>
              <a:t>RAPIDS</a:t>
            </a:r>
            <a:r>
              <a:rPr lang="en-US" sz="2000" dirty="0"/>
              <a:t> projects</a:t>
            </a:r>
          </a:p>
          <a:p>
            <a:pPr marL="227013" indent="-227013">
              <a:spcBef>
                <a:spcPts val="600"/>
              </a:spcBef>
              <a:buFont typeface="Arial" panose="020B0604020202020204" pitchFamily="34" charset="0"/>
              <a:buChar char="•"/>
            </a:pPr>
            <a:r>
              <a:rPr lang="en-US" sz="2000" dirty="0"/>
              <a:t>Lead for the Spack project: </a:t>
            </a:r>
            <a:r>
              <a:rPr lang="en-US" sz="2000" dirty="0">
                <a:hlinkClick r:id="rId5"/>
              </a:rPr>
              <a:t>https://spack.io/</a:t>
            </a:r>
            <a:r>
              <a:rPr lang="en-US" sz="2000" dirty="0"/>
              <a:t> (Todd)</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6"/>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8009031"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6393437"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grpSp>
        <p:nvGrpSpPr>
          <p:cNvPr id="17" name="Group 16">
            <a:extLst>
              <a:ext uri="{FF2B5EF4-FFF2-40B4-BE49-F238E27FC236}">
                <a16:creationId xmlns:a16="http://schemas.microsoft.com/office/drawing/2014/main" id="{B5FBC002-EA63-3AA1-A9F0-19BC36D2DD4E}"/>
              </a:ext>
            </a:extLst>
          </p:cNvPr>
          <p:cNvGrpSpPr/>
          <p:nvPr/>
        </p:nvGrpSpPr>
        <p:grpSpPr>
          <a:xfrm>
            <a:off x="9554696" y="1338556"/>
            <a:ext cx="1021881" cy="1792821"/>
            <a:chOff x="10957831" y="1197414"/>
            <a:chExt cx="1021881" cy="1792821"/>
          </a:xfrm>
        </p:grpSpPr>
        <p:pic>
          <p:nvPicPr>
            <p:cNvPr id="18" name="Picture 17" descr="A person smiling for the camera&#10;&#10;Description automatically generated with medium confidence">
              <a:extLst>
                <a:ext uri="{FF2B5EF4-FFF2-40B4-BE49-F238E27FC236}">
                  <a16:creationId xmlns:a16="http://schemas.microsoft.com/office/drawing/2014/main" id="{C611DBA7-7F94-A867-D486-31027D33AC75}"/>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6373" r="8964"/>
            <a:stretch/>
          </p:blipFill>
          <p:spPr>
            <a:xfrm>
              <a:off x="10957831" y="1197414"/>
              <a:ext cx="1021881" cy="1207008"/>
            </a:xfrm>
            <a:prstGeom prst="rect">
              <a:avLst/>
            </a:prstGeom>
          </p:spPr>
        </p:pic>
        <p:sp>
          <p:nvSpPr>
            <p:cNvPr id="19" name="TextBox 18">
              <a:extLst>
                <a:ext uri="{FF2B5EF4-FFF2-40B4-BE49-F238E27FC236}">
                  <a16:creationId xmlns:a16="http://schemas.microsoft.com/office/drawing/2014/main" id="{0EFE8AB9-C901-D587-26CA-192E0897B099}"/>
                </a:ext>
              </a:extLst>
            </p:cNvPr>
            <p:cNvSpPr txBox="1"/>
            <p:nvPr/>
          </p:nvSpPr>
          <p:spPr>
            <a:xfrm>
              <a:off x="11030189" y="2399304"/>
              <a:ext cx="877164" cy="590931"/>
            </a:xfrm>
            <a:prstGeom prst="rect">
              <a:avLst/>
            </a:prstGeom>
            <a:noFill/>
          </p:spPr>
          <p:txBody>
            <a:bodyPr wrap="none" rtlCol="0">
              <a:spAutoFit/>
            </a:bodyPr>
            <a:lstStyle/>
            <a:p>
              <a:pPr algn="ctr">
                <a:lnSpc>
                  <a:spcPct val="90000"/>
                </a:lnSpc>
              </a:pPr>
              <a:r>
                <a:rPr lang="en-US" dirty="0"/>
                <a:t>Todd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 (1/2)</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3435222980"/>
              </p:ext>
            </p:extLst>
          </p:nvPr>
        </p:nvGraphicFramePr>
        <p:xfrm>
          <a:off x="1051560" y="1074420"/>
          <a:ext cx="9692640" cy="4637532"/>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(CDT)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r>
                        <a:rPr lang="en-US">
                          <a:effectLst/>
                        </a:rPr>
                        <a:t>8:30 AM</a:t>
                      </a:r>
                    </a:p>
                  </a:txBody>
                  <a:tcPr marL="142875" marR="142875" marT="95250" marB="95250" anchor="ctr"/>
                </a:tc>
                <a:tc>
                  <a:txBody>
                    <a:bodyPr/>
                    <a:lstStyle/>
                    <a:p>
                      <a:r>
                        <a:rPr lang="en-US">
                          <a:effectLst/>
                        </a:rPr>
                        <a:t>Introduction</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4011846257"/>
                  </a:ext>
                </a:extLst>
              </a:tr>
              <a:tr h="526542">
                <a:tc>
                  <a:txBody>
                    <a:bodyPr/>
                    <a:lstStyle/>
                    <a:p>
                      <a:pPr algn="r"/>
                      <a:r>
                        <a:rPr lang="en-US">
                          <a:effectLst/>
                        </a:rPr>
                        <a:t>8:35 AM</a:t>
                      </a:r>
                    </a:p>
                  </a:txBody>
                  <a:tcPr marL="142875" marR="142875" marT="95250" marB="95250" anchor="ctr"/>
                </a:tc>
                <a:tc>
                  <a:txBody>
                    <a:bodyPr/>
                    <a:lstStyle/>
                    <a:p>
                      <a:r>
                        <a:rPr lang="en-US">
                          <a:effectLst/>
                        </a:rPr>
                        <a:t>Motivation and Overview of Best Practices in HPC Software Development</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541819896"/>
                  </a:ext>
                </a:extLst>
              </a:tr>
              <a:tr h="526542">
                <a:tc>
                  <a:txBody>
                    <a:bodyPr/>
                    <a:lstStyle/>
                    <a:p>
                      <a:pPr algn="r"/>
                      <a:r>
                        <a:rPr lang="en-US">
                          <a:effectLst/>
                        </a:rPr>
                        <a:t>9:15 AM</a:t>
                      </a:r>
                    </a:p>
                  </a:txBody>
                  <a:tcPr marL="142875" marR="142875" marT="95250" marB="95250" anchor="ctr"/>
                </a:tc>
                <a:tc>
                  <a:txBody>
                    <a:bodyPr/>
                    <a:lstStyle/>
                    <a:p>
                      <a:r>
                        <a:rPr lang="en-US">
                          <a:effectLst/>
                        </a:rPr>
                        <a:t>Scientific Software Design</a:t>
                      </a:r>
                    </a:p>
                  </a:txBody>
                  <a:tcPr marL="142875" marR="142875" marT="95250" marB="95250" anchor="ctr"/>
                </a:tc>
                <a:tc>
                  <a:txBody>
                    <a:bodyPr/>
                    <a:lstStyle/>
                    <a:p>
                      <a:r>
                        <a:rPr lang="en-US">
                          <a:effectLst/>
                        </a:rPr>
                        <a:t>Anshu Dubey (ANL)</a:t>
                      </a:r>
                    </a:p>
                  </a:txBody>
                  <a:tcPr marL="142875" marR="142875" marT="95250" marB="95250" anchor="ctr"/>
                </a:tc>
                <a:extLst>
                  <a:ext uri="{0D108BD9-81ED-4DB2-BD59-A6C34878D82A}">
                    <a16:rowId xmlns:a16="http://schemas.microsoft.com/office/drawing/2014/main" val="3922137579"/>
                  </a:ext>
                </a:extLst>
              </a:tr>
              <a:tr h="526542">
                <a:tc>
                  <a:txBody>
                    <a:bodyPr/>
                    <a:lstStyle/>
                    <a:p>
                      <a:pPr algn="r"/>
                      <a:r>
                        <a:rPr lang="en-US">
                          <a:effectLst/>
                        </a:rPr>
                        <a:t>10:00 AM</a:t>
                      </a:r>
                    </a:p>
                  </a:txBody>
                  <a:tcPr marL="142875" marR="142875" marT="95250" marB="95250" anchor="ctr"/>
                </a:tc>
                <a:tc>
                  <a:txBody>
                    <a:bodyPr/>
                    <a:lstStyle/>
                    <a:p>
                      <a:r>
                        <a:rPr lang="en-US" i="1">
                          <a:effectLst/>
                        </a:rPr>
                        <a:t>Break</a:t>
                      </a:r>
                      <a:endParaRPr lang="en-US">
                        <a:effectLst/>
                      </a:endParaRPr>
                    </a:p>
                  </a:txBody>
                  <a:tcPr marL="142875" marR="142875" marT="95250" marB="95250" anchor="ctr"/>
                </a:tc>
                <a:tc>
                  <a:txBody>
                    <a:bodyPr/>
                    <a:lstStyle/>
                    <a:p>
                      <a:endParaRPr lang="en-US">
                        <a:effectLst/>
                      </a:endParaRPr>
                    </a:p>
                  </a:txBody>
                  <a:tcPr marL="142875" marR="142875" marT="95250" marB="95250" anchor="ctr"/>
                </a:tc>
                <a:extLst>
                  <a:ext uri="{0D108BD9-81ED-4DB2-BD59-A6C34878D82A}">
                    <a16:rowId xmlns:a16="http://schemas.microsoft.com/office/drawing/2014/main" val="476507548"/>
                  </a:ext>
                </a:extLst>
              </a:tr>
              <a:tr h="526542">
                <a:tc>
                  <a:txBody>
                    <a:bodyPr/>
                    <a:lstStyle/>
                    <a:p>
                      <a:pPr algn="r"/>
                      <a:r>
                        <a:rPr lang="en-US">
                          <a:effectLst/>
                        </a:rPr>
                        <a:t>10:30 AM</a:t>
                      </a:r>
                    </a:p>
                  </a:txBody>
                  <a:tcPr marL="142875" marR="142875" marT="95250" marB="95250" anchor="ctr"/>
                </a:tc>
                <a:tc>
                  <a:txBody>
                    <a:bodyPr/>
                    <a:lstStyle/>
                    <a:p>
                      <a:r>
                        <a:rPr lang="en-US">
                          <a:effectLst/>
                        </a:rPr>
                        <a:t>Spack: Package Management for HPC</a:t>
                      </a:r>
                    </a:p>
                  </a:txBody>
                  <a:tcPr marL="142875" marR="142875" marT="95250" marB="95250" anchor="ctr"/>
                </a:tc>
                <a:tc>
                  <a:txBody>
                    <a:bodyPr/>
                    <a:lstStyle/>
                    <a:p>
                      <a:r>
                        <a:rPr lang="en-US">
                          <a:effectLst/>
                        </a:rPr>
                        <a:t>Todd Gamblin (LLNL)</a:t>
                      </a:r>
                    </a:p>
                  </a:txBody>
                  <a:tcPr marL="142875" marR="142875" marT="95250" marB="95250" anchor="ctr"/>
                </a:tc>
                <a:extLst>
                  <a:ext uri="{0D108BD9-81ED-4DB2-BD59-A6C34878D82A}">
                    <a16:rowId xmlns:a16="http://schemas.microsoft.com/office/drawing/2014/main" val="3487810232"/>
                  </a:ext>
                </a:extLst>
              </a:tr>
              <a:tr h="526542">
                <a:tc>
                  <a:txBody>
                    <a:bodyPr/>
                    <a:lstStyle/>
                    <a:p>
                      <a:pPr algn="r"/>
                      <a:r>
                        <a:rPr lang="en-US">
                          <a:effectLst/>
                        </a:rPr>
                        <a:t>11:30 AM</a:t>
                      </a:r>
                    </a:p>
                  </a:txBody>
                  <a:tcPr marL="142875" marR="142875" marT="95250" marB="95250" anchor="ctr"/>
                </a:tc>
                <a:tc>
                  <a:txBody>
                    <a:bodyPr/>
                    <a:lstStyle/>
                    <a:p>
                      <a:r>
                        <a:rPr lang="en-US">
                          <a:effectLst/>
                        </a:rPr>
                        <a:t>Spack Hands-On</a:t>
                      </a:r>
                    </a:p>
                  </a:txBody>
                  <a:tcPr marL="142875" marR="142875" marT="95250" marB="95250" anchor="ctr"/>
                </a:tc>
                <a:tc>
                  <a:txBody>
                    <a:bodyPr/>
                    <a:lstStyle/>
                    <a:p>
                      <a:r>
                        <a:rPr lang="en-US">
                          <a:effectLst/>
                        </a:rPr>
                        <a:t>Todd Gamblin (LLNL)</a:t>
                      </a:r>
                    </a:p>
                  </a:txBody>
                  <a:tcPr marL="142875" marR="142875" marT="95250" marB="95250" anchor="ctr"/>
                </a:tc>
                <a:extLst>
                  <a:ext uri="{0D108BD9-81ED-4DB2-BD59-A6C34878D82A}">
                    <a16:rowId xmlns:a16="http://schemas.microsoft.com/office/drawing/2014/main" val="2034051112"/>
                  </a:ext>
                </a:extLst>
              </a:tr>
              <a:tr h="526542">
                <a:tc>
                  <a:txBody>
                    <a:bodyPr/>
                    <a:lstStyle/>
                    <a:p>
                      <a:pPr algn="r"/>
                      <a:r>
                        <a:rPr lang="en-US">
                          <a:effectLst/>
                        </a:rPr>
                        <a:t>12:30 PM</a:t>
                      </a:r>
                    </a:p>
                  </a:txBody>
                  <a:tcPr marL="142875" marR="142875" marT="95250" marB="95250" anchor="ctr"/>
                </a:tc>
                <a:tc>
                  <a:txBody>
                    <a:bodyPr/>
                    <a:lstStyle/>
                    <a:p>
                      <a:r>
                        <a:rPr lang="en-US" i="1">
                          <a:effectLst/>
                        </a:rPr>
                        <a:t>Lunch</a:t>
                      </a:r>
                      <a:endParaRPr lang="en-US">
                        <a:effectLst/>
                      </a:endParaRPr>
                    </a:p>
                  </a:txBody>
                  <a:tcPr marL="142875" marR="142875" marT="95250" marB="95250" anchor="ctr"/>
                </a:tc>
                <a:tc>
                  <a:txBody>
                    <a:bodyPr/>
                    <a:lstStyle/>
                    <a:p>
                      <a:endParaRPr lang="en-US" dirty="0">
                        <a:effectLst/>
                      </a:endParaRPr>
                    </a:p>
                  </a:txBody>
                  <a:tcPr marL="142875" marR="142875" marT="95250" marB="95250" anchor="ctr"/>
                </a:tc>
                <a:extLst>
                  <a:ext uri="{0D108BD9-81ED-4DB2-BD59-A6C34878D82A}">
                    <a16:rowId xmlns:a16="http://schemas.microsoft.com/office/drawing/2014/main" val="1459939263"/>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 (2/2)</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3725039992"/>
              </p:ext>
            </p:extLst>
          </p:nvPr>
        </p:nvGraphicFramePr>
        <p:xfrm>
          <a:off x="1051560" y="1074420"/>
          <a:ext cx="9692640" cy="5164074"/>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(CDT)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r>
                        <a:rPr lang="en-US">
                          <a:effectLst/>
                        </a:rPr>
                        <a:t>12:30 PM</a:t>
                      </a:r>
                    </a:p>
                  </a:txBody>
                  <a:tcPr marL="142875" marR="142875" marT="95250" marB="95250" anchor="ctr"/>
                </a:tc>
                <a:tc>
                  <a:txBody>
                    <a:bodyPr/>
                    <a:lstStyle/>
                    <a:p>
                      <a:r>
                        <a:rPr lang="en-US" i="1">
                          <a:effectLst/>
                        </a:rPr>
                        <a:t>Lunch</a:t>
                      </a:r>
                      <a:endParaRPr lang="en-US">
                        <a:effectLst/>
                      </a:endParaRPr>
                    </a:p>
                  </a:txBody>
                  <a:tcPr marL="142875" marR="142875" marT="95250" marB="95250" anchor="ctr"/>
                </a:tc>
                <a:tc>
                  <a:txBody>
                    <a:bodyPr/>
                    <a:lstStyle/>
                    <a:p>
                      <a:endParaRPr lang="en-US" dirty="0">
                        <a:effectLst/>
                      </a:endParaRPr>
                    </a:p>
                  </a:txBody>
                  <a:tcPr marL="142875" marR="142875" marT="95250" marB="95250" anchor="ctr"/>
                </a:tc>
                <a:extLst>
                  <a:ext uri="{0D108BD9-81ED-4DB2-BD59-A6C34878D82A}">
                    <a16:rowId xmlns:a16="http://schemas.microsoft.com/office/drawing/2014/main" val="1459939263"/>
                  </a:ext>
                </a:extLst>
              </a:tr>
              <a:tr h="526542">
                <a:tc>
                  <a:txBody>
                    <a:bodyPr/>
                    <a:lstStyle/>
                    <a:p>
                      <a:pPr algn="r"/>
                      <a:r>
                        <a:rPr lang="en-US">
                          <a:effectLst/>
                        </a:rPr>
                        <a:t>1:30 PM</a:t>
                      </a:r>
                    </a:p>
                  </a:txBody>
                  <a:tcPr marL="142875" marR="142875" marT="95250" marB="95250" anchor="ctr"/>
                </a:tc>
                <a:tc>
                  <a:txBody>
                    <a:bodyPr/>
                    <a:lstStyle/>
                    <a:p>
                      <a:r>
                        <a:rPr lang="en-US">
                          <a:effectLst/>
                        </a:rPr>
                        <a:t>Software Testing and Verification</a:t>
                      </a:r>
                    </a:p>
                  </a:txBody>
                  <a:tcPr marL="142875" marR="142875" marT="95250" marB="95250" anchor="ctr"/>
                </a:tc>
                <a:tc>
                  <a:txBody>
                    <a:bodyPr/>
                    <a:lstStyle/>
                    <a:p>
                      <a:r>
                        <a:rPr lang="en-US">
                          <a:effectLst/>
                        </a:rPr>
                        <a:t>Anshu Dubey (ANL)</a:t>
                      </a:r>
                    </a:p>
                  </a:txBody>
                  <a:tcPr marL="142875" marR="142875" marT="95250" marB="95250" anchor="ctr"/>
                </a:tc>
                <a:extLst>
                  <a:ext uri="{0D108BD9-81ED-4DB2-BD59-A6C34878D82A}">
                    <a16:rowId xmlns:a16="http://schemas.microsoft.com/office/drawing/2014/main" val="568411987"/>
                  </a:ext>
                </a:extLst>
              </a:tr>
              <a:tr h="526542">
                <a:tc>
                  <a:txBody>
                    <a:bodyPr/>
                    <a:lstStyle/>
                    <a:p>
                      <a:pPr algn="r"/>
                      <a:r>
                        <a:rPr lang="en-US">
                          <a:effectLst/>
                        </a:rPr>
                        <a:t>2:30 PM</a:t>
                      </a:r>
                    </a:p>
                  </a:txBody>
                  <a:tcPr marL="142875" marR="142875" marT="95250" marB="95250" anchor="ctr"/>
                </a:tc>
                <a:tc>
                  <a:txBody>
                    <a:bodyPr/>
                    <a:lstStyle/>
                    <a:p>
                      <a:r>
                        <a:rPr lang="en-US">
                          <a:effectLst/>
                        </a:rPr>
                        <a:t>Refactoring Scientific Software</a:t>
                      </a:r>
                    </a:p>
                  </a:txBody>
                  <a:tcPr marL="142875" marR="142875" marT="95250" marB="95250" anchor="ctr"/>
                </a:tc>
                <a:tc>
                  <a:txBody>
                    <a:bodyPr/>
                    <a:lstStyle/>
                    <a:p>
                      <a:r>
                        <a:rPr lang="en-US">
                          <a:effectLst/>
                        </a:rPr>
                        <a:t>Anshu Dubey (ANL)</a:t>
                      </a:r>
                    </a:p>
                  </a:txBody>
                  <a:tcPr marL="142875" marR="142875" marT="95250" marB="95250" anchor="ctr"/>
                </a:tc>
                <a:extLst>
                  <a:ext uri="{0D108BD9-81ED-4DB2-BD59-A6C34878D82A}">
                    <a16:rowId xmlns:a16="http://schemas.microsoft.com/office/drawing/2014/main" val="439333682"/>
                  </a:ext>
                </a:extLst>
              </a:tr>
              <a:tr h="526542">
                <a:tc>
                  <a:txBody>
                    <a:bodyPr/>
                    <a:lstStyle/>
                    <a:p>
                      <a:pPr algn="r"/>
                      <a:r>
                        <a:rPr lang="en-US">
                          <a:effectLst/>
                        </a:rPr>
                        <a:t>3:00 PM</a:t>
                      </a:r>
                    </a:p>
                  </a:txBody>
                  <a:tcPr marL="142875" marR="142875" marT="95250" marB="95250" anchor="ctr"/>
                </a:tc>
                <a:tc>
                  <a:txBody>
                    <a:bodyPr/>
                    <a:lstStyle/>
                    <a:p>
                      <a:r>
                        <a:rPr lang="en-US" i="1">
                          <a:effectLst/>
                        </a:rPr>
                        <a:t>Break</a:t>
                      </a:r>
                      <a:endParaRPr lang="en-US">
                        <a:effectLst/>
                      </a:endParaRPr>
                    </a:p>
                  </a:txBody>
                  <a:tcPr marL="142875" marR="142875" marT="95250" marB="95250" anchor="ctr"/>
                </a:tc>
                <a:tc>
                  <a:txBody>
                    <a:bodyPr/>
                    <a:lstStyle/>
                    <a:p>
                      <a:endParaRPr lang="en-US">
                        <a:effectLst/>
                      </a:endParaRPr>
                    </a:p>
                  </a:txBody>
                  <a:tcPr marL="142875" marR="142875" marT="95250" marB="95250" anchor="ctr"/>
                </a:tc>
                <a:extLst>
                  <a:ext uri="{0D108BD9-81ED-4DB2-BD59-A6C34878D82A}">
                    <a16:rowId xmlns:a16="http://schemas.microsoft.com/office/drawing/2014/main" val="3500361090"/>
                  </a:ext>
                </a:extLst>
              </a:tr>
              <a:tr h="526542">
                <a:tc>
                  <a:txBody>
                    <a:bodyPr/>
                    <a:lstStyle/>
                    <a:p>
                      <a:pPr algn="r"/>
                      <a:r>
                        <a:rPr lang="en-US">
                          <a:effectLst/>
                        </a:rPr>
                        <a:t>3:30 PM</a:t>
                      </a:r>
                    </a:p>
                  </a:txBody>
                  <a:tcPr marL="142875" marR="142875" marT="95250" marB="95250" anchor="ctr"/>
                </a:tc>
                <a:tc>
                  <a:txBody>
                    <a:bodyPr/>
                    <a:lstStyle/>
                    <a:p>
                      <a:r>
                        <a:rPr lang="en-US">
                          <a:effectLst/>
                        </a:rPr>
                        <a:t>Software Licensing</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1733344417"/>
                  </a:ext>
                </a:extLst>
              </a:tr>
              <a:tr h="526542">
                <a:tc>
                  <a:txBody>
                    <a:bodyPr/>
                    <a:lstStyle/>
                    <a:p>
                      <a:pPr algn="r"/>
                      <a:r>
                        <a:rPr lang="en-US">
                          <a:effectLst/>
                        </a:rPr>
                        <a:t>4:15 PM</a:t>
                      </a:r>
                    </a:p>
                  </a:txBody>
                  <a:tcPr marL="142875" marR="142875" marT="95250" marB="95250" anchor="ctr"/>
                </a:tc>
                <a:tc>
                  <a:txBody>
                    <a:bodyPr/>
                    <a:lstStyle/>
                    <a:p>
                      <a:r>
                        <a:rPr lang="en-US">
                          <a:effectLst/>
                        </a:rPr>
                        <a:t>Improving Reproducibility Through Better Software Practices</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1855854553"/>
                  </a:ext>
                </a:extLst>
              </a:tr>
              <a:tr h="526542">
                <a:tc>
                  <a:txBody>
                    <a:bodyPr/>
                    <a:lstStyle/>
                    <a:p>
                      <a:pPr algn="r"/>
                      <a:r>
                        <a:rPr lang="en-US">
                          <a:effectLst/>
                        </a:rPr>
                        <a:t>5:00 PM</a:t>
                      </a:r>
                    </a:p>
                  </a:txBody>
                  <a:tcPr marL="142875" marR="142875" marT="95250" marB="95250" anchor="ctr"/>
                </a:tc>
                <a:tc>
                  <a:txBody>
                    <a:bodyPr/>
                    <a:lstStyle/>
                    <a:p>
                      <a:r>
                        <a:rPr lang="en-US" i="1">
                          <a:effectLst/>
                        </a:rPr>
                        <a:t>Final Exam</a:t>
                      </a:r>
                      <a:endParaRPr lang="en-US">
                        <a:effectLst/>
                      </a:endParaRPr>
                    </a:p>
                  </a:txBody>
                  <a:tcPr marL="142875" marR="142875" marT="95250" marB="95250" anchor="ctr"/>
                </a:tc>
                <a:tc>
                  <a:txBody>
                    <a:bodyPr/>
                    <a:lstStyle/>
                    <a:p>
                      <a:endParaRPr lang="en-US">
                        <a:effectLst/>
                      </a:endParaRPr>
                    </a:p>
                  </a:txBody>
                  <a:tcPr marL="142875" marR="142875" marT="95250" marB="95250" anchor="ctr"/>
                </a:tc>
                <a:extLst>
                  <a:ext uri="{0D108BD9-81ED-4DB2-BD59-A6C34878D82A}">
                    <a16:rowId xmlns:a16="http://schemas.microsoft.com/office/drawing/2014/main" val="2122309219"/>
                  </a:ext>
                </a:extLst>
              </a:tr>
              <a:tr h="526542">
                <a:tc>
                  <a:txBody>
                    <a:bodyPr/>
                    <a:lstStyle/>
                    <a:p>
                      <a:pPr algn="r"/>
                      <a:r>
                        <a:rPr lang="en-US">
                          <a:effectLst/>
                        </a:rPr>
                        <a:t>6:00 PM</a:t>
                      </a:r>
                    </a:p>
                  </a:txBody>
                  <a:tcPr marL="142875" marR="142875" marT="95250" marB="95250" anchor="ctr"/>
                </a:tc>
                <a:tc>
                  <a:txBody>
                    <a:bodyPr/>
                    <a:lstStyle/>
                    <a:p>
                      <a:r>
                        <a:rPr lang="en-US" i="1">
                          <a:effectLst/>
                        </a:rPr>
                        <a:t>Adjourn</a:t>
                      </a:r>
                      <a:endParaRPr lang="en-US">
                        <a:effectLst/>
                      </a:endParaRPr>
                    </a:p>
                  </a:txBody>
                  <a:tcPr marL="142875" marR="142875" marT="95250" marB="95250" anchor="ctr"/>
                </a:tc>
                <a:tc>
                  <a:txBody>
                    <a:bodyPr/>
                    <a:lstStyle/>
                    <a:p>
                      <a:endParaRPr lang="en-US" dirty="0"/>
                    </a:p>
                  </a:txBody>
                  <a:tcPr/>
                </a:tc>
                <a:extLst>
                  <a:ext uri="{0D108BD9-81ED-4DB2-BD59-A6C34878D82A}">
                    <a16:rowId xmlns:a16="http://schemas.microsoft.com/office/drawing/2014/main" val="3774671062"/>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1978333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3306</TotalTime>
  <Words>1109</Words>
  <Application>Microsoft Office PowerPoint</Application>
  <PresentationFormat>Custom</PresentationFormat>
  <Paragraphs>122</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Software Sustainability </vt:lpstr>
      <vt:lpstr>License, Citation and Acknowledgements</vt:lpstr>
      <vt:lpstr>About Us</vt:lpstr>
      <vt:lpstr>Building an Online Community</vt:lpstr>
      <vt:lpstr>Follow BSSw</vt:lpstr>
      <vt:lpstr>BSSw Tutorial Web Site</vt:lpstr>
      <vt:lpstr>Explaining Slide 2</vt:lpstr>
      <vt:lpstr>We Want to Interact with You!</vt:lpstr>
      <vt:lpstr>Agenda (1/2)</vt:lpstr>
      <vt:lpstr>Agenda (2/2)</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467</cp:revision>
  <cp:lastPrinted>2017-11-02T18:35:01Z</cp:lastPrinted>
  <dcterms:created xsi:type="dcterms:W3CDTF">2018-11-06T17:28:56Z</dcterms:created>
  <dcterms:modified xsi:type="dcterms:W3CDTF">2025-08-06T00:53:15Z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