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25"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10/26/2025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10/26/2025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7" Type="http://schemas.openxmlformats.org/officeDocument/2006/relationships/image" Target="../media/image10.jpe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hyperlink" Target="https://ideas-productivity.org/" TargetMode="External"/><Relationship Id="rId4" Type="http://schemas.openxmlformats.org/officeDocument/2006/relationships/hyperlink" Target="https://rapids.lbl.gov/"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5-11-16-sc/#hands-on-activities"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a:t>
            </a:r>
          </a:p>
          <a:p>
            <a:pPr>
              <a:spcBef>
                <a:spcPts val="2800"/>
              </a:spcBef>
            </a:pPr>
            <a:r>
              <a:rPr lang="en-US" sz="2000" dirty="0"/>
              <a:t>The International Conference for High-Performance Computing, Networking, Storage, and Analysis (SC25) conference</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5"/>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9515196"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7899602"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a:xfrm>
            <a:off x="365760" y="411480"/>
            <a:ext cx="11372473" cy="914400"/>
          </a:xfrm>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737360"/>
            <a:ext cx="11369809" cy="4047778"/>
          </a:xfrm>
        </p:spPr>
        <p:txBody>
          <a:bodyPr/>
          <a:lstStyle/>
          <a:p>
            <a:r>
              <a:rPr lang="en-US" b="1" dirty="0"/>
              <a:t>For detailed information, see the tutorial web page: </a:t>
            </a:r>
            <a:r>
              <a:rPr lang="en-US" b="1" dirty="0">
                <a:hlinkClick r:id="rId2"/>
              </a:rPr>
              <a:t>https://bssw-tutorial.github.io/2025-11-16-sc/#hands-on-activities</a:t>
            </a:r>
            <a:endParaRPr lang="en-US" b="1" dirty="0"/>
          </a:p>
          <a:p>
            <a:r>
              <a:rPr lang="en-US" dirty="0"/>
              <a:t>The “Responsible Software Development with LLMs” module includes a hands-on component</a:t>
            </a:r>
          </a:p>
          <a:p>
            <a:pPr lvl="1"/>
            <a:r>
              <a:rPr lang="en-US" dirty="0"/>
              <a:t>You will be using an LLM to generate code and tests</a:t>
            </a:r>
          </a:p>
          <a:p>
            <a:r>
              <a:rPr lang="en-US" dirty="0"/>
              <a:t>Participation in the hands-on is encouraged but not required</a:t>
            </a:r>
          </a:p>
          <a:p>
            <a:pPr lvl="1"/>
            <a:r>
              <a:rPr lang="en-US" dirty="0"/>
              <a:t>The instructor’s prompts and generated code will be made available to participants after the exercise</a:t>
            </a:r>
          </a:p>
          <a:p>
            <a:r>
              <a:rPr lang="en-US" b="1" dirty="0"/>
              <a:t>To participate in the hands-on, you will need access to a web-based LLM chat tool</a:t>
            </a:r>
          </a:p>
          <a:p>
            <a:pPr lvl="1"/>
            <a:r>
              <a:rPr lang="en-US" dirty="0"/>
              <a:t>The instructor will be using ChatGPT, but any similar tool will work</a:t>
            </a:r>
          </a:p>
          <a:p>
            <a:pPr lvl="1"/>
            <a:r>
              <a:rPr lang="en-US" dirty="0"/>
              <a:t>This is the “</a:t>
            </a:r>
            <a:r>
              <a:rPr lang="en-US" b="1" dirty="0"/>
              <a:t>web interface</a:t>
            </a:r>
            <a:r>
              <a:rPr lang="en-US" dirty="0"/>
              <a:t>” path in the instructions on the website</a:t>
            </a:r>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119092645"/>
              </p:ext>
            </p:extLst>
          </p:nvPr>
        </p:nvGraphicFramePr>
        <p:xfrm>
          <a:off x="1051560" y="1074420"/>
          <a:ext cx="9692640" cy="4323588"/>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(CST)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buNone/>
                      </a:pPr>
                      <a:r>
                        <a:rPr lang="en-US">
                          <a:effectLst/>
                        </a:rPr>
                        <a:t>8:30 AM</a:t>
                      </a:r>
                    </a:p>
                  </a:txBody>
                  <a:tcPr marL="142875" marR="142875" marT="95250" marB="95250" anchor="ctr"/>
                </a:tc>
                <a:tc>
                  <a:txBody>
                    <a:bodyPr/>
                    <a:lstStyle/>
                    <a:p>
                      <a:pPr>
                        <a:buNone/>
                      </a:pPr>
                      <a:r>
                        <a:rPr lang="en-US">
                          <a:effectLst/>
                        </a:rPr>
                        <a:t>Introduction</a:t>
                      </a:r>
                    </a:p>
                  </a:txBody>
                  <a:tcPr marL="142875" marR="142875" marT="95250" marB="95250" anchor="ctr"/>
                </a:tc>
                <a:tc>
                  <a:txBody>
                    <a:bodyPr/>
                    <a:lstStyle/>
                    <a:p>
                      <a:pPr>
                        <a:buNone/>
                      </a:pPr>
                      <a:r>
                        <a:rPr lang="en-US" dirty="0">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buNone/>
                      </a:pPr>
                      <a:r>
                        <a:rPr lang="en-US">
                          <a:effectLst/>
                        </a:rPr>
                        <a:t>8:45 AM</a:t>
                      </a:r>
                    </a:p>
                  </a:txBody>
                  <a:tcPr marL="142875" marR="142875" marT="95250" marB="95250" anchor="ctr"/>
                </a:tc>
                <a:tc>
                  <a:txBody>
                    <a:bodyPr/>
                    <a:lstStyle/>
                    <a:p>
                      <a:pPr>
                        <a:buNone/>
                      </a:pPr>
                      <a:r>
                        <a:rPr lang="en-US">
                          <a:effectLst/>
                        </a:rPr>
                        <a:t>Motivation and Overview of Best Practices in HPC Software Development</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buNone/>
                      </a:pPr>
                      <a:r>
                        <a:rPr lang="en-US">
                          <a:effectLst/>
                        </a:rPr>
                        <a:t>9:15 AM</a:t>
                      </a:r>
                    </a:p>
                  </a:txBody>
                  <a:tcPr marL="142875" marR="142875" marT="95250" marB="95250" anchor="ctr"/>
                </a:tc>
                <a:tc>
                  <a:txBody>
                    <a:bodyPr/>
                    <a:lstStyle/>
                    <a:p>
                      <a:pPr>
                        <a:buNone/>
                      </a:pPr>
                      <a:r>
                        <a:rPr lang="en-US">
                          <a:effectLst/>
                        </a:rPr>
                        <a:t>Improving Reproducibility Through Better Software Practices</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476507548"/>
                  </a:ext>
                </a:extLst>
              </a:tr>
              <a:tr h="526542">
                <a:tc>
                  <a:txBody>
                    <a:bodyPr/>
                    <a:lstStyle/>
                    <a:p>
                      <a:pPr algn="r">
                        <a:buNone/>
                      </a:pPr>
                      <a:r>
                        <a:rPr lang="en-US">
                          <a:effectLst/>
                        </a:rPr>
                        <a:t>10:00 AM</a:t>
                      </a:r>
                    </a:p>
                  </a:txBody>
                  <a:tcPr marL="142875" marR="142875" marT="95250" marB="95250" anchor="ctr"/>
                </a:tc>
                <a:tc>
                  <a:txBody>
                    <a:bodyPr/>
                    <a:lstStyle/>
                    <a:p>
                      <a:pPr>
                        <a:buNone/>
                      </a:pPr>
                      <a:r>
                        <a:rPr lang="en-US" i="1">
                          <a:effectLst/>
                        </a:rPr>
                        <a:t>Morning break</a:t>
                      </a:r>
                      <a:endParaRPr lang="en-US">
                        <a:effectLst/>
                      </a:endParaRPr>
                    </a:p>
                  </a:txBody>
                  <a:tcPr marL="142875" marR="142875" marT="95250" marB="95250" anchor="ctr"/>
                </a:tc>
                <a:tc>
                  <a:txBody>
                    <a:bodyPr/>
                    <a:lstStyle/>
                    <a:p>
                      <a:pPr>
                        <a:buNone/>
                      </a:pPr>
                      <a:endParaRPr lang="en-US">
                        <a:effectLst/>
                      </a:endParaRPr>
                    </a:p>
                  </a:txBody>
                  <a:tcPr marL="142875" marR="142875" marT="95250" marB="95250" anchor="ctr"/>
                </a:tc>
                <a:extLst>
                  <a:ext uri="{0D108BD9-81ED-4DB2-BD59-A6C34878D82A}">
                    <a16:rowId xmlns:a16="http://schemas.microsoft.com/office/drawing/2014/main" val="3487810232"/>
                  </a:ext>
                </a:extLst>
              </a:tr>
              <a:tr h="526542">
                <a:tc>
                  <a:txBody>
                    <a:bodyPr/>
                    <a:lstStyle/>
                    <a:p>
                      <a:pPr algn="r">
                        <a:buNone/>
                      </a:pPr>
                      <a:r>
                        <a:rPr lang="en-US">
                          <a:effectLst/>
                        </a:rPr>
                        <a:t>10:30 AM</a:t>
                      </a:r>
                    </a:p>
                  </a:txBody>
                  <a:tcPr marL="142875" marR="142875" marT="95250" marB="95250" anchor="ctr"/>
                </a:tc>
                <a:tc>
                  <a:txBody>
                    <a:bodyPr/>
                    <a:lstStyle/>
                    <a:p>
                      <a:pPr>
                        <a:buNone/>
                      </a:pPr>
                      <a:r>
                        <a:rPr lang="en-US" dirty="0">
                          <a:effectLst/>
                        </a:rPr>
                        <a:t>Responsible Software Development with LLMs</a:t>
                      </a:r>
                    </a:p>
                  </a:txBody>
                  <a:tcPr marL="142875" marR="142875" marT="95250" marB="95250" anchor="ctr"/>
                </a:tc>
                <a:tc>
                  <a:txBody>
                    <a:bodyPr/>
                    <a:lstStyle/>
                    <a:p>
                      <a:pPr>
                        <a:buNone/>
                      </a:pPr>
                      <a:r>
                        <a:rPr lang="en-US">
                          <a:effectLst/>
                        </a:rPr>
                        <a:t>Anshu Dubey (ANL)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buNone/>
                      </a:pPr>
                      <a:r>
                        <a:rPr lang="en-US">
                          <a:effectLst/>
                        </a:rPr>
                        <a:t>12:00 PM</a:t>
                      </a:r>
                    </a:p>
                  </a:txBody>
                  <a:tcPr marL="142875" marR="142875" marT="95250" marB="95250" anchor="ctr"/>
                </a:tc>
                <a:tc>
                  <a:txBody>
                    <a:bodyPr/>
                    <a:lstStyle/>
                    <a:p>
                      <a:pPr>
                        <a:buNone/>
                      </a:pPr>
                      <a:r>
                        <a:rPr lang="en-US" i="1">
                          <a:effectLst/>
                        </a:rPr>
                        <a:t>Adjourn</a:t>
                      </a:r>
                      <a:endParaRPr lang="en-US">
                        <a:effectLst/>
                      </a:endParaRPr>
                    </a:p>
                  </a:txBody>
                  <a:tcPr marL="142875" marR="142875" marT="95250" marB="95250" anchor="ctr"/>
                </a:tc>
                <a:tc>
                  <a:txBody>
                    <a:bodyPr/>
                    <a:lstStyle/>
                    <a:p>
                      <a:pPr>
                        <a:buNone/>
                      </a:pPr>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4497</TotalTime>
  <Words>1149</Words>
  <Application>Microsoft Office PowerPoint</Application>
  <PresentationFormat>Custom</PresentationFormat>
  <Paragraphs>101</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497</cp:revision>
  <cp:lastPrinted>2017-11-02T18:35:01Z</cp:lastPrinted>
  <dcterms:created xsi:type="dcterms:W3CDTF">2018-11-06T17:28:56Z</dcterms:created>
  <dcterms:modified xsi:type="dcterms:W3CDTF">2025-10-26T20:33:09Z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