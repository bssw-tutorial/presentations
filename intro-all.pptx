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35" r:id="rId4"/>
  </p:sldMasterIdLst>
  <p:notesMasterIdLst>
    <p:notesMasterId r:id="rId26"/>
  </p:notesMasterIdLst>
  <p:handoutMasterIdLst>
    <p:handoutMasterId r:id="rId27"/>
  </p:handoutMasterIdLst>
  <p:sldIdLst>
    <p:sldId id="617" r:id="rId5"/>
    <p:sldId id="636" r:id="rId6"/>
    <p:sldId id="308" r:id="rId7"/>
    <p:sldId id="324" r:id="rId8"/>
    <p:sldId id="329" r:id="rId9"/>
    <p:sldId id="619" r:id="rId10"/>
    <p:sldId id="620" r:id="rId11"/>
    <p:sldId id="622" r:id="rId12"/>
    <p:sldId id="616" r:id="rId13"/>
    <p:sldId id="624" r:id="rId14"/>
    <p:sldId id="261" r:id="rId15"/>
    <p:sldId id="625" r:id="rId16"/>
    <p:sldId id="327" r:id="rId17"/>
    <p:sldId id="627" r:id="rId18"/>
    <p:sldId id="631" r:id="rId19"/>
    <p:sldId id="314" r:id="rId20"/>
    <p:sldId id="316" r:id="rId21"/>
    <p:sldId id="632" r:id="rId22"/>
    <p:sldId id="633" r:id="rId23"/>
    <p:sldId id="634" r:id="rId24"/>
    <p:sldId id="635" r:id="rId25"/>
  </p:sldIdLst>
  <p:sldSz cx="12188825"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888" userDrawn="1">
          <p15:clr>
            <a:srgbClr val="A4A3A4"/>
          </p15:clr>
        </p15:guide>
        <p15:guide id="2" pos="3839" userDrawn="1">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9C2F"/>
    <a:srgbClr val="C59C27"/>
    <a:srgbClr val="D13940"/>
    <a:srgbClr val="EF9A1A"/>
    <a:srgbClr val="907262"/>
    <a:srgbClr val="B3CD1F"/>
    <a:srgbClr val="43B1E5"/>
    <a:srgbClr val="00B8BB"/>
    <a:srgbClr val="426FB6"/>
    <a:srgbClr val="13AA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154" autoAdjust="0"/>
    <p:restoredTop sz="96571" autoAdjust="0"/>
  </p:normalViewPr>
  <p:slideViewPr>
    <p:cSldViewPr snapToGrid="0" showGuides="1">
      <p:cViewPr>
        <p:scale>
          <a:sx n="123" d="100"/>
          <a:sy n="123" d="100"/>
        </p:scale>
        <p:origin x="366" y="102"/>
      </p:cViewPr>
      <p:guideLst>
        <p:guide orient="horz" pos="888"/>
        <p:guide pos="3839"/>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55" d="100"/>
          <a:sy n="55" d="100"/>
        </p:scale>
        <p:origin x="-1472" y="-64"/>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0B842F42-2CE9-4E35-95C1-410DC08A50B1}" type="datetimeFigureOut">
              <a:rPr lang="en-US" smtClean="0"/>
              <a:t>8/3/2025</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26F2E89A-4FDF-4617-8DDF-BE2769EE821E}" type="slidenum">
              <a:rPr lang="en-US" smtClean="0"/>
              <a:t>‹#›</a:t>
            </a:fld>
            <a:endParaRPr lang="en-US"/>
          </a:p>
        </p:txBody>
      </p:sp>
    </p:spTree>
    <p:extLst>
      <p:ext uri="{BB962C8B-B14F-4D97-AF65-F5344CB8AC3E}">
        <p14:creationId xmlns:p14="http://schemas.microsoft.com/office/powerpoint/2010/main" val="25792619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6F282904-F315-4730-8D91-37D99E141A6F}" type="datetimeFigureOut">
              <a:rPr lang="en-US" smtClean="0"/>
              <a:t>8/3/2025</a:t>
            </a:fld>
            <a:endParaRPr lang="en-US"/>
          </a:p>
        </p:txBody>
      </p:sp>
      <p:sp>
        <p:nvSpPr>
          <p:cNvPr id="4" name="Slide Image Placeholder 3"/>
          <p:cNvSpPr>
            <a:spLocks noGrp="1" noRot="1" noChangeAspect="1"/>
          </p:cNvSpPr>
          <p:nvPr>
            <p:ph type="sldImg" idx="2"/>
          </p:nvPr>
        </p:nvSpPr>
        <p:spPr>
          <a:xfrm>
            <a:off x="407988" y="696913"/>
            <a:ext cx="6194425"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54E672D7-8E2D-4611-973D-F4591A707C34}" type="slidenum">
              <a:rPr lang="en-US" smtClean="0"/>
              <a:t>‹#›</a:t>
            </a:fld>
            <a:endParaRPr lang="en-US"/>
          </a:p>
        </p:txBody>
      </p:sp>
    </p:spTree>
    <p:extLst>
      <p:ext uri="{BB962C8B-B14F-4D97-AF65-F5344CB8AC3E}">
        <p14:creationId xmlns:p14="http://schemas.microsoft.com/office/powerpoint/2010/main" val="1701357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Variant for hands-on </a:t>
            </a:r>
            <a:r>
              <a:rPr lang="en-US" b="1" i="1" dirty="0"/>
              <a:t>not</a:t>
            </a:r>
            <a:r>
              <a:rPr lang="en-US" b="0" i="0" dirty="0"/>
              <a:t> being</a:t>
            </a:r>
            <a:r>
              <a:rPr lang="en-US" dirty="0"/>
              <a:t> part of the agenda.</a:t>
            </a:r>
          </a:p>
        </p:txBody>
      </p:sp>
      <p:sp>
        <p:nvSpPr>
          <p:cNvPr id="4" name="Slide Number Placeholder 3"/>
          <p:cNvSpPr>
            <a:spLocks noGrp="1"/>
          </p:cNvSpPr>
          <p:nvPr>
            <p:ph type="sldNum" sz="quarter" idx="5"/>
          </p:nvPr>
        </p:nvSpPr>
        <p:spPr/>
        <p:txBody>
          <a:bodyPr/>
          <a:lstStyle/>
          <a:p>
            <a:fld id="{54E672D7-8E2D-4611-973D-F4591A707C34}" type="slidenum">
              <a:rPr lang="en-US" smtClean="0"/>
              <a:t>16</a:t>
            </a:fld>
            <a:endParaRPr lang="en-US"/>
          </a:p>
        </p:txBody>
      </p:sp>
    </p:spTree>
    <p:extLst>
      <p:ext uri="{BB962C8B-B14F-4D97-AF65-F5344CB8AC3E}">
        <p14:creationId xmlns:p14="http://schemas.microsoft.com/office/powerpoint/2010/main" val="272518544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6.png"/><Relationship Id="rId3" Type="http://schemas.microsoft.com/office/2007/relationships/hdphoto" Target="../media/hdphoto1.wdp"/><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7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endParaRPr lang="en-US" sz="1600" dirty="0">
              <a:ln>
                <a:noFill/>
              </a:ln>
              <a:solidFill>
                <a:schemeClr val="bg1"/>
              </a:solidFill>
            </a:endParaRP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a:t>Click to edit Master title style</a:t>
            </a:r>
            <a:endParaRPr lang="en-US" dirty="0"/>
          </a:p>
        </p:txBody>
      </p:sp>
      <p:sp>
        <p:nvSpPr>
          <p:cNvPr id="3" name="Subtitle 2"/>
          <p:cNvSpPr>
            <a:spLocks noGrp="1"/>
          </p:cNvSpPr>
          <p:nvPr userDrawn="1">
            <p:ph type="subTitle" idx="1"/>
          </p:nvPr>
        </p:nvSpPr>
        <p:spPr>
          <a:xfrm>
            <a:off x="3177632" y="2085962"/>
            <a:ext cx="8292317" cy="2855300"/>
          </a:xfrm>
        </p:spPr>
        <p:txBody>
          <a:bodyPr lIns="109728"/>
          <a:lstStyle>
            <a:lvl1pPr marL="0" indent="0" algn="l">
              <a:buNone/>
              <a:defRPr sz="2400">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6" name="Picture 15"/>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357260" y="6321694"/>
            <a:ext cx="2409477" cy="401008"/>
          </a:xfrm>
          <a:prstGeom prst="rect">
            <a:avLst/>
          </a:prstGeom>
        </p:spPr>
      </p:pic>
    </p:spTree>
    <p:extLst>
      <p:ext uri="{BB962C8B-B14F-4D97-AF65-F5344CB8AC3E}">
        <p14:creationId xmlns:p14="http://schemas.microsoft.com/office/powerpoint/2010/main" val="324926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8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endParaRPr lang="en-US" sz="1600" dirty="0">
              <a:ln>
                <a:noFill/>
              </a:ln>
              <a:solidFill>
                <a:schemeClr val="bg1"/>
              </a:solidFill>
            </a:endParaRP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a:t>Click to edit Master title style</a:t>
            </a:r>
            <a:endParaRPr lang="en-US" dirty="0"/>
          </a:p>
        </p:txBody>
      </p:sp>
      <p:sp>
        <p:nvSpPr>
          <p:cNvPr id="3" name="Subtitle 2"/>
          <p:cNvSpPr>
            <a:spLocks noGrp="1"/>
          </p:cNvSpPr>
          <p:nvPr userDrawn="1">
            <p:ph type="subTitle" idx="1"/>
          </p:nvPr>
        </p:nvSpPr>
        <p:spPr>
          <a:xfrm>
            <a:off x="3177632" y="2085962"/>
            <a:ext cx="8292317" cy="2855300"/>
          </a:xfrm>
        </p:spPr>
        <p:txBody>
          <a:bodyPr lIns="109728"/>
          <a:lstStyle>
            <a:lvl1pPr marL="0" indent="0" algn="l">
              <a:buNone/>
              <a:defRPr sz="2400">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6" name="Picture 15"/>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536165" y="6321694"/>
            <a:ext cx="2409477" cy="401008"/>
          </a:xfrm>
          <a:prstGeom prst="rect">
            <a:avLst/>
          </a:prstGeom>
        </p:spPr>
      </p:pic>
      <p:pic>
        <p:nvPicPr>
          <p:cNvPr id="13" name="Picture 2" descr="https://licensebuttons.net/l/by/4.0/88x31.png">
            <a:extLst>
              <a:ext uri="{FF2B5EF4-FFF2-40B4-BE49-F238E27FC236}">
                <a16:creationId xmlns:a16="http://schemas.microsoft.com/office/drawing/2014/main" id="{FAFD7D99-41CA-4FD0-9396-9C5659F22045}"/>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69069" y="5841262"/>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D022D1C-99FF-490C-8690-D8081D33C0AF}"/>
              </a:ext>
            </a:extLst>
          </p:cNvPr>
          <p:cNvSpPr txBox="1"/>
          <p:nvPr userDrawn="1"/>
        </p:nvSpPr>
        <p:spPr>
          <a:xfrm>
            <a:off x="1810964" y="5776533"/>
            <a:ext cx="1171114" cy="424732"/>
          </a:xfrm>
          <a:prstGeom prst="rect">
            <a:avLst/>
          </a:prstGeom>
          <a:noFill/>
        </p:spPr>
        <p:txBody>
          <a:bodyPr wrap="square" rtlCol="0">
            <a:spAutoFit/>
          </a:bodyPr>
          <a:lstStyle/>
          <a:p>
            <a:pPr algn="ctr">
              <a:lnSpc>
                <a:spcPct val="90000"/>
              </a:lnSpc>
            </a:pPr>
            <a:r>
              <a:rPr lang="en-US" sz="1200" dirty="0"/>
              <a:t>See slide 2 for license details</a:t>
            </a:r>
          </a:p>
        </p:txBody>
      </p:sp>
      <p:pic>
        <p:nvPicPr>
          <p:cNvPr id="5" name="Picture 4">
            <a:extLst>
              <a:ext uri="{FF2B5EF4-FFF2-40B4-BE49-F238E27FC236}">
                <a16:creationId xmlns:a16="http://schemas.microsoft.com/office/drawing/2014/main" id="{39A0B7EC-D4C0-0A37-EF93-54309C1E7E8C}"/>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18659" y="158509"/>
            <a:ext cx="2109916" cy="905256"/>
          </a:xfrm>
          <a:prstGeom prst="rect">
            <a:avLst/>
          </a:prstGeom>
        </p:spPr>
      </p:pic>
      <p:grpSp>
        <p:nvGrpSpPr>
          <p:cNvPr id="21" name="Group 20">
            <a:extLst>
              <a:ext uri="{FF2B5EF4-FFF2-40B4-BE49-F238E27FC236}">
                <a16:creationId xmlns:a16="http://schemas.microsoft.com/office/drawing/2014/main" id="{23F39736-1AFA-8528-C9E3-41B55EABEDCA}"/>
              </a:ext>
            </a:extLst>
          </p:cNvPr>
          <p:cNvGrpSpPr/>
          <p:nvPr userDrawn="1"/>
        </p:nvGrpSpPr>
        <p:grpSpPr>
          <a:xfrm>
            <a:off x="366259" y="3655396"/>
            <a:ext cx="2214716" cy="356329"/>
            <a:chOff x="341278" y="3628835"/>
            <a:chExt cx="2214716" cy="356329"/>
          </a:xfrm>
        </p:grpSpPr>
        <p:pic>
          <p:nvPicPr>
            <p:cNvPr id="6" name="Picture 2">
              <a:extLst>
                <a:ext uri="{FF2B5EF4-FFF2-40B4-BE49-F238E27FC236}">
                  <a16:creationId xmlns:a16="http://schemas.microsoft.com/office/drawing/2014/main" id="{EF0692E1-7D85-78AD-9CB9-EDC5C0A1CD96}"/>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41278" y="3628835"/>
              <a:ext cx="1005840" cy="35632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5CDAB3D-B8D6-9AC9-8507-6F95230AEE45}"/>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550154" y="3690079"/>
              <a:ext cx="1005840" cy="233840"/>
            </a:xfrm>
            <a:prstGeom prst="rect">
              <a:avLst/>
            </a:prstGeom>
            <a:noFill/>
            <a:extLst>
              <a:ext uri="{909E8E84-426E-40DD-AFC4-6F175D3DCCD1}">
                <a14:hiddenFill xmlns:a14="http://schemas.microsoft.com/office/drawing/2010/main">
                  <a:solidFill>
                    <a:srgbClr val="FFFFFF"/>
                  </a:solidFill>
                </a14:hiddenFill>
              </a:ext>
            </a:extLst>
          </p:spPr>
        </p:pic>
      </p:grpSp>
      <p:pic>
        <p:nvPicPr>
          <p:cNvPr id="11" name="Picture 10" descr="A black and white sign with blue text&#10;&#10;Description automatically generated">
            <a:extLst>
              <a:ext uri="{FF2B5EF4-FFF2-40B4-BE49-F238E27FC236}">
                <a16:creationId xmlns:a16="http://schemas.microsoft.com/office/drawing/2014/main" id="{A50B83FE-88FB-1C61-17CC-A58C0BE092BF}"/>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70697" y="4125123"/>
            <a:ext cx="1005840" cy="324328"/>
          </a:xfrm>
          <a:prstGeom prst="rect">
            <a:avLst/>
          </a:prstGeom>
        </p:spPr>
      </p:pic>
      <p:sp>
        <p:nvSpPr>
          <p:cNvPr id="8" name="TextBox 7">
            <a:extLst>
              <a:ext uri="{FF2B5EF4-FFF2-40B4-BE49-F238E27FC236}">
                <a16:creationId xmlns:a16="http://schemas.microsoft.com/office/drawing/2014/main" id="{DBDB4EA8-7E00-EB97-386F-806F04EDC41A}"/>
              </a:ext>
            </a:extLst>
          </p:cNvPr>
          <p:cNvSpPr txBox="1"/>
          <p:nvPr userDrawn="1"/>
        </p:nvSpPr>
        <p:spPr>
          <a:xfrm>
            <a:off x="901538" y="1776974"/>
            <a:ext cx="1144159" cy="350865"/>
          </a:xfrm>
          <a:prstGeom prst="rect">
            <a:avLst/>
          </a:prstGeom>
          <a:noFill/>
        </p:spPr>
        <p:txBody>
          <a:bodyPr wrap="none" lIns="118872" tIns="91440" rIns="118872" bIns="91440" rtlCol="0" anchor="ctr" anchorCtr="0">
            <a:spAutoFit/>
          </a:bodyPr>
          <a:lstStyle/>
          <a:p>
            <a:pPr algn="l">
              <a:lnSpc>
                <a:spcPct val="90000"/>
              </a:lnSpc>
            </a:pPr>
            <a:r>
              <a:rPr lang="en-US" sz="1200" i="1" dirty="0"/>
              <a:t>Presented by</a:t>
            </a:r>
          </a:p>
        </p:txBody>
      </p:sp>
      <p:sp>
        <p:nvSpPr>
          <p:cNvPr id="9" name="TextBox 8">
            <a:extLst>
              <a:ext uri="{FF2B5EF4-FFF2-40B4-BE49-F238E27FC236}">
                <a16:creationId xmlns:a16="http://schemas.microsoft.com/office/drawing/2014/main" id="{9C6AA8F1-3D17-46A7-8926-BC4892D4C51C}"/>
              </a:ext>
            </a:extLst>
          </p:cNvPr>
          <p:cNvSpPr txBox="1"/>
          <p:nvPr userDrawn="1"/>
        </p:nvSpPr>
        <p:spPr>
          <a:xfrm>
            <a:off x="28657" y="2079048"/>
            <a:ext cx="2889921" cy="932563"/>
          </a:xfrm>
          <a:prstGeom prst="rect">
            <a:avLst/>
          </a:prstGeom>
          <a:noFill/>
        </p:spPr>
        <p:txBody>
          <a:bodyPr wrap="square" lIns="118872" tIns="91440" rIns="118872" bIns="91440" rtlCol="0" anchor="ctr" anchorCtr="0">
            <a:spAutoFit/>
          </a:bodyPr>
          <a:lstStyle/>
          <a:p>
            <a:pPr algn="l">
              <a:lnSpc>
                <a:spcPct val="90000"/>
              </a:lnSpc>
            </a:pPr>
            <a:r>
              <a:rPr lang="en-US" b="1" dirty="0"/>
              <a:t>COLABS: Collaboration for Better Software for Science</a:t>
            </a:r>
          </a:p>
        </p:txBody>
      </p:sp>
      <p:sp>
        <p:nvSpPr>
          <p:cNvPr id="10" name="TextBox 9">
            <a:extLst>
              <a:ext uri="{FF2B5EF4-FFF2-40B4-BE49-F238E27FC236}">
                <a16:creationId xmlns:a16="http://schemas.microsoft.com/office/drawing/2014/main" id="{CE38D39D-3F53-1EF5-8F58-4DF913CFD07D}"/>
              </a:ext>
            </a:extLst>
          </p:cNvPr>
          <p:cNvSpPr txBox="1"/>
          <p:nvPr userDrawn="1"/>
        </p:nvSpPr>
        <p:spPr>
          <a:xfrm>
            <a:off x="676315" y="3191133"/>
            <a:ext cx="1594604" cy="350865"/>
          </a:xfrm>
          <a:prstGeom prst="rect">
            <a:avLst/>
          </a:prstGeom>
          <a:noFill/>
        </p:spPr>
        <p:txBody>
          <a:bodyPr wrap="none" lIns="118872" tIns="91440" rIns="118872" bIns="91440" rtlCol="0" anchor="ctr" anchorCtr="0">
            <a:spAutoFit/>
          </a:bodyPr>
          <a:lstStyle/>
          <a:p>
            <a:pPr algn="l">
              <a:lnSpc>
                <a:spcPct val="90000"/>
              </a:lnSpc>
            </a:pPr>
            <a:r>
              <a:rPr lang="en-US" sz="1200" i="1" dirty="0"/>
              <a:t>In collaboration with</a:t>
            </a:r>
          </a:p>
        </p:txBody>
      </p:sp>
      <p:sp>
        <p:nvSpPr>
          <p:cNvPr id="15" name="TextBox 14">
            <a:extLst>
              <a:ext uri="{FF2B5EF4-FFF2-40B4-BE49-F238E27FC236}">
                <a16:creationId xmlns:a16="http://schemas.microsoft.com/office/drawing/2014/main" id="{38A567DA-27A0-BFAF-CB9E-0EA56E125664}"/>
              </a:ext>
            </a:extLst>
          </p:cNvPr>
          <p:cNvSpPr txBox="1"/>
          <p:nvPr userDrawn="1"/>
        </p:nvSpPr>
        <p:spPr>
          <a:xfrm>
            <a:off x="572120" y="4562849"/>
            <a:ext cx="1802994" cy="350865"/>
          </a:xfrm>
          <a:prstGeom prst="rect">
            <a:avLst/>
          </a:prstGeom>
          <a:noFill/>
        </p:spPr>
        <p:txBody>
          <a:bodyPr wrap="none" lIns="118872" tIns="91440" rIns="118872" bIns="91440" rtlCol="0" anchor="ctr" anchorCtr="0">
            <a:spAutoFit/>
          </a:bodyPr>
          <a:lstStyle/>
          <a:p>
            <a:pPr algn="l">
              <a:lnSpc>
                <a:spcPct val="90000"/>
              </a:lnSpc>
            </a:pPr>
            <a:r>
              <a:rPr lang="en-US" sz="1200" i="1" dirty="0"/>
              <a:t>With prior support from</a:t>
            </a:r>
          </a:p>
        </p:txBody>
      </p:sp>
      <p:grpSp>
        <p:nvGrpSpPr>
          <p:cNvPr id="20" name="Group 19">
            <a:extLst>
              <a:ext uri="{FF2B5EF4-FFF2-40B4-BE49-F238E27FC236}">
                <a16:creationId xmlns:a16="http://schemas.microsoft.com/office/drawing/2014/main" id="{63A83523-6C92-DDA5-E072-BAC75B3276B6}"/>
              </a:ext>
            </a:extLst>
          </p:cNvPr>
          <p:cNvGrpSpPr/>
          <p:nvPr userDrawn="1"/>
        </p:nvGrpSpPr>
        <p:grpSpPr>
          <a:xfrm>
            <a:off x="355043" y="5027111"/>
            <a:ext cx="2237149" cy="457200"/>
            <a:chOff x="343050" y="5128711"/>
            <a:chExt cx="2237149" cy="457200"/>
          </a:xfrm>
        </p:grpSpPr>
        <p:pic>
          <p:nvPicPr>
            <p:cNvPr id="17" name="Picture 16">
              <a:extLst>
                <a:ext uri="{FF2B5EF4-FFF2-40B4-BE49-F238E27FC236}">
                  <a16:creationId xmlns:a16="http://schemas.microsoft.com/office/drawing/2014/main" id="{70EB972A-C812-2D11-E993-9648F06DCD53}"/>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343050" y="5128711"/>
              <a:ext cx="1002296" cy="457200"/>
            </a:xfrm>
            <a:prstGeom prst="rect">
              <a:avLst/>
            </a:prstGeom>
          </p:spPr>
        </p:pic>
        <p:pic>
          <p:nvPicPr>
            <p:cNvPr id="18" name="Picture 17" descr="A picture containing shape&#10;&#10;Description automatically generated">
              <a:extLst>
                <a:ext uri="{FF2B5EF4-FFF2-40B4-BE49-F238E27FC236}">
                  <a16:creationId xmlns:a16="http://schemas.microsoft.com/office/drawing/2014/main" id="{DC5CC62A-5FBA-A239-536C-E231ED3105F0}"/>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525950" y="5128711"/>
              <a:ext cx="1054249" cy="457200"/>
            </a:xfrm>
            <a:prstGeom prst="rect">
              <a:avLst/>
            </a:prstGeom>
          </p:spPr>
        </p:pic>
      </p:grpSp>
    </p:spTree>
    <p:extLst>
      <p:ext uri="{BB962C8B-B14F-4D97-AF65-F5344CB8AC3E}">
        <p14:creationId xmlns:p14="http://schemas.microsoft.com/office/powerpoint/2010/main" val="451228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2473" cy="914400"/>
          </a:xfrm>
        </p:spPr>
        <p:txBody>
          <a:bodyPr anchor="t" anchorCtr="0"/>
          <a:lstStyle/>
          <a:p>
            <a:r>
              <a:rPr lang="en-US"/>
              <a:t>Click to edit Master title style</a:t>
            </a:r>
            <a:endParaRPr lang="en-US" dirty="0"/>
          </a:p>
        </p:txBody>
      </p:sp>
      <p:sp>
        <p:nvSpPr>
          <p:cNvPr id="3" name="Content Placeholder 2"/>
          <p:cNvSpPr>
            <a:spLocks noGrp="1"/>
          </p:cNvSpPr>
          <p:nvPr>
            <p:ph idx="1" hasCustomPrompt="1"/>
          </p:nvPr>
        </p:nvSpPr>
        <p:spPr>
          <a:xfrm>
            <a:off x="365760" y="1737360"/>
            <a:ext cx="11369809" cy="404777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marL="1482725" indent="-222250">
              <a:buFont typeface="Arial" panose="020B0604020202020204" pitchFamily="34" charset="0"/>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level0.4	</a:t>
            </a:r>
          </a:p>
        </p:txBody>
      </p:sp>
    </p:spTree>
    <p:extLst>
      <p:ext uri="{BB962C8B-B14F-4D97-AF65-F5344CB8AC3E}">
        <p14:creationId xmlns:p14="http://schemas.microsoft.com/office/powerpoint/2010/main" val="1209220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hasCustomPrompt="1"/>
          </p:nvPr>
        </p:nvSpPr>
        <p:spPr>
          <a:xfrm>
            <a:off x="457200" y="1737360"/>
            <a:ext cx="5588582"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558550"/>
            <a:ext cx="5588582"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buFont typeface="Arial" panose="020B0604020202020204" pitchFamily="34" charset="0"/>
              <a:buChar cha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914" y="1737360"/>
            <a:ext cx="5531934"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8914" y="2558550"/>
            <a:ext cx="5531934"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defRPr lang="en-US" sz="16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74864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ad chart">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7465488" cy="810738"/>
          </a:xfrm>
        </p:spPr>
        <p:txBody>
          <a:bodyPr/>
          <a:lstStyle>
            <a:lvl1pPr>
              <a:defRPr sz="2400"/>
            </a:lvl1pPr>
          </a:lstStyle>
          <a:p>
            <a:r>
              <a:rPr lang="en-US"/>
              <a:t>Click to edit Master title style</a:t>
            </a:r>
            <a:endParaRPr lang="en-US" dirty="0"/>
          </a:p>
        </p:txBody>
      </p:sp>
      <p:sp>
        <p:nvSpPr>
          <p:cNvPr id="3" name="Text Placeholder 2"/>
          <p:cNvSpPr>
            <a:spLocks noGrp="1"/>
          </p:cNvSpPr>
          <p:nvPr>
            <p:ph type="body" idx="1" hasCustomPrompt="1"/>
          </p:nvPr>
        </p:nvSpPr>
        <p:spPr>
          <a:xfrm>
            <a:off x="448056"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hasCustomPrompt="1"/>
          </p:nvPr>
        </p:nvSpPr>
        <p:spPr>
          <a:xfrm>
            <a:off x="448056"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buFont typeface="Arial" panose="020B0604020202020204" pitchFamily="34" charset="0"/>
              <a:buChar char="•"/>
              <a:defRPr sz="1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3" hasCustomPrompt="1"/>
          </p:nvPr>
        </p:nvSpPr>
        <p:spPr>
          <a:xfrm>
            <a:off x="6153912"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hasCustomPrompt="1"/>
          </p:nvPr>
        </p:nvSpPr>
        <p:spPr>
          <a:xfrm>
            <a:off x="6153912"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defRPr lang="en-US" sz="14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10" name="Text Placeholder 9">
            <a:extLst>
              <a:ext uri="{FF2B5EF4-FFF2-40B4-BE49-F238E27FC236}">
                <a16:creationId xmlns:a16="http://schemas.microsoft.com/office/drawing/2014/main" id="{1AC1494F-06BF-478E-BCF5-6FCC755EF91F}"/>
              </a:ext>
            </a:extLst>
          </p:cNvPr>
          <p:cNvSpPr>
            <a:spLocks noGrp="1"/>
          </p:cNvSpPr>
          <p:nvPr>
            <p:ph type="body" sz="quarter" idx="10" hasCustomPrompt="1"/>
          </p:nvPr>
        </p:nvSpPr>
        <p:spPr>
          <a:xfrm>
            <a:off x="447675"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2" name="Text Placeholder 11">
            <a:extLst>
              <a:ext uri="{FF2B5EF4-FFF2-40B4-BE49-F238E27FC236}">
                <a16:creationId xmlns:a16="http://schemas.microsoft.com/office/drawing/2014/main" id="{DE13F5F8-5DA4-4A7D-94FF-19BFEBF090FD}"/>
              </a:ext>
            </a:extLst>
          </p:cNvPr>
          <p:cNvSpPr>
            <a:spLocks noGrp="1"/>
          </p:cNvSpPr>
          <p:nvPr>
            <p:ph type="body" sz="quarter" idx="11" hasCustomPrompt="1"/>
          </p:nvPr>
        </p:nvSpPr>
        <p:spPr>
          <a:xfrm>
            <a:off x="6153150"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4" name="Text Placeholder 13">
            <a:extLst>
              <a:ext uri="{FF2B5EF4-FFF2-40B4-BE49-F238E27FC236}">
                <a16:creationId xmlns:a16="http://schemas.microsoft.com/office/drawing/2014/main" id="{11508C29-BEAF-4D1B-85C7-62D86B9A99F0}"/>
              </a:ext>
            </a:extLst>
          </p:cNvPr>
          <p:cNvSpPr>
            <a:spLocks noGrp="1"/>
          </p:cNvSpPr>
          <p:nvPr>
            <p:ph type="body" sz="quarter" idx="12"/>
          </p:nvPr>
        </p:nvSpPr>
        <p:spPr>
          <a:xfrm>
            <a:off x="447675"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
        <p:nvSpPr>
          <p:cNvPr id="16" name="Text Placeholder 15">
            <a:extLst>
              <a:ext uri="{FF2B5EF4-FFF2-40B4-BE49-F238E27FC236}">
                <a16:creationId xmlns:a16="http://schemas.microsoft.com/office/drawing/2014/main" id="{DA42C277-CD07-4855-BE2B-F5804018ECD9}"/>
              </a:ext>
            </a:extLst>
          </p:cNvPr>
          <p:cNvSpPr>
            <a:spLocks noGrp="1"/>
          </p:cNvSpPr>
          <p:nvPr>
            <p:ph type="body" sz="quarter" idx="13"/>
          </p:nvPr>
        </p:nvSpPr>
        <p:spPr>
          <a:xfrm>
            <a:off x="6153150"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75463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612109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2198867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65760" y="411480"/>
            <a:ext cx="11376442" cy="8469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Click to edit Master title style</a:t>
            </a:r>
            <a:endParaRPr lang="en-US" dirty="0"/>
          </a:p>
        </p:txBody>
      </p:sp>
      <p:sp>
        <p:nvSpPr>
          <p:cNvPr id="1027" name="Text Placeholder 2"/>
          <p:cNvSpPr>
            <a:spLocks noGrp="1"/>
          </p:cNvSpPr>
          <p:nvPr>
            <p:ph type="body" idx="1"/>
          </p:nvPr>
        </p:nvSpPr>
        <p:spPr bwMode="auto">
          <a:xfrm>
            <a:off x="365760" y="1737360"/>
            <a:ext cx="11376442" cy="40409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256"/>
          <p:cNvSpPr txBox="1">
            <a:spLocks noChangeArrowheads="1"/>
          </p:cNvSpPr>
          <p:nvPr userDrawn="1"/>
        </p:nvSpPr>
        <p:spPr>
          <a:xfrm>
            <a:off x="363828" y="6477000"/>
            <a:ext cx="3315547" cy="182562"/>
          </a:xfrm>
          <a:prstGeom prst="rect">
            <a:avLst/>
          </a:prstGeom>
          <a:ln/>
        </p:spPr>
        <p:txBody>
          <a:bodyPr anchor="ctr"/>
          <a:lstStyle/>
          <a:p>
            <a:pPr algn="l"/>
            <a:r>
              <a:rPr lang="en-US" sz="1000" dirty="0">
                <a:solidFill>
                  <a:schemeClr val="tx1"/>
                </a:solidFill>
                <a:latin typeface="Arial" pitchFamily="34" charset="0"/>
                <a:cs typeface="Arial" pitchFamily="34" charset="0"/>
              </a:rPr>
              <a:t> </a:t>
            </a:r>
          </a:p>
        </p:txBody>
      </p:sp>
      <p:sp>
        <p:nvSpPr>
          <p:cNvPr id="9" name="Rectangle 6"/>
          <p:cNvSpPr>
            <a:spLocks noChangeArrowheads="1"/>
          </p:cNvSpPr>
          <p:nvPr userDrawn="1"/>
        </p:nvSpPr>
        <p:spPr bwMode="auto">
          <a:xfrm flipH="1">
            <a:off x="163374" y="6513051"/>
            <a:ext cx="515635" cy="146511"/>
          </a:xfrm>
          <a:prstGeom prst="rect">
            <a:avLst/>
          </a:prstGeom>
          <a:noFill/>
          <a:ln w="9525">
            <a:noFill/>
            <a:miter lim="800000"/>
            <a:headEnd/>
            <a:tailEnd/>
          </a:ln>
          <a:effectLst/>
        </p:spPr>
        <p:txBody>
          <a:bodyPr lIns="0" tIns="0" rIns="0" bIns="0"/>
          <a:lstStyle/>
          <a:p>
            <a:pPr algn="l" defTabSz="173038">
              <a:lnSpc>
                <a:spcPct val="90000"/>
              </a:lnSpc>
              <a:tabLst>
                <a:tab pos="230188" algn="l"/>
              </a:tabLst>
              <a:defRPr/>
            </a:pPr>
            <a:fld id="{040BB257-551A-4736-B50F-DCF1BA034C06}" type="slidenum">
              <a:rPr lang="en-US" sz="1000" smtClean="0">
                <a:solidFill>
                  <a:schemeClr val="tx1"/>
                </a:solidFill>
                <a:latin typeface="Arial" pitchFamily="34" charset="0"/>
                <a:cs typeface="Arial" pitchFamily="34" charset="0"/>
              </a:rPr>
              <a:pPr algn="l" defTabSz="173038">
                <a:lnSpc>
                  <a:spcPct val="90000"/>
                </a:lnSpc>
                <a:tabLst>
                  <a:tab pos="230188" algn="l"/>
                </a:tabLst>
                <a:defRPr/>
              </a:pPr>
              <a:t>‹#›</a:t>
            </a:fld>
            <a:endParaRPr lang="en-US" sz="10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081848127"/>
      </p:ext>
    </p:extLst>
  </p:cSld>
  <p:clrMap bg1="lt1" tx1="dk1" bg2="lt2" tx2="dk2" accent1="accent1" accent2="accent2" accent3="accent3" accent4="accent4" accent5="accent5" accent6="accent6" hlink="hlink" folHlink="folHlink"/>
  <p:sldLayoutIdLst>
    <p:sldLayoutId id="2147483949" r:id="rId1"/>
    <p:sldLayoutId id="2147483951" r:id="rId2"/>
    <p:sldLayoutId id="2147483937" r:id="rId3"/>
    <p:sldLayoutId id="2147483939" r:id="rId4"/>
    <p:sldLayoutId id="2147483950" r:id="rId5"/>
    <p:sldLayoutId id="2147483940" r:id="rId6"/>
    <p:sldLayoutId id="2147483941" r:id="rId7"/>
  </p:sldLayoutIdLst>
  <p:hf hdr="0" ftr="0" dt="0"/>
  <p:txStyles>
    <p:titleStyle>
      <a:lvl1pPr marL="0" indent="0" algn="l" rtl="0" eaLnBrk="1" fontAlgn="base" hangingPunct="1">
        <a:lnSpc>
          <a:spcPct val="85000"/>
        </a:lnSpc>
        <a:spcBef>
          <a:spcPct val="0"/>
        </a:spcBef>
        <a:spcAft>
          <a:spcPct val="0"/>
        </a:spcAft>
        <a:defRPr sz="2800" b="1" kern="1200" baseline="0">
          <a:solidFill>
            <a:schemeClr val="tx1"/>
          </a:solidFill>
          <a:latin typeface="+mn-lt"/>
          <a:ea typeface="+mj-ea"/>
          <a:cs typeface="+mj-cs"/>
        </a:defRPr>
      </a:lvl1pPr>
      <a:lvl2pPr algn="l" rtl="0" eaLnBrk="1" fontAlgn="base" hangingPunct="1">
        <a:lnSpc>
          <a:spcPct val="85000"/>
        </a:lnSpc>
        <a:spcBef>
          <a:spcPct val="0"/>
        </a:spcBef>
        <a:spcAft>
          <a:spcPct val="0"/>
        </a:spcAft>
        <a:defRPr sz="3000">
          <a:solidFill>
            <a:srgbClr val="006C3A"/>
          </a:solidFill>
          <a:latin typeface="Arial Black" pitchFamily="34" charset="0"/>
        </a:defRPr>
      </a:lvl2pPr>
      <a:lvl3pPr algn="l" rtl="0" eaLnBrk="1" fontAlgn="base" hangingPunct="1">
        <a:lnSpc>
          <a:spcPct val="85000"/>
        </a:lnSpc>
        <a:spcBef>
          <a:spcPct val="0"/>
        </a:spcBef>
        <a:spcAft>
          <a:spcPct val="0"/>
        </a:spcAft>
        <a:defRPr sz="3000">
          <a:solidFill>
            <a:srgbClr val="006C3A"/>
          </a:solidFill>
          <a:latin typeface="Arial Black" pitchFamily="34" charset="0"/>
        </a:defRPr>
      </a:lvl3pPr>
      <a:lvl4pPr algn="l" rtl="0" eaLnBrk="1" fontAlgn="base" hangingPunct="1">
        <a:lnSpc>
          <a:spcPct val="85000"/>
        </a:lnSpc>
        <a:spcBef>
          <a:spcPct val="0"/>
        </a:spcBef>
        <a:spcAft>
          <a:spcPct val="0"/>
        </a:spcAft>
        <a:defRPr sz="3000">
          <a:solidFill>
            <a:srgbClr val="006C3A"/>
          </a:solidFill>
          <a:latin typeface="Arial Black" pitchFamily="34" charset="0"/>
        </a:defRPr>
      </a:lvl4pPr>
      <a:lvl5pPr algn="l" rtl="0" eaLnBrk="1" fontAlgn="base" hangingPunct="1">
        <a:lnSpc>
          <a:spcPct val="85000"/>
        </a:lnSpc>
        <a:spcBef>
          <a:spcPct val="0"/>
        </a:spcBef>
        <a:spcAft>
          <a:spcPct val="0"/>
        </a:spcAft>
        <a:defRPr sz="3000">
          <a:solidFill>
            <a:srgbClr val="006C3A"/>
          </a:solidFill>
          <a:latin typeface="Arial Black" pitchFamily="34" charset="0"/>
        </a:defRPr>
      </a:lvl5pPr>
      <a:lvl6pPr marL="457200" algn="l" rtl="0" eaLnBrk="1" fontAlgn="base" hangingPunct="1">
        <a:lnSpc>
          <a:spcPct val="85000"/>
        </a:lnSpc>
        <a:spcBef>
          <a:spcPct val="0"/>
        </a:spcBef>
        <a:spcAft>
          <a:spcPct val="0"/>
        </a:spcAft>
        <a:defRPr sz="3000">
          <a:solidFill>
            <a:srgbClr val="006C3A"/>
          </a:solidFill>
          <a:latin typeface="Arial Black" pitchFamily="34" charset="0"/>
        </a:defRPr>
      </a:lvl6pPr>
      <a:lvl7pPr marL="914400" algn="l" rtl="0" eaLnBrk="1" fontAlgn="base" hangingPunct="1">
        <a:lnSpc>
          <a:spcPct val="85000"/>
        </a:lnSpc>
        <a:spcBef>
          <a:spcPct val="0"/>
        </a:spcBef>
        <a:spcAft>
          <a:spcPct val="0"/>
        </a:spcAft>
        <a:defRPr sz="3000">
          <a:solidFill>
            <a:srgbClr val="006C3A"/>
          </a:solidFill>
          <a:latin typeface="Arial Black" pitchFamily="34" charset="0"/>
        </a:defRPr>
      </a:lvl7pPr>
      <a:lvl8pPr marL="1371600" algn="l" rtl="0" eaLnBrk="1" fontAlgn="base" hangingPunct="1">
        <a:lnSpc>
          <a:spcPct val="85000"/>
        </a:lnSpc>
        <a:spcBef>
          <a:spcPct val="0"/>
        </a:spcBef>
        <a:spcAft>
          <a:spcPct val="0"/>
        </a:spcAft>
        <a:defRPr sz="3000">
          <a:solidFill>
            <a:srgbClr val="006C3A"/>
          </a:solidFill>
          <a:latin typeface="Arial Black" pitchFamily="34" charset="0"/>
        </a:defRPr>
      </a:lvl8pPr>
      <a:lvl9pPr marL="1828800" algn="l" rtl="0" eaLnBrk="1" fontAlgn="base" hangingPunct="1">
        <a:lnSpc>
          <a:spcPct val="85000"/>
        </a:lnSpc>
        <a:spcBef>
          <a:spcPct val="0"/>
        </a:spcBef>
        <a:spcAft>
          <a:spcPct val="0"/>
        </a:spcAft>
        <a:defRPr sz="3000">
          <a:solidFill>
            <a:srgbClr val="006C3A"/>
          </a:solidFill>
          <a:latin typeface="Arial Black" pitchFamily="34" charset="0"/>
        </a:defRPr>
      </a:lvl9pPr>
    </p:titleStyle>
    <p:body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bssw-tutorial.github.io/"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creativecommons.org/licenses/by-sa/4.0/" TargetMode="External"/><Relationship Id="rId2" Type="http://schemas.openxmlformats.org/officeDocument/2006/relationships/hyperlink" Target="http://creativecommons.org/licenses/by/4.0/" TargetMode="Externa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hyperlink" Target="https://doi.org/10.6084/m9.figshare.29816981"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hyperlink" Target="https://pesoproject.org/" TargetMode="External"/><Relationship Id="rId7" Type="http://schemas.openxmlformats.org/officeDocument/2006/relationships/image" Target="../media/image9.png"/><Relationship Id="rId2" Type="http://schemas.openxmlformats.org/officeDocument/2006/relationships/hyperlink" Target="https://cass.community/" TargetMode="External"/><Relationship Id="rId1" Type="http://schemas.openxmlformats.org/officeDocument/2006/relationships/slideLayout" Target="../slideLayouts/slideLayout3.xml"/><Relationship Id="rId6" Type="http://schemas.openxmlformats.org/officeDocument/2006/relationships/hyperlink" Target="https://ideas-productivity.org/" TargetMode="External"/><Relationship Id="rId5" Type="http://schemas.openxmlformats.org/officeDocument/2006/relationships/hyperlink" Target="https://spack.io/" TargetMode="External"/><Relationship Id="rId4" Type="http://schemas.openxmlformats.org/officeDocument/2006/relationships/hyperlink" Target="https://rapids.lbl.gov/" TargetMode="External"/><Relationship Id="rId9" Type="http://schemas.openxmlformats.org/officeDocument/2006/relationships/image" Target="../media/image11.jpe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bssw.io/"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bssw.io/items.rss" TargetMode="External"/><Relationship Id="rId2" Type="http://schemas.openxmlformats.org/officeDocument/2006/relationships/hyperlink" Target="https://bssw.io/pages/receive-our-email-digest" TargetMode="Externa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hyperlink" Target="https://bssw.io/items/inclusive-language-resources" TargetMode="External"/><Relationship Id="rId2" Type="http://schemas.openxmlformats.org/officeDocument/2006/relationships/hyperlink" Target="https://inclusivenaming.org/"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bssw-tutorial.github.io/"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bssw-tutorial.github.io/" TargetMode="External"/><Relationship Id="rId2" Type="http://schemas.openxmlformats.org/officeDocument/2006/relationships/hyperlink" Target="mailto:bssw-tutorial@lists.mcs.anl.gov"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hyperlink" Target="https://bssw-tutorial.github.io/"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hyperlink" Target="https://bssw-tutorial.github.io/"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doi.org/10.48550/arXiv.2311.02010" TargetMode="External"/><Relationship Id="rId2" Type="http://schemas.openxmlformats.org/officeDocument/2006/relationships/hyperlink" Target="https://bssw.io/"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bssw.io/pages/receive-our-email-digest" TargetMode="External"/><Relationship Id="rId2" Type="http://schemas.openxmlformats.org/officeDocument/2006/relationships/hyperlink" Target="http://eepurl.com/cQCyJ5" TargetMode="Externa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3.png"/><Relationship Id="rId4" Type="http://schemas.openxmlformats.org/officeDocument/2006/relationships/hyperlink" Target="https://bssw.io/items.rss"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bssw-tutorial.github.io/" TargetMode="External"/><Relationship Id="rId2" Type="http://schemas.openxmlformats.org/officeDocument/2006/relationships/hyperlink" Target="mailto:bssw-tutorial@lists.mcs.anl.gov" TargetMode="External"/><Relationship Id="rId1" Type="http://schemas.openxmlformats.org/officeDocument/2006/relationships/slideLayout" Target="../slideLayouts/slideLayout3.xml"/><Relationship Id="rId4" Type="http://schemas.openxmlformats.org/officeDocument/2006/relationships/hyperlink" Target="https://bssw.io/events/sc23-software-related-events"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bssw-tutorial.github.io/"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bssw-tutorial.github.io/" TargetMode="Externa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s://bssw-tutorial.github.io/" TargetMode="External"/><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bssw-tutorial.github.io/" TargetMode="External"/><Relationship Id="rId2" Type="http://schemas.openxmlformats.org/officeDocument/2006/relationships/hyperlink" Target="mailto:bssw-tutorial@lists.mcs.anl.gov" TargetMode="Externa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s://bssw-tutorial.github.io/" TargetMode="External"/><Relationship Id="rId2" Type="http://schemas.openxmlformats.org/officeDocument/2006/relationships/hyperlink" Target="mailto:bssw-tutorial@lists.mcs.anl.gov"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hyperlink" Target="https://bssw-tutorial.github.io/" TargetMode="External"/><Relationship Id="rId2" Type="http://schemas.openxmlformats.org/officeDocument/2006/relationships/hyperlink" Target="mailto:bssw-tutorial@lists.mcs.anl.gov"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9A474-1242-4CF8-A514-92BEA597446B}"/>
              </a:ext>
            </a:extLst>
          </p:cNvPr>
          <p:cNvSpPr>
            <a:spLocks noGrp="1"/>
          </p:cNvSpPr>
          <p:nvPr>
            <p:ph type="ctrTitle"/>
          </p:nvPr>
        </p:nvSpPr>
        <p:spPr>
          <a:xfrm>
            <a:off x="3177633" y="503144"/>
            <a:ext cx="8369032" cy="1030930"/>
          </a:xfrm>
        </p:spPr>
        <p:txBody>
          <a:bodyPr/>
          <a:lstStyle/>
          <a:p>
            <a:pPr>
              <a:spcBef>
                <a:spcPts val="3200"/>
              </a:spcBef>
            </a:pPr>
            <a:r>
              <a:rPr lang="en-US" dirty="0"/>
              <a:t>Software Sustainability </a:t>
            </a:r>
          </a:p>
        </p:txBody>
      </p:sp>
      <p:sp>
        <p:nvSpPr>
          <p:cNvPr id="3" name="Subtitle 2">
            <a:extLst>
              <a:ext uri="{FF2B5EF4-FFF2-40B4-BE49-F238E27FC236}">
                <a16:creationId xmlns:a16="http://schemas.microsoft.com/office/drawing/2014/main" id="{115D6CAC-8B77-472D-91BE-E47FFB7E8C7A}"/>
              </a:ext>
            </a:extLst>
          </p:cNvPr>
          <p:cNvSpPr>
            <a:spLocks noGrp="1"/>
          </p:cNvSpPr>
          <p:nvPr>
            <p:ph type="subTitle" idx="1"/>
          </p:nvPr>
        </p:nvSpPr>
        <p:spPr>
          <a:xfrm>
            <a:off x="3177632" y="1959498"/>
            <a:ext cx="7772308" cy="2855300"/>
          </a:xfrm>
        </p:spPr>
        <p:txBody>
          <a:bodyPr/>
          <a:lstStyle/>
          <a:p>
            <a:r>
              <a:rPr lang="en-US" dirty="0"/>
              <a:t>David E. Bernholdt, Anshu Dubey, and Todd Gamblin</a:t>
            </a:r>
          </a:p>
          <a:p>
            <a:pPr>
              <a:spcBef>
                <a:spcPts val="2800"/>
              </a:spcBef>
            </a:pPr>
            <a:r>
              <a:rPr lang="en-US" sz="2000" b="0" i="0" dirty="0">
                <a:solidFill>
                  <a:srgbClr val="111111"/>
                </a:solidFill>
                <a:effectLst/>
                <a:latin typeface="+mn-lt"/>
              </a:rPr>
              <a:t>Argonne Training Program on Extreme-Scale Computing summer school (2025)</a:t>
            </a:r>
          </a:p>
        </p:txBody>
      </p:sp>
      <p:sp>
        <p:nvSpPr>
          <p:cNvPr id="5" name="Rectangle 4">
            <a:extLst>
              <a:ext uri="{FF2B5EF4-FFF2-40B4-BE49-F238E27FC236}">
                <a16:creationId xmlns:a16="http://schemas.microsoft.com/office/drawing/2014/main" id="{EB895E3C-760B-EDB4-B274-CF129AAB7B8A}"/>
              </a:ext>
            </a:extLst>
          </p:cNvPr>
          <p:cNvSpPr/>
          <p:nvPr/>
        </p:nvSpPr>
        <p:spPr>
          <a:xfrm>
            <a:off x="3349082" y="4214633"/>
            <a:ext cx="5242468" cy="1200329"/>
          </a:xfrm>
          <a:prstGeom prst="rect">
            <a:avLst/>
          </a:prstGeom>
          <a:solidFill>
            <a:srgbClr val="FFFF00"/>
          </a:solidFill>
          <a:ln w="28575">
            <a:solidFill>
              <a:schemeClr val="tx1"/>
            </a:solidFill>
          </a:ln>
        </p:spPr>
        <p:txBody>
          <a:bodyPr wrap="square">
            <a:spAutoFit/>
          </a:bodyPr>
          <a:lstStyle/>
          <a:p>
            <a:r>
              <a:rPr lang="en-US" sz="2400" dirty="0"/>
              <a:t>Slides, late-breaking updates, etc. at: </a:t>
            </a:r>
            <a:br>
              <a:rPr lang="en-US" sz="2400" dirty="0"/>
            </a:br>
            <a:r>
              <a:rPr lang="en-US" sz="2400" b="1" dirty="0">
                <a:hlinkClick r:id="rId2"/>
              </a:rPr>
              <a:t>https://bssw-tutorial.github.io/</a:t>
            </a:r>
            <a:endParaRPr lang="en-US" sz="2400" b="1" dirty="0"/>
          </a:p>
          <a:p>
            <a:r>
              <a:rPr lang="en-US" sz="2400" dirty="0"/>
              <a:t>and click the link for today’s tutorial</a:t>
            </a:r>
            <a:endParaRPr lang="en-US" sz="2800" dirty="0"/>
          </a:p>
        </p:txBody>
      </p:sp>
    </p:spTree>
    <p:extLst>
      <p:ext uri="{BB962C8B-B14F-4D97-AF65-F5344CB8AC3E}">
        <p14:creationId xmlns:p14="http://schemas.microsoft.com/office/powerpoint/2010/main" val="21467784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2C24D-D970-4D40-8F14-D70C10A96304}"/>
              </a:ext>
            </a:extLst>
          </p:cNvPr>
          <p:cNvSpPr>
            <a:spLocks noGrp="1"/>
          </p:cNvSpPr>
          <p:nvPr>
            <p:ph type="title"/>
          </p:nvPr>
        </p:nvSpPr>
        <p:spPr>
          <a:xfrm>
            <a:off x="363096" y="112911"/>
            <a:ext cx="11372473" cy="914400"/>
          </a:xfrm>
        </p:spPr>
        <p:txBody>
          <a:bodyPr/>
          <a:lstStyle/>
          <a:p>
            <a:r>
              <a:rPr lang="en-US" dirty="0"/>
              <a:t>License, Citation and Acknowledgements</a:t>
            </a:r>
          </a:p>
        </p:txBody>
      </p:sp>
      <p:sp>
        <p:nvSpPr>
          <p:cNvPr id="3" name="Content Placeholder 2">
            <a:extLst>
              <a:ext uri="{FF2B5EF4-FFF2-40B4-BE49-F238E27FC236}">
                <a16:creationId xmlns:a16="http://schemas.microsoft.com/office/drawing/2014/main" id="{0385A3AB-B258-4D59-B407-F7D57545A163}"/>
              </a:ext>
            </a:extLst>
          </p:cNvPr>
          <p:cNvSpPr>
            <a:spLocks noGrp="1"/>
          </p:cNvSpPr>
          <p:nvPr>
            <p:ph idx="1"/>
          </p:nvPr>
        </p:nvSpPr>
        <p:spPr>
          <a:xfrm>
            <a:off x="409507" y="570111"/>
            <a:ext cx="11369809" cy="4047778"/>
          </a:xfrm>
        </p:spPr>
        <p:txBody>
          <a:bodyPr/>
          <a:lstStyle/>
          <a:p>
            <a:pPr marL="0" indent="0">
              <a:buNone/>
            </a:pPr>
            <a:r>
              <a:rPr lang="en-US" sz="2000" b="1" dirty="0"/>
              <a:t>License and Citation</a:t>
            </a:r>
          </a:p>
          <a:p>
            <a:pPr>
              <a:spcBef>
                <a:spcPts val="400"/>
              </a:spcBef>
            </a:pPr>
            <a:r>
              <a:rPr lang="en-US" sz="1600" dirty="0"/>
              <a:t>This work is licensed under a </a:t>
            </a:r>
            <a:r>
              <a:rPr lang="en-US" sz="1600" dirty="0">
                <a:hlinkClick r:id="rId2"/>
              </a:rPr>
              <a:t>Creative</a:t>
            </a:r>
            <a:r>
              <a:rPr lang="en-US" sz="1600" dirty="0">
                <a:hlinkClick r:id="rId3"/>
              </a:rPr>
              <a:t> Commons Attribution 4.0 International License</a:t>
            </a:r>
            <a:r>
              <a:rPr lang="en-US" sz="1600" dirty="0"/>
              <a:t> (CC BY 4.0).</a:t>
            </a:r>
          </a:p>
          <a:p>
            <a:pPr>
              <a:spcBef>
                <a:spcPts val="400"/>
              </a:spcBef>
            </a:pPr>
            <a:r>
              <a:rPr lang="en-US" sz="1600" b="1" dirty="0"/>
              <a:t>The requested citation the overall tutorial is: </a:t>
            </a:r>
            <a:r>
              <a:rPr lang="en-US" sz="1600" dirty="0"/>
              <a:t>Anshu Dubey, David E. Bernholdt, and Todd Gamblin, Software Sustainability track, in Argonne Training Program on Extreme-Scale Computing, St. Charles, Illinois, 2025. DOI: </a:t>
            </a:r>
            <a:r>
              <a:rPr lang="en-US" sz="1600" dirty="0">
                <a:hlinkClick r:id="rId4"/>
              </a:rPr>
              <a:t>10.6084/m9.figshare.29816981</a:t>
            </a:r>
            <a:r>
              <a:rPr lang="en-US" sz="1600" dirty="0"/>
              <a:t>.</a:t>
            </a:r>
            <a:endParaRPr lang="en-US" sz="1600" b="0" i="0" dirty="0">
              <a:solidFill>
                <a:srgbClr val="111111"/>
              </a:solidFill>
              <a:effectLst/>
              <a:latin typeface="+mn-lt"/>
            </a:endParaRPr>
          </a:p>
          <a:p>
            <a:pPr>
              <a:spcBef>
                <a:spcPts val="400"/>
              </a:spcBef>
            </a:pPr>
            <a:r>
              <a:rPr lang="en-US" sz="1600" dirty="0"/>
              <a:t>Individual modules may be cited as </a:t>
            </a:r>
            <a:r>
              <a:rPr lang="en-US" sz="1600" i="1" dirty="0"/>
              <a:t>Speaker, Module Title</a:t>
            </a:r>
            <a:r>
              <a:rPr lang="en-US" sz="1600" dirty="0"/>
              <a:t>, in </a:t>
            </a:r>
            <a:r>
              <a:rPr lang="en-US" sz="1600" b="0" i="1" dirty="0">
                <a:solidFill>
                  <a:srgbClr val="111111"/>
                </a:solidFill>
                <a:effectLst/>
                <a:latin typeface="+mn-lt"/>
              </a:rPr>
              <a:t>Tutorial Title</a:t>
            </a:r>
            <a:r>
              <a:rPr lang="en-US" sz="1600" dirty="0"/>
              <a:t>, …</a:t>
            </a:r>
          </a:p>
          <a:p>
            <a:pPr marL="0" indent="0">
              <a:spcBef>
                <a:spcPts val="800"/>
              </a:spcBef>
              <a:buNone/>
            </a:pPr>
            <a:r>
              <a:rPr lang="en-US" sz="2000" b="1" dirty="0"/>
              <a:t>Acknowledgements</a:t>
            </a:r>
          </a:p>
          <a:p>
            <a:pPr>
              <a:spcBef>
                <a:spcPts val="400"/>
              </a:spcBef>
            </a:pPr>
            <a:r>
              <a:rPr lang="en-US" sz="1400" dirty="0"/>
              <a:t>This work was supported by the U.S. Department of Energy Office of Science, Office of Advanced Scientific Computing Research (ASCR), and by the Exascale Computing Project (17-SC-20-SC), a collaborative effort of the U.S. Department of Energy Office of Science and the National Nuclear Security Administration</a:t>
            </a:r>
            <a:r>
              <a:rPr lang="en-US" sz="1400" i="1" dirty="0"/>
              <a:t>.</a:t>
            </a:r>
          </a:p>
          <a:p>
            <a:pPr>
              <a:spcBef>
                <a:spcPts val="400"/>
              </a:spcBef>
            </a:pPr>
            <a:r>
              <a:rPr lang="en-US" sz="1400" b="0" i="0" dirty="0">
                <a:effectLst/>
                <a:latin typeface="+mn-lt"/>
              </a:rPr>
              <a:t>This work was supported by the U.S. Department of Energy, Office of Science, Office of Advanced Scientific Computing Research, Next-Generation Scientific Software Technologies (NGSST) program.</a:t>
            </a:r>
          </a:p>
          <a:p>
            <a:pPr>
              <a:spcBef>
                <a:spcPts val="400"/>
              </a:spcBef>
            </a:pPr>
            <a:r>
              <a:rPr lang="en-US" sz="1400" dirty="0"/>
              <a:t>This work was performed in part at the Argonne National Laboratory, which is managed by UChicago Argonne, LLC for the U.S. Department of Energy under Contract No. DE-AC02-06CH11357.</a:t>
            </a:r>
          </a:p>
          <a:p>
            <a:pPr>
              <a:spcBef>
                <a:spcPts val="400"/>
              </a:spcBef>
            </a:pPr>
            <a:r>
              <a:rPr lang="en-US" sz="1400" dirty="0"/>
              <a:t>This work was performed in part at the Lawrence Livermore National Laboratory, which is managed by Lawrence Livermore National Security, LLC for the U.S. Department of Energy under Contract No. DE-AC52-07NA27344.</a:t>
            </a:r>
          </a:p>
          <a:p>
            <a:pPr>
              <a:spcBef>
                <a:spcPts val="400"/>
              </a:spcBef>
            </a:pPr>
            <a:r>
              <a:rPr lang="en-US" sz="1400" dirty="0"/>
              <a:t>This work was performed in part at the Los Alamos National Laboratory, which is managed by Triad National Security, LLC for the U.S. Department of Energy under Contract No.89233218CNA000001</a:t>
            </a:r>
          </a:p>
          <a:p>
            <a:pPr>
              <a:spcBef>
                <a:spcPts val="400"/>
              </a:spcBef>
            </a:pPr>
            <a:r>
              <a:rPr lang="en-US" sz="1400" dirty="0"/>
              <a:t>This work was performed in part at the Oak Ridge National Laboratory, which is managed by UT-Battelle, LLC for the U.S. Department of Energy under Contract No. DE-AC05-00OR22725.</a:t>
            </a:r>
          </a:p>
          <a:p>
            <a:pPr>
              <a:spcBef>
                <a:spcPts val="400"/>
              </a:spcBef>
            </a:pPr>
            <a:r>
              <a:rPr lang="en-US" sz="1400" dirty="0"/>
              <a:t>This work was performed in part at Sandia National Laboratories. Sandia National Laboratories is a multi-mission laboratory managed and operated by National Technology and Engineering Solutions of Sandia, LLC., a wholly owned subsidiary of Honeywell International, Inc., for the U.S. Department of Energy’s National Nuclear Security Administration under contract DE-NA0003525.</a:t>
            </a:r>
          </a:p>
        </p:txBody>
      </p:sp>
      <p:pic>
        <p:nvPicPr>
          <p:cNvPr id="4" name="Picture 2" descr="https://licensebuttons.net/l/by/4.0/88x31.png">
            <a:extLst>
              <a:ext uri="{FF2B5EF4-FFF2-40B4-BE49-F238E27FC236}">
                <a16:creationId xmlns:a16="http://schemas.microsoft.com/office/drawing/2014/main" id="{61840015-22A0-4634-A2DE-AA05F998FD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30336" y="879673"/>
            <a:ext cx="838200" cy="295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8726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F9CC39-F70C-4872-8BAF-FDB4FE40BE11}"/>
              </a:ext>
            </a:extLst>
          </p:cNvPr>
          <p:cNvSpPr>
            <a:spLocks noGrp="1"/>
          </p:cNvSpPr>
          <p:nvPr>
            <p:ph idx="1"/>
          </p:nvPr>
        </p:nvSpPr>
        <p:spPr>
          <a:xfrm>
            <a:off x="365760" y="1280696"/>
            <a:ext cx="11369809" cy="4047778"/>
          </a:xfrm>
        </p:spPr>
        <p:txBody>
          <a:bodyPr/>
          <a:lstStyle/>
          <a:p>
            <a:pPr>
              <a:spcBef>
                <a:spcPts val="1000"/>
              </a:spcBef>
            </a:pPr>
            <a:r>
              <a:rPr lang="en-US" dirty="0"/>
              <a:t>David E. Bernholdt, ORNL</a:t>
            </a:r>
          </a:p>
          <a:p>
            <a:pPr>
              <a:spcBef>
                <a:spcPts val="1000"/>
              </a:spcBef>
            </a:pPr>
            <a:r>
              <a:rPr lang="en-US" dirty="0"/>
              <a:t>Anshu Dubey, ANL</a:t>
            </a:r>
          </a:p>
          <a:p>
            <a:pPr>
              <a:spcBef>
                <a:spcPts val="1000"/>
              </a:spcBef>
            </a:pPr>
            <a:r>
              <a:rPr lang="en-US" dirty="0"/>
              <a:t>Todd Gamblin, LLNL</a:t>
            </a:r>
          </a:p>
        </p:txBody>
      </p:sp>
      <p:sp>
        <p:nvSpPr>
          <p:cNvPr id="2" name="Title 1">
            <a:extLst>
              <a:ext uri="{FF2B5EF4-FFF2-40B4-BE49-F238E27FC236}">
                <a16:creationId xmlns:a16="http://schemas.microsoft.com/office/drawing/2014/main" id="{D7779183-6189-461C-B4D7-638E6AB5CA5F}"/>
              </a:ext>
            </a:extLst>
          </p:cNvPr>
          <p:cNvSpPr>
            <a:spLocks noGrp="1"/>
          </p:cNvSpPr>
          <p:nvPr>
            <p:ph type="title"/>
          </p:nvPr>
        </p:nvSpPr>
        <p:spPr/>
        <p:txBody>
          <a:bodyPr/>
          <a:lstStyle/>
          <a:p>
            <a:r>
              <a:rPr lang="en-US" dirty="0"/>
              <a:t>About Us</a:t>
            </a:r>
          </a:p>
        </p:txBody>
      </p:sp>
      <p:sp>
        <p:nvSpPr>
          <p:cNvPr id="4" name="TextBox 3">
            <a:extLst>
              <a:ext uri="{FF2B5EF4-FFF2-40B4-BE49-F238E27FC236}">
                <a16:creationId xmlns:a16="http://schemas.microsoft.com/office/drawing/2014/main" id="{75F24105-9372-1C03-4BB0-9287BF335D4A}"/>
              </a:ext>
            </a:extLst>
          </p:cNvPr>
          <p:cNvSpPr txBox="1"/>
          <p:nvPr/>
        </p:nvSpPr>
        <p:spPr>
          <a:xfrm>
            <a:off x="453256" y="3373816"/>
            <a:ext cx="10123321" cy="3016210"/>
          </a:xfrm>
          <a:prstGeom prst="rect">
            <a:avLst/>
          </a:prstGeom>
          <a:noFill/>
        </p:spPr>
        <p:txBody>
          <a:bodyPr wrap="square">
            <a:spAutoFit/>
          </a:bodyPr>
          <a:lstStyle/>
          <a:p>
            <a:pPr marL="227013" indent="-227013">
              <a:spcBef>
                <a:spcPts val="600"/>
              </a:spcBef>
              <a:buFont typeface="Arial" panose="020B0604020202020204" pitchFamily="34" charset="0"/>
              <a:buChar char="•"/>
            </a:pPr>
            <a:r>
              <a:rPr lang="en-US" sz="2000" dirty="0"/>
              <a:t>Participants in the Consortium for the Advancement of Scientific Software (CASS) and DOE/ASCR software stewardship projects: </a:t>
            </a:r>
            <a:r>
              <a:rPr lang="en-US" sz="2000" dirty="0">
                <a:hlinkClick r:id="rId2"/>
              </a:rPr>
              <a:t>https://cass.community/</a:t>
            </a:r>
            <a:endParaRPr lang="en-US" sz="2000" dirty="0"/>
          </a:p>
          <a:p>
            <a:pPr marL="684213" lvl="1" indent="-227013">
              <a:spcBef>
                <a:spcPts val="600"/>
              </a:spcBef>
              <a:buFont typeface="Arial" panose="020B0604020202020204" pitchFamily="34" charset="0"/>
              <a:buChar char="•"/>
            </a:pPr>
            <a:r>
              <a:rPr lang="en-US" sz="2000" dirty="0"/>
              <a:t>Members of the </a:t>
            </a:r>
            <a:r>
              <a:rPr lang="en-US" sz="2000" dirty="0">
                <a:hlinkClick r:id="rId3"/>
              </a:rPr>
              <a:t>PESO</a:t>
            </a:r>
            <a:r>
              <a:rPr lang="en-US" sz="2000" dirty="0"/>
              <a:t> and </a:t>
            </a:r>
            <a:r>
              <a:rPr lang="en-US" sz="2000" dirty="0">
                <a:hlinkClick r:id="rId4"/>
              </a:rPr>
              <a:t>RAPIDS</a:t>
            </a:r>
            <a:r>
              <a:rPr lang="en-US" sz="2000" dirty="0"/>
              <a:t> projects</a:t>
            </a:r>
          </a:p>
          <a:p>
            <a:pPr marL="227013" indent="-227013">
              <a:spcBef>
                <a:spcPts val="600"/>
              </a:spcBef>
              <a:buFont typeface="Arial" panose="020B0604020202020204" pitchFamily="34" charset="0"/>
              <a:buChar char="•"/>
            </a:pPr>
            <a:r>
              <a:rPr lang="en-US" sz="2000" dirty="0"/>
              <a:t>Lead for the Spack project: </a:t>
            </a:r>
            <a:r>
              <a:rPr lang="en-US" sz="2000" dirty="0">
                <a:hlinkClick r:id="rId5"/>
              </a:rPr>
              <a:t>https://spack.io/</a:t>
            </a:r>
            <a:r>
              <a:rPr lang="en-US" sz="2000" dirty="0"/>
              <a:t> (Todd)</a:t>
            </a:r>
          </a:p>
          <a:p>
            <a:pPr marL="227013" indent="-227013">
              <a:spcBef>
                <a:spcPts val="600"/>
              </a:spcBef>
              <a:buFont typeface="Arial" panose="020B0604020202020204" pitchFamily="34" charset="0"/>
              <a:buChar char="•"/>
            </a:pPr>
            <a:r>
              <a:rPr lang="en-US" sz="2000" dirty="0"/>
              <a:t>Past involvement in</a:t>
            </a:r>
          </a:p>
          <a:p>
            <a:pPr marL="684213" lvl="1" indent="-227013">
              <a:spcBef>
                <a:spcPts val="600"/>
              </a:spcBef>
              <a:buFont typeface="Arial" panose="020B0604020202020204" pitchFamily="34" charset="0"/>
              <a:buChar char="•"/>
            </a:pPr>
            <a:r>
              <a:rPr lang="en-US" sz="2000" dirty="0"/>
              <a:t>Exascale Computing Project</a:t>
            </a:r>
          </a:p>
          <a:p>
            <a:pPr marL="684213" lvl="1" indent="-227013">
              <a:spcBef>
                <a:spcPts val="600"/>
              </a:spcBef>
              <a:buFont typeface="Arial" panose="020B0604020202020204" pitchFamily="34" charset="0"/>
              <a:buChar char="•"/>
            </a:pPr>
            <a:r>
              <a:rPr lang="en-US" sz="2000" dirty="0"/>
              <a:t>IDEAS Productivity family of projects: </a:t>
            </a:r>
            <a:r>
              <a:rPr lang="en-US" sz="2000" dirty="0">
                <a:hlinkClick r:id="rId6"/>
              </a:rPr>
              <a:t>https://ideas-productivity.org/</a:t>
            </a:r>
            <a:endParaRPr lang="en-US" sz="2000" dirty="0"/>
          </a:p>
          <a:p>
            <a:pPr marL="684213" lvl="1" indent="-227013">
              <a:spcBef>
                <a:spcPts val="600"/>
              </a:spcBef>
              <a:buFont typeface="Arial" panose="020B0604020202020204" pitchFamily="34" charset="0"/>
              <a:buChar char="•"/>
            </a:pPr>
            <a:r>
              <a:rPr lang="en-US" sz="2000" dirty="0"/>
              <a:t>And more!</a:t>
            </a:r>
          </a:p>
        </p:txBody>
      </p:sp>
      <p:grpSp>
        <p:nvGrpSpPr>
          <p:cNvPr id="8" name="Group 7">
            <a:extLst>
              <a:ext uri="{FF2B5EF4-FFF2-40B4-BE49-F238E27FC236}">
                <a16:creationId xmlns:a16="http://schemas.microsoft.com/office/drawing/2014/main" id="{C22DEB37-50E6-2254-1FB5-B0F6E81B4E4A}"/>
              </a:ext>
            </a:extLst>
          </p:cNvPr>
          <p:cNvGrpSpPr/>
          <p:nvPr/>
        </p:nvGrpSpPr>
        <p:grpSpPr>
          <a:xfrm>
            <a:off x="8009031" y="1325880"/>
            <a:ext cx="954107" cy="1805497"/>
            <a:chOff x="6614147" y="1346049"/>
            <a:chExt cx="954107" cy="1805497"/>
          </a:xfrm>
        </p:grpSpPr>
        <p:sp>
          <p:nvSpPr>
            <p:cNvPr id="9" name="TextBox 8">
              <a:extLst>
                <a:ext uri="{FF2B5EF4-FFF2-40B4-BE49-F238E27FC236}">
                  <a16:creationId xmlns:a16="http://schemas.microsoft.com/office/drawing/2014/main" id="{CEB57978-C3B6-32C4-C6C6-52ACB58C8A06}"/>
                </a:ext>
              </a:extLst>
            </p:cNvPr>
            <p:cNvSpPr txBox="1"/>
            <p:nvPr/>
          </p:nvSpPr>
          <p:spPr>
            <a:xfrm>
              <a:off x="6614147" y="2560615"/>
              <a:ext cx="954107" cy="590931"/>
            </a:xfrm>
            <a:prstGeom prst="rect">
              <a:avLst/>
            </a:prstGeom>
            <a:noFill/>
          </p:spPr>
          <p:txBody>
            <a:bodyPr wrap="none" rtlCol="0">
              <a:spAutoFit/>
            </a:bodyPr>
            <a:lstStyle/>
            <a:p>
              <a:pPr algn="ctr">
                <a:lnSpc>
                  <a:spcPct val="90000"/>
                </a:lnSpc>
              </a:pPr>
              <a:r>
                <a:rPr lang="en-US" dirty="0"/>
                <a:t>Anshu</a:t>
              </a:r>
            </a:p>
            <a:p>
              <a:pPr algn="ctr">
                <a:lnSpc>
                  <a:spcPct val="90000"/>
                </a:lnSpc>
              </a:pPr>
              <a:r>
                <a:rPr lang="en-US" i="1" dirty="0"/>
                <a:t>she/her</a:t>
              </a:r>
            </a:p>
          </p:txBody>
        </p:sp>
        <p:pic>
          <p:nvPicPr>
            <p:cNvPr id="10" name="Picture 9" descr="A person smiling for the camera&#10;&#10;Description automatically generated with low confidence">
              <a:extLst>
                <a:ext uri="{FF2B5EF4-FFF2-40B4-BE49-F238E27FC236}">
                  <a16:creationId xmlns:a16="http://schemas.microsoft.com/office/drawing/2014/main" id="{4F1A04F2-5B52-D284-D8CF-CD12780422C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632063" y="1346049"/>
              <a:ext cx="918273" cy="1207008"/>
            </a:xfrm>
            <a:prstGeom prst="rect">
              <a:avLst/>
            </a:prstGeom>
          </p:spPr>
        </p:pic>
      </p:grpSp>
      <p:grpSp>
        <p:nvGrpSpPr>
          <p:cNvPr id="11" name="Group 10">
            <a:extLst>
              <a:ext uri="{FF2B5EF4-FFF2-40B4-BE49-F238E27FC236}">
                <a16:creationId xmlns:a16="http://schemas.microsoft.com/office/drawing/2014/main" id="{BF360452-D7C7-247A-386F-D3315474AFCB}"/>
              </a:ext>
            </a:extLst>
          </p:cNvPr>
          <p:cNvGrpSpPr/>
          <p:nvPr/>
        </p:nvGrpSpPr>
        <p:grpSpPr>
          <a:xfrm>
            <a:off x="6393437" y="1325880"/>
            <a:ext cx="1038027" cy="1797939"/>
            <a:chOff x="4187619" y="4211394"/>
            <a:chExt cx="1038027" cy="1797939"/>
          </a:xfrm>
        </p:grpSpPr>
        <p:pic>
          <p:nvPicPr>
            <p:cNvPr id="12" name="Picture 11" descr="A person wearing glasses&#10;&#10;Description automatically generated with low confidence">
              <a:extLst>
                <a:ext uri="{FF2B5EF4-FFF2-40B4-BE49-F238E27FC236}">
                  <a16:creationId xmlns:a16="http://schemas.microsoft.com/office/drawing/2014/main" id="{8B9A3899-C96B-3A08-5E0A-2906D305F982}"/>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053" t="854" r="5947" b="-854"/>
            <a:stretch/>
          </p:blipFill>
          <p:spPr>
            <a:xfrm>
              <a:off x="4187619" y="4211394"/>
              <a:ext cx="1038027" cy="1207008"/>
            </a:xfrm>
            <a:prstGeom prst="rect">
              <a:avLst/>
            </a:prstGeom>
          </p:spPr>
        </p:pic>
        <p:sp>
          <p:nvSpPr>
            <p:cNvPr id="13" name="TextBox 12">
              <a:extLst>
                <a:ext uri="{FF2B5EF4-FFF2-40B4-BE49-F238E27FC236}">
                  <a16:creationId xmlns:a16="http://schemas.microsoft.com/office/drawing/2014/main" id="{2B5EF80D-04B1-F98E-6FF3-532C3F5A9955}"/>
                </a:ext>
              </a:extLst>
            </p:cNvPr>
            <p:cNvSpPr txBox="1"/>
            <p:nvPr/>
          </p:nvSpPr>
          <p:spPr>
            <a:xfrm>
              <a:off x="4268051" y="5418402"/>
              <a:ext cx="877163" cy="590931"/>
            </a:xfrm>
            <a:prstGeom prst="rect">
              <a:avLst/>
            </a:prstGeom>
            <a:noFill/>
          </p:spPr>
          <p:txBody>
            <a:bodyPr wrap="none" rtlCol="0">
              <a:spAutoFit/>
            </a:bodyPr>
            <a:lstStyle/>
            <a:p>
              <a:pPr algn="ctr">
                <a:lnSpc>
                  <a:spcPct val="90000"/>
                </a:lnSpc>
              </a:pPr>
              <a:r>
                <a:rPr lang="en-US" dirty="0"/>
                <a:t>David</a:t>
              </a:r>
            </a:p>
            <a:p>
              <a:pPr algn="ctr">
                <a:lnSpc>
                  <a:spcPct val="90000"/>
                </a:lnSpc>
              </a:pPr>
              <a:r>
                <a:rPr lang="en-US" i="1" dirty="0"/>
                <a:t>he/him</a:t>
              </a:r>
            </a:p>
          </p:txBody>
        </p:sp>
      </p:grpSp>
      <p:grpSp>
        <p:nvGrpSpPr>
          <p:cNvPr id="17" name="Group 16">
            <a:extLst>
              <a:ext uri="{FF2B5EF4-FFF2-40B4-BE49-F238E27FC236}">
                <a16:creationId xmlns:a16="http://schemas.microsoft.com/office/drawing/2014/main" id="{B5FBC002-EA63-3AA1-A9F0-19BC36D2DD4E}"/>
              </a:ext>
            </a:extLst>
          </p:cNvPr>
          <p:cNvGrpSpPr/>
          <p:nvPr/>
        </p:nvGrpSpPr>
        <p:grpSpPr>
          <a:xfrm>
            <a:off x="9554696" y="1338556"/>
            <a:ext cx="1021881" cy="1792821"/>
            <a:chOff x="10957831" y="1197414"/>
            <a:chExt cx="1021881" cy="1792821"/>
          </a:xfrm>
        </p:grpSpPr>
        <p:pic>
          <p:nvPicPr>
            <p:cNvPr id="18" name="Picture 17" descr="A person smiling for the camera&#10;&#10;Description automatically generated with medium confidence">
              <a:extLst>
                <a:ext uri="{FF2B5EF4-FFF2-40B4-BE49-F238E27FC236}">
                  <a16:creationId xmlns:a16="http://schemas.microsoft.com/office/drawing/2014/main" id="{C611DBA7-7F94-A867-D486-31027D33AC75}"/>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6373" r="8964"/>
            <a:stretch/>
          </p:blipFill>
          <p:spPr>
            <a:xfrm>
              <a:off x="10957831" y="1197414"/>
              <a:ext cx="1021881" cy="1207008"/>
            </a:xfrm>
            <a:prstGeom prst="rect">
              <a:avLst/>
            </a:prstGeom>
          </p:spPr>
        </p:pic>
        <p:sp>
          <p:nvSpPr>
            <p:cNvPr id="19" name="TextBox 18">
              <a:extLst>
                <a:ext uri="{FF2B5EF4-FFF2-40B4-BE49-F238E27FC236}">
                  <a16:creationId xmlns:a16="http://schemas.microsoft.com/office/drawing/2014/main" id="{0EFE8AB9-C901-D587-26CA-192E0897B099}"/>
                </a:ext>
              </a:extLst>
            </p:cNvPr>
            <p:cNvSpPr txBox="1"/>
            <p:nvPr/>
          </p:nvSpPr>
          <p:spPr>
            <a:xfrm>
              <a:off x="11030189" y="2399304"/>
              <a:ext cx="877164" cy="590931"/>
            </a:xfrm>
            <a:prstGeom prst="rect">
              <a:avLst/>
            </a:prstGeom>
            <a:noFill/>
          </p:spPr>
          <p:txBody>
            <a:bodyPr wrap="none" rtlCol="0">
              <a:spAutoFit/>
            </a:bodyPr>
            <a:lstStyle/>
            <a:p>
              <a:pPr algn="ctr">
                <a:lnSpc>
                  <a:spcPct val="90000"/>
                </a:lnSpc>
              </a:pPr>
              <a:r>
                <a:rPr lang="en-US" dirty="0"/>
                <a:t>Todd</a:t>
              </a:r>
            </a:p>
            <a:p>
              <a:pPr algn="ctr">
                <a:lnSpc>
                  <a:spcPct val="90000"/>
                </a:lnSpc>
              </a:pPr>
              <a:r>
                <a:rPr lang="en-US" i="1" dirty="0"/>
                <a:t>he/him</a:t>
              </a:r>
            </a:p>
          </p:txBody>
        </p:sp>
      </p:grpSp>
    </p:spTree>
    <p:extLst>
      <p:ext uri="{BB962C8B-B14F-4D97-AF65-F5344CB8AC3E}">
        <p14:creationId xmlns:p14="http://schemas.microsoft.com/office/powerpoint/2010/main" val="397159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B2B88-3DDC-4986-8D89-A3EDC5187EA9}"/>
              </a:ext>
            </a:extLst>
          </p:cNvPr>
          <p:cNvSpPr>
            <a:spLocks noGrp="1"/>
          </p:cNvSpPr>
          <p:nvPr>
            <p:ph type="title"/>
          </p:nvPr>
        </p:nvSpPr>
        <p:spPr/>
        <p:txBody>
          <a:bodyPr/>
          <a:lstStyle/>
          <a:p>
            <a:r>
              <a:rPr lang="en-US" dirty="0"/>
              <a:t>Building an Online Community</a:t>
            </a:r>
          </a:p>
        </p:txBody>
      </p:sp>
      <p:sp>
        <p:nvSpPr>
          <p:cNvPr id="3" name="Content Placeholder 2">
            <a:extLst>
              <a:ext uri="{FF2B5EF4-FFF2-40B4-BE49-F238E27FC236}">
                <a16:creationId xmlns:a16="http://schemas.microsoft.com/office/drawing/2014/main" id="{EE3E28DE-DA44-4ED0-B0F8-EE01B9ACB982}"/>
              </a:ext>
            </a:extLst>
          </p:cNvPr>
          <p:cNvSpPr txBox="1">
            <a:spLocks/>
          </p:cNvSpPr>
          <p:nvPr/>
        </p:nvSpPr>
        <p:spPr>
          <a:xfrm>
            <a:off x="365760" y="937454"/>
            <a:ext cx="11658600" cy="4610100"/>
          </a:xfrm>
          <a:prstGeom prst="rect">
            <a:avLst/>
          </a:prstGeom>
        </p:spPr>
        <p:txBody>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400"/>
              </a:spcBef>
              <a:buFont typeface="Arial" charset="0"/>
              <a:buNone/>
            </a:pPr>
            <a:r>
              <a:rPr lang="en-US" b="1" dirty="0">
                <a:hlinkClick r:id="rId2"/>
              </a:rPr>
              <a:t>https://bssw.io </a:t>
            </a:r>
            <a:endParaRPr lang="en-US" b="1" dirty="0"/>
          </a:p>
          <a:p>
            <a:pPr>
              <a:spcBef>
                <a:spcPts val="400"/>
              </a:spcBef>
            </a:pPr>
            <a:r>
              <a:rPr lang="en-US" sz="2000" b="1" dirty="0">
                <a:solidFill>
                  <a:schemeClr val="accent1"/>
                </a:solidFill>
              </a:rPr>
              <a:t>New </a:t>
            </a:r>
            <a:r>
              <a:rPr lang="en-US" sz="2000" b="1" u="sng" dirty="0">
                <a:solidFill>
                  <a:schemeClr val="accent1"/>
                </a:solidFill>
              </a:rPr>
              <a:t>community-based resource</a:t>
            </a:r>
            <a:r>
              <a:rPr lang="en-US" sz="2000" b="1" dirty="0">
                <a:solidFill>
                  <a:schemeClr val="accent1"/>
                </a:solidFill>
              </a:rPr>
              <a:t> for scientific software </a:t>
            </a:r>
            <a:br>
              <a:rPr lang="en-US" sz="2000" b="1" dirty="0">
                <a:solidFill>
                  <a:schemeClr val="accent1"/>
                </a:solidFill>
              </a:rPr>
            </a:br>
            <a:r>
              <a:rPr lang="en-US" sz="2000" b="1" dirty="0">
                <a:solidFill>
                  <a:schemeClr val="accent1"/>
                </a:solidFill>
              </a:rPr>
              <a:t>improvement</a:t>
            </a:r>
          </a:p>
          <a:p>
            <a:pPr>
              <a:spcBef>
                <a:spcPts val="400"/>
              </a:spcBef>
            </a:pPr>
            <a:r>
              <a:rPr lang="en-US" sz="2000" dirty="0"/>
              <a:t>A central hub for sharing information on practices, techniques, experiences, and tools to improve developer productivity and software sustainability for computational science &amp; engineering (CSE)</a:t>
            </a:r>
            <a:endParaRPr lang="en-US" dirty="0"/>
          </a:p>
          <a:p>
            <a:pPr marL="0" indent="0">
              <a:buFont typeface="Arial" charset="0"/>
              <a:buNone/>
            </a:pPr>
            <a:r>
              <a:rPr lang="en-US" b="1" dirty="0"/>
              <a:t>Goals</a:t>
            </a:r>
          </a:p>
          <a:p>
            <a:pPr>
              <a:spcBef>
                <a:spcPts val="400"/>
              </a:spcBef>
            </a:pPr>
            <a:r>
              <a:rPr lang="en-US" sz="2000" dirty="0"/>
              <a:t>Raise awareness of the importance of </a:t>
            </a:r>
            <a:r>
              <a:rPr lang="en-US" sz="2000" b="1" dirty="0"/>
              <a:t>good software practices </a:t>
            </a:r>
            <a:r>
              <a:rPr lang="en-US" sz="2000" dirty="0"/>
              <a:t>to scientific productivity and to the quality and reliability of computationally-based scientific results</a:t>
            </a:r>
          </a:p>
          <a:p>
            <a:pPr>
              <a:spcBef>
                <a:spcPts val="400"/>
              </a:spcBef>
            </a:pPr>
            <a:r>
              <a:rPr lang="en-US" sz="2000" dirty="0"/>
              <a:t>Raise awareness of the </a:t>
            </a:r>
            <a:r>
              <a:rPr lang="en-US" sz="2000" b="1" dirty="0"/>
              <a:t>increasing challenges </a:t>
            </a:r>
            <a:r>
              <a:rPr lang="en-US" sz="2000" dirty="0"/>
              <a:t>facing CSE software developers as high-end computing heads to extreme scales</a:t>
            </a:r>
          </a:p>
          <a:p>
            <a:pPr>
              <a:spcBef>
                <a:spcPts val="400"/>
              </a:spcBef>
            </a:pPr>
            <a:r>
              <a:rPr lang="en-US" sz="2000" dirty="0"/>
              <a:t>Help CSE researchers </a:t>
            </a:r>
            <a:r>
              <a:rPr lang="en-US" sz="2000" b="1" dirty="0"/>
              <a:t>increase effectiveness </a:t>
            </a:r>
            <a:r>
              <a:rPr lang="en-US" sz="2000" dirty="0"/>
              <a:t>as well as leverage and impact</a:t>
            </a:r>
          </a:p>
          <a:p>
            <a:pPr>
              <a:spcBef>
                <a:spcPts val="400"/>
              </a:spcBef>
            </a:pPr>
            <a:r>
              <a:rPr lang="en-US" sz="2000" b="1" dirty="0"/>
              <a:t>Facilitate CSE collaboration via software</a:t>
            </a:r>
            <a:r>
              <a:rPr lang="en-US" sz="2000" dirty="0"/>
              <a:t> in order to advance scientific discoveries</a:t>
            </a:r>
          </a:p>
          <a:p>
            <a:pPr marL="0" indent="0">
              <a:buFont typeface="Arial" charset="0"/>
              <a:buNone/>
            </a:pPr>
            <a:r>
              <a:rPr lang="en-US" b="1" dirty="0"/>
              <a:t>Site users can…</a:t>
            </a:r>
          </a:p>
          <a:p>
            <a:pPr>
              <a:spcBef>
                <a:spcPts val="400"/>
              </a:spcBef>
            </a:pPr>
            <a:r>
              <a:rPr lang="en-US" sz="2000" b="1" dirty="0"/>
              <a:t>Find information </a:t>
            </a:r>
            <a:r>
              <a:rPr lang="en-US" sz="2000" dirty="0"/>
              <a:t>on scientific software topics</a:t>
            </a:r>
          </a:p>
          <a:p>
            <a:pPr>
              <a:spcBef>
                <a:spcPts val="400"/>
              </a:spcBef>
            </a:pPr>
            <a:r>
              <a:rPr lang="en-US" sz="2000" b="1" dirty="0"/>
              <a:t>Contribute new resources </a:t>
            </a:r>
            <a:r>
              <a:rPr lang="en-US" sz="2000" dirty="0"/>
              <a:t>based on your experiences</a:t>
            </a:r>
          </a:p>
          <a:p>
            <a:pPr>
              <a:spcBef>
                <a:spcPts val="400"/>
              </a:spcBef>
            </a:pPr>
            <a:r>
              <a:rPr lang="en-US" sz="2000" dirty="0"/>
              <a:t>Create content tailored to the unique needs and </a:t>
            </a:r>
            <a:br>
              <a:rPr lang="en-US" sz="2000" dirty="0"/>
            </a:br>
            <a:r>
              <a:rPr lang="en-US" sz="2000" dirty="0"/>
              <a:t>perspectives of a focused scientific domain</a:t>
            </a:r>
          </a:p>
        </p:txBody>
      </p:sp>
      <p:pic>
        <p:nvPicPr>
          <p:cNvPr id="4" name="Picture 3" descr="Screen Shot 2017-01-21 at 6.45.35 PM.png">
            <a:extLst>
              <a:ext uri="{FF2B5EF4-FFF2-40B4-BE49-F238E27FC236}">
                <a16:creationId xmlns:a16="http://schemas.microsoft.com/office/drawing/2014/main" id="{4305FC7E-611D-4E7E-952D-9882E099EE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83534" y="320039"/>
            <a:ext cx="3357819" cy="1440667"/>
          </a:xfrm>
          <a:prstGeom prst="rect">
            <a:avLst/>
          </a:prstGeom>
        </p:spPr>
      </p:pic>
    </p:spTree>
    <p:extLst>
      <p:ext uri="{BB962C8B-B14F-4D97-AF65-F5344CB8AC3E}">
        <p14:creationId xmlns:p14="http://schemas.microsoft.com/office/powerpoint/2010/main" val="245510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CB878-0734-4463-835E-51258994794F}"/>
              </a:ext>
            </a:extLst>
          </p:cNvPr>
          <p:cNvSpPr>
            <a:spLocks noGrp="1"/>
          </p:cNvSpPr>
          <p:nvPr>
            <p:ph type="title"/>
          </p:nvPr>
        </p:nvSpPr>
        <p:spPr/>
        <p:txBody>
          <a:bodyPr/>
          <a:lstStyle/>
          <a:p>
            <a:r>
              <a:rPr lang="en-US" dirty="0"/>
              <a:t>Follow </a:t>
            </a:r>
            <a:r>
              <a:rPr lang="en-US" dirty="0" err="1"/>
              <a:t>BSSw</a:t>
            </a:r>
            <a:endParaRPr lang="en-US" dirty="0"/>
          </a:p>
        </p:txBody>
      </p:sp>
      <p:sp>
        <p:nvSpPr>
          <p:cNvPr id="4" name="Content Placeholder 3">
            <a:extLst>
              <a:ext uri="{FF2B5EF4-FFF2-40B4-BE49-F238E27FC236}">
                <a16:creationId xmlns:a16="http://schemas.microsoft.com/office/drawing/2014/main" id="{AE2680D0-A841-4E56-972F-EBFB89AD4D33}"/>
              </a:ext>
            </a:extLst>
          </p:cNvPr>
          <p:cNvSpPr>
            <a:spLocks noGrp="1"/>
          </p:cNvSpPr>
          <p:nvPr>
            <p:ph idx="1"/>
          </p:nvPr>
        </p:nvSpPr>
        <p:spPr/>
        <p:txBody>
          <a:bodyPr/>
          <a:lstStyle/>
          <a:p>
            <a:pPr>
              <a:spcBef>
                <a:spcPts val="2400"/>
              </a:spcBef>
            </a:pPr>
            <a:r>
              <a:rPr lang="en-US" dirty="0" err="1"/>
              <a:t>BSSw</a:t>
            </a:r>
            <a:r>
              <a:rPr lang="en-US" dirty="0"/>
              <a:t> Digest: </a:t>
            </a:r>
            <a:r>
              <a:rPr lang="en-US" dirty="0">
                <a:hlinkClick r:id="rId2"/>
              </a:rPr>
              <a:t>https://bssw.io/pages/receive-our-email-digest</a:t>
            </a:r>
            <a:endParaRPr lang="en-US" dirty="0"/>
          </a:p>
          <a:p>
            <a:pPr lvl="1"/>
            <a:r>
              <a:rPr lang="en-US" dirty="0"/>
              <a:t>Updates on </a:t>
            </a:r>
            <a:r>
              <a:rPr lang="en-US" dirty="0" err="1"/>
              <a:t>BSSw</a:t>
            </a:r>
            <a:r>
              <a:rPr lang="en-US" dirty="0"/>
              <a:t> content</a:t>
            </a:r>
          </a:p>
          <a:p>
            <a:pPr lvl="2"/>
            <a:r>
              <a:rPr lang="en-US" dirty="0"/>
              <a:t>New blog posts, events, and resources</a:t>
            </a:r>
          </a:p>
          <a:p>
            <a:pPr lvl="2"/>
            <a:r>
              <a:rPr lang="en-US" dirty="0" err="1"/>
              <a:t>BSSw</a:t>
            </a:r>
            <a:r>
              <a:rPr lang="en-US" dirty="0"/>
              <a:t> Fellowship</a:t>
            </a:r>
          </a:p>
          <a:p>
            <a:pPr lvl="1"/>
            <a:r>
              <a:rPr lang="en-US" dirty="0"/>
              <a:t>Typically 1-2 messages per month</a:t>
            </a:r>
          </a:p>
          <a:p>
            <a:pPr lvl="1"/>
            <a:r>
              <a:rPr lang="en-US" dirty="0"/>
              <a:t>Also: RSS feed: </a:t>
            </a:r>
            <a:r>
              <a:rPr lang="en-US" dirty="0">
                <a:hlinkClick r:id="rId3"/>
              </a:rPr>
              <a:t>https://bssw.io/items.rss</a:t>
            </a:r>
            <a:endParaRPr lang="en-US" dirty="0"/>
          </a:p>
        </p:txBody>
      </p:sp>
      <p:pic>
        <p:nvPicPr>
          <p:cNvPr id="5" name="Picture 4" descr="Screen Shot 2017-01-21 at 6.45.35 PM.png">
            <a:extLst>
              <a:ext uri="{FF2B5EF4-FFF2-40B4-BE49-F238E27FC236}">
                <a16:creationId xmlns:a16="http://schemas.microsoft.com/office/drawing/2014/main" id="{DDAA8357-C3CA-4399-9F08-27998285347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58894" y="2643687"/>
            <a:ext cx="2109916" cy="905256"/>
          </a:xfrm>
          <a:prstGeom prst="rect">
            <a:avLst/>
          </a:prstGeom>
        </p:spPr>
      </p:pic>
    </p:spTree>
    <p:extLst>
      <p:ext uri="{BB962C8B-B14F-4D97-AF65-F5344CB8AC3E}">
        <p14:creationId xmlns:p14="http://schemas.microsoft.com/office/powerpoint/2010/main" val="2696507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BE35E-77C5-46DD-9F5D-290B55BEC8BD}"/>
              </a:ext>
            </a:extLst>
          </p:cNvPr>
          <p:cNvSpPr>
            <a:spLocks noGrp="1"/>
          </p:cNvSpPr>
          <p:nvPr>
            <p:ph type="title"/>
          </p:nvPr>
        </p:nvSpPr>
        <p:spPr/>
        <p:txBody>
          <a:bodyPr/>
          <a:lstStyle/>
          <a:p>
            <a:r>
              <a:rPr lang="en-US" dirty="0"/>
              <a:t>The Importance of Naming</a:t>
            </a:r>
          </a:p>
        </p:txBody>
      </p:sp>
      <p:sp>
        <p:nvSpPr>
          <p:cNvPr id="3" name="Content Placeholder 2">
            <a:extLst>
              <a:ext uri="{FF2B5EF4-FFF2-40B4-BE49-F238E27FC236}">
                <a16:creationId xmlns:a16="http://schemas.microsoft.com/office/drawing/2014/main" id="{0570DD6F-C774-41C2-BFA4-30EE69373698}"/>
              </a:ext>
            </a:extLst>
          </p:cNvPr>
          <p:cNvSpPr>
            <a:spLocks noGrp="1"/>
          </p:cNvSpPr>
          <p:nvPr>
            <p:ph idx="1"/>
          </p:nvPr>
        </p:nvSpPr>
        <p:spPr>
          <a:xfrm>
            <a:off x="365760" y="1231518"/>
            <a:ext cx="11369809" cy="4047778"/>
          </a:xfrm>
        </p:spPr>
        <p:txBody>
          <a:bodyPr/>
          <a:lstStyle/>
          <a:p>
            <a:r>
              <a:rPr lang="en-US" dirty="0"/>
              <a:t>Computing is rife with terminology that many consider harmful and exclusionary</a:t>
            </a:r>
          </a:p>
          <a:p>
            <a:pPr lvl="1"/>
            <a:r>
              <a:rPr lang="en-US" dirty="0"/>
              <a:t>Examples include: whitelist/blacklist, master/slave, and master (standalone)</a:t>
            </a:r>
          </a:p>
          <a:p>
            <a:r>
              <a:rPr lang="en-US" dirty="0"/>
              <a:t>We support efforts to replace such language with more inclusive language</a:t>
            </a:r>
          </a:p>
          <a:p>
            <a:r>
              <a:rPr lang="en-US" dirty="0"/>
              <a:t>In this tutorial, we strive to use inclusive language</a:t>
            </a:r>
          </a:p>
          <a:p>
            <a:pPr lvl="1"/>
            <a:r>
              <a:rPr lang="en-US" dirty="0"/>
              <a:t>Example: we use “main” for the default git branch, even where outside sources we reference may use “master”</a:t>
            </a:r>
          </a:p>
          <a:p>
            <a:r>
              <a:rPr lang="en-US" dirty="0"/>
              <a:t>We welcome suggestions for further improvements in our tutorial</a:t>
            </a:r>
          </a:p>
          <a:p>
            <a:r>
              <a:rPr lang="en-US" dirty="0"/>
              <a:t>Additional information:</a:t>
            </a:r>
          </a:p>
          <a:p>
            <a:pPr lvl="1"/>
            <a:r>
              <a:rPr lang="en-US" dirty="0"/>
              <a:t>The </a:t>
            </a:r>
            <a:r>
              <a:rPr lang="en-US" dirty="0">
                <a:hlinkClick r:id="rId2"/>
              </a:rPr>
              <a:t>Inclusive Naming Initiative</a:t>
            </a:r>
            <a:endParaRPr lang="en-US" dirty="0"/>
          </a:p>
          <a:p>
            <a:pPr lvl="1"/>
            <a:r>
              <a:rPr lang="en-US" dirty="0"/>
              <a:t>The BSSw.io </a:t>
            </a:r>
            <a:r>
              <a:rPr lang="en-US" dirty="0">
                <a:hlinkClick r:id="rId3"/>
              </a:rPr>
              <a:t>resource on inclusive naming</a:t>
            </a:r>
            <a:r>
              <a:rPr lang="en-US" dirty="0"/>
              <a:t> provides some additional context and links</a:t>
            </a:r>
          </a:p>
        </p:txBody>
      </p:sp>
    </p:spTree>
    <p:extLst>
      <p:ext uri="{BB962C8B-B14F-4D97-AF65-F5344CB8AC3E}">
        <p14:creationId xmlns:p14="http://schemas.microsoft.com/office/powerpoint/2010/main" val="3064435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A2901-48B8-469D-BFD7-34B28CA8F61C}"/>
              </a:ext>
            </a:extLst>
          </p:cNvPr>
          <p:cNvSpPr>
            <a:spLocks noGrp="1"/>
          </p:cNvSpPr>
          <p:nvPr>
            <p:ph type="title"/>
          </p:nvPr>
        </p:nvSpPr>
        <p:spPr/>
        <p:txBody>
          <a:bodyPr/>
          <a:lstStyle/>
          <a:p>
            <a:r>
              <a:rPr lang="en-US" dirty="0" err="1"/>
              <a:t>BSSw</a:t>
            </a:r>
            <a:r>
              <a:rPr lang="en-US" dirty="0"/>
              <a:t> Tutorial Web Site</a:t>
            </a:r>
          </a:p>
        </p:txBody>
      </p:sp>
      <p:sp>
        <p:nvSpPr>
          <p:cNvPr id="3" name="Content Placeholder 2">
            <a:extLst>
              <a:ext uri="{FF2B5EF4-FFF2-40B4-BE49-F238E27FC236}">
                <a16:creationId xmlns:a16="http://schemas.microsoft.com/office/drawing/2014/main" id="{1C6E25F3-5A8B-478E-83F2-ED0BCAF1B015}"/>
              </a:ext>
            </a:extLst>
          </p:cNvPr>
          <p:cNvSpPr>
            <a:spLocks noGrp="1"/>
          </p:cNvSpPr>
          <p:nvPr>
            <p:ph idx="1"/>
          </p:nvPr>
        </p:nvSpPr>
        <p:spPr>
          <a:xfrm>
            <a:off x="365760" y="1737360"/>
            <a:ext cx="7453937" cy="4047778"/>
          </a:xfrm>
        </p:spPr>
        <p:txBody>
          <a:bodyPr/>
          <a:lstStyle/>
          <a:p>
            <a:r>
              <a:rPr lang="en-US" sz="2400" b="1" dirty="0">
                <a:hlinkClick r:id="rId2"/>
              </a:rPr>
              <a:t>https://bssw-tutorial.github.io/</a:t>
            </a:r>
            <a:r>
              <a:rPr lang="en-US" sz="2400" b="1" dirty="0"/>
              <a:t> </a:t>
            </a:r>
            <a:r>
              <a:rPr lang="en-US" sz="2400" dirty="0"/>
              <a:t>is the one URL you need to find all the resources for this tutorial</a:t>
            </a:r>
          </a:p>
          <a:p>
            <a:r>
              <a:rPr lang="en-US" dirty="0"/>
              <a:t>Each tutorial event has its own page</a:t>
            </a:r>
          </a:p>
          <a:p>
            <a:r>
              <a:rPr lang="en-US" dirty="0"/>
              <a:t>Each tutorial page is considered archival</a:t>
            </a:r>
          </a:p>
          <a:p>
            <a:pPr lvl="1"/>
            <a:r>
              <a:rPr lang="en-US" dirty="0"/>
              <a:t>All of the materials used in that tutorial (or links to them)</a:t>
            </a:r>
          </a:p>
          <a:p>
            <a:pPr lvl="1"/>
            <a:r>
              <a:rPr lang="en-US" dirty="0"/>
              <a:t>Materials may be updated if we find mistakes</a:t>
            </a:r>
          </a:p>
        </p:txBody>
      </p:sp>
      <p:pic>
        <p:nvPicPr>
          <p:cNvPr id="6" name="Picture 5" descr="Graphical user interface, text&#10;&#10;Description automatically generated">
            <a:extLst>
              <a:ext uri="{FF2B5EF4-FFF2-40B4-BE49-F238E27FC236}">
                <a16:creationId xmlns:a16="http://schemas.microsoft.com/office/drawing/2014/main" id="{B36C999D-A67A-4A27-A8A2-05E0A7E3AD2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19697" y="455350"/>
            <a:ext cx="4089597" cy="5345008"/>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366987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7752C-4E2B-4E58-8726-8BAC8610FAC7}"/>
              </a:ext>
            </a:extLst>
          </p:cNvPr>
          <p:cNvSpPr>
            <a:spLocks noGrp="1"/>
          </p:cNvSpPr>
          <p:nvPr>
            <p:ph type="title"/>
          </p:nvPr>
        </p:nvSpPr>
        <p:spPr/>
        <p:txBody>
          <a:bodyPr/>
          <a:lstStyle/>
          <a:p>
            <a:r>
              <a:rPr lang="en-US" dirty="0"/>
              <a:t>Explaining Slide 2</a:t>
            </a:r>
          </a:p>
        </p:txBody>
      </p:sp>
      <p:sp>
        <p:nvSpPr>
          <p:cNvPr id="3" name="Content Placeholder 2">
            <a:extLst>
              <a:ext uri="{FF2B5EF4-FFF2-40B4-BE49-F238E27FC236}">
                <a16:creationId xmlns:a16="http://schemas.microsoft.com/office/drawing/2014/main" id="{9A010E9D-1983-429B-A89D-EBF4829E152F}"/>
              </a:ext>
            </a:extLst>
          </p:cNvPr>
          <p:cNvSpPr>
            <a:spLocks noGrp="1"/>
          </p:cNvSpPr>
          <p:nvPr>
            <p:ph idx="1"/>
          </p:nvPr>
        </p:nvSpPr>
        <p:spPr>
          <a:xfrm>
            <a:off x="365760" y="1049985"/>
            <a:ext cx="11369809" cy="4047778"/>
          </a:xfrm>
        </p:spPr>
        <p:txBody>
          <a:bodyPr/>
          <a:lstStyle/>
          <a:p>
            <a:r>
              <a:rPr lang="en-US" dirty="0"/>
              <a:t>Slide 2 in all of our presentations contains the license, citation, and acknowledgements for the tutorial</a:t>
            </a:r>
          </a:p>
          <a:p>
            <a:r>
              <a:rPr lang="en-US" dirty="0"/>
              <a:t>(Software) best practice to make your license and preferred citation(s) </a:t>
            </a:r>
            <a:r>
              <a:rPr lang="en-US"/>
              <a:t>easily findable</a:t>
            </a:r>
            <a:endParaRPr lang="en-US" dirty="0"/>
          </a:p>
          <a:p>
            <a:r>
              <a:rPr lang="en-US" dirty="0"/>
              <a:t>Sponsor acknowledgements rarely hurt!</a:t>
            </a:r>
          </a:p>
        </p:txBody>
      </p:sp>
      <p:pic>
        <p:nvPicPr>
          <p:cNvPr id="10" name="Picture 9" descr="A document with text and images&#10;&#10;Description automatically generated">
            <a:extLst>
              <a:ext uri="{FF2B5EF4-FFF2-40B4-BE49-F238E27FC236}">
                <a16:creationId xmlns:a16="http://schemas.microsoft.com/office/drawing/2014/main" id="{77E2D18D-1073-12C7-771C-B42CCA7E04E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 b="23157"/>
          <a:stretch/>
        </p:blipFill>
        <p:spPr>
          <a:xfrm>
            <a:off x="1938615" y="3256754"/>
            <a:ext cx="7772400" cy="3383280"/>
          </a:xfrm>
          <a:prstGeom prst="rect">
            <a:avLst/>
          </a:prstGeom>
        </p:spPr>
      </p:pic>
    </p:spTree>
    <p:extLst>
      <p:ext uri="{BB962C8B-B14F-4D97-AF65-F5344CB8AC3E}">
        <p14:creationId xmlns:p14="http://schemas.microsoft.com/office/powerpoint/2010/main" val="2504672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7CFF0-36AC-4BF3-96D2-C6F302144850}"/>
              </a:ext>
            </a:extLst>
          </p:cNvPr>
          <p:cNvSpPr>
            <a:spLocks noGrp="1"/>
          </p:cNvSpPr>
          <p:nvPr>
            <p:ph type="title"/>
          </p:nvPr>
        </p:nvSpPr>
        <p:spPr/>
        <p:txBody>
          <a:bodyPr/>
          <a:lstStyle/>
          <a:p>
            <a:r>
              <a:rPr lang="en-US" dirty="0"/>
              <a:t>We Want to Interact with You!</a:t>
            </a:r>
          </a:p>
        </p:txBody>
      </p:sp>
      <p:sp>
        <p:nvSpPr>
          <p:cNvPr id="3" name="Content Placeholder 2">
            <a:extLst>
              <a:ext uri="{FF2B5EF4-FFF2-40B4-BE49-F238E27FC236}">
                <a16:creationId xmlns:a16="http://schemas.microsoft.com/office/drawing/2014/main" id="{AEFD04A9-5547-4AC6-89F3-E6EEC039A00D}"/>
              </a:ext>
            </a:extLst>
          </p:cNvPr>
          <p:cNvSpPr>
            <a:spLocks noGrp="1"/>
          </p:cNvSpPr>
          <p:nvPr>
            <p:ph idx="1"/>
          </p:nvPr>
        </p:nvSpPr>
        <p:spPr>
          <a:xfrm>
            <a:off x="365760" y="919230"/>
            <a:ext cx="11369809" cy="4047778"/>
          </a:xfrm>
        </p:spPr>
        <p:txBody>
          <a:bodyPr/>
          <a:lstStyle/>
          <a:p>
            <a:pPr>
              <a:spcBef>
                <a:spcPts val="1800"/>
              </a:spcBef>
            </a:pPr>
            <a:r>
              <a:rPr lang="en-US" dirty="0"/>
              <a:t>We find these tutorials most interesting and informative (for everyone) if you ask questions and share experiences!</a:t>
            </a:r>
          </a:p>
          <a:p>
            <a:pPr lvl="1">
              <a:spcBef>
                <a:spcPts val="400"/>
              </a:spcBef>
            </a:pPr>
            <a:r>
              <a:rPr lang="en-US" dirty="0"/>
              <a:t>We learn too!</a:t>
            </a:r>
          </a:p>
          <a:p>
            <a:pPr>
              <a:spcBef>
                <a:spcPts val="400"/>
              </a:spcBef>
            </a:pPr>
            <a:r>
              <a:rPr lang="en-US" dirty="0"/>
              <a:t>Please raise your hand at any time to ask a question</a:t>
            </a:r>
          </a:p>
          <a:p>
            <a:pPr>
              <a:spcBef>
                <a:spcPts val="1200"/>
              </a:spcBef>
            </a:pPr>
            <a:r>
              <a:rPr lang="en-US" dirty="0"/>
              <a:t>After the tutorial email us at </a:t>
            </a:r>
            <a:r>
              <a:rPr lang="en-US" dirty="0">
                <a:hlinkClick r:id="rId2"/>
              </a:rPr>
              <a:t>bssw-tutorial@lists.mcs.anl.gov</a:t>
            </a:r>
            <a:endParaRPr lang="en-US" dirty="0"/>
          </a:p>
          <a:p>
            <a:pPr lvl="1">
              <a:spcBef>
                <a:spcPts val="400"/>
              </a:spcBef>
            </a:pPr>
            <a:r>
              <a:rPr lang="en-US" dirty="0"/>
              <a:t>With questions or feedback</a:t>
            </a:r>
          </a:p>
          <a:p>
            <a:pPr lvl="1"/>
            <a:r>
              <a:rPr lang="en-US" dirty="0"/>
              <a:t>The list moderator will allow your messages to be posted</a:t>
            </a:r>
          </a:p>
          <a:p>
            <a:r>
              <a:rPr lang="en-US" dirty="0"/>
              <a:t>Refer to </a:t>
            </a:r>
            <a:r>
              <a:rPr lang="en-US" dirty="0">
                <a:hlinkClick r:id="rId3"/>
              </a:rPr>
              <a:t>bssw-tutorial.github.io</a:t>
            </a:r>
            <a:r>
              <a:rPr lang="en-US" dirty="0"/>
              <a:t> page for all tutorial materials</a:t>
            </a:r>
          </a:p>
        </p:txBody>
      </p:sp>
    </p:spTree>
    <p:extLst>
      <p:ext uri="{BB962C8B-B14F-4D97-AF65-F5344CB8AC3E}">
        <p14:creationId xmlns:p14="http://schemas.microsoft.com/office/powerpoint/2010/main" val="3695382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756EE-C2D9-4E52-B0B6-3C831FD6A565}"/>
              </a:ext>
            </a:extLst>
          </p:cNvPr>
          <p:cNvSpPr>
            <a:spLocks noGrp="1"/>
          </p:cNvSpPr>
          <p:nvPr>
            <p:ph type="title"/>
          </p:nvPr>
        </p:nvSpPr>
        <p:spPr>
          <a:xfrm>
            <a:off x="408175" y="160020"/>
            <a:ext cx="11372473" cy="914400"/>
          </a:xfrm>
        </p:spPr>
        <p:txBody>
          <a:bodyPr/>
          <a:lstStyle/>
          <a:p>
            <a:r>
              <a:rPr lang="en-US" dirty="0"/>
              <a:t>Agenda (1/2)</a:t>
            </a:r>
          </a:p>
        </p:txBody>
      </p:sp>
      <p:graphicFrame>
        <p:nvGraphicFramePr>
          <p:cNvPr id="6" name="Table 6">
            <a:extLst>
              <a:ext uri="{FF2B5EF4-FFF2-40B4-BE49-F238E27FC236}">
                <a16:creationId xmlns:a16="http://schemas.microsoft.com/office/drawing/2014/main" id="{99D13FB2-5BF8-4AC0-A13D-ECB8E230F5BC}"/>
              </a:ext>
            </a:extLst>
          </p:cNvPr>
          <p:cNvGraphicFramePr>
            <a:graphicFrameLocks noGrp="1"/>
          </p:cNvGraphicFramePr>
          <p:nvPr>
            <p:ph idx="1"/>
            <p:extLst>
              <p:ext uri="{D42A27DB-BD31-4B8C-83A1-F6EECF244321}">
                <p14:modId xmlns:p14="http://schemas.microsoft.com/office/powerpoint/2010/main" val="620732246"/>
              </p:ext>
            </p:extLst>
          </p:nvPr>
        </p:nvGraphicFramePr>
        <p:xfrm>
          <a:off x="1051560" y="1074420"/>
          <a:ext cx="9692640" cy="4637532"/>
        </p:xfrm>
        <a:graphic>
          <a:graphicData uri="http://schemas.openxmlformats.org/drawingml/2006/table">
            <a:tbl>
              <a:tblPr firstRow="1" bandRow="1">
                <a:tableStyleId>{5C22544A-7EE6-4342-B048-85BDC9FD1C3A}</a:tableStyleId>
              </a:tblPr>
              <a:tblGrid>
                <a:gridCol w="1328947">
                  <a:extLst>
                    <a:ext uri="{9D8B030D-6E8A-4147-A177-3AD203B41FA5}">
                      <a16:colId xmlns:a16="http://schemas.microsoft.com/office/drawing/2014/main" val="41390910"/>
                    </a:ext>
                  </a:extLst>
                </a:gridCol>
                <a:gridCol w="5033753">
                  <a:extLst>
                    <a:ext uri="{9D8B030D-6E8A-4147-A177-3AD203B41FA5}">
                      <a16:colId xmlns:a16="http://schemas.microsoft.com/office/drawing/2014/main" val="2092910534"/>
                    </a:ext>
                  </a:extLst>
                </a:gridCol>
                <a:gridCol w="3329940">
                  <a:extLst>
                    <a:ext uri="{9D8B030D-6E8A-4147-A177-3AD203B41FA5}">
                      <a16:colId xmlns:a16="http://schemas.microsoft.com/office/drawing/2014/main" val="1261297711"/>
                    </a:ext>
                  </a:extLst>
                </a:gridCol>
              </a:tblGrid>
              <a:tr h="526542">
                <a:tc>
                  <a:txBody>
                    <a:bodyPr/>
                    <a:lstStyle/>
                    <a:p>
                      <a:pPr algn="r"/>
                      <a:r>
                        <a:rPr lang="en-US" sz="1800" dirty="0">
                          <a:effectLst/>
                        </a:rPr>
                        <a:t>Time (CDT)</a:t>
                      </a:r>
                    </a:p>
                  </a:txBody>
                  <a:tcPr marL="142875" marR="142875" marT="95250" marB="95250" anchor="ctr"/>
                </a:tc>
                <a:tc>
                  <a:txBody>
                    <a:bodyPr/>
                    <a:lstStyle/>
                    <a:p>
                      <a:pPr algn="l"/>
                      <a:r>
                        <a:rPr lang="en-US" sz="1800" dirty="0">
                          <a:effectLst/>
                        </a:rPr>
                        <a:t>Title</a:t>
                      </a:r>
                    </a:p>
                  </a:txBody>
                  <a:tcPr marL="142875" marR="142875" marT="95250" marB="95250" anchor="ctr"/>
                </a:tc>
                <a:tc>
                  <a:txBody>
                    <a:bodyPr/>
                    <a:lstStyle/>
                    <a:p>
                      <a:r>
                        <a:rPr lang="en-US" sz="1800" dirty="0">
                          <a:effectLst/>
                        </a:rPr>
                        <a:t>Presenter</a:t>
                      </a:r>
                    </a:p>
                  </a:txBody>
                  <a:tcPr marL="142875" marR="142875" marT="95250" marB="95250" anchor="ctr"/>
                </a:tc>
                <a:extLst>
                  <a:ext uri="{0D108BD9-81ED-4DB2-BD59-A6C34878D82A}">
                    <a16:rowId xmlns:a16="http://schemas.microsoft.com/office/drawing/2014/main" val="2098024418"/>
                  </a:ext>
                </a:extLst>
              </a:tr>
              <a:tr h="526542">
                <a:tc>
                  <a:txBody>
                    <a:bodyPr/>
                    <a:lstStyle/>
                    <a:p>
                      <a:pPr algn="r"/>
                      <a:r>
                        <a:rPr lang="en-US" dirty="0">
                          <a:effectLst/>
                        </a:rPr>
                        <a:t>8:30 AM</a:t>
                      </a:r>
                    </a:p>
                  </a:txBody>
                  <a:tcPr marL="142875" marR="142875" marT="95250" marB="95250" anchor="ctr"/>
                </a:tc>
                <a:tc>
                  <a:txBody>
                    <a:bodyPr/>
                    <a:lstStyle/>
                    <a:p>
                      <a:r>
                        <a:rPr lang="en-US">
                          <a:effectLst/>
                        </a:rPr>
                        <a:t>Introduction</a:t>
                      </a:r>
                    </a:p>
                  </a:txBody>
                  <a:tcPr marL="142875" marR="142875" marT="95250" marB="95250" anchor="ctr"/>
                </a:tc>
                <a:tc>
                  <a:txBody>
                    <a:bodyPr/>
                    <a:lstStyle/>
                    <a:p>
                      <a:r>
                        <a:rPr lang="en-US">
                          <a:effectLst/>
                        </a:rPr>
                        <a:t>David E. Bernholdt (ORNL)</a:t>
                      </a:r>
                    </a:p>
                  </a:txBody>
                  <a:tcPr marL="142875" marR="142875" marT="95250" marB="95250" anchor="ctr"/>
                </a:tc>
                <a:extLst>
                  <a:ext uri="{0D108BD9-81ED-4DB2-BD59-A6C34878D82A}">
                    <a16:rowId xmlns:a16="http://schemas.microsoft.com/office/drawing/2014/main" val="4011846257"/>
                  </a:ext>
                </a:extLst>
              </a:tr>
              <a:tr h="526542">
                <a:tc>
                  <a:txBody>
                    <a:bodyPr/>
                    <a:lstStyle/>
                    <a:p>
                      <a:pPr algn="r"/>
                      <a:r>
                        <a:rPr lang="en-US">
                          <a:effectLst/>
                        </a:rPr>
                        <a:t>8:35 AM</a:t>
                      </a:r>
                    </a:p>
                  </a:txBody>
                  <a:tcPr marL="142875" marR="142875" marT="95250" marB="95250" anchor="ctr"/>
                </a:tc>
                <a:tc>
                  <a:txBody>
                    <a:bodyPr/>
                    <a:lstStyle/>
                    <a:p>
                      <a:r>
                        <a:rPr lang="en-US">
                          <a:effectLst/>
                        </a:rPr>
                        <a:t>Motivation and Overview of Best Practices in HPC Software Development</a:t>
                      </a:r>
                    </a:p>
                  </a:txBody>
                  <a:tcPr marL="142875" marR="142875" marT="95250" marB="95250" anchor="ctr"/>
                </a:tc>
                <a:tc>
                  <a:txBody>
                    <a:bodyPr/>
                    <a:lstStyle/>
                    <a:p>
                      <a:r>
                        <a:rPr lang="en-US">
                          <a:effectLst/>
                        </a:rPr>
                        <a:t>David E. Bernholdt (ORNL)</a:t>
                      </a:r>
                    </a:p>
                  </a:txBody>
                  <a:tcPr marL="142875" marR="142875" marT="95250" marB="95250" anchor="ctr"/>
                </a:tc>
                <a:extLst>
                  <a:ext uri="{0D108BD9-81ED-4DB2-BD59-A6C34878D82A}">
                    <a16:rowId xmlns:a16="http://schemas.microsoft.com/office/drawing/2014/main" val="541819896"/>
                  </a:ext>
                </a:extLst>
              </a:tr>
              <a:tr h="526542">
                <a:tc>
                  <a:txBody>
                    <a:bodyPr/>
                    <a:lstStyle/>
                    <a:p>
                      <a:pPr algn="r"/>
                      <a:r>
                        <a:rPr lang="en-US">
                          <a:effectLst/>
                        </a:rPr>
                        <a:t>9:15 AM</a:t>
                      </a:r>
                    </a:p>
                  </a:txBody>
                  <a:tcPr marL="142875" marR="142875" marT="95250" marB="95250" anchor="ctr"/>
                </a:tc>
                <a:tc>
                  <a:txBody>
                    <a:bodyPr/>
                    <a:lstStyle/>
                    <a:p>
                      <a:r>
                        <a:rPr lang="en-US">
                          <a:effectLst/>
                        </a:rPr>
                        <a:t>Scientific Software Design</a:t>
                      </a:r>
                    </a:p>
                  </a:txBody>
                  <a:tcPr marL="142875" marR="142875" marT="95250" marB="95250" anchor="ctr"/>
                </a:tc>
                <a:tc>
                  <a:txBody>
                    <a:bodyPr/>
                    <a:lstStyle/>
                    <a:p>
                      <a:r>
                        <a:rPr lang="en-US">
                          <a:effectLst/>
                        </a:rPr>
                        <a:t>Anshu Dubey (ANL)</a:t>
                      </a:r>
                    </a:p>
                  </a:txBody>
                  <a:tcPr marL="142875" marR="142875" marT="95250" marB="95250" anchor="ctr"/>
                </a:tc>
                <a:extLst>
                  <a:ext uri="{0D108BD9-81ED-4DB2-BD59-A6C34878D82A}">
                    <a16:rowId xmlns:a16="http://schemas.microsoft.com/office/drawing/2014/main" val="3922137579"/>
                  </a:ext>
                </a:extLst>
              </a:tr>
              <a:tr h="526542">
                <a:tc>
                  <a:txBody>
                    <a:bodyPr/>
                    <a:lstStyle/>
                    <a:p>
                      <a:pPr algn="r"/>
                      <a:r>
                        <a:rPr lang="en-US">
                          <a:effectLst/>
                        </a:rPr>
                        <a:t>10:00 AM</a:t>
                      </a:r>
                    </a:p>
                  </a:txBody>
                  <a:tcPr marL="142875" marR="142875" marT="95250" marB="95250" anchor="ctr"/>
                </a:tc>
                <a:tc>
                  <a:txBody>
                    <a:bodyPr/>
                    <a:lstStyle/>
                    <a:p>
                      <a:r>
                        <a:rPr lang="en-US" i="1">
                          <a:effectLst/>
                        </a:rPr>
                        <a:t>Break</a:t>
                      </a:r>
                      <a:endParaRPr lang="en-US">
                        <a:effectLst/>
                      </a:endParaRPr>
                    </a:p>
                  </a:txBody>
                  <a:tcPr marL="142875" marR="142875" marT="95250" marB="95250" anchor="ctr"/>
                </a:tc>
                <a:tc>
                  <a:txBody>
                    <a:bodyPr/>
                    <a:lstStyle/>
                    <a:p>
                      <a:endParaRPr lang="en-US">
                        <a:effectLst/>
                      </a:endParaRPr>
                    </a:p>
                  </a:txBody>
                  <a:tcPr marL="142875" marR="142875" marT="95250" marB="95250" anchor="ctr"/>
                </a:tc>
                <a:extLst>
                  <a:ext uri="{0D108BD9-81ED-4DB2-BD59-A6C34878D82A}">
                    <a16:rowId xmlns:a16="http://schemas.microsoft.com/office/drawing/2014/main" val="476507548"/>
                  </a:ext>
                </a:extLst>
              </a:tr>
              <a:tr h="526542">
                <a:tc>
                  <a:txBody>
                    <a:bodyPr/>
                    <a:lstStyle/>
                    <a:p>
                      <a:pPr algn="r"/>
                      <a:r>
                        <a:rPr lang="en-US">
                          <a:effectLst/>
                        </a:rPr>
                        <a:t>10:30 AM</a:t>
                      </a:r>
                    </a:p>
                  </a:txBody>
                  <a:tcPr marL="142875" marR="142875" marT="95250" marB="95250" anchor="ctr"/>
                </a:tc>
                <a:tc>
                  <a:txBody>
                    <a:bodyPr/>
                    <a:lstStyle/>
                    <a:p>
                      <a:r>
                        <a:rPr lang="en-US">
                          <a:effectLst/>
                        </a:rPr>
                        <a:t>Spack: Package Management for HPC</a:t>
                      </a:r>
                    </a:p>
                  </a:txBody>
                  <a:tcPr marL="142875" marR="142875" marT="95250" marB="95250" anchor="ctr"/>
                </a:tc>
                <a:tc>
                  <a:txBody>
                    <a:bodyPr/>
                    <a:lstStyle/>
                    <a:p>
                      <a:r>
                        <a:rPr lang="en-US">
                          <a:effectLst/>
                        </a:rPr>
                        <a:t>Todd Gamblin (LLNL)</a:t>
                      </a:r>
                    </a:p>
                  </a:txBody>
                  <a:tcPr marL="142875" marR="142875" marT="95250" marB="95250" anchor="ctr"/>
                </a:tc>
                <a:extLst>
                  <a:ext uri="{0D108BD9-81ED-4DB2-BD59-A6C34878D82A}">
                    <a16:rowId xmlns:a16="http://schemas.microsoft.com/office/drawing/2014/main" val="3487810232"/>
                  </a:ext>
                </a:extLst>
              </a:tr>
              <a:tr h="526542">
                <a:tc>
                  <a:txBody>
                    <a:bodyPr/>
                    <a:lstStyle/>
                    <a:p>
                      <a:pPr algn="r"/>
                      <a:r>
                        <a:rPr lang="en-US">
                          <a:effectLst/>
                        </a:rPr>
                        <a:t>11:30 AM</a:t>
                      </a:r>
                    </a:p>
                  </a:txBody>
                  <a:tcPr marL="142875" marR="142875" marT="95250" marB="95250" anchor="ctr"/>
                </a:tc>
                <a:tc>
                  <a:txBody>
                    <a:bodyPr/>
                    <a:lstStyle/>
                    <a:p>
                      <a:r>
                        <a:rPr lang="en-US">
                          <a:effectLst/>
                        </a:rPr>
                        <a:t>Spack Hands-On</a:t>
                      </a:r>
                    </a:p>
                  </a:txBody>
                  <a:tcPr marL="142875" marR="142875" marT="95250" marB="95250" anchor="ctr"/>
                </a:tc>
                <a:tc>
                  <a:txBody>
                    <a:bodyPr/>
                    <a:lstStyle/>
                    <a:p>
                      <a:r>
                        <a:rPr lang="en-US">
                          <a:effectLst/>
                        </a:rPr>
                        <a:t>Todd Gamblin (LLNL)</a:t>
                      </a:r>
                    </a:p>
                  </a:txBody>
                  <a:tcPr marL="142875" marR="142875" marT="95250" marB="95250" anchor="ctr"/>
                </a:tc>
                <a:extLst>
                  <a:ext uri="{0D108BD9-81ED-4DB2-BD59-A6C34878D82A}">
                    <a16:rowId xmlns:a16="http://schemas.microsoft.com/office/drawing/2014/main" val="2034051112"/>
                  </a:ext>
                </a:extLst>
              </a:tr>
              <a:tr h="526542">
                <a:tc>
                  <a:txBody>
                    <a:bodyPr/>
                    <a:lstStyle/>
                    <a:p>
                      <a:pPr algn="r"/>
                      <a:r>
                        <a:rPr lang="en-US">
                          <a:effectLst/>
                        </a:rPr>
                        <a:t>12:30 PM</a:t>
                      </a:r>
                    </a:p>
                  </a:txBody>
                  <a:tcPr marL="142875" marR="142875" marT="95250" marB="95250" anchor="ctr"/>
                </a:tc>
                <a:tc>
                  <a:txBody>
                    <a:bodyPr/>
                    <a:lstStyle/>
                    <a:p>
                      <a:r>
                        <a:rPr lang="en-US" i="1">
                          <a:effectLst/>
                        </a:rPr>
                        <a:t>Lunch</a:t>
                      </a:r>
                      <a:endParaRPr lang="en-US">
                        <a:effectLst/>
                      </a:endParaRPr>
                    </a:p>
                  </a:txBody>
                  <a:tcPr marL="142875" marR="142875" marT="95250" marB="95250" anchor="ctr"/>
                </a:tc>
                <a:tc>
                  <a:txBody>
                    <a:bodyPr/>
                    <a:lstStyle/>
                    <a:p>
                      <a:endParaRPr lang="en-US" dirty="0">
                        <a:effectLst/>
                      </a:endParaRPr>
                    </a:p>
                  </a:txBody>
                  <a:tcPr marL="142875" marR="142875" marT="95250" marB="95250" anchor="ctr"/>
                </a:tc>
                <a:extLst>
                  <a:ext uri="{0D108BD9-81ED-4DB2-BD59-A6C34878D82A}">
                    <a16:rowId xmlns:a16="http://schemas.microsoft.com/office/drawing/2014/main" val="1459939263"/>
                  </a:ext>
                </a:extLst>
              </a:tr>
            </a:tbl>
          </a:graphicData>
        </a:graphic>
      </p:graphicFrame>
      <p:sp>
        <p:nvSpPr>
          <p:cNvPr id="9" name="TextBox 8">
            <a:extLst>
              <a:ext uri="{FF2B5EF4-FFF2-40B4-BE49-F238E27FC236}">
                <a16:creationId xmlns:a16="http://schemas.microsoft.com/office/drawing/2014/main" id="{2C67F121-FA5A-4323-B777-FC3438185944}"/>
              </a:ext>
            </a:extLst>
          </p:cNvPr>
          <p:cNvSpPr txBox="1"/>
          <p:nvPr/>
        </p:nvSpPr>
        <p:spPr>
          <a:xfrm>
            <a:off x="4537710" y="45720"/>
            <a:ext cx="7651115" cy="646331"/>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The agenda is also available on the tutorial web page.  Visit </a:t>
            </a:r>
            <a:r>
              <a:rPr kumimoji="0" lang="en-US" sz="1800" b="1" i="0" u="none" strike="noStrike" kern="1200" cap="none" spc="0" normalizeH="0" baseline="0" noProof="0" dirty="0">
                <a:ln>
                  <a:noFill/>
                </a:ln>
                <a:solidFill>
                  <a:prstClr val="black"/>
                </a:solidFill>
                <a:effectLst/>
                <a:uLnTx/>
                <a:uFillTx/>
                <a:latin typeface="Arial" charset="0"/>
                <a:ea typeface="+mn-ea"/>
                <a:cs typeface="Arial" charset="0"/>
                <a:hlinkClick r:id="rId2"/>
              </a:rPr>
              <a:t>https://bssw-tutorial.github.io</a:t>
            </a:r>
            <a:r>
              <a:rPr kumimoji="0" lang="en-US" sz="1800" b="1" i="0" u="none" strike="noStrike" kern="1200" cap="none" spc="0" normalizeH="0" baseline="0" noProof="0" dirty="0">
                <a:ln>
                  <a:noFill/>
                </a:ln>
                <a:solidFill>
                  <a:prstClr val="black"/>
                </a:solidFill>
                <a:effectLst/>
                <a:uLnTx/>
                <a:uFillTx/>
                <a:latin typeface="Arial" charset="0"/>
                <a:ea typeface="+mn-ea"/>
                <a:cs typeface="Arial" charset="0"/>
              </a:rPr>
              <a:t> </a:t>
            </a: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and click on the link for today’s tutorial</a:t>
            </a:r>
          </a:p>
        </p:txBody>
      </p:sp>
    </p:spTree>
    <p:extLst>
      <p:ext uri="{BB962C8B-B14F-4D97-AF65-F5344CB8AC3E}">
        <p14:creationId xmlns:p14="http://schemas.microsoft.com/office/powerpoint/2010/main" val="3643219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756EE-C2D9-4E52-B0B6-3C831FD6A565}"/>
              </a:ext>
            </a:extLst>
          </p:cNvPr>
          <p:cNvSpPr>
            <a:spLocks noGrp="1"/>
          </p:cNvSpPr>
          <p:nvPr>
            <p:ph type="title"/>
          </p:nvPr>
        </p:nvSpPr>
        <p:spPr>
          <a:xfrm>
            <a:off x="408175" y="160020"/>
            <a:ext cx="11372473" cy="914400"/>
          </a:xfrm>
        </p:spPr>
        <p:txBody>
          <a:bodyPr/>
          <a:lstStyle/>
          <a:p>
            <a:r>
              <a:rPr lang="en-US" dirty="0"/>
              <a:t>Agenda (2/2)</a:t>
            </a:r>
          </a:p>
        </p:txBody>
      </p:sp>
      <p:graphicFrame>
        <p:nvGraphicFramePr>
          <p:cNvPr id="6" name="Table 6">
            <a:extLst>
              <a:ext uri="{FF2B5EF4-FFF2-40B4-BE49-F238E27FC236}">
                <a16:creationId xmlns:a16="http://schemas.microsoft.com/office/drawing/2014/main" id="{99D13FB2-5BF8-4AC0-A13D-ECB8E230F5BC}"/>
              </a:ext>
            </a:extLst>
          </p:cNvPr>
          <p:cNvGraphicFramePr>
            <a:graphicFrameLocks noGrp="1"/>
          </p:cNvGraphicFramePr>
          <p:nvPr>
            <p:ph idx="1"/>
            <p:extLst>
              <p:ext uri="{D42A27DB-BD31-4B8C-83A1-F6EECF244321}">
                <p14:modId xmlns:p14="http://schemas.microsoft.com/office/powerpoint/2010/main" val="1625691390"/>
              </p:ext>
            </p:extLst>
          </p:nvPr>
        </p:nvGraphicFramePr>
        <p:xfrm>
          <a:off x="1051560" y="1074420"/>
          <a:ext cx="9692640" cy="5376672"/>
        </p:xfrm>
        <a:graphic>
          <a:graphicData uri="http://schemas.openxmlformats.org/drawingml/2006/table">
            <a:tbl>
              <a:tblPr firstRow="1" bandRow="1">
                <a:tableStyleId>{5C22544A-7EE6-4342-B048-85BDC9FD1C3A}</a:tableStyleId>
              </a:tblPr>
              <a:tblGrid>
                <a:gridCol w="1328947">
                  <a:extLst>
                    <a:ext uri="{9D8B030D-6E8A-4147-A177-3AD203B41FA5}">
                      <a16:colId xmlns:a16="http://schemas.microsoft.com/office/drawing/2014/main" val="41390910"/>
                    </a:ext>
                  </a:extLst>
                </a:gridCol>
                <a:gridCol w="5033753">
                  <a:extLst>
                    <a:ext uri="{9D8B030D-6E8A-4147-A177-3AD203B41FA5}">
                      <a16:colId xmlns:a16="http://schemas.microsoft.com/office/drawing/2014/main" val="2092910534"/>
                    </a:ext>
                  </a:extLst>
                </a:gridCol>
                <a:gridCol w="3329940">
                  <a:extLst>
                    <a:ext uri="{9D8B030D-6E8A-4147-A177-3AD203B41FA5}">
                      <a16:colId xmlns:a16="http://schemas.microsoft.com/office/drawing/2014/main" val="1261297711"/>
                    </a:ext>
                  </a:extLst>
                </a:gridCol>
              </a:tblGrid>
              <a:tr h="526542">
                <a:tc>
                  <a:txBody>
                    <a:bodyPr/>
                    <a:lstStyle/>
                    <a:p>
                      <a:pPr algn="r"/>
                      <a:r>
                        <a:rPr lang="en-US" sz="1800" dirty="0">
                          <a:effectLst/>
                        </a:rPr>
                        <a:t>Time (CDT)</a:t>
                      </a:r>
                    </a:p>
                  </a:txBody>
                  <a:tcPr marL="142875" marR="142875" marT="95250" marB="95250" anchor="ctr"/>
                </a:tc>
                <a:tc>
                  <a:txBody>
                    <a:bodyPr/>
                    <a:lstStyle/>
                    <a:p>
                      <a:pPr algn="l"/>
                      <a:r>
                        <a:rPr lang="en-US" sz="1800" dirty="0">
                          <a:effectLst/>
                        </a:rPr>
                        <a:t>Title</a:t>
                      </a:r>
                    </a:p>
                  </a:txBody>
                  <a:tcPr marL="142875" marR="142875" marT="95250" marB="95250" anchor="ctr"/>
                </a:tc>
                <a:tc>
                  <a:txBody>
                    <a:bodyPr/>
                    <a:lstStyle/>
                    <a:p>
                      <a:r>
                        <a:rPr lang="en-US" sz="1800" dirty="0">
                          <a:effectLst/>
                        </a:rPr>
                        <a:t>Presenter</a:t>
                      </a:r>
                    </a:p>
                  </a:txBody>
                  <a:tcPr marL="142875" marR="142875" marT="95250" marB="95250" anchor="ctr"/>
                </a:tc>
                <a:extLst>
                  <a:ext uri="{0D108BD9-81ED-4DB2-BD59-A6C34878D82A}">
                    <a16:rowId xmlns:a16="http://schemas.microsoft.com/office/drawing/2014/main" val="2098024418"/>
                  </a:ext>
                </a:extLst>
              </a:tr>
              <a:tr h="526542">
                <a:tc>
                  <a:txBody>
                    <a:bodyPr/>
                    <a:lstStyle/>
                    <a:p>
                      <a:pPr algn="r"/>
                      <a:r>
                        <a:rPr lang="en-US">
                          <a:effectLst/>
                        </a:rPr>
                        <a:t>12:30 PM</a:t>
                      </a:r>
                    </a:p>
                  </a:txBody>
                  <a:tcPr marL="142875" marR="142875" marT="95250" marB="95250" anchor="ctr"/>
                </a:tc>
                <a:tc>
                  <a:txBody>
                    <a:bodyPr/>
                    <a:lstStyle/>
                    <a:p>
                      <a:r>
                        <a:rPr lang="en-US" i="1">
                          <a:effectLst/>
                        </a:rPr>
                        <a:t>Lunch</a:t>
                      </a:r>
                      <a:endParaRPr lang="en-US">
                        <a:effectLst/>
                      </a:endParaRPr>
                    </a:p>
                  </a:txBody>
                  <a:tcPr marL="142875" marR="142875" marT="95250" marB="95250" anchor="ctr"/>
                </a:tc>
                <a:tc>
                  <a:txBody>
                    <a:bodyPr/>
                    <a:lstStyle/>
                    <a:p>
                      <a:endParaRPr lang="en-US" dirty="0">
                        <a:effectLst/>
                      </a:endParaRPr>
                    </a:p>
                  </a:txBody>
                  <a:tcPr marL="142875" marR="142875" marT="95250" marB="95250" anchor="ctr"/>
                </a:tc>
                <a:extLst>
                  <a:ext uri="{0D108BD9-81ED-4DB2-BD59-A6C34878D82A}">
                    <a16:rowId xmlns:a16="http://schemas.microsoft.com/office/drawing/2014/main" val="1459939263"/>
                  </a:ext>
                </a:extLst>
              </a:tr>
              <a:tr h="526542">
                <a:tc>
                  <a:txBody>
                    <a:bodyPr/>
                    <a:lstStyle/>
                    <a:p>
                      <a:pPr algn="r"/>
                      <a:r>
                        <a:rPr lang="en-US">
                          <a:effectLst/>
                        </a:rPr>
                        <a:t>1:30 PM</a:t>
                      </a:r>
                    </a:p>
                  </a:txBody>
                  <a:tcPr marL="142875" marR="142875" marT="95250" marB="95250" anchor="ctr"/>
                </a:tc>
                <a:tc>
                  <a:txBody>
                    <a:bodyPr/>
                    <a:lstStyle/>
                    <a:p>
                      <a:r>
                        <a:rPr lang="en-US">
                          <a:effectLst/>
                        </a:rPr>
                        <a:t>Software Testing and Verification</a:t>
                      </a:r>
                    </a:p>
                  </a:txBody>
                  <a:tcPr marL="142875" marR="142875" marT="95250" marB="95250" anchor="ctr"/>
                </a:tc>
                <a:tc>
                  <a:txBody>
                    <a:bodyPr/>
                    <a:lstStyle/>
                    <a:p>
                      <a:r>
                        <a:rPr lang="en-US">
                          <a:effectLst/>
                        </a:rPr>
                        <a:t>Anshu Dubey (ANL)</a:t>
                      </a:r>
                    </a:p>
                  </a:txBody>
                  <a:tcPr marL="142875" marR="142875" marT="95250" marB="95250" anchor="ctr"/>
                </a:tc>
                <a:extLst>
                  <a:ext uri="{0D108BD9-81ED-4DB2-BD59-A6C34878D82A}">
                    <a16:rowId xmlns:a16="http://schemas.microsoft.com/office/drawing/2014/main" val="568411987"/>
                  </a:ext>
                </a:extLst>
              </a:tr>
              <a:tr h="526542">
                <a:tc>
                  <a:txBody>
                    <a:bodyPr/>
                    <a:lstStyle/>
                    <a:p>
                      <a:pPr algn="r"/>
                      <a:r>
                        <a:rPr lang="en-US">
                          <a:effectLst/>
                        </a:rPr>
                        <a:t>2:30 PM</a:t>
                      </a:r>
                    </a:p>
                  </a:txBody>
                  <a:tcPr marL="142875" marR="142875" marT="95250" marB="95250" anchor="ctr"/>
                </a:tc>
                <a:tc>
                  <a:txBody>
                    <a:bodyPr/>
                    <a:lstStyle/>
                    <a:p>
                      <a:r>
                        <a:rPr lang="en-US">
                          <a:effectLst/>
                        </a:rPr>
                        <a:t>Refactoring Scientific Software</a:t>
                      </a:r>
                    </a:p>
                  </a:txBody>
                  <a:tcPr marL="142875" marR="142875" marT="95250" marB="95250" anchor="ctr"/>
                </a:tc>
                <a:tc>
                  <a:txBody>
                    <a:bodyPr/>
                    <a:lstStyle/>
                    <a:p>
                      <a:r>
                        <a:rPr lang="en-US">
                          <a:effectLst/>
                        </a:rPr>
                        <a:t>Anshu Dubey (ANL)</a:t>
                      </a:r>
                    </a:p>
                  </a:txBody>
                  <a:tcPr marL="142875" marR="142875" marT="95250" marB="95250" anchor="ctr"/>
                </a:tc>
                <a:extLst>
                  <a:ext uri="{0D108BD9-81ED-4DB2-BD59-A6C34878D82A}">
                    <a16:rowId xmlns:a16="http://schemas.microsoft.com/office/drawing/2014/main" val="439333682"/>
                  </a:ext>
                </a:extLst>
              </a:tr>
              <a:tr h="526542">
                <a:tc>
                  <a:txBody>
                    <a:bodyPr/>
                    <a:lstStyle/>
                    <a:p>
                      <a:pPr algn="r"/>
                      <a:r>
                        <a:rPr lang="en-US">
                          <a:effectLst/>
                        </a:rPr>
                        <a:t>3:00 PM</a:t>
                      </a:r>
                    </a:p>
                  </a:txBody>
                  <a:tcPr marL="142875" marR="142875" marT="95250" marB="95250" anchor="ctr"/>
                </a:tc>
                <a:tc>
                  <a:txBody>
                    <a:bodyPr/>
                    <a:lstStyle/>
                    <a:p>
                      <a:r>
                        <a:rPr lang="en-US" i="1">
                          <a:effectLst/>
                        </a:rPr>
                        <a:t>Break</a:t>
                      </a:r>
                      <a:endParaRPr lang="en-US">
                        <a:effectLst/>
                      </a:endParaRPr>
                    </a:p>
                  </a:txBody>
                  <a:tcPr marL="142875" marR="142875" marT="95250" marB="95250" anchor="ctr"/>
                </a:tc>
                <a:tc>
                  <a:txBody>
                    <a:bodyPr/>
                    <a:lstStyle/>
                    <a:p>
                      <a:endParaRPr lang="en-US">
                        <a:effectLst/>
                      </a:endParaRPr>
                    </a:p>
                  </a:txBody>
                  <a:tcPr marL="142875" marR="142875" marT="95250" marB="95250" anchor="ctr"/>
                </a:tc>
                <a:extLst>
                  <a:ext uri="{0D108BD9-81ED-4DB2-BD59-A6C34878D82A}">
                    <a16:rowId xmlns:a16="http://schemas.microsoft.com/office/drawing/2014/main" val="3500361090"/>
                  </a:ext>
                </a:extLst>
              </a:tr>
              <a:tr h="526542">
                <a:tc>
                  <a:txBody>
                    <a:bodyPr/>
                    <a:lstStyle/>
                    <a:p>
                      <a:pPr algn="r"/>
                      <a:r>
                        <a:rPr lang="en-US">
                          <a:effectLst/>
                        </a:rPr>
                        <a:t>3:30 PM</a:t>
                      </a:r>
                    </a:p>
                  </a:txBody>
                  <a:tcPr marL="142875" marR="142875" marT="95250" marB="95250" anchor="ctr"/>
                </a:tc>
                <a:tc>
                  <a:txBody>
                    <a:bodyPr/>
                    <a:lstStyle/>
                    <a:p>
                      <a:r>
                        <a:rPr lang="en-US">
                          <a:effectLst/>
                        </a:rPr>
                        <a:t>Software Licensing</a:t>
                      </a:r>
                    </a:p>
                  </a:txBody>
                  <a:tcPr marL="142875" marR="142875" marT="95250" marB="95250" anchor="ctr"/>
                </a:tc>
                <a:tc>
                  <a:txBody>
                    <a:bodyPr/>
                    <a:lstStyle/>
                    <a:p>
                      <a:r>
                        <a:rPr lang="en-US" dirty="0">
                          <a:effectLst/>
                        </a:rPr>
                        <a:t>David E. Bernholdt (</a:t>
                      </a:r>
                      <a:r>
                        <a:rPr lang="en-US">
                          <a:effectLst/>
                        </a:rPr>
                        <a:t>ORNL)</a:t>
                      </a:r>
                      <a:endParaRPr lang="en-US" dirty="0">
                        <a:effectLst/>
                      </a:endParaRPr>
                    </a:p>
                  </a:txBody>
                  <a:tcPr marL="142875" marR="142875" marT="95250" marB="95250" anchor="ctr"/>
                </a:tc>
                <a:extLst>
                  <a:ext uri="{0D108BD9-81ED-4DB2-BD59-A6C34878D82A}">
                    <a16:rowId xmlns:a16="http://schemas.microsoft.com/office/drawing/2014/main" val="1733344417"/>
                  </a:ext>
                </a:extLst>
              </a:tr>
              <a:tr h="526542">
                <a:tc>
                  <a:txBody>
                    <a:bodyPr/>
                    <a:lstStyle/>
                    <a:p>
                      <a:pPr algn="r"/>
                      <a:r>
                        <a:rPr lang="en-US">
                          <a:effectLst/>
                        </a:rPr>
                        <a:t>4:30 PM</a:t>
                      </a:r>
                    </a:p>
                  </a:txBody>
                  <a:tcPr marL="142875" marR="142875" marT="95250" marB="95250" anchor="ctr"/>
                </a:tc>
                <a:tc>
                  <a:txBody>
                    <a:bodyPr/>
                    <a:lstStyle/>
                    <a:p>
                      <a:r>
                        <a:rPr lang="en-US">
                          <a:effectLst/>
                        </a:rPr>
                        <a:t>Improving Reproducibility Through Better Software Practices</a:t>
                      </a:r>
                    </a:p>
                  </a:txBody>
                  <a:tcPr marL="142875" marR="142875" marT="95250" marB="95250" anchor="ctr"/>
                </a:tc>
                <a:tc>
                  <a:txBody>
                    <a:bodyPr/>
                    <a:lstStyle/>
                    <a:p>
                      <a:r>
                        <a:rPr lang="en-US" dirty="0">
                          <a:effectLst/>
                        </a:rPr>
                        <a:t>David E. Bernholdt (ORNL)</a:t>
                      </a:r>
                    </a:p>
                  </a:txBody>
                  <a:tcPr marL="142875" marR="142875" marT="95250" marB="95250" anchor="ctr"/>
                </a:tc>
                <a:extLst>
                  <a:ext uri="{0D108BD9-81ED-4DB2-BD59-A6C34878D82A}">
                    <a16:rowId xmlns:a16="http://schemas.microsoft.com/office/drawing/2014/main" val="1855854553"/>
                  </a:ext>
                </a:extLst>
              </a:tr>
              <a:tr h="526542">
                <a:tc>
                  <a:txBody>
                    <a:bodyPr/>
                    <a:lstStyle/>
                    <a:p>
                      <a:pPr algn="r"/>
                      <a:r>
                        <a:rPr lang="en-US">
                          <a:effectLst/>
                        </a:rPr>
                        <a:t>5:30 PM</a:t>
                      </a:r>
                    </a:p>
                  </a:txBody>
                  <a:tcPr marL="142875" marR="142875" marT="95250" marB="95250" anchor="ctr"/>
                </a:tc>
                <a:tc>
                  <a:txBody>
                    <a:bodyPr/>
                    <a:lstStyle/>
                    <a:p>
                      <a:r>
                        <a:rPr lang="en-US">
                          <a:effectLst/>
                        </a:rPr>
                        <a:t>Lab Notebooks for Computational Mathematics, Sciences, &amp; Engineering</a:t>
                      </a:r>
                    </a:p>
                  </a:txBody>
                  <a:tcPr marL="142875" marR="142875" marT="95250" marB="95250" anchor="ctr"/>
                </a:tc>
                <a:tc>
                  <a:txBody>
                    <a:bodyPr/>
                    <a:lstStyle/>
                    <a:p>
                      <a:r>
                        <a:rPr lang="en-US">
                          <a:effectLst/>
                        </a:rPr>
                        <a:t>Jared O'Neal (ANL)</a:t>
                      </a:r>
                    </a:p>
                  </a:txBody>
                  <a:tcPr marL="142875" marR="142875" marT="95250" marB="95250" anchor="ctr"/>
                </a:tc>
                <a:extLst>
                  <a:ext uri="{0D108BD9-81ED-4DB2-BD59-A6C34878D82A}">
                    <a16:rowId xmlns:a16="http://schemas.microsoft.com/office/drawing/2014/main" val="2122309219"/>
                  </a:ext>
                </a:extLst>
              </a:tr>
              <a:tr h="526542">
                <a:tc>
                  <a:txBody>
                    <a:bodyPr/>
                    <a:lstStyle/>
                    <a:p>
                      <a:pPr algn="r"/>
                      <a:r>
                        <a:rPr lang="en-US">
                          <a:effectLst/>
                        </a:rPr>
                        <a:t>6:30 PM</a:t>
                      </a:r>
                    </a:p>
                  </a:txBody>
                  <a:tcPr marL="142875" marR="142875" marT="95250" marB="95250" anchor="ctr"/>
                </a:tc>
                <a:tc>
                  <a:txBody>
                    <a:bodyPr/>
                    <a:lstStyle/>
                    <a:p>
                      <a:r>
                        <a:rPr lang="en-US" i="1">
                          <a:effectLst/>
                        </a:rPr>
                        <a:t>Adjourn</a:t>
                      </a:r>
                      <a:endParaRPr lang="en-US">
                        <a:effectLst/>
                      </a:endParaRPr>
                    </a:p>
                  </a:txBody>
                  <a:tcPr marL="142875" marR="142875" marT="95250" marB="95250" anchor="ctr"/>
                </a:tc>
                <a:tc>
                  <a:txBody>
                    <a:bodyPr/>
                    <a:lstStyle/>
                    <a:p>
                      <a:endParaRPr lang="en-US" dirty="0"/>
                    </a:p>
                  </a:txBody>
                  <a:tcPr/>
                </a:tc>
                <a:extLst>
                  <a:ext uri="{0D108BD9-81ED-4DB2-BD59-A6C34878D82A}">
                    <a16:rowId xmlns:a16="http://schemas.microsoft.com/office/drawing/2014/main" val="3774671062"/>
                  </a:ext>
                </a:extLst>
              </a:tr>
            </a:tbl>
          </a:graphicData>
        </a:graphic>
      </p:graphicFrame>
      <p:sp>
        <p:nvSpPr>
          <p:cNvPr id="9" name="TextBox 8">
            <a:extLst>
              <a:ext uri="{FF2B5EF4-FFF2-40B4-BE49-F238E27FC236}">
                <a16:creationId xmlns:a16="http://schemas.microsoft.com/office/drawing/2014/main" id="{2C67F121-FA5A-4323-B777-FC3438185944}"/>
              </a:ext>
            </a:extLst>
          </p:cNvPr>
          <p:cNvSpPr txBox="1"/>
          <p:nvPr/>
        </p:nvSpPr>
        <p:spPr>
          <a:xfrm>
            <a:off x="4537710" y="45720"/>
            <a:ext cx="7651115" cy="646331"/>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The agenda is also available on the tutorial web page.  Visit </a:t>
            </a:r>
            <a:r>
              <a:rPr kumimoji="0" lang="en-US" sz="1800" b="1" i="0" u="none" strike="noStrike" kern="1200" cap="none" spc="0" normalizeH="0" baseline="0" noProof="0" dirty="0">
                <a:ln>
                  <a:noFill/>
                </a:ln>
                <a:solidFill>
                  <a:prstClr val="black"/>
                </a:solidFill>
                <a:effectLst/>
                <a:uLnTx/>
                <a:uFillTx/>
                <a:latin typeface="Arial" charset="0"/>
                <a:ea typeface="+mn-ea"/>
                <a:cs typeface="Arial" charset="0"/>
                <a:hlinkClick r:id="rId2"/>
              </a:rPr>
              <a:t>https://bssw-tutorial.github.io</a:t>
            </a:r>
            <a:r>
              <a:rPr kumimoji="0" lang="en-US" sz="1800" b="1" i="0" u="none" strike="noStrike" kern="1200" cap="none" spc="0" normalizeH="0" baseline="0" noProof="0" dirty="0">
                <a:ln>
                  <a:noFill/>
                </a:ln>
                <a:solidFill>
                  <a:prstClr val="black"/>
                </a:solidFill>
                <a:effectLst/>
                <a:uLnTx/>
                <a:uFillTx/>
                <a:latin typeface="Arial" charset="0"/>
                <a:ea typeface="+mn-ea"/>
                <a:cs typeface="Arial" charset="0"/>
              </a:rPr>
              <a:t> </a:t>
            </a: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and click on the link for today’s tutorial</a:t>
            </a:r>
          </a:p>
        </p:txBody>
      </p:sp>
    </p:spTree>
    <p:extLst>
      <p:ext uri="{BB962C8B-B14F-4D97-AF65-F5344CB8AC3E}">
        <p14:creationId xmlns:p14="http://schemas.microsoft.com/office/powerpoint/2010/main" val="19783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F6BB71E-AC33-55ED-758E-B33A9B6F10D5}"/>
              </a:ext>
            </a:extLst>
          </p:cNvPr>
          <p:cNvSpPr>
            <a:spLocks noGrp="1"/>
          </p:cNvSpPr>
          <p:nvPr>
            <p:ph type="title"/>
          </p:nvPr>
        </p:nvSpPr>
        <p:spPr/>
        <p:txBody>
          <a:bodyPr/>
          <a:lstStyle/>
          <a:p>
            <a:r>
              <a:rPr lang="en-US" dirty="0"/>
              <a:t>Additional slides</a:t>
            </a:r>
          </a:p>
        </p:txBody>
      </p:sp>
    </p:spTree>
    <p:extLst>
      <p:ext uri="{BB962C8B-B14F-4D97-AF65-F5344CB8AC3E}">
        <p14:creationId xmlns:p14="http://schemas.microsoft.com/office/powerpoint/2010/main" val="517291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1C927-A5F5-4219-9D1F-E4783D63981C}"/>
              </a:ext>
            </a:extLst>
          </p:cNvPr>
          <p:cNvSpPr>
            <a:spLocks noGrp="1"/>
          </p:cNvSpPr>
          <p:nvPr>
            <p:ph type="title"/>
          </p:nvPr>
        </p:nvSpPr>
        <p:spPr>
          <a:xfrm>
            <a:off x="365759" y="411480"/>
            <a:ext cx="11439459" cy="914400"/>
          </a:xfrm>
        </p:spPr>
        <p:txBody>
          <a:bodyPr/>
          <a:lstStyle/>
          <a:p>
            <a:r>
              <a:rPr lang="en-US" dirty="0"/>
              <a:t>The IDEAS-ECP team works with the ECP community, and beyond, to improve developer productivity and software sustainability as key aspects of increasing overall scientific productivity</a:t>
            </a:r>
          </a:p>
        </p:txBody>
      </p:sp>
      <p:grpSp>
        <p:nvGrpSpPr>
          <p:cNvPr id="4" name="Google Shape;57;p9">
            <a:extLst>
              <a:ext uri="{FF2B5EF4-FFF2-40B4-BE49-F238E27FC236}">
                <a16:creationId xmlns:a16="http://schemas.microsoft.com/office/drawing/2014/main" id="{6A897040-C4A6-4C52-B631-9761F7020CC4}"/>
              </a:ext>
            </a:extLst>
          </p:cNvPr>
          <p:cNvGrpSpPr/>
          <p:nvPr/>
        </p:nvGrpSpPr>
        <p:grpSpPr>
          <a:xfrm>
            <a:off x="546678" y="1820375"/>
            <a:ext cx="11687727" cy="4447977"/>
            <a:chOff x="1841432" y="2034774"/>
            <a:chExt cx="9035635" cy="3438676"/>
          </a:xfrm>
        </p:grpSpPr>
        <p:grpSp>
          <p:nvGrpSpPr>
            <p:cNvPr id="5" name="Google Shape;58;p9">
              <a:extLst>
                <a:ext uri="{FF2B5EF4-FFF2-40B4-BE49-F238E27FC236}">
                  <a16:creationId xmlns:a16="http://schemas.microsoft.com/office/drawing/2014/main" id="{CCA80A9C-C8C1-4B5A-9AB3-13E6B4582831}"/>
                </a:ext>
              </a:extLst>
            </p:cNvPr>
            <p:cNvGrpSpPr/>
            <p:nvPr/>
          </p:nvGrpSpPr>
          <p:grpSpPr>
            <a:xfrm>
              <a:off x="1841432" y="2034774"/>
              <a:ext cx="9035635" cy="3438676"/>
              <a:chOff x="350089" y="1704823"/>
              <a:chExt cx="9035635" cy="3438676"/>
            </a:xfrm>
          </p:grpSpPr>
          <p:sp>
            <p:nvSpPr>
              <p:cNvPr id="15" name="Google Shape;59;p9">
                <a:extLst>
                  <a:ext uri="{FF2B5EF4-FFF2-40B4-BE49-F238E27FC236}">
                    <a16:creationId xmlns:a16="http://schemas.microsoft.com/office/drawing/2014/main" id="{E3CE3542-F229-4858-ADBE-FE4659D2D367}"/>
                  </a:ext>
                </a:extLst>
              </p:cNvPr>
              <p:cNvSpPr/>
              <p:nvPr/>
            </p:nvSpPr>
            <p:spPr>
              <a:xfrm>
                <a:off x="3592800" y="3391840"/>
                <a:ext cx="680399" cy="822591"/>
              </a:xfrm>
              <a:custGeom>
                <a:avLst/>
                <a:gdLst/>
                <a:ahLst/>
                <a:cxnLst/>
                <a:rect l="l" t="t" r="r" b="b"/>
                <a:pathLst>
                  <a:path w="120000" h="120000" extrusionOk="0">
                    <a:moveTo>
                      <a:pt x="0" y="0"/>
                    </a:moveTo>
                    <a:cubicBezTo>
                      <a:pt x="120000" y="0"/>
                      <a:pt x="120000" y="0"/>
                      <a:pt x="120000" y="0"/>
                    </a:cubicBezTo>
                    <a:cubicBezTo>
                      <a:pt x="120000" y="120000"/>
                      <a:pt x="120000" y="120000"/>
                      <a:pt x="120000" y="120000"/>
                    </a:cubicBezTo>
                    <a:cubicBezTo>
                      <a:pt x="53189" y="120000"/>
                      <a:pt x="53189" y="120000"/>
                      <a:pt x="53189" y="120000"/>
                    </a:cubicBezTo>
                    <a:cubicBezTo>
                      <a:pt x="44432" y="120000"/>
                      <a:pt x="37621" y="114476"/>
                      <a:pt x="37621" y="107698"/>
                    </a:cubicBezTo>
                    <a:cubicBezTo>
                      <a:pt x="37621" y="85104"/>
                      <a:pt x="37621" y="85104"/>
                      <a:pt x="37621" y="85104"/>
                    </a:cubicBezTo>
                    <a:cubicBezTo>
                      <a:pt x="37621" y="54225"/>
                      <a:pt x="24000" y="24351"/>
                      <a:pt x="0" y="0"/>
                    </a:cubicBezTo>
                    <a:close/>
                  </a:path>
                </a:pathLst>
              </a:custGeom>
              <a:gradFill>
                <a:gsLst>
                  <a:gs pos="0">
                    <a:srgbClr val="F5D0D0"/>
                  </a:gs>
                  <a:gs pos="100000">
                    <a:srgbClr val="D96868"/>
                  </a:gs>
                </a:gsLst>
                <a:path path="circle">
                  <a:fillToRect l="50000" t="50000" r="50000" b="50000"/>
                </a:path>
                <a:tileRect/>
              </a:gradFill>
              <a:ln>
                <a:noFill/>
              </a:ln>
              <a:effectLst>
                <a:outerShdw blurRad="57785" dist="33020" dir="3180000" algn="ctr">
                  <a:srgbClr val="000000">
                    <a:alpha val="29411"/>
                  </a:srgbClr>
                </a:outerShdw>
              </a:effectLst>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16" name="Google Shape;60;p9">
                <a:extLst>
                  <a:ext uri="{FF2B5EF4-FFF2-40B4-BE49-F238E27FC236}">
                    <a16:creationId xmlns:a16="http://schemas.microsoft.com/office/drawing/2014/main" id="{65BF9471-F37C-4266-B1A2-254E140DE8B0}"/>
                  </a:ext>
                </a:extLst>
              </p:cNvPr>
              <p:cNvSpPr/>
              <p:nvPr/>
            </p:nvSpPr>
            <p:spPr>
              <a:xfrm>
                <a:off x="3209455" y="1807379"/>
                <a:ext cx="1063800" cy="729600"/>
              </a:xfrm>
              <a:custGeom>
                <a:avLst/>
                <a:gdLst/>
                <a:ahLst/>
                <a:cxnLst/>
                <a:rect l="l" t="t" r="r" b="b"/>
                <a:pathLst>
                  <a:path w="120000" h="120000" extrusionOk="0">
                    <a:moveTo>
                      <a:pt x="120000" y="0"/>
                    </a:moveTo>
                    <a:cubicBezTo>
                      <a:pt x="120000" y="120000"/>
                      <a:pt x="120000" y="120000"/>
                      <a:pt x="120000" y="120000"/>
                    </a:cubicBezTo>
                    <a:cubicBezTo>
                      <a:pt x="0" y="120000"/>
                      <a:pt x="0" y="120000"/>
                      <a:pt x="0" y="120000"/>
                    </a:cubicBezTo>
                    <a:cubicBezTo>
                      <a:pt x="13056" y="53750"/>
                      <a:pt x="61761" y="3250"/>
                      <a:pt x="120000" y="0"/>
                    </a:cubicBezTo>
                    <a:close/>
                  </a:path>
                </a:pathLst>
              </a:custGeom>
              <a:gradFill>
                <a:gsLst>
                  <a:gs pos="0">
                    <a:srgbClr val="FFF6DB"/>
                  </a:gs>
                  <a:gs pos="100000">
                    <a:srgbClr val="FAD25C"/>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17" name="Google Shape;61;p9">
                <a:extLst>
                  <a:ext uri="{FF2B5EF4-FFF2-40B4-BE49-F238E27FC236}">
                    <a16:creationId xmlns:a16="http://schemas.microsoft.com/office/drawing/2014/main" id="{B075FB73-AD5D-4E9C-B58A-C3EE7639D93B}"/>
                  </a:ext>
                </a:extLst>
              </p:cNvPr>
              <p:cNvSpPr/>
              <p:nvPr/>
            </p:nvSpPr>
            <p:spPr>
              <a:xfrm>
                <a:off x="3201504" y="2527575"/>
                <a:ext cx="1071695" cy="807900"/>
              </a:xfrm>
              <a:custGeom>
                <a:avLst/>
                <a:gdLst/>
                <a:ahLst/>
                <a:cxnLst/>
                <a:rect l="l" t="t" r="r" b="b"/>
                <a:pathLst>
                  <a:path w="120000" h="120000" extrusionOk="0">
                    <a:moveTo>
                      <a:pt x="120000" y="0"/>
                    </a:moveTo>
                    <a:cubicBezTo>
                      <a:pt x="120000" y="120000"/>
                      <a:pt x="120000" y="120000"/>
                      <a:pt x="120000" y="120000"/>
                    </a:cubicBezTo>
                    <a:cubicBezTo>
                      <a:pt x="36040" y="120000"/>
                      <a:pt x="36040" y="120000"/>
                      <a:pt x="36040" y="120000"/>
                    </a:cubicBezTo>
                    <a:cubicBezTo>
                      <a:pt x="36040" y="120000"/>
                      <a:pt x="36040" y="120000"/>
                      <a:pt x="36040" y="120000"/>
                    </a:cubicBezTo>
                    <a:cubicBezTo>
                      <a:pt x="14295" y="94809"/>
                      <a:pt x="805" y="60458"/>
                      <a:pt x="201" y="22671"/>
                    </a:cubicBezTo>
                    <a:cubicBezTo>
                      <a:pt x="0" y="15114"/>
                      <a:pt x="604" y="7328"/>
                      <a:pt x="1409" y="0"/>
                    </a:cubicBezTo>
                    <a:lnTo>
                      <a:pt x="120000" y="0"/>
                    </a:lnTo>
                    <a:close/>
                  </a:path>
                </a:pathLst>
              </a:custGeom>
              <a:gradFill>
                <a:gsLst>
                  <a:gs pos="0">
                    <a:srgbClr val="FFF6DB"/>
                  </a:gs>
                  <a:gs pos="100000">
                    <a:srgbClr val="FAD25C"/>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18" name="Google Shape;62;p9">
                <a:extLst>
                  <a:ext uri="{FF2B5EF4-FFF2-40B4-BE49-F238E27FC236}">
                    <a16:creationId xmlns:a16="http://schemas.microsoft.com/office/drawing/2014/main" id="{F62FEA18-C8AB-466F-BC92-A1E77A93DBC7}"/>
                  </a:ext>
                </a:extLst>
              </p:cNvPr>
              <p:cNvSpPr/>
              <p:nvPr/>
            </p:nvSpPr>
            <p:spPr>
              <a:xfrm>
                <a:off x="4340752" y="3391840"/>
                <a:ext cx="711623" cy="822891"/>
              </a:xfrm>
              <a:custGeom>
                <a:avLst/>
                <a:gdLst/>
                <a:ahLst/>
                <a:cxnLst/>
                <a:rect l="l" t="t" r="r" b="b"/>
                <a:pathLst>
                  <a:path w="120000" h="120000" extrusionOk="0">
                    <a:moveTo>
                      <a:pt x="0" y="0"/>
                    </a:moveTo>
                    <a:cubicBezTo>
                      <a:pt x="119999" y="0"/>
                      <a:pt x="119999" y="0"/>
                      <a:pt x="119999" y="0"/>
                    </a:cubicBezTo>
                    <a:cubicBezTo>
                      <a:pt x="95741" y="24602"/>
                      <a:pt x="82156" y="54728"/>
                      <a:pt x="82156" y="86108"/>
                    </a:cubicBezTo>
                    <a:cubicBezTo>
                      <a:pt x="82156" y="107698"/>
                      <a:pt x="82156" y="107698"/>
                      <a:pt x="82156" y="107698"/>
                    </a:cubicBezTo>
                    <a:cubicBezTo>
                      <a:pt x="82156" y="114476"/>
                      <a:pt x="75363" y="120000"/>
                      <a:pt x="66630" y="120000"/>
                    </a:cubicBezTo>
                    <a:cubicBezTo>
                      <a:pt x="0" y="120000"/>
                      <a:pt x="0" y="120000"/>
                      <a:pt x="0" y="120000"/>
                    </a:cubicBezTo>
                    <a:lnTo>
                      <a:pt x="0" y="0"/>
                    </a:lnTo>
                    <a:close/>
                  </a:path>
                </a:pathLst>
              </a:custGeom>
              <a:gradFill>
                <a:gsLst>
                  <a:gs pos="0">
                    <a:srgbClr val="DFE9FB"/>
                  </a:gs>
                  <a:gs pos="100000">
                    <a:srgbClr val="6E9BE7"/>
                  </a:gs>
                </a:gsLst>
                <a:path path="circle">
                  <a:fillToRect l="50000" t="50000" r="50000" b="50000"/>
                </a:path>
                <a:tileRect/>
              </a:gradFill>
              <a:ln>
                <a:noFill/>
              </a:ln>
              <a:effectLst>
                <a:outerShdw blurRad="57785" dist="33020" dir="3180000" algn="ctr">
                  <a:srgbClr val="000000">
                    <a:alpha val="29411"/>
                  </a:srgbClr>
                </a:outerShdw>
              </a:effectLst>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19" name="Google Shape;63;p9">
                <a:extLst>
                  <a:ext uri="{FF2B5EF4-FFF2-40B4-BE49-F238E27FC236}">
                    <a16:creationId xmlns:a16="http://schemas.microsoft.com/office/drawing/2014/main" id="{C548DFF7-632D-4E27-9D01-E18C8DD0B391}"/>
                  </a:ext>
                </a:extLst>
              </p:cNvPr>
              <p:cNvSpPr/>
              <p:nvPr/>
            </p:nvSpPr>
            <p:spPr>
              <a:xfrm>
                <a:off x="3804897" y="4268134"/>
                <a:ext cx="1035600" cy="129300"/>
              </a:xfrm>
              <a:custGeom>
                <a:avLst/>
                <a:gdLst/>
                <a:ahLst/>
                <a:cxnLst/>
                <a:rect l="l" t="t" r="r" b="b"/>
                <a:pathLst>
                  <a:path w="120000" h="120000" extrusionOk="0">
                    <a:moveTo>
                      <a:pt x="9148" y="120000"/>
                    </a:moveTo>
                    <a:cubicBezTo>
                      <a:pt x="110851" y="120000"/>
                      <a:pt x="110851" y="120000"/>
                      <a:pt x="110851" y="120000"/>
                    </a:cubicBezTo>
                    <a:cubicBezTo>
                      <a:pt x="115957" y="120000"/>
                      <a:pt x="120000" y="93176"/>
                      <a:pt x="120000" y="59294"/>
                    </a:cubicBezTo>
                    <a:cubicBezTo>
                      <a:pt x="120000" y="26823"/>
                      <a:pt x="115957" y="0"/>
                      <a:pt x="110851" y="0"/>
                    </a:cubicBezTo>
                    <a:cubicBezTo>
                      <a:pt x="9148" y="0"/>
                      <a:pt x="9148" y="0"/>
                      <a:pt x="9148" y="0"/>
                    </a:cubicBezTo>
                    <a:cubicBezTo>
                      <a:pt x="4042" y="0"/>
                      <a:pt x="0" y="26823"/>
                      <a:pt x="0" y="59294"/>
                    </a:cubicBezTo>
                    <a:cubicBezTo>
                      <a:pt x="0" y="93176"/>
                      <a:pt x="4042" y="120000"/>
                      <a:pt x="9148" y="120000"/>
                    </a:cubicBezTo>
                    <a:close/>
                  </a:path>
                </a:pathLst>
              </a:custGeom>
              <a:gradFill>
                <a:gsLst>
                  <a:gs pos="0">
                    <a:srgbClr val="1077D2"/>
                  </a:gs>
                  <a:gs pos="100000">
                    <a:srgbClr val="093153"/>
                  </a:gs>
                </a:gsLst>
                <a:path path="circle">
                  <a:fillToRect l="50000" t="50000" r="50000" b="50000"/>
                </a:path>
                <a:tileRect/>
              </a:gradFill>
              <a:ln w="9525" cap="flat" cmpd="sng">
                <a:solidFill>
                  <a:srgbClr val="66666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20" name="Google Shape;64;p9">
                <a:extLst>
                  <a:ext uri="{FF2B5EF4-FFF2-40B4-BE49-F238E27FC236}">
                    <a16:creationId xmlns:a16="http://schemas.microsoft.com/office/drawing/2014/main" id="{EC602690-6693-4160-8A19-586B228ED72C}"/>
                  </a:ext>
                </a:extLst>
              </p:cNvPr>
              <p:cNvSpPr/>
              <p:nvPr/>
            </p:nvSpPr>
            <p:spPr>
              <a:xfrm>
                <a:off x="3804897" y="4441625"/>
                <a:ext cx="1035600" cy="128400"/>
              </a:xfrm>
              <a:custGeom>
                <a:avLst/>
                <a:gdLst/>
                <a:ahLst/>
                <a:cxnLst/>
                <a:rect l="l" t="t" r="r" b="b"/>
                <a:pathLst>
                  <a:path w="120000" h="120000" extrusionOk="0">
                    <a:moveTo>
                      <a:pt x="110851" y="0"/>
                    </a:moveTo>
                    <a:cubicBezTo>
                      <a:pt x="9148" y="0"/>
                      <a:pt x="9148" y="0"/>
                      <a:pt x="9148" y="0"/>
                    </a:cubicBezTo>
                    <a:cubicBezTo>
                      <a:pt x="4042" y="0"/>
                      <a:pt x="0" y="26823"/>
                      <a:pt x="0" y="60705"/>
                    </a:cubicBezTo>
                    <a:cubicBezTo>
                      <a:pt x="0" y="93176"/>
                      <a:pt x="4042" y="120000"/>
                      <a:pt x="9148" y="120000"/>
                    </a:cubicBezTo>
                    <a:cubicBezTo>
                      <a:pt x="110851" y="120000"/>
                      <a:pt x="110851" y="120000"/>
                      <a:pt x="110851" y="120000"/>
                    </a:cubicBezTo>
                    <a:cubicBezTo>
                      <a:pt x="115957" y="120000"/>
                      <a:pt x="120000" y="93176"/>
                      <a:pt x="120000" y="60705"/>
                    </a:cubicBezTo>
                    <a:cubicBezTo>
                      <a:pt x="120000" y="26823"/>
                      <a:pt x="115957" y="0"/>
                      <a:pt x="110851" y="0"/>
                    </a:cubicBezTo>
                    <a:close/>
                  </a:path>
                </a:pathLst>
              </a:custGeom>
              <a:gradFill>
                <a:gsLst>
                  <a:gs pos="0">
                    <a:srgbClr val="1077D2"/>
                  </a:gs>
                  <a:gs pos="100000">
                    <a:srgbClr val="093153"/>
                  </a:gs>
                </a:gsLst>
                <a:path path="circle">
                  <a:fillToRect l="100000" t="100000"/>
                </a:path>
                <a:tileRect r="-100000" b="-100000"/>
              </a:gradFill>
              <a:ln w="9525" cap="flat" cmpd="sng">
                <a:solidFill>
                  <a:srgbClr val="66666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21" name="Google Shape;65;p9">
                <a:extLst>
                  <a:ext uri="{FF2B5EF4-FFF2-40B4-BE49-F238E27FC236}">
                    <a16:creationId xmlns:a16="http://schemas.microsoft.com/office/drawing/2014/main" id="{FBCCD07D-A5F6-48F9-AC1C-4DA772ABDD5F}"/>
                  </a:ext>
                </a:extLst>
              </p:cNvPr>
              <p:cNvSpPr/>
              <p:nvPr/>
            </p:nvSpPr>
            <p:spPr>
              <a:xfrm>
                <a:off x="3938730" y="4614178"/>
                <a:ext cx="750900" cy="129300"/>
              </a:xfrm>
              <a:custGeom>
                <a:avLst/>
                <a:gdLst/>
                <a:ahLst/>
                <a:cxnLst/>
                <a:rect l="l" t="t" r="r" b="b"/>
                <a:pathLst>
                  <a:path w="120000" h="120000" extrusionOk="0">
                    <a:moveTo>
                      <a:pt x="107677" y="0"/>
                    </a:moveTo>
                    <a:cubicBezTo>
                      <a:pt x="12322" y="0"/>
                      <a:pt x="12322" y="0"/>
                      <a:pt x="12322" y="0"/>
                    </a:cubicBezTo>
                    <a:cubicBezTo>
                      <a:pt x="5574" y="0"/>
                      <a:pt x="0" y="26823"/>
                      <a:pt x="0" y="60705"/>
                    </a:cubicBezTo>
                    <a:cubicBezTo>
                      <a:pt x="0" y="93176"/>
                      <a:pt x="5574" y="120000"/>
                      <a:pt x="12322" y="120000"/>
                    </a:cubicBezTo>
                    <a:cubicBezTo>
                      <a:pt x="107677" y="120000"/>
                      <a:pt x="107677" y="120000"/>
                      <a:pt x="107677" y="120000"/>
                    </a:cubicBezTo>
                    <a:cubicBezTo>
                      <a:pt x="114425" y="120000"/>
                      <a:pt x="120000" y="93176"/>
                      <a:pt x="120000" y="60705"/>
                    </a:cubicBezTo>
                    <a:cubicBezTo>
                      <a:pt x="120000" y="26823"/>
                      <a:pt x="114425" y="0"/>
                      <a:pt x="107677" y="0"/>
                    </a:cubicBezTo>
                    <a:close/>
                  </a:path>
                </a:pathLst>
              </a:custGeom>
              <a:gradFill>
                <a:gsLst>
                  <a:gs pos="0">
                    <a:srgbClr val="1077D2"/>
                  </a:gs>
                  <a:gs pos="100000">
                    <a:srgbClr val="093153"/>
                  </a:gs>
                </a:gsLst>
                <a:path path="circle">
                  <a:fillToRect l="100000" t="100000"/>
                </a:path>
                <a:tileRect r="-100000" b="-100000"/>
              </a:gradFill>
              <a:ln w="9525" cap="flat" cmpd="sng">
                <a:solidFill>
                  <a:srgbClr val="66666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22" name="Google Shape;66;p9">
                <a:extLst>
                  <a:ext uri="{FF2B5EF4-FFF2-40B4-BE49-F238E27FC236}">
                    <a16:creationId xmlns:a16="http://schemas.microsoft.com/office/drawing/2014/main" id="{1B38CD61-5233-4711-AC79-46EC42003331}"/>
                  </a:ext>
                </a:extLst>
              </p:cNvPr>
              <p:cNvSpPr/>
              <p:nvPr/>
            </p:nvSpPr>
            <p:spPr>
              <a:xfrm>
                <a:off x="4403098" y="3699124"/>
                <a:ext cx="368700" cy="293400"/>
              </a:xfrm>
              <a:custGeom>
                <a:avLst/>
                <a:gdLst/>
                <a:ahLst/>
                <a:cxnLst/>
                <a:rect l="l" t="t" r="r" b="b"/>
                <a:pathLst>
                  <a:path w="120000" h="120000" extrusionOk="0">
                    <a:moveTo>
                      <a:pt x="102439" y="59999"/>
                    </a:moveTo>
                    <a:cubicBezTo>
                      <a:pt x="102439" y="26938"/>
                      <a:pt x="86341" y="0"/>
                      <a:pt x="66585" y="0"/>
                    </a:cubicBezTo>
                    <a:cubicBezTo>
                      <a:pt x="47560" y="0"/>
                      <a:pt x="32926" y="23265"/>
                      <a:pt x="30731" y="53877"/>
                    </a:cubicBezTo>
                    <a:cubicBezTo>
                      <a:pt x="27804" y="51428"/>
                      <a:pt x="24146" y="50204"/>
                      <a:pt x="21219" y="50204"/>
                    </a:cubicBezTo>
                    <a:cubicBezTo>
                      <a:pt x="9512" y="50204"/>
                      <a:pt x="0" y="64897"/>
                      <a:pt x="0" y="84489"/>
                    </a:cubicBezTo>
                    <a:cubicBezTo>
                      <a:pt x="0" y="104081"/>
                      <a:pt x="9512" y="119999"/>
                      <a:pt x="21219" y="119999"/>
                    </a:cubicBezTo>
                    <a:cubicBezTo>
                      <a:pt x="102439" y="119999"/>
                      <a:pt x="102439" y="119999"/>
                      <a:pt x="102439" y="119999"/>
                    </a:cubicBezTo>
                    <a:cubicBezTo>
                      <a:pt x="111951" y="119999"/>
                      <a:pt x="120000" y="106530"/>
                      <a:pt x="120000" y="90612"/>
                    </a:cubicBezTo>
                    <a:cubicBezTo>
                      <a:pt x="120000" y="73469"/>
                      <a:pt x="111951" y="59999"/>
                      <a:pt x="102439" y="59999"/>
                    </a:cubicBezTo>
                    <a:close/>
                  </a:path>
                </a:pathLst>
              </a:custGeom>
              <a:solidFill>
                <a:srgbClr val="3D85C6"/>
              </a:solidFill>
              <a:ln w="9525" cap="flat" cmpd="sng">
                <a:solidFill>
                  <a:srgbClr val="000000"/>
                </a:solidFill>
                <a:prstDash val="solid"/>
                <a:round/>
                <a:headEnd type="none" w="sm" len="sm"/>
                <a:tailEnd type="none" w="sm" len="sm"/>
              </a:ln>
              <a:effectLst>
                <a:outerShdw blurRad="57150" dist="28575" dir="5400000" algn="bl" rotWithShape="0">
                  <a:srgbClr val="000000">
                    <a:alpha val="49803"/>
                  </a:srgbClr>
                </a:outerShdw>
              </a:effectLst>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grpSp>
            <p:nvGrpSpPr>
              <p:cNvPr id="23" name="Google Shape;67;p9">
                <a:extLst>
                  <a:ext uri="{FF2B5EF4-FFF2-40B4-BE49-F238E27FC236}">
                    <a16:creationId xmlns:a16="http://schemas.microsoft.com/office/drawing/2014/main" id="{05C9FFE1-A517-43F1-916D-70D580F75208}"/>
                  </a:ext>
                </a:extLst>
              </p:cNvPr>
              <p:cNvGrpSpPr/>
              <p:nvPr/>
            </p:nvGrpSpPr>
            <p:grpSpPr>
              <a:xfrm>
                <a:off x="3920363" y="3644695"/>
                <a:ext cx="263451" cy="430974"/>
                <a:chOff x="5362575" y="4343401"/>
                <a:chExt cx="388800" cy="496800"/>
              </a:xfrm>
            </p:grpSpPr>
            <p:sp>
              <p:nvSpPr>
                <p:cNvPr id="38" name="Google Shape;68;p9">
                  <a:extLst>
                    <a:ext uri="{FF2B5EF4-FFF2-40B4-BE49-F238E27FC236}">
                      <a16:creationId xmlns:a16="http://schemas.microsoft.com/office/drawing/2014/main" id="{BCEB518F-A633-4091-ADD7-83C73D88E528}"/>
                    </a:ext>
                  </a:extLst>
                </p:cNvPr>
                <p:cNvSpPr/>
                <p:nvPr/>
              </p:nvSpPr>
              <p:spPr>
                <a:xfrm>
                  <a:off x="5362575" y="4343401"/>
                  <a:ext cx="388800" cy="496800"/>
                </a:xfrm>
                <a:custGeom>
                  <a:avLst/>
                  <a:gdLst/>
                  <a:ahLst/>
                  <a:cxnLst/>
                  <a:rect l="l" t="t" r="r" b="b"/>
                  <a:pathLst>
                    <a:path w="120000" h="120000" extrusionOk="0">
                      <a:moveTo>
                        <a:pt x="100927" y="0"/>
                      </a:moveTo>
                      <a:cubicBezTo>
                        <a:pt x="19072" y="0"/>
                        <a:pt x="19072" y="0"/>
                        <a:pt x="19072" y="0"/>
                      </a:cubicBezTo>
                      <a:cubicBezTo>
                        <a:pt x="8741" y="0"/>
                        <a:pt x="0" y="6839"/>
                        <a:pt x="0" y="14922"/>
                      </a:cubicBezTo>
                      <a:cubicBezTo>
                        <a:pt x="0" y="105077"/>
                        <a:pt x="0" y="105077"/>
                        <a:pt x="0" y="105077"/>
                      </a:cubicBezTo>
                      <a:cubicBezTo>
                        <a:pt x="0" y="113160"/>
                        <a:pt x="8741" y="120000"/>
                        <a:pt x="19072" y="120000"/>
                      </a:cubicBezTo>
                      <a:cubicBezTo>
                        <a:pt x="100927" y="120000"/>
                        <a:pt x="100927" y="120000"/>
                        <a:pt x="100927" y="120000"/>
                      </a:cubicBezTo>
                      <a:cubicBezTo>
                        <a:pt x="111258" y="120000"/>
                        <a:pt x="120000" y="113160"/>
                        <a:pt x="120000" y="105077"/>
                      </a:cubicBezTo>
                      <a:cubicBezTo>
                        <a:pt x="120000" y="14922"/>
                        <a:pt x="120000" y="14922"/>
                        <a:pt x="120000" y="14922"/>
                      </a:cubicBezTo>
                      <a:cubicBezTo>
                        <a:pt x="120000" y="6839"/>
                        <a:pt x="111258" y="0"/>
                        <a:pt x="100927" y="0"/>
                      </a:cubicBezTo>
                      <a:close/>
                      <a:moveTo>
                        <a:pt x="105695" y="105077"/>
                      </a:moveTo>
                      <a:cubicBezTo>
                        <a:pt x="105695" y="106943"/>
                        <a:pt x="104105" y="108808"/>
                        <a:pt x="100927" y="108808"/>
                      </a:cubicBezTo>
                      <a:cubicBezTo>
                        <a:pt x="19072" y="108808"/>
                        <a:pt x="19072" y="108808"/>
                        <a:pt x="19072" y="108808"/>
                      </a:cubicBezTo>
                      <a:cubicBezTo>
                        <a:pt x="15894" y="108808"/>
                        <a:pt x="14304" y="106943"/>
                        <a:pt x="14304" y="105077"/>
                      </a:cubicBezTo>
                      <a:cubicBezTo>
                        <a:pt x="14304" y="14922"/>
                        <a:pt x="14304" y="14922"/>
                        <a:pt x="14304" y="14922"/>
                      </a:cubicBezTo>
                      <a:cubicBezTo>
                        <a:pt x="14304" y="13056"/>
                        <a:pt x="15894" y="11191"/>
                        <a:pt x="19072" y="11191"/>
                      </a:cubicBezTo>
                      <a:cubicBezTo>
                        <a:pt x="100927" y="11191"/>
                        <a:pt x="100927" y="11191"/>
                        <a:pt x="100927" y="11191"/>
                      </a:cubicBezTo>
                      <a:cubicBezTo>
                        <a:pt x="104105" y="11191"/>
                        <a:pt x="105695" y="13056"/>
                        <a:pt x="105695" y="14922"/>
                      </a:cubicBezTo>
                      <a:lnTo>
                        <a:pt x="105695" y="105077"/>
                      </a:lnTo>
                      <a:close/>
                    </a:path>
                  </a:pathLst>
                </a:custGeom>
                <a:solidFill>
                  <a:srgbClr val="E6B8AF"/>
                </a:solidFill>
                <a:ln w="9525" cap="flat" cmpd="sng">
                  <a:solidFill>
                    <a:srgbClr val="000000"/>
                  </a:solidFill>
                  <a:prstDash val="solid"/>
                  <a:round/>
                  <a:headEnd type="none" w="sm" len="sm"/>
                  <a:tailEnd type="none" w="sm" len="sm"/>
                </a:ln>
                <a:effectLst>
                  <a:outerShdw blurRad="57150" dist="28575" dir="5400000" algn="bl" rotWithShape="0">
                    <a:srgbClr val="000000">
                      <a:alpha val="49803"/>
                    </a:srgbClr>
                  </a:outerShdw>
                </a:effectLst>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39" name="Google Shape;69;p9">
                  <a:extLst>
                    <a:ext uri="{FF2B5EF4-FFF2-40B4-BE49-F238E27FC236}">
                      <a16:creationId xmlns:a16="http://schemas.microsoft.com/office/drawing/2014/main" id="{644F3EEA-7AB6-464F-AFDF-A25B00C8BF20}"/>
                    </a:ext>
                  </a:extLst>
                </p:cNvPr>
                <p:cNvSpPr/>
                <p:nvPr/>
              </p:nvSpPr>
              <p:spPr>
                <a:xfrm>
                  <a:off x="5449888" y="4441826"/>
                  <a:ext cx="157200" cy="45900"/>
                </a:xfrm>
                <a:prstGeom prst="rect">
                  <a:avLst/>
                </a:prstGeom>
                <a:solidFill>
                  <a:srgbClr val="E6B8AF"/>
                </a:solidFill>
                <a:ln w="9525" cap="flat" cmpd="sng">
                  <a:solidFill>
                    <a:srgbClr val="000000"/>
                  </a:solidFill>
                  <a:prstDash val="solid"/>
                  <a:round/>
                  <a:headEnd type="none" w="sm" len="sm"/>
                  <a:tailEnd type="none" w="sm" len="sm"/>
                </a:ln>
                <a:effectLst>
                  <a:outerShdw blurRad="57150" dist="28575" dir="5400000" algn="bl" rotWithShape="0">
                    <a:srgbClr val="000000">
                      <a:alpha val="49803"/>
                    </a:srgbClr>
                  </a:outerShdw>
                </a:effectLst>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40" name="Google Shape;70;p9">
                  <a:extLst>
                    <a:ext uri="{FF2B5EF4-FFF2-40B4-BE49-F238E27FC236}">
                      <a16:creationId xmlns:a16="http://schemas.microsoft.com/office/drawing/2014/main" id="{0D3EBBFB-C778-421D-A40C-DBCFBD425FFD}"/>
                    </a:ext>
                  </a:extLst>
                </p:cNvPr>
                <p:cNvSpPr/>
                <p:nvPr/>
              </p:nvSpPr>
              <p:spPr>
                <a:xfrm>
                  <a:off x="5449888" y="4525964"/>
                  <a:ext cx="214200" cy="47700"/>
                </a:xfrm>
                <a:prstGeom prst="rect">
                  <a:avLst/>
                </a:prstGeom>
                <a:solidFill>
                  <a:srgbClr val="E6B8AF"/>
                </a:solidFill>
                <a:ln w="9525" cap="flat" cmpd="sng">
                  <a:solidFill>
                    <a:srgbClr val="000000"/>
                  </a:solidFill>
                  <a:prstDash val="solid"/>
                  <a:round/>
                  <a:headEnd type="none" w="sm" len="sm"/>
                  <a:tailEnd type="none" w="sm" len="sm"/>
                </a:ln>
                <a:effectLst>
                  <a:outerShdw blurRad="57150" dist="28575" dir="5400000" algn="bl" rotWithShape="0">
                    <a:srgbClr val="000000">
                      <a:alpha val="49803"/>
                    </a:srgbClr>
                  </a:outerShdw>
                </a:effectLst>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41" name="Google Shape;71;p9">
                  <a:extLst>
                    <a:ext uri="{FF2B5EF4-FFF2-40B4-BE49-F238E27FC236}">
                      <a16:creationId xmlns:a16="http://schemas.microsoft.com/office/drawing/2014/main" id="{50480BDC-0026-4721-B4C0-5B9638B5694C}"/>
                    </a:ext>
                  </a:extLst>
                </p:cNvPr>
                <p:cNvSpPr/>
                <p:nvPr/>
              </p:nvSpPr>
              <p:spPr>
                <a:xfrm>
                  <a:off x="5449888" y="4601149"/>
                  <a:ext cx="214200" cy="45900"/>
                </a:xfrm>
                <a:prstGeom prst="rect">
                  <a:avLst/>
                </a:prstGeom>
                <a:solidFill>
                  <a:srgbClr val="E6B8AF"/>
                </a:solidFill>
                <a:ln w="9525" cap="flat" cmpd="sng">
                  <a:solidFill>
                    <a:srgbClr val="000000"/>
                  </a:solidFill>
                  <a:prstDash val="solid"/>
                  <a:round/>
                  <a:headEnd type="none" w="sm" len="sm"/>
                  <a:tailEnd type="none" w="sm" len="sm"/>
                </a:ln>
                <a:effectLst>
                  <a:outerShdw blurRad="57150" dist="28575" dir="5400000" algn="bl" rotWithShape="0">
                    <a:srgbClr val="000000">
                      <a:alpha val="49803"/>
                    </a:srgbClr>
                  </a:outerShdw>
                </a:effectLst>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grpSp>
          <p:sp>
            <p:nvSpPr>
              <p:cNvPr id="24" name="Google Shape;72;p9">
                <a:extLst>
                  <a:ext uri="{FF2B5EF4-FFF2-40B4-BE49-F238E27FC236}">
                    <a16:creationId xmlns:a16="http://schemas.microsoft.com/office/drawing/2014/main" id="{637155C4-5C2A-4A2A-83AC-3D4EA7002782}"/>
                  </a:ext>
                </a:extLst>
              </p:cNvPr>
              <p:cNvSpPr txBox="1"/>
              <p:nvPr/>
            </p:nvSpPr>
            <p:spPr>
              <a:xfrm>
                <a:off x="713326" y="1882673"/>
                <a:ext cx="2752993" cy="1735728"/>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400"/>
                  </a:spcBef>
                  <a:spcAft>
                    <a:spcPts val="0"/>
                  </a:spcAft>
                  <a:buNone/>
                </a:pPr>
                <a:r>
                  <a:rPr lang="en-US" sz="2000" b="1" i="0" u="none" strike="noStrike" cap="none">
                    <a:solidFill>
                      <a:schemeClr val="dk1"/>
                    </a:solidFill>
                    <a:latin typeface="Arial"/>
                    <a:ea typeface="Arial"/>
                    <a:cs typeface="Arial"/>
                    <a:sym typeface="Arial"/>
                  </a:rPr>
                  <a:t>Customize and curate methodologies</a:t>
                </a:r>
                <a:endParaRPr/>
              </a:p>
              <a:p>
                <a:pPr marL="236538" marR="0" lvl="0" indent="-223838" algn="l" rtl="0">
                  <a:lnSpc>
                    <a:spcPct val="90000"/>
                  </a:lnSpc>
                  <a:spcBef>
                    <a:spcPts val="400"/>
                  </a:spcBef>
                  <a:spcAft>
                    <a:spcPts val="0"/>
                  </a:spcAft>
                  <a:buClr>
                    <a:schemeClr val="dk1"/>
                  </a:buClr>
                  <a:buSzPts val="1400"/>
                  <a:buFont typeface="Arial"/>
                  <a:buChar char="●"/>
                </a:pPr>
                <a:r>
                  <a:rPr lang="en-US" sz="1600" b="0" i="0" u="none" strike="noStrike" cap="none">
                    <a:solidFill>
                      <a:schemeClr val="dk1"/>
                    </a:solidFill>
                    <a:latin typeface="Arial"/>
                    <a:ea typeface="Arial"/>
                    <a:cs typeface="Arial"/>
                    <a:sym typeface="Arial"/>
                  </a:rPr>
                  <a:t>Target scientific software        productivity and sustainability</a:t>
                </a:r>
                <a:endParaRPr sz="2400" b="0" i="0" u="none" strike="noStrike" cap="none">
                  <a:solidFill>
                    <a:schemeClr val="dk1"/>
                  </a:solidFill>
                  <a:latin typeface="Arial"/>
                  <a:ea typeface="Arial"/>
                  <a:cs typeface="Arial"/>
                  <a:sym typeface="Arial"/>
                </a:endParaRPr>
              </a:p>
              <a:p>
                <a:pPr marL="236538" marR="0" lvl="0" indent="-223838" algn="l" rtl="0">
                  <a:spcBef>
                    <a:spcPts val="0"/>
                  </a:spcBef>
                  <a:spcAft>
                    <a:spcPts val="0"/>
                  </a:spcAft>
                  <a:buClr>
                    <a:schemeClr val="dk1"/>
                  </a:buClr>
                  <a:buSzPts val="1400"/>
                  <a:buFont typeface="Arial"/>
                  <a:buChar char="●"/>
                </a:pPr>
                <a:r>
                  <a:rPr lang="en-US" sz="1600" b="0" i="0" u="none" strike="noStrike" cap="none">
                    <a:solidFill>
                      <a:schemeClr val="dk1"/>
                    </a:solidFill>
                    <a:latin typeface="Arial"/>
                    <a:ea typeface="Arial"/>
                    <a:cs typeface="Arial"/>
                    <a:sym typeface="Arial"/>
                  </a:rPr>
                  <a:t>Use workflow for best practices    content development</a:t>
                </a:r>
                <a:endParaRPr sz="2000" b="1" i="0" u="none" strike="noStrike" cap="none">
                  <a:solidFill>
                    <a:schemeClr val="dk1"/>
                  </a:solidFill>
                  <a:latin typeface="Arial"/>
                  <a:ea typeface="Arial"/>
                  <a:cs typeface="Arial"/>
                  <a:sym typeface="Arial"/>
                </a:endParaRPr>
              </a:p>
              <a:p>
                <a:pPr marL="0" marR="0" lvl="0" indent="0" algn="l" rtl="0">
                  <a:spcBef>
                    <a:spcPts val="0"/>
                  </a:spcBef>
                  <a:spcAft>
                    <a:spcPts val="0"/>
                  </a:spcAft>
                  <a:buClr>
                    <a:schemeClr val="dk1"/>
                  </a:buClr>
                  <a:buSzPts val="2400"/>
                  <a:buFont typeface="Arial"/>
                  <a:buNone/>
                </a:pPr>
                <a:endParaRPr sz="2400" b="1" i="0" u="none" strike="noStrike" cap="none">
                  <a:solidFill>
                    <a:schemeClr val="dk1"/>
                  </a:solidFill>
                  <a:latin typeface="Arial"/>
                  <a:ea typeface="Arial"/>
                  <a:cs typeface="Arial"/>
                  <a:sym typeface="Arial"/>
                </a:endParaRPr>
              </a:p>
            </p:txBody>
          </p:sp>
          <p:sp>
            <p:nvSpPr>
              <p:cNvPr id="25" name="Google Shape;73;p9">
                <a:extLst>
                  <a:ext uri="{FF2B5EF4-FFF2-40B4-BE49-F238E27FC236}">
                    <a16:creationId xmlns:a16="http://schemas.microsoft.com/office/drawing/2014/main" id="{DCE297F7-EEE8-48C2-B20D-FB06C4D2862F}"/>
                  </a:ext>
                </a:extLst>
              </p:cNvPr>
              <p:cNvSpPr txBox="1"/>
              <p:nvPr/>
            </p:nvSpPr>
            <p:spPr>
              <a:xfrm>
                <a:off x="623210" y="3517256"/>
                <a:ext cx="3415735" cy="1387681"/>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chemeClr val="dk1"/>
                  </a:buClr>
                  <a:buSzPts val="2000"/>
                  <a:buFont typeface="Arial"/>
                  <a:buNone/>
                </a:pPr>
                <a:r>
                  <a:rPr lang="en-US" sz="2000" b="1" i="0" u="none" strike="noStrike" cap="none" dirty="0">
                    <a:solidFill>
                      <a:schemeClr val="dk1"/>
                    </a:solidFill>
                    <a:latin typeface="Arial"/>
                    <a:ea typeface="Arial"/>
                    <a:cs typeface="Arial"/>
                    <a:sym typeface="Arial"/>
                  </a:rPr>
                  <a:t>Incrementally and iteratively     improve software practices</a:t>
                </a:r>
                <a:endParaRPr sz="2000" b="1" i="0" u="none" strike="noStrike" cap="none" dirty="0">
                  <a:solidFill>
                    <a:schemeClr val="dk1"/>
                  </a:solidFill>
                  <a:latin typeface="Arial"/>
                  <a:ea typeface="Arial"/>
                  <a:cs typeface="Arial"/>
                  <a:sym typeface="Arial"/>
                </a:endParaRPr>
              </a:p>
              <a:p>
                <a:pPr marL="287338" marR="0" lvl="0" indent="-219075" algn="l" rtl="0">
                  <a:spcBef>
                    <a:spcPts val="0"/>
                  </a:spcBef>
                  <a:spcAft>
                    <a:spcPts val="0"/>
                  </a:spcAft>
                  <a:buClr>
                    <a:schemeClr val="dk1"/>
                  </a:buClr>
                  <a:buSzPts val="1400"/>
                  <a:buFont typeface="Arial"/>
                  <a:buChar char="●"/>
                </a:pPr>
                <a:r>
                  <a:rPr lang="en-US" sz="1600" b="0" i="0" u="none" strike="noStrike" cap="none" dirty="0">
                    <a:solidFill>
                      <a:schemeClr val="dk1"/>
                    </a:solidFill>
                    <a:latin typeface="Arial"/>
                    <a:ea typeface="Arial"/>
                    <a:cs typeface="Arial"/>
                    <a:sym typeface="Arial"/>
                  </a:rPr>
                  <a:t>Determine high-priority topics for improvement and track progress</a:t>
                </a:r>
                <a:endParaRPr dirty="0"/>
              </a:p>
              <a:p>
                <a:pPr marL="287338" marR="0" lvl="0" indent="-219075" algn="l" rtl="0">
                  <a:spcBef>
                    <a:spcPts val="0"/>
                  </a:spcBef>
                  <a:spcAft>
                    <a:spcPts val="0"/>
                  </a:spcAft>
                  <a:buClr>
                    <a:schemeClr val="dk1"/>
                  </a:buClr>
                  <a:buSzPts val="1400"/>
                  <a:buFont typeface="Arial"/>
                  <a:buChar char="●"/>
                </a:pPr>
                <a:r>
                  <a:rPr lang="en-US" sz="1600" b="0" i="1" u="none" strike="noStrike" cap="none" dirty="0">
                    <a:solidFill>
                      <a:schemeClr val="dk1"/>
                    </a:solidFill>
                    <a:latin typeface="Arial"/>
                    <a:ea typeface="Arial"/>
                    <a:cs typeface="Arial"/>
                    <a:sym typeface="Arial"/>
                  </a:rPr>
                  <a:t>Productivity and Sustainability  Improvement Planning (PSIP) </a:t>
                </a:r>
                <a:endParaRPr dirty="0"/>
              </a:p>
            </p:txBody>
          </p:sp>
          <p:sp>
            <p:nvSpPr>
              <p:cNvPr id="26" name="Google Shape;74;p9">
                <a:extLst>
                  <a:ext uri="{FF2B5EF4-FFF2-40B4-BE49-F238E27FC236}">
                    <a16:creationId xmlns:a16="http://schemas.microsoft.com/office/drawing/2014/main" id="{CA8DE215-A9DF-46FA-9F30-8787EA9CC2CC}"/>
                  </a:ext>
                </a:extLst>
              </p:cNvPr>
              <p:cNvSpPr txBox="1"/>
              <p:nvPr/>
            </p:nvSpPr>
            <p:spPr>
              <a:xfrm>
                <a:off x="5331632" y="1704823"/>
                <a:ext cx="3681959" cy="1756176"/>
              </a:xfrm>
              <a:prstGeom prst="rect">
                <a:avLst/>
              </a:prstGeom>
              <a:noFill/>
              <a:ln>
                <a:noFill/>
              </a:ln>
            </p:spPr>
            <p:txBody>
              <a:bodyPr spcFirstLastPara="1" wrap="square" lIns="91425" tIns="91425" rIns="91425" bIns="91425" anchor="ctr" anchorCtr="0">
                <a:noAutofit/>
              </a:bodyPr>
              <a:lstStyle/>
              <a:p>
                <a:pPr marL="0" marR="0" lvl="0" indent="0" algn="l" rtl="0">
                  <a:lnSpc>
                    <a:spcPct val="90000"/>
                  </a:lnSpc>
                  <a:spcBef>
                    <a:spcPts val="400"/>
                  </a:spcBef>
                  <a:spcAft>
                    <a:spcPts val="0"/>
                  </a:spcAft>
                  <a:buClr>
                    <a:schemeClr val="dk1"/>
                  </a:buClr>
                  <a:buSzPts val="2000"/>
                  <a:buFont typeface="Arial"/>
                  <a:buNone/>
                </a:pPr>
                <a:r>
                  <a:rPr lang="en-US" sz="2000" b="1" i="0" u="none" strike="noStrike" cap="none">
                    <a:solidFill>
                      <a:schemeClr val="dk1"/>
                    </a:solidFill>
                    <a:latin typeface="Arial"/>
                    <a:ea typeface="Arial"/>
                    <a:cs typeface="Arial"/>
                    <a:sym typeface="Arial"/>
                  </a:rPr>
                  <a:t>      Establish software communities</a:t>
                </a:r>
                <a:endParaRPr sz="2000" b="1" i="0" u="none" strike="noStrike" cap="none">
                  <a:solidFill>
                    <a:schemeClr val="dk1"/>
                  </a:solidFill>
                  <a:latin typeface="Arial"/>
                  <a:ea typeface="Arial"/>
                  <a:cs typeface="Arial"/>
                  <a:sym typeface="Arial"/>
                </a:endParaRPr>
              </a:p>
              <a:p>
                <a:pPr marL="574675" marR="0" lvl="0" indent="-228600" algn="l" rtl="0">
                  <a:lnSpc>
                    <a:spcPct val="90000"/>
                  </a:lnSpc>
                  <a:spcBef>
                    <a:spcPts val="400"/>
                  </a:spcBef>
                  <a:spcAft>
                    <a:spcPts val="0"/>
                  </a:spcAft>
                  <a:buClr>
                    <a:schemeClr val="dk1"/>
                  </a:buClr>
                  <a:buSzPts val="1400"/>
                  <a:buFont typeface="Arial"/>
                  <a:buChar char="●"/>
                </a:pPr>
                <a:r>
                  <a:rPr lang="en-US" sz="1600" b="0" i="0" u="none" strike="noStrike" cap="none">
                    <a:solidFill>
                      <a:schemeClr val="dk1"/>
                    </a:solidFill>
                    <a:latin typeface="Arial"/>
                    <a:ea typeface="Arial"/>
                    <a:cs typeface="Arial"/>
                    <a:sym typeface="Arial"/>
                  </a:rPr>
                  <a:t>Determine community policies to improve software quality and compatibility</a:t>
                </a:r>
                <a:endParaRPr sz="2400" b="0" i="0" u="none" strike="noStrike" cap="none">
                  <a:solidFill>
                    <a:schemeClr val="dk1"/>
                  </a:solidFill>
                  <a:latin typeface="Arial"/>
                  <a:ea typeface="Arial"/>
                  <a:cs typeface="Arial"/>
                  <a:sym typeface="Arial"/>
                </a:endParaRPr>
              </a:p>
              <a:p>
                <a:pPr marL="574675" marR="0" lvl="0" indent="-228600" algn="l" rtl="0">
                  <a:lnSpc>
                    <a:spcPct val="100000"/>
                  </a:lnSpc>
                  <a:spcBef>
                    <a:spcPts val="0"/>
                  </a:spcBef>
                  <a:spcAft>
                    <a:spcPts val="0"/>
                  </a:spcAft>
                  <a:buClr>
                    <a:schemeClr val="dk1"/>
                  </a:buClr>
                  <a:buSzPts val="1400"/>
                  <a:buFont typeface="Arial"/>
                  <a:buChar char="●"/>
                </a:pPr>
                <a:r>
                  <a:rPr lang="en-US" sz="1600" b="0" i="0" u="none" strike="noStrike" cap="none">
                    <a:solidFill>
                      <a:schemeClr val="dk1"/>
                    </a:solidFill>
                    <a:latin typeface="Arial"/>
                    <a:ea typeface="Arial"/>
                    <a:cs typeface="Arial"/>
                    <a:sym typeface="Arial"/>
                  </a:rPr>
                  <a:t>Create Software Development Kits (SDKs)   to facilitate the combined use of complementary libraries and tools</a:t>
                </a:r>
                <a:endParaRPr sz="2000" b="1" i="0" u="none" strike="noStrike" cap="none">
                  <a:solidFill>
                    <a:schemeClr val="dk1"/>
                  </a:solidFill>
                  <a:latin typeface="Arial"/>
                  <a:ea typeface="Arial"/>
                  <a:cs typeface="Arial"/>
                  <a:sym typeface="Arial"/>
                </a:endParaRPr>
              </a:p>
            </p:txBody>
          </p:sp>
          <p:sp>
            <p:nvSpPr>
              <p:cNvPr id="27" name="Google Shape;75;p9">
                <a:extLst>
                  <a:ext uri="{FF2B5EF4-FFF2-40B4-BE49-F238E27FC236}">
                    <a16:creationId xmlns:a16="http://schemas.microsoft.com/office/drawing/2014/main" id="{25DBFD41-AD77-4263-9A70-9ECBD15E0019}"/>
                  </a:ext>
                </a:extLst>
              </p:cNvPr>
              <p:cNvSpPr txBox="1"/>
              <p:nvPr/>
            </p:nvSpPr>
            <p:spPr>
              <a:xfrm>
                <a:off x="4980962" y="3485624"/>
                <a:ext cx="4404762" cy="1657875"/>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400"/>
                  </a:spcBef>
                  <a:spcAft>
                    <a:spcPts val="0"/>
                  </a:spcAft>
                  <a:buClr>
                    <a:schemeClr val="dk1"/>
                  </a:buClr>
                  <a:buSzPts val="2400"/>
                  <a:buFont typeface="Arial"/>
                  <a:buNone/>
                </a:pPr>
                <a:r>
                  <a:rPr lang="en-US" sz="2400" b="1" i="0" u="none" strike="noStrike" cap="none" dirty="0">
                    <a:solidFill>
                      <a:schemeClr val="dk1"/>
                    </a:solidFill>
                    <a:latin typeface="Arial"/>
                    <a:ea typeface="Arial"/>
                    <a:cs typeface="Arial"/>
                    <a:sym typeface="Arial"/>
                  </a:rPr>
                  <a:t>       </a:t>
                </a:r>
                <a:r>
                  <a:rPr lang="en-US" sz="2000" b="1" i="0" u="none" strike="noStrike" cap="none" dirty="0">
                    <a:solidFill>
                      <a:schemeClr val="dk1"/>
                    </a:solidFill>
                    <a:latin typeface="Arial"/>
                    <a:ea typeface="Arial"/>
                    <a:cs typeface="Arial"/>
                    <a:sym typeface="Arial"/>
                  </a:rPr>
                  <a:t>Engage in community outreach</a:t>
                </a:r>
                <a:endParaRPr sz="2000" b="1" i="0" u="none" strike="noStrike" cap="none" dirty="0">
                  <a:solidFill>
                    <a:schemeClr val="dk1"/>
                  </a:solidFill>
                  <a:latin typeface="Arial"/>
                  <a:ea typeface="Arial"/>
                  <a:cs typeface="Arial"/>
                  <a:sym typeface="Arial"/>
                </a:endParaRPr>
              </a:p>
              <a:p>
                <a:pPr marL="692150" marR="0" lvl="0" indent="-233362" algn="l" rtl="0">
                  <a:spcBef>
                    <a:spcPts val="0"/>
                  </a:spcBef>
                  <a:spcAft>
                    <a:spcPts val="0"/>
                  </a:spcAft>
                  <a:buClr>
                    <a:schemeClr val="dk1"/>
                  </a:buClr>
                  <a:buSzPts val="1400"/>
                  <a:buFont typeface="Arial"/>
                  <a:buChar char="●"/>
                </a:pPr>
                <a:r>
                  <a:rPr lang="en-US" sz="1600" b="0" i="0" u="none" strike="noStrike" cap="none" dirty="0">
                    <a:solidFill>
                      <a:schemeClr val="dk1"/>
                    </a:solidFill>
                    <a:latin typeface="Arial"/>
                    <a:ea typeface="Arial"/>
                    <a:cs typeface="Arial"/>
                    <a:sym typeface="Arial"/>
                  </a:rPr>
                  <a:t>Broad community partnerships </a:t>
                </a:r>
                <a:endParaRPr dirty="0"/>
              </a:p>
              <a:p>
                <a:pPr marL="692150" marR="0" lvl="0" indent="-233362" algn="l" rtl="0">
                  <a:spcBef>
                    <a:spcPts val="0"/>
                  </a:spcBef>
                  <a:spcAft>
                    <a:spcPts val="0"/>
                  </a:spcAft>
                  <a:buClr>
                    <a:schemeClr val="dk1"/>
                  </a:buClr>
                  <a:buSzPts val="1400"/>
                  <a:buFont typeface="Arial"/>
                  <a:buChar char="●"/>
                </a:pPr>
                <a:r>
                  <a:rPr lang="en-US" sz="1600" b="0" i="0" u="none" strike="noStrike" cap="none" dirty="0">
                    <a:solidFill>
                      <a:schemeClr val="dk1"/>
                    </a:solidFill>
                    <a:latin typeface="Arial"/>
                    <a:ea typeface="Arial"/>
                    <a:cs typeface="Arial"/>
                    <a:sym typeface="Arial"/>
                  </a:rPr>
                  <a:t>Collaboration with computing facilities</a:t>
                </a:r>
                <a:endParaRPr sz="1600" b="0" i="0" u="none" strike="noStrike" cap="none" dirty="0">
                  <a:solidFill>
                    <a:schemeClr val="dk1"/>
                  </a:solidFill>
                  <a:latin typeface="Arial"/>
                  <a:ea typeface="Arial"/>
                  <a:cs typeface="Arial"/>
                  <a:sym typeface="Arial"/>
                </a:endParaRPr>
              </a:p>
              <a:p>
                <a:pPr marL="692150" marR="0" lvl="0" indent="-233362" algn="l" rtl="0">
                  <a:lnSpc>
                    <a:spcPct val="100000"/>
                  </a:lnSpc>
                  <a:spcBef>
                    <a:spcPts val="0"/>
                  </a:spcBef>
                  <a:spcAft>
                    <a:spcPts val="0"/>
                  </a:spcAft>
                  <a:buClr>
                    <a:schemeClr val="dk1"/>
                  </a:buClr>
                  <a:buSzPts val="1400"/>
                  <a:buFont typeface="Arial"/>
                  <a:buChar char="●"/>
                </a:pPr>
                <a:r>
                  <a:rPr lang="en-US" sz="1600" b="0" i="0" u="none" strike="noStrike" cap="none" dirty="0">
                    <a:solidFill>
                      <a:schemeClr val="dk1"/>
                    </a:solidFill>
                    <a:latin typeface="Arial"/>
                    <a:ea typeface="Arial"/>
                    <a:cs typeface="Arial"/>
                    <a:sym typeface="Arial"/>
                  </a:rPr>
                  <a:t>Webinars, tutorials, events</a:t>
                </a:r>
                <a:endParaRPr dirty="0"/>
              </a:p>
              <a:p>
                <a:pPr marL="692150" marR="0" lvl="0" indent="-233362" algn="l" rtl="0">
                  <a:lnSpc>
                    <a:spcPct val="100000"/>
                  </a:lnSpc>
                  <a:spcBef>
                    <a:spcPts val="0"/>
                  </a:spcBef>
                  <a:spcAft>
                    <a:spcPts val="0"/>
                  </a:spcAft>
                  <a:buClr>
                    <a:schemeClr val="dk1"/>
                  </a:buClr>
                  <a:buSzPts val="1400"/>
                  <a:buFont typeface="Arial"/>
                  <a:buChar char="●"/>
                </a:pPr>
                <a:r>
                  <a:rPr lang="en-US" sz="1600" b="0" i="1" u="none" strike="noStrike" cap="none" dirty="0" err="1">
                    <a:solidFill>
                      <a:schemeClr val="dk1"/>
                    </a:solidFill>
                    <a:latin typeface="Arial"/>
                    <a:ea typeface="Arial"/>
                    <a:cs typeface="Arial"/>
                    <a:sym typeface="Arial"/>
                  </a:rPr>
                  <a:t>WhatIs</a:t>
                </a:r>
                <a:r>
                  <a:rPr lang="en-US" sz="1600" b="0" i="0" u="none" strike="noStrike" cap="none" dirty="0">
                    <a:solidFill>
                      <a:schemeClr val="dk1"/>
                    </a:solidFill>
                    <a:latin typeface="Arial"/>
                    <a:ea typeface="Arial"/>
                    <a:cs typeface="Arial"/>
                    <a:sym typeface="Arial"/>
                  </a:rPr>
                  <a:t> and </a:t>
                </a:r>
                <a:r>
                  <a:rPr lang="en-US" sz="1600" b="0" i="1" u="none" strike="noStrike" cap="none" dirty="0" err="1">
                    <a:solidFill>
                      <a:schemeClr val="dk1"/>
                    </a:solidFill>
                    <a:latin typeface="Arial"/>
                    <a:ea typeface="Arial"/>
                    <a:cs typeface="Arial"/>
                    <a:sym typeface="Arial"/>
                  </a:rPr>
                  <a:t>HowTo</a:t>
                </a:r>
                <a:r>
                  <a:rPr lang="en-US" sz="1600" b="0" i="1" u="none" strike="noStrike" cap="none" dirty="0">
                    <a:solidFill>
                      <a:schemeClr val="dk1"/>
                    </a:solidFill>
                    <a:latin typeface="Arial"/>
                    <a:ea typeface="Arial"/>
                    <a:cs typeface="Arial"/>
                    <a:sym typeface="Arial"/>
                  </a:rPr>
                  <a:t> </a:t>
                </a:r>
                <a:r>
                  <a:rPr lang="en-US" sz="1600" b="0" i="0" u="none" strike="noStrike" cap="none" dirty="0">
                    <a:solidFill>
                      <a:schemeClr val="dk1"/>
                    </a:solidFill>
                    <a:latin typeface="Arial"/>
                    <a:ea typeface="Arial"/>
                    <a:cs typeface="Arial"/>
                    <a:sym typeface="Arial"/>
                  </a:rPr>
                  <a:t>docs</a:t>
                </a:r>
                <a:endParaRPr dirty="0"/>
              </a:p>
              <a:p>
                <a:pPr marL="692150" marR="0" lvl="0" indent="-233362" algn="l" rtl="0">
                  <a:lnSpc>
                    <a:spcPct val="100000"/>
                  </a:lnSpc>
                  <a:spcBef>
                    <a:spcPts val="0"/>
                  </a:spcBef>
                  <a:spcAft>
                    <a:spcPts val="0"/>
                  </a:spcAft>
                  <a:buClr>
                    <a:schemeClr val="dk1"/>
                  </a:buClr>
                  <a:buSzPts val="1400"/>
                  <a:buFont typeface="Arial"/>
                  <a:buChar char="●"/>
                </a:pPr>
                <a:r>
                  <a:rPr lang="en-US" sz="1600" b="0" i="0" u="none" strike="noStrike" cap="none" dirty="0">
                    <a:solidFill>
                      <a:schemeClr val="dk1"/>
                    </a:solidFill>
                    <a:latin typeface="Arial"/>
                    <a:ea typeface="Arial"/>
                    <a:cs typeface="Arial"/>
                    <a:sym typeface="Arial"/>
                  </a:rPr>
                  <a:t>Better Scientific Software site (</a:t>
                </a:r>
                <a:r>
                  <a:rPr lang="en-US" sz="1600" b="0" i="0" u="sng" strike="noStrike" cap="none" dirty="0">
                    <a:solidFill>
                      <a:srgbClr val="A03123"/>
                    </a:solidFill>
                    <a:latin typeface="Arial"/>
                    <a:ea typeface="Arial"/>
                    <a:cs typeface="Arial"/>
                    <a:sym typeface="Arial"/>
                    <a:hlinkClick r:id="rId2"/>
                  </a:rPr>
                  <a:t>https://bssw.io</a:t>
                </a:r>
                <a:r>
                  <a:rPr lang="en-US" sz="1600" b="0" i="0" u="none" strike="noStrike" cap="none" dirty="0">
                    <a:solidFill>
                      <a:schemeClr val="dk1"/>
                    </a:solidFill>
                    <a:latin typeface="Arial"/>
                    <a:ea typeface="Arial"/>
                    <a:cs typeface="Arial"/>
                    <a:sym typeface="Arial"/>
                  </a:rPr>
                  <a:t>)</a:t>
                </a:r>
                <a:endParaRPr dirty="0"/>
              </a:p>
            </p:txBody>
          </p:sp>
          <p:sp>
            <p:nvSpPr>
              <p:cNvPr id="28" name="Google Shape;76;p9">
                <a:extLst>
                  <a:ext uri="{FF2B5EF4-FFF2-40B4-BE49-F238E27FC236}">
                    <a16:creationId xmlns:a16="http://schemas.microsoft.com/office/drawing/2014/main" id="{D7CAEDC5-F6CF-4E0C-A87C-8496F3F04CBB}"/>
                  </a:ext>
                </a:extLst>
              </p:cNvPr>
              <p:cNvSpPr/>
              <p:nvPr/>
            </p:nvSpPr>
            <p:spPr>
              <a:xfrm flipH="1">
                <a:off x="4344800" y="1807379"/>
                <a:ext cx="1063800" cy="729600"/>
              </a:xfrm>
              <a:custGeom>
                <a:avLst/>
                <a:gdLst/>
                <a:ahLst/>
                <a:cxnLst/>
                <a:rect l="l" t="t" r="r" b="b"/>
                <a:pathLst>
                  <a:path w="120000" h="120000" extrusionOk="0">
                    <a:moveTo>
                      <a:pt x="120000" y="0"/>
                    </a:moveTo>
                    <a:cubicBezTo>
                      <a:pt x="120000" y="120000"/>
                      <a:pt x="120000" y="120000"/>
                      <a:pt x="120000" y="120000"/>
                    </a:cubicBezTo>
                    <a:cubicBezTo>
                      <a:pt x="0" y="120000"/>
                      <a:pt x="0" y="120000"/>
                      <a:pt x="0" y="120000"/>
                    </a:cubicBezTo>
                    <a:cubicBezTo>
                      <a:pt x="13056" y="53750"/>
                      <a:pt x="61761" y="3250"/>
                      <a:pt x="120000" y="0"/>
                    </a:cubicBezTo>
                    <a:close/>
                  </a:path>
                </a:pathLst>
              </a:custGeom>
              <a:gradFill>
                <a:gsLst>
                  <a:gs pos="0">
                    <a:srgbClr val="DCECD5"/>
                  </a:gs>
                  <a:gs pos="100000">
                    <a:srgbClr val="93BC81"/>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29" name="Google Shape;77;p9">
                <a:extLst>
                  <a:ext uri="{FF2B5EF4-FFF2-40B4-BE49-F238E27FC236}">
                    <a16:creationId xmlns:a16="http://schemas.microsoft.com/office/drawing/2014/main" id="{8DA9F7D6-524D-460C-9EE9-77EC25DC40DC}"/>
                  </a:ext>
                </a:extLst>
              </p:cNvPr>
              <p:cNvSpPr/>
              <p:nvPr/>
            </p:nvSpPr>
            <p:spPr>
              <a:xfrm flipH="1">
                <a:off x="4344800" y="2531025"/>
                <a:ext cx="1071450" cy="793200"/>
              </a:xfrm>
              <a:custGeom>
                <a:avLst/>
                <a:gdLst/>
                <a:ahLst/>
                <a:cxnLst/>
                <a:rect l="l" t="t" r="r" b="b"/>
                <a:pathLst>
                  <a:path w="120000" h="120000" extrusionOk="0">
                    <a:moveTo>
                      <a:pt x="120000" y="0"/>
                    </a:moveTo>
                    <a:cubicBezTo>
                      <a:pt x="120000" y="120000"/>
                      <a:pt x="120000" y="120000"/>
                      <a:pt x="120000" y="120000"/>
                    </a:cubicBezTo>
                    <a:cubicBezTo>
                      <a:pt x="36040" y="120000"/>
                      <a:pt x="36040" y="120000"/>
                      <a:pt x="36040" y="120000"/>
                    </a:cubicBezTo>
                    <a:cubicBezTo>
                      <a:pt x="36040" y="120000"/>
                      <a:pt x="36040" y="120000"/>
                      <a:pt x="36040" y="120000"/>
                    </a:cubicBezTo>
                    <a:cubicBezTo>
                      <a:pt x="14295" y="94809"/>
                      <a:pt x="805" y="60458"/>
                      <a:pt x="201" y="22671"/>
                    </a:cubicBezTo>
                    <a:cubicBezTo>
                      <a:pt x="0" y="15114"/>
                      <a:pt x="604" y="7328"/>
                      <a:pt x="1409" y="0"/>
                    </a:cubicBezTo>
                    <a:lnTo>
                      <a:pt x="120000" y="0"/>
                    </a:lnTo>
                    <a:close/>
                  </a:path>
                </a:pathLst>
              </a:custGeom>
              <a:gradFill>
                <a:gsLst>
                  <a:gs pos="0">
                    <a:srgbClr val="DCECD5"/>
                  </a:gs>
                  <a:gs pos="100000">
                    <a:srgbClr val="93BC81"/>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Calibri"/>
                  <a:ea typeface="Calibri"/>
                  <a:cs typeface="Calibri"/>
                  <a:sym typeface="Calibri"/>
                </a:endParaRPr>
              </a:p>
            </p:txBody>
          </p:sp>
          <p:cxnSp>
            <p:nvCxnSpPr>
              <p:cNvPr id="30" name="Google Shape;78;p9">
                <a:extLst>
                  <a:ext uri="{FF2B5EF4-FFF2-40B4-BE49-F238E27FC236}">
                    <a16:creationId xmlns:a16="http://schemas.microsoft.com/office/drawing/2014/main" id="{8D3B1520-64BC-4139-9B09-09AAFE1B1689}"/>
                  </a:ext>
                </a:extLst>
              </p:cNvPr>
              <p:cNvCxnSpPr/>
              <p:nvPr/>
            </p:nvCxnSpPr>
            <p:spPr>
              <a:xfrm>
                <a:off x="5383744" y="3412972"/>
                <a:ext cx="3419100" cy="1270"/>
              </a:xfrm>
              <a:prstGeom prst="straightConnector1">
                <a:avLst/>
              </a:prstGeom>
              <a:noFill/>
              <a:ln w="19050" cap="flat" cmpd="sng">
                <a:solidFill>
                  <a:schemeClr val="dk2"/>
                </a:solidFill>
                <a:prstDash val="solid"/>
                <a:round/>
                <a:headEnd type="none" w="sm" len="sm"/>
                <a:tailEnd type="none" w="sm" len="sm"/>
              </a:ln>
            </p:spPr>
          </p:cxnSp>
          <p:cxnSp>
            <p:nvCxnSpPr>
              <p:cNvPr id="31" name="Google Shape;79;p9">
                <a:extLst>
                  <a:ext uri="{FF2B5EF4-FFF2-40B4-BE49-F238E27FC236}">
                    <a16:creationId xmlns:a16="http://schemas.microsoft.com/office/drawing/2014/main" id="{720B098A-89CB-498B-A342-6048A12876BE}"/>
                  </a:ext>
                </a:extLst>
              </p:cNvPr>
              <p:cNvCxnSpPr/>
              <p:nvPr/>
            </p:nvCxnSpPr>
            <p:spPr>
              <a:xfrm>
                <a:off x="4723494" y="4887001"/>
                <a:ext cx="3930649" cy="0"/>
              </a:xfrm>
              <a:prstGeom prst="straightConnector1">
                <a:avLst/>
              </a:prstGeom>
              <a:noFill/>
              <a:ln w="19050" cap="flat" cmpd="sng">
                <a:solidFill>
                  <a:schemeClr val="dk2"/>
                </a:solidFill>
                <a:prstDash val="solid"/>
                <a:round/>
                <a:headEnd type="none" w="sm" len="sm"/>
                <a:tailEnd type="none" w="sm" len="sm"/>
              </a:ln>
            </p:spPr>
          </p:cxnSp>
          <p:cxnSp>
            <p:nvCxnSpPr>
              <p:cNvPr id="32" name="Google Shape;80;p9">
                <a:extLst>
                  <a:ext uri="{FF2B5EF4-FFF2-40B4-BE49-F238E27FC236}">
                    <a16:creationId xmlns:a16="http://schemas.microsoft.com/office/drawing/2014/main" id="{D75834CA-34FA-42CE-ABD5-DA0DC0938793}"/>
                  </a:ext>
                </a:extLst>
              </p:cNvPr>
              <p:cNvCxnSpPr/>
              <p:nvPr/>
            </p:nvCxnSpPr>
            <p:spPr>
              <a:xfrm>
                <a:off x="379633" y="3413607"/>
                <a:ext cx="2821871" cy="0"/>
              </a:xfrm>
              <a:prstGeom prst="straightConnector1">
                <a:avLst/>
              </a:prstGeom>
              <a:noFill/>
              <a:ln w="19050" cap="flat" cmpd="sng">
                <a:solidFill>
                  <a:schemeClr val="dk2"/>
                </a:solidFill>
                <a:prstDash val="solid"/>
                <a:round/>
                <a:headEnd type="none" w="sm" len="sm"/>
                <a:tailEnd type="none" w="sm" len="sm"/>
              </a:ln>
            </p:spPr>
          </p:cxnSp>
          <p:cxnSp>
            <p:nvCxnSpPr>
              <p:cNvPr id="33" name="Google Shape;81;p9">
                <a:extLst>
                  <a:ext uri="{FF2B5EF4-FFF2-40B4-BE49-F238E27FC236}">
                    <a16:creationId xmlns:a16="http://schemas.microsoft.com/office/drawing/2014/main" id="{E4895343-890B-40EA-90BB-A08B94660608}"/>
                  </a:ext>
                </a:extLst>
              </p:cNvPr>
              <p:cNvCxnSpPr/>
              <p:nvPr/>
            </p:nvCxnSpPr>
            <p:spPr>
              <a:xfrm>
                <a:off x="379633" y="4883864"/>
                <a:ext cx="3500404" cy="6275"/>
              </a:xfrm>
              <a:prstGeom prst="straightConnector1">
                <a:avLst/>
              </a:prstGeom>
              <a:noFill/>
              <a:ln w="19050" cap="flat" cmpd="sng">
                <a:solidFill>
                  <a:schemeClr val="dk2"/>
                </a:solidFill>
                <a:prstDash val="solid"/>
                <a:round/>
                <a:headEnd type="none" w="sm" len="sm"/>
                <a:tailEnd type="none" w="sm" len="sm"/>
              </a:ln>
            </p:spPr>
          </p:cxnSp>
          <p:sp>
            <p:nvSpPr>
              <p:cNvPr id="34" name="Google Shape;82;p9">
                <a:extLst>
                  <a:ext uri="{FF2B5EF4-FFF2-40B4-BE49-F238E27FC236}">
                    <a16:creationId xmlns:a16="http://schemas.microsoft.com/office/drawing/2014/main" id="{18611CA9-32ED-45DC-9609-38B8381D8D7D}"/>
                  </a:ext>
                </a:extLst>
              </p:cNvPr>
              <p:cNvSpPr/>
              <p:nvPr/>
            </p:nvSpPr>
            <p:spPr>
              <a:xfrm>
                <a:off x="397559" y="1986799"/>
                <a:ext cx="263400" cy="255000"/>
              </a:xfrm>
              <a:prstGeom prst="ellipse">
                <a:avLst/>
              </a:prstGeom>
              <a:gradFill>
                <a:gsLst>
                  <a:gs pos="0">
                    <a:srgbClr val="FFF6DB"/>
                  </a:gs>
                  <a:gs pos="100000">
                    <a:srgbClr val="FAD25C"/>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9525" marR="0" lvl="0" indent="0" algn="l" rtl="0">
                  <a:spcBef>
                    <a:spcPts val="0"/>
                  </a:spcBef>
                  <a:spcAft>
                    <a:spcPts val="0"/>
                  </a:spcAft>
                  <a:buClr>
                    <a:schemeClr val="dk1"/>
                  </a:buClr>
                  <a:buSzPts val="1600"/>
                  <a:buFont typeface="Arial"/>
                  <a:buNone/>
                </a:pPr>
                <a:r>
                  <a:rPr lang="en-US" sz="1600" b="1" i="0" u="none" strike="noStrike" cap="none">
                    <a:solidFill>
                      <a:schemeClr val="dk1"/>
                    </a:solidFill>
                    <a:latin typeface="Arial"/>
                    <a:ea typeface="Arial"/>
                    <a:cs typeface="Arial"/>
                    <a:sym typeface="Arial"/>
                  </a:rPr>
                  <a:t>1</a:t>
                </a:r>
                <a:endParaRPr sz="1600" b="1" i="0" u="none" strike="noStrike" cap="none">
                  <a:solidFill>
                    <a:schemeClr val="dk1"/>
                  </a:solidFill>
                  <a:latin typeface="Arial"/>
                  <a:ea typeface="Arial"/>
                  <a:cs typeface="Arial"/>
                  <a:sym typeface="Arial"/>
                </a:endParaRPr>
              </a:p>
            </p:txBody>
          </p:sp>
          <p:sp>
            <p:nvSpPr>
              <p:cNvPr id="35" name="Google Shape;83;p9">
                <a:extLst>
                  <a:ext uri="{FF2B5EF4-FFF2-40B4-BE49-F238E27FC236}">
                    <a16:creationId xmlns:a16="http://schemas.microsoft.com/office/drawing/2014/main" id="{2C24D25F-8447-4B42-8310-00C76F6EB773}"/>
                  </a:ext>
                </a:extLst>
              </p:cNvPr>
              <p:cNvSpPr/>
              <p:nvPr/>
            </p:nvSpPr>
            <p:spPr>
              <a:xfrm>
                <a:off x="350089" y="3600278"/>
                <a:ext cx="263400" cy="255000"/>
              </a:xfrm>
              <a:prstGeom prst="ellipse">
                <a:avLst/>
              </a:prstGeom>
              <a:gradFill>
                <a:gsLst>
                  <a:gs pos="0">
                    <a:srgbClr val="F5D0D0"/>
                  </a:gs>
                  <a:gs pos="100000">
                    <a:srgbClr val="D96868"/>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600"/>
                  <a:buFont typeface="Arial"/>
                  <a:buNone/>
                </a:pPr>
                <a:r>
                  <a:rPr lang="en-US" sz="1600" b="1" i="0" u="none" strike="noStrike" cap="none">
                    <a:solidFill>
                      <a:schemeClr val="dk1"/>
                    </a:solidFill>
                    <a:latin typeface="Arial"/>
                    <a:ea typeface="Arial"/>
                    <a:cs typeface="Arial"/>
                    <a:sym typeface="Arial"/>
                  </a:rPr>
                  <a:t>2</a:t>
                </a:r>
                <a:endParaRPr sz="1600" b="1" i="0" u="none" strike="noStrike" cap="none">
                  <a:solidFill>
                    <a:schemeClr val="dk1"/>
                  </a:solidFill>
                  <a:latin typeface="Arial"/>
                  <a:ea typeface="Arial"/>
                  <a:cs typeface="Arial"/>
                  <a:sym typeface="Arial"/>
                </a:endParaRPr>
              </a:p>
            </p:txBody>
          </p:sp>
          <p:sp>
            <p:nvSpPr>
              <p:cNvPr id="36" name="Google Shape;84;p9">
                <a:extLst>
                  <a:ext uri="{FF2B5EF4-FFF2-40B4-BE49-F238E27FC236}">
                    <a16:creationId xmlns:a16="http://schemas.microsoft.com/office/drawing/2014/main" id="{B1F891F8-F5F3-4A6F-818E-C81D0463E94E}"/>
                  </a:ext>
                </a:extLst>
              </p:cNvPr>
              <p:cNvSpPr/>
              <p:nvPr/>
            </p:nvSpPr>
            <p:spPr>
              <a:xfrm>
                <a:off x="5342743" y="1986799"/>
                <a:ext cx="263400" cy="255000"/>
              </a:xfrm>
              <a:prstGeom prst="ellipse">
                <a:avLst/>
              </a:prstGeom>
              <a:gradFill>
                <a:gsLst>
                  <a:gs pos="0">
                    <a:srgbClr val="DCECD5"/>
                  </a:gs>
                  <a:gs pos="100000">
                    <a:srgbClr val="93BC81"/>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600"/>
                  <a:buFont typeface="Arial"/>
                  <a:buNone/>
                </a:pPr>
                <a:r>
                  <a:rPr lang="en-US" sz="1600" b="1" i="0" u="none" strike="noStrike" cap="none">
                    <a:solidFill>
                      <a:schemeClr val="dk1"/>
                    </a:solidFill>
                    <a:latin typeface="Arial"/>
                    <a:ea typeface="Arial"/>
                    <a:cs typeface="Arial"/>
                    <a:sym typeface="Arial"/>
                  </a:rPr>
                  <a:t>3</a:t>
                </a:r>
                <a:endParaRPr sz="1600" b="1" i="0" u="none" strike="noStrike" cap="none">
                  <a:solidFill>
                    <a:schemeClr val="dk1"/>
                  </a:solidFill>
                  <a:latin typeface="Arial"/>
                  <a:ea typeface="Arial"/>
                  <a:cs typeface="Arial"/>
                  <a:sym typeface="Arial"/>
                </a:endParaRPr>
              </a:p>
            </p:txBody>
          </p:sp>
          <p:sp>
            <p:nvSpPr>
              <p:cNvPr id="37" name="Google Shape;85;p9">
                <a:extLst>
                  <a:ext uri="{FF2B5EF4-FFF2-40B4-BE49-F238E27FC236}">
                    <a16:creationId xmlns:a16="http://schemas.microsoft.com/office/drawing/2014/main" id="{5829F924-7306-49ED-926F-017D0F9F7F10}"/>
                  </a:ext>
                </a:extLst>
              </p:cNvPr>
              <p:cNvSpPr/>
              <p:nvPr/>
            </p:nvSpPr>
            <p:spPr>
              <a:xfrm>
                <a:off x="5030156" y="3613399"/>
                <a:ext cx="263400" cy="265869"/>
              </a:xfrm>
              <a:prstGeom prst="ellipse">
                <a:avLst/>
              </a:prstGeom>
              <a:gradFill>
                <a:gsLst>
                  <a:gs pos="0">
                    <a:srgbClr val="DFE9FB"/>
                  </a:gs>
                  <a:gs pos="100000">
                    <a:srgbClr val="6E9BE7"/>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100"/>
                  <a:buFont typeface="Arial"/>
                  <a:buNone/>
                </a:pPr>
                <a:r>
                  <a:rPr lang="en-US" sz="1600" b="1" i="0" u="none" strike="noStrike" cap="none">
                    <a:solidFill>
                      <a:schemeClr val="dk1"/>
                    </a:solidFill>
                    <a:latin typeface="Arial"/>
                    <a:ea typeface="Arial"/>
                    <a:cs typeface="Arial"/>
                    <a:sym typeface="Arial"/>
                  </a:rPr>
                  <a:t>4</a:t>
                </a:r>
                <a:endParaRPr sz="1600" b="1" i="0" u="none" strike="noStrike" cap="none">
                  <a:solidFill>
                    <a:schemeClr val="dk1"/>
                  </a:solidFill>
                  <a:latin typeface="Arial"/>
                  <a:ea typeface="Arial"/>
                  <a:cs typeface="Arial"/>
                  <a:sym typeface="Arial"/>
                </a:endParaRPr>
              </a:p>
            </p:txBody>
          </p:sp>
        </p:grpSp>
        <p:sp>
          <p:nvSpPr>
            <p:cNvPr id="6" name="Google Shape;86;p9">
              <a:extLst>
                <a:ext uri="{FF2B5EF4-FFF2-40B4-BE49-F238E27FC236}">
                  <a16:creationId xmlns:a16="http://schemas.microsoft.com/office/drawing/2014/main" id="{57BFD3E3-9154-4FF6-923B-7CCC479FDA28}"/>
                </a:ext>
              </a:extLst>
            </p:cNvPr>
            <p:cNvSpPr/>
            <p:nvPr/>
          </p:nvSpPr>
          <p:spPr>
            <a:xfrm>
              <a:off x="4940262" y="2485476"/>
              <a:ext cx="484500" cy="584700"/>
            </a:xfrm>
            <a:prstGeom prst="verticalScroll">
              <a:avLst>
                <a:gd name="adj" fmla="val 25000"/>
              </a:avLst>
            </a:prstGeom>
            <a:gradFill>
              <a:gsLst>
                <a:gs pos="0">
                  <a:srgbClr val="51AB2A"/>
                </a:gs>
                <a:gs pos="100000">
                  <a:srgbClr val="203E13"/>
                </a:gs>
              </a:gsLst>
              <a:lin ang="5400012" scaled="0"/>
            </a:gradFill>
            <a:ln w="19050" cap="flat" cmpd="sng">
              <a:solidFill>
                <a:srgbClr val="4C1130"/>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7" name="Google Shape;87;p9">
              <a:extLst>
                <a:ext uri="{FF2B5EF4-FFF2-40B4-BE49-F238E27FC236}">
                  <a16:creationId xmlns:a16="http://schemas.microsoft.com/office/drawing/2014/main" id="{B165E845-85BD-4214-B04E-E7F6D374BF47}"/>
                </a:ext>
              </a:extLst>
            </p:cNvPr>
            <p:cNvSpPr/>
            <p:nvPr/>
          </p:nvSpPr>
          <p:spPr>
            <a:xfrm>
              <a:off x="5092662" y="2714076"/>
              <a:ext cx="484500" cy="584700"/>
            </a:xfrm>
            <a:prstGeom prst="verticalScroll">
              <a:avLst>
                <a:gd name="adj" fmla="val 25000"/>
              </a:avLst>
            </a:prstGeom>
            <a:gradFill>
              <a:gsLst>
                <a:gs pos="0">
                  <a:srgbClr val="DB0000"/>
                </a:gs>
                <a:gs pos="100000">
                  <a:srgbClr val="540303"/>
                </a:gs>
              </a:gsLst>
              <a:lin ang="5400012" scaled="0"/>
            </a:gradFill>
            <a:ln w="19050" cap="flat" cmpd="sng">
              <a:solidFill>
                <a:srgbClr val="4C1130"/>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8" name="Google Shape;88;p9">
              <a:extLst>
                <a:ext uri="{FF2B5EF4-FFF2-40B4-BE49-F238E27FC236}">
                  <a16:creationId xmlns:a16="http://schemas.microsoft.com/office/drawing/2014/main" id="{CC9C3D10-C045-4E21-A1B4-5EFFA438CC5D}"/>
                </a:ext>
              </a:extLst>
            </p:cNvPr>
            <p:cNvSpPr/>
            <p:nvPr/>
          </p:nvSpPr>
          <p:spPr>
            <a:xfrm>
              <a:off x="5245062" y="2942676"/>
              <a:ext cx="484500" cy="584700"/>
            </a:xfrm>
            <a:prstGeom prst="verticalScroll">
              <a:avLst>
                <a:gd name="adj" fmla="val 25000"/>
              </a:avLst>
            </a:prstGeom>
            <a:gradFill>
              <a:gsLst>
                <a:gs pos="0">
                  <a:srgbClr val="DBD4EB"/>
                </a:gs>
                <a:gs pos="100000">
                  <a:srgbClr val="9180BB"/>
                </a:gs>
              </a:gsLst>
              <a:path path="circle">
                <a:fillToRect l="50000" t="50000" r="50000" b="50000"/>
              </a:path>
              <a:tileRect/>
            </a:gradFill>
            <a:ln w="19050" cap="flat" cmpd="sng">
              <a:solidFill>
                <a:srgbClr val="4C1130"/>
              </a:solidFill>
              <a:prstDash val="solid"/>
              <a:round/>
              <a:headEnd type="none" w="sm" len="sm"/>
              <a:tailEnd type="none" w="sm" len="sm"/>
            </a:ln>
            <a:effectLst>
              <a:outerShdw blurRad="57150" dist="47625" dir="5400000" algn="bl" rotWithShape="0">
                <a:srgbClr val="000000">
                  <a:alpha val="49803"/>
                </a:srgbClr>
              </a:outerShdw>
            </a:effectLst>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9" name="Google Shape;89;p9">
              <a:extLst>
                <a:ext uri="{FF2B5EF4-FFF2-40B4-BE49-F238E27FC236}">
                  <a16:creationId xmlns:a16="http://schemas.microsoft.com/office/drawing/2014/main" id="{A9237D9A-44C6-4E6D-B56F-1B35E009A137}"/>
                </a:ext>
              </a:extLst>
            </p:cNvPr>
            <p:cNvSpPr/>
            <p:nvPr/>
          </p:nvSpPr>
          <p:spPr>
            <a:xfrm>
              <a:off x="6240237" y="2776558"/>
              <a:ext cx="178843" cy="232527"/>
            </a:xfrm>
            <a:prstGeom prst="ellipse">
              <a:avLst/>
            </a:prstGeom>
            <a:solidFill>
              <a:srgbClr val="741B47"/>
            </a:solidFill>
            <a:ln w="9525" cap="flat" cmpd="sng">
              <a:solidFill>
                <a:srgbClr val="434343"/>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10" name="Google Shape;90;p9">
              <a:extLst>
                <a:ext uri="{FF2B5EF4-FFF2-40B4-BE49-F238E27FC236}">
                  <a16:creationId xmlns:a16="http://schemas.microsoft.com/office/drawing/2014/main" id="{8FCB0F79-37D2-4D4D-9336-EFD563DF080B}"/>
                </a:ext>
              </a:extLst>
            </p:cNvPr>
            <p:cNvSpPr/>
            <p:nvPr/>
          </p:nvSpPr>
          <p:spPr>
            <a:xfrm>
              <a:off x="6186051" y="3023625"/>
              <a:ext cx="284815" cy="90922"/>
            </a:xfrm>
            <a:custGeom>
              <a:avLst/>
              <a:gdLst/>
              <a:ahLst/>
              <a:cxnLst/>
              <a:rect l="l" t="t" r="r" b="b"/>
              <a:pathLst>
                <a:path w="120000" h="120000" extrusionOk="0">
                  <a:moveTo>
                    <a:pt x="91510" y="0"/>
                  </a:moveTo>
                  <a:cubicBezTo>
                    <a:pt x="29352" y="0"/>
                    <a:pt x="29352" y="0"/>
                    <a:pt x="29352" y="0"/>
                  </a:cubicBezTo>
                  <a:cubicBezTo>
                    <a:pt x="12949" y="0"/>
                    <a:pt x="0" y="56470"/>
                    <a:pt x="0" y="120000"/>
                  </a:cubicBezTo>
                  <a:cubicBezTo>
                    <a:pt x="0" y="120000"/>
                    <a:pt x="0" y="120000"/>
                    <a:pt x="0" y="120000"/>
                  </a:cubicBezTo>
                  <a:cubicBezTo>
                    <a:pt x="120000" y="120000"/>
                    <a:pt x="120000" y="120000"/>
                    <a:pt x="120000" y="120000"/>
                  </a:cubicBezTo>
                  <a:cubicBezTo>
                    <a:pt x="120000" y="120000"/>
                    <a:pt x="120000" y="120000"/>
                    <a:pt x="120000" y="120000"/>
                  </a:cubicBezTo>
                  <a:cubicBezTo>
                    <a:pt x="120000" y="56470"/>
                    <a:pt x="107050" y="0"/>
                    <a:pt x="91510" y="0"/>
                  </a:cubicBezTo>
                  <a:close/>
                </a:path>
              </a:pathLst>
            </a:custGeom>
            <a:solidFill>
              <a:srgbClr val="741B47"/>
            </a:solidFill>
            <a:ln w="9525" cap="flat" cmpd="sng">
              <a:solidFill>
                <a:srgbClr val="434343"/>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11" name="Google Shape;91;p9">
              <a:extLst>
                <a:ext uri="{FF2B5EF4-FFF2-40B4-BE49-F238E27FC236}">
                  <a16:creationId xmlns:a16="http://schemas.microsoft.com/office/drawing/2014/main" id="{FB830E14-17BA-4AEA-BC98-B2D06369C43A}"/>
                </a:ext>
              </a:extLst>
            </p:cNvPr>
            <p:cNvSpPr/>
            <p:nvPr/>
          </p:nvSpPr>
          <p:spPr>
            <a:xfrm>
              <a:off x="6519992" y="2891964"/>
              <a:ext cx="117165" cy="152663"/>
            </a:xfrm>
            <a:prstGeom prst="ellipse">
              <a:avLst/>
            </a:prstGeom>
            <a:solidFill>
              <a:srgbClr val="741B47"/>
            </a:solidFill>
            <a:ln w="9525" cap="flat" cmpd="sng">
              <a:solidFill>
                <a:srgbClr val="434343"/>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12" name="Google Shape;92;p9">
              <a:extLst>
                <a:ext uri="{FF2B5EF4-FFF2-40B4-BE49-F238E27FC236}">
                  <a16:creationId xmlns:a16="http://schemas.microsoft.com/office/drawing/2014/main" id="{5A1DA6FB-EE34-4F31-9D1B-972A7E85B7DE}"/>
                </a:ext>
              </a:extLst>
            </p:cNvPr>
            <p:cNvSpPr/>
            <p:nvPr/>
          </p:nvSpPr>
          <p:spPr>
            <a:xfrm>
              <a:off x="6484708" y="3056134"/>
              <a:ext cx="187654" cy="58669"/>
            </a:xfrm>
            <a:custGeom>
              <a:avLst/>
              <a:gdLst/>
              <a:ahLst/>
              <a:cxnLst/>
              <a:rect l="l" t="t" r="r" b="b"/>
              <a:pathLst>
                <a:path w="120000" h="120000" extrusionOk="0">
                  <a:moveTo>
                    <a:pt x="91304" y="0"/>
                  </a:moveTo>
                  <a:cubicBezTo>
                    <a:pt x="30000" y="0"/>
                    <a:pt x="30000" y="0"/>
                    <a:pt x="30000" y="0"/>
                  </a:cubicBezTo>
                  <a:cubicBezTo>
                    <a:pt x="13043" y="0"/>
                    <a:pt x="0" y="54545"/>
                    <a:pt x="0" y="120000"/>
                  </a:cubicBezTo>
                  <a:cubicBezTo>
                    <a:pt x="0" y="120000"/>
                    <a:pt x="0" y="120000"/>
                    <a:pt x="0" y="120000"/>
                  </a:cubicBezTo>
                  <a:cubicBezTo>
                    <a:pt x="120000" y="120000"/>
                    <a:pt x="120000" y="120000"/>
                    <a:pt x="120000" y="120000"/>
                  </a:cubicBezTo>
                  <a:cubicBezTo>
                    <a:pt x="120000" y="120000"/>
                    <a:pt x="120000" y="120000"/>
                    <a:pt x="120000" y="120000"/>
                  </a:cubicBezTo>
                  <a:cubicBezTo>
                    <a:pt x="120000" y="54545"/>
                    <a:pt x="106956" y="0"/>
                    <a:pt x="91304" y="0"/>
                  </a:cubicBezTo>
                  <a:close/>
                </a:path>
              </a:pathLst>
            </a:custGeom>
            <a:solidFill>
              <a:srgbClr val="741B47"/>
            </a:solidFill>
            <a:ln w="9525" cap="flat" cmpd="sng">
              <a:solidFill>
                <a:srgbClr val="434343"/>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13" name="Google Shape;93;p9">
              <a:extLst>
                <a:ext uri="{FF2B5EF4-FFF2-40B4-BE49-F238E27FC236}">
                  <a16:creationId xmlns:a16="http://schemas.microsoft.com/office/drawing/2014/main" id="{4D516059-9F4F-4819-A598-90746DC3BF2E}"/>
                </a:ext>
              </a:extLst>
            </p:cNvPr>
            <p:cNvSpPr/>
            <p:nvPr/>
          </p:nvSpPr>
          <p:spPr>
            <a:xfrm>
              <a:off x="6020970" y="2891964"/>
              <a:ext cx="118356" cy="152663"/>
            </a:xfrm>
            <a:prstGeom prst="ellipse">
              <a:avLst/>
            </a:prstGeom>
            <a:solidFill>
              <a:srgbClr val="741B47"/>
            </a:solidFill>
            <a:ln w="9525" cap="flat" cmpd="sng">
              <a:solidFill>
                <a:srgbClr val="434343"/>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sp>
          <p:nvSpPr>
            <p:cNvPr id="14" name="Google Shape;94;p9">
              <a:extLst>
                <a:ext uri="{FF2B5EF4-FFF2-40B4-BE49-F238E27FC236}">
                  <a16:creationId xmlns:a16="http://schemas.microsoft.com/office/drawing/2014/main" id="{56FB8A0F-FDD6-46F2-9C39-5EF247EF824F}"/>
                </a:ext>
              </a:extLst>
            </p:cNvPr>
            <p:cNvSpPr/>
            <p:nvPr/>
          </p:nvSpPr>
          <p:spPr>
            <a:xfrm>
              <a:off x="5986946" y="3056134"/>
              <a:ext cx="185273" cy="58669"/>
            </a:xfrm>
            <a:custGeom>
              <a:avLst/>
              <a:gdLst/>
              <a:ahLst/>
              <a:cxnLst/>
              <a:rect l="l" t="t" r="r" b="b"/>
              <a:pathLst>
                <a:path w="120000" h="120000" extrusionOk="0">
                  <a:moveTo>
                    <a:pt x="29010" y="0"/>
                  </a:moveTo>
                  <a:cubicBezTo>
                    <a:pt x="90989" y="0"/>
                    <a:pt x="90989" y="0"/>
                    <a:pt x="90989" y="0"/>
                  </a:cubicBezTo>
                  <a:cubicBezTo>
                    <a:pt x="106813" y="0"/>
                    <a:pt x="120000" y="54545"/>
                    <a:pt x="120000" y="120000"/>
                  </a:cubicBezTo>
                  <a:cubicBezTo>
                    <a:pt x="120000" y="120000"/>
                    <a:pt x="120000" y="120000"/>
                    <a:pt x="120000" y="120000"/>
                  </a:cubicBezTo>
                  <a:cubicBezTo>
                    <a:pt x="0" y="120000"/>
                    <a:pt x="0" y="120000"/>
                    <a:pt x="0" y="120000"/>
                  </a:cubicBezTo>
                  <a:cubicBezTo>
                    <a:pt x="0" y="120000"/>
                    <a:pt x="0" y="120000"/>
                    <a:pt x="0" y="120000"/>
                  </a:cubicBezTo>
                  <a:cubicBezTo>
                    <a:pt x="0" y="54545"/>
                    <a:pt x="13186" y="0"/>
                    <a:pt x="29010" y="0"/>
                  </a:cubicBezTo>
                  <a:close/>
                </a:path>
              </a:pathLst>
            </a:custGeom>
            <a:solidFill>
              <a:srgbClr val="741B47"/>
            </a:solidFill>
            <a:ln w="9525" cap="flat" cmpd="sng">
              <a:solidFill>
                <a:srgbClr val="434343"/>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400"/>
                <a:buFont typeface="Arial"/>
                <a:buNone/>
              </a:pPr>
              <a:endParaRPr sz="2400" b="0" i="0" u="none" strike="noStrike" cap="none">
                <a:solidFill>
                  <a:srgbClr val="000000"/>
                </a:solidFill>
                <a:latin typeface="Calibri"/>
                <a:ea typeface="Calibri"/>
                <a:cs typeface="Calibri"/>
                <a:sym typeface="Calibri"/>
              </a:endParaRPr>
            </a:p>
          </p:txBody>
        </p:sp>
      </p:grpSp>
      <p:sp>
        <p:nvSpPr>
          <p:cNvPr id="3" name="TextBox 2">
            <a:extLst>
              <a:ext uri="{FF2B5EF4-FFF2-40B4-BE49-F238E27FC236}">
                <a16:creationId xmlns:a16="http://schemas.microsoft.com/office/drawing/2014/main" id="{096DB8AF-6D3B-4E82-B743-EC4699B06900}"/>
              </a:ext>
            </a:extLst>
          </p:cNvPr>
          <p:cNvSpPr txBox="1"/>
          <p:nvPr/>
        </p:nvSpPr>
        <p:spPr>
          <a:xfrm>
            <a:off x="584894" y="6127076"/>
            <a:ext cx="4579986" cy="683264"/>
          </a:xfrm>
          <a:prstGeom prst="rect">
            <a:avLst/>
          </a:prstGeom>
          <a:noFill/>
        </p:spPr>
        <p:txBody>
          <a:bodyPr wrap="square" lIns="118872" tIns="91440" rIns="118872" bIns="91440" rtlCol="0" anchor="ctr" anchorCtr="0">
            <a:spAutoFit/>
          </a:bodyPr>
          <a:lstStyle/>
          <a:p>
            <a:pPr algn="l">
              <a:lnSpc>
                <a:spcPct val="90000"/>
              </a:lnSpc>
            </a:pPr>
            <a:r>
              <a:rPr lang="en-US" dirty="0">
                <a:solidFill>
                  <a:schemeClr val="tx2"/>
                </a:solidFill>
              </a:rPr>
              <a:t>For more about our work see this preprint: </a:t>
            </a:r>
            <a:r>
              <a:rPr lang="en-US" dirty="0">
                <a:hlinkClick r:id="rId3"/>
              </a:rPr>
              <a:t>https://doi.org/10.48550/arXiv.2311.02010</a:t>
            </a:r>
            <a:endParaRPr lang="en-US" dirty="0">
              <a:solidFill>
                <a:schemeClr val="tx2"/>
              </a:solidFill>
            </a:endParaRPr>
          </a:p>
        </p:txBody>
      </p:sp>
    </p:spTree>
    <p:extLst>
      <p:ext uri="{BB962C8B-B14F-4D97-AF65-F5344CB8AC3E}">
        <p14:creationId xmlns:p14="http://schemas.microsoft.com/office/powerpoint/2010/main" val="21050716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CB878-0734-4463-835E-51258994794F}"/>
              </a:ext>
            </a:extLst>
          </p:cNvPr>
          <p:cNvSpPr>
            <a:spLocks noGrp="1"/>
          </p:cNvSpPr>
          <p:nvPr>
            <p:ph type="title"/>
          </p:nvPr>
        </p:nvSpPr>
        <p:spPr/>
        <p:txBody>
          <a:bodyPr/>
          <a:lstStyle/>
          <a:p>
            <a:r>
              <a:rPr lang="en-US" dirty="0"/>
              <a:t>Follow IDEAS and </a:t>
            </a:r>
            <a:r>
              <a:rPr lang="en-US" dirty="0" err="1"/>
              <a:t>BSSw</a:t>
            </a:r>
            <a:endParaRPr lang="en-US" dirty="0"/>
          </a:p>
        </p:txBody>
      </p:sp>
      <p:sp>
        <p:nvSpPr>
          <p:cNvPr id="4" name="Content Placeholder 3">
            <a:extLst>
              <a:ext uri="{FF2B5EF4-FFF2-40B4-BE49-F238E27FC236}">
                <a16:creationId xmlns:a16="http://schemas.microsoft.com/office/drawing/2014/main" id="{AE2680D0-A841-4E56-972F-EBFB89AD4D33}"/>
              </a:ext>
            </a:extLst>
          </p:cNvPr>
          <p:cNvSpPr>
            <a:spLocks noGrp="1"/>
          </p:cNvSpPr>
          <p:nvPr>
            <p:ph idx="1"/>
          </p:nvPr>
        </p:nvSpPr>
        <p:spPr/>
        <p:txBody>
          <a:bodyPr/>
          <a:lstStyle/>
          <a:p>
            <a:r>
              <a:rPr lang="en-US" dirty="0"/>
              <a:t>IDEAS Productivity mailing list: </a:t>
            </a:r>
            <a:r>
              <a:rPr lang="en-US" dirty="0">
                <a:hlinkClick r:id="rId2"/>
              </a:rPr>
              <a:t>http://eepurl.com/cQCyJ5</a:t>
            </a:r>
            <a:endParaRPr lang="en-US" dirty="0"/>
          </a:p>
          <a:p>
            <a:pPr lvl="1"/>
            <a:r>
              <a:rPr lang="en-US" dirty="0"/>
              <a:t>Announcements of IDEAS-organized events</a:t>
            </a:r>
          </a:p>
          <a:p>
            <a:pPr lvl="2"/>
            <a:r>
              <a:rPr lang="en-US" dirty="0"/>
              <a:t>Best Practices for HPC Software Developers webinar series</a:t>
            </a:r>
          </a:p>
          <a:p>
            <a:pPr lvl="2"/>
            <a:r>
              <a:rPr lang="en-US" dirty="0"/>
              <a:t>Strategies for Working Remotely panel series</a:t>
            </a:r>
          </a:p>
          <a:p>
            <a:pPr lvl="2"/>
            <a:r>
              <a:rPr lang="en-US" dirty="0"/>
              <a:t>Software-focused events at major scientific meetings (e.g., SIAM, ISC, SC, etc.)</a:t>
            </a:r>
          </a:p>
          <a:p>
            <a:pPr lvl="1"/>
            <a:r>
              <a:rPr lang="en-US" dirty="0"/>
              <a:t>Typically 2-3 messages per month</a:t>
            </a:r>
          </a:p>
          <a:p>
            <a:pPr>
              <a:spcBef>
                <a:spcPts val="2400"/>
              </a:spcBef>
            </a:pPr>
            <a:r>
              <a:rPr lang="en-US" dirty="0" err="1"/>
              <a:t>BSSw</a:t>
            </a:r>
            <a:r>
              <a:rPr lang="en-US" dirty="0"/>
              <a:t> Digest: </a:t>
            </a:r>
            <a:r>
              <a:rPr lang="en-US" dirty="0">
                <a:hlinkClick r:id="rId3"/>
              </a:rPr>
              <a:t>https://bssw.io/pages/receive-our-email-digest</a:t>
            </a:r>
            <a:endParaRPr lang="en-US" dirty="0"/>
          </a:p>
          <a:p>
            <a:pPr lvl="1"/>
            <a:r>
              <a:rPr lang="en-US" dirty="0"/>
              <a:t>Updates on </a:t>
            </a:r>
            <a:r>
              <a:rPr lang="en-US" dirty="0" err="1"/>
              <a:t>BSSw</a:t>
            </a:r>
            <a:r>
              <a:rPr lang="en-US" dirty="0"/>
              <a:t> content</a:t>
            </a:r>
          </a:p>
          <a:p>
            <a:pPr lvl="2"/>
            <a:r>
              <a:rPr lang="en-US" dirty="0"/>
              <a:t>New blog posts, events, and resources</a:t>
            </a:r>
          </a:p>
          <a:p>
            <a:pPr lvl="2"/>
            <a:r>
              <a:rPr lang="en-US" dirty="0" err="1"/>
              <a:t>BSSw</a:t>
            </a:r>
            <a:r>
              <a:rPr lang="en-US" dirty="0"/>
              <a:t> Fellowship</a:t>
            </a:r>
          </a:p>
          <a:p>
            <a:pPr lvl="1"/>
            <a:r>
              <a:rPr lang="en-US" dirty="0"/>
              <a:t>Typically 1-2 messages per month</a:t>
            </a:r>
          </a:p>
          <a:p>
            <a:pPr lvl="1"/>
            <a:r>
              <a:rPr lang="en-US" dirty="0"/>
              <a:t>Also: RSS feed: </a:t>
            </a:r>
            <a:r>
              <a:rPr lang="en-US" dirty="0">
                <a:hlinkClick r:id="rId4"/>
              </a:rPr>
              <a:t>https://bssw.io/items.rss</a:t>
            </a:r>
            <a:endParaRPr lang="en-US" dirty="0"/>
          </a:p>
        </p:txBody>
      </p:sp>
      <p:pic>
        <p:nvPicPr>
          <p:cNvPr id="5" name="Picture 4" descr="Screen Shot 2017-01-21 at 6.45.35 PM.png">
            <a:extLst>
              <a:ext uri="{FF2B5EF4-FFF2-40B4-BE49-F238E27FC236}">
                <a16:creationId xmlns:a16="http://schemas.microsoft.com/office/drawing/2014/main" id="{DDAA8357-C3CA-4399-9F08-27998285347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204938" y="4462547"/>
            <a:ext cx="2109916" cy="905256"/>
          </a:xfrm>
          <a:prstGeom prst="rect">
            <a:avLst/>
          </a:prstGeom>
        </p:spPr>
      </p:pic>
      <p:pic>
        <p:nvPicPr>
          <p:cNvPr id="6" name="Picture 5" descr="IDEAS_logo.png">
            <a:extLst>
              <a:ext uri="{FF2B5EF4-FFF2-40B4-BE49-F238E27FC236}">
                <a16:creationId xmlns:a16="http://schemas.microsoft.com/office/drawing/2014/main" id="{08B06B33-62C4-499E-82D4-2CD7AD8844F9}"/>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9084892" y="2326640"/>
            <a:ext cx="2350008" cy="815135"/>
          </a:xfrm>
          <a:prstGeom prst="rect">
            <a:avLst/>
          </a:prstGeom>
        </p:spPr>
      </p:pic>
    </p:spTree>
    <p:extLst>
      <p:ext uri="{BB962C8B-B14F-4D97-AF65-F5344CB8AC3E}">
        <p14:creationId xmlns:p14="http://schemas.microsoft.com/office/powerpoint/2010/main" val="8275468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7CFF0-36AC-4BF3-96D2-C6F302144850}"/>
              </a:ext>
            </a:extLst>
          </p:cNvPr>
          <p:cNvSpPr>
            <a:spLocks noGrp="1"/>
          </p:cNvSpPr>
          <p:nvPr>
            <p:ph type="title"/>
          </p:nvPr>
        </p:nvSpPr>
        <p:spPr/>
        <p:txBody>
          <a:bodyPr/>
          <a:lstStyle/>
          <a:p>
            <a:r>
              <a:rPr lang="en-US" dirty="0"/>
              <a:t>We Want to Interact with You!</a:t>
            </a:r>
          </a:p>
        </p:txBody>
      </p:sp>
      <p:sp>
        <p:nvSpPr>
          <p:cNvPr id="3" name="Content Placeholder 2">
            <a:extLst>
              <a:ext uri="{FF2B5EF4-FFF2-40B4-BE49-F238E27FC236}">
                <a16:creationId xmlns:a16="http://schemas.microsoft.com/office/drawing/2014/main" id="{AEFD04A9-5547-4AC6-89F3-E6EEC039A00D}"/>
              </a:ext>
            </a:extLst>
          </p:cNvPr>
          <p:cNvSpPr>
            <a:spLocks noGrp="1"/>
          </p:cNvSpPr>
          <p:nvPr>
            <p:ph idx="1"/>
          </p:nvPr>
        </p:nvSpPr>
        <p:spPr>
          <a:xfrm>
            <a:off x="365760" y="919230"/>
            <a:ext cx="11369809" cy="4047778"/>
          </a:xfrm>
        </p:spPr>
        <p:txBody>
          <a:bodyPr/>
          <a:lstStyle/>
          <a:p>
            <a:pPr>
              <a:spcBef>
                <a:spcPts val="1800"/>
              </a:spcBef>
            </a:pPr>
            <a:r>
              <a:rPr lang="en-US" dirty="0"/>
              <a:t>We find these tutorials most interesting and informative (for everyone) if you ask questions and share experiences!</a:t>
            </a:r>
          </a:p>
          <a:p>
            <a:pPr lvl="1">
              <a:spcBef>
                <a:spcPts val="400"/>
              </a:spcBef>
            </a:pPr>
            <a:r>
              <a:rPr lang="en-US" dirty="0"/>
              <a:t>We learn too!</a:t>
            </a:r>
          </a:p>
          <a:p>
            <a:pPr>
              <a:spcBef>
                <a:spcPts val="1200"/>
              </a:spcBef>
            </a:pPr>
            <a:r>
              <a:rPr lang="en-US" dirty="0"/>
              <a:t>After the tutorial email us at </a:t>
            </a:r>
            <a:r>
              <a:rPr lang="en-US" dirty="0">
                <a:hlinkClick r:id="rId2"/>
              </a:rPr>
              <a:t>bssw-tutorial@lists.mcs.anl.gov</a:t>
            </a:r>
            <a:endParaRPr lang="en-US" dirty="0"/>
          </a:p>
          <a:p>
            <a:pPr lvl="1">
              <a:spcBef>
                <a:spcPts val="400"/>
              </a:spcBef>
            </a:pPr>
            <a:r>
              <a:rPr lang="en-US" dirty="0"/>
              <a:t>With questions or feedback</a:t>
            </a:r>
          </a:p>
          <a:p>
            <a:pPr lvl="1"/>
            <a:r>
              <a:rPr lang="en-US" dirty="0"/>
              <a:t>The list moderator will allow your messages to be posted</a:t>
            </a:r>
          </a:p>
          <a:p>
            <a:r>
              <a:rPr lang="en-US" dirty="0"/>
              <a:t>Refer to </a:t>
            </a:r>
            <a:r>
              <a:rPr lang="en-US" dirty="0">
                <a:hlinkClick r:id="rId3"/>
              </a:rPr>
              <a:t>bssw-tutorial.github.io</a:t>
            </a:r>
            <a:r>
              <a:rPr lang="en-US" dirty="0"/>
              <a:t> page for all tutorial materials</a:t>
            </a:r>
          </a:p>
        </p:txBody>
      </p:sp>
      <p:sp>
        <p:nvSpPr>
          <p:cNvPr id="6" name="TextBox 5">
            <a:extLst>
              <a:ext uri="{FF2B5EF4-FFF2-40B4-BE49-F238E27FC236}">
                <a16:creationId xmlns:a16="http://schemas.microsoft.com/office/drawing/2014/main" id="{FD775666-00EA-4946-A36B-827208F32092}"/>
              </a:ext>
            </a:extLst>
          </p:cNvPr>
          <p:cNvSpPr txBox="1"/>
          <p:nvPr/>
        </p:nvSpPr>
        <p:spPr>
          <a:xfrm>
            <a:off x="3361713" y="4043678"/>
            <a:ext cx="5465397" cy="1846659"/>
          </a:xfrm>
          <a:prstGeom prst="rect">
            <a:avLst/>
          </a:prstGeom>
          <a:solidFill>
            <a:srgbClr val="FFFF00"/>
          </a:solidFill>
          <a:ln>
            <a:solidFill>
              <a:schemeClr val="tx1"/>
            </a:solidFill>
          </a:ln>
        </p:spPr>
        <p:txBody>
          <a:bodyPr wrap="square" lIns="118872" tIns="91440" rIns="118872" bIns="91440" rtlCol="0" anchor="ctr" anchorCtr="0">
            <a:spAutoFit/>
          </a:bodyPr>
          <a:lstStyle/>
          <a:p>
            <a:pPr algn="ctr">
              <a:lnSpc>
                <a:spcPct val="90000"/>
              </a:lnSpc>
            </a:pPr>
            <a:r>
              <a:rPr lang="en-US" sz="2400" dirty="0"/>
              <a:t>You may also be interested in these other software-related events at SC23: </a:t>
            </a:r>
            <a:r>
              <a:rPr lang="en-US" sz="2400" dirty="0">
                <a:hlinkClick r:id="rId4"/>
              </a:rPr>
              <a:t>https://bssw.io/events/sc23-software-related-events</a:t>
            </a:r>
            <a:br>
              <a:rPr lang="en-US" sz="2400" dirty="0"/>
            </a:br>
            <a:r>
              <a:rPr lang="en-US" dirty="0"/>
              <a:t>(link is also on tutorial web page)</a:t>
            </a:r>
            <a:endParaRPr lang="en-US" sz="2400" dirty="0"/>
          </a:p>
        </p:txBody>
      </p:sp>
      <p:sp>
        <p:nvSpPr>
          <p:cNvPr id="4" name="TextBox 3">
            <a:extLst>
              <a:ext uri="{FF2B5EF4-FFF2-40B4-BE49-F238E27FC236}">
                <a16:creationId xmlns:a16="http://schemas.microsoft.com/office/drawing/2014/main" id="{79D70046-4B32-AB4C-9233-EE33E9C7A345}"/>
              </a:ext>
            </a:extLst>
          </p:cNvPr>
          <p:cNvSpPr txBox="1"/>
          <p:nvPr/>
        </p:nvSpPr>
        <p:spPr>
          <a:xfrm rot="18900000">
            <a:off x="2675323" y="3152802"/>
            <a:ext cx="6374758" cy="849463"/>
          </a:xfrm>
          <a:prstGeom prst="rect">
            <a:avLst/>
          </a:prstGeom>
          <a:noFill/>
        </p:spPr>
        <p:txBody>
          <a:bodyPr wrap="none" lIns="118872" tIns="91440" rIns="118872" bIns="91440" rtlCol="0" anchor="ctr" anchorCtr="0">
            <a:spAutoFit/>
          </a:bodyPr>
          <a:lstStyle/>
          <a:p>
            <a:pPr algn="l">
              <a:lnSpc>
                <a:spcPct val="90000"/>
              </a:lnSpc>
            </a:pPr>
            <a:r>
              <a:rPr lang="en-US" sz="4800" dirty="0">
                <a:solidFill>
                  <a:srgbClr val="FF0000"/>
                </a:solidFill>
              </a:rPr>
              <a:t>Point to related events</a:t>
            </a:r>
          </a:p>
        </p:txBody>
      </p:sp>
    </p:spTree>
    <p:extLst>
      <p:ext uri="{BB962C8B-B14F-4D97-AF65-F5344CB8AC3E}">
        <p14:creationId xmlns:p14="http://schemas.microsoft.com/office/powerpoint/2010/main" val="39090845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012BA-8349-4F63-995A-190570787086}"/>
              </a:ext>
            </a:extLst>
          </p:cNvPr>
          <p:cNvSpPr>
            <a:spLocks noGrp="1"/>
          </p:cNvSpPr>
          <p:nvPr>
            <p:ph type="title"/>
          </p:nvPr>
        </p:nvSpPr>
        <p:spPr/>
        <p:txBody>
          <a:bodyPr/>
          <a:lstStyle/>
          <a:p>
            <a:r>
              <a:rPr lang="en-US" dirty="0"/>
              <a:t>Hands-On Activities</a:t>
            </a:r>
          </a:p>
        </p:txBody>
      </p:sp>
      <p:sp>
        <p:nvSpPr>
          <p:cNvPr id="3" name="Content Placeholder 2">
            <a:extLst>
              <a:ext uri="{FF2B5EF4-FFF2-40B4-BE49-F238E27FC236}">
                <a16:creationId xmlns:a16="http://schemas.microsoft.com/office/drawing/2014/main" id="{0F20C93A-8687-4A10-A3FB-77446A44FBAB}"/>
              </a:ext>
            </a:extLst>
          </p:cNvPr>
          <p:cNvSpPr>
            <a:spLocks noGrp="1"/>
          </p:cNvSpPr>
          <p:nvPr>
            <p:ph idx="1"/>
          </p:nvPr>
        </p:nvSpPr>
        <p:spPr>
          <a:xfrm>
            <a:off x="365761" y="1012149"/>
            <a:ext cx="6211614" cy="4047778"/>
          </a:xfrm>
        </p:spPr>
        <p:txBody>
          <a:bodyPr/>
          <a:lstStyle/>
          <a:p>
            <a:pPr marL="0" indent="0">
              <a:buNone/>
            </a:pPr>
            <a:r>
              <a:rPr lang="en-US" dirty="0"/>
              <a:t>We have created a simple example to give you some (optional) hands-on experience with some of the concepts in this tutorial</a:t>
            </a:r>
          </a:p>
          <a:p>
            <a:pPr>
              <a:spcBef>
                <a:spcPts val="800"/>
              </a:spcBef>
            </a:pPr>
            <a:r>
              <a:rPr lang="en-US" sz="2000" dirty="0"/>
              <a:t>You don’t need to understand the math/physics to do the exercises, or find them useful</a:t>
            </a:r>
          </a:p>
          <a:p>
            <a:pPr marL="0" indent="0">
              <a:spcBef>
                <a:spcPts val="3600"/>
              </a:spcBef>
              <a:buNone/>
            </a:pPr>
            <a:r>
              <a:rPr lang="en-US" dirty="0"/>
              <a:t>We do not have time in the agenda for the hands-on activities, but feel free to work on them outside of the tutorial.  We’ll give feedback on pull requests and issues filed (or email us, see next slide).</a:t>
            </a:r>
          </a:p>
          <a:p>
            <a:pPr marL="0" indent="0">
              <a:spcBef>
                <a:spcPts val="3600"/>
              </a:spcBef>
              <a:buNone/>
            </a:pPr>
            <a:r>
              <a:rPr lang="en-US" b="1" dirty="0"/>
              <a:t>Instructions on the tutorial web site: </a:t>
            </a:r>
            <a:r>
              <a:rPr lang="en-US" sz="2400" b="1" dirty="0">
                <a:hlinkClick r:id="rId3"/>
              </a:rPr>
              <a:t>https://bssw-tutorial.github.io/</a:t>
            </a:r>
            <a:br>
              <a:rPr lang="en-US" sz="2400" b="1" dirty="0"/>
            </a:br>
            <a:r>
              <a:rPr lang="en-US" sz="2400" dirty="0"/>
              <a:t>and click the link for today’s tutorial</a:t>
            </a:r>
            <a:endParaRPr lang="en-US" sz="2800" dirty="0"/>
          </a:p>
        </p:txBody>
      </p:sp>
      <p:pic>
        <p:nvPicPr>
          <p:cNvPr id="4" name="Picture 3">
            <a:extLst>
              <a:ext uri="{FF2B5EF4-FFF2-40B4-BE49-F238E27FC236}">
                <a16:creationId xmlns:a16="http://schemas.microsoft.com/office/drawing/2014/main" id="{B9D05DF5-DD70-4892-B1EC-CCD1C9DC6DD4}"/>
              </a:ext>
            </a:extLst>
          </p:cNvPr>
          <p:cNvPicPr>
            <a:picLocks noChangeAspect="1"/>
          </p:cNvPicPr>
          <p:nvPr/>
        </p:nvPicPr>
        <p:blipFill rotWithShape="1">
          <a:blip r:embed="rId4"/>
          <a:srcRect l="8639" t="17307" r="21360" b="13562"/>
          <a:stretch/>
        </p:blipFill>
        <p:spPr>
          <a:xfrm>
            <a:off x="6728716" y="1146154"/>
            <a:ext cx="5120640" cy="2863018"/>
          </a:xfrm>
          <a:prstGeom prst="rect">
            <a:avLst/>
          </a:prstGeom>
        </p:spPr>
      </p:pic>
      <p:sp>
        <p:nvSpPr>
          <p:cNvPr id="5" name="TextBox 4">
            <a:extLst>
              <a:ext uri="{FF2B5EF4-FFF2-40B4-BE49-F238E27FC236}">
                <a16:creationId xmlns:a16="http://schemas.microsoft.com/office/drawing/2014/main" id="{DC3C220F-2CE9-911B-F7C4-28521029ABFC}"/>
              </a:ext>
            </a:extLst>
          </p:cNvPr>
          <p:cNvSpPr txBox="1"/>
          <p:nvPr/>
        </p:nvSpPr>
        <p:spPr>
          <a:xfrm rot="18900000">
            <a:off x="1699098" y="3152802"/>
            <a:ext cx="8327216" cy="849463"/>
          </a:xfrm>
          <a:prstGeom prst="rect">
            <a:avLst/>
          </a:prstGeom>
          <a:noFill/>
        </p:spPr>
        <p:txBody>
          <a:bodyPr wrap="none" lIns="118872" tIns="91440" rIns="118872" bIns="91440" rtlCol="0" anchor="ctr" anchorCtr="0">
            <a:spAutoFit/>
          </a:bodyPr>
          <a:lstStyle/>
          <a:p>
            <a:pPr algn="l">
              <a:lnSpc>
                <a:spcPct val="90000"/>
              </a:lnSpc>
            </a:pPr>
            <a:r>
              <a:rPr lang="en-US" sz="4800" dirty="0">
                <a:solidFill>
                  <a:srgbClr val="FF0000"/>
                </a:solidFill>
              </a:rPr>
              <a:t>Do hand-on on your own time</a:t>
            </a:r>
          </a:p>
        </p:txBody>
      </p:sp>
    </p:spTree>
    <p:extLst>
      <p:ext uri="{BB962C8B-B14F-4D97-AF65-F5344CB8AC3E}">
        <p14:creationId xmlns:p14="http://schemas.microsoft.com/office/powerpoint/2010/main" val="21876681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012BA-8349-4F63-995A-190570787086}"/>
              </a:ext>
            </a:extLst>
          </p:cNvPr>
          <p:cNvSpPr>
            <a:spLocks noGrp="1"/>
          </p:cNvSpPr>
          <p:nvPr>
            <p:ph type="title"/>
          </p:nvPr>
        </p:nvSpPr>
        <p:spPr/>
        <p:txBody>
          <a:bodyPr/>
          <a:lstStyle/>
          <a:p>
            <a:r>
              <a:rPr lang="en-US" dirty="0"/>
              <a:t>Hands-On Activities</a:t>
            </a:r>
          </a:p>
        </p:txBody>
      </p:sp>
      <p:sp>
        <p:nvSpPr>
          <p:cNvPr id="3" name="Content Placeholder 2">
            <a:extLst>
              <a:ext uri="{FF2B5EF4-FFF2-40B4-BE49-F238E27FC236}">
                <a16:creationId xmlns:a16="http://schemas.microsoft.com/office/drawing/2014/main" id="{0F20C93A-8687-4A10-A3FB-77446A44FBAB}"/>
              </a:ext>
            </a:extLst>
          </p:cNvPr>
          <p:cNvSpPr>
            <a:spLocks noGrp="1"/>
          </p:cNvSpPr>
          <p:nvPr>
            <p:ph idx="1"/>
          </p:nvPr>
        </p:nvSpPr>
        <p:spPr>
          <a:xfrm>
            <a:off x="365761" y="1012149"/>
            <a:ext cx="6211614" cy="4047778"/>
          </a:xfrm>
        </p:spPr>
        <p:txBody>
          <a:bodyPr/>
          <a:lstStyle/>
          <a:p>
            <a:pPr marL="0" indent="0">
              <a:buNone/>
            </a:pPr>
            <a:r>
              <a:rPr lang="en-US" dirty="0"/>
              <a:t>We have created a simple example to give you some (optional) hands-on experience with some of the concepts in this tutorial</a:t>
            </a:r>
          </a:p>
          <a:p>
            <a:pPr>
              <a:spcBef>
                <a:spcPts val="400"/>
              </a:spcBef>
            </a:pPr>
            <a:r>
              <a:rPr lang="en-US" sz="2000" dirty="0"/>
              <a:t>You don’t need to understand the math/physics to do the exercises, or to find them useful</a:t>
            </a:r>
          </a:p>
          <a:p>
            <a:pPr marL="0" indent="0">
              <a:spcBef>
                <a:spcPts val="2400"/>
              </a:spcBef>
              <a:buNone/>
            </a:pPr>
            <a:r>
              <a:rPr lang="en-US" dirty="0"/>
              <a:t>We have some time in the agenda for the hands-on activities</a:t>
            </a:r>
          </a:p>
          <a:p>
            <a:pPr>
              <a:spcBef>
                <a:spcPts val="400"/>
              </a:spcBef>
            </a:pPr>
            <a:r>
              <a:rPr lang="en-US" sz="2000" dirty="0"/>
              <a:t>But feel free to start early (i.e. during breaks) and continue after the tutorial</a:t>
            </a:r>
          </a:p>
          <a:p>
            <a:pPr>
              <a:spcBef>
                <a:spcPts val="400"/>
              </a:spcBef>
            </a:pPr>
            <a:r>
              <a:rPr lang="en-US" sz="2000" dirty="0"/>
              <a:t>We’ll give feedback on pull requests and issues filed (or email us, see next slide).</a:t>
            </a:r>
          </a:p>
          <a:p>
            <a:pPr marL="0" indent="0">
              <a:spcBef>
                <a:spcPts val="2400"/>
              </a:spcBef>
              <a:buNone/>
            </a:pPr>
            <a:r>
              <a:rPr lang="en-US" b="1" dirty="0"/>
              <a:t>Instructions on the tutorial web site: </a:t>
            </a:r>
            <a:r>
              <a:rPr lang="en-US" sz="2400" b="1" dirty="0">
                <a:hlinkClick r:id="rId2"/>
              </a:rPr>
              <a:t>https://bssw-tutorial.github.io/</a:t>
            </a:r>
            <a:br>
              <a:rPr lang="en-US" sz="2400" b="1" dirty="0"/>
            </a:br>
            <a:r>
              <a:rPr lang="en-US" sz="2400" dirty="0"/>
              <a:t>and click the link for today’s tutorial</a:t>
            </a:r>
            <a:endParaRPr lang="en-US" sz="2800" dirty="0"/>
          </a:p>
        </p:txBody>
      </p:sp>
      <p:pic>
        <p:nvPicPr>
          <p:cNvPr id="4" name="Picture 3">
            <a:extLst>
              <a:ext uri="{FF2B5EF4-FFF2-40B4-BE49-F238E27FC236}">
                <a16:creationId xmlns:a16="http://schemas.microsoft.com/office/drawing/2014/main" id="{B9D05DF5-DD70-4892-B1EC-CCD1C9DC6DD4}"/>
              </a:ext>
            </a:extLst>
          </p:cNvPr>
          <p:cNvPicPr>
            <a:picLocks noChangeAspect="1"/>
          </p:cNvPicPr>
          <p:nvPr/>
        </p:nvPicPr>
        <p:blipFill rotWithShape="1">
          <a:blip r:embed="rId3"/>
          <a:srcRect l="8639" t="17307" r="21360" b="13562"/>
          <a:stretch/>
        </p:blipFill>
        <p:spPr>
          <a:xfrm>
            <a:off x="6728716" y="1146154"/>
            <a:ext cx="5120640" cy="2863018"/>
          </a:xfrm>
          <a:prstGeom prst="rect">
            <a:avLst/>
          </a:prstGeom>
        </p:spPr>
      </p:pic>
      <p:sp>
        <p:nvSpPr>
          <p:cNvPr id="5" name="TextBox 4">
            <a:extLst>
              <a:ext uri="{FF2B5EF4-FFF2-40B4-BE49-F238E27FC236}">
                <a16:creationId xmlns:a16="http://schemas.microsoft.com/office/drawing/2014/main" id="{01DEB82D-7093-9691-EB16-784AECF45FFB}"/>
              </a:ext>
            </a:extLst>
          </p:cNvPr>
          <p:cNvSpPr txBox="1"/>
          <p:nvPr/>
        </p:nvSpPr>
        <p:spPr>
          <a:xfrm rot="18900000">
            <a:off x="1785650" y="3152802"/>
            <a:ext cx="8154092" cy="849463"/>
          </a:xfrm>
          <a:prstGeom prst="rect">
            <a:avLst/>
          </a:prstGeom>
          <a:noFill/>
        </p:spPr>
        <p:txBody>
          <a:bodyPr wrap="none" lIns="118872" tIns="91440" rIns="118872" bIns="91440" rtlCol="0" anchor="ctr" anchorCtr="0">
            <a:spAutoFit/>
          </a:bodyPr>
          <a:lstStyle/>
          <a:p>
            <a:pPr algn="l">
              <a:lnSpc>
                <a:spcPct val="90000"/>
              </a:lnSpc>
            </a:pPr>
            <a:r>
              <a:rPr lang="en-US" sz="4800" dirty="0">
                <a:solidFill>
                  <a:srgbClr val="FF0000"/>
                </a:solidFill>
              </a:rPr>
              <a:t>Hands-on time during tutorial</a:t>
            </a:r>
          </a:p>
        </p:txBody>
      </p:sp>
    </p:spTree>
    <p:extLst>
      <p:ext uri="{BB962C8B-B14F-4D97-AF65-F5344CB8AC3E}">
        <p14:creationId xmlns:p14="http://schemas.microsoft.com/office/powerpoint/2010/main" val="36110639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012BA-8349-4F63-995A-190570787086}"/>
              </a:ext>
            </a:extLst>
          </p:cNvPr>
          <p:cNvSpPr>
            <a:spLocks noGrp="1"/>
          </p:cNvSpPr>
          <p:nvPr>
            <p:ph type="title"/>
          </p:nvPr>
        </p:nvSpPr>
        <p:spPr/>
        <p:txBody>
          <a:bodyPr/>
          <a:lstStyle/>
          <a:p>
            <a:r>
              <a:rPr lang="en-US" dirty="0"/>
              <a:t>Hands-On Activities</a:t>
            </a:r>
          </a:p>
        </p:txBody>
      </p:sp>
      <p:sp>
        <p:nvSpPr>
          <p:cNvPr id="3" name="Content Placeholder 2">
            <a:extLst>
              <a:ext uri="{FF2B5EF4-FFF2-40B4-BE49-F238E27FC236}">
                <a16:creationId xmlns:a16="http://schemas.microsoft.com/office/drawing/2014/main" id="{0F20C93A-8687-4A10-A3FB-77446A44FBAB}"/>
              </a:ext>
            </a:extLst>
          </p:cNvPr>
          <p:cNvSpPr>
            <a:spLocks noGrp="1"/>
          </p:cNvSpPr>
          <p:nvPr>
            <p:ph idx="1"/>
          </p:nvPr>
        </p:nvSpPr>
        <p:spPr>
          <a:xfrm>
            <a:off x="365761" y="1012149"/>
            <a:ext cx="5908579" cy="4047778"/>
          </a:xfrm>
        </p:spPr>
        <p:txBody>
          <a:bodyPr/>
          <a:lstStyle/>
          <a:p>
            <a:pPr marL="0" indent="0">
              <a:buNone/>
            </a:pPr>
            <a:r>
              <a:rPr lang="en-US" dirty="0"/>
              <a:t>We have created a simple example to give you some (optional) hands-on experience with some of the concepts in this tutorial</a:t>
            </a:r>
          </a:p>
          <a:p>
            <a:pPr>
              <a:spcBef>
                <a:spcPts val="400"/>
              </a:spcBef>
            </a:pPr>
            <a:r>
              <a:rPr lang="en-US" sz="2000" dirty="0"/>
              <a:t>You don’t need to understand the math/physics to do the exercises, or to find them useful</a:t>
            </a:r>
          </a:p>
          <a:p>
            <a:pPr marL="0" indent="0">
              <a:spcBef>
                <a:spcPts val="2400"/>
              </a:spcBef>
              <a:buNone/>
            </a:pPr>
            <a:r>
              <a:rPr lang="en-US" dirty="0"/>
              <a:t>We have time this afternoon which we can use for hands-on activities (optional)</a:t>
            </a:r>
          </a:p>
          <a:p>
            <a:pPr marL="0" indent="0">
              <a:spcBef>
                <a:spcPts val="2400"/>
              </a:spcBef>
              <a:buNone/>
            </a:pPr>
            <a:r>
              <a:rPr lang="en-US" dirty="0"/>
              <a:t>You can also work the hands-on activities on your own and email us if you have questions</a:t>
            </a:r>
          </a:p>
        </p:txBody>
      </p:sp>
      <p:pic>
        <p:nvPicPr>
          <p:cNvPr id="4" name="Picture 3">
            <a:extLst>
              <a:ext uri="{FF2B5EF4-FFF2-40B4-BE49-F238E27FC236}">
                <a16:creationId xmlns:a16="http://schemas.microsoft.com/office/drawing/2014/main" id="{B9D05DF5-DD70-4892-B1EC-CCD1C9DC6DD4}"/>
              </a:ext>
            </a:extLst>
          </p:cNvPr>
          <p:cNvPicPr>
            <a:picLocks noChangeAspect="1"/>
          </p:cNvPicPr>
          <p:nvPr/>
        </p:nvPicPr>
        <p:blipFill rotWithShape="1">
          <a:blip r:embed="rId2"/>
          <a:srcRect l="8639" t="17307" r="21360" b="13562"/>
          <a:stretch/>
        </p:blipFill>
        <p:spPr>
          <a:xfrm>
            <a:off x="6728716" y="1146154"/>
            <a:ext cx="5120640" cy="2863018"/>
          </a:xfrm>
          <a:prstGeom prst="rect">
            <a:avLst/>
          </a:prstGeom>
        </p:spPr>
      </p:pic>
      <p:sp>
        <p:nvSpPr>
          <p:cNvPr id="6" name="TextBox 5">
            <a:extLst>
              <a:ext uri="{FF2B5EF4-FFF2-40B4-BE49-F238E27FC236}">
                <a16:creationId xmlns:a16="http://schemas.microsoft.com/office/drawing/2014/main" id="{08ACE962-21E3-4495-AC2B-FD3C060F40BA}"/>
              </a:ext>
            </a:extLst>
          </p:cNvPr>
          <p:cNvSpPr txBox="1"/>
          <p:nvPr/>
        </p:nvSpPr>
        <p:spPr>
          <a:xfrm>
            <a:off x="6577375" y="4464696"/>
            <a:ext cx="5496386" cy="1200329"/>
          </a:xfrm>
          <a:prstGeom prst="rect">
            <a:avLst/>
          </a:prstGeom>
          <a:noFill/>
        </p:spPr>
        <p:txBody>
          <a:bodyPr wrap="square">
            <a:spAutoFit/>
          </a:bodyPr>
          <a:lstStyle/>
          <a:p>
            <a:pPr marL="0" indent="0">
              <a:spcBef>
                <a:spcPts val="2400"/>
              </a:spcBef>
              <a:buNone/>
            </a:pPr>
            <a:r>
              <a:rPr lang="en-US" sz="2400" b="1" dirty="0"/>
              <a:t>Instructions on the tutorial web site: </a:t>
            </a:r>
            <a:r>
              <a:rPr lang="en-US" sz="2400" b="1" dirty="0">
                <a:hlinkClick r:id="rId3"/>
              </a:rPr>
              <a:t>https://bssw-tutorial.github.io/</a:t>
            </a:r>
            <a:br>
              <a:rPr lang="en-US" sz="2400" b="1" dirty="0"/>
            </a:br>
            <a:r>
              <a:rPr lang="en-US" sz="2400" dirty="0"/>
              <a:t>and click the link for today’s tutorial</a:t>
            </a:r>
            <a:endParaRPr lang="en-US" sz="2800" dirty="0"/>
          </a:p>
        </p:txBody>
      </p:sp>
      <p:sp>
        <p:nvSpPr>
          <p:cNvPr id="5" name="TextBox 4">
            <a:extLst>
              <a:ext uri="{FF2B5EF4-FFF2-40B4-BE49-F238E27FC236}">
                <a16:creationId xmlns:a16="http://schemas.microsoft.com/office/drawing/2014/main" id="{04F087A8-090A-81C1-3B89-1F1603E7D37B}"/>
              </a:ext>
            </a:extLst>
          </p:cNvPr>
          <p:cNvSpPr txBox="1"/>
          <p:nvPr/>
        </p:nvSpPr>
        <p:spPr>
          <a:xfrm rot="18900000">
            <a:off x="2555895" y="3152802"/>
            <a:ext cx="6613605" cy="849463"/>
          </a:xfrm>
          <a:prstGeom prst="rect">
            <a:avLst/>
          </a:prstGeom>
          <a:noFill/>
        </p:spPr>
        <p:txBody>
          <a:bodyPr wrap="none" lIns="118872" tIns="91440" rIns="118872" bIns="91440" rtlCol="0" anchor="ctr" anchorCtr="0">
            <a:spAutoFit/>
          </a:bodyPr>
          <a:lstStyle/>
          <a:p>
            <a:pPr algn="l">
              <a:lnSpc>
                <a:spcPct val="90000"/>
              </a:lnSpc>
            </a:pPr>
            <a:r>
              <a:rPr lang="en-US" sz="4800" dirty="0">
                <a:solidFill>
                  <a:srgbClr val="FF0000"/>
                </a:solidFill>
              </a:rPr>
              <a:t>Optional hands-on time</a:t>
            </a:r>
          </a:p>
        </p:txBody>
      </p:sp>
    </p:spTree>
    <p:extLst>
      <p:ext uri="{BB962C8B-B14F-4D97-AF65-F5344CB8AC3E}">
        <p14:creationId xmlns:p14="http://schemas.microsoft.com/office/powerpoint/2010/main" val="530048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7CFF0-36AC-4BF3-96D2-C6F302144850}"/>
              </a:ext>
            </a:extLst>
          </p:cNvPr>
          <p:cNvSpPr>
            <a:spLocks noGrp="1"/>
          </p:cNvSpPr>
          <p:nvPr>
            <p:ph type="title"/>
          </p:nvPr>
        </p:nvSpPr>
        <p:spPr/>
        <p:txBody>
          <a:bodyPr/>
          <a:lstStyle/>
          <a:p>
            <a:r>
              <a:rPr lang="en-US" dirty="0"/>
              <a:t>We Want to Interact with You!</a:t>
            </a:r>
          </a:p>
        </p:txBody>
      </p:sp>
      <p:sp>
        <p:nvSpPr>
          <p:cNvPr id="3" name="Content Placeholder 2">
            <a:extLst>
              <a:ext uri="{FF2B5EF4-FFF2-40B4-BE49-F238E27FC236}">
                <a16:creationId xmlns:a16="http://schemas.microsoft.com/office/drawing/2014/main" id="{AEFD04A9-5547-4AC6-89F3-E6EEC039A00D}"/>
              </a:ext>
            </a:extLst>
          </p:cNvPr>
          <p:cNvSpPr>
            <a:spLocks noGrp="1"/>
          </p:cNvSpPr>
          <p:nvPr>
            <p:ph idx="1"/>
          </p:nvPr>
        </p:nvSpPr>
        <p:spPr>
          <a:xfrm>
            <a:off x="365760" y="919230"/>
            <a:ext cx="11369809" cy="4047778"/>
          </a:xfrm>
        </p:spPr>
        <p:txBody>
          <a:bodyPr/>
          <a:lstStyle/>
          <a:p>
            <a:pPr>
              <a:spcBef>
                <a:spcPts val="1800"/>
              </a:spcBef>
            </a:pPr>
            <a:r>
              <a:rPr lang="en-US" dirty="0"/>
              <a:t>We find these tutorials most interesting and informative (for everyone) if you ask questions and share experiences!</a:t>
            </a:r>
          </a:p>
          <a:p>
            <a:pPr lvl="1">
              <a:spcBef>
                <a:spcPts val="400"/>
              </a:spcBef>
            </a:pPr>
            <a:r>
              <a:rPr lang="en-US" dirty="0"/>
              <a:t>We learn too!</a:t>
            </a:r>
          </a:p>
          <a:p>
            <a:pPr>
              <a:spcBef>
                <a:spcPts val="400"/>
              </a:spcBef>
            </a:pPr>
            <a:r>
              <a:rPr lang="en-US" dirty="0"/>
              <a:t>Please raise your hand at any time to ask a question</a:t>
            </a:r>
          </a:p>
          <a:p>
            <a:pPr>
              <a:spcBef>
                <a:spcPts val="1200"/>
              </a:spcBef>
            </a:pPr>
            <a:r>
              <a:rPr lang="en-US" dirty="0"/>
              <a:t>After the tutorial email us at </a:t>
            </a:r>
            <a:r>
              <a:rPr lang="en-US" dirty="0">
                <a:hlinkClick r:id="rId2"/>
              </a:rPr>
              <a:t>bssw-tutorial@lists.mcs.anl.gov</a:t>
            </a:r>
            <a:endParaRPr lang="en-US" dirty="0"/>
          </a:p>
          <a:p>
            <a:pPr lvl="1">
              <a:spcBef>
                <a:spcPts val="400"/>
              </a:spcBef>
            </a:pPr>
            <a:r>
              <a:rPr lang="en-US" dirty="0"/>
              <a:t>With questions or feedback</a:t>
            </a:r>
          </a:p>
          <a:p>
            <a:pPr lvl="1"/>
            <a:r>
              <a:rPr lang="en-US" dirty="0"/>
              <a:t>The list moderator will allow your messages to be posted</a:t>
            </a:r>
          </a:p>
          <a:p>
            <a:r>
              <a:rPr lang="en-US" dirty="0"/>
              <a:t>Refer to </a:t>
            </a:r>
            <a:r>
              <a:rPr lang="en-US" dirty="0">
                <a:hlinkClick r:id="rId3"/>
              </a:rPr>
              <a:t>bssw-tutorial.github.io</a:t>
            </a:r>
            <a:r>
              <a:rPr lang="en-US" dirty="0"/>
              <a:t> page for all tutorial materials</a:t>
            </a:r>
          </a:p>
        </p:txBody>
      </p:sp>
      <p:sp>
        <p:nvSpPr>
          <p:cNvPr id="4" name="TextBox 3">
            <a:extLst>
              <a:ext uri="{FF2B5EF4-FFF2-40B4-BE49-F238E27FC236}">
                <a16:creationId xmlns:a16="http://schemas.microsoft.com/office/drawing/2014/main" id="{78B1391E-4220-328B-0AE8-9C61BC554A0A}"/>
              </a:ext>
            </a:extLst>
          </p:cNvPr>
          <p:cNvSpPr txBox="1"/>
          <p:nvPr/>
        </p:nvSpPr>
        <p:spPr>
          <a:xfrm rot="-2700000">
            <a:off x="1893044" y="3069702"/>
            <a:ext cx="7939289" cy="1015663"/>
          </a:xfrm>
          <a:prstGeom prst="rect">
            <a:avLst/>
          </a:prstGeom>
          <a:noFill/>
        </p:spPr>
        <p:txBody>
          <a:bodyPr wrap="none" lIns="118872" tIns="91440" rIns="118872" bIns="91440" rtlCol="0" anchor="ctr" anchorCtr="0">
            <a:spAutoFit/>
          </a:bodyPr>
          <a:lstStyle/>
          <a:p>
            <a:pPr algn="l">
              <a:lnSpc>
                <a:spcPct val="90000"/>
              </a:lnSpc>
            </a:pPr>
            <a:r>
              <a:rPr lang="en-US" sz="6000" dirty="0">
                <a:solidFill>
                  <a:srgbClr val="FF0000"/>
                </a:solidFill>
              </a:rPr>
              <a:t>In-person presentation</a:t>
            </a:r>
          </a:p>
        </p:txBody>
      </p:sp>
    </p:spTree>
    <p:extLst>
      <p:ext uri="{BB962C8B-B14F-4D97-AF65-F5344CB8AC3E}">
        <p14:creationId xmlns:p14="http://schemas.microsoft.com/office/powerpoint/2010/main" val="30407333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7CFF0-36AC-4BF3-96D2-C6F302144850}"/>
              </a:ext>
            </a:extLst>
          </p:cNvPr>
          <p:cNvSpPr>
            <a:spLocks noGrp="1"/>
          </p:cNvSpPr>
          <p:nvPr>
            <p:ph type="title"/>
          </p:nvPr>
        </p:nvSpPr>
        <p:spPr/>
        <p:txBody>
          <a:bodyPr/>
          <a:lstStyle/>
          <a:p>
            <a:r>
              <a:rPr lang="en-US" dirty="0"/>
              <a:t>We Want to Interact with You!</a:t>
            </a:r>
          </a:p>
        </p:txBody>
      </p:sp>
      <p:sp>
        <p:nvSpPr>
          <p:cNvPr id="3" name="Content Placeholder 2">
            <a:extLst>
              <a:ext uri="{FF2B5EF4-FFF2-40B4-BE49-F238E27FC236}">
                <a16:creationId xmlns:a16="http://schemas.microsoft.com/office/drawing/2014/main" id="{AEFD04A9-5547-4AC6-89F3-E6EEC039A00D}"/>
              </a:ext>
            </a:extLst>
          </p:cNvPr>
          <p:cNvSpPr>
            <a:spLocks noGrp="1"/>
          </p:cNvSpPr>
          <p:nvPr>
            <p:ph idx="1"/>
          </p:nvPr>
        </p:nvSpPr>
        <p:spPr>
          <a:xfrm>
            <a:off x="365760" y="919230"/>
            <a:ext cx="11369809" cy="4047778"/>
          </a:xfrm>
        </p:spPr>
        <p:txBody>
          <a:bodyPr/>
          <a:lstStyle/>
          <a:p>
            <a:pPr>
              <a:spcBef>
                <a:spcPts val="1800"/>
              </a:spcBef>
            </a:pPr>
            <a:r>
              <a:rPr lang="en-US" dirty="0"/>
              <a:t>We find these tutorials most interesting and informative (for everyone) if you ask questions and share experiences!</a:t>
            </a:r>
          </a:p>
          <a:p>
            <a:pPr lvl="1">
              <a:spcBef>
                <a:spcPts val="400"/>
              </a:spcBef>
            </a:pPr>
            <a:r>
              <a:rPr lang="en-US" dirty="0"/>
              <a:t>We learn too!</a:t>
            </a:r>
          </a:p>
          <a:p>
            <a:pPr>
              <a:spcBef>
                <a:spcPts val="1200"/>
              </a:spcBef>
            </a:pPr>
            <a:r>
              <a:rPr lang="en-US" dirty="0"/>
              <a:t>If you’re in the room with us, please raise your hand to ask a question</a:t>
            </a:r>
          </a:p>
          <a:p>
            <a:pPr>
              <a:spcBef>
                <a:spcPts val="1200"/>
              </a:spcBef>
            </a:pPr>
            <a:r>
              <a:rPr lang="en-US" dirty="0"/>
              <a:t>If you’re online, please use the </a:t>
            </a:r>
            <a:r>
              <a:rPr lang="en-US" b="1" dirty="0"/>
              <a:t>raise hand</a:t>
            </a:r>
            <a:r>
              <a:rPr lang="en-US" dirty="0"/>
              <a:t> feature to ask a question or put it into the </a:t>
            </a:r>
            <a:r>
              <a:rPr lang="en-US" b="1" dirty="0"/>
              <a:t>chat</a:t>
            </a:r>
            <a:r>
              <a:rPr lang="en-US" dirty="0"/>
              <a:t> if you prefer</a:t>
            </a:r>
          </a:p>
          <a:p>
            <a:pPr lvl="1">
              <a:spcBef>
                <a:spcPts val="400"/>
              </a:spcBef>
            </a:pPr>
            <a:r>
              <a:rPr lang="en-US" dirty="0"/>
              <a:t>We’ll respond verbally or in chat as opportunities permit</a:t>
            </a:r>
          </a:p>
          <a:p>
            <a:pPr>
              <a:spcBef>
                <a:spcPts val="1200"/>
              </a:spcBef>
            </a:pPr>
            <a:r>
              <a:rPr lang="en-US" dirty="0"/>
              <a:t>After the tutorial email us at </a:t>
            </a:r>
            <a:r>
              <a:rPr lang="en-US" dirty="0">
                <a:hlinkClick r:id="rId2"/>
              </a:rPr>
              <a:t>bssw-tutorial@lists.mcs.anl.gov</a:t>
            </a:r>
            <a:endParaRPr lang="en-US" dirty="0"/>
          </a:p>
          <a:p>
            <a:pPr lvl="1">
              <a:spcBef>
                <a:spcPts val="400"/>
              </a:spcBef>
            </a:pPr>
            <a:r>
              <a:rPr lang="en-US" dirty="0"/>
              <a:t>With questions or feedback</a:t>
            </a:r>
          </a:p>
          <a:p>
            <a:pPr lvl="1"/>
            <a:r>
              <a:rPr lang="en-US" dirty="0"/>
              <a:t>The list moderator will allow your messages to be posted</a:t>
            </a:r>
          </a:p>
          <a:p>
            <a:r>
              <a:rPr lang="en-US" dirty="0"/>
              <a:t>Refer to </a:t>
            </a:r>
            <a:r>
              <a:rPr lang="en-US" dirty="0">
                <a:hlinkClick r:id="rId3"/>
              </a:rPr>
              <a:t>bssw-tutorial.github.io</a:t>
            </a:r>
            <a:r>
              <a:rPr lang="en-US" dirty="0"/>
              <a:t> page for all tutorial materials</a:t>
            </a:r>
          </a:p>
        </p:txBody>
      </p:sp>
      <p:sp>
        <p:nvSpPr>
          <p:cNvPr id="4" name="TextBox 3">
            <a:extLst>
              <a:ext uri="{FF2B5EF4-FFF2-40B4-BE49-F238E27FC236}">
                <a16:creationId xmlns:a16="http://schemas.microsoft.com/office/drawing/2014/main" id="{A0AB0D47-A7E0-B1E3-CB82-4F3DDE8C001A}"/>
              </a:ext>
            </a:extLst>
          </p:cNvPr>
          <p:cNvSpPr txBox="1"/>
          <p:nvPr/>
        </p:nvSpPr>
        <p:spPr>
          <a:xfrm rot="-2700000">
            <a:off x="2406005" y="3069702"/>
            <a:ext cx="6913367" cy="1015663"/>
          </a:xfrm>
          <a:prstGeom prst="rect">
            <a:avLst/>
          </a:prstGeom>
          <a:noFill/>
        </p:spPr>
        <p:txBody>
          <a:bodyPr wrap="none" lIns="118872" tIns="91440" rIns="118872" bIns="91440" rtlCol="0" anchor="ctr" anchorCtr="0">
            <a:spAutoFit/>
          </a:bodyPr>
          <a:lstStyle/>
          <a:p>
            <a:pPr algn="l">
              <a:lnSpc>
                <a:spcPct val="90000"/>
              </a:lnSpc>
            </a:pPr>
            <a:r>
              <a:rPr lang="en-US" sz="6000" dirty="0">
                <a:solidFill>
                  <a:srgbClr val="FF0000"/>
                </a:solidFill>
              </a:rPr>
              <a:t>Hybrid presentation</a:t>
            </a:r>
          </a:p>
        </p:txBody>
      </p:sp>
    </p:spTree>
    <p:extLst>
      <p:ext uri="{BB962C8B-B14F-4D97-AF65-F5344CB8AC3E}">
        <p14:creationId xmlns:p14="http://schemas.microsoft.com/office/powerpoint/2010/main" val="5838589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7CFF0-36AC-4BF3-96D2-C6F302144850}"/>
              </a:ext>
            </a:extLst>
          </p:cNvPr>
          <p:cNvSpPr>
            <a:spLocks noGrp="1"/>
          </p:cNvSpPr>
          <p:nvPr>
            <p:ph type="title"/>
          </p:nvPr>
        </p:nvSpPr>
        <p:spPr/>
        <p:txBody>
          <a:bodyPr/>
          <a:lstStyle/>
          <a:p>
            <a:r>
              <a:rPr lang="en-US" dirty="0"/>
              <a:t>We Want to Interact with You!</a:t>
            </a:r>
          </a:p>
        </p:txBody>
      </p:sp>
      <p:sp>
        <p:nvSpPr>
          <p:cNvPr id="3" name="Content Placeholder 2">
            <a:extLst>
              <a:ext uri="{FF2B5EF4-FFF2-40B4-BE49-F238E27FC236}">
                <a16:creationId xmlns:a16="http://schemas.microsoft.com/office/drawing/2014/main" id="{AEFD04A9-5547-4AC6-89F3-E6EEC039A00D}"/>
              </a:ext>
            </a:extLst>
          </p:cNvPr>
          <p:cNvSpPr>
            <a:spLocks noGrp="1"/>
          </p:cNvSpPr>
          <p:nvPr>
            <p:ph idx="1"/>
          </p:nvPr>
        </p:nvSpPr>
        <p:spPr>
          <a:xfrm>
            <a:off x="365760" y="919230"/>
            <a:ext cx="11369809" cy="4047778"/>
          </a:xfrm>
        </p:spPr>
        <p:txBody>
          <a:bodyPr/>
          <a:lstStyle/>
          <a:p>
            <a:pPr>
              <a:spcBef>
                <a:spcPts val="1800"/>
              </a:spcBef>
            </a:pPr>
            <a:r>
              <a:rPr lang="en-US" dirty="0"/>
              <a:t>We find these tutorials most interesting and informative (for everyone) if you ask questions and share experiences!</a:t>
            </a:r>
          </a:p>
          <a:p>
            <a:pPr lvl="1">
              <a:spcBef>
                <a:spcPts val="400"/>
              </a:spcBef>
            </a:pPr>
            <a:r>
              <a:rPr lang="en-US" dirty="0"/>
              <a:t>We learn too!</a:t>
            </a:r>
          </a:p>
          <a:p>
            <a:pPr>
              <a:spcBef>
                <a:spcPts val="1200"/>
              </a:spcBef>
            </a:pPr>
            <a:r>
              <a:rPr lang="en-US" dirty="0"/>
              <a:t>Please use the </a:t>
            </a:r>
            <a:r>
              <a:rPr lang="en-US" b="1" dirty="0"/>
              <a:t>raise hand</a:t>
            </a:r>
            <a:r>
              <a:rPr lang="en-US" dirty="0"/>
              <a:t> feature to ask a question or put it into the </a:t>
            </a:r>
            <a:r>
              <a:rPr lang="en-US" b="1" dirty="0"/>
              <a:t>chat</a:t>
            </a:r>
            <a:r>
              <a:rPr lang="en-US" dirty="0"/>
              <a:t> if you prefer</a:t>
            </a:r>
          </a:p>
          <a:p>
            <a:pPr lvl="1">
              <a:spcBef>
                <a:spcPts val="400"/>
              </a:spcBef>
            </a:pPr>
            <a:r>
              <a:rPr lang="en-US" dirty="0"/>
              <a:t>We’ll respond verbally or in chat as opportunities permit</a:t>
            </a:r>
          </a:p>
          <a:p>
            <a:pPr>
              <a:spcBef>
                <a:spcPts val="1200"/>
              </a:spcBef>
            </a:pPr>
            <a:r>
              <a:rPr lang="en-US" dirty="0"/>
              <a:t>After the tutorial email us at </a:t>
            </a:r>
            <a:r>
              <a:rPr lang="en-US" dirty="0">
                <a:hlinkClick r:id="rId2"/>
              </a:rPr>
              <a:t>bssw-tutorial@lists.mcs.anl.gov</a:t>
            </a:r>
            <a:endParaRPr lang="en-US" dirty="0"/>
          </a:p>
          <a:p>
            <a:pPr lvl="1">
              <a:spcBef>
                <a:spcPts val="400"/>
              </a:spcBef>
            </a:pPr>
            <a:r>
              <a:rPr lang="en-US" dirty="0"/>
              <a:t>With questions or feedback</a:t>
            </a:r>
          </a:p>
          <a:p>
            <a:pPr lvl="1"/>
            <a:r>
              <a:rPr lang="en-US" dirty="0"/>
              <a:t>The list moderator will allow your messages to be posted</a:t>
            </a:r>
          </a:p>
          <a:p>
            <a:r>
              <a:rPr lang="en-US" dirty="0"/>
              <a:t>Refer to </a:t>
            </a:r>
            <a:r>
              <a:rPr lang="en-US" dirty="0">
                <a:hlinkClick r:id="rId3"/>
              </a:rPr>
              <a:t>bssw-tutorial.github.io</a:t>
            </a:r>
            <a:r>
              <a:rPr lang="en-US" dirty="0"/>
              <a:t> page for all tutorial materials</a:t>
            </a:r>
          </a:p>
        </p:txBody>
      </p:sp>
      <p:sp>
        <p:nvSpPr>
          <p:cNvPr id="4" name="TextBox 3">
            <a:extLst>
              <a:ext uri="{FF2B5EF4-FFF2-40B4-BE49-F238E27FC236}">
                <a16:creationId xmlns:a16="http://schemas.microsoft.com/office/drawing/2014/main" id="{AFDD6E83-8F3F-C390-EDB0-E7B8C5124676}"/>
              </a:ext>
            </a:extLst>
          </p:cNvPr>
          <p:cNvSpPr txBox="1"/>
          <p:nvPr/>
        </p:nvSpPr>
        <p:spPr>
          <a:xfrm rot="-2700000">
            <a:off x="2406006" y="3069702"/>
            <a:ext cx="6913367" cy="1015663"/>
          </a:xfrm>
          <a:prstGeom prst="rect">
            <a:avLst/>
          </a:prstGeom>
          <a:noFill/>
        </p:spPr>
        <p:txBody>
          <a:bodyPr wrap="none" lIns="118872" tIns="91440" rIns="118872" bIns="91440" rtlCol="0" anchor="ctr" anchorCtr="0">
            <a:spAutoFit/>
          </a:bodyPr>
          <a:lstStyle/>
          <a:p>
            <a:pPr algn="l">
              <a:lnSpc>
                <a:spcPct val="90000"/>
              </a:lnSpc>
            </a:pPr>
            <a:r>
              <a:rPr lang="en-US" sz="6000">
                <a:solidFill>
                  <a:srgbClr val="FF0000"/>
                </a:solidFill>
              </a:rPr>
              <a:t>Online </a:t>
            </a:r>
            <a:r>
              <a:rPr lang="en-US" sz="6000" dirty="0">
                <a:solidFill>
                  <a:srgbClr val="FF0000"/>
                </a:solidFill>
              </a:rPr>
              <a:t>presentation</a:t>
            </a:r>
          </a:p>
        </p:txBody>
      </p:sp>
    </p:spTree>
    <p:extLst>
      <p:ext uri="{BB962C8B-B14F-4D97-AF65-F5344CB8AC3E}">
        <p14:creationId xmlns:p14="http://schemas.microsoft.com/office/powerpoint/2010/main" val="3231888468"/>
      </p:ext>
    </p:extLst>
  </p:cSld>
  <p:clrMapOvr>
    <a:masterClrMapping/>
  </p:clrMapOvr>
</p:sld>
</file>

<file path=ppt/theme/theme1.xml><?xml version="1.0" encoding="utf-8"?>
<a:theme xmlns:a="http://schemas.openxmlformats.org/drawingml/2006/main" name="Presentations (Wide Screen)">
  <a:themeElements>
    <a:clrScheme name="ECP 171103 final">
      <a:dk1>
        <a:sysClr val="windowText" lastClr="000000"/>
      </a:dk1>
      <a:lt1>
        <a:sysClr val="window" lastClr="FFFFFF"/>
      </a:lt1>
      <a:dk2>
        <a:srgbClr val="266093"/>
      </a:dk2>
      <a:lt2>
        <a:srgbClr val="FFFFFF"/>
      </a:lt2>
      <a:accent1>
        <a:srgbClr val="2A75BB"/>
      </a:accent1>
      <a:accent2>
        <a:srgbClr val="84B641"/>
      </a:accent2>
      <a:accent3>
        <a:srgbClr val="43B1E5"/>
      </a:accent3>
      <a:accent4>
        <a:srgbClr val="D13940"/>
      </a:accent4>
      <a:accent5>
        <a:srgbClr val="C39C2F"/>
      </a:accent5>
      <a:accent6>
        <a:srgbClr val="7F7F7F"/>
      </a:accent6>
      <a:hlink>
        <a:srgbClr val="A03123"/>
      </a:hlink>
      <a:folHlink>
        <a:srgbClr val="0000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a:noFill/>
        </a:ln>
        <a:effectLst>
          <a:outerShdw blurRad="44450" dist="27940" dir="5400000" algn="ctr">
            <a:srgbClr val="000000">
              <a:alpha val="32000"/>
            </a:srgbClr>
          </a:outerShdw>
        </a:effectLst>
      </a:spPr>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defPPr algn="ctr">
          <a:lnSpc>
            <a:spcPct val="90000"/>
          </a:lnSpc>
          <a:defRPr sz="2000" dirty="0">
            <a:solidFill>
              <a:schemeClr val="bg1"/>
            </a:solidFill>
          </a:defRPr>
        </a:defPPr>
      </a:lstStyle>
    </a:spDef>
    <a:txDef>
      <a:spPr>
        <a:noFill/>
      </a:spPr>
      <a:bodyPr wrap="square" lIns="118872" tIns="91440" rIns="118872" bIns="91440" rtlCol="0" anchor="ctr" anchorCtr="0">
        <a:spAutoFit/>
      </a:bodyPr>
      <a:lstStyle>
        <a:defPPr algn="l">
          <a:lnSpc>
            <a:spcPct val="90000"/>
          </a:lnSpc>
          <a:defRPr dirty="0" smtClean="0"/>
        </a:defPPr>
      </a:lstStyle>
    </a:txDef>
  </a:objectDefaults>
  <a:extraClrSchemeLst/>
  <a:extLst>
    <a:ext uri="{05A4C25C-085E-4340-85A3-A5531E510DB2}">
      <thm15:themeFamily xmlns:thm15="http://schemas.microsoft.com/office/thememl/2012/main" name="ECP_PowerPointTemplate-v1.0_20171106" id="{82BFD86B-8FF4-4B2C-AD68-5655622D7E2C}" vid="{C92328A0-5FA1-40E2-AE72-E588ED49AD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65464437F680748A68B85EB6594EA7D" ma:contentTypeVersion="0" ma:contentTypeDescription="Create a new document." ma:contentTypeScope="" ma:versionID="fe3f4dd58d5914c51cfc6deaa8ad845c">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9E20559-B232-4371-8690-E3D8007EDB82}">
  <ds:schemaRefs>
    <ds:schemaRef ds:uri="http://schemas.microsoft.com/sharepoint/v3/contenttype/forms"/>
  </ds:schemaRefs>
</ds:datastoreItem>
</file>

<file path=customXml/itemProps2.xml><?xml version="1.0" encoding="utf-8"?>
<ds:datastoreItem xmlns:ds="http://schemas.openxmlformats.org/officeDocument/2006/customXml" ds:itemID="{E8DB7DEB-074E-4EE8-9B6E-FD27732310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3.xml><?xml version="1.0" encoding="utf-8"?>
<ds:datastoreItem xmlns:ds="http://schemas.openxmlformats.org/officeDocument/2006/customXml" ds:itemID="{A50EC660-24D0-43A0-AE5E-E274115E726B}">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www.w3.org/XML/1998/namespace"/>
    <ds:schemaRef ds:uri="http://purl.org/dc/dcmitype/"/>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ECP_PowerPoint_Template-v1.0_20171106</Template>
  <TotalTime>3272</TotalTime>
  <Words>2249</Words>
  <Application>Microsoft Office PowerPoint</Application>
  <PresentationFormat>Custom</PresentationFormat>
  <Paragraphs>230</Paragraphs>
  <Slides>21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Arial Black</vt:lpstr>
      <vt:lpstr>Calibri</vt:lpstr>
      <vt:lpstr>Presentations (Wide Screen)</vt:lpstr>
      <vt:lpstr>Software Sustainability </vt:lpstr>
      <vt:lpstr>License, Citation and Acknowledgements</vt:lpstr>
      <vt:lpstr>About Us</vt:lpstr>
      <vt:lpstr>Building an Online Community</vt:lpstr>
      <vt:lpstr>Follow BSSw</vt:lpstr>
      <vt:lpstr>The Importance of Naming</vt:lpstr>
      <vt:lpstr>BSSw Tutorial Web Site</vt:lpstr>
      <vt:lpstr>Explaining Slide 2</vt:lpstr>
      <vt:lpstr>We Want to Interact with You!</vt:lpstr>
      <vt:lpstr>Agenda (1/2)</vt:lpstr>
      <vt:lpstr>Agenda (2/2)</vt:lpstr>
      <vt:lpstr>Additional slides</vt:lpstr>
      <vt:lpstr>The IDEAS-ECP team works with the ECP community, and beyond, to improve developer productivity and software sustainability as key aspects of increasing overall scientific productivity</vt:lpstr>
      <vt:lpstr>Follow IDEAS and BSSw</vt:lpstr>
      <vt:lpstr>We Want to Interact with You!</vt:lpstr>
      <vt:lpstr>Hands-On Activities</vt:lpstr>
      <vt:lpstr>Hands-On Activities</vt:lpstr>
      <vt:lpstr>Hands-On Activities</vt:lpstr>
      <vt:lpstr>We Want to Interact with You!</vt:lpstr>
      <vt:lpstr>We Want to Interact with You!</vt:lpstr>
      <vt:lpstr>We Want to Interact with You!</vt:lpstr>
    </vt:vector>
  </TitlesOfParts>
  <Company>ORNL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Challenges of Exascale Computing</dc:title>
  <dc:creator>Bernholdt, David E.</dc:creator>
  <cp:lastModifiedBy>Bernholdt, David</cp:lastModifiedBy>
  <cp:revision>438</cp:revision>
  <cp:lastPrinted>2017-11-02T18:35:01Z</cp:lastPrinted>
  <dcterms:created xsi:type="dcterms:W3CDTF">2018-11-06T17:28:56Z</dcterms:created>
  <dcterms:modified xsi:type="dcterms:W3CDTF">2025-08-03T17:57:09Z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0x010100565464437F680748A68B85EB6594EA7D</vt:lpwstr>
  </property>
</Properties>
</file>