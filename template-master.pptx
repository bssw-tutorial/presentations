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5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88825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9C2F"/>
    <a:srgbClr val="C59C27"/>
    <a:srgbClr val="D13940"/>
    <a:srgbClr val="EF9A1A"/>
    <a:srgbClr val="907262"/>
    <a:srgbClr val="B3CD1F"/>
    <a:srgbClr val="43B1E5"/>
    <a:srgbClr val="00B8BB"/>
    <a:srgbClr val="426FB6"/>
    <a:srgbClr val="13A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89" autoAdjust="0"/>
    <p:restoredTop sz="95833" autoAdjust="0"/>
  </p:normalViewPr>
  <p:slideViewPr>
    <p:cSldViewPr snapToGrid="0" showGuides="1">
      <p:cViewPr varScale="1">
        <p:scale>
          <a:sx n="124" d="100"/>
          <a:sy n="124" d="100"/>
        </p:scale>
        <p:origin x="516" y="96"/>
      </p:cViewPr>
      <p:guideLst>
        <p:guide orient="horz" pos="88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5" d="100"/>
          <a:sy n="55" d="100"/>
        </p:scale>
        <p:origin x="-1472" y="-6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2F42-2CE9-4E35-95C1-410DC08A50B1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2E89A-4FDF-4617-8DDF-BE2769EE8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619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82904-F315-4730-8D91-37D99E141A6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672D7-8E2D-4611-973D-F4591A707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5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hyperlink" Target="https://cass.community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hyperlink" Target="https://rapids.lbl.gov/" TargetMode="External"/><Relationship Id="rId5" Type="http://schemas.microsoft.com/office/2007/relationships/hdphoto" Target="../media/hdphoto1.wdp"/><Relationship Id="rId10" Type="http://schemas.openxmlformats.org/officeDocument/2006/relationships/hyperlink" Target="https://pesoproject.org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hyperlink" Target="https://cass.community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hyperlink" Target="https://rapids.lbl.gov/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pesoproject.org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177C6-060C-4445-8C10-ADA6D3CE5F74}"/>
              </a:ext>
            </a:extLst>
          </p:cNvPr>
          <p:cNvSpPr/>
          <p:nvPr userDrawn="1"/>
        </p:nvSpPr>
        <p:spPr>
          <a:xfrm>
            <a:off x="0" y="6186396"/>
            <a:ext cx="12188825" cy="6716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64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16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8305800" y="5921829"/>
            <a:ext cx="3883025" cy="93617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177633" y="503144"/>
            <a:ext cx="8292316" cy="1030930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2" descr="https://licensebuttons.net/l/by/4.0/88x31.png">
            <a:extLst>
              <a:ext uri="{FF2B5EF4-FFF2-40B4-BE49-F238E27FC236}">
                <a16:creationId xmlns:a16="http://schemas.microsoft.com/office/drawing/2014/main" id="{FAFD7D99-41CA-4FD0-9396-9C5659F220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69" y="5841262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022D1C-99FF-490C-8690-D8081D33C0AF}"/>
              </a:ext>
            </a:extLst>
          </p:cNvPr>
          <p:cNvSpPr txBox="1"/>
          <p:nvPr userDrawn="1"/>
        </p:nvSpPr>
        <p:spPr>
          <a:xfrm>
            <a:off x="1810964" y="5776533"/>
            <a:ext cx="117111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/>
              <a:t>See slide 2 for license details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6372F2-F09E-4139-B638-4F1B290B77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5896" y="5913283"/>
            <a:ext cx="2852929" cy="262814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dirty="0"/>
              <a:t>R&amp;R number (if required)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A08ED72-5D36-44C1-A3D6-C72E158E1F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6924" y="2085870"/>
            <a:ext cx="2427268" cy="424732"/>
          </a:xfrm>
        </p:spPr>
        <p:txBody>
          <a:bodyPr wrap="none">
            <a:spAutoFit/>
          </a:bodyPr>
          <a:lstStyle>
            <a:lvl1pPr marL="0" indent="0">
              <a:buNone/>
              <a:defRPr u="sng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C2C5E0-3F9A-4B6C-82C6-FEE7176DA8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7411" y="2134517"/>
            <a:ext cx="1690167" cy="376085"/>
          </a:xfrm>
        </p:spPr>
        <p:txBody>
          <a:bodyPr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(pronouns)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EE16D41-009C-4DB1-A6DF-FEBADC8C34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924" y="2459716"/>
            <a:ext cx="8292315" cy="369332"/>
          </a:xfrm>
        </p:spPr>
        <p:txBody>
          <a:bodyPr wrap="square"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Long affiliation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8E791C6E-DB06-44D1-AB4E-AA0EF8215F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6925" y="3161813"/>
            <a:ext cx="8292316" cy="369332"/>
          </a:xfrm>
        </p:spPr>
        <p:txBody>
          <a:bodyPr wrap="square">
            <a:sp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Tutorial title @ Venue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A4CD3CE-55B5-4132-9AC3-B94506768C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6924" y="3792588"/>
            <a:ext cx="8292316" cy="646331"/>
          </a:xfrm>
        </p:spPr>
        <p:txBody>
          <a:bodyPr wrap="square">
            <a:spAutoFit/>
          </a:bodyPr>
          <a:lstStyle>
            <a:lvl1pPr marL="0" indent="0">
              <a:buNone/>
              <a:defRPr sz="2000"/>
            </a:lvl1pPr>
          </a:lstStyle>
          <a:p>
            <a:pPr>
              <a:spcBef>
                <a:spcPts val="2800"/>
              </a:spcBef>
            </a:pPr>
            <a:r>
              <a:rPr lang="en-US" sz="2000" dirty="0"/>
              <a:t>Contributors: Contributor Name (short affiliation), … in alphabetical order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81C43-A5B9-D933-9CA0-B9EBBA5B62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59" y="158509"/>
            <a:ext cx="2109916" cy="9052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6BAEEDA-B6C4-7DDA-6A83-26F20E08F2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165" y="6321694"/>
            <a:ext cx="2409477" cy="40100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C9E3B41-F49D-0B50-0F40-049E89C7816F}"/>
              </a:ext>
            </a:extLst>
          </p:cNvPr>
          <p:cNvSpPr txBox="1"/>
          <p:nvPr userDrawn="1"/>
        </p:nvSpPr>
        <p:spPr>
          <a:xfrm>
            <a:off x="901538" y="1454246"/>
            <a:ext cx="1144159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Presented by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E5FD8-AF8B-A079-41D0-0E7F2D2440A7}"/>
              </a:ext>
            </a:extLst>
          </p:cNvPr>
          <p:cNvSpPr txBox="1"/>
          <p:nvPr userDrawn="1"/>
        </p:nvSpPr>
        <p:spPr>
          <a:xfrm>
            <a:off x="948025" y="2646131"/>
            <a:ext cx="1051185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Members of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23C4DF-C336-C45B-171E-1ADC0F6E526D}"/>
              </a:ext>
            </a:extLst>
          </p:cNvPr>
          <p:cNvSpPr txBox="1"/>
          <p:nvPr userDrawn="1"/>
        </p:nvSpPr>
        <p:spPr>
          <a:xfrm>
            <a:off x="572120" y="4624321"/>
            <a:ext cx="1802994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With prior support from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D795ED-69F4-3AB8-A669-D6134F32DB92}"/>
              </a:ext>
            </a:extLst>
          </p:cNvPr>
          <p:cNvGrpSpPr/>
          <p:nvPr userDrawn="1"/>
        </p:nvGrpSpPr>
        <p:grpSpPr>
          <a:xfrm>
            <a:off x="355043" y="5027111"/>
            <a:ext cx="2237149" cy="457200"/>
            <a:chOff x="343050" y="5128711"/>
            <a:chExt cx="2237149" cy="45720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69E8867-BEF2-E3D0-51F3-86959AAF8F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050" y="5128711"/>
              <a:ext cx="1002296" cy="457200"/>
            </a:xfrm>
            <a:prstGeom prst="rect">
              <a:avLst/>
            </a:prstGeom>
          </p:spPr>
        </p:pic>
        <p:pic>
          <p:nvPicPr>
            <p:cNvPr id="39" name="Picture 3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07DB31D-C094-FB63-B25D-3281FAD453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950" y="5128711"/>
              <a:ext cx="1054249" cy="4572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039412D-999C-F978-5DA7-413091B42F14}"/>
              </a:ext>
            </a:extLst>
          </p:cNvPr>
          <p:cNvGrpSpPr/>
          <p:nvPr userDrawn="1"/>
        </p:nvGrpSpPr>
        <p:grpSpPr>
          <a:xfrm>
            <a:off x="-69503" y="1892144"/>
            <a:ext cx="2985270" cy="790169"/>
            <a:chOff x="-69503" y="2214872"/>
            <a:chExt cx="2985270" cy="790169"/>
          </a:xfrm>
        </p:grpSpPr>
        <p:pic>
          <p:nvPicPr>
            <p:cNvPr id="41" name="Picture 4">
              <a:extLst>
                <a:ext uri="{FF2B5EF4-FFF2-40B4-BE49-F238E27FC236}">
                  <a16:creationId xmlns:a16="http://schemas.microsoft.com/office/drawing/2014/main" id="{30A3D0A4-DC0E-58F3-9A48-51515E60B9F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438" y="2317122"/>
              <a:ext cx="1371600" cy="318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A picture containing graphics, logo, font, symbol&#10;&#10;Description automatically generated">
              <a:extLst>
                <a:ext uri="{FF2B5EF4-FFF2-40B4-BE49-F238E27FC236}">
                  <a16:creationId xmlns:a16="http://schemas.microsoft.com/office/drawing/2014/main" id="{44BDD6D9-E875-9A48-229D-0FC4FF98EF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95" y="2214872"/>
              <a:ext cx="841248" cy="5233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CFCAF6-928D-C709-56D6-214EA337FF36}"/>
                </a:ext>
              </a:extLst>
            </p:cNvPr>
            <p:cNvSpPr txBox="1"/>
            <p:nvPr userDrawn="1"/>
          </p:nvSpPr>
          <p:spPr>
            <a:xfrm>
              <a:off x="-69503" y="2668026"/>
              <a:ext cx="1631472" cy="337015"/>
            </a:xfrm>
            <a:prstGeom prst="rect">
              <a:avLst/>
            </a:prstGeom>
            <a:noFill/>
          </p:spPr>
          <p:txBody>
            <a:bodyPr wrap="none" lIns="118872" tIns="91440" rIns="118872" bIns="91440" rtlCol="0" anchor="ctr" anchorCtr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1050" i="1" dirty="0">
                  <a:hlinkClick r:id="rId10"/>
                </a:rPr>
                <a:t>https://pesoproject.org</a:t>
              </a:r>
              <a:endParaRPr lang="en-US" sz="1050" i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579EA8-3D71-5A46-84DB-95A19F99F549}"/>
                </a:ext>
              </a:extLst>
            </p:cNvPr>
            <p:cNvSpPr txBox="1"/>
            <p:nvPr userDrawn="1"/>
          </p:nvSpPr>
          <p:spPr>
            <a:xfrm>
              <a:off x="1423755" y="2668026"/>
              <a:ext cx="1492012" cy="337015"/>
            </a:xfrm>
            <a:prstGeom prst="rect">
              <a:avLst/>
            </a:prstGeom>
            <a:noFill/>
          </p:spPr>
          <p:txBody>
            <a:bodyPr wrap="none" lIns="118872" tIns="91440" rIns="118872" bIns="91440" rtlCol="0" anchor="ctr" anchorCtr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1050" i="1" dirty="0">
                  <a:hlinkClick r:id="rId11"/>
                </a:rPr>
                <a:t>https://rapids.lbl.gov</a:t>
              </a:r>
              <a:endParaRPr lang="en-US" sz="1050" i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6E3FB4E-4104-6184-D305-6EEC3554DA70}"/>
              </a:ext>
            </a:extLst>
          </p:cNvPr>
          <p:cNvSpPr txBox="1"/>
          <p:nvPr userDrawn="1"/>
        </p:nvSpPr>
        <p:spPr>
          <a:xfrm>
            <a:off x="166031" y="4011401"/>
            <a:ext cx="2605511" cy="655564"/>
          </a:xfrm>
          <a:prstGeom prst="rect">
            <a:avLst/>
          </a:prstGeom>
          <a:noFill/>
        </p:spPr>
        <p:txBody>
          <a:bodyPr wrap="square" lIns="118872" tIns="91440" rIns="118872" bIns="9144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i="1" dirty="0"/>
              <a:t>Consortium for the Advancement of Scientific Software</a:t>
            </a:r>
            <a:br>
              <a:rPr lang="en-US" sz="1200" i="1" dirty="0"/>
            </a:br>
            <a:r>
              <a:rPr lang="en-US" sz="1000" i="1" dirty="0">
                <a:hlinkClick r:id="rId12"/>
              </a:rPr>
              <a:t>https://cass.community</a:t>
            </a:r>
            <a:endParaRPr lang="en-US" sz="1200" i="1" dirty="0"/>
          </a:p>
        </p:txBody>
      </p:sp>
      <p:pic>
        <p:nvPicPr>
          <p:cNvPr id="46" name="Picture 45" descr="A picture containing arrow&#10;&#10;AI-generated content may be incorrect.">
            <a:extLst>
              <a:ext uri="{FF2B5EF4-FFF2-40B4-BE49-F238E27FC236}">
                <a16:creationId xmlns:a16="http://schemas.microsoft.com/office/drawing/2014/main" id="{3295FA3E-0898-BBB5-5094-1DD714FB567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69" y="2974535"/>
            <a:ext cx="1238034" cy="112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4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177C6-060C-4445-8C10-ADA6D3CE5F74}"/>
              </a:ext>
            </a:extLst>
          </p:cNvPr>
          <p:cNvSpPr/>
          <p:nvPr userDrawn="1"/>
        </p:nvSpPr>
        <p:spPr>
          <a:xfrm>
            <a:off x="0" y="6186396"/>
            <a:ext cx="12188825" cy="6716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864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</a:pPr>
            <a:endParaRPr lang="en-US" sz="16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8305800" y="5921829"/>
            <a:ext cx="3883025" cy="93617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177633" y="503144"/>
            <a:ext cx="8292316" cy="1030930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177632" y="2085962"/>
            <a:ext cx="8292317" cy="2855300"/>
          </a:xfrm>
        </p:spPr>
        <p:txBody>
          <a:bodyPr lIns="109728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165" y="6321694"/>
            <a:ext cx="2409477" cy="401008"/>
          </a:xfrm>
          <a:prstGeom prst="rect">
            <a:avLst/>
          </a:prstGeom>
        </p:spPr>
      </p:pic>
      <p:pic>
        <p:nvPicPr>
          <p:cNvPr id="13" name="Picture 2" descr="https://licensebuttons.net/l/by/4.0/88x31.png">
            <a:extLst>
              <a:ext uri="{FF2B5EF4-FFF2-40B4-BE49-F238E27FC236}">
                <a16:creationId xmlns:a16="http://schemas.microsoft.com/office/drawing/2014/main" id="{FAFD7D99-41CA-4FD0-9396-9C5659F220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69" y="5841262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022D1C-99FF-490C-8690-D8081D33C0AF}"/>
              </a:ext>
            </a:extLst>
          </p:cNvPr>
          <p:cNvSpPr txBox="1"/>
          <p:nvPr userDrawn="1"/>
        </p:nvSpPr>
        <p:spPr>
          <a:xfrm>
            <a:off x="1810964" y="5776533"/>
            <a:ext cx="117111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/>
              <a:t>See slide 2 for license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0B7EC-D4C0-0A37-EF93-54309C1E7E8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59" y="158509"/>
            <a:ext cx="2109916" cy="90525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0F78BBA-CA78-5294-331D-4FF2C7E24130}"/>
              </a:ext>
            </a:extLst>
          </p:cNvPr>
          <p:cNvSpPr txBox="1"/>
          <p:nvPr userDrawn="1"/>
        </p:nvSpPr>
        <p:spPr>
          <a:xfrm>
            <a:off x="901538" y="1454246"/>
            <a:ext cx="1144159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Presented by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46535C-8BAF-4C90-D9FC-1F9DEBD63664}"/>
              </a:ext>
            </a:extLst>
          </p:cNvPr>
          <p:cNvSpPr txBox="1"/>
          <p:nvPr userDrawn="1"/>
        </p:nvSpPr>
        <p:spPr>
          <a:xfrm>
            <a:off x="948025" y="2646131"/>
            <a:ext cx="1051185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Members of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AAB72B-84F4-4584-743C-0666B60199DF}"/>
              </a:ext>
            </a:extLst>
          </p:cNvPr>
          <p:cNvSpPr txBox="1"/>
          <p:nvPr userDrawn="1"/>
        </p:nvSpPr>
        <p:spPr>
          <a:xfrm>
            <a:off x="572120" y="4624321"/>
            <a:ext cx="1802994" cy="350865"/>
          </a:xfrm>
          <a:prstGeom prst="rect">
            <a:avLst/>
          </a:prstGeom>
          <a:noFill/>
        </p:spPr>
        <p:txBody>
          <a:bodyPr wrap="none" lIns="118872" tIns="91440" rIns="118872" bIns="91440" rtlCol="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i="1" dirty="0"/>
              <a:t>With prior support from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93E210C-5BED-DDB3-D550-7F26DD4306F1}"/>
              </a:ext>
            </a:extLst>
          </p:cNvPr>
          <p:cNvGrpSpPr/>
          <p:nvPr userDrawn="1"/>
        </p:nvGrpSpPr>
        <p:grpSpPr>
          <a:xfrm>
            <a:off x="355043" y="5027111"/>
            <a:ext cx="2237149" cy="457200"/>
            <a:chOff x="343050" y="5128711"/>
            <a:chExt cx="2237149" cy="45720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D9951F4-A286-C918-B7AA-A8464936BF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050" y="5128711"/>
              <a:ext cx="1002296" cy="457200"/>
            </a:xfrm>
            <a:prstGeom prst="rect">
              <a:avLst/>
            </a:prstGeom>
          </p:spPr>
        </p:pic>
        <p:pic>
          <p:nvPicPr>
            <p:cNvPr id="39" name="Picture 3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8C57CFBE-9AF1-2C8C-588A-A688D74DCC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950" y="5128711"/>
              <a:ext cx="1054249" cy="4572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2BA4B7-A005-6A43-8827-E83F4DE01712}"/>
              </a:ext>
            </a:extLst>
          </p:cNvPr>
          <p:cNvGrpSpPr/>
          <p:nvPr userDrawn="1"/>
        </p:nvGrpSpPr>
        <p:grpSpPr>
          <a:xfrm>
            <a:off x="-69503" y="1892144"/>
            <a:ext cx="2985270" cy="790169"/>
            <a:chOff x="-69503" y="2214872"/>
            <a:chExt cx="2985270" cy="790169"/>
          </a:xfrm>
        </p:grpSpPr>
        <p:pic>
          <p:nvPicPr>
            <p:cNvPr id="41" name="Picture 4">
              <a:extLst>
                <a:ext uri="{FF2B5EF4-FFF2-40B4-BE49-F238E27FC236}">
                  <a16:creationId xmlns:a16="http://schemas.microsoft.com/office/drawing/2014/main" id="{765E1775-33FC-EACF-C80F-E1D868617F6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438" y="2317122"/>
              <a:ext cx="1371600" cy="318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A picture containing graphics, logo, font, symbol&#10;&#10;Description automatically generated">
              <a:extLst>
                <a:ext uri="{FF2B5EF4-FFF2-40B4-BE49-F238E27FC236}">
                  <a16:creationId xmlns:a16="http://schemas.microsoft.com/office/drawing/2014/main" id="{AE24807A-AF21-C96A-5512-2CF0B045B73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95" y="2214872"/>
              <a:ext cx="841248" cy="5233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F4DEADF-EC75-D9FE-11CF-E46668DF0429}"/>
                </a:ext>
              </a:extLst>
            </p:cNvPr>
            <p:cNvSpPr txBox="1"/>
            <p:nvPr userDrawn="1"/>
          </p:nvSpPr>
          <p:spPr>
            <a:xfrm>
              <a:off x="-69503" y="2668026"/>
              <a:ext cx="1631472" cy="337015"/>
            </a:xfrm>
            <a:prstGeom prst="rect">
              <a:avLst/>
            </a:prstGeom>
            <a:noFill/>
          </p:spPr>
          <p:txBody>
            <a:bodyPr wrap="none" lIns="118872" tIns="91440" rIns="118872" bIns="91440" rtlCol="0" anchor="ctr" anchorCtr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1050" i="1" dirty="0">
                  <a:hlinkClick r:id="rId10"/>
                </a:rPr>
                <a:t>https://pesoproject.org</a:t>
              </a:r>
              <a:endParaRPr lang="en-US" sz="1050" i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B76E15-F2F1-A666-3260-82A999CB0E86}"/>
                </a:ext>
              </a:extLst>
            </p:cNvPr>
            <p:cNvSpPr txBox="1"/>
            <p:nvPr userDrawn="1"/>
          </p:nvSpPr>
          <p:spPr>
            <a:xfrm>
              <a:off x="1423755" y="2668026"/>
              <a:ext cx="1492012" cy="337015"/>
            </a:xfrm>
            <a:prstGeom prst="rect">
              <a:avLst/>
            </a:prstGeom>
            <a:noFill/>
          </p:spPr>
          <p:txBody>
            <a:bodyPr wrap="none" lIns="118872" tIns="91440" rIns="118872" bIns="91440" rtlCol="0" anchor="ctr" anchorCtr="0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sz="1050" i="1" dirty="0">
                  <a:hlinkClick r:id="rId11"/>
                </a:rPr>
                <a:t>https://rapids.lbl.gov</a:t>
              </a:r>
              <a:endParaRPr lang="en-US" sz="1050" i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79612D3-10C7-7CE9-6CE5-E9F498A59A79}"/>
              </a:ext>
            </a:extLst>
          </p:cNvPr>
          <p:cNvSpPr txBox="1"/>
          <p:nvPr userDrawn="1"/>
        </p:nvSpPr>
        <p:spPr>
          <a:xfrm>
            <a:off x="166031" y="4011401"/>
            <a:ext cx="2605511" cy="655564"/>
          </a:xfrm>
          <a:prstGeom prst="rect">
            <a:avLst/>
          </a:prstGeom>
          <a:noFill/>
        </p:spPr>
        <p:txBody>
          <a:bodyPr wrap="square" lIns="118872" tIns="91440" rIns="118872" bIns="91440" rtlCol="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i="1" dirty="0"/>
              <a:t>Consortium for the Advancement of Scientific Software</a:t>
            </a:r>
            <a:br>
              <a:rPr lang="en-US" sz="1200" i="1" dirty="0"/>
            </a:br>
            <a:r>
              <a:rPr lang="en-US" sz="1000" i="1" dirty="0">
                <a:hlinkClick r:id="rId12"/>
              </a:rPr>
              <a:t>https://cass.community</a:t>
            </a:r>
            <a:endParaRPr lang="en-US" sz="1200" i="1" dirty="0"/>
          </a:p>
        </p:txBody>
      </p:sp>
      <p:pic>
        <p:nvPicPr>
          <p:cNvPr id="46" name="Picture 45" descr="A picture containing arrow&#10;&#10;AI-generated content may be incorrect.">
            <a:extLst>
              <a:ext uri="{FF2B5EF4-FFF2-40B4-BE49-F238E27FC236}">
                <a16:creationId xmlns:a16="http://schemas.microsoft.com/office/drawing/2014/main" id="{B4AA5A9E-875B-2389-D2F6-38167E35B66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69" y="2974535"/>
            <a:ext cx="1238034" cy="112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2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411480"/>
            <a:ext cx="11372473" cy="9144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5760" y="1737360"/>
            <a:ext cx="11369809" cy="40477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82725" indent="-22225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level0.4	</a:t>
            </a:r>
          </a:p>
        </p:txBody>
      </p:sp>
    </p:spTree>
    <p:extLst>
      <p:ext uri="{BB962C8B-B14F-4D97-AF65-F5344CB8AC3E}">
        <p14:creationId xmlns:p14="http://schemas.microsoft.com/office/powerpoint/2010/main" val="120922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411480"/>
            <a:ext cx="1137513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737360"/>
            <a:ext cx="5588582" cy="821190"/>
          </a:xfr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b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58550"/>
            <a:ext cx="5588582" cy="3373229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482725" indent="-222250">
              <a:buFont typeface="Arial" panose="020B0604020202020204" pitchFamily="34" charset="0"/>
              <a:buChar char="•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914" y="1737360"/>
            <a:ext cx="5531934" cy="821190"/>
          </a:xfr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b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8914" y="2558550"/>
            <a:ext cx="5531934" cy="3373229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 marL="1482725" indent="-2222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86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411480"/>
            <a:ext cx="7465488" cy="8107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48056" y="1316736"/>
            <a:ext cx="5605272" cy="347472"/>
          </a:xfrm>
          <a:solidFill>
            <a:schemeClr val="accent3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8056" y="1655064"/>
            <a:ext cx="5605272" cy="1316736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buFont typeface="Arial" panose="020B0604020202020204" pitchFamily="34" charset="0"/>
              <a:buChar char="•"/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53912" y="1316736"/>
            <a:ext cx="5605272" cy="347472"/>
          </a:xfrm>
          <a:solidFill>
            <a:schemeClr val="accent3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53912" y="1655064"/>
            <a:ext cx="5605272" cy="1316736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 marL="1482725" indent="-2222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C1494F-06BF-478E-BCF5-6FCC755EF9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5" y="3438144"/>
            <a:ext cx="5605463" cy="338138"/>
          </a:xfrm>
          <a:solidFill>
            <a:schemeClr val="accent3"/>
          </a:solidFill>
          <a:ln w="1905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800" b="0" smtClean="0">
                <a:solidFill>
                  <a:schemeClr val="bg1"/>
                </a:solidFill>
              </a:defRPr>
            </a:lvl1pPr>
            <a:lvl2pPr>
              <a:defRPr lang="en-US" b="1" smtClean="0">
                <a:solidFill>
                  <a:schemeClr val="bg1"/>
                </a:solidFill>
              </a:defRPr>
            </a:lvl2pPr>
            <a:lvl3pPr>
              <a:defRPr lang="en-US" b="1" smtClean="0">
                <a:solidFill>
                  <a:schemeClr val="bg1"/>
                </a:solidFill>
              </a:defRPr>
            </a:lvl3pPr>
            <a:lvl4pPr>
              <a:defRPr lang="en-US" b="1" smtClean="0">
                <a:solidFill>
                  <a:schemeClr val="bg1"/>
                </a:solidFill>
              </a:defRPr>
            </a:lvl4pPr>
            <a:lvl5pPr>
              <a:defRPr lang="en-US" b="1">
                <a:solidFill>
                  <a:schemeClr val="bg1"/>
                </a:solidFill>
              </a:defRPr>
            </a:lvl5pPr>
          </a:lstStyle>
          <a:p>
            <a:pPr marL="230188" lvl="0" indent="-230188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13F5F8-5DA4-4A7D-94FF-19BFEBF090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3150" y="3438144"/>
            <a:ext cx="5605463" cy="338138"/>
          </a:xfrm>
          <a:solidFill>
            <a:schemeClr val="accent3"/>
          </a:solidFill>
          <a:ln w="1905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800" b="0" smtClean="0">
                <a:solidFill>
                  <a:schemeClr val="bg1"/>
                </a:solidFill>
              </a:defRPr>
            </a:lvl1pPr>
            <a:lvl2pPr>
              <a:defRPr lang="en-US" b="1" smtClean="0">
                <a:solidFill>
                  <a:schemeClr val="bg1"/>
                </a:solidFill>
              </a:defRPr>
            </a:lvl2pPr>
            <a:lvl3pPr>
              <a:defRPr lang="en-US" b="1" smtClean="0">
                <a:solidFill>
                  <a:schemeClr val="bg1"/>
                </a:solidFill>
              </a:defRPr>
            </a:lvl3pPr>
            <a:lvl4pPr>
              <a:defRPr lang="en-US" b="1" smtClean="0">
                <a:solidFill>
                  <a:schemeClr val="bg1"/>
                </a:solidFill>
              </a:defRPr>
            </a:lvl4pPr>
            <a:lvl5pPr>
              <a:defRPr lang="en-US" b="1">
                <a:solidFill>
                  <a:schemeClr val="bg1"/>
                </a:solidFill>
              </a:defRPr>
            </a:lvl5pPr>
          </a:lstStyle>
          <a:p>
            <a:pPr marL="230188" lvl="0" indent="-230188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508C29-BEAF-4D1B-85C7-62D86B9A9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675" y="3776472"/>
            <a:ext cx="5605463" cy="1316736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  <a:tileRect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A42C277-CD07-4855-BE2B-F5804018E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3150" y="3776472"/>
            <a:ext cx="5605463" cy="1316736"/>
          </a:xfrm>
          <a:noFill/>
          <a:ln w="1905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  <a:tileRect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7546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411480"/>
            <a:ext cx="11375136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0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65760" y="411480"/>
            <a:ext cx="11376442" cy="846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5760" y="1737360"/>
            <a:ext cx="11376442" cy="4040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256"/>
          <p:cNvSpPr txBox="1">
            <a:spLocks noChangeArrowheads="1"/>
          </p:cNvSpPr>
          <p:nvPr userDrawn="1"/>
        </p:nvSpPr>
        <p:spPr>
          <a:xfrm>
            <a:off x="363828" y="6477000"/>
            <a:ext cx="3315547" cy="182562"/>
          </a:xfrm>
          <a:prstGeom prst="rect">
            <a:avLst/>
          </a:prstGeom>
          <a:ln/>
        </p:spPr>
        <p:txBody>
          <a:bodyPr anchor="ctr"/>
          <a:lstStyle/>
          <a:p>
            <a:pPr algn="l"/>
            <a:r>
              <a:rPr lang="en-US" sz="1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 flipH="1">
            <a:off x="163374" y="6513051"/>
            <a:ext cx="515635" cy="146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l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4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37" r:id="rId3"/>
    <p:sldLayoutId id="2147483939" r:id="rId4"/>
    <p:sldLayoutId id="2147483950" r:id="rId5"/>
    <p:sldLayoutId id="2147483940" r:id="rId6"/>
  </p:sldLayoutIdLst>
  <p:hf hdr="0" ftr="0" dt="0"/>
  <p:txStyles>
    <p:titleStyle>
      <a:lvl1pPr marL="0" indent="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800" b="1" kern="1200" baseline="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>
          <a:solidFill>
            <a:srgbClr val="006C3A"/>
          </a:solidFill>
          <a:latin typeface="Arial Black" pitchFamily="34" charset="0"/>
        </a:defRPr>
      </a:lvl9pPr>
    </p:titleStyle>
    <p:bodyStyle>
      <a:lvl1pPr marL="230188" indent="-230188" algn="l" rtl="0" eaLnBrk="1" fontAlgn="base" hangingPunct="1">
        <a:lnSpc>
          <a:spcPct val="90000"/>
        </a:lnSpc>
        <a:spcBef>
          <a:spcPts val="1400"/>
        </a:spcBef>
        <a:spcAft>
          <a:spcPct val="0"/>
        </a:spcAft>
        <a:buClr>
          <a:schemeClr val="tx1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794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018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588" indent="-1730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tx1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82725" indent="-22225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Font typeface="Arial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B3B4-69DA-4728-BD80-41CE41CDE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BF10E-A133-4BAB-A18B-C7563472A3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49102-FA8F-46A7-83A0-A9A05667E1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6617-5516-4E55-AE7E-7E31417CED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D55B71-8B0F-4FB0-8981-1394D64313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829A8F-4A06-4B9D-8269-0962AD5516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425D42-C089-4CFF-BE75-87BF248450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0556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s (Wide Screen)">
  <a:themeElements>
    <a:clrScheme name="ECP 171103 final">
      <a:dk1>
        <a:sysClr val="windowText" lastClr="000000"/>
      </a:dk1>
      <a:lt1>
        <a:sysClr val="window" lastClr="FFFFFF"/>
      </a:lt1>
      <a:dk2>
        <a:srgbClr val="266093"/>
      </a:dk2>
      <a:lt2>
        <a:srgbClr val="FFFFFF"/>
      </a:lt2>
      <a:accent1>
        <a:srgbClr val="2A75BB"/>
      </a:accent1>
      <a:accent2>
        <a:srgbClr val="84B641"/>
      </a:accent2>
      <a:accent3>
        <a:srgbClr val="43B1E5"/>
      </a:accent3>
      <a:accent4>
        <a:srgbClr val="D13940"/>
      </a:accent4>
      <a:accent5>
        <a:srgbClr val="C39C2F"/>
      </a:accent5>
      <a:accent6>
        <a:srgbClr val="7F7F7F"/>
      </a:accent6>
      <a:hlink>
        <a:srgbClr val="A03123"/>
      </a:hlink>
      <a:folHlink>
        <a:srgbClr val="00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</a:spPr>
      <a:bodyPr rot="0" spcFirstLastPara="0" vertOverflow="overflow" horzOverflow="overflow" vert="horz" wrap="square" lIns="121851" tIns="60925" rIns="121851" bIns="60925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2000" dirty="0">
            <a:solidFill>
              <a:schemeClr val="bg1"/>
            </a:solidFill>
          </a:defRPr>
        </a:defPPr>
      </a:lstStyle>
    </a:spDef>
    <a:txDef>
      <a:spPr>
        <a:noFill/>
      </a:spPr>
      <a:bodyPr wrap="square" lIns="118872" tIns="91440" rIns="118872" bIns="91440" rtlCol="0" anchor="ctr" anchorCtr="0">
        <a:spAutoFit/>
      </a:bodyPr>
      <a:lstStyle>
        <a:defPPr algn="l">
          <a:lnSpc>
            <a:spcPct val="9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P_PowerPointTemplate-v1.0_20171106" id="{82BFD86B-8FF4-4B2C-AD68-5655622D7E2C}" vid="{C92328A0-5FA1-40E2-AE72-E588ED49AD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464437F680748A68B85EB6594EA7D" ma:contentTypeVersion="0" ma:contentTypeDescription="Create a new document." ma:contentTypeScope="" ma:versionID="fe3f4dd58d5914c51cfc6deaa8ad845c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DB7DEB-074E-4EE8-9B6E-FD27732310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9E20559-B232-4371-8690-E3D8007EDB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0EC660-24D0-43A0-AE5E-E274115E726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ECP_PowerPoint_Template-v1.0_20171106</Template>
  <TotalTime>5769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Presentations (Wide Screen)</vt:lpstr>
      <vt:lpstr>PowerPoint Presentation</vt:lpstr>
    </vt:vector>
  </TitlesOfParts>
  <Company>ORNL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of Exascale Computing</dc:title>
  <dc:creator>Bernholdt, David E.</dc:creator>
  <cp:lastModifiedBy>Bernholdt, David</cp:lastModifiedBy>
  <cp:revision>422</cp:revision>
  <cp:lastPrinted>2017-11-02T18:35:01Z</cp:lastPrinted>
  <dcterms:created xsi:type="dcterms:W3CDTF">2018-11-06T17:28:56Z</dcterms:created>
  <dcterms:modified xsi:type="dcterms:W3CDTF">2025-08-06T00:52:49Z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0x010100565464437F680748A68B85EB6594EA7D</vt:lpwstr>
  </property>
</Properties>
</file>