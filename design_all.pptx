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56"/>
  </p:notesMasterIdLst>
  <p:handoutMasterIdLst>
    <p:handoutMasterId r:id="rId57"/>
  </p:handoutMasterIdLst>
  <p:sldIdLst>
    <p:sldId id="318" r:id="rId5"/>
    <p:sldId id="320" r:id="rId6"/>
    <p:sldId id="5590" r:id="rId7"/>
    <p:sldId id="618" r:id="rId8"/>
    <p:sldId id="5571" r:id="rId9"/>
    <p:sldId id="5577" r:id="rId10"/>
    <p:sldId id="5591" r:id="rId11"/>
    <p:sldId id="5594" r:id="rId12"/>
    <p:sldId id="5593" r:id="rId13"/>
    <p:sldId id="5579" r:id="rId14"/>
    <p:sldId id="5580" r:id="rId15"/>
    <p:sldId id="5683" r:id="rId16"/>
    <p:sldId id="5583" r:id="rId17"/>
    <p:sldId id="5576" r:id="rId18"/>
    <p:sldId id="5572" r:id="rId19"/>
    <p:sldId id="5570" r:id="rId20"/>
    <p:sldId id="5584" r:id="rId21"/>
    <p:sldId id="5585" r:id="rId22"/>
    <p:sldId id="5587" r:id="rId23"/>
    <p:sldId id="5586" r:id="rId24"/>
    <p:sldId id="5596" r:id="rId25"/>
    <p:sldId id="5597" r:id="rId26"/>
    <p:sldId id="5598" r:id="rId27"/>
    <p:sldId id="5599" r:id="rId28"/>
    <p:sldId id="641" r:id="rId29"/>
    <p:sldId id="5600" r:id="rId30"/>
    <p:sldId id="642" r:id="rId31"/>
    <p:sldId id="5595" r:id="rId32"/>
    <p:sldId id="677" r:id="rId33"/>
    <p:sldId id="5673" r:id="rId34"/>
    <p:sldId id="5681" r:id="rId35"/>
    <p:sldId id="5557" r:id="rId36"/>
    <p:sldId id="5558" r:id="rId37"/>
    <p:sldId id="5559" r:id="rId38"/>
    <p:sldId id="5560" r:id="rId39"/>
    <p:sldId id="5561" r:id="rId40"/>
    <p:sldId id="5562" r:id="rId41"/>
    <p:sldId id="5563" r:id="rId42"/>
    <p:sldId id="5675" r:id="rId43"/>
    <p:sldId id="5564" r:id="rId44"/>
    <p:sldId id="5565" r:id="rId45"/>
    <p:sldId id="5566" r:id="rId46"/>
    <p:sldId id="5567" r:id="rId47"/>
    <p:sldId id="5676" r:id="rId48"/>
    <p:sldId id="5677" r:id="rId49"/>
    <p:sldId id="5678" r:id="rId50"/>
    <p:sldId id="5679" r:id="rId51"/>
    <p:sldId id="5680" r:id="rId52"/>
    <p:sldId id="5555" r:id="rId53"/>
    <p:sldId id="5682" r:id="rId54"/>
    <p:sldId id="674" r:id="rId55"/>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06" autoAdjust="0"/>
    <p:restoredTop sz="96571" autoAdjust="0"/>
  </p:normalViewPr>
  <p:slideViewPr>
    <p:cSldViewPr snapToGrid="0" showGuides="1">
      <p:cViewPr varScale="1">
        <p:scale>
          <a:sx n="123" d="100"/>
          <a:sy n="123" d="100"/>
        </p:scale>
        <p:origin x="984" y="184"/>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changing</a:t>
            </a:r>
            <a:r>
              <a:rPr lang="en-US" baseline="0" dirty="0"/>
              <a:t> the block size to adjust to the cache memory</a:t>
            </a:r>
          </a:p>
          <a:p>
            <a:r>
              <a:rPr lang="en-US" baseline="0" dirty="0"/>
              <a:t>And point-to-point </a:t>
            </a:r>
            <a:r>
              <a:rPr lang="en-US" baseline="0" dirty="0" err="1"/>
              <a:t>Vs</a:t>
            </a:r>
            <a:r>
              <a:rPr lang="en-US" baseline="0" dirty="0"/>
              <a:t> collectives depending upon the scale of the problem</a:t>
            </a:r>
            <a:endParaRPr lang="en-US" dirty="0"/>
          </a:p>
        </p:txBody>
      </p:sp>
      <p:sp>
        <p:nvSpPr>
          <p:cNvPr id="4" name="Slide Number Placeholder 3"/>
          <p:cNvSpPr>
            <a:spLocks noGrp="1"/>
          </p:cNvSpPr>
          <p:nvPr>
            <p:ph type="sldNum" sz="quarter" idx="10"/>
          </p:nvPr>
        </p:nvSpPr>
        <p:spPr/>
        <p:txBody>
          <a:bodyPr/>
          <a:lstStyle/>
          <a:p>
            <a:fld id="{6E363A66-168C-0143-BD3D-B116B7B003A5}" type="slidenum">
              <a:rPr lang="en-US" smtClean="0"/>
              <a:t>26</a:t>
            </a:fld>
            <a:endParaRPr lang="en-US"/>
          </a:p>
        </p:txBody>
      </p:sp>
    </p:spTree>
    <p:extLst>
      <p:ext uri="{BB962C8B-B14F-4D97-AF65-F5344CB8AC3E}">
        <p14:creationId xmlns:p14="http://schemas.microsoft.com/office/powerpoint/2010/main" val="3880885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changing</a:t>
            </a:r>
            <a:r>
              <a:rPr lang="en-US" baseline="0" dirty="0"/>
              <a:t> the block size to adjust to the cache memory</a:t>
            </a:r>
          </a:p>
          <a:p>
            <a:r>
              <a:rPr lang="en-US" baseline="0" dirty="0"/>
              <a:t>And point-to-point </a:t>
            </a:r>
            <a:r>
              <a:rPr lang="en-US" baseline="0" dirty="0" err="1"/>
              <a:t>Vs</a:t>
            </a:r>
            <a:r>
              <a:rPr lang="en-US" baseline="0" dirty="0"/>
              <a:t> collectives depending upon the scale of the problem</a:t>
            </a:r>
            <a:endParaRPr lang="en-US" dirty="0"/>
          </a:p>
        </p:txBody>
      </p:sp>
      <p:sp>
        <p:nvSpPr>
          <p:cNvPr id="4" name="Slide Number Placeholder 3"/>
          <p:cNvSpPr>
            <a:spLocks noGrp="1"/>
          </p:cNvSpPr>
          <p:nvPr>
            <p:ph type="sldNum" sz="quarter" idx="10"/>
          </p:nvPr>
        </p:nvSpPr>
        <p:spPr/>
        <p:txBody>
          <a:bodyPr/>
          <a:lstStyle/>
          <a:p>
            <a:fld id="{6E363A66-168C-0143-BD3D-B116B7B003A5}" type="slidenum">
              <a:rPr lang="en-US" smtClean="0"/>
              <a:t>27</a:t>
            </a:fld>
            <a:endParaRPr lang="en-US"/>
          </a:p>
        </p:txBody>
      </p:sp>
    </p:spTree>
    <p:extLst>
      <p:ext uri="{BB962C8B-B14F-4D97-AF65-F5344CB8AC3E}">
        <p14:creationId xmlns:p14="http://schemas.microsoft.com/office/powerpoint/2010/main" val="2615353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Various forms :: CUDE, HIP, </a:t>
            </a:r>
            <a:r>
              <a:rPr lang="en-US" dirty="0" err="1"/>
              <a:t>OpenACC</a:t>
            </a:r>
            <a:r>
              <a:rPr lang="en-US" dirty="0"/>
              <a:t>, OpenMP, </a:t>
            </a:r>
            <a:r>
              <a:rPr lang="en-US" dirty="0" err="1"/>
              <a:t>OneAPI</a:t>
            </a:r>
            <a:r>
              <a:rPr lang="en-US" dirty="0"/>
              <a:t>, SYCL </a:t>
            </a:r>
            <a:r>
              <a:rPr lang="en-US" dirty="0" err="1"/>
              <a:t>etc</a:t>
            </a:r>
            <a:r>
              <a:rPr lang="en-US" dirty="0"/>
              <a:t> </a:t>
            </a:r>
            <a:r>
              <a:rPr lang="en-US" dirty="0" err="1"/>
              <a:t>etc</a:t>
            </a:r>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32</a:t>
            </a:fld>
            <a:endParaRPr lang="en-US"/>
          </a:p>
        </p:txBody>
      </p:sp>
    </p:spTree>
    <p:extLst>
      <p:ext uri="{BB962C8B-B14F-4D97-AF65-F5344CB8AC3E}">
        <p14:creationId xmlns:p14="http://schemas.microsoft.com/office/powerpoint/2010/main" val="1069378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accelerator systems these days have mechanisms for sharing (reading/writing) memory between host and device.  Easy, but generally not the most performant approach</a:t>
            </a:r>
          </a:p>
          <a:p>
            <a:r>
              <a:rPr lang="en-US" dirty="0"/>
              <a:t>confounding differences between systems with regard to how well that sharing is supported.</a:t>
            </a:r>
          </a:p>
          <a:p>
            <a:r>
              <a:rPr lang="en-US" dirty="0"/>
              <a:t>Task based examples – Legion, </a:t>
            </a:r>
            <a:r>
              <a:rPr lang="en-US" dirty="0" err="1"/>
              <a:t>PaRSEC</a:t>
            </a:r>
            <a:r>
              <a:rPr lang="en-US" dirty="0"/>
              <a:t>, HPX, </a:t>
            </a:r>
            <a:r>
              <a:rPr lang="en-US" dirty="0" err="1"/>
              <a:t>StarPU</a:t>
            </a:r>
            <a:r>
              <a:rPr lang="en-US" dirty="0"/>
              <a:t>, Charm++</a:t>
            </a:r>
          </a:p>
        </p:txBody>
      </p:sp>
      <p:sp>
        <p:nvSpPr>
          <p:cNvPr id="4" name="Slide Number Placeholder 3"/>
          <p:cNvSpPr>
            <a:spLocks noGrp="1"/>
          </p:cNvSpPr>
          <p:nvPr>
            <p:ph type="sldNum" sz="quarter" idx="5"/>
          </p:nvPr>
        </p:nvSpPr>
        <p:spPr/>
        <p:txBody>
          <a:bodyPr/>
          <a:lstStyle/>
          <a:p>
            <a:fld id="{54E672D7-8E2D-4611-973D-F4591A707C34}" type="slidenum">
              <a:rPr lang="en-US" smtClean="0"/>
              <a:t>37</a:t>
            </a:fld>
            <a:endParaRPr lang="en-US"/>
          </a:p>
        </p:txBody>
      </p:sp>
    </p:spTree>
    <p:extLst>
      <p:ext uri="{BB962C8B-B14F-4D97-AF65-F5344CB8AC3E}">
        <p14:creationId xmlns:p14="http://schemas.microsoft.com/office/powerpoint/2010/main" val="2024410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D1486B-722D-9B49-913C-F91D7B47AE8B}" type="slidenum">
              <a:rPr lang="en-US" smtClean="0"/>
              <a:t>49</a:t>
            </a:fld>
            <a:endParaRPr lang="en-US"/>
          </a:p>
        </p:txBody>
      </p:sp>
    </p:spTree>
    <p:extLst>
      <p:ext uri="{BB962C8B-B14F-4D97-AF65-F5344CB8AC3E}">
        <p14:creationId xmlns:p14="http://schemas.microsoft.com/office/powerpoint/2010/main" val="1387246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3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1810" y="1848659"/>
            <a:ext cx="2108499" cy="914400"/>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74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3920" y="1848659"/>
            <a:ext cx="2108499" cy="914400"/>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15" name="Picture 14">
            <a:extLst>
              <a:ext uri="{FF2B5EF4-FFF2-40B4-BE49-F238E27FC236}">
                <a16:creationId xmlns:a16="http://schemas.microsoft.com/office/drawing/2014/main" id="{C554CDC7-44CF-4751-9869-0265C8E0184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33211" y="3189686"/>
            <a:ext cx="2109916" cy="905256"/>
          </a:xfrm>
          <a:prstGeom prst="rect">
            <a:avLst/>
          </a:prstGeom>
        </p:spPr>
      </p:pic>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8"/>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8F49DD1-DDB5-AB43-B311-7649AD474C82}"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B3D163-D76A-5F4F-A4CE-5FA8F639A976}" type="slidenum">
              <a:rPr lang="en-US" smtClean="0"/>
              <a:t>‹#›</a:t>
            </a:fld>
            <a:endParaRPr lang="en-US"/>
          </a:p>
        </p:txBody>
      </p:sp>
    </p:spTree>
    <p:extLst>
      <p:ext uri="{BB962C8B-B14F-4D97-AF65-F5344CB8AC3E}">
        <p14:creationId xmlns:p14="http://schemas.microsoft.com/office/powerpoint/2010/main" val="710248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741160" y="6185919"/>
            <a:ext cx="1971212" cy="533060"/>
          </a:xfrm>
          <a:prstGeom prst="rect">
            <a:avLst/>
          </a:prstGeom>
        </p:spPr>
      </p:pic>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pic>
        <p:nvPicPr>
          <p:cNvPr id="3" name="Picture 2" descr="A picture containing shape&#10;&#10;Description automatically generated">
            <a:extLst>
              <a:ext uri="{FF2B5EF4-FFF2-40B4-BE49-F238E27FC236}">
                <a16:creationId xmlns:a16="http://schemas.microsoft.com/office/drawing/2014/main" id="{2A4943B8-0F89-4A94-B130-A128F45E57C4}"/>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7806050" y="6114121"/>
            <a:ext cx="1560289" cy="676656"/>
          </a:xfrm>
          <a:prstGeom prst="rect">
            <a:avLst/>
          </a:prstGeom>
        </p:spPr>
      </p:pic>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 id="2147483953" r:id="rId8"/>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hyperlink" Target="https://doi.org/10.6084/m9.figshare.2382382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en.wikipedia.org/wiki/Upwind_scheme" TargetMode="External"/><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hyperlink" Target="https://en.wikipedia.org/wiki/Crank%E2%80%93Nicolson_method" TargetMode="External"/><Relationship Id="rId5" Type="http://schemas.openxmlformats.org/officeDocument/2006/relationships/hyperlink" Target="https://en.wikipedia.org/wiki/Explicit_and_implicit_methods" TargetMode="External"/><Relationship Id="rId4" Type="http://schemas.openxmlformats.org/officeDocument/2006/relationships/hyperlink" Target="https://en.wikipedia.org/wiki/FTCS_schem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xsdk-project.github.io/MathPackagesTraining2020/lessons/hand_coded_heat/" TargetMode="External"/><Relationship Id="rId2" Type="http://schemas.openxmlformats.org/officeDocument/2006/relationships/hyperlink" Target="https://github.com/abiswas-odu/heateq-design-intersect-2023"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github.com/Flash-X/Flash-X/blob/ylee/try_pushTile_spark/source/physics/Hydro/HydroMain/Spark/Hydro_interface.ini" TargetMode="Externa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1A77B7-F99D-49EA-A49F-D263718C48D7}"/>
              </a:ext>
            </a:extLst>
          </p:cNvPr>
          <p:cNvSpPr>
            <a:spLocks noGrp="1"/>
          </p:cNvSpPr>
          <p:nvPr>
            <p:ph type="ctrTitle"/>
          </p:nvPr>
        </p:nvSpPr>
        <p:spPr/>
        <p:txBody>
          <a:bodyPr/>
          <a:lstStyle/>
          <a:p>
            <a:r>
              <a:rPr lang="en-US" dirty="0"/>
              <a:t>Scientific Software Design</a:t>
            </a:r>
          </a:p>
        </p:txBody>
      </p:sp>
      <p:sp>
        <p:nvSpPr>
          <p:cNvPr id="5" name="Subtitle 4">
            <a:extLst>
              <a:ext uri="{FF2B5EF4-FFF2-40B4-BE49-F238E27FC236}">
                <a16:creationId xmlns:a16="http://schemas.microsoft.com/office/drawing/2014/main" id="{E9C36191-4CD4-4D95-BBB8-C25F2055F697}"/>
              </a:ext>
            </a:extLst>
          </p:cNvPr>
          <p:cNvSpPr>
            <a:spLocks noGrp="1"/>
          </p:cNvSpPr>
          <p:nvPr>
            <p:ph type="subTitle" idx="1"/>
          </p:nvPr>
        </p:nvSpPr>
        <p:spPr/>
        <p:txBody>
          <a:bodyPr/>
          <a:lstStyle/>
          <a:p>
            <a:r>
              <a:rPr lang="en-US" u="sng" dirty="0"/>
              <a:t>Anshu Dubey</a:t>
            </a:r>
            <a:r>
              <a:rPr lang="en-US" dirty="0"/>
              <a:t> </a:t>
            </a:r>
            <a:r>
              <a:rPr lang="en-US" sz="2000" dirty="0"/>
              <a:t>(she/her)</a:t>
            </a:r>
            <a:br>
              <a:rPr lang="en-US" sz="2000" u="sng" dirty="0"/>
            </a:br>
            <a:r>
              <a:rPr lang="en-US" sz="2000" dirty="0"/>
              <a:t>Argonne National Laboratory</a:t>
            </a:r>
            <a:endParaRPr lang="en-US" sz="2400" dirty="0"/>
          </a:p>
          <a:p>
            <a:pPr>
              <a:spcBef>
                <a:spcPts val="2800"/>
              </a:spcBef>
            </a:pPr>
            <a:r>
              <a:rPr lang="en-US" sz="2000" b="0" i="0" dirty="0">
                <a:solidFill>
                  <a:srgbClr val="111111"/>
                </a:solidFill>
                <a:effectLst/>
                <a:latin typeface="+mn-lt"/>
              </a:rPr>
              <a:t>Software Productivity and Sustainability track @ Argonne Training Program on Extreme-Scale Computing summer school</a:t>
            </a:r>
          </a:p>
          <a:p>
            <a:pPr>
              <a:spcBef>
                <a:spcPts val="2800"/>
              </a:spcBef>
            </a:pPr>
            <a:r>
              <a:rPr lang="en-US" sz="2000" dirty="0"/>
              <a:t>Contributors: Anshu Dubey (ANL), Mark C. Miller (LLNL), David E. Bernholdt (ORNL)</a:t>
            </a:r>
          </a:p>
        </p:txBody>
      </p:sp>
    </p:spTree>
    <p:extLst>
      <p:ext uri="{BB962C8B-B14F-4D97-AF65-F5344CB8AC3E}">
        <p14:creationId xmlns:p14="http://schemas.microsoft.com/office/powerpoint/2010/main" val="136510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b="0" i="0" dirty="0">
                <a:solidFill>
                  <a:srgbClr val="111111"/>
                </a:solidFill>
                <a:effectLst/>
                <a:latin typeface="+mn-lt"/>
              </a:rPr>
              <a:t>Anshu Dubey, David E. Bernholdt, Greg Becker, and Jared O’Neal, Software Productivity and Sustainability track, in Argonne Training Program on Extreme-Scale Computing, St. Charles, Illinois, 2023. DOI: </a:t>
            </a:r>
            <a:r>
              <a:rPr lang="en-US" sz="1600" b="0" i="0" u="none" strike="noStrike" dirty="0">
                <a:solidFill>
                  <a:srgbClr val="2A7AE2"/>
                </a:solidFill>
                <a:effectLst/>
                <a:latin typeface="+mn-lt"/>
                <a:hlinkClick r:id="rId4"/>
              </a:rPr>
              <a:t>10.6084/m9.figshare.23823822</a:t>
            </a:r>
            <a:r>
              <a:rPr lang="en-US" sz="1600" b="0" i="0" dirty="0">
                <a:solidFill>
                  <a:srgbClr val="111111"/>
                </a:solidFill>
                <a:effectLst/>
                <a:latin typeface="+mn-lt"/>
              </a:rPr>
              <a:t>.</a:t>
            </a: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endParaRPr lang="en-US" sz="1400" dirty="0"/>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03017-A750-F726-3A1A-1F298D2510CB}"/>
              </a:ext>
            </a:extLst>
          </p:cNvPr>
          <p:cNvSpPr>
            <a:spLocks noGrp="1"/>
          </p:cNvSpPr>
          <p:nvPr>
            <p:ph idx="1"/>
          </p:nvPr>
        </p:nvSpPr>
        <p:spPr>
          <a:xfrm>
            <a:off x="264160" y="1179530"/>
            <a:ext cx="11369809" cy="5463866"/>
          </a:xfrm>
        </p:spPr>
        <p:txBody>
          <a:bodyPr>
            <a:normAutofit/>
          </a:bodyPr>
          <a:lstStyle/>
          <a:p>
            <a:r>
              <a:rPr lang="en-US" dirty="0"/>
              <a:t>Investing some thought in design of software makes it possible to maintain, reuse and extend it</a:t>
            </a:r>
          </a:p>
          <a:p>
            <a:r>
              <a:rPr lang="en-US" dirty="0"/>
              <a:t>Even if some research software begins its life as a one-off use case, it often gets reused</a:t>
            </a:r>
          </a:p>
          <a:p>
            <a:pPr lvl="1"/>
            <a:r>
              <a:rPr lang="en-US" dirty="0"/>
              <a:t>Without proper design it is likely to accrete features haphazardly and become a monstrosity</a:t>
            </a:r>
          </a:p>
          <a:p>
            <a:pPr lvl="2"/>
            <a:r>
              <a:rPr lang="en-US" dirty="0"/>
              <a:t>Acquires a lot of technical debt in the process</a:t>
            </a:r>
          </a:p>
          <a:p>
            <a:pPr lvl="1"/>
            <a:r>
              <a:rPr lang="en-US" dirty="0"/>
              <a:t>Many projects have had this happen </a:t>
            </a:r>
          </a:p>
          <a:p>
            <a:pPr lvl="1"/>
            <a:r>
              <a:rPr lang="en-US" dirty="0"/>
              <a:t>Most end up with a hard reset and start over again</a:t>
            </a:r>
          </a:p>
          <a:p>
            <a:r>
              <a:rPr lang="en-US" dirty="0"/>
              <a:t>In this module we will cover general design principles and those that are tailored for scientific software</a:t>
            </a:r>
          </a:p>
          <a:p>
            <a:r>
              <a:rPr lang="en-US" dirty="0"/>
              <a:t>We will also work through two use cases</a:t>
            </a:r>
          </a:p>
          <a:p>
            <a:pPr lvl="1"/>
            <a:endParaRPr lang="en-US" dirty="0"/>
          </a:p>
          <a:p>
            <a:pPr lvl="1"/>
            <a:endParaRPr lang="en-US" dirty="0"/>
          </a:p>
        </p:txBody>
      </p:sp>
      <p:sp>
        <p:nvSpPr>
          <p:cNvPr id="2" name="Title 1">
            <a:extLst>
              <a:ext uri="{FF2B5EF4-FFF2-40B4-BE49-F238E27FC236}">
                <a16:creationId xmlns:a16="http://schemas.microsoft.com/office/drawing/2014/main" id="{21A7FE85-F68E-DA20-11B5-9FB90BB9AF7B}"/>
              </a:ext>
            </a:extLst>
          </p:cNvPr>
          <p:cNvSpPr>
            <a:spLocks noGrp="1"/>
          </p:cNvSpPr>
          <p:nvPr>
            <p:ph type="title"/>
          </p:nvPr>
        </p:nvSpPr>
        <p:spPr>
          <a:xfrm>
            <a:off x="365760" y="411480"/>
            <a:ext cx="11372473" cy="914400"/>
          </a:xfrm>
        </p:spPr>
        <p:txBody>
          <a:bodyPr/>
          <a:lstStyle/>
          <a:p>
            <a:r>
              <a:rPr lang="en-US" dirty="0"/>
              <a:t>Introduction</a:t>
            </a:r>
          </a:p>
        </p:txBody>
      </p:sp>
    </p:spTree>
    <p:extLst>
      <p:ext uri="{BB962C8B-B14F-4D97-AF65-F5344CB8AC3E}">
        <p14:creationId xmlns:p14="http://schemas.microsoft.com/office/powerpoint/2010/main" val="1158680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p:txBody>
          <a:bodyPr/>
          <a:lstStyle/>
          <a:p>
            <a:r>
              <a:rPr lang="en-US" dirty="0"/>
              <a:t>General Design Principles for Maintainable Software</a:t>
            </a:r>
          </a:p>
        </p:txBody>
      </p:sp>
      <p:sp>
        <p:nvSpPr>
          <p:cNvPr id="9" name="Rounded Rectangle 8">
            <a:extLst>
              <a:ext uri="{FF2B5EF4-FFF2-40B4-BE49-F238E27FC236}">
                <a16:creationId xmlns:a16="http://schemas.microsoft.com/office/drawing/2014/main" id="{22918CC8-79ED-86A0-F247-1AC79103DFA2}"/>
              </a:ext>
            </a:extLst>
          </p:cNvPr>
          <p:cNvSpPr/>
          <p:nvPr/>
        </p:nvSpPr>
        <p:spPr>
          <a:xfrm>
            <a:off x="169333" y="1184114"/>
            <a:ext cx="5721178" cy="5029200"/>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20000"/>
                    <a:lumOff val="80000"/>
                  </a:schemeClr>
                </a:solidFill>
              </a:rPr>
              <a:t>Some definitions from the web</a:t>
            </a:r>
          </a:p>
          <a:p>
            <a:pPr algn="ctr">
              <a:lnSpc>
                <a:spcPct val="90000"/>
              </a:lnSpc>
            </a:pPr>
            <a:endParaRPr lang="en-US" sz="2000" b="1" dirty="0">
              <a:solidFill>
                <a:schemeClr val="accent2">
                  <a:lumMod val="20000"/>
                  <a:lumOff val="80000"/>
                </a:schemeClr>
              </a:solidFill>
            </a:endParaRPr>
          </a:p>
          <a:p>
            <a:pPr marL="342900" indent="-342900" algn="l">
              <a:buFont typeface="Wingdings" pitchFamily="2" charset="2"/>
              <a:buChar char="q"/>
            </a:pPr>
            <a:r>
              <a:rPr lang="en-US" sz="2000" b="0" dirty="0">
                <a:solidFill>
                  <a:schemeClr val="accent2">
                    <a:lumMod val="20000"/>
                    <a:lumOff val="80000"/>
                  </a:schemeClr>
                </a:solidFill>
                <a:effectLst/>
                <a:latin typeface="sohne"/>
              </a:rPr>
              <a:t>Encapsulate what varies</a:t>
            </a:r>
          </a:p>
          <a:p>
            <a:pPr marL="342900" indent="-342900" algn="l">
              <a:buFont typeface="Wingdings" pitchFamily="2" charset="2"/>
              <a:buChar char="q"/>
            </a:pPr>
            <a:r>
              <a:rPr lang="en-US" sz="2000" b="0" dirty="0">
                <a:solidFill>
                  <a:schemeClr val="accent2">
                    <a:lumMod val="20000"/>
                    <a:lumOff val="80000"/>
                  </a:schemeClr>
                </a:solidFill>
                <a:effectLst/>
                <a:latin typeface="sohne"/>
              </a:rPr>
              <a:t>Favor composition over inheritance</a:t>
            </a:r>
          </a:p>
          <a:p>
            <a:pPr marL="342900" indent="-342900" algn="l">
              <a:buFont typeface="Wingdings" pitchFamily="2" charset="2"/>
              <a:buChar char="q"/>
            </a:pPr>
            <a:r>
              <a:rPr lang="en-US" sz="2000" b="0" dirty="0">
                <a:solidFill>
                  <a:schemeClr val="accent2">
                    <a:lumMod val="20000"/>
                    <a:lumOff val="80000"/>
                  </a:schemeClr>
                </a:solidFill>
                <a:effectLst/>
                <a:latin typeface="sohne"/>
              </a:rPr>
              <a:t>Program to interfaces not implementations</a:t>
            </a:r>
          </a:p>
          <a:p>
            <a:pPr marL="342900" indent="-342900" algn="l">
              <a:buFont typeface="Wingdings" pitchFamily="2" charset="2"/>
              <a:buChar char="q"/>
            </a:pPr>
            <a:r>
              <a:rPr lang="en-US" sz="2000" b="0" dirty="0">
                <a:solidFill>
                  <a:schemeClr val="accent2">
                    <a:lumMod val="20000"/>
                    <a:lumOff val="80000"/>
                  </a:schemeClr>
                </a:solidFill>
                <a:effectLst/>
                <a:latin typeface="sohne"/>
              </a:rPr>
              <a:t>Loose coupling – interacting components should have minimal knowledge about each other</a:t>
            </a:r>
          </a:p>
          <a:p>
            <a:pPr marL="342900" indent="-342900" algn="l">
              <a:buFont typeface="Wingdings" pitchFamily="2" charset="2"/>
              <a:buChar char="q"/>
            </a:pPr>
            <a:r>
              <a:rPr lang="en-US" sz="2000" dirty="0">
                <a:solidFill>
                  <a:schemeClr val="accent2">
                    <a:lumMod val="20000"/>
                    <a:lumOff val="80000"/>
                  </a:schemeClr>
                </a:solidFill>
                <a:latin typeface="sohne"/>
              </a:rPr>
              <a:t>SOLID</a:t>
            </a:r>
            <a:endParaRPr lang="en-US" sz="2000" b="0" dirty="0">
              <a:solidFill>
                <a:schemeClr val="accent2">
                  <a:lumMod val="20000"/>
                  <a:lumOff val="80000"/>
                </a:schemeClr>
              </a:solidFill>
              <a:effectLst/>
              <a:latin typeface="sohne"/>
            </a:endParaRPr>
          </a:p>
          <a:p>
            <a:pPr marL="800100" lvl="1" indent="-342900">
              <a:lnSpc>
                <a:spcPct val="90000"/>
              </a:lnSpc>
              <a:buFont typeface="Wingdings" pitchFamily="2" charset="2"/>
              <a:buChar char="q"/>
            </a:pPr>
            <a:endParaRPr lang="en-US" sz="2000" dirty="0">
              <a:solidFill>
                <a:schemeClr val="accent2">
                  <a:lumMod val="20000"/>
                  <a:lumOff val="80000"/>
                </a:schemeClr>
              </a:solidFill>
            </a:endParaRPr>
          </a:p>
          <a:p>
            <a:pPr algn="ctr">
              <a:lnSpc>
                <a:spcPct val="90000"/>
              </a:lnSpc>
            </a:pPr>
            <a:r>
              <a:rPr lang="en-US" sz="2000" dirty="0">
                <a:solidFill>
                  <a:schemeClr val="accent2">
                    <a:lumMod val="20000"/>
                    <a:lumOff val="80000"/>
                  </a:schemeClr>
                </a:solidFill>
              </a:rPr>
              <a:t>https://</a:t>
            </a:r>
            <a:r>
              <a:rPr lang="en-US" sz="2000" dirty="0" err="1">
                <a:solidFill>
                  <a:schemeClr val="accent2">
                    <a:lumMod val="20000"/>
                    <a:lumOff val="80000"/>
                  </a:schemeClr>
                </a:solidFill>
              </a:rPr>
              <a:t>bootcamp.uxdesign.cc</a:t>
            </a:r>
            <a:r>
              <a:rPr lang="en-US" sz="2000" dirty="0">
                <a:solidFill>
                  <a:schemeClr val="accent2">
                    <a:lumMod val="20000"/>
                    <a:lumOff val="80000"/>
                  </a:schemeClr>
                </a:solidFill>
              </a:rPr>
              <a:t>/software-design-principles-every-developers-should-know-23d24735518e</a:t>
            </a:r>
          </a:p>
        </p:txBody>
      </p:sp>
    </p:spTree>
    <p:extLst>
      <p:ext uri="{BB962C8B-B14F-4D97-AF65-F5344CB8AC3E}">
        <p14:creationId xmlns:p14="http://schemas.microsoft.com/office/powerpoint/2010/main" val="3139204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p:txBody>
          <a:bodyPr/>
          <a:lstStyle/>
          <a:p>
            <a:r>
              <a:rPr lang="en-US" dirty="0"/>
              <a:t>General Design Principles for Maintainable Software</a:t>
            </a:r>
          </a:p>
        </p:txBody>
      </p:sp>
      <p:sp>
        <p:nvSpPr>
          <p:cNvPr id="4" name="Rounded Rectangle 3">
            <a:extLst>
              <a:ext uri="{FF2B5EF4-FFF2-40B4-BE49-F238E27FC236}">
                <a16:creationId xmlns:a16="http://schemas.microsoft.com/office/drawing/2014/main" id="{E5BBE479-B16C-D94F-BC94-6B60F0645C44}"/>
              </a:ext>
            </a:extLst>
          </p:cNvPr>
          <p:cNvSpPr/>
          <p:nvPr/>
        </p:nvSpPr>
        <p:spPr>
          <a:xfrm>
            <a:off x="6017055" y="1024986"/>
            <a:ext cx="5721178" cy="5029200"/>
          </a:xfrm>
          <a:prstGeom prst="roundRect">
            <a:avLst/>
          </a:prstGeom>
          <a:solidFill>
            <a:schemeClr val="accent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lvl="1">
              <a:lnSpc>
                <a:spcPct val="90000"/>
              </a:lnSpc>
            </a:pPr>
            <a:endParaRPr lang="en-US" sz="2000" dirty="0">
              <a:solidFill>
                <a:schemeClr val="accent2">
                  <a:lumMod val="50000"/>
                </a:schemeClr>
              </a:solidFill>
            </a:endParaRPr>
          </a:p>
          <a:p>
            <a:pPr algn="ctr">
              <a:lnSpc>
                <a:spcPct val="90000"/>
              </a:lnSpc>
            </a:pPr>
            <a:r>
              <a:rPr lang="en-US" sz="2000" b="1" dirty="0">
                <a:solidFill>
                  <a:schemeClr val="accent2">
                    <a:lumMod val="50000"/>
                  </a:schemeClr>
                </a:solidFill>
              </a:rPr>
              <a:t>SOLID</a:t>
            </a:r>
          </a:p>
          <a:p>
            <a:pPr algn="ctr">
              <a:lnSpc>
                <a:spcPct val="90000"/>
              </a:lnSpc>
            </a:pPr>
            <a:endParaRPr lang="en-US" sz="2000" b="1"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5">
                    <a:lumMod val="50000"/>
                  </a:schemeClr>
                </a:solidFill>
              </a:rPr>
              <a:t>Single responsibility</a:t>
            </a:r>
          </a:p>
          <a:p>
            <a:pPr marL="800100" lvl="1" indent="-342900">
              <a:lnSpc>
                <a:spcPct val="90000"/>
              </a:lnSpc>
              <a:buFont typeface="Wingdings" pitchFamily="2" charset="2"/>
              <a:buChar char="q"/>
            </a:pPr>
            <a:r>
              <a:rPr lang="en-US" dirty="0">
                <a:solidFill>
                  <a:schemeClr val="accent5">
                    <a:lumMod val="50000"/>
                  </a:schemeClr>
                </a:solidFill>
              </a:rPr>
              <a:t>Class/method/function should do only one thing</a:t>
            </a:r>
          </a:p>
          <a:p>
            <a:pPr marL="342900" indent="-342900">
              <a:lnSpc>
                <a:spcPct val="90000"/>
              </a:lnSpc>
              <a:buFont typeface="Wingdings" pitchFamily="2" charset="2"/>
              <a:buChar char="q"/>
            </a:pPr>
            <a:r>
              <a:rPr lang="en-US" sz="2000" dirty="0">
                <a:solidFill>
                  <a:schemeClr val="accent5">
                    <a:lumMod val="50000"/>
                  </a:schemeClr>
                </a:solidFill>
              </a:rPr>
              <a:t>Open/closed</a:t>
            </a:r>
          </a:p>
          <a:p>
            <a:pPr marL="800100" lvl="1" indent="-342900">
              <a:lnSpc>
                <a:spcPct val="90000"/>
              </a:lnSpc>
              <a:buFont typeface="Wingdings" pitchFamily="2" charset="2"/>
              <a:buChar char="q"/>
            </a:pPr>
            <a:r>
              <a:rPr lang="en-US" dirty="0">
                <a:solidFill>
                  <a:schemeClr val="accent5">
                    <a:lumMod val="50000"/>
                  </a:schemeClr>
                </a:solidFill>
              </a:rPr>
              <a:t>Open for extension, close for modification</a:t>
            </a:r>
          </a:p>
          <a:p>
            <a:pPr marL="342900" indent="-342900">
              <a:lnSpc>
                <a:spcPct val="90000"/>
              </a:lnSpc>
              <a:buFont typeface="Wingdings" pitchFamily="2" charset="2"/>
              <a:buChar char="q"/>
            </a:pPr>
            <a:r>
              <a:rPr lang="en-US" sz="2000" dirty="0" err="1">
                <a:solidFill>
                  <a:schemeClr val="accent5">
                    <a:lumMod val="50000"/>
                  </a:schemeClr>
                </a:solidFill>
              </a:rPr>
              <a:t>Liskov</a:t>
            </a:r>
            <a:r>
              <a:rPr lang="en-US" sz="2000" dirty="0">
                <a:solidFill>
                  <a:schemeClr val="accent5">
                    <a:lumMod val="50000"/>
                  </a:schemeClr>
                </a:solidFill>
              </a:rPr>
              <a:t> substitution</a:t>
            </a:r>
          </a:p>
          <a:p>
            <a:pPr marL="800100" lvl="1" indent="-342900">
              <a:lnSpc>
                <a:spcPct val="90000"/>
              </a:lnSpc>
              <a:buFont typeface="Wingdings" pitchFamily="2" charset="2"/>
              <a:buChar char="q"/>
            </a:pPr>
            <a:r>
              <a:rPr lang="en-US" dirty="0">
                <a:solidFill>
                  <a:schemeClr val="accent5">
                    <a:lumMod val="50000"/>
                  </a:schemeClr>
                </a:solidFill>
              </a:rPr>
              <a:t>Implementations of an interface should give same result</a:t>
            </a:r>
          </a:p>
          <a:p>
            <a:pPr marL="342900" indent="-342900">
              <a:lnSpc>
                <a:spcPct val="90000"/>
              </a:lnSpc>
              <a:buFont typeface="Wingdings" pitchFamily="2" charset="2"/>
              <a:buChar char="q"/>
            </a:pPr>
            <a:r>
              <a:rPr lang="en-US" sz="2000" dirty="0">
                <a:solidFill>
                  <a:schemeClr val="accent5">
                    <a:lumMod val="50000"/>
                  </a:schemeClr>
                </a:solidFill>
              </a:rPr>
              <a:t>Interface segregation</a:t>
            </a:r>
          </a:p>
          <a:p>
            <a:pPr marL="800100" lvl="1" indent="-342900">
              <a:lnSpc>
                <a:spcPct val="90000"/>
              </a:lnSpc>
              <a:buFont typeface="Wingdings" pitchFamily="2" charset="2"/>
              <a:buChar char="q"/>
            </a:pPr>
            <a:r>
              <a:rPr lang="en-US" dirty="0">
                <a:solidFill>
                  <a:schemeClr val="accent5">
                    <a:lumMod val="50000"/>
                  </a:schemeClr>
                </a:solidFill>
              </a:rPr>
              <a:t>Client should not have to use methods it does not need</a:t>
            </a:r>
          </a:p>
          <a:p>
            <a:pPr marL="342900" indent="-342900">
              <a:lnSpc>
                <a:spcPct val="90000"/>
              </a:lnSpc>
              <a:buFont typeface="Wingdings" pitchFamily="2" charset="2"/>
              <a:buChar char="q"/>
            </a:pPr>
            <a:r>
              <a:rPr lang="en-US" sz="2000" dirty="0">
                <a:solidFill>
                  <a:schemeClr val="accent5">
                    <a:lumMod val="50000"/>
                  </a:schemeClr>
                </a:solidFill>
              </a:rPr>
              <a:t>Dependency inversion</a:t>
            </a:r>
          </a:p>
          <a:p>
            <a:pPr marL="800100" lvl="1" indent="-342900">
              <a:lnSpc>
                <a:spcPct val="90000"/>
              </a:lnSpc>
              <a:buFont typeface="Wingdings" pitchFamily="2" charset="2"/>
              <a:buChar char="q"/>
            </a:pPr>
            <a:r>
              <a:rPr lang="en-US" dirty="0">
                <a:solidFill>
                  <a:schemeClr val="accent5">
                    <a:lumMod val="50000"/>
                  </a:schemeClr>
                </a:solidFill>
              </a:rPr>
              <a:t>High level modules should not depend on low level modules, only on abstractions</a:t>
            </a:r>
          </a:p>
          <a:p>
            <a:pPr>
              <a:lnSpc>
                <a:spcPct val="90000"/>
              </a:lnSpc>
            </a:pPr>
            <a:r>
              <a:rPr lang="en-US" sz="2000" dirty="0">
                <a:solidFill>
                  <a:schemeClr val="accent5">
                    <a:lumMod val="50000"/>
                  </a:schemeClr>
                </a:solidFill>
              </a:rPr>
              <a:t> </a:t>
            </a:r>
          </a:p>
          <a:p>
            <a:pPr marL="342900" indent="-342900">
              <a:lnSpc>
                <a:spcPct val="90000"/>
              </a:lnSpc>
              <a:buFont typeface="Wingdings" pitchFamily="2" charset="2"/>
              <a:buChar char="q"/>
            </a:pPr>
            <a:endParaRPr lang="en-US" sz="2000" dirty="0">
              <a:solidFill>
                <a:schemeClr val="accent5">
                  <a:lumMod val="50000"/>
                </a:schemeClr>
              </a:solidFill>
            </a:endParaRPr>
          </a:p>
        </p:txBody>
      </p:sp>
      <p:sp>
        <p:nvSpPr>
          <p:cNvPr id="3" name="Rounded Rectangle 2">
            <a:extLst>
              <a:ext uri="{FF2B5EF4-FFF2-40B4-BE49-F238E27FC236}">
                <a16:creationId xmlns:a16="http://schemas.microsoft.com/office/drawing/2014/main" id="{515A1FDF-B4AF-440E-FEA6-3D2FD8BA872B}"/>
              </a:ext>
            </a:extLst>
          </p:cNvPr>
          <p:cNvSpPr/>
          <p:nvPr/>
        </p:nvSpPr>
        <p:spPr>
          <a:xfrm>
            <a:off x="169333" y="1046954"/>
            <a:ext cx="5721178" cy="5029200"/>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20000"/>
                    <a:lumOff val="80000"/>
                  </a:schemeClr>
                </a:solidFill>
              </a:rPr>
              <a:t>Found on the web</a:t>
            </a:r>
          </a:p>
          <a:p>
            <a:pPr algn="ctr">
              <a:lnSpc>
                <a:spcPct val="90000"/>
              </a:lnSpc>
            </a:pPr>
            <a:endParaRPr lang="en-US" sz="2000" b="1" dirty="0">
              <a:solidFill>
                <a:schemeClr val="accent2">
                  <a:lumMod val="20000"/>
                  <a:lumOff val="80000"/>
                </a:schemeClr>
              </a:solidFill>
            </a:endParaRPr>
          </a:p>
          <a:p>
            <a:pPr marL="342900" indent="-342900" algn="l">
              <a:buFont typeface="Wingdings" pitchFamily="2" charset="2"/>
              <a:buChar char="q"/>
            </a:pPr>
            <a:r>
              <a:rPr lang="en-US" sz="2000" b="0" dirty="0">
                <a:solidFill>
                  <a:schemeClr val="accent2">
                    <a:lumMod val="20000"/>
                    <a:lumOff val="80000"/>
                  </a:schemeClr>
                </a:solidFill>
                <a:effectLst/>
                <a:latin typeface="sohne"/>
              </a:rPr>
              <a:t>Encapsulate what varies</a:t>
            </a:r>
          </a:p>
          <a:p>
            <a:pPr marL="342900" indent="-342900" algn="l">
              <a:buFont typeface="Wingdings" pitchFamily="2" charset="2"/>
              <a:buChar char="q"/>
            </a:pPr>
            <a:r>
              <a:rPr lang="en-US" sz="2000" b="0" dirty="0">
                <a:solidFill>
                  <a:schemeClr val="accent2">
                    <a:lumMod val="20000"/>
                    <a:lumOff val="80000"/>
                  </a:schemeClr>
                </a:solidFill>
                <a:effectLst/>
                <a:latin typeface="sohne"/>
              </a:rPr>
              <a:t>Favor composition over inheritance</a:t>
            </a:r>
          </a:p>
          <a:p>
            <a:pPr marL="342900" indent="-342900" algn="l">
              <a:buFont typeface="Wingdings" pitchFamily="2" charset="2"/>
              <a:buChar char="q"/>
            </a:pPr>
            <a:r>
              <a:rPr lang="en-US" sz="2000" b="0" dirty="0">
                <a:solidFill>
                  <a:schemeClr val="accent2">
                    <a:lumMod val="20000"/>
                    <a:lumOff val="80000"/>
                  </a:schemeClr>
                </a:solidFill>
                <a:effectLst/>
                <a:latin typeface="sohne"/>
              </a:rPr>
              <a:t>Program to interfaces not implementations</a:t>
            </a:r>
          </a:p>
          <a:p>
            <a:pPr marL="342900" indent="-342900" algn="l">
              <a:buFont typeface="Wingdings" pitchFamily="2" charset="2"/>
              <a:buChar char="q"/>
            </a:pPr>
            <a:r>
              <a:rPr lang="en-US" sz="2000" b="0" dirty="0">
                <a:solidFill>
                  <a:schemeClr val="accent2">
                    <a:lumMod val="20000"/>
                    <a:lumOff val="80000"/>
                  </a:schemeClr>
                </a:solidFill>
                <a:effectLst/>
                <a:latin typeface="sohne"/>
              </a:rPr>
              <a:t>Loose coupling – interacting components should have minimal knowledge about each other</a:t>
            </a:r>
          </a:p>
          <a:p>
            <a:pPr marL="342900" indent="-342900" algn="l">
              <a:buFont typeface="Wingdings" pitchFamily="2" charset="2"/>
              <a:buChar char="q"/>
            </a:pPr>
            <a:r>
              <a:rPr lang="en-US" sz="2000" dirty="0">
                <a:solidFill>
                  <a:schemeClr val="accent2">
                    <a:lumMod val="20000"/>
                    <a:lumOff val="80000"/>
                  </a:schemeClr>
                </a:solidFill>
                <a:latin typeface="sohne"/>
              </a:rPr>
              <a:t>SOLID</a:t>
            </a:r>
            <a:endParaRPr lang="en-US" sz="2000" b="0" dirty="0">
              <a:solidFill>
                <a:schemeClr val="accent2">
                  <a:lumMod val="20000"/>
                  <a:lumOff val="80000"/>
                </a:schemeClr>
              </a:solidFill>
              <a:effectLst/>
              <a:latin typeface="sohne"/>
            </a:endParaRPr>
          </a:p>
          <a:p>
            <a:pPr marL="800100" lvl="1" indent="-342900">
              <a:lnSpc>
                <a:spcPct val="90000"/>
              </a:lnSpc>
              <a:buFont typeface="Wingdings" pitchFamily="2" charset="2"/>
              <a:buChar char="q"/>
            </a:pPr>
            <a:endParaRPr lang="en-US" sz="2000" dirty="0">
              <a:solidFill>
                <a:schemeClr val="accent2">
                  <a:lumMod val="20000"/>
                  <a:lumOff val="80000"/>
                </a:schemeClr>
              </a:solidFill>
            </a:endParaRPr>
          </a:p>
          <a:p>
            <a:pPr algn="ctr">
              <a:lnSpc>
                <a:spcPct val="90000"/>
              </a:lnSpc>
            </a:pPr>
            <a:r>
              <a:rPr lang="en-US" sz="2000" dirty="0">
                <a:solidFill>
                  <a:schemeClr val="accent2">
                    <a:lumMod val="20000"/>
                    <a:lumOff val="80000"/>
                  </a:schemeClr>
                </a:solidFill>
              </a:rPr>
              <a:t>https://</a:t>
            </a:r>
            <a:r>
              <a:rPr lang="en-US" sz="2000" dirty="0" err="1">
                <a:solidFill>
                  <a:schemeClr val="accent2">
                    <a:lumMod val="20000"/>
                    <a:lumOff val="80000"/>
                  </a:schemeClr>
                </a:solidFill>
              </a:rPr>
              <a:t>bootcamp.uxdesign.cc</a:t>
            </a:r>
            <a:r>
              <a:rPr lang="en-US" sz="2000" dirty="0">
                <a:solidFill>
                  <a:schemeClr val="accent2">
                    <a:lumMod val="20000"/>
                    <a:lumOff val="80000"/>
                  </a:schemeClr>
                </a:solidFill>
              </a:rPr>
              <a:t>/software-design-principles-every-developers-should-know-23d24735518e</a:t>
            </a:r>
          </a:p>
        </p:txBody>
      </p:sp>
    </p:spTree>
    <p:extLst>
      <p:ext uri="{BB962C8B-B14F-4D97-AF65-F5344CB8AC3E}">
        <p14:creationId xmlns:p14="http://schemas.microsoft.com/office/powerpoint/2010/main" val="2626710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885C9-0085-AB61-AB08-70EECA001F0C}"/>
              </a:ext>
            </a:extLst>
          </p:cNvPr>
          <p:cNvSpPr>
            <a:spLocks noGrp="1"/>
          </p:cNvSpPr>
          <p:nvPr>
            <p:ph type="title"/>
          </p:nvPr>
        </p:nvSpPr>
        <p:spPr/>
        <p:txBody>
          <a:bodyPr/>
          <a:lstStyle/>
          <a:p>
            <a:r>
              <a:rPr lang="en-US" dirty="0"/>
              <a:t>Designing Software – High Level Phases</a:t>
            </a:r>
          </a:p>
        </p:txBody>
      </p:sp>
      <p:sp>
        <p:nvSpPr>
          <p:cNvPr id="4" name="Rounded Rectangle 3">
            <a:extLst>
              <a:ext uri="{FF2B5EF4-FFF2-40B4-BE49-F238E27FC236}">
                <a16:creationId xmlns:a16="http://schemas.microsoft.com/office/drawing/2014/main" id="{1FA50980-32EC-326F-85DD-3CF03094F555}"/>
              </a:ext>
            </a:extLst>
          </p:cNvPr>
          <p:cNvSpPr/>
          <p:nvPr/>
        </p:nvSpPr>
        <p:spPr>
          <a:xfrm>
            <a:off x="357782" y="2204476"/>
            <a:ext cx="3036711"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Features and capabilities</a:t>
            </a:r>
          </a:p>
          <a:p>
            <a:pPr marL="342900" indent="-342900">
              <a:buFont typeface="Wingdings" pitchFamily="2" charset="2"/>
              <a:buChar char="q"/>
            </a:pPr>
            <a:r>
              <a:rPr lang="en-US" sz="2400" dirty="0"/>
              <a:t>Constraints</a:t>
            </a:r>
          </a:p>
          <a:p>
            <a:pPr marL="342900" indent="-342900">
              <a:buFont typeface="Wingdings" pitchFamily="2" charset="2"/>
              <a:buChar char="q"/>
            </a:pPr>
            <a:r>
              <a:rPr lang="en-US" sz="2400" dirty="0"/>
              <a:t>Limitations</a:t>
            </a:r>
          </a:p>
          <a:p>
            <a:pPr marL="342900" indent="-342900">
              <a:buFont typeface="Wingdings" pitchFamily="2" charset="2"/>
              <a:buChar char="q"/>
            </a:pPr>
            <a:r>
              <a:rPr lang="en-US" sz="2400" dirty="0"/>
              <a:t>Target users</a:t>
            </a:r>
          </a:p>
          <a:p>
            <a:pPr marL="342900" indent="-342900">
              <a:buFont typeface="Wingdings" pitchFamily="2" charset="2"/>
              <a:buChar char="q"/>
            </a:pPr>
            <a:r>
              <a:rPr lang="en-US" sz="2400" dirty="0"/>
              <a:t>Other …..</a:t>
            </a:r>
          </a:p>
        </p:txBody>
      </p:sp>
      <p:sp>
        <p:nvSpPr>
          <p:cNvPr id="5" name="TextBox 4">
            <a:extLst>
              <a:ext uri="{FF2B5EF4-FFF2-40B4-BE49-F238E27FC236}">
                <a16:creationId xmlns:a16="http://schemas.microsoft.com/office/drawing/2014/main" id="{FA0D9DE4-2E38-ADA4-2111-58E62395D1CF}"/>
              </a:ext>
            </a:extLst>
          </p:cNvPr>
          <p:cNvSpPr txBox="1"/>
          <p:nvPr/>
        </p:nvSpPr>
        <p:spPr>
          <a:xfrm>
            <a:off x="827790" y="1253483"/>
            <a:ext cx="2243819" cy="1098762"/>
          </a:xfrm>
          <a:prstGeom prst="rect">
            <a:avLst/>
          </a:prstGeom>
          <a:noFill/>
        </p:spPr>
        <p:txBody>
          <a:bodyPr wrap="none" lIns="118872" tIns="91440" rIns="118872" bIns="91440" rtlCol="0" anchor="ctr" anchorCtr="0">
            <a:spAutoFit/>
          </a:bodyPr>
          <a:lstStyle/>
          <a:p>
            <a:pPr>
              <a:lnSpc>
                <a:spcPct val="90000"/>
              </a:lnSpc>
            </a:pPr>
            <a:r>
              <a:rPr lang="en-US" sz="2400" dirty="0"/>
              <a:t>Requirements </a:t>
            </a:r>
          </a:p>
          <a:p>
            <a:pPr>
              <a:lnSpc>
                <a:spcPct val="90000"/>
              </a:lnSpc>
            </a:pPr>
            <a:r>
              <a:rPr lang="en-US" sz="2400" dirty="0"/>
              <a:t>gathering</a:t>
            </a:r>
          </a:p>
          <a:p>
            <a:pPr algn="l">
              <a:lnSpc>
                <a:spcPct val="90000"/>
              </a:lnSpc>
            </a:pPr>
            <a:endParaRPr lang="en-US" dirty="0"/>
          </a:p>
        </p:txBody>
      </p:sp>
      <p:sp>
        <p:nvSpPr>
          <p:cNvPr id="6" name="Rounded Rectangle 5">
            <a:extLst>
              <a:ext uri="{FF2B5EF4-FFF2-40B4-BE49-F238E27FC236}">
                <a16:creationId xmlns:a16="http://schemas.microsoft.com/office/drawing/2014/main" id="{4C39241D-5C09-4307-67AD-F23DB0AB60AA}"/>
              </a:ext>
            </a:extLst>
          </p:cNvPr>
          <p:cNvSpPr/>
          <p:nvPr/>
        </p:nvSpPr>
        <p:spPr>
          <a:xfrm>
            <a:off x="3579447" y="2204476"/>
            <a:ext cx="3617417"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Understand design space</a:t>
            </a:r>
          </a:p>
          <a:p>
            <a:pPr marL="342900" indent="-342900">
              <a:buFont typeface="Wingdings" pitchFamily="2" charset="2"/>
              <a:buChar char="q"/>
            </a:pPr>
            <a:r>
              <a:rPr lang="en-US" sz="2400" dirty="0"/>
              <a:t>Decompose into high level components</a:t>
            </a:r>
          </a:p>
          <a:p>
            <a:pPr marL="342900" indent="-342900">
              <a:buFont typeface="Wingdings" pitchFamily="2" charset="2"/>
              <a:buChar char="q"/>
            </a:pPr>
            <a:r>
              <a:rPr lang="en-US" sz="2400" dirty="0"/>
              <a:t>Bin components into types</a:t>
            </a:r>
          </a:p>
        </p:txBody>
      </p:sp>
      <p:sp>
        <p:nvSpPr>
          <p:cNvPr id="7" name="TextBox 6">
            <a:extLst>
              <a:ext uri="{FF2B5EF4-FFF2-40B4-BE49-F238E27FC236}">
                <a16:creationId xmlns:a16="http://schemas.microsoft.com/office/drawing/2014/main" id="{2633D9E3-0DB7-838E-127A-B1FC97FE7133}"/>
              </a:ext>
            </a:extLst>
          </p:cNvPr>
          <p:cNvSpPr txBox="1"/>
          <p:nvPr/>
        </p:nvSpPr>
        <p:spPr>
          <a:xfrm>
            <a:off x="4163653" y="1431575"/>
            <a:ext cx="2449004" cy="766364"/>
          </a:xfrm>
          <a:prstGeom prst="rect">
            <a:avLst/>
          </a:prstGeom>
          <a:noFill/>
        </p:spPr>
        <p:txBody>
          <a:bodyPr wrap="none" lIns="118872" tIns="91440" rIns="118872" bIns="91440" rtlCol="0" anchor="ctr" anchorCtr="0">
            <a:spAutoFit/>
          </a:bodyPr>
          <a:lstStyle/>
          <a:p>
            <a:pPr>
              <a:lnSpc>
                <a:spcPct val="90000"/>
              </a:lnSpc>
            </a:pPr>
            <a:r>
              <a:rPr lang="en-US" sz="2400" dirty="0"/>
              <a:t> Decomposition </a:t>
            </a:r>
          </a:p>
          <a:p>
            <a:pPr algn="l">
              <a:lnSpc>
                <a:spcPct val="90000"/>
              </a:lnSpc>
            </a:pPr>
            <a:endParaRPr lang="en-US" dirty="0"/>
          </a:p>
        </p:txBody>
      </p:sp>
      <p:sp>
        <p:nvSpPr>
          <p:cNvPr id="8" name="Rounded Rectangle 7">
            <a:extLst>
              <a:ext uri="{FF2B5EF4-FFF2-40B4-BE49-F238E27FC236}">
                <a16:creationId xmlns:a16="http://schemas.microsoft.com/office/drawing/2014/main" id="{AB44A520-B698-3423-B712-EB569E19AB6A}"/>
              </a:ext>
            </a:extLst>
          </p:cNvPr>
          <p:cNvSpPr/>
          <p:nvPr/>
        </p:nvSpPr>
        <p:spPr>
          <a:xfrm>
            <a:off x="7435818" y="2204476"/>
            <a:ext cx="3868204"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Understand component hierarchy</a:t>
            </a:r>
          </a:p>
          <a:p>
            <a:pPr marL="342900" indent="-342900">
              <a:buFont typeface="Wingdings" pitchFamily="2" charset="2"/>
              <a:buChar char="q"/>
            </a:pPr>
            <a:r>
              <a:rPr lang="en-US" sz="2400" dirty="0"/>
              <a:t>Figure out connectivity among components </a:t>
            </a:r>
          </a:p>
          <a:p>
            <a:pPr marL="342900" indent="-342900">
              <a:buFont typeface="Wingdings" pitchFamily="2" charset="2"/>
              <a:buChar char="q"/>
            </a:pPr>
            <a:r>
              <a:rPr lang="en-US" sz="2400" dirty="0"/>
              <a:t>Articulate dependencies</a:t>
            </a:r>
          </a:p>
        </p:txBody>
      </p:sp>
      <p:sp>
        <p:nvSpPr>
          <p:cNvPr id="10" name="TextBox 9">
            <a:extLst>
              <a:ext uri="{FF2B5EF4-FFF2-40B4-BE49-F238E27FC236}">
                <a16:creationId xmlns:a16="http://schemas.microsoft.com/office/drawing/2014/main" id="{69FE6956-13C8-A349-28BA-03AEB7764C04}"/>
              </a:ext>
            </a:extLst>
          </p:cNvPr>
          <p:cNvSpPr txBox="1"/>
          <p:nvPr/>
        </p:nvSpPr>
        <p:spPr>
          <a:xfrm>
            <a:off x="8311628" y="1398929"/>
            <a:ext cx="1918410" cy="766364"/>
          </a:xfrm>
          <a:prstGeom prst="rect">
            <a:avLst/>
          </a:prstGeom>
          <a:noFill/>
        </p:spPr>
        <p:txBody>
          <a:bodyPr wrap="none" lIns="118872" tIns="91440" rIns="118872" bIns="91440" rtlCol="0" anchor="ctr" anchorCtr="0">
            <a:spAutoFit/>
          </a:bodyPr>
          <a:lstStyle/>
          <a:p>
            <a:pPr>
              <a:lnSpc>
                <a:spcPct val="90000"/>
              </a:lnSpc>
            </a:pPr>
            <a:r>
              <a:rPr lang="en-US" sz="2400" dirty="0"/>
              <a:t>Connectivity</a:t>
            </a:r>
          </a:p>
          <a:p>
            <a:pPr algn="l">
              <a:lnSpc>
                <a:spcPct val="90000"/>
              </a:lnSpc>
            </a:pPr>
            <a:endParaRPr lang="en-US" dirty="0"/>
          </a:p>
        </p:txBody>
      </p:sp>
    </p:spTree>
    <p:extLst>
      <p:ext uri="{BB962C8B-B14F-4D97-AF65-F5344CB8AC3E}">
        <p14:creationId xmlns:p14="http://schemas.microsoft.com/office/powerpoint/2010/main" val="327214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7A2BF5-DB7A-E642-B501-8F10E157011B}"/>
              </a:ext>
            </a:extLst>
          </p:cNvPr>
          <p:cNvSpPr>
            <a:spLocks noGrp="1"/>
          </p:cNvSpPr>
          <p:nvPr>
            <p:ph type="title"/>
          </p:nvPr>
        </p:nvSpPr>
        <p:spPr>
          <a:xfrm>
            <a:off x="408175" y="325677"/>
            <a:ext cx="11372473" cy="914400"/>
          </a:xfrm>
        </p:spPr>
        <p:txBody>
          <a:bodyPr/>
          <a:lstStyle/>
          <a:p>
            <a:r>
              <a:rPr lang="en-US" dirty="0"/>
              <a:t>Example 1 – Problem Description </a:t>
            </a:r>
          </a:p>
        </p:txBody>
      </p:sp>
      <p:sp>
        <p:nvSpPr>
          <p:cNvPr id="2" name="TextBox 1">
            <a:extLst>
              <a:ext uri="{FF2B5EF4-FFF2-40B4-BE49-F238E27FC236}">
                <a16:creationId xmlns:a16="http://schemas.microsoft.com/office/drawing/2014/main" id="{4C439045-FCA2-2014-FEB7-A07E45870135}"/>
              </a:ext>
            </a:extLst>
          </p:cNvPr>
          <p:cNvSpPr txBox="1"/>
          <p:nvPr/>
        </p:nvSpPr>
        <p:spPr>
          <a:xfrm>
            <a:off x="739035" y="1073794"/>
            <a:ext cx="10083452" cy="1929759"/>
          </a:xfrm>
          <a:prstGeom prst="rect">
            <a:avLst/>
          </a:prstGeom>
          <a:noFill/>
        </p:spPr>
        <p:txBody>
          <a:bodyPr wrap="square" lIns="118872" tIns="91440" rIns="118872" bIns="91440" rtlCol="0" anchor="ctr" anchorCtr="0">
            <a:spAutoFit/>
          </a:bodyPr>
          <a:lstStyle/>
          <a:p>
            <a:pPr algn="l">
              <a:lnSpc>
                <a:spcPct val="90000"/>
              </a:lnSpc>
            </a:pPr>
            <a:r>
              <a:rPr lang="en-US" dirty="0"/>
              <a:t>We have a house with exterior walls made of single material of thickness L</a:t>
            </a:r>
            <a:r>
              <a:rPr lang="en-US" baseline="-25000" dirty="0"/>
              <a:t>x</a:t>
            </a:r>
          </a:p>
          <a:p>
            <a:pPr algn="l">
              <a:lnSpc>
                <a:spcPct val="90000"/>
              </a:lnSpc>
            </a:pPr>
            <a:r>
              <a:rPr lang="en-US" dirty="0"/>
              <a:t>The wall has some water pipes shown in the picture. </a:t>
            </a:r>
          </a:p>
          <a:p>
            <a:pPr algn="l">
              <a:lnSpc>
                <a:spcPct val="90000"/>
              </a:lnSpc>
            </a:pPr>
            <a:endParaRPr lang="en-US" dirty="0"/>
          </a:p>
          <a:p>
            <a:pPr algn="l">
              <a:lnSpc>
                <a:spcPct val="90000"/>
              </a:lnSpc>
            </a:pPr>
            <a:r>
              <a:rPr lang="en-US" dirty="0"/>
              <a:t>The inside temperature is kept at 70 degrees. But outside temperature is expected to be -40 degrees for 15.5 hours.  </a:t>
            </a:r>
          </a:p>
          <a:p>
            <a:pPr algn="l">
              <a:lnSpc>
                <a:spcPct val="90000"/>
              </a:lnSpc>
            </a:pPr>
            <a:endParaRPr lang="en-US" dirty="0"/>
          </a:p>
          <a:p>
            <a:pPr algn="l">
              <a:lnSpc>
                <a:spcPct val="90000"/>
              </a:lnSpc>
            </a:pPr>
            <a:r>
              <a:rPr lang="en-US" dirty="0"/>
              <a:t>Will the pipes freeze before the storm is over</a:t>
            </a:r>
          </a:p>
        </p:txBody>
      </p:sp>
      <p:pic>
        <p:nvPicPr>
          <p:cNvPr id="6" name="Picture 5">
            <a:extLst>
              <a:ext uri="{FF2B5EF4-FFF2-40B4-BE49-F238E27FC236}">
                <a16:creationId xmlns:a16="http://schemas.microsoft.com/office/drawing/2014/main" id="{C9174917-B47A-5964-848F-DEB3367745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533" y="3163573"/>
            <a:ext cx="6337300" cy="3644900"/>
          </a:xfrm>
          <a:prstGeom prst="rect">
            <a:avLst/>
          </a:prstGeom>
        </p:spPr>
      </p:pic>
    </p:spTree>
    <p:extLst>
      <p:ext uri="{BB962C8B-B14F-4D97-AF65-F5344CB8AC3E}">
        <p14:creationId xmlns:p14="http://schemas.microsoft.com/office/powerpoint/2010/main" val="3237971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0E1BF-6E32-A34B-7956-473A1B6F3219}"/>
              </a:ext>
            </a:extLst>
          </p:cNvPr>
          <p:cNvSpPr>
            <a:spLocks noGrp="1"/>
          </p:cNvSpPr>
          <p:nvPr>
            <p:ph type="title"/>
          </p:nvPr>
        </p:nvSpPr>
        <p:spPr/>
        <p:txBody>
          <a:bodyPr/>
          <a:lstStyle/>
          <a:p>
            <a:r>
              <a:rPr lang="en-US" dirty="0"/>
              <a:t>Mathematical formulation</a:t>
            </a:r>
          </a:p>
        </p:txBody>
      </p:sp>
      <p:sp>
        <p:nvSpPr>
          <p:cNvPr id="3" name="Content Placeholder 2">
            <a:extLst>
              <a:ext uri="{FF2B5EF4-FFF2-40B4-BE49-F238E27FC236}">
                <a16:creationId xmlns:a16="http://schemas.microsoft.com/office/drawing/2014/main" id="{E6A7BEE9-6D64-C905-AF2A-758F3FD1CA5A}"/>
              </a:ext>
            </a:extLst>
          </p:cNvPr>
          <p:cNvSpPr>
            <a:spLocks noGrp="1"/>
          </p:cNvSpPr>
          <p:nvPr>
            <p:ph idx="1"/>
          </p:nvPr>
        </p:nvSpPr>
        <p:spPr>
          <a:xfrm>
            <a:off x="365761" y="1325880"/>
            <a:ext cx="8763726" cy="4047778"/>
          </a:xfrm>
        </p:spPr>
        <p:txBody>
          <a:bodyPr/>
          <a:lstStyle/>
          <a:p>
            <a:r>
              <a:rPr lang="en-US" dirty="0"/>
              <a:t>Heat conduction is governed by a partial differential equation </a:t>
            </a:r>
          </a:p>
          <a:p>
            <a:endParaRPr lang="en-US" dirty="0"/>
          </a:p>
          <a:p>
            <a:endParaRPr lang="en-US" dirty="0"/>
          </a:p>
          <a:p>
            <a:endParaRPr lang="en-US" dirty="0"/>
          </a:p>
          <a:p>
            <a:r>
              <a:rPr lang="en-US" dirty="0"/>
              <a:t>We make some simplifying assumptions</a:t>
            </a:r>
          </a:p>
          <a:p>
            <a:pPr lvl="1"/>
            <a:r>
              <a:rPr lang="en-US" dirty="0"/>
              <a:t>The thermal diffusivity is constant for all space and time.</a:t>
            </a:r>
          </a:p>
          <a:p>
            <a:pPr lvl="1"/>
            <a:r>
              <a:rPr lang="en-US" dirty="0"/>
              <a:t>The only heat source is from the initial and/or boundary conditions.</a:t>
            </a:r>
          </a:p>
          <a:p>
            <a:pPr lvl="1"/>
            <a:r>
              <a:rPr lang="en-US" dirty="0"/>
              <a:t>We will deal only with the one dimensional problem in Cartesian coordinates.</a:t>
            </a:r>
          </a:p>
          <a:p>
            <a:pPr lvl="1"/>
            <a:r>
              <a:rPr lang="en-US" dirty="0"/>
              <a:t>That reduces the heat equation to </a:t>
            </a:r>
          </a:p>
        </p:txBody>
      </p:sp>
      <p:pic>
        <p:nvPicPr>
          <p:cNvPr id="6" name="Picture 5">
            <a:extLst>
              <a:ext uri="{FF2B5EF4-FFF2-40B4-BE49-F238E27FC236}">
                <a16:creationId xmlns:a16="http://schemas.microsoft.com/office/drawing/2014/main" id="{97D4D16E-77AB-39CA-49E1-18890FBAD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9312" y="1673369"/>
            <a:ext cx="4495800" cy="1676400"/>
          </a:xfrm>
          <a:prstGeom prst="rect">
            <a:avLst/>
          </a:prstGeom>
        </p:spPr>
      </p:pic>
      <p:pic>
        <p:nvPicPr>
          <p:cNvPr id="8" name="Picture 7">
            <a:extLst>
              <a:ext uri="{FF2B5EF4-FFF2-40B4-BE49-F238E27FC236}">
                <a16:creationId xmlns:a16="http://schemas.microsoft.com/office/drawing/2014/main" id="{1B02ECEE-EBAD-C040-6061-1C73EA8E01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1562" y="4882947"/>
            <a:ext cx="3467100" cy="1676400"/>
          </a:xfrm>
          <a:prstGeom prst="rect">
            <a:avLst/>
          </a:prstGeom>
        </p:spPr>
      </p:pic>
      <p:sp>
        <p:nvSpPr>
          <p:cNvPr id="9" name="Rounded Rectangle 8">
            <a:extLst>
              <a:ext uri="{FF2B5EF4-FFF2-40B4-BE49-F238E27FC236}">
                <a16:creationId xmlns:a16="http://schemas.microsoft.com/office/drawing/2014/main" id="{10C26505-1F00-67E0-3B87-395726D39151}"/>
              </a:ext>
            </a:extLst>
          </p:cNvPr>
          <p:cNvSpPr/>
          <p:nvPr/>
        </p:nvSpPr>
        <p:spPr>
          <a:xfrm>
            <a:off x="8862930" y="487679"/>
            <a:ext cx="3265715" cy="4885979"/>
          </a:xfrm>
          <a:prstGeom prst="roundRect">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000" dirty="0">
                <a:solidFill>
                  <a:schemeClr val="bg1"/>
                </a:solidFill>
              </a:rPr>
              <a:t>The repository has solutions using three numerical methods</a:t>
            </a:r>
          </a:p>
          <a:p>
            <a:pPr>
              <a:lnSpc>
                <a:spcPct val="90000"/>
              </a:lnSpc>
            </a:pPr>
            <a:endParaRPr lang="en-US" sz="2000" dirty="0">
              <a:solidFill>
                <a:schemeClr val="bg1"/>
              </a:solidFill>
            </a:endParaRPr>
          </a:p>
          <a:p>
            <a:pPr lvl="1">
              <a:buFont typeface="Arial" panose="020B0604020202020204" pitchFamily="34" charset="0"/>
              <a:buChar char="•"/>
            </a:pPr>
            <a:r>
              <a:rPr lang="en-US" b="0" i="0" u="none" strike="noStrike" dirty="0">
                <a:solidFill>
                  <a:schemeClr val="bg1"/>
                </a:solidFill>
                <a:effectLst/>
                <a:latin typeface="-apple-system"/>
                <a:hlinkClick r:id="rId4">
                  <a:extLst>
                    <a:ext uri="{A12FA001-AC4F-418D-AE19-62706E023703}">
                      <ahyp:hlinkClr xmlns:ahyp="http://schemas.microsoft.com/office/drawing/2018/hyperlinkcolor" val="tx"/>
                    </a:ext>
                  </a:extLst>
                </a:hlinkClick>
              </a:rPr>
              <a:t>Foward Time Centered Space (FTCS)</a:t>
            </a:r>
            <a:r>
              <a:rPr lang="en-US" b="0" i="0" dirty="0">
                <a:solidFill>
                  <a:schemeClr val="bg1"/>
                </a:solidFill>
                <a:effectLst/>
                <a:latin typeface="-apple-system"/>
              </a:rPr>
              <a:t>, an </a:t>
            </a:r>
            <a:r>
              <a:rPr lang="en-US" b="0" i="0" u="none" strike="noStrike" dirty="0">
                <a:solidFill>
                  <a:schemeClr val="bg1"/>
                </a:solidFill>
                <a:effectLst/>
                <a:latin typeface="-apple-system"/>
                <a:hlinkClick r:id="rId5">
                  <a:extLst>
                    <a:ext uri="{A12FA001-AC4F-418D-AE19-62706E023703}">
                      <ahyp:hlinkClr xmlns:ahyp="http://schemas.microsoft.com/office/drawing/2018/hyperlinkcolor" val="tx"/>
                    </a:ext>
                  </a:extLst>
                </a:hlinkClick>
              </a:rPr>
              <a:t>explicit</a:t>
            </a:r>
            <a:r>
              <a:rPr lang="en-US" b="0" i="0" dirty="0">
                <a:solidFill>
                  <a:schemeClr val="bg1"/>
                </a:solidFill>
                <a:effectLst/>
                <a:latin typeface="-apple-system"/>
              </a:rPr>
              <a:t> method</a:t>
            </a:r>
          </a:p>
          <a:p>
            <a:pPr lvl="1">
              <a:buFont typeface="Arial" panose="020B0604020202020204" pitchFamily="34" charset="0"/>
              <a:buChar char="•"/>
            </a:pPr>
            <a:r>
              <a:rPr lang="en-US" b="0" i="0" u="none" strike="noStrike" dirty="0">
                <a:solidFill>
                  <a:schemeClr val="bg1"/>
                </a:solidFill>
                <a:effectLst/>
                <a:latin typeface="-apple-system"/>
                <a:hlinkClick r:id="rId6">
                  <a:extLst>
                    <a:ext uri="{A12FA001-AC4F-418D-AE19-62706E023703}">
                      <ahyp:hlinkClr xmlns:ahyp="http://schemas.microsoft.com/office/drawing/2018/hyperlinkcolor" val="tx"/>
                    </a:ext>
                  </a:extLst>
                </a:hlinkClick>
              </a:rPr>
              <a:t>Crank-Nicholson</a:t>
            </a:r>
            <a:r>
              <a:rPr lang="en-US" b="0" i="0" dirty="0">
                <a:solidFill>
                  <a:schemeClr val="bg1"/>
                </a:solidFill>
                <a:effectLst/>
                <a:latin typeface="-apple-system"/>
              </a:rPr>
              <a:t>, an </a:t>
            </a:r>
            <a:r>
              <a:rPr lang="en-US" b="0" i="0" u="none" strike="noStrike" dirty="0">
                <a:solidFill>
                  <a:schemeClr val="bg1"/>
                </a:solidFill>
                <a:effectLst/>
                <a:latin typeface="-apple-system"/>
                <a:hlinkClick r:id="rId5">
                  <a:extLst>
                    <a:ext uri="{A12FA001-AC4F-418D-AE19-62706E023703}">
                      <ahyp:hlinkClr xmlns:ahyp="http://schemas.microsoft.com/office/drawing/2018/hyperlinkcolor" val="tx"/>
                    </a:ext>
                  </a:extLst>
                </a:hlinkClick>
              </a:rPr>
              <a:t>implicit</a:t>
            </a:r>
            <a:r>
              <a:rPr lang="en-US" b="0" i="0" dirty="0">
                <a:solidFill>
                  <a:schemeClr val="bg1"/>
                </a:solidFill>
                <a:effectLst/>
                <a:latin typeface="-apple-system"/>
              </a:rPr>
              <a:t> method</a:t>
            </a:r>
          </a:p>
          <a:p>
            <a:pPr lvl="1">
              <a:buFont typeface="Arial" panose="020B0604020202020204" pitchFamily="34" charset="0"/>
              <a:buChar char="•"/>
            </a:pPr>
            <a:r>
              <a:rPr lang="en-US" b="0" i="0" u="none" strike="noStrike" dirty="0">
                <a:solidFill>
                  <a:schemeClr val="bg1"/>
                </a:solidFill>
                <a:effectLst/>
                <a:latin typeface="-apple-system"/>
                <a:hlinkClick r:id="rId7">
                  <a:extLst>
                    <a:ext uri="{A12FA001-AC4F-418D-AE19-62706E023703}">
                      <ahyp:hlinkClr xmlns:ahyp="http://schemas.microsoft.com/office/drawing/2018/hyperlinkcolor" val="tx"/>
                    </a:ext>
                  </a:extLst>
                </a:hlinkClick>
              </a:rPr>
              <a:t>Upwind-15</a:t>
            </a:r>
            <a:r>
              <a:rPr lang="en-US" b="0" i="0" dirty="0">
                <a:solidFill>
                  <a:schemeClr val="bg1"/>
                </a:solidFill>
                <a:effectLst/>
                <a:latin typeface="-apple-system"/>
              </a:rPr>
              <a:t>, another </a:t>
            </a:r>
            <a:r>
              <a:rPr lang="en-US" b="0" i="0" u="none" strike="noStrike" dirty="0">
                <a:solidFill>
                  <a:schemeClr val="bg1"/>
                </a:solidFill>
                <a:effectLst/>
                <a:latin typeface="-apple-system"/>
                <a:hlinkClick r:id="rId5">
                  <a:extLst>
                    <a:ext uri="{A12FA001-AC4F-418D-AE19-62706E023703}">
                      <ahyp:hlinkClr xmlns:ahyp="http://schemas.microsoft.com/office/drawing/2018/hyperlinkcolor" val="tx"/>
                    </a:ext>
                  </a:extLst>
                </a:hlinkClick>
              </a:rPr>
              <a:t>explicit</a:t>
            </a:r>
            <a:r>
              <a:rPr lang="en-US" b="0" i="0" dirty="0">
                <a:solidFill>
                  <a:schemeClr val="bg1"/>
                </a:solidFill>
                <a:effectLst/>
                <a:latin typeface="-apple-system"/>
              </a:rPr>
              <a:t> method with higher spatial order than FTCS.</a:t>
            </a:r>
          </a:p>
          <a:p>
            <a:pPr lvl="1">
              <a:buFont typeface="Arial" panose="020B0604020202020204" pitchFamily="34" charset="0"/>
              <a:buChar char="•"/>
            </a:pPr>
            <a:endParaRPr lang="en-US" b="0" i="0" dirty="0">
              <a:solidFill>
                <a:schemeClr val="bg1"/>
              </a:solidFill>
              <a:effectLst/>
              <a:latin typeface="-apple-system"/>
            </a:endParaRPr>
          </a:p>
          <a:p>
            <a:pPr>
              <a:lnSpc>
                <a:spcPct val="90000"/>
              </a:lnSpc>
            </a:pPr>
            <a:r>
              <a:rPr lang="en-US" sz="2000" dirty="0">
                <a:solidFill>
                  <a:schemeClr val="bg1"/>
                </a:solidFill>
                <a:latin typeface="+mn-lt"/>
              </a:rPr>
              <a:t>We will use FTCS for this exercise</a:t>
            </a:r>
          </a:p>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3513630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A06E-A4E1-9519-6CEC-5B4B39A0E042}"/>
              </a:ext>
            </a:extLst>
          </p:cNvPr>
          <p:cNvSpPr>
            <a:spLocks noGrp="1"/>
          </p:cNvSpPr>
          <p:nvPr>
            <p:ph type="title"/>
          </p:nvPr>
        </p:nvSpPr>
        <p:spPr/>
        <p:txBody>
          <a:bodyPr/>
          <a:lstStyle/>
          <a:p>
            <a:r>
              <a:rPr lang="en-US" dirty="0"/>
              <a:t>Requirements gathering </a:t>
            </a:r>
          </a:p>
        </p:txBody>
      </p:sp>
      <p:sp>
        <p:nvSpPr>
          <p:cNvPr id="3" name="Content Placeholder 2">
            <a:extLst>
              <a:ext uri="{FF2B5EF4-FFF2-40B4-BE49-F238E27FC236}">
                <a16:creationId xmlns:a16="http://schemas.microsoft.com/office/drawing/2014/main" id="{AA632C3A-E42B-55EE-B676-A76A379F5AD8}"/>
              </a:ext>
            </a:extLst>
          </p:cNvPr>
          <p:cNvSpPr>
            <a:spLocks noGrp="1"/>
          </p:cNvSpPr>
          <p:nvPr>
            <p:ph idx="1"/>
          </p:nvPr>
        </p:nvSpPr>
        <p:spPr>
          <a:xfrm>
            <a:off x="1135018" y="1432558"/>
            <a:ext cx="9242695" cy="4489269"/>
          </a:xfrm>
        </p:spPr>
        <p:txBody>
          <a:bodyPr/>
          <a:lstStyle/>
          <a:p>
            <a:r>
              <a:rPr lang="en-US" sz="2800" dirty="0"/>
              <a:t>To solve heat equation we need:</a:t>
            </a:r>
          </a:p>
          <a:p>
            <a:pPr lvl="1"/>
            <a:r>
              <a:rPr lang="en-US" sz="2400" dirty="0"/>
              <a:t>a discretization scheme</a:t>
            </a:r>
          </a:p>
          <a:p>
            <a:pPr lvl="1"/>
            <a:r>
              <a:rPr lang="en-US" sz="2400" dirty="0"/>
              <a:t>a driver for running and book-keeping </a:t>
            </a:r>
          </a:p>
          <a:p>
            <a:pPr lvl="1"/>
            <a:r>
              <a:rPr lang="en-US" sz="2400" dirty="0"/>
              <a:t>an integration method to evolve solution</a:t>
            </a:r>
          </a:p>
          <a:p>
            <a:pPr lvl="1"/>
            <a:r>
              <a:rPr lang="en-US" sz="2400" dirty="0"/>
              <a:t>Initial conditions</a:t>
            </a:r>
          </a:p>
          <a:p>
            <a:pPr lvl="1"/>
            <a:r>
              <a:rPr lang="en-US" sz="2400" dirty="0"/>
              <a:t>Boundary conditions</a:t>
            </a:r>
          </a:p>
          <a:p>
            <a:r>
              <a:rPr lang="en-US" sz="2800" dirty="0"/>
              <a:t>To make sure that we are doing it correctly we need:</a:t>
            </a:r>
          </a:p>
          <a:p>
            <a:pPr lvl="1"/>
            <a:r>
              <a:rPr lang="en-US" sz="2400" dirty="0"/>
              <a:t>Ways to inspect the results</a:t>
            </a:r>
          </a:p>
          <a:p>
            <a:pPr lvl="1"/>
            <a:r>
              <a:rPr lang="en-US" sz="2400" dirty="0"/>
              <a:t>Ways of verification</a:t>
            </a:r>
          </a:p>
          <a:p>
            <a:endParaRPr lang="en-US" dirty="0"/>
          </a:p>
        </p:txBody>
      </p:sp>
    </p:spTree>
    <p:extLst>
      <p:ext uri="{BB962C8B-B14F-4D97-AF65-F5344CB8AC3E}">
        <p14:creationId xmlns:p14="http://schemas.microsoft.com/office/powerpoint/2010/main" val="2564031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D41C-1F2F-0CD9-BD98-5C268144F0F1}"/>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86A1A1D-89C4-8A73-4364-CBEAE0130AEC}"/>
              </a:ext>
            </a:extLst>
          </p:cNvPr>
          <p:cNvSpPr>
            <a:spLocks noGrp="1"/>
          </p:cNvSpPr>
          <p:nvPr>
            <p:ph idx="1"/>
          </p:nvPr>
        </p:nvSpPr>
        <p:spPr>
          <a:xfrm>
            <a:off x="365760" y="1325880"/>
            <a:ext cx="4352996" cy="4798907"/>
          </a:xfrm>
        </p:spPr>
        <p:txBody>
          <a:bodyPr/>
          <a:lstStyle/>
          <a:p>
            <a:pPr marL="0" indent="0" algn="ctr">
              <a:buNone/>
            </a:pPr>
            <a:r>
              <a:rPr lang="en-US" dirty="0"/>
              <a:t>This is a small design space</a:t>
            </a:r>
          </a:p>
          <a:p>
            <a:r>
              <a:rPr lang="en-US" dirty="0"/>
              <a:t>Several requirements can directly map to components – in this instance functions</a:t>
            </a:r>
          </a:p>
          <a:p>
            <a:pPr lvl="1"/>
            <a:r>
              <a:rPr lang="en-US" dirty="0"/>
              <a:t>Driver</a:t>
            </a:r>
          </a:p>
          <a:p>
            <a:pPr lvl="1"/>
            <a:r>
              <a:rPr lang="en-US" dirty="0"/>
              <a:t>Initialization – data containers</a:t>
            </a:r>
          </a:p>
          <a:p>
            <a:pPr lvl="1"/>
            <a:r>
              <a:rPr lang="en-US" dirty="0"/>
              <a:t>Mesh initialization – applying initial conditions</a:t>
            </a:r>
          </a:p>
          <a:p>
            <a:pPr lvl="1"/>
            <a:r>
              <a:rPr lang="en-US" dirty="0"/>
              <a:t>Integrator</a:t>
            </a:r>
          </a:p>
          <a:p>
            <a:pPr lvl="1"/>
            <a:r>
              <a:rPr lang="en-US" dirty="0"/>
              <a:t>I/O</a:t>
            </a:r>
          </a:p>
          <a:p>
            <a:pPr lvl="1"/>
            <a:r>
              <a:rPr lang="en-US" dirty="0"/>
              <a:t>Boundary conditions</a:t>
            </a:r>
          </a:p>
          <a:p>
            <a:pPr lvl="1"/>
            <a:r>
              <a:rPr lang="en-US" dirty="0"/>
              <a:t>Comparison utility</a:t>
            </a:r>
          </a:p>
          <a:p>
            <a:endParaRPr lang="en-US" dirty="0"/>
          </a:p>
          <a:p>
            <a:pPr lvl="2"/>
            <a:endParaRPr lang="en-US" dirty="0"/>
          </a:p>
        </p:txBody>
      </p:sp>
      <p:sp>
        <p:nvSpPr>
          <p:cNvPr id="4" name="Content Placeholder 2">
            <a:extLst>
              <a:ext uri="{FF2B5EF4-FFF2-40B4-BE49-F238E27FC236}">
                <a16:creationId xmlns:a16="http://schemas.microsoft.com/office/drawing/2014/main" id="{0591D631-CE85-82AC-5579-D9B9D0EDD0CE}"/>
              </a:ext>
            </a:extLst>
          </p:cNvPr>
          <p:cNvSpPr txBox="1">
            <a:spLocks/>
          </p:cNvSpPr>
          <p:nvPr/>
        </p:nvSpPr>
        <p:spPr bwMode="auto">
          <a:xfrm>
            <a:off x="5044464" y="1325880"/>
            <a:ext cx="6368061" cy="47091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rgbClr val="C00000"/>
              </a:buClr>
              <a:buFont typeface="Wingdings" pitchFamily="2" charset="2"/>
              <a:buChar char="q"/>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rgbClr val="C00000"/>
              </a:buClr>
              <a:buFont typeface="Wingdings" pitchFamily="2" charset="2"/>
              <a:buChar char="q"/>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rgbClr val="C00000"/>
              </a:buClr>
              <a:buFont typeface="Wingdings" pitchFamily="2" charset="2"/>
              <a:buChar char="q"/>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dirty="0"/>
              <a:t>Binning components</a:t>
            </a:r>
          </a:p>
          <a:p>
            <a:r>
              <a:rPr lang="en-US" dirty="0"/>
              <a:t>Components that will work for any application of heat equation</a:t>
            </a:r>
          </a:p>
          <a:p>
            <a:pPr lvl="1"/>
            <a:r>
              <a:rPr lang="en-US" dirty="0"/>
              <a:t>Driver</a:t>
            </a:r>
          </a:p>
          <a:p>
            <a:pPr lvl="1"/>
            <a:r>
              <a:rPr lang="en-US" dirty="0"/>
              <a:t>Initialization – data containers</a:t>
            </a:r>
          </a:p>
          <a:p>
            <a:pPr lvl="1"/>
            <a:r>
              <a:rPr lang="en-US" dirty="0"/>
              <a:t>I/O </a:t>
            </a:r>
          </a:p>
          <a:p>
            <a:pPr lvl="1"/>
            <a:r>
              <a:rPr lang="en-US" dirty="0"/>
              <a:t>Comparison utility</a:t>
            </a:r>
          </a:p>
          <a:p>
            <a:r>
              <a:rPr lang="en-US" dirty="0"/>
              <a:t>Components that are </a:t>
            </a:r>
          </a:p>
          <a:p>
            <a:pPr lvl="1"/>
            <a:r>
              <a:rPr lang="en-US" dirty="0"/>
              <a:t>Mesh initialization – applying initial conditions</a:t>
            </a:r>
          </a:p>
          <a:p>
            <a:pPr lvl="1"/>
            <a:r>
              <a:rPr lang="en-US" dirty="0"/>
              <a:t>Integrator</a:t>
            </a:r>
          </a:p>
          <a:p>
            <a:pPr lvl="1"/>
            <a:r>
              <a:rPr lang="en-US" dirty="0"/>
              <a:t>Boundary conditions</a:t>
            </a:r>
          </a:p>
          <a:p>
            <a:pPr lvl="1"/>
            <a:endParaRPr lang="en-US" dirty="0"/>
          </a:p>
          <a:p>
            <a:pPr lvl="1"/>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3463077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AE883-856A-9179-F3D3-F2497D15FC2D}"/>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989279D3-B80F-8530-261E-E5E2AB75C171}"/>
              </a:ext>
            </a:extLst>
          </p:cNvPr>
          <p:cNvSpPr/>
          <p:nvPr/>
        </p:nvSpPr>
        <p:spPr>
          <a:xfrm>
            <a:off x="1793347" y="3163146"/>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Initialize</a:t>
            </a:r>
          </a:p>
          <a:p>
            <a:pPr algn="ctr">
              <a:lnSpc>
                <a:spcPct val="90000"/>
              </a:lnSpc>
            </a:pPr>
            <a:r>
              <a:rPr lang="en-US" sz="2000" dirty="0">
                <a:solidFill>
                  <a:schemeClr val="bg1"/>
                </a:solidFill>
              </a:rPr>
              <a:t>Data containers </a:t>
            </a:r>
          </a:p>
        </p:txBody>
      </p:sp>
      <p:sp>
        <p:nvSpPr>
          <p:cNvPr id="5" name="Rectangle 4">
            <a:extLst>
              <a:ext uri="{FF2B5EF4-FFF2-40B4-BE49-F238E27FC236}">
                <a16:creationId xmlns:a16="http://schemas.microsoft.com/office/drawing/2014/main" id="{3A568FFD-E545-9339-B2DF-228BB36AB6CE}"/>
              </a:ext>
            </a:extLst>
          </p:cNvPr>
          <p:cNvSpPr/>
          <p:nvPr/>
        </p:nvSpPr>
        <p:spPr>
          <a:xfrm>
            <a:off x="3376046" y="1325880"/>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6" name="Rectangle 5">
            <a:extLst>
              <a:ext uri="{FF2B5EF4-FFF2-40B4-BE49-F238E27FC236}">
                <a16:creationId xmlns:a16="http://schemas.microsoft.com/office/drawing/2014/main" id="{8EC54E20-50FC-B428-0228-DA208C531818}"/>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Write results</a:t>
            </a:r>
          </a:p>
        </p:txBody>
      </p:sp>
      <p:sp>
        <p:nvSpPr>
          <p:cNvPr id="7" name="Rectangle 6">
            <a:extLst>
              <a:ext uri="{FF2B5EF4-FFF2-40B4-BE49-F238E27FC236}">
                <a16:creationId xmlns:a16="http://schemas.microsoft.com/office/drawing/2014/main" id="{4A7CE046-DBB6-6989-A4CD-465ED83FA3F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6FD137E0-559A-87C9-44A4-CC05DDF1ABF4}"/>
              </a:ext>
            </a:extLst>
          </p:cNvPr>
          <p:cNvSpPr/>
          <p:nvPr/>
        </p:nvSpPr>
        <p:spPr>
          <a:xfrm>
            <a:off x="1811247" y="5054034"/>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9" name="Rectangle 8">
            <a:extLst>
              <a:ext uri="{FF2B5EF4-FFF2-40B4-BE49-F238E27FC236}">
                <a16:creationId xmlns:a16="http://schemas.microsoft.com/office/drawing/2014/main" id="{190B5BC9-4149-266B-9864-EA6BCB153E61}"/>
              </a:ext>
            </a:extLst>
          </p:cNvPr>
          <p:cNvSpPr/>
          <p:nvPr/>
        </p:nvSpPr>
        <p:spPr>
          <a:xfrm>
            <a:off x="4901848" y="500041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0" name="Rectangle 9">
            <a:extLst>
              <a:ext uri="{FF2B5EF4-FFF2-40B4-BE49-F238E27FC236}">
                <a16:creationId xmlns:a16="http://schemas.microsoft.com/office/drawing/2014/main" id="{6703A828-C79C-704E-ECEF-42204011EEA5}"/>
              </a:ext>
            </a:extLst>
          </p:cNvPr>
          <p:cNvSpPr/>
          <p:nvPr/>
        </p:nvSpPr>
        <p:spPr>
          <a:xfrm>
            <a:off x="8016698" y="4897539"/>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Integrator</a:t>
            </a:r>
          </a:p>
        </p:txBody>
      </p:sp>
      <p:sp>
        <p:nvSpPr>
          <p:cNvPr id="15" name="Rectangle 14">
            <a:extLst>
              <a:ext uri="{FF2B5EF4-FFF2-40B4-BE49-F238E27FC236}">
                <a16:creationId xmlns:a16="http://schemas.microsoft.com/office/drawing/2014/main" id="{5E033F01-623E-CC47-EABA-D27C2B93CD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7" name="Elbow Connector 16">
            <a:extLst>
              <a:ext uri="{FF2B5EF4-FFF2-40B4-BE49-F238E27FC236}">
                <a16:creationId xmlns:a16="http://schemas.microsoft.com/office/drawing/2014/main" id="{A38D779F-6B35-0358-9330-4D1D3C9E202A}"/>
              </a:ext>
            </a:extLst>
          </p:cNvPr>
          <p:cNvCxnSpPr>
            <a:stCxn id="15" idx="2"/>
            <a:endCxn id="9" idx="0"/>
          </p:cNvCxnSpPr>
          <p:nvPr/>
        </p:nvCxnSpPr>
        <p:spPr>
          <a:xfrm rot="5400000">
            <a:off x="5317686" y="4655924"/>
            <a:ext cx="685798" cy="3174"/>
          </a:xfrm>
          <a:prstGeom prst="bentConnector3">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620B30-5D0E-FC88-5E7A-83AB6944C884}"/>
              </a:ext>
            </a:extLst>
          </p:cNvPr>
          <p:cNvCxnSpPr>
            <a:stCxn id="15"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002BEF6-CF6E-B6E6-9FFB-47DB56C7C713}"/>
              </a:ext>
            </a:extLst>
          </p:cNvPr>
          <p:cNvCxnSpPr>
            <a:stCxn id="15" idx="1"/>
            <a:endCxn id="4" idx="3"/>
          </p:cNvCxnSpPr>
          <p:nvPr/>
        </p:nvCxnSpPr>
        <p:spPr>
          <a:xfrm flipH="1">
            <a:off x="3307646" y="3738879"/>
            <a:ext cx="1597376" cy="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0661D80-1A66-A086-4DF7-D7E8B5C56806}"/>
              </a:ext>
            </a:extLst>
          </p:cNvPr>
          <p:cNvCxnSpPr>
            <a:stCxn id="15"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D2127C0-D859-0D06-9789-FB0EE9548096}"/>
              </a:ext>
            </a:extLst>
          </p:cNvPr>
          <p:cNvCxnSpPr>
            <a:stCxn id="15" idx="0"/>
            <a:endCxn id="5" idx="2"/>
          </p:cNvCxnSpPr>
          <p:nvPr/>
        </p:nvCxnSpPr>
        <p:spPr>
          <a:xfrm flipH="1" flipV="1">
            <a:off x="4133196" y="2477347"/>
            <a:ext cx="1528976"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2DD8BEA-8801-7EF3-E62C-11556DECFAAA}"/>
              </a:ext>
            </a:extLst>
          </p:cNvPr>
          <p:cNvCxnSpPr>
            <a:stCxn id="15" idx="2"/>
            <a:endCxn id="10" idx="0"/>
          </p:cNvCxnSpPr>
          <p:nvPr/>
        </p:nvCxnSpPr>
        <p:spPr>
          <a:xfrm>
            <a:off x="5662172" y="4314612"/>
            <a:ext cx="3111676" cy="58292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28A27EF-4D7F-ADC3-FA9F-4F3E4EA72330}"/>
              </a:ext>
            </a:extLst>
          </p:cNvPr>
          <p:cNvCxnSpPr>
            <a:cxnSpLocks/>
            <a:stCxn id="15" idx="2"/>
            <a:endCxn id="8" idx="0"/>
          </p:cNvCxnSpPr>
          <p:nvPr/>
        </p:nvCxnSpPr>
        <p:spPr>
          <a:xfrm flipH="1">
            <a:off x="2562576" y="4314612"/>
            <a:ext cx="3099596" cy="739422"/>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727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AE883-856A-9179-F3D3-F2497D15FC2D}"/>
              </a:ext>
            </a:extLst>
          </p:cNvPr>
          <p:cNvSpPr>
            <a:spLocks noGrp="1"/>
          </p:cNvSpPr>
          <p:nvPr>
            <p:ph type="title"/>
          </p:nvPr>
        </p:nvSpPr>
        <p:spPr/>
        <p:txBody>
          <a:bodyPr/>
          <a:lstStyle/>
          <a:p>
            <a:r>
              <a:rPr lang="en-US" dirty="0"/>
              <a:t>Connectivity – alternative possibility</a:t>
            </a:r>
          </a:p>
        </p:txBody>
      </p:sp>
      <p:sp>
        <p:nvSpPr>
          <p:cNvPr id="4" name="Rectangle 3">
            <a:extLst>
              <a:ext uri="{FF2B5EF4-FFF2-40B4-BE49-F238E27FC236}">
                <a16:creationId xmlns:a16="http://schemas.microsoft.com/office/drawing/2014/main" id="{989279D3-B80F-8530-261E-E5E2AB75C171}"/>
              </a:ext>
            </a:extLst>
          </p:cNvPr>
          <p:cNvSpPr/>
          <p:nvPr/>
        </p:nvSpPr>
        <p:spPr>
          <a:xfrm>
            <a:off x="1793347" y="3163146"/>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Initialize</a:t>
            </a:r>
          </a:p>
          <a:p>
            <a:pPr algn="ctr">
              <a:lnSpc>
                <a:spcPct val="90000"/>
              </a:lnSpc>
            </a:pPr>
            <a:r>
              <a:rPr lang="en-US" sz="2000" dirty="0">
                <a:solidFill>
                  <a:schemeClr val="bg1"/>
                </a:solidFill>
              </a:rPr>
              <a:t>Data containers </a:t>
            </a:r>
          </a:p>
        </p:txBody>
      </p:sp>
      <p:sp>
        <p:nvSpPr>
          <p:cNvPr id="5" name="Rectangle 4">
            <a:extLst>
              <a:ext uri="{FF2B5EF4-FFF2-40B4-BE49-F238E27FC236}">
                <a16:creationId xmlns:a16="http://schemas.microsoft.com/office/drawing/2014/main" id="{3A568FFD-E545-9339-B2DF-228BB36AB6CE}"/>
              </a:ext>
            </a:extLst>
          </p:cNvPr>
          <p:cNvSpPr/>
          <p:nvPr/>
        </p:nvSpPr>
        <p:spPr>
          <a:xfrm>
            <a:off x="3376046" y="1325880"/>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6" name="Rectangle 5">
            <a:extLst>
              <a:ext uri="{FF2B5EF4-FFF2-40B4-BE49-F238E27FC236}">
                <a16:creationId xmlns:a16="http://schemas.microsoft.com/office/drawing/2014/main" id="{8EC54E20-50FC-B428-0228-DA208C531818}"/>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Write results</a:t>
            </a:r>
          </a:p>
        </p:txBody>
      </p:sp>
      <p:sp>
        <p:nvSpPr>
          <p:cNvPr id="7" name="Rectangle 6">
            <a:extLst>
              <a:ext uri="{FF2B5EF4-FFF2-40B4-BE49-F238E27FC236}">
                <a16:creationId xmlns:a16="http://schemas.microsoft.com/office/drawing/2014/main" id="{4A7CE046-DBB6-6989-A4CD-465ED83FA3F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6FD137E0-559A-87C9-44A4-CC05DDF1ABF4}"/>
              </a:ext>
            </a:extLst>
          </p:cNvPr>
          <p:cNvSpPr/>
          <p:nvPr/>
        </p:nvSpPr>
        <p:spPr>
          <a:xfrm>
            <a:off x="1811247" y="5054034"/>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9" name="Rectangle 8">
            <a:extLst>
              <a:ext uri="{FF2B5EF4-FFF2-40B4-BE49-F238E27FC236}">
                <a16:creationId xmlns:a16="http://schemas.microsoft.com/office/drawing/2014/main" id="{190B5BC9-4149-266B-9864-EA6BCB153E61}"/>
              </a:ext>
            </a:extLst>
          </p:cNvPr>
          <p:cNvSpPr/>
          <p:nvPr/>
        </p:nvSpPr>
        <p:spPr>
          <a:xfrm>
            <a:off x="4901848" y="500041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0" name="Rectangle 9">
            <a:extLst>
              <a:ext uri="{FF2B5EF4-FFF2-40B4-BE49-F238E27FC236}">
                <a16:creationId xmlns:a16="http://schemas.microsoft.com/office/drawing/2014/main" id="{6703A828-C79C-704E-ECEF-42204011EEA5}"/>
              </a:ext>
            </a:extLst>
          </p:cNvPr>
          <p:cNvSpPr/>
          <p:nvPr/>
        </p:nvSpPr>
        <p:spPr>
          <a:xfrm>
            <a:off x="8016698" y="4931829"/>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Integrator</a:t>
            </a:r>
          </a:p>
        </p:txBody>
      </p:sp>
      <p:sp>
        <p:nvSpPr>
          <p:cNvPr id="15" name="Rectangle 14">
            <a:extLst>
              <a:ext uri="{FF2B5EF4-FFF2-40B4-BE49-F238E27FC236}">
                <a16:creationId xmlns:a16="http://schemas.microsoft.com/office/drawing/2014/main" id="{5E033F01-623E-CC47-EABA-D27C2B93CD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7" name="Elbow Connector 16">
            <a:extLst>
              <a:ext uri="{FF2B5EF4-FFF2-40B4-BE49-F238E27FC236}">
                <a16:creationId xmlns:a16="http://schemas.microsoft.com/office/drawing/2014/main" id="{A38D779F-6B35-0358-9330-4D1D3C9E202A}"/>
              </a:ext>
            </a:extLst>
          </p:cNvPr>
          <p:cNvCxnSpPr>
            <a:cxnSpLocks/>
            <a:stCxn id="10" idx="1"/>
          </p:cNvCxnSpPr>
          <p:nvPr/>
        </p:nvCxnSpPr>
        <p:spPr>
          <a:xfrm rot="10800000" flipV="1">
            <a:off x="6410330" y="5507562"/>
            <a:ext cx="1606369" cy="1"/>
          </a:xfrm>
          <a:prstGeom prst="bentConnector3">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620B30-5D0E-FC88-5E7A-83AB6944C884}"/>
              </a:ext>
            </a:extLst>
          </p:cNvPr>
          <p:cNvCxnSpPr>
            <a:stCxn id="15"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002BEF6-CF6E-B6E6-9FFB-47DB56C7C713}"/>
              </a:ext>
            </a:extLst>
          </p:cNvPr>
          <p:cNvCxnSpPr>
            <a:cxnSpLocks/>
            <a:stCxn id="5" idx="1"/>
            <a:endCxn id="4" idx="0"/>
          </p:cNvCxnSpPr>
          <p:nvPr/>
        </p:nvCxnSpPr>
        <p:spPr>
          <a:xfrm flipH="1">
            <a:off x="2550497" y="1901614"/>
            <a:ext cx="825549" cy="1261532"/>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0661D80-1A66-A086-4DF7-D7E8B5C56806}"/>
              </a:ext>
            </a:extLst>
          </p:cNvPr>
          <p:cNvCxnSpPr>
            <a:stCxn id="15"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D2127C0-D859-0D06-9789-FB0EE9548096}"/>
              </a:ext>
            </a:extLst>
          </p:cNvPr>
          <p:cNvCxnSpPr>
            <a:stCxn id="15" idx="0"/>
            <a:endCxn id="5" idx="2"/>
          </p:cNvCxnSpPr>
          <p:nvPr/>
        </p:nvCxnSpPr>
        <p:spPr>
          <a:xfrm flipH="1" flipV="1">
            <a:off x="4133196" y="2477347"/>
            <a:ext cx="1528976"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2DD8BEA-8801-7EF3-E62C-11556DECFAAA}"/>
              </a:ext>
            </a:extLst>
          </p:cNvPr>
          <p:cNvCxnSpPr>
            <a:stCxn id="15" idx="2"/>
            <a:endCxn id="10" idx="0"/>
          </p:cNvCxnSpPr>
          <p:nvPr/>
        </p:nvCxnSpPr>
        <p:spPr>
          <a:xfrm>
            <a:off x="5662172" y="4314612"/>
            <a:ext cx="3111676" cy="61721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28A27EF-4D7F-ADC3-FA9F-4F3E4EA72330}"/>
              </a:ext>
            </a:extLst>
          </p:cNvPr>
          <p:cNvCxnSpPr>
            <a:cxnSpLocks/>
            <a:stCxn id="4" idx="2"/>
            <a:endCxn id="8" idx="0"/>
          </p:cNvCxnSpPr>
          <p:nvPr/>
        </p:nvCxnSpPr>
        <p:spPr>
          <a:xfrm>
            <a:off x="2550497" y="4314613"/>
            <a:ext cx="12079" cy="73942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21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295FF-8D5F-0AF6-37DD-EE0D551022D6}"/>
              </a:ext>
            </a:extLst>
          </p:cNvPr>
          <p:cNvSpPr>
            <a:spLocks noGrp="1"/>
          </p:cNvSpPr>
          <p:nvPr>
            <p:ph type="title"/>
          </p:nvPr>
        </p:nvSpPr>
        <p:spPr/>
        <p:txBody>
          <a:bodyPr/>
          <a:lstStyle/>
          <a:p>
            <a:r>
              <a:rPr lang="en-US" dirty="0"/>
              <a:t>Resources for Independent Exploration</a:t>
            </a:r>
          </a:p>
        </p:txBody>
      </p:sp>
      <p:sp>
        <p:nvSpPr>
          <p:cNvPr id="3" name="Content Placeholder 2">
            <a:extLst>
              <a:ext uri="{FF2B5EF4-FFF2-40B4-BE49-F238E27FC236}">
                <a16:creationId xmlns:a16="http://schemas.microsoft.com/office/drawing/2014/main" id="{5986A54E-A9E8-6286-0C00-33767941A5D0}"/>
              </a:ext>
            </a:extLst>
          </p:cNvPr>
          <p:cNvSpPr>
            <a:spLocks noGrp="1"/>
          </p:cNvSpPr>
          <p:nvPr>
            <p:ph idx="1"/>
          </p:nvPr>
        </p:nvSpPr>
        <p:spPr>
          <a:xfrm>
            <a:off x="365760" y="1143000"/>
            <a:ext cx="11823065" cy="4047778"/>
          </a:xfrm>
        </p:spPr>
        <p:txBody>
          <a:bodyPr/>
          <a:lstStyle/>
          <a:p>
            <a:r>
              <a:rPr lang="en-US" dirty="0"/>
              <a:t>Code repository in python </a:t>
            </a:r>
          </a:p>
          <a:p>
            <a:pPr marL="0" indent="0">
              <a:buNone/>
            </a:pPr>
            <a:r>
              <a:rPr lang="en-US" b="0" i="0" u="sng" dirty="0">
                <a:solidFill>
                  <a:srgbClr val="0000FF"/>
                </a:solidFill>
                <a:effectLst/>
                <a:latin typeface="Calibri" panose="020F0502020204030204" pitchFamily="34" charset="0"/>
                <a:hlinkClick r:id="rId2" tooltip="https://github.com/abiswas-odu/heateq-design-intersect-2023"/>
              </a:rPr>
              <a:t>https://github.com/a</a:t>
            </a:r>
            <a:r>
              <a:rPr lang="en-US" b="0" i="0" u="sng" dirty="0">
                <a:solidFill>
                  <a:srgbClr val="070706"/>
                </a:solidFill>
                <a:effectLst/>
                <a:latin typeface="Calibri" panose="020F0502020204030204" pitchFamily="34" charset="0"/>
                <a:hlinkClick r:id="rId2" tooltip="https://github.com/abiswas-odu/heateq-design-intersect-2023"/>
              </a:rPr>
              <a:t>biswas</a:t>
            </a:r>
            <a:r>
              <a:rPr lang="en-US" b="0" i="0" u="sng" dirty="0">
                <a:solidFill>
                  <a:srgbClr val="0000FF"/>
                </a:solidFill>
                <a:effectLst/>
                <a:latin typeface="Calibri" panose="020F0502020204030204" pitchFamily="34" charset="0"/>
                <a:hlinkClick r:id="rId2" tooltip="https://github.com/abiswas-odu/heateq-design-intersect-2023"/>
              </a:rPr>
              <a:t>-odu/heateq-design-intersect-2023</a:t>
            </a:r>
            <a:endParaRPr lang="en-US" b="0" i="0" u="sng" dirty="0">
              <a:solidFill>
                <a:srgbClr val="0000FF"/>
              </a:solidFill>
              <a:effectLst/>
              <a:latin typeface="Calibri" panose="020F0502020204030204" pitchFamily="34" charset="0"/>
            </a:endParaRPr>
          </a:p>
          <a:p>
            <a:r>
              <a:rPr lang="en-US" dirty="0">
                <a:latin typeface="Calibri" panose="020F0502020204030204" pitchFamily="34" charset="0"/>
              </a:rPr>
              <a:t> A few possibilities of design exploration</a:t>
            </a:r>
          </a:p>
          <a:p>
            <a:pPr lvl="1"/>
            <a:r>
              <a:rPr lang="en-US" dirty="0">
                <a:latin typeface="Calibri" panose="020F0502020204030204" pitchFamily="34" charset="0"/>
              </a:rPr>
              <a:t>Did we need three different interfaces for update solution ?</a:t>
            </a:r>
          </a:p>
          <a:p>
            <a:pPr lvl="1"/>
            <a:r>
              <a:rPr lang="en-US" b="0" i="0" dirty="0">
                <a:effectLst/>
                <a:latin typeface="Calibri" panose="020F0502020204030204" pitchFamily="34" charset="0"/>
              </a:rPr>
              <a:t>What would have </a:t>
            </a:r>
            <a:r>
              <a:rPr lang="en-US" dirty="0">
                <a:latin typeface="Calibri" panose="020F0502020204030204" pitchFamily="34" charset="0"/>
              </a:rPr>
              <a:t>been needed to make it into one interface</a:t>
            </a:r>
            <a:endParaRPr lang="en-US" dirty="0"/>
          </a:p>
          <a:p>
            <a:r>
              <a:rPr lang="en-US" dirty="0"/>
              <a:t>Explore the whole exercise in C++ on your own checkout</a:t>
            </a:r>
          </a:p>
          <a:p>
            <a:pPr marL="0" indent="0">
              <a:buNone/>
            </a:pPr>
            <a:r>
              <a:rPr lang="en-US" dirty="0">
                <a:hlinkClick r:id="rId3"/>
              </a:rPr>
              <a:t>https://xsdk-project.github.io/MathPackagesTraining2020/lessons/hand_coded_heat/</a:t>
            </a:r>
            <a:endParaRPr lang="en-US" dirty="0"/>
          </a:p>
          <a:p>
            <a:pPr marL="0" indent="0">
              <a:buNone/>
            </a:pPr>
            <a:endParaRPr lang="en-US" dirty="0"/>
          </a:p>
        </p:txBody>
      </p:sp>
    </p:spTree>
    <p:extLst>
      <p:ext uri="{BB962C8B-B14F-4D97-AF65-F5344CB8AC3E}">
        <p14:creationId xmlns:p14="http://schemas.microsoft.com/office/powerpoint/2010/main" val="1040301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105AD-BD02-18EE-81DD-20B8E1374444}"/>
              </a:ext>
            </a:extLst>
          </p:cNvPr>
          <p:cNvSpPr>
            <a:spLocks noGrp="1"/>
          </p:cNvSpPr>
          <p:nvPr>
            <p:ph type="title"/>
          </p:nvPr>
        </p:nvSpPr>
        <p:spPr/>
        <p:txBody>
          <a:bodyPr/>
          <a:lstStyle/>
          <a:p>
            <a:r>
              <a:rPr lang="en-US" dirty="0"/>
              <a:t>Research Software Challenges</a:t>
            </a:r>
          </a:p>
        </p:txBody>
      </p:sp>
      <p:sp>
        <p:nvSpPr>
          <p:cNvPr id="3" name="Content Placeholder 2">
            <a:extLst>
              <a:ext uri="{FF2B5EF4-FFF2-40B4-BE49-F238E27FC236}">
                <a16:creationId xmlns:a16="http://schemas.microsoft.com/office/drawing/2014/main" id="{1C191047-BA2C-4ACC-7601-558D32B2666C}"/>
              </a:ext>
            </a:extLst>
          </p:cNvPr>
          <p:cNvSpPr>
            <a:spLocks noGrp="1"/>
          </p:cNvSpPr>
          <p:nvPr>
            <p:ph idx="1"/>
          </p:nvPr>
        </p:nvSpPr>
        <p:spPr>
          <a:xfrm>
            <a:off x="6579490" y="1736215"/>
            <a:ext cx="5469833" cy="3886352"/>
          </a:xfrm>
        </p:spPr>
        <p:txBody>
          <a:bodyPr/>
          <a:lstStyle/>
          <a:p>
            <a:r>
              <a:rPr lang="en-US" dirty="0"/>
              <a:t>Many</a:t>
            </a:r>
            <a:r>
              <a:rPr lang="en-US" sz="2400" dirty="0"/>
              <a:t>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a:t>
            </a:r>
          </a:p>
          <a:p>
            <a:endParaRPr lang="en-US" dirty="0"/>
          </a:p>
        </p:txBody>
      </p:sp>
      <p:grpSp>
        <p:nvGrpSpPr>
          <p:cNvPr id="4" name="Group 3">
            <a:extLst>
              <a:ext uri="{FF2B5EF4-FFF2-40B4-BE49-F238E27FC236}">
                <a16:creationId xmlns:a16="http://schemas.microsoft.com/office/drawing/2014/main" id="{08CE7F93-E896-2CD5-EFC6-29F7E53784BF}"/>
              </a:ext>
            </a:extLst>
          </p:cNvPr>
          <p:cNvGrpSpPr/>
          <p:nvPr/>
        </p:nvGrpSpPr>
        <p:grpSpPr>
          <a:xfrm>
            <a:off x="269970" y="1687125"/>
            <a:ext cx="6067194" cy="2923603"/>
            <a:chOff x="2176244" y="1817067"/>
            <a:chExt cx="4826771" cy="3142742"/>
          </a:xfrm>
        </p:grpSpPr>
        <p:sp>
          <p:nvSpPr>
            <p:cNvPr id="5" name="Oval 4">
              <a:extLst>
                <a:ext uri="{FF2B5EF4-FFF2-40B4-BE49-F238E27FC236}">
                  <a16:creationId xmlns:a16="http://schemas.microsoft.com/office/drawing/2014/main" id="{17DE098D-2514-988B-969D-C0701269A8E3}"/>
                </a:ext>
              </a:extLst>
            </p:cNvPr>
            <p:cNvSpPr/>
            <p:nvPr/>
          </p:nvSpPr>
          <p:spPr>
            <a:xfrm>
              <a:off x="3546363" y="1817067"/>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Scientific Understanding</a:t>
              </a:r>
            </a:p>
          </p:txBody>
        </p:sp>
        <p:sp>
          <p:nvSpPr>
            <p:cNvPr id="6" name="Oval 5">
              <a:extLst>
                <a:ext uri="{FF2B5EF4-FFF2-40B4-BE49-F238E27FC236}">
                  <a16:creationId xmlns:a16="http://schemas.microsoft.com/office/drawing/2014/main" id="{9969E183-5E7B-40C3-C69F-7E7F2E4B354D}"/>
                </a:ext>
              </a:extLst>
            </p:cNvPr>
            <p:cNvSpPr/>
            <p:nvPr/>
          </p:nvSpPr>
          <p:spPr>
            <a:xfrm>
              <a:off x="5349748" y="2965465"/>
              <a:ext cx="1653267" cy="1001145"/>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7" name="Oval 6">
              <a:extLst>
                <a:ext uri="{FF2B5EF4-FFF2-40B4-BE49-F238E27FC236}">
                  <a16:creationId xmlns:a16="http://schemas.microsoft.com/office/drawing/2014/main" id="{C238C6E7-504F-D418-77ED-EE08B698678C}"/>
                </a:ext>
              </a:extLst>
            </p:cNvPr>
            <p:cNvSpPr/>
            <p:nvPr/>
          </p:nvSpPr>
          <p:spPr>
            <a:xfrm>
              <a:off x="3576979" y="3958663"/>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8" name="Oval 7">
              <a:extLst>
                <a:ext uri="{FF2B5EF4-FFF2-40B4-BE49-F238E27FC236}">
                  <a16:creationId xmlns:a16="http://schemas.microsoft.com/office/drawing/2014/main" id="{359B4A93-46F5-F54C-4521-5F441780AE11}"/>
                </a:ext>
              </a:extLst>
            </p:cNvPr>
            <p:cNvSpPr/>
            <p:nvPr/>
          </p:nvSpPr>
          <p:spPr>
            <a:xfrm>
              <a:off x="2176244" y="2965464"/>
              <a:ext cx="16532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9" name="Curved Connector 8">
              <a:extLst>
                <a:ext uri="{FF2B5EF4-FFF2-40B4-BE49-F238E27FC236}">
                  <a16:creationId xmlns:a16="http://schemas.microsoft.com/office/drawing/2014/main" id="{7BD0B991-7672-F256-C0EE-5A822DB50ECE}"/>
                </a:ext>
              </a:extLst>
            </p:cNvPr>
            <p:cNvCxnSpPr>
              <a:cxnSpLocks/>
              <a:stCxn id="5" idx="6"/>
              <a:endCxn id="6" idx="0"/>
            </p:cNvCxnSpPr>
            <p:nvPr/>
          </p:nvCxnSpPr>
          <p:spPr>
            <a:xfrm>
              <a:off x="5542531" y="2317640"/>
              <a:ext cx="633851" cy="64782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57370E24-CC2D-9094-10BF-6F1AF8F84DF2}"/>
                </a:ext>
              </a:extLst>
            </p:cNvPr>
            <p:cNvCxnSpPr>
              <a:cxnSpLocks/>
              <a:stCxn id="6" idx="4"/>
              <a:endCxn id="7" idx="6"/>
            </p:cNvCxnSpPr>
            <p:nvPr/>
          </p:nvCxnSpPr>
          <p:spPr>
            <a:xfrm rot="5400000">
              <a:off x="5628452" y="3911307"/>
              <a:ext cx="492626" cy="6032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90D80839-06B2-CBCA-378D-51A31698D7F8}"/>
                </a:ext>
              </a:extLst>
            </p:cNvPr>
            <p:cNvCxnSpPr>
              <a:stCxn id="7" idx="2"/>
              <a:endCxn id="8"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206A2679-94E8-A783-7065-88C4BC14CA92}"/>
                </a:ext>
              </a:extLst>
            </p:cNvPr>
            <p:cNvCxnSpPr>
              <a:stCxn id="8" idx="0"/>
              <a:endCxn id="5"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169E4E-6764-BFFF-F8D2-4D73E14EEF62}"/>
                </a:ext>
              </a:extLst>
            </p:cNvPr>
            <p:cNvCxnSpPr>
              <a:cxnSpLocks/>
              <a:stCxn id="6" idx="2"/>
              <a:endCxn id="8" idx="6"/>
            </p:cNvCxnSpPr>
            <p:nvPr/>
          </p:nvCxnSpPr>
          <p:spPr>
            <a:xfrm flipH="1" flipV="1">
              <a:off x="3829512" y="3466037"/>
              <a:ext cx="1520236"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519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a:xfrm>
            <a:off x="365760" y="205740"/>
            <a:ext cx="11372473" cy="914400"/>
          </a:xfrm>
        </p:spPr>
        <p:txBody>
          <a:bodyPr/>
          <a:lstStyle/>
          <a:p>
            <a:r>
              <a:rPr lang="en-US" dirty="0"/>
              <a:t>SOLID Principles Pose Some Difficulties</a:t>
            </a:r>
          </a:p>
        </p:txBody>
      </p:sp>
      <p:sp>
        <p:nvSpPr>
          <p:cNvPr id="4" name="Rounded Rectangle 3">
            <a:extLst>
              <a:ext uri="{FF2B5EF4-FFF2-40B4-BE49-F238E27FC236}">
                <a16:creationId xmlns:a16="http://schemas.microsoft.com/office/drawing/2014/main" id="{E5BBE479-B16C-D94F-BC94-6B60F0645C44}"/>
              </a:ext>
            </a:extLst>
          </p:cNvPr>
          <p:cNvSpPr/>
          <p:nvPr/>
        </p:nvSpPr>
        <p:spPr>
          <a:xfrm>
            <a:off x="109445" y="983597"/>
            <a:ext cx="5721178" cy="4868564"/>
          </a:xfrm>
          <a:prstGeom prst="roundRect">
            <a:avLst/>
          </a:prstGeom>
          <a:solidFill>
            <a:schemeClr val="accent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b="1" dirty="0">
              <a:solidFill>
                <a:schemeClr val="accent2">
                  <a:lumMod val="50000"/>
                </a:schemeClr>
              </a:solidFill>
            </a:endParaRPr>
          </a:p>
          <a:p>
            <a:pPr algn="ctr">
              <a:lnSpc>
                <a:spcPct val="90000"/>
              </a:lnSpc>
            </a:pPr>
            <a:endParaRPr lang="en-US" sz="2000" b="1"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5">
                    <a:lumMod val="50000"/>
                  </a:schemeClr>
                </a:solidFill>
              </a:rPr>
              <a:t>Single responsibility</a:t>
            </a:r>
          </a:p>
          <a:p>
            <a:pPr marL="800100" lvl="1" indent="-342900">
              <a:lnSpc>
                <a:spcPct val="90000"/>
              </a:lnSpc>
              <a:buFont typeface="Wingdings" pitchFamily="2" charset="2"/>
              <a:buChar char="q"/>
            </a:pPr>
            <a:r>
              <a:rPr lang="en-US" dirty="0">
                <a:solidFill>
                  <a:schemeClr val="accent5">
                    <a:lumMod val="50000"/>
                  </a:schemeClr>
                </a:solidFill>
              </a:rPr>
              <a:t>Class/method/function should do only one thing</a:t>
            </a:r>
          </a:p>
          <a:p>
            <a:pPr marL="342900" indent="-342900">
              <a:lnSpc>
                <a:spcPct val="90000"/>
              </a:lnSpc>
              <a:buFont typeface="Wingdings" pitchFamily="2" charset="2"/>
              <a:buChar char="q"/>
            </a:pPr>
            <a:r>
              <a:rPr lang="en-US" sz="2000" dirty="0">
                <a:solidFill>
                  <a:schemeClr val="accent5">
                    <a:lumMod val="50000"/>
                  </a:schemeClr>
                </a:solidFill>
              </a:rPr>
              <a:t>Open/closed</a:t>
            </a:r>
          </a:p>
          <a:p>
            <a:pPr marL="800100" lvl="1" indent="-342900">
              <a:lnSpc>
                <a:spcPct val="90000"/>
              </a:lnSpc>
              <a:buFont typeface="Wingdings" pitchFamily="2" charset="2"/>
              <a:buChar char="q"/>
            </a:pPr>
            <a:r>
              <a:rPr lang="en-US" dirty="0">
                <a:solidFill>
                  <a:schemeClr val="accent5">
                    <a:lumMod val="50000"/>
                  </a:schemeClr>
                </a:solidFill>
              </a:rPr>
              <a:t>Open for extension, close for modification</a:t>
            </a:r>
          </a:p>
          <a:p>
            <a:pPr marL="342900" indent="-342900">
              <a:lnSpc>
                <a:spcPct val="90000"/>
              </a:lnSpc>
              <a:buFont typeface="Wingdings" pitchFamily="2" charset="2"/>
              <a:buChar char="q"/>
            </a:pPr>
            <a:r>
              <a:rPr lang="en-US" sz="2000" dirty="0" err="1">
                <a:solidFill>
                  <a:schemeClr val="accent5">
                    <a:lumMod val="50000"/>
                  </a:schemeClr>
                </a:solidFill>
              </a:rPr>
              <a:t>Liskov</a:t>
            </a:r>
            <a:r>
              <a:rPr lang="en-US" sz="2000" dirty="0">
                <a:solidFill>
                  <a:schemeClr val="accent5">
                    <a:lumMod val="50000"/>
                  </a:schemeClr>
                </a:solidFill>
              </a:rPr>
              <a:t> substitution</a:t>
            </a:r>
          </a:p>
          <a:p>
            <a:pPr marL="800100" lvl="1" indent="-342900">
              <a:lnSpc>
                <a:spcPct val="90000"/>
              </a:lnSpc>
              <a:buFont typeface="Wingdings" pitchFamily="2" charset="2"/>
              <a:buChar char="q"/>
            </a:pPr>
            <a:r>
              <a:rPr lang="en-US" dirty="0">
                <a:solidFill>
                  <a:schemeClr val="accent5">
                    <a:lumMod val="50000"/>
                  </a:schemeClr>
                </a:solidFill>
              </a:rPr>
              <a:t>Implementations of an interface should give same result</a:t>
            </a:r>
          </a:p>
          <a:p>
            <a:pPr marL="342900" indent="-342900">
              <a:lnSpc>
                <a:spcPct val="90000"/>
              </a:lnSpc>
              <a:buFont typeface="Wingdings" pitchFamily="2" charset="2"/>
              <a:buChar char="q"/>
            </a:pPr>
            <a:r>
              <a:rPr lang="en-US" sz="2000" dirty="0">
                <a:solidFill>
                  <a:schemeClr val="accent5">
                    <a:lumMod val="50000"/>
                  </a:schemeClr>
                </a:solidFill>
              </a:rPr>
              <a:t>Interface segregation</a:t>
            </a:r>
          </a:p>
          <a:p>
            <a:pPr marL="800100" lvl="1" indent="-342900">
              <a:lnSpc>
                <a:spcPct val="90000"/>
              </a:lnSpc>
              <a:buFont typeface="Wingdings" pitchFamily="2" charset="2"/>
              <a:buChar char="q"/>
            </a:pPr>
            <a:r>
              <a:rPr lang="en-US" dirty="0">
                <a:solidFill>
                  <a:schemeClr val="accent5">
                    <a:lumMod val="50000"/>
                  </a:schemeClr>
                </a:solidFill>
              </a:rPr>
              <a:t>Client should not have to use methods it does not need</a:t>
            </a:r>
          </a:p>
          <a:p>
            <a:pPr marL="342900" indent="-342900">
              <a:lnSpc>
                <a:spcPct val="90000"/>
              </a:lnSpc>
              <a:buFont typeface="Wingdings" pitchFamily="2" charset="2"/>
              <a:buChar char="q"/>
            </a:pPr>
            <a:r>
              <a:rPr lang="en-US" sz="2000" dirty="0">
                <a:solidFill>
                  <a:schemeClr val="accent5">
                    <a:lumMod val="50000"/>
                  </a:schemeClr>
                </a:solidFill>
              </a:rPr>
              <a:t>Dependency inversion</a:t>
            </a:r>
          </a:p>
          <a:p>
            <a:pPr marL="800100" lvl="1" indent="-342900">
              <a:lnSpc>
                <a:spcPct val="90000"/>
              </a:lnSpc>
              <a:buFont typeface="Wingdings" pitchFamily="2" charset="2"/>
              <a:buChar char="q"/>
            </a:pPr>
            <a:r>
              <a:rPr lang="en-US" dirty="0">
                <a:solidFill>
                  <a:schemeClr val="accent5">
                    <a:lumMod val="50000"/>
                  </a:schemeClr>
                </a:solidFill>
              </a:rPr>
              <a:t>High level modules should not depend on low level modules, only on abstractions</a:t>
            </a:r>
          </a:p>
          <a:p>
            <a:pPr>
              <a:lnSpc>
                <a:spcPct val="90000"/>
              </a:lnSpc>
            </a:pPr>
            <a:r>
              <a:rPr lang="en-US" sz="2000" dirty="0">
                <a:solidFill>
                  <a:schemeClr val="accent5">
                    <a:lumMod val="50000"/>
                  </a:schemeClr>
                </a:solidFill>
              </a:rPr>
              <a:t> </a:t>
            </a:r>
          </a:p>
          <a:p>
            <a:pPr marL="342900" indent="-342900">
              <a:lnSpc>
                <a:spcPct val="90000"/>
              </a:lnSpc>
              <a:buFont typeface="Wingdings" pitchFamily="2" charset="2"/>
              <a:buChar char="q"/>
            </a:pPr>
            <a:endParaRPr lang="en-US" sz="2000" dirty="0">
              <a:solidFill>
                <a:schemeClr val="accent5">
                  <a:lumMod val="50000"/>
                </a:schemeClr>
              </a:solidFill>
            </a:endParaRPr>
          </a:p>
        </p:txBody>
      </p:sp>
      <p:sp>
        <p:nvSpPr>
          <p:cNvPr id="15" name="Rounded Rectangle 14">
            <a:extLst>
              <a:ext uri="{FF2B5EF4-FFF2-40B4-BE49-F238E27FC236}">
                <a16:creationId xmlns:a16="http://schemas.microsoft.com/office/drawing/2014/main" id="{818EF71D-D46F-983C-1736-1808FD8BCE62}"/>
              </a:ext>
            </a:extLst>
          </p:cNvPr>
          <p:cNvSpPr/>
          <p:nvPr/>
        </p:nvSpPr>
        <p:spPr>
          <a:xfrm>
            <a:off x="6017055" y="983596"/>
            <a:ext cx="5721178" cy="4948574"/>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b="1" dirty="0">
              <a:solidFill>
                <a:schemeClr val="accent2">
                  <a:lumMod val="20000"/>
                  <a:lumOff val="80000"/>
                </a:schemeClr>
              </a:solidFill>
            </a:endParaRPr>
          </a:p>
          <a:p>
            <a:pPr marL="342900" indent="-342900" algn="l">
              <a:buFont typeface="Wingdings" pitchFamily="2" charset="2"/>
              <a:buChar char="q"/>
            </a:pPr>
            <a:r>
              <a:rPr lang="en-US" sz="2000" b="0" dirty="0">
                <a:solidFill>
                  <a:schemeClr val="accent2">
                    <a:lumMod val="20000"/>
                    <a:lumOff val="80000"/>
                  </a:schemeClr>
                </a:solidFill>
                <a:effectLst/>
                <a:latin typeface="sohne"/>
              </a:rPr>
              <a:t>Function calls hav</a:t>
            </a:r>
            <a:r>
              <a:rPr lang="en-US" sz="2000" dirty="0">
                <a:solidFill>
                  <a:schemeClr val="accent2">
                    <a:lumMod val="20000"/>
                    <a:lumOff val="80000"/>
                  </a:schemeClr>
                </a:solidFill>
                <a:latin typeface="sohne"/>
              </a:rPr>
              <a:t>e overheads</a:t>
            </a:r>
          </a:p>
          <a:p>
            <a:pPr marL="800100" lvl="1" indent="-342900">
              <a:buFont typeface="Wingdings" pitchFamily="2" charset="2"/>
              <a:buChar char="q"/>
            </a:pPr>
            <a:r>
              <a:rPr lang="en-US" b="0" dirty="0">
                <a:solidFill>
                  <a:schemeClr val="accent2">
                    <a:lumMod val="20000"/>
                    <a:lumOff val="80000"/>
                  </a:schemeClr>
                </a:solidFill>
                <a:effectLst/>
                <a:latin typeface="sohne"/>
              </a:rPr>
              <a:t>Performance matters – quick turnaround of results desirable</a:t>
            </a:r>
          </a:p>
          <a:p>
            <a:pPr marL="342900" indent="-342900" algn="l">
              <a:buFont typeface="Wingdings" pitchFamily="2" charset="2"/>
              <a:buChar char="q"/>
            </a:pPr>
            <a:r>
              <a:rPr lang="en-US" sz="2000" b="0" dirty="0">
                <a:solidFill>
                  <a:schemeClr val="accent2">
                    <a:lumMod val="20000"/>
                    <a:lumOff val="80000"/>
                  </a:schemeClr>
                </a:solidFill>
                <a:effectLst/>
                <a:latin typeface="sohne"/>
              </a:rPr>
              <a:t>New insights may cause modification</a:t>
            </a:r>
          </a:p>
          <a:p>
            <a:pPr marL="800100" lvl="1" indent="-342900">
              <a:buFont typeface="Wingdings" pitchFamily="2" charset="2"/>
              <a:buChar char="q"/>
            </a:pPr>
            <a:r>
              <a:rPr lang="en-US" dirty="0">
                <a:solidFill>
                  <a:schemeClr val="accent2">
                    <a:lumMod val="20000"/>
                    <a:lumOff val="80000"/>
                  </a:schemeClr>
                </a:solidFill>
                <a:latin typeface="sohne"/>
              </a:rPr>
              <a:t>May lead to unmaintainable code duplication</a:t>
            </a:r>
          </a:p>
          <a:p>
            <a:pPr marL="800100" lvl="1" indent="-342900">
              <a:buFont typeface="Wingdings" pitchFamily="2" charset="2"/>
              <a:buChar char="q"/>
            </a:pPr>
            <a:endParaRPr lang="en-US" b="0" dirty="0">
              <a:solidFill>
                <a:schemeClr val="accent2">
                  <a:lumMod val="20000"/>
                  <a:lumOff val="80000"/>
                </a:schemeClr>
              </a:solidFill>
              <a:effectLst/>
              <a:latin typeface="sohne"/>
            </a:endParaRPr>
          </a:p>
          <a:p>
            <a:pPr algn="l"/>
            <a:endParaRPr lang="en-US" sz="2000" b="0" dirty="0">
              <a:solidFill>
                <a:schemeClr val="accent2">
                  <a:lumMod val="20000"/>
                  <a:lumOff val="80000"/>
                </a:schemeClr>
              </a:solidFill>
              <a:effectLst/>
              <a:latin typeface="sohne"/>
            </a:endParaRPr>
          </a:p>
          <a:p>
            <a:pPr algn="l"/>
            <a:endParaRPr lang="en-US" sz="2000" b="0" dirty="0">
              <a:solidFill>
                <a:schemeClr val="accent2">
                  <a:lumMod val="20000"/>
                  <a:lumOff val="80000"/>
                </a:schemeClr>
              </a:solidFill>
              <a:effectLst/>
              <a:latin typeface="sohne"/>
            </a:endParaRPr>
          </a:p>
          <a:p>
            <a:pPr marL="342900" indent="-342900" algn="l">
              <a:buFont typeface="Wingdings" pitchFamily="2" charset="2"/>
              <a:buChar char="q"/>
            </a:pPr>
            <a:r>
              <a:rPr lang="en-US" sz="2000" dirty="0">
                <a:solidFill>
                  <a:schemeClr val="accent2">
                    <a:lumMod val="20000"/>
                    <a:lumOff val="80000"/>
                  </a:schemeClr>
                </a:solidFill>
                <a:latin typeface="sohne"/>
              </a:rPr>
              <a:t>It is not always possible to eliminate lateral interactions</a:t>
            </a:r>
            <a:endParaRPr lang="en-US" sz="2000" b="0" dirty="0">
              <a:solidFill>
                <a:schemeClr val="accent2">
                  <a:lumMod val="20000"/>
                  <a:lumOff val="80000"/>
                </a:schemeClr>
              </a:solidFill>
              <a:effectLst/>
              <a:latin typeface="sohne"/>
            </a:endParaRPr>
          </a:p>
          <a:p>
            <a:pPr marL="342900" indent="-342900">
              <a:lnSpc>
                <a:spcPct val="90000"/>
              </a:lnSpc>
              <a:buFont typeface="Wingdings" pitchFamily="2" charset="2"/>
              <a:buChar char="q"/>
            </a:pPr>
            <a:r>
              <a:rPr lang="en-US" sz="2000" dirty="0">
                <a:solidFill>
                  <a:schemeClr val="accent2">
                    <a:lumMod val="20000"/>
                    <a:lumOff val="80000"/>
                  </a:schemeClr>
                </a:solidFill>
              </a:rPr>
              <a:t>Not always possible </a:t>
            </a:r>
          </a:p>
          <a:p>
            <a:pPr marL="342900" indent="-342900">
              <a:lnSpc>
                <a:spcPct val="90000"/>
              </a:lnSpc>
              <a:buFont typeface="Wingdings" pitchFamily="2" charset="2"/>
              <a:buChar char="q"/>
            </a:pPr>
            <a:endParaRPr lang="en-US" sz="2000" dirty="0">
              <a:solidFill>
                <a:schemeClr val="accent2">
                  <a:lumMod val="20000"/>
                  <a:lumOff val="80000"/>
                </a:schemeClr>
              </a:solidFill>
            </a:endParaRPr>
          </a:p>
          <a:p>
            <a:pPr marL="342900" indent="-342900">
              <a:lnSpc>
                <a:spcPct val="90000"/>
              </a:lnSpc>
              <a:buFont typeface="Wingdings" pitchFamily="2" charset="2"/>
              <a:buChar char="q"/>
            </a:pPr>
            <a:endParaRPr lang="en-US" sz="2000" dirty="0">
              <a:solidFill>
                <a:schemeClr val="accent2">
                  <a:lumMod val="20000"/>
                  <a:lumOff val="80000"/>
                </a:schemeClr>
              </a:solidFill>
            </a:endParaRPr>
          </a:p>
          <a:p>
            <a:pPr marL="342900" indent="-342900">
              <a:lnSpc>
                <a:spcPct val="90000"/>
              </a:lnSpc>
              <a:buFont typeface="Wingdings" pitchFamily="2" charset="2"/>
              <a:buChar char="q"/>
            </a:pPr>
            <a:endParaRPr lang="en-US" sz="2000" dirty="0">
              <a:solidFill>
                <a:schemeClr val="accent2">
                  <a:lumMod val="20000"/>
                  <a:lumOff val="80000"/>
                </a:schemeClr>
              </a:solidFill>
            </a:endParaRPr>
          </a:p>
          <a:p>
            <a:pPr marL="342900" indent="-342900">
              <a:lnSpc>
                <a:spcPct val="90000"/>
              </a:lnSpc>
              <a:buFont typeface="Wingdings" pitchFamily="2" charset="2"/>
              <a:buChar char="q"/>
            </a:pPr>
            <a:endParaRPr lang="en-US" sz="2000" dirty="0">
              <a:solidFill>
                <a:schemeClr val="accent2">
                  <a:lumMod val="20000"/>
                  <a:lumOff val="80000"/>
                </a:schemeClr>
              </a:solidFill>
            </a:endParaRPr>
          </a:p>
        </p:txBody>
      </p:sp>
      <p:sp>
        <p:nvSpPr>
          <p:cNvPr id="16" name="Right Arrow 15">
            <a:extLst>
              <a:ext uri="{FF2B5EF4-FFF2-40B4-BE49-F238E27FC236}">
                <a16:creationId xmlns:a16="http://schemas.microsoft.com/office/drawing/2014/main" id="{AE72FB0F-483C-CBB5-550B-89C8865463BC}"/>
              </a:ext>
            </a:extLst>
          </p:cNvPr>
          <p:cNvSpPr/>
          <p:nvPr/>
        </p:nvSpPr>
        <p:spPr>
          <a:xfrm>
            <a:off x="5113943" y="1444414"/>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7" name="Right Arrow 16">
            <a:extLst>
              <a:ext uri="{FF2B5EF4-FFF2-40B4-BE49-F238E27FC236}">
                <a16:creationId xmlns:a16="http://schemas.microsoft.com/office/drawing/2014/main" id="{F8A1BBE8-2381-BCF2-4AA3-9719C7A875F5}"/>
              </a:ext>
            </a:extLst>
          </p:cNvPr>
          <p:cNvSpPr/>
          <p:nvPr/>
        </p:nvSpPr>
        <p:spPr>
          <a:xfrm>
            <a:off x="5113942" y="2214303"/>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8" name="Right Arrow 17">
            <a:extLst>
              <a:ext uri="{FF2B5EF4-FFF2-40B4-BE49-F238E27FC236}">
                <a16:creationId xmlns:a16="http://schemas.microsoft.com/office/drawing/2014/main" id="{64C7E6C2-0B1A-99DC-F18E-EE5B2E6FDB3B}"/>
              </a:ext>
            </a:extLst>
          </p:cNvPr>
          <p:cNvSpPr/>
          <p:nvPr/>
        </p:nvSpPr>
        <p:spPr>
          <a:xfrm>
            <a:off x="5131539" y="3839812"/>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9" name="Right Arrow 18">
            <a:extLst>
              <a:ext uri="{FF2B5EF4-FFF2-40B4-BE49-F238E27FC236}">
                <a16:creationId xmlns:a16="http://schemas.microsoft.com/office/drawing/2014/main" id="{DADA3D3B-86CD-0F77-F175-8AB06EC3C1FD}"/>
              </a:ext>
            </a:extLst>
          </p:cNvPr>
          <p:cNvSpPr/>
          <p:nvPr/>
        </p:nvSpPr>
        <p:spPr>
          <a:xfrm>
            <a:off x="5113942" y="4484558"/>
            <a:ext cx="903111" cy="250286"/>
          </a:xfrm>
          <a:prstGeom prst="right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3037360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p:txBody>
          <a:bodyPr/>
          <a:lstStyle/>
          <a:p>
            <a:r>
              <a:rPr lang="en-US" dirty="0"/>
              <a:t>Additional Considerations for Research Software</a:t>
            </a:r>
          </a:p>
        </p:txBody>
      </p:sp>
      <p:sp>
        <p:nvSpPr>
          <p:cNvPr id="4" name="Rounded Rectangle 3">
            <a:extLst>
              <a:ext uri="{FF2B5EF4-FFF2-40B4-BE49-F238E27FC236}">
                <a16:creationId xmlns:a16="http://schemas.microsoft.com/office/drawing/2014/main" id="{E5BBE479-B16C-D94F-BC94-6B60F0645C44}"/>
              </a:ext>
            </a:extLst>
          </p:cNvPr>
          <p:cNvSpPr/>
          <p:nvPr/>
        </p:nvSpPr>
        <p:spPr>
          <a:xfrm>
            <a:off x="64698" y="1037968"/>
            <a:ext cx="5721178" cy="5029200"/>
          </a:xfrm>
          <a:prstGeom prst="roundRect">
            <a:avLst/>
          </a:prstGeom>
          <a:solidFill>
            <a:schemeClr val="accent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50000"/>
                  </a:schemeClr>
                </a:solidFill>
              </a:rPr>
              <a:t>Considerations</a:t>
            </a:r>
          </a:p>
          <a:p>
            <a:pPr>
              <a:lnSpc>
                <a:spcPct val="90000"/>
              </a:lnSpc>
            </a:pPr>
            <a:endParaRPr lang="en-US" sz="2000" b="1"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Multidisciplinary </a:t>
            </a:r>
          </a:p>
          <a:p>
            <a:pPr marL="800100" lvl="1" indent="-342900">
              <a:lnSpc>
                <a:spcPct val="90000"/>
              </a:lnSpc>
              <a:buFont typeface="Wingdings" pitchFamily="2" charset="2"/>
              <a:buChar char="q"/>
            </a:pPr>
            <a:r>
              <a:rPr lang="en-US" sz="2000" dirty="0">
                <a:solidFill>
                  <a:schemeClr val="accent2">
                    <a:lumMod val="50000"/>
                  </a:schemeClr>
                </a:solidFill>
              </a:rPr>
              <a:t>Many facets of knowledge</a:t>
            </a:r>
          </a:p>
          <a:p>
            <a:pPr marL="800100" lvl="1" indent="-342900">
              <a:lnSpc>
                <a:spcPct val="90000"/>
              </a:lnSpc>
              <a:buFont typeface="Wingdings" pitchFamily="2" charset="2"/>
              <a:buChar char="q"/>
            </a:pPr>
            <a:r>
              <a:rPr lang="en-US" sz="2000" dirty="0">
                <a:solidFill>
                  <a:schemeClr val="accent2">
                    <a:lumMod val="50000"/>
                  </a:schemeClr>
                </a:solidFill>
              </a:rPr>
              <a:t>To know everything is not feasible</a:t>
            </a:r>
          </a:p>
          <a:p>
            <a:pPr marL="800100" lvl="1" indent="-342900">
              <a:lnSpc>
                <a:spcPct val="90000"/>
              </a:lnSpc>
              <a:buFont typeface="Wingdings" pitchFamily="2" charset="2"/>
              <a:buChar char="q"/>
            </a:pPr>
            <a:endParaRPr lang="en-US" sz="2000"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Two types of code components</a:t>
            </a:r>
          </a:p>
          <a:p>
            <a:pPr marL="800100" lvl="1" indent="-342900">
              <a:lnSpc>
                <a:spcPct val="90000"/>
              </a:lnSpc>
              <a:buFont typeface="Wingdings" pitchFamily="2" charset="2"/>
              <a:buChar char="q"/>
            </a:pPr>
            <a:r>
              <a:rPr lang="en-US" sz="2000" dirty="0">
                <a:solidFill>
                  <a:schemeClr val="accent2">
                    <a:lumMod val="50000"/>
                  </a:schemeClr>
                </a:solidFill>
              </a:rPr>
              <a:t>Infrastructure (mesh/IO/runtime …)</a:t>
            </a:r>
          </a:p>
          <a:p>
            <a:pPr marL="800100" lvl="1" indent="-342900">
              <a:lnSpc>
                <a:spcPct val="90000"/>
              </a:lnSpc>
              <a:buFont typeface="Wingdings" pitchFamily="2" charset="2"/>
              <a:buChar char="q"/>
            </a:pPr>
            <a:r>
              <a:rPr lang="en-US" sz="2000" dirty="0">
                <a:solidFill>
                  <a:schemeClr val="accent2">
                    <a:lumMod val="50000"/>
                  </a:schemeClr>
                </a:solidFill>
              </a:rPr>
              <a:t>Science models (numerical methods)</a:t>
            </a:r>
          </a:p>
          <a:p>
            <a:pPr marL="800100" lvl="1" indent="-342900">
              <a:lnSpc>
                <a:spcPct val="90000"/>
              </a:lnSpc>
              <a:buFont typeface="Wingdings" pitchFamily="2" charset="2"/>
              <a:buChar char="q"/>
            </a:pPr>
            <a:endParaRPr lang="en-US" sz="2000"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Codes grow</a:t>
            </a:r>
          </a:p>
          <a:p>
            <a:pPr marL="800100" lvl="1" indent="-342900">
              <a:lnSpc>
                <a:spcPct val="90000"/>
              </a:lnSpc>
              <a:buFont typeface="Wingdings" pitchFamily="2" charset="2"/>
              <a:buChar char="q"/>
            </a:pPr>
            <a:r>
              <a:rPr lang="en-US" sz="2000" dirty="0">
                <a:solidFill>
                  <a:schemeClr val="accent2">
                    <a:lumMod val="50000"/>
                  </a:schemeClr>
                </a:solidFill>
              </a:rPr>
              <a:t>New ideas =&gt; new features</a:t>
            </a:r>
          </a:p>
          <a:p>
            <a:pPr marL="800100" lvl="1" indent="-342900">
              <a:lnSpc>
                <a:spcPct val="90000"/>
              </a:lnSpc>
              <a:buFont typeface="Wingdings" pitchFamily="2" charset="2"/>
              <a:buChar char="q"/>
            </a:pPr>
            <a:r>
              <a:rPr lang="en-US" sz="2000" dirty="0">
                <a:solidFill>
                  <a:schemeClr val="accent2">
                    <a:lumMod val="50000"/>
                  </a:schemeClr>
                </a:solidFill>
              </a:rPr>
              <a:t>Code reuse by others </a:t>
            </a:r>
          </a:p>
          <a:p>
            <a:pPr marL="342900" indent="-342900">
              <a:lnSpc>
                <a:spcPct val="90000"/>
              </a:lnSpc>
              <a:buFont typeface="Wingdings" pitchFamily="2" charset="2"/>
              <a:buChar char="q"/>
            </a:pPr>
            <a:endParaRPr lang="en-US" sz="2000" dirty="0">
              <a:solidFill>
                <a:schemeClr val="accent5">
                  <a:lumMod val="50000"/>
                </a:schemeClr>
              </a:solidFill>
            </a:endParaRPr>
          </a:p>
          <a:p>
            <a:pPr marL="342900" indent="-342900">
              <a:lnSpc>
                <a:spcPct val="90000"/>
              </a:lnSpc>
              <a:buFont typeface="Wingdings" pitchFamily="2" charset="2"/>
              <a:buChar char="q"/>
            </a:pPr>
            <a:endParaRPr lang="en-US" sz="2000" dirty="0">
              <a:solidFill>
                <a:schemeClr val="accent5">
                  <a:lumMod val="50000"/>
                </a:schemeClr>
              </a:solidFill>
            </a:endParaRPr>
          </a:p>
        </p:txBody>
      </p:sp>
      <p:sp>
        <p:nvSpPr>
          <p:cNvPr id="5" name="Rounded Rectangle 4">
            <a:extLst>
              <a:ext uri="{FF2B5EF4-FFF2-40B4-BE49-F238E27FC236}">
                <a16:creationId xmlns:a16="http://schemas.microsoft.com/office/drawing/2014/main" id="{7DC70085-0AD4-7C45-92D4-B6627442268A}"/>
              </a:ext>
            </a:extLst>
          </p:cNvPr>
          <p:cNvSpPr/>
          <p:nvPr/>
        </p:nvSpPr>
        <p:spPr>
          <a:xfrm>
            <a:off x="5883736" y="1059936"/>
            <a:ext cx="5721178" cy="5029200"/>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40000"/>
                    <a:lumOff val="60000"/>
                  </a:schemeClr>
                </a:solidFill>
              </a:rPr>
              <a:t>Design Implications</a:t>
            </a:r>
          </a:p>
          <a:p>
            <a:pPr algn="ctr">
              <a:lnSpc>
                <a:spcPct val="90000"/>
              </a:lnSpc>
            </a:pPr>
            <a:endParaRPr lang="en-US" sz="2000" b="1"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Separation of Concerns</a:t>
            </a:r>
          </a:p>
          <a:p>
            <a:pPr marL="800100" lvl="1" indent="-342900">
              <a:lnSpc>
                <a:spcPct val="90000"/>
              </a:lnSpc>
              <a:buFont typeface="Wingdings" pitchFamily="2" charset="2"/>
              <a:buChar char="q"/>
            </a:pPr>
            <a:r>
              <a:rPr lang="en-US" sz="2000" dirty="0">
                <a:solidFill>
                  <a:schemeClr val="accent2">
                    <a:lumMod val="40000"/>
                    <a:lumOff val="60000"/>
                  </a:schemeClr>
                </a:solidFill>
              </a:rPr>
              <a:t>Shield developers from unnecessary complexities</a:t>
            </a:r>
          </a:p>
          <a:p>
            <a:pPr marL="800100" lvl="1" indent="-342900">
              <a:lnSpc>
                <a:spcPct val="90000"/>
              </a:lnSpc>
              <a:buFont typeface="Wingdings" pitchFamily="2" charset="2"/>
              <a:buChar char="q"/>
            </a:pPr>
            <a:endParaRPr lang="en-US" sz="2000"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Work with different lifecycles</a:t>
            </a:r>
          </a:p>
          <a:p>
            <a:pPr marL="800100" lvl="1" indent="-342900">
              <a:lnSpc>
                <a:spcPct val="90000"/>
              </a:lnSpc>
              <a:buFont typeface="Wingdings" pitchFamily="2" charset="2"/>
              <a:buChar char="q"/>
            </a:pPr>
            <a:r>
              <a:rPr lang="en-US" sz="2000" dirty="0">
                <a:solidFill>
                  <a:schemeClr val="accent2">
                    <a:lumMod val="40000"/>
                    <a:lumOff val="60000"/>
                  </a:schemeClr>
                </a:solidFill>
              </a:rPr>
              <a:t>Long-lasting vs quick changing</a:t>
            </a:r>
          </a:p>
          <a:p>
            <a:pPr marL="800100" lvl="1" indent="-342900">
              <a:lnSpc>
                <a:spcPct val="90000"/>
              </a:lnSpc>
              <a:buFont typeface="Wingdings" pitchFamily="2" charset="2"/>
              <a:buChar char="q"/>
            </a:pPr>
            <a:r>
              <a:rPr lang="en-US" sz="2000" dirty="0">
                <a:solidFill>
                  <a:schemeClr val="accent2">
                    <a:lumMod val="40000"/>
                    <a:lumOff val="60000"/>
                  </a:schemeClr>
                </a:solidFill>
              </a:rPr>
              <a:t>Logically vs mathematically complex</a:t>
            </a:r>
          </a:p>
          <a:p>
            <a:pPr marL="800100" lvl="1" indent="-342900">
              <a:lnSpc>
                <a:spcPct val="90000"/>
              </a:lnSpc>
              <a:buFont typeface="Wingdings" pitchFamily="2" charset="2"/>
              <a:buChar char="q"/>
            </a:pPr>
            <a:endParaRPr lang="en-US" sz="2000"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Extensibility built in</a:t>
            </a:r>
          </a:p>
          <a:p>
            <a:pPr marL="800100" lvl="1" indent="-342900">
              <a:lnSpc>
                <a:spcPct val="90000"/>
              </a:lnSpc>
              <a:buFont typeface="Wingdings" pitchFamily="2" charset="2"/>
              <a:buChar char="q"/>
            </a:pPr>
            <a:r>
              <a:rPr lang="en-US" sz="2000" dirty="0">
                <a:solidFill>
                  <a:schemeClr val="accent2">
                    <a:lumMod val="40000"/>
                    <a:lumOff val="60000"/>
                  </a:schemeClr>
                </a:solidFill>
              </a:rPr>
              <a:t>Ease of adding new capabilities</a:t>
            </a:r>
          </a:p>
          <a:p>
            <a:pPr marL="800100" lvl="1" indent="-342900">
              <a:lnSpc>
                <a:spcPct val="90000"/>
              </a:lnSpc>
              <a:buFont typeface="Wingdings" pitchFamily="2" charset="2"/>
              <a:buChar char="q"/>
            </a:pPr>
            <a:r>
              <a:rPr lang="en-US" sz="2000" dirty="0">
                <a:solidFill>
                  <a:schemeClr val="accent2">
                    <a:lumMod val="40000"/>
                    <a:lumOff val="60000"/>
                  </a:schemeClr>
                </a:solidFill>
              </a:rPr>
              <a:t>Customizing existing capabilities</a:t>
            </a:r>
          </a:p>
          <a:p>
            <a:pPr marL="800100" lvl="1" indent="-342900">
              <a:lnSpc>
                <a:spcPct val="90000"/>
              </a:lnSpc>
              <a:buFont typeface="Wingdings" pitchFamily="2" charset="2"/>
              <a:buChar char="q"/>
            </a:pPr>
            <a:endParaRPr lang="en-US" sz="2000" dirty="0">
              <a:solidFill>
                <a:schemeClr val="accent5">
                  <a:lumMod val="40000"/>
                  <a:lumOff val="60000"/>
                </a:schemeClr>
              </a:solidFill>
            </a:endParaRPr>
          </a:p>
          <a:p>
            <a:pPr algn="ctr">
              <a:lnSpc>
                <a:spcPct val="90000"/>
              </a:lnSpc>
            </a:pPr>
            <a:endParaRPr lang="en-US" sz="2000" dirty="0">
              <a:solidFill>
                <a:schemeClr val="bg1"/>
              </a:solidFill>
            </a:endParaRPr>
          </a:p>
        </p:txBody>
      </p:sp>
      <p:sp>
        <p:nvSpPr>
          <p:cNvPr id="6" name="Right Arrow 5">
            <a:extLst>
              <a:ext uri="{FF2B5EF4-FFF2-40B4-BE49-F238E27FC236}">
                <a16:creationId xmlns:a16="http://schemas.microsoft.com/office/drawing/2014/main" id="{9B686305-E74E-EB44-801D-1C14E473827F}"/>
              </a:ext>
            </a:extLst>
          </p:cNvPr>
          <p:cNvSpPr/>
          <p:nvPr/>
        </p:nvSpPr>
        <p:spPr>
          <a:xfrm>
            <a:off x="5166497" y="2165025"/>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 name="Right Arrow 6">
            <a:extLst>
              <a:ext uri="{FF2B5EF4-FFF2-40B4-BE49-F238E27FC236}">
                <a16:creationId xmlns:a16="http://schemas.microsoft.com/office/drawing/2014/main" id="{6CFC44B4-B5D6-5949-8DAA-80AD31E8FBAB}"/>
              </a:ext>
            </a:extLst>
          </p:cNvPr>
          <p:cNvSpPr/>
          <p:nvPr/>
        </p:nvSpPr>
        <p:spPr>
          <a:xfrm>
            <a:off x="5166496" y="3250154"/>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8" name="Right Arrow 7">
            <a:extLst>
              <a:ext uri="{FF2B5EF4-FFF2-40B4-BE49-F238E27FC236}">
                <a16:creationId xmlns:a16="http://schemas.microsoft.com/office/drawing/2014/main" id="{993BB968-F9E4-1E45-80DC-477122F2D2FF}"/>
              </a:ext>
            </a:extLst>
          </p:cNvPr>
          <p:cNvSpPr/>
          <p:nvPr/>
        </p:nvSpPr>
        <p:spPr>
          <a:xfrm>
            <a:off x="5071006" y="4360409"/>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767128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DD86-AD27-9B67-E405-85C81A481C24}"/>
              </a:ext>
            </a:extLst>
          </p:cNvPr>
          <p:cNvSpPr>
            <a:spLocks noGrp="1"/>
          </p:cNvSpPr>
          <p:nvPr>
            <p:ph type="title"/>
          </p:nvPr>
        </p:nvSpPr>
        <p:spPr/>
        <p:txBody>
          <a:bodyPr/>
          <a:lstStyle/>
          <a:p>
            <a:r>
              <a:rPr lang="en-US" dirty="0"/>
              <a:t>More Complex Application Design – </a:t>
            </a:r>
            <a:r>
              <a:rPr lang="en-US" dirty="0" err="1"/>
              <a:t>Sedov</a:t>
            </a:r>
            <a:r>
              <a:rPr lang="en-US" dirty="0"/>
              <a:t> Blast Wave</a:t>
            </a:r>
            <a:br>
              <a:rPr lang="en-US" dirty="0"/>
            </a:br>
            <a:endParaRPr lang="en-US" dirty="0"/>
          </a:p>
        </p:txBody>
      </p:sp>
      <p:pic>
        <p:nvPicPr>
          <p:cNvPr id="4" name="Picture 17" descr="&#10;sedov_pm3.png                                                  00238215Macintosh HD                   B746699A:">
            <a:extLst>
              <a:ext uri="{FF2B5EF4-FFF2-40B4-BE49-F238E27FC236}">
                <a16:creationId xmlns:a16="http://schemas.microsoft.com/office/drawing/2014/main" id="{525C433C-2878-C8D3-22FB-9973AF79D7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10492" t="8498" r="26555" b="9293"/>
          <a:stretch>
            <a:fillRect/>
          </a:stretch>
        </p:blipFill>
        <p:spPr bwMode="auto">
          <a:xfrm>
            <a:off x="1016654" y="3304089"/>
            <a:ext cx="3209089" cy="3142431"/>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ounded Rectangle 4">
            <a:extLst>
              <a:ext uri="{FF2B5EF4-FFF2-40B4-BE49-F238E27FC236}">
                <a16:creationId xmlns:a16="http://schemas.microsoft.com/office/drawing/2014/main" id="{9D73C691-1C18-175B-F248-2AD87723C5BF}"/>
              </a:ext>
            </a:extLst>
          </p:cNvPr>
          <p:cNvSpPr/>
          <p:nvPr/>
        </p:nvSpPr>
        <p:spPr>
          <a:xfrm>
            <a:off x="772160" y="1202813"/>
            <a:ext cx="5410266" cy="1698431"/>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000" b="1" dirty="0">
                <a:solidFill>
                  <a:schemeClr val="bg1"/>
                </a:solidFill>
              </a:rPr>
              <a:t>Description</a:t>
            </a:r>
          </a:p>
          <a:p>
            <a:pPr>
              <a:lnSpc>
                <a:spcPct val="90000"/>
              </a:lnSpc>
            </a:pPr>
            <a:endParaRPr lang="en-US" sz="2000" b="1" dirty="0">
              <a:solidFill>
                <a:schemeClr val="bg1"/>
              </a:solidFill>
            </a:endParaRPr>
          </a:p>
          <a:p>
            <a:pPr>
              <a:lnSpc>
                <a:spcPct val="90000"/>
              </a:lnSpc>
            </a:pPr>
            <a:r>
              <a:rPr lang="en-US" sz="2000" dirty="0">
                <a:solidFill>
                  <a:schemeClr val="bg1"/>
                </a:solidFill>
              </a:rPr>
              <a:t>High pressure at the center cause a shock to moves out in a circle. High resolution is needed only at and near the shock</a:t>
            </a:r>
          </a:p>
        </p:txBody>
      </p:sp>
      <p:sp>
        <p:nvSpPr>
          <p:cNvPr id="6" name="Content Placeholder 2">
            <a:extLst>
              <a:ext uri="{FF2B5EF4-FFF2-40B4-BE49-F238E27FC236}">
                <a16:creationId xmlns:a16="http://schemas.microsoft.com/office/drawing/2014/main" id="{DF01B2E5-4098-B6B1-3360-034A76C375FA}"/>
              </a:ext>
            </a:extLst>
          </p:cNvPr>
          <p:cNvSpPr>
            <a:spLocks noGrp="1"/>
          </p:cNvSpPr>
          <p:nvPr>
            <p:ph idx="1"/>
          </p:nvPr>
        </p:nvSpPr>
        <p:spPr>
          <a:xfrm>
            <a:off x="6467743" y="1123343"/>
            <a:ext cx="4985173" cy="4611314"/>
          </a:xfrm>
        </p:spPr>
        <p:txBody>
          <a:bodyPr/>
          <a:lstStyle/>
          <a:p>
            <a:pPr marL="0" indent="0" algn="ctr">
              <a:buNone/>
            </a:pPr>
            <a:r>
              <a:rPr lang="en-US" b="1" dirty="0"/>
              <a:t>Requirements </a:t>
            </a:r>
          </a:p>
          <a:p>
            <a:r>
              <a:rPr lang="en-US" dirty="0"/>
              <a:t>Adaptive mesh refinement</a:t>
            </a:r>
          </a:p>
          <a:p>
            <a:pPr lvl="1"/>
            <a:r>
              <a:rPr lang="en-US" dirty="0"/>
              <a:t>Easiest with finite volume methods</a:t>
            </a:r>
          </a:p>
          <a:p>
            <a:r>
              <a:rPr lang="en-US" dirty="0"/>
              <a:t>Driver</a:t>
            </a:r>
          </a:p>
          <a:p>
            <a:r>
              <a:rPr lang="en-US" dirty="0"/>
              <a:t>I/O</a:t>
            </a:r>
          </a:p>
          <a:p>
            <a:r>
              <a:rPr lang="en-US" dirty="0"/>
              <a:t>Initial condition</a:t>
            </a:r>
          </a:p>
          <a:p>
            <a:r>
              <a:rPr lang="en-US" dirty="0"/>
              <a:t>Boundary condition</a:t>
            </a:r>
          </a:p>
          <a:p>
            <a:r>
              <a:rPr lang="en-US" dirty="0"/>
              <a:t>Shock Hydrodynamics</a:t>
            </a:r>
          </a:p>
          <a:p>
            <a:r>
              <a:rPr lang="en-US" dirty="0"/>
              <a:t>Ideal gas equation of state</a:t>
            </a:r>
          </a:p>
          <a:p>
            <a:r>
              <a:rPr lang="en-US" dirty="0"/>
              <a:t>Method of verification</a:t>
            </a:r>
          </a:p>
          <a:p>
            <a:pPr lvl="1"/>
            <a:endParaRPr lang="en-US" dirty="0"/>
          </a:p>
          <a:p>
            <a:pPr marL="684212" lvl="2" indent="0">
              <a:buNone/>
            </a:pPr>
            <a:endParaRPr lang="en-US" dirty="0"/>
          </a:p>
          <a:p>
            <a:pPr lvl="1"/>
            <a:endParaRPr lang="en-US" dirty="0"/>
          </a:p>
        </p:txBody>
      </p:sp>
    </p:spTree>
    <p:extLst>
      <p:ext uri="{BB962C8B-B14F-4D97-AF65-F5344CB8AC3E}">
        <p14:creationId xmlns:p14="http://schemas.microsoft.com/office/powerpoint/2010/main" val="3151804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AE14-E448-7BB2-D527-0B26AA17C5EE}"/>
              </a:ext>
            </a:extLst>
          </p:cNvPr>
          <p:cNvSpPr>
            <a:spLocks noGrp="1"/>
          </p:cNvSpPr>
          <p:nvPr>
            <p:ph type="title"/>
          </p:nvPr>
        </p:nvSpPr>
        <p:spPr/>
        <p:txBody>
          <a:bodyPr/>
          <a:lstStyle/>
          <a:p>
            <a:r>
              <a:rPr lang="en-US" dirty="0"/>
              <a:t>Deeper Dive into Requirements</a:t>
            </a:r>
          </a:p>
        </p:txBody>
      </p:sp>
      <p:sp>
        <p:nvSpPr>
          <p:cNvPr id="3" name="Content Placeholder 2">
            <a:extLst>
              <a:ext uri="{FF2B5EF4-FFF2-40B4-BE49-F238E27FC236}">
                <a16:creationId xmlns:a16="http://schemas.microsoft.com/office/drawing/2014/main" id="{7234CC62-0743-7AB7-1EC0-AD6705540627}"/>
              </a:ext>
            </a:extLst>
          </p:cNvPr>
          <p:cNvSpPr>
            <a:spLocks noGrp="1"/>
          </p:cNvSpPr>
          <p:nvPr>
            <p:ph idx="1"/>
          </p:nvPr>
        </p:nvSpPr>
        <p:spPr>
          <a:xfrm>
            <a:off x="450592" y="1229359"/>
            <a:ext cx="10273852" cy="5137573"/>
          </a:xfrm>
        </p:spPr>
        <p:txBody>
          <a:bodyPr/>
          <a:lstStyle/>
          <a:p>
            <a:r>
              <a:rPr lang="en-US" dirty="0"/>
              <a:t>Adaptive mesh refinement =&gt; divide domain into blocks</a:t>
            </a:r>
          </a:p>
          <a:p>
            <a:pPr lvl="1"/>
            <a:r>
              <a:rPr lang="en-US" dirty="0"/>
              <a:t>Blocks need halos to be filled with values from neighbors or boundary conditions</a:t>
            </a:r>
          </a:p>
          <a:p>
            <a:pPr lvl="2"/>
            <a:r>
              <a:rPr lang="en-US" dirty="0"/>
              <a:t>At fine-coarse boundaries there is interpolation and restriction</a:t>
            </a:r>
          </a:p>
          <a:p>
            <a:pPr lvl="1"/>
            <a:r>
              <a:rPr lang="en-US" dirty="0"/>
              <a:t>Blocks are dynamic, go in and out of existence</a:t>
            </a:r>
          </a:p>
          <a:p>
            <a:pPr lvl="1"/>
            <a:r>
              <a:rPr lang="en-US" dirty="0"/>
              <a:t>Conservation needs reconciliation at fine-coarse boundaries</a:t>
            </a:r>
          </a:p>
          <a:p>
            <a:r>
              <a:rPr lang="en-US" dirty="0"/>
              <a:t>Shock hydrodynamics</a:t>
            </a:r>
          </a:p>
          <a:p>
            <a:pPr lvl="1"/>
            <a:r>
              <a:rPr lang="en-US" dirty="0"/>
              <a:t>Solver for Euler’s equations at discontinuities</a:t>
            </a:r>
          </a:p>
          <a:p>
            <a:pPr lvl="1"/>
            <a:r>
              <a:rPr lang="en-US" dirty="0"/>
              <a:t>EOS provides closure</a:t>
            </a:r>
          </a:p>
          <a:p>
            <a:pPr lvl="1"/>
            <a:r>
              <a:rPr lang="en-US" dirty="0"/>
              <a:t>Riemann solver</a:t>
            </a:r>
          </a:p>
          <a:p>
            <a:pPr lvl="1"/>
            <a:r>
              <a:rPr lang="en-US" dirty="0"/>
              <a:t>Halo cells are fine-coarse boundaries need EOS after interpolation</a:t>
            </a:r>
          </a:p>
          <a:p>
            <a:r>
              <a:rPr lang="en-US" dirty="0"/>
              <a:t>Method of verification</a:t>
            </a:r>
          </a:p>
          <a:p>
            <a:pPr lvl="1"/>
            <a:r>
              <a:rPr lang="en-US" dirty="0"/>
              <a:t>An indirect way of checking – shock distance traveled can be computed analytically</a:t>
            </a:r>
          </a:p>
          <a:p>
            <a:endParaRPr lang="en-US" dirty="0"/>
          </a:p>
        </p:txBody>
      </p:sp>
    </p:spTree>
    <p:extLst>
      <p:ext uri="{BB962C8B-B14F-4D97-AF65-F5344CB8AC3E}">
        <p14:creationId xmlns:p14="http://schemas.microsoft.com/office/powerpoint/2010/main" val="768314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7C93-979B-EF55-4109-2B0A4F2C2D71}"/>
              </a:ext>
            </a:extLst>
          </p:cNvPr>
          <p:cNvSpPr>
            <a:spLocks noGrp="1"/>
          </p:cNvSpPr>
          <p:nvPr>
            <p:ph type="title"/>
          </p:nvPr>
        </p:nvSpPr>
        <p:spPr/>
        <p:txBody>
          <a:bodyPr/>
          <a:lstStyle/>
          <a:p>
            <a:r>
              <a:rPr lang="en-US" dirty="0"/>
              <a:t>Components</a:t>
            </a:r>
          </a:p>
        </p:txBody>
      </p:sp>
      <p:sp>
        <p:nvSpPr>
          <p:cNvPr id="3" name="Content Placeholder 2">
            <a:extLst>
              <a:ext uri="{FF2B5EF4-FFF2-40B4-BE49-F238E27FC236}">
                <a16:creationId xmlns:a16="http://schemas.microsoft.com/office/drawing/2014/main" id="{C8AA873F-398D-29B2-A7D6-B628F8F14EEC}"/>
              </a:ext>
            </a:extLst>
          </p:cNvPr>
          <p:cNvSpPr>
            <a:spLocks noGrp="1"/>
          </p:cNvSpPr>
          <p:nvPr>
            <p:ph idx="1"/>
          </p:nvPr>
        </p:nvSpPr>
        <p:spPr>
          <a:xfrm>
            <a:off x="5848794" y="417223"/>
            <a:ext cx="5686237" cy="4736045"/>
          </a:xfrm>
        </p:spPr>
        <p:txBody>
          <a:bodyPr/>
          <a:lstStyle/>
          <a:p>
            <a:pPr marL="0" indent="0">
              <a:buNone/>
            </a:pPr>
            <a:r>
              <a:rPr lang="en-US" b="1" dirty="0"/>
              <a:t>Deeper Dive into some Components</a:t>
            </a:r>
          </a:p>
          <a:p>
            <a:r>
              <a:rPr lang="en-US" dirty="0"/>
              <a:t>Driver</a:t>
            </a:r>
          </a:p>
          <a:p>
            <a:pPr lvl="1"/>
            <a:r>
              <a:rPr lang="en-US" dirty="0"/>
              <a:t>Iterate over blocks</a:t>
            </a:r>
          </a:p>
          <a:p>
            <a:pPr lvl="1"/>
            <a:r>
              <a:rPr lang="en-US" dirty="0"/>
              <a:t>Implement connectivity</a:t>
            </a:r>
          </a:p>
          <a:p>
            <a:r>
              <a:rPr lang="en-US" dirty="0"/>
              <a:t>Mesh </a:t>
            </a:r>
          </a:p>
          <a:p>
            <a:pPr lvl="1"/>
            <a:r>
              <a:rPr lang="en-US" dirty="0"/>
              <a:t>Data containers</a:t>
            </a:r>
          </a:p>
          <a:p>
            <a:pPr lvl="1"/>
            <a:r>
              <a:rPr lang="en-US" dirty="0"/>
              <a:t>Halo cell fill, including application of boundary conditions</a:t>
            </a:r>
          </a:p>
          <a:p>
            <a:pPr lvl="1"/>
            <a:r>
              <a:rPr lang="en-US" dirty="0"/>
              <a:t>Reconciliation of quantities at fine-coarse block boundaries</a:t>
            </a:r>
          </a:p>
          <a:p>
            <a:pPr lvl="1"/>
            <a:r>
              <a:rPr lang="en-US" dirty="0" err="1"/>
              <a:t>Remesh</a:t>
            </a:r>
            <a:r>
              <a:rPr lang="en-US" dirty="0"/>
              <a:t> when refinement patterns change</a:t>
            </a:r>
          </a:p>
          <a:p>
            <a:r>
              <a:rPr lang="en-US" dirty="0"/>
              <a:t>I/O</a:t>
            </a:r>
          </a:p>
          <a:p>
            <a:pPr lvl="1"/>
            <a:r>
              <a:rPr lang="en-US" dirty="0"/>
              <a:t>Getting runtime parameters and possibly initial conditions</a:t>
            </a:r>
          </a:p>
          <a:p>
            <a:pPr lvl="1"/>
            <a:r>
              <a:rPr lang="en-US" dirty="0"/>
              <a:t>Writing checkpoint and analysis data</a:t>
            </a:r>
          </a:p>
        </p:txBody>
      </p:sp>
      <p:sp>
        <p:nvSpPr>
          <p:cNvPr id="4" name="Content Placeholder 2">
            <a:extLst>
              <a:ext uri="{FF2B5EF4-FFF2-40B4-BE49-F238E27FC236}">
                <a16:creationId xmlns:a16="http://schemas.microsoft.com/office/drawing/2014/main" id="{C2745C9D-C83C-9672-418A-997D74409054}"/>
              </a:ext>
            </a:extLst>
          </p:cNvPr>
          <p:cNvSpPr txBox="1">
            <a:spLocks/>
          </p:cNvSpPr>
          <p:nvPr/>
        </p:nvSpPr>
        <p:spPr bwMode="auto">
          <a:xfrm>
            <a:off x="450592" y="1123343"/>
            <a:ext cx="4985173" cy="46113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rgbClr val="C00000"/>
              </a:buClr>
              <a:buFont typeface="Wingdings" pitchFamily="2" charset="2"/>
              <a:buChar char="q"/>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rgbClr val="C00000"/>
              </a:buClr>
              <a:buFont typeface="Wingdings" pitchFamily="2" charset="2"/>
              <a:buChar char="q"/>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rgbClr val="C00000"/>
              </a:buClr>
              <a:buFont typeface="Wingdings" pitchFamily="2" charset="2"/>
              <a:buChar char="q"/>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itchFamily="2" charset="2"/>
              <a:buNone/>
            </a:pPr>
            <a:r>
              <a:rPr lang="en-US" b="1" dirty="0"/>
              <a:t>Binned Components</a:t>
            </a:r>
          </a:p>
          <a:p>
            <a:r>
              <a:rPr lang="en-US" dirty="0"/>
              <a:t>Unchanging or slow changing infrastructure</a:t>
            </a:r>
          </a:p>
          <a:p>
            <a:pPr lvl="1"/>
            <a:r>
              <a:rPr lang="en-US" dirty="0"/>
              <a:t>Mesh</a:t>
            </a:r>
          </a:p>
          <a:p>
            <a:pPr lvl="1"/>
            <a:r>
              <a:rPr lang="en-US" dirty="0"/>
              <a:t>I/O</a:t>
            </a:r>
          </a:p>
          <a:p>
            <a:pPr lvl="1"/>
            <a:r>
              <a:rPr lang="en-US" dirty="0"/>
              <a:t>Driver</a:t>
            </a:r>
          </a:p>
          <a:p>
            <a:pPr lvl="1"/>
            <a:r>
              <a:rPr lang="en-US" dirty="0"/>
              <a:t>Comparison utility</a:t>
            </a:r>
          </a:p>
          <a:p>
            <a:r>
              <a:rPr lang="en-US" dirty="0"/>
              <a:t>Components evolving with research – physics solvers</a:t>
            </a:r>
          </a:p>
          <a:p>
            <a:pPr lvl="1"/>
            <a:r>
              <a:rPr lang="en-US" dirty="0"/>
              <a:t>Initial and boundary conditions</a:t>
            </a:r>
          </a:p>
          <a:p>
            <a:pPr lvl="1"/>
            <a:r>
              <a:rPr lang="en-US" dirty="0"/>
              <a:t>Hydrodynamics</a:t>
            </a:r>
          </a:p>
          <a:p>
            <a:pPr lvl="1"/>
            <a:r>
              <a:rPr lang="en-US" dirty="0"/>
              <a:t>EOS</a:t>
            </a:r>
          </a:p>
          <a:p>
            <a:pPr lvl="1"/>
            <a:endParaRPr lang="en-US" dirty="0"/>
          </a:p>
        </p:txBody>
      </p:sp>
    </p:spTree>
    <p:extLst>
      <p:ext uri="{BB962C8B-B14F-4D97-AF65-F5344CB8AC3E}">
        <p14:creationId xmlns:p14="http://schemas.microsoft.com/office/powerpoint/2010/main" val="1166257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spTree>
    <p:extLst>
      <p:ext uri="{BB962C8B-B14F-4D97-AF65-F5344CB8AC3E}">
        <p14:creationId xmlns:p14="http://schemas.microsoft.com/office/powerpoint/2010/main" val="48801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89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E094FF-5ED2-613B-C2E6-653BDBF1BBC0}"/>
              </a:ext>
            </a:extLst>
          </p:cNvPr>
          <p:cNvCxnSpPr>
            <a:cxnSpLocks/>
            <a:endCxn id="5" idx="0"/>
          </p:cNvCxnSpPr>
          <p:nvPr/>
        </p:nvCxnSpPr>
        <p:spPr>
          <a:xfrm flipH="1">
            <a:off x="2793206" y="1739332"/>
            <a:ext cx="683153" cy="141760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319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E094FF-5ED2-613B-C2E6-653BDBF1BBC0}"/>
              </a:ext>
            </a:extLst>
          </p:cNvPr>
          <p:cNvCxnSpPr>
            <a:cxnSpLocks/>
            <a:endCxn id="5" idx="0"/>
          </p:cNvCxnSpPr>
          <p:nvPr/>
        </p:nvCxnSpPr>
        <p:spPr>
          <a:xfrm flipH="1">
            <a:off x="2793206" y="1739332"/>
            <a:ext cx="683153" cy="141760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776E6BA-1976-AFDF-65EA-F93DD21FC5B0}"/>
              </a:ext>
            </a:extLst>
          </p:cNvPr>
          <p:cNvCxnSpPr>
            <a:cxnSpLocks/>
            <a:stCxn id="20" idx="1"/>
            <a:endCxn id="21" idx="3"/>
          </p:cNvCxnSpPr>
          <p:nvPr/>
        </p:nvCxnSpPr>
        <p:spPr>
          <a:xfrm flipH="1">
            <a:off x="6431995" y="5518007"/>
            <a:ext cx="974653" cy="6135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318B9C8-BD4E-1090-2F25-2C5ACA1E988E}"/>
              </a:ext>
            </a:extLst>
          </p:cNvPr>
          <p:cNvCxnSpPr>
            <a:cxnSpLocks/>
            <a:stCxn id="20" idx="1"/>
          </p:cNvCxnSpPr>
          <p:nvPr/>
        </p:nvCxnSpPr>
        <p:spPr>
          <a:xfrm flipH="1" flipV="1">
            <a:off x="3544533" y="3696263"/>
            <a:ext cx="3862115" cy="182174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357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2036056" y="3156937"/>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8016698" y="3163145"/>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7" name="Rectangle 6">
            <a:extLst>
              <a:ext uri="{FF2B5EF4-FFF2-40B4-BE49-F238E27FC236}">
                <a16:creationId xmlns:a16="http://schemas.microsoft.com/office/drawing/2014/main" id="{3574D13C-0197-39DC-EEDE-C5DB057BE39E}"/>
              </a:ext>
            </a:extLst>
          </p:cNvPr>
          <p:cNvSpPr/>
          <p:nvPr/>
        </p:nvSpPr>
        <p:spPr>
          <a:xfrm>
            <a:off x="6614186" y="1325880"/>
            <a:ext cx="135466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Compare results</a:t>
            </a:r>
          </a:p>
        </p:txBody>
      </p:sp>
      <p:sp>
        <p:nvSpPr>
          <p:cNvPr id="8" name="Rectangle 7">
            <a:extLst>
              <a:ext uri="{FF2B5EF4-FFF2-40B4-BE49-F238E27FC236}">
                <a16:creationId xmlns:a16="http://schemas.microsoft.com/office/drawing/2014/main" id="{BC2EE776-07F1-7626-0470-B8DFF279B207}"/>
              </a:ext>
            </a:extLst>
          </p:cNvPr>
          <p:cNvSpPr/>
          <p:nvPr/>
        </p:nvSpPr>
        <p:spPr>
          <a:xfrm>
            <a:off x="3476359" y="1151182"/>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2039768" y="498799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4905022" y="3163145"/>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13" name="Straight Arrow Connector 12">
            <a:extLst>
              <a:ext uri="{FF2B5EF4-FFF2-40B4-BE49-F238E27FC236}">
                <a16:creationId xmlns:a16="http://schemas.microsoft.com/office/drawing/2014/main" id="{E9914A73-8A36-E371-E676-19EB304BD59E}"/>
              </a:ext>
            </a:extLst>
          </p:cNvPr>
          <p:cNvCxnSpPr>
            <a:stCxn id="11" idx="3"/>
            <a:endCxn id="6" idx="1"/>
          </p:cNvCxnSpPr>
          <p:nvPr/>
        </p:nvCxnSpPr>
        <p:spPr>
          <a:xfrm>
            <a:off x="6419321" y="3738879"/>
            <a:ext cx="15973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0CBDE67-CC22-1A48-9884-1ADA95EB9BD1}"/>
              </a:ext>
            </a:extLst>
          </p:cNvPr>
          <p:cNvCxnSpPr>
            <a:stCxn id="11" idx="0"/>
            <a:endCxn id="7" idx="2"/>
          </p:cNvCxnSpPr>
          <p:nvPr/>
        </p:nvCxnSpPr>
        <p:spPr>
          <a:xfrm flipV="1">
            <a:off x="5662172" y="2477347"/>
            <a:ext cx="1629348" cy="68579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DF4346B-469D-D298-97DD-C70BD06BABDB}"/>
              </a:ext>
            </a:extLst>
          </p:cNvPr>
          <p:cNvCxnSpPr>
            <a:cxnSpLocks/>
            <a:stCxn id="11" idx="1"/>
            <a:endCxn id="5" idx="3"/>
          </p:cNvCxnSpPr>
          <p:nvPr/>
        </p:nvCxnSpPr>
        <p:spPr>
          <a:xfrm flipH="1" flipV="1">
            <a:off x="3550355" y="3732671"/>
            <a:ext cx="1354667" cy="620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491153-3D9E-1ABD-5F37-C120E3C07400}"/>
              </a:ext>
            </a:extLst>
          </p:cNvPr>
          <p:cNvSpPr/>
          <p:nvPr/>
        </p:nvSpPr>
        <p:spPr>
          <a:xfrm>
            <a:off x="7406648" y="4942273"/>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err="1">
                <a:solidFill>
                  <a:schemeClr val="bg1"/>
                </a:solidFill>
              </a:rPr>
              <a:t>Hydrodyn-amics</a:t>
            </a:r>
            <a:endParaRPr lang="en-US" sz="2000" dirty="0">
              <a:solidFill>
                <a:schemeClr val="bg1"/>
              </a:solidFill>
            </a:endParaRPr>
          </a:p>
        </p:txBody>
      </p:sp>
      <p:sp>
        <p:nvSpPr>
          <p:cNvPr id="21" name="Rectangle 20">
            <a:extLst>
              <a:ext uri="{FF2B5EF4-FFF2-40B4-BE49-F238E27FC236}">
                <a16:creationId xmlns:a16="http://schemas.microsoft.com/office/drawing/2014/main" id="{5815E1CA-2134-6506-0621-B2F4FD25E1B7}"/>
              </a:ext>
            </a:extLst>
          </p:cNvPr>
          <p:cNvSpPr/>
          <p:nvPr/>
        </p:nvSpPr>
        <p:spPr>
          <a:xfrm>
            <a:off x="4917696" y="5555822"/>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26" name="Straight Arrow Connector 25">
            <a:extLst>
              <a:ext uri="{FF2B5EF4-FFF2-40B4-BE49-F238E27FC236}">
                <a16:creationId xmlns:a16="http://schemas.microsoft.com/office/drawing/2014/main" id="{D4F35691-1CB9-CD71-9F3A-73F32CF1C0ED}"/>
              </a:ext>
            </a:extLst>
          </p:cNvPr>
          <p:cNvCxnSpPr>
            <a:cxnSpLocks/>
            <a:stCxn id="11" idx="0"/>
            <a:endCxn id="8" idx="2"/>
          </p:cNvCxnSpPr>
          <p:nvPr/>
        </p:nvCxnSpPr>
        <p:spPr>
          <a:xfrm flipH="1" flipV="1">
            <a:off x="4227688" y="2302649"/>
            <a:ext cx="1434484" cy="8604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E094FF-5ED2-613B-C2E6-653BDBF1BBC0}"/>
              </a:ext>
            </a:extLst>
          </p:cNvPr>
          <p:cNvCxnSpPr>
            <a:cxnSpLocks/>
            <a:endCxn id="5" idx="0"/>
          </p:cNvCxnSpPr>
          <p:nvPr/>
        </p:nvCxnSpPr>
        <p:spPr>
          <a:xfrm flipH="1">
            <a:off x="2793206" y="1739332"/>
            <a:ext cx="683153" cy="141760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7D8EADD-73F0-D41F-E6F8-30D812A0FB5B}"/>
              </a:ext>
            </a:extLst>
          </p:cNvPr>
          <p:cNvCxnSpPr>
            <a:cxnSpLocks/>
            <a:stCxn id="11" idx="2"/>
            <a:endCxn id="20" idx="0"/>
          </p:cNvCxnSpPr>
          <p:nvPr/>
        </p:nvCxnSpPr>
        <p:spPr>
          <a:xfrm>
            <a:off x="5662172" y="4314612"/>
            <a:ext cx="2501626" cy="62766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4CEBADD-8915-C2CF-D57A-CF4E74A1ADA9}"/>
              </a:ext>
            </a:extLst>
          </p:cNvPr>
          <p:cNvCxnSpPr>
            <a:cxnSpLocks/>
            <a:stCxn id="5" idx="2"/>
            <a:endCxn id="10" idx="0"/>
          </p:cNvCxnSpPr>
          <p:nvPr/>
        </p:nvCxnSpPr>
        <p:spPr>
          <a:xfrm>
            <a:off x="2793206" y="4308404"/>
            <a:ext cx="3712" cy="67959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776E6BA-1976-AFDF-65EA-F93DD21FC5B0}"/>
              </a:ext>
            </a:extLst>
          </p:cNvPr>
          <p:cNvCxnSpPr>
            <a:cxnSpLocks/>
            <a:stCxn id="20" idx="1"/>
            <a:endCxn id="21" idx="3"/>
          </p:cNvCxnSpPr>
          <p:nvPr/>
        </p:nvCxnSpPr>
        <p:spPr>
          <a:xfrm flipH="1">
            <a:off x="6431995" y="5518007"/>
            <a:ext cx="974653" cy="6135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A5C21F6-A544-F80D-CA8C-02C34DA8BF3D}"/>
              </a:ext>
            </a:extLst>
          </p:cNvPr>
          <p:cNvCxnSpPr>
            <a:cxnSpLocks/>
            <a:endCxn id="21" idx="1"/>
          </p:cNvCxnSpPr>
          <p:nvPr/>
        </p:nvCxnSpPr>
        <p:spPr>
          <a:xfrm>
            <a:off x="3550355" y="4306708"/>
            <a:ext cx="1367341" cy="182484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318B9C8-BD4E-1090-2F25-2C5ACA1E988E}"/>
              </a:ext>
            </a:extLst>
          </p:cNvPr>
          <p:cNvCxnSpPr>
            <a:cxnSpLocks/>
            <a:stCxn id="20" idx="1"/>
          </p:cNvCxnSpPr>
          <p:nvPr/>
        </p:nvCxnSpPr>
        <p:spPr>
          <a:xfrm flipH="1" flipV="1">
            <a:off x="3544533" y="3696263"/>
            <a:ext cx="3862115" cy="182174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20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1708778" y="1762304"/>
            <a:ext cx="3709959" cy="4017451"/>
            <a:chOff x="-314717" y="643786"/>
            <a:chExt cx="4946614" cy="5356602"/>
          </a:xfrm>
        </p:grpSpPr>
        <p:sp>
          <p:nvSpPr>
            <p:cNvPr id="4" name="TextBox 3"/>
            <p:cNvSpPr txBox="1"/>
            <p:nvPr/>
          </p:nvSpPr>
          <p:spPr>
            <a:xfrm>
              <a:off x="1082915" y="643786"/>
              <a:ext cx="2161276"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Requirements</a:t>
              </a:r>
            </a:p>
          </p:txBody>
        </p:sp>
        <p:sp>
          <p:nvSpPr>
            <p:cNvPr id="8" name="TextBox 7"/>
            <p:cNvSpPr txBox="1"/>
            <p:nvPr/>
          </p:nvSpPr>
          <p:spPr>
            <a:xfrm>
              <a:off x="-314717" y="1661953"/>
              <a:ext cx="4946614" cy="492443"/>
            </a:xfrm>
            <a:prstGeom prst="rect">
              <a:avLst/>
            </a:prstGeom>
            <a:solidFill>
              <a:srgbClr val="DF6474"/>
            </a:solidFill>
            <a:ln>
              <a:solidFill>
                <a:schemeClr val="tx1"/>
              </a:solidFill>
            </a:ln>
          </p:spPr>
          <p:txBody>
            <a:bodyPr wrap="square" rtlCol="0">
              <a:spAutoFit/>
            </a:bodyPr>
            <a:lstStyle/>
            <a:p>
              <a:r>
                <a:rPr lang="en-US" dirty="0"/>
                <a:t>Software Architecture API  Design</a:t>
              </a:r>
            </a:p>
          </p:txBody>
        </p:sp>
        <p:sp>
          <p:nvSpPr>
            <p:cNvPr id="10" name="TextBox 9"/>
            <p:cNvSpPr txBox="1"/>
            <p:nvPr/>
          </p:nvSpPr>
          <p:spPr>
            <a:xfrm>
              <a:off x="1317335" y="2878282"/>
              <a:ext cx="1682512"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Implement</a:t>
              </a:r>
            </a:p>
          </p:txBody>
        </p:sp>
        <p:sp>
          <p:nvSpPr>
            <p:cNvPr id="11" name="TextBox 10"/>
            <p:cNvSpPr txBox="1"/>
            <p:nvPr/>
          </p:nvSpPr>
          <p:spPr>
            <a:xfrm>
              <a:off x="1753309" y="3705933"/>
              <a:ext cx="810564" cy="492443"/>
            </a:xfrm>
            <a:prstGeom prst="rect">
              <a:avLst/>
            </a:prstGeom>
            <a:solidFill>
              <a:srgbClr val="DF6474"/>
            </a:solidFill>
            <a:ln>
              <a:solidFill>
                <a:schemeClr val="tx1"/>
              </a:solidFill>
            </a:ln>
          </p:spPr>
          <p:txBody>
            <a:bodyPr wrap="none" rtlCol="0">
              <a:spAutoFit/>
            </a:bodyPr>
            <a:lstStyle/>
            <a:p>
              <a:r>
                <a:rPr lang="en-US" dirty="0"/>
                <a:t>Test</a:t>
              </a:r>
            </a:p>
          </p:txBody>
        </p:sp>
        <p:sp>
          <p:nvSpPr>
            <p:cNvPr id="12" name="TextBox 11"/>
            <p:cNvSpPr txBox="1"/>
            <p:nvPr/>
          </p:nvSpPr>
          <p:spPr>
            <a:xfrm>
              <a:off x="1469618" y="4687727"/>
              <a:ext cx="1408934"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Maintain</a:t>
              </a:r>
            </a:p>
          </p:txBody>
        </p:sp>
        <p:sp>
          <p:nvSpPr>
            <p:cNvPr id="13" name="TextBox 12"/>
            <p:cNvSpPr txBox="1"/>
            <p:nvPr/>
          </p:nvSpPr>
          <p:spPr>
            <a:xfrm>
              <a:off x="1435421" y="5507945"/>
              <a:ext cx="1477328" cy="492443"/>
            </a:xfrm>
            <a:prstGeom prst="rect">
              <a:avLst/>
            </a:prstGeom>
            <a:solidFill>
              <a:srgbClr val="DF6474"/>
            </a:solidFill>
            <a:ln>
              <a:solidFill>
                <a:schemeClr val="tx1"/>
              </a:solidFill>
            </a:ln>
          </p:spPr>
          <p:txBody>
            <a:bodyPr wrap="none" rtlCol="0">
              <a:spAutoFit/>
            </a:bodyPr>
            <a:lstStyle/>
            <a:p>
              <a:r>
                <a:rPr lang="en-US" dirty="0"/>
                <a:t>Augment</a:t>
              </a:r>
            </a:p>
          </p:txBody>
        </p:sp>
        <p:cxnSp>
          <p:nvCxnSpPr>
            <p:cNvPr id="21" name="Straight Arrow Connector 20"/>
            <p:cNvCxnSpPr>
              <a:cxnSpLocks/>
              <a:stCxn id="4" idx="2"/>
              <a:endCxn id="8" idx="0"/>
            </p:cNvCxnSpPr>
            <p:nvPr/>
          </p:nvCxnSpPr>
          <p:spPr>
            <a:xfrm flipH="1">
              <a:off x="2158591" y="1136229"/>
              <a:ext cx="4963" cy="525724"/>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cxnSpLocks/>
              <a:stCxn id="8" idx="2"/>
              <a:endCxn id="10" idx="0"/>
            </p:cNvCxnSpPr>
            <p:nvPr/>
          </p:nvCxnSpPr>
          <p:spPr>
            <a:xfrm>
              <a:off x="2158591" y="2154396"/>
              <a:ext cx="1" cy="72388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cxnSpLocks/>
              <a:stCxn id="10" idx="2"/>
              <a:endCxn id="11" idx="0"/>
            </p:cNvCxnSpPr>
            <p:nvPr/>
          </p:nvCxnSpPr>
          <p:spPr>
            <a:xfrm>
              <a:off x="2158591" y="3370725"/>
              <a:ext cx="0" cy="33520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cxnSpLocks/>
              <a:stCxn id="11" idx="2"/>
              <a:endCxn id="12" idx="0"/>
            </p:cNvCxnSpPr>
            <p:nvPr/>
          </p:nvCxnSpPr>
          <p:spPr>
            <a:xfrm>
              <a:off x="2158591" y="4198376"/>
              <a:ext cx="15493" cy="48935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cxnSpLocks/>
              <a:stCxn id="12" idx="2"/>
              <a:endCxn id="13" idx="0"/>
            </p:cNvCxnSpPr>
            <p:nvPr/>
          </p:nvCxnSpPr>
          <p:spPr>
            <a:xfrm>
              <a:off x="2174085" y="5180169"/>
              <a:ext cx="0" cy="32777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310296" y="1774641"/>
            <a:ext cx="2020861" cy="4019171"/>
            <a:chOff x="5164498" y="592290"/>
            <a:chExt cx="1460230" cy="5021045"/>
          </a:xfrm>
        </p:grpSpPr>
        <p:sp>
          <p:nvSpPr>
            <p:cNvPr id="14" name="TextBox 13"/>
            <p:cNvSpPr txBox="1"/>
            <p:nvPr/>
          </p:nvSpPr>
          <p:spPr>
            <a:xfrm>
              <a:off x="5361852" y="592290"/>
              <a:ext cx="1084058" cy="492443"/>
            </a:xfrm>
            <a:prstGeom prst="rect">
              <a:avLst/>
            </a:prstGeom>
            <a:solidFill>
              <a:schemeClr val="accent3">
                <a:lumMod val="20000"/>
                <a:lumOff val="80000"/>
              </a:schemeClr>
            </a:solidFill>
            <a:ln>
              <a:solidFill>
                <a:schemeClr val="tx1"/>
              </a:solidFill>
            </a:ln>
          </p:spPr>
          <p:txBody>
            <a:bodyPr wrap="none" rtlCol="0">
              <a:spAutoFit/>
            </a:bodyPr>
            <a:lstStyle/>
            <a:p>
              <a:r>
                <a:rPr lang="en-US" dirty="0"/>
                <a:t>Model</a:t>
              </a:r>
            </a:p>
          </p:txBody>
        </p:sp>
        <p:sp>
          <p:nvSpPr>
            <p:cNvPr id="15" name="TextBox 14"/>
            <p:cNvSpPr txBox="1"/>
            <p:nvPr/>
          </p:nvSpPr>
          <p:spPr>
            <a:xfrm>
              <a:off x="5532838" y="1524766"/>
              <a:ext cx="742084" cy="492443"/>
            </a:xfrm>
            <a:prstGeom prst="rect">
              <a:avLst/>
            </a:prstGeom>
            <a:solidFill>
              <a:srgbClr val="DF6474"/>
            </a:solidFill>
            <a:ln>
              <a:solidFill>
                <a:schemeClr val="tx1"/>
              </a:solidFill>
            </a:ln>
          </p:spPr>
          <p:txBody>
            <a:bodyPr wrap="none" rtlCol="0">
              <a:spAutoFit/>
            </a:bodyPr>
            <a:lstStyle/>
            <a:p>
              <a:r>
                <a:rPr lang="en-US" dirty="0"/>
                <a:t>API</a:t>
              </a:r>
            </a:p>
          </p:txBody>
        </p:sp>
        <p:sp>
          <p:nvSpPr>
            <p:cNvPr id="16" name="TextBox 15"/>
            <p:cNvSpPr txBox="1"/>
            <p:nvPr/>
          </p:nvSpPr>
          <p:spPr>
            <a:xfrm>
              <a:off x="5210370" y="2666866"/>
              <a:ext cx="1374735" cy="861775"/>
            </a:xfrm>
            <a:prstGeom prst="rect">
              <a:avLst/>
            </a:prstGeom>
            <a:solidFill>
              <a:schemeClr val="accent3">
                <a:lumMod val="20000"/>
                <a:lumOff val="80000"/>
              </a:schemeClr>
            </a:solidFill>
            <a:ln>
              <a:solidFill>
                <a:schemeClr val="tx1"/>
              </a:solidFill>
            </a:ln>
          </p:spPr>
          <p:txBody>
            <a:bodyPr wrap="none" rtlCol="0">
              <a:spAutoFit/>
            </a:bodyPr>
            <a:lstStyle/>
            <a:p>
              <a:r>
                <a:rPr lang="en-US" dirty="0"/>
                <a:t>Design</a:t>
              </a:r>
            </a:p>
            <a:p>
              <a:r>
                <a:rPr lang="en-US" dirty="0"/>
                <a:t>Develop</a:t>
              </a:r>
            </a:p>
          </p:txBody>
        </p:sp>
        <p:sp>
          <p:nvSpPr>
            <p:cNvPr id="18" name="TextBox 17"/>
            <p:cNvSpPr txBox="1"/>
            <p:nvPr/>
          </p:nvSpPr>
          <p:spPr>
            <a:xfrm>
              <a:off x="5225813" y="3935140"/>
              <a:ext cx="1334811" cy="492443"/>
            </a:xfrm>
            <a:prstGeom prst="rect">
              <a:avLst/>
            </a:prstGeom>
            <a:solidFill>
              <a:schemeClr val="accent3">
                <a:lumMod val="20000"/>
                <a:lumOff val="80000"/>
              </a:schemeClr>
            </a:solidFill>
            <a:ln>
              <a:solidFill>
                <a:schemeClr val="tx1"/>
              </a:solidFill>
            </a:ln>
          </p:spPr>
          <p:txBody>
            <a:bodyPr wrap="none" rtlCol="0">
              <a:spAutoFit/>
            </a:bodyPr>
            <a:lstStyle/>
            <a:p>
              <a:r>
                <a:rPr lang="en-US" dirty="0"/>
                <a:t>Validate</a:t>
              </a:r>
            </a:p>
          </p:txBody>
        </p:sp>
        <p:sp>
          <p:nvSpPr>
            <p:cNvPr id="19" name="TextBox 18"/>
            <p:cNvSpPr txBox="1"/>
            <p:nvPr/>
          </p:nvSpPr>
          <p:spPr>
            <a:xfrm>
              <a:off x="5164498" y="5120893"/>
              <a:ext cx="1460230" cy="492442"/>
            </a:xfrm>
            <a:prstGeom prst="rect">
              <a:avLst/>
            </a:prstGeom>
            <a:solidFill>
              <a:srgbClr val="DF6474"/>
            </a:solidFill>
            <a:ln>
              <a:solidFill>
                <a:schemeClr val="tx1"/>
              </a:solidFill>
            </a:ln>
          </p:spPr>
          <p:txBody>
            <a:bodyPr wrap="none" rtlCol="0">
              <a:spAutoFit/>
            </a:bodyPr>
            <a:lstStyle/>
            <a:p>
              <a:r>
                <a:rPr lang="en-US" dirty="0"/>
                <a:t>Integrate</a:t>
              </a:r>
            </a:p>
          </p:txBody>
        </p:sp>
        <p:cxnSp>
          <p:nvCxnSpPr>
            <p:cNvPr id="33" name="Straight Arrow Connector 32"/>
            <p:cNvCxnSpPr>
              <a:cxnSpLocks/>
              <a:stCxn id="14" idx="2"/>
              <a:endCxn id="15" idx="0"/>
            </p:cNvCxnSpPr>
            <p:nvPr/>
          </p:nvCxnSpPr>
          <p:spPr>
            <a:xfrm flipH="1">
              <a:off x="5903880" y="1084732"/>
              <a:ext cx="1" cy="44003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cxnSpLocks/>
              <a:stCxn id="15" idx="2"/>
              <a:endCxn id="16" idx="0"/>
            </p:cNvCxnSpPr>
            <p:nvPr/>
          </p:nvCxnSpPr>
          <p:spPr>
            <a:xfrm flipH="1">
              <a:off x="5897738" y="2017209"/>
              <a:ext cx="6143" cy="64965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cxnSpLocks/>
              <a:stCxn id="16" idx="2"/>
              <a:endCxn id="18" idx="0"/>
            </p:cNvCxnSpPr>
            <p:nvPr/>
          </p:nvCxnSpPr>
          <p:spPr>
            <a:xfrm flipH="1">
              <a:off x="5893218" y="3528641"/>
              <a:ext cx="4520" cy="40649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cxnSpLocks/>
              <a:stCxn id="18" idx="2"/>
              <a:endCxn id="19" idx="0"/>
            </p:cNvCxnSpPr>
            <p:nvPr/>
          </p:nvCxnSpPr>
          <p:spPr>
            <a:xfrm>
              <a:off x="5893219" y="4427583"/>
              <a:ext cx="1395" cy="69330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cxnSp>
        <p:nvCxnSpPr>
          <p:cNvPr id="68" name="Elbow Connector 67"/>
          <p:cNvCxnSpPr>
            <a:cxnSpLocks/>
            <a:stCxn id="13" idx="1"/>
            <a:endCxn id="8" idx="1"/>
          </p:cNvCxnSpPr>
          <p:nvPr/>
        </p:nvCxnSpPr>
        <p:spPr>
          <a:xfrm rot="10800000">
            <a:off x="1708779" y="2710595"/>
            <a:ext cx="1312603" cy="2884494"/>
          </a:xfrm>
          <a:prstGeom prst="bentConnector3">
            <a:avLst>
              <a:gd name="adj1" fmla="val 117416"/>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0" name="Elbow Connector 69"/>
          <p:cNvCxnSpPr>
            <a:cxnSpLocks/>
            <a:stCxn id="18" idx="3"/>
            <a:endCxn id="16" idx="3"/>
          </p:cNvCxnSpPr>
          <p:nvPr/>
        </p:nvCxnSpPr>
        <p:spPr>
          <a:xfrm flipV="1">
            <a:off x="7242441" y="3780178"/>
            <a:ext cx="33881" cy="867390"/>
          </a:xfrm>
          <a:prstGeom prst="bentConnector3">
            <a:avLst>
              <a:gd name="adj1" fmla="val 774714"/>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76016" y="1122844"/>
            <a:ext cx="1544012" cy="369332"/>
          </a:xfrm>
          <a:prstGeom prst="rect">
            <a:avLst/>
          </a:prstGeom>
          <a:noFill/>
        </p:spPr>
        <p:txBody>
          <a:bodyPr wrap="none" rtlCol="0">
            <a:spAutoFit/>
          </a:bodyPr>
          <a:lstStyle/>
          <a:p>
            <a:r>
              <a:rPr lang="en-US" dirty="0"/>
              <a:t>Infrastructure</a:t>
            </a:r>
          </a:p>
        </p:txBody>
      </p:sp>
      <p:sp>
        <p:nvSpPr>
          <p:cNvPr id="75" name="TextBox 74"/>
          <p:cNvSpPr txBox="1"/>
          <p:nvPr/>
        </p:nvSpPr>
        <p:spPr>
          <a:xfrm>
            <a:off x="5310296" y="1138269"/>
            <a:ext cx="1377300" cy="369332"/>
          </a:xfrm>
          <a:prstGeom prst="rect">
            <a:avLst/>
          </a:prstGeom>
          <a:noFill/>
        </p:spPr>
        <p:txBody>
          <a:bodyPr wrap="none" rtlCol="0">
            <a:spAutoFit/>
          </a:bodyPr>
          <a:lstStyle/>
          <a:p>
            <a:r>
              <a:rPr lang="en-US" dirty="0"/>
              <a:t>Capabilities</a:t>
            </a:r>
          </a:p>
        </p:txBody>
      </p:sp>
      <p:cxnSp>
        <p:nvCxnSpPr>
          <p:cNvPr id="77" name="Elbow Connector 76"/>
          <p:cNvCxnSpPr>
            <a:cxnSpLocks/>
            <a:stCxn id="19" idx="1"/>
            <a:endCxn id="13" idx="3"/>
          </p:cNvCxnSpPr>
          <p:nvPr/>
        </p:nvCxnSpPr>
        <p:spPr>
          <a:xfrm rot="10800000">
            <a:off x="4129378" y="5595089"/>
            <a:ext cx="1180919" cy="1632"/>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1" name="Elbow Connector 80"/>
          <p:cNvCxnSpPr>
            <a:cxnSpLocks/>
            <a:stCxn id="8" idx="3"/>
            <a:endCxn id="15" idx="1"/>
          </p:cNvCxnSpPr>
          <p:nvPr/>
        </p:nvCxnSpPr>
        <p:spPr>
          <a:xfrm>
            <a:off x="5418737" y="2710595"/>
            <a:ext cx="401317" cy="7552"/>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4" name="Elbow Connector 83"/>
          <p:cNvCxnSpPr>
            <a:cxnSpLocks/>
            <a:stCxn id="11" idx="1"/>
            <a:endCxn id="4" idx="1"/>
          </p:cNvCxnSpPr>
          <p:nvPr/>
        </p:nvCxnSpPr>
        <p:spPr>
          <a:xfrm rot="10800000">
            <a:off x="2757003" y="1946970"/>
            <a:ext cx="502795" cy="2296610"/>
          </a:xfrm>
          <a:prstGeom prst="bentConnector3">
            <a:avLst>
              <a:gd name="adj1" fmla="val 35186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 name="Elbow Connector 2"/>
          <p:cNvCxnSpPr>
            <a:cxnSpLocks/>
            <a:stCxn id="19" idx="1"/>
            <a:endCxn id="11" idx="3"/>
          </p:cNvCxnSpPr>
          <p:nvPr/>
        </p:nvCxnSpPr>
        <p:spPr>
          <a:xfrm rot="10800000">
            <a:off x="3867720" y="4243581"/>
            <a:ext cx="1442576" cy="1353141"/>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4" name="Title 1">
            <a:extLst>
              <a:ext uri="{FF2B5EF4-FFF2-40B4-BE49-F238E27FC236}">
                <a16:creationId xmlns:a16="http://schemas.microsoft.com/office/drawing/2014/main" id="{A172EDB7-CE70-8B47-8CF0-8A8FF97B00F5}"/>
              </a:ext>
            </a:extLst>
          </p:cNvPr>
          <p:cNvSpPr>
            <a:spLocks noGrp="1"/>
          </p:cNvSpPr>
          <p:nvPr>
            <p:ph type="title"/>
          </p:nvPr>
        </p:nvSpPr>
        <p:spPr>
          <a:xfrm>
            <a:off x="484042" y="219522"/>
            <a:ext cx="9652508" cy="615799"/>
          </a:xfrm>
        </p:spPr>
        <p:txBody>
          <a:bodyPr/>
          <a:lstStyle/>
          <a:p>
            <a:r>
              <a:rPr lang="en-US" dirty="0"/>
              <a:t>A Design Model for Separation of Concerns</a:t>
            </a:r>
          </a:p>
        </p:txBody>
      </p:sp>
    </p:spTree>
    <p:extLst>
      <p:ext uri="{BB962C8B-B14F-4D97-AF65-F5344CB8AC3E}">
        <p14:creationId xmlns:p14="http://schemas.microsoft.com/office/powerpoint/2010/main" val="3266352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Rectangle 10"/>
          <p:cNvSpPr>
            <a:spLocks noChangeArrowheads="1"/>
          </p:cNvSpPr>
          <p:nvPr/>
        </p:nvSpPr>
        <p:spPr bwMode="auto">
          <a:xfrm>
            <a:off x="1134300" y="2377899"/>
            <a:ext cx="1314792" cy="857473"/>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Real view : A </a:t>
            </a:r>
          </a:p>
          <a:p>
            <a:r>
              <a:rPr lang="en-US" sz="1350" dirty="0"/>
              <a:t>whole domain </a:t>
            </a:r>
          </a:p>
          <a:p>
            <a:r>
              <a:rPr lang="en-US" sz="1350" dirty="0"/>
              <a:t>with many </a:t>
            </a:r>
          </a:p>
          <a:p>
            <a:r>
              <a:rPr lang="en-US" sz="1350" dirty="0"/>
              <a:t>operators</a:t>
            </a:r>
          </a:p>
        </p:txBody>
      </p:sp>
      <p:sp>
        <p:nvSpPr>
          <p:cNvPr id="18441" name="Rectangle 11"/>
          <p:cNvSpPr>
            <a:spLocks noChangeArrowheads="1"/>
          </p:cNvSpPr>
          <p:nvPr/>
        </p:nvSpPr>
        <p:spPr bwMode="auto">
          <a:xfrm>
            <a:off x="1134300" y="3587404"/>
            <a:ext cx="1314792" cy="754532"/>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Functional </a:t>
            </a:r>
          </a:p>
          <a:p>
            <a:r>
              <a:rPr lang="en-US" sz="1350" dirty="0"/>
              <a:t>decomposition</a:t>
            </a:r>
          </a:p>
          <a:p>
            <a:endParaRPr lang="en-US" sz="1350" dirty="0"/>
          </a:p>
        </p:txBody>
      </p:sp>
      <p:sp>
        <p:nvSpPr>
          <p:cNvPr id="18436" name="Rectangle 4"/>
          <p:cNvSpPr>
            <a:spLocks noChangeArrowheads="1"/>
          </p:cNvSpPr>
          <p:nvPr/>
        </p:nvSpPr>
        <p:spPr bwMode="auto">
          <a:xfrm>
            <a:off x="2907483" y="1197373"/>
            <a:ext cx="1371957" cy="858069"/>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domain sections </a:t>
            </a:r>
          </a:p>
          <a:p>
            <a:r>
              <a:rPr lang="en-US" sz="1350" dirty="0"/>
              <a:t>as stand-alone </a:t>
            </a:r>
          </a:p>
          <a:p>
            <a:r>
              <a:rPr lang="en-US" sz="1350" dirty="0"/>
              <a:t>computation unit </a:t>
            </a:r>
          </a:p>
          <a:p>
            <a:endParaRPr lang="en-US" sz="1350" dirty="0"/>
          </a:p>
        </p:txBody>
      </p:sp>
      <p:sp>
        <p:nvSpPr>
          <p:cNvPr id="39" name="Rectangle 11"/>
          <p:cNvSpPr>
            <a:spLocks noChangeArrowheads="1"/>
          </p:cNvSpPr>
          <p:nvPr/>
        </p:nvSpPr>
        <p:spPr bwMode="auto">
          <a:xfrm>
            <a:off x="2880626" y="3566208"/>
            <a:ext cx="1389442" cy="808870"/>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r>
              <a:rPr lang="en-US" sz="1350" dirty="0"/>
              <a:t>collection of</a:t>
            </a:r>
          </a:p>
          <a:p>
            <a:r>
              <a:rPr lang="en-US" sz="1350" dirty="0"/>
              <a:t>components </a:t>
            </a:r>
          </a:p>
        </p:txBody>
      </p:sp>
      <p:sp>
        <p:nvSpPr>
          <p:cNvPr id="50" name="Rectangle 11"/>
          <p:cNvSpPr>
            <a:spLocks noChangeArrowheads="1"/>
          </p:cNvSpPr>
          <p:nvPr/>
        </p:nvSpPr>
        <p:spPr bwMode="auto">
          <a:xfrm>
            <a:off x="1150315" y="1193277"/>
            <a:ext cx="1298777" cy="858069"/>
          </a:xfrm>
          <a:prstGeom prst="rect">
            <a:avLst/>
          </a:prstGeom>
          <a:solidFill>
            <a:srgbClr val="FF9900"/>
          </a:solidFill>
          <a:ln w="9525">
            <a:solidFill>
              <a:srgbClr val="000000"/>
            </a:solidFill>
            <a:round/>
            <a:headEnd/>
            <a:tailEnd/>
          </a:ln>
        </p:spPr>
        <p:txBody>
          <a:bodyPr wrap="none" anchor="ctr">
            <a:prstTxWarp prst="textNoShape">
              <a:avLst/>
            </a:prstTxWarp>
          </a:bodyPr>
          <a:lstStyle/>
          <a:p>
            <a:endParaRPr lang="en-US" sz="1350" dirty="0"/>
          </a:p>
          <a:p>
            <a:r>
              <a:rPr lang="en-US" sz="1350" dirty="0"/>
              <a:t>Spatial</a:t>
            </a:r>
          </a:p>
          <a:p>
            <a:r>
              <a:rPr lang="en-US" sz="1350" dirty="0"/>
              <a:t>decomposition</a:t>
            </a:r>
          </a:p>
          <a:p>
            <a:endParaRPr lang="en-US" sz="1350" dirty="0"/>
          </a:p>
        </p:txBody>
      </p:sp>
      <p:cxnSp>
        <p:nvCxnSpPr>
          <p:cNvPr id="48" name="Straight Arrow Connector 47"/>
          <p:cNvCxnSpPr>
            <a:stCxn id="50" idx="3"/>
            <a:endCxn id="18436" idx="1"/>
          </p:cNvCxnSpPr>
          <p:nvPr/>
        </p:nvCxnSpPr>
        <p:spPr>
          <a:xfrm>
            <a:off x="2449092" y="1622312"/>
            <a:ext cx="458391" cy="40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cxnSpLocks/>
            <a:stCxn id="18440" idx="2"/>
            <a:endCxn id="18441" idx="0"/>
          </p:cNvCxnSpPr>
          <p:nvPr/>
        </p:nvCxnSpPr>
        <p:spPr>
          <a:xfrm>
            <a:off x="1791696" y="3235372"/>
            <a:ext cx="0" cy="352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6" name="Group 35"/>
          <p:cNvGrpSpPr>
            <a:grpSpLocks noChangeAspect="1"/>
          </p:cNvGrpSpPr>
          <p:nvPr/>
        </p:nvGrpSpPr>
        <p:grpSpPr>
          <a:xfrm>
            <a:off x="2880626" y="2192650"/>
            <a:ext cx="1343047" cy="1236350"/>
            <a:chOff x="755444" y="554451"/>
            <a:chExt cx="5884201" cy="5852160"/>
          </a:xfrm>
        </p:grpSpPr>
        <p:grpSp>
          <p:nvGrpSpPr>
            <p:cNvPr id="37" name="Group 36"/>
            <p:cNvGrpSpPr/>
            <p:nvPr/>
          </p:nvGrpSpPr>
          <p:grpSpPr>
            <a:xfrm>
              <a:off x="755444" y="554451"/>
              <a:ext cx="5884201" cy="5852160"/>
              <a:chOff x="3637559" y="1828800"/>
              <a:chExt cx="3677641" cy="3657600"/>
            </a:xfrm>
          </p:grpSpPr>
          <p:sp>
            <p:nvSpPr>
              <p:cNvPr id="64" name="Rectangle 63"/>
              <p:cNvSpPr/>
              <p:nvPr/>
            </p:nvSpPr>
            <p:spPr>
              <a:xfrm>
                <a:off x="3657600" y="1828800"/>
                <a:ext cx="3657600" cy="3657600"/>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65" name="Straight Connector 64"/>
              <p:cNvCxnSpPr>
                <a:stCxn id="64" idx="0"/>
                <a:endCxn id="64" idx="2"/>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58521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6215189"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75488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0233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438912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4" idx="1"/>
                <a:endCxn id="64" idx="3"/>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657600" y="43891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657600" y="40233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3657600" y="292608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3657600" y="25603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3657600" y="21945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6588492"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6951521"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5103956"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a:off x="3637559" y="514008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3637559" y="477432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3657600" y="329184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8" name="Group 37"/>
            <p:cNvGrpSpPr/>
            <p:nvPr/>
          </p:nvGrpSpPr>
          <p:grpSpPr>
            <a:xfrm>
              <a:off x="1372723" y="1152144"/>
              <a:ext cx="4671432" cy="4671760"/>
              <a:chOff x="914400" y="914400"/>
              <a:chExt cx="2919657" cy="2919850"/>
            </a:xfrm>
          </p:grpSpPr>
          <p:sp>
            <p:nvSpPr>
              <p:cNvPr id="40" name="Rectangle 39"/>
              <p:cNvSpPr/>
              <p:nvPr/>
            </p:nvSpPr>
            <p:spPr>
              <a:xfrm>
                <a:off x="914400" y="914400"/>
                <a:ext cx="2919657" cy="2919850"/>
              </a:xfrm>
              <a:prstGeom prst="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41" name="Straight Connector 40"/>
              <p:cNvCxnSpPr>
                <a:stCxn id="40" idx="0"/>
                <a:endCxn id="40" idx="2"/>
              </p:cNvCxnSpPr>
              <p:nvPr/>
            </p:nvCxnSpPr>
            <p:spPr>
              <a:xfrm>
                <a:off x="237422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74320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1089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47198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01168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2801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164592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0" idx="1"/>
                <a:endCxn id="40" idx="3"/>
              </p:cNvCxnSpPr>
              <p:nvPr/>
            </p:nvCxnSpPr>
            <p:spPr>
              <a:xfrm>
                <a:off x="914400" y="2374325"/>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914400" y="34747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914400" y="31089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914400" y="274320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914400" y="201168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914400" y="16459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914400" y="12801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28" name="Straight Arrow Connector 27">
            <a:extLst>
              <a:ext uri="{FF2B5EF4-FFF2-40B4-BE49-F238E27FC236}">
                <a16:creationId xmlns:a16="http://schemas.microsoft.com/office/drawing/2014/main" id="{725590E0-7BC0-704F-B0F3-4F58F1C8C610}"/>
              </a:ext>
            </a:extLst>
          </p:cNvPr>
          <p:cNvCxnSpPr>
            <a:stCxn id="18440" idx="0"/>
            <a:endCxn id="50" idx="2"/>
          </p:cNvCxnSpPr>
          <p:nvPr/>
        </p:nvCxnSpPr>
        <p:spPr>
          <a:xfrm flipV="1">
            <a:off x="1791696" y="2051346"/>
            <a:ext cx="8008" cy="3265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DA4B49-F1D3-4D44-B681-00A0C7EE8C61}"/>
              </a:ext>
            </a:extLst>
          </p:cNvPr>
          <p:cNvCxnSpPr>
            <a:stCxn id="18441" idx="3"/>
            <a:endCxn id="39" idx="1"/>
          </p:cNvCxnSpPr>
          <p:nvPr/>
        </p:nvCxnSpPr>
        <p:spPr>
          <a:xfrm>
            <a:off x="2449092" y="3964670"/>
            <a:ext cx="431534" cy="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Title 1">
            <a:extLst>
              <a:ext uri="{FF2B5EF4-FFF2-40B4-BE49-F238E27FC236}">
                <a16:creationId xmlns:a16="http://schemas.microsoft.com/office/drawing/2014/main" id="{412877D0-69D4-A74F-9A17-B09CB79DECF7}"/>
              </a:ext>
            </a:extLst>
          </p:cNvPr>
          <p:cNvSpPr>
            <a:spLocks noGrp="1"/>
          </p:cNvSpPr>
          <p:nvPr>
            <p:ph type="title"/>
          </p:nvPr>
        </p:nvSpPr>
        <p:spPr>
          <a:xfrm>
            <a:off x="320509" y="174106"/>
            <a:ext cx="10603171" cy="617451"/>
          </a:xfrm>
        </p:spPr>
        <p:txBody>
          <a:bodyPr>
            <a:noAutofit/>
          </a:bodyPr>
          <a:lstStyle/>
          <a:p>
            <a:r>
              <a:rPr lang="en-US" dirty="0"/>
              <a:t>Exploring design space – Abstractions</a:t>
            </a:r>
          </a:p>
        </p:txBody>
      </p:sp>
      <p:sp>
        <p:nvSpPr>
          <p:cNvPr id="4" name="TextBox 3">
            <a:extLst>
              <a:ext uri="{FF2B5EF4-FFF2-40B4-BE49-F238E27FC236}">
                <a16:creationId xmlns:a16="http://schemas.microsoft.com/office/drawing/2014/main" id="{38553666-1900-2B75-8B0E-235AF58DE75B}"/>
              </a:ext>
            </a:extLst>
          </p:cNvPr>
          <p:cNvSpPr txBox="1"/>
          <p:nvPr/>
        </p:nvSpPr>
        <p:spPr>
          <a:xfrm>
            <a:off x="4565171" y="2515682"/>
            <a:ext cx="1368580" cy="683264"/>
          </a:xfrm>
          <a:prstGeom prst="rect">
            <a:avLst/>
          </a:prstGeom>
          <a:noFill/>
        </p:spPr>
        <p:txBody>
          <a:bodyPr wrap="none" lIns="118872" tIns="91440" rIns="118872" bIns="91440" rtlCol="0" anchor="ctr" anchorCtr="0">
            <a:spAutoFit/>
          </a:bodyPr>
          <a:lstStyle/>
          <a:p>
            <a:pPr algn="l">
              <a:lnSpc>
                <a:spcPct val="90000"/>
              </a:lnSpc>
            </a:pPr>
            <a:r>
              <a:rPr lang="en-US" dirty="0"/>
              <a:t>base</a:t>
            </a:r>
          </a:p>
          <a:p>
            <a:pPr algn="l">
              <a:lnSpc>
                <a:spcPct val="90000"/>
              </a:lnSpc>
            </a:pPr>
            <a:r>
              <a:rPr lang="en-US" dirty="0"/>
              <a:t>abstraction</a:t>
            </a:r>
          </a:p>
        </p:txBody>
      </p:sp>
      <p:cxnSp>
        <p:nvCxnSpPr>
          <p:cNvPr id="6" name="Straight Arrow Connector 5">
            <a:extLst>
              <a:ext uri="{FF2B5EF4-FFF2-40B4-BE49-F238E27FC236}">
                <a16:creationId xmlns:a16="http://schemas.microsoft.com/office/drawing/2014/main" id="{3ADA2093-38D0-DE4C-ACEF-EC2E4394A465}"/>
              </a:ext>
            </a:extLst>
          </p:cNvPr>
          <p:cNvCxnSpPr>
            <a:stCxn id="4" idx="1"/>
          </p:cNvCxnSpPr>
          <p:nvPr/>
        </p:nvCxnSpPr>
        <p:spPr>
          <a:xfrm flipH="1">
            <a:off x="4279440" y="2857314"/>
            <a:ext cx="285731"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DD4263B-CCBD-ADC6-2EEE-6691E44E51EC}"/>
              </a:ext>
            </a:extLst>
          </p:cNvPr>
          <p:cNvSpPr>
            <a:spLocks noGrp="1"/>
          </p:cNvSpPr>
          <p:nvPr>
            <p:ph idx="1"/>
          </p:nvPr>
        </p:nvSpPr>
        <p:spPr>
          <a:xfrm>
            <a:off x="6745575" y="850204"/>
            <a:ext cx="4780827" cy="3214633"/>
          </a:xfrm>
        </p:spPr>
        <p:txBody>
          <a:bodyPr>
            <a:normAutofit fontScale="92500" lnSpcReduction="10000"/>
          </a:bodyPr>
          <a:lstStyle/>
          <a:p>
            <a:pPr marL="0" indent="0">
              <a:buNone/>
            </a:pPr>
            <a:r>
              <a:rPr lang="en-US" b="1" dirty="0"/>
              <a:t>Constraints</a:t>
            </a:r>
          </a:p>
          <a:p>
            <a:r>
              <a:rPr lang="en-US" dirty="0"/>
              <a:t>Only infrastructure components have global view</a:t>
            </a:r>
          </a:p>
          <a:p>
            <a:r>
              <a:rPr lang="en-US" dirty="0"/>
              <a:t>All physics solvers have block view only </a:t>
            </a:r>
          </a:p>
          <a:p>
            <a:pPr marL="0" indent="0">
              <a:buNone/>
            </a:pPr>
            <a:r>
              <a:rPr lang="en-US" b="1" dirty="0"/>
              <a:t>Other Design Considerations</a:t>
            </a:r>
          </a:p>
          <a:p>
            <a:r>
              <a:rPr lang="en-US" dirty="0"/>
              <a:t>Data scoping</a:t>
            </a:r>
          </a:p>
          <a:p>
            <a:r>
              <a:rPr lang="en-US" dirty="0"/>
              <a:t>Interfaces in the API</a:t>
            </a:r>
          </a:p>
        </p:txBody>
      </p:sp>
      <p:sp>
        <p:nvSpPr>
          <p:cNvPr id="12" name="Rectangle 11">
            <a:extLst>
              <a:ext uri="{FF2B5EF4-FFF2-40B4-BE49-F238E27FC236}">
                <a16:creationId xmlns:a16="http://schemas.microsoft.com/office/drawing/2014/main" id="{EE143440-86F8-9879-21C5-00C0F7D87A6F}"/>
              </a:ext>
            </a:extLst>
          </p:cNvPr>
          <p:cNvSpPr/>
          <p:nvPr/>
        </p:nvSpPr>
        <p:spPr>
          <a:xfrm>
            <a:off x="6867099" y="4096070"/>
            <a:ext cx="3804356" cy="1740032"/>
          </a:xfrm>
          <a:prstGeom prst="rect">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Minimal Mesh API</a:t>
            </a:r>
          </a:p>
          <a:p>
            <a:pPr marL="342900" indent="-342900">
              <a:lnSpc>
                <a:spcPct val="90000"/>
              </a:lnSpc>
              <a:buFont typeface="Arial" panose="020B0604020202020204" pitchFamily="34" charset="0"/>
              <a:buChar char="•"/>
            </a:pPr>
            <a:r>
              <a:rPr lang="en-US" sz="2000" dirty="0" err="1">
                <a:solidFill>
                  <a:schemeClr val="bg1"/>
                </a:solidFill>
              </a:rPr>
              <a:t>Initialize_mesh</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Halo_fill</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Access_to_data_containers</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Reconcile_fluxes</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Regrid</a:t>
            </a:r>
            <a:endParaRPr lang="en-US" sz="2000" dirty="0">
              <a:solidFill>
                <a:schemeClr val="bg1"/>
              </a:solidFill>
            </a:endParaRPr>
          </a:p>
        </p:txBody>
      </p:sp>
    </p:spTree>
    <p:extLst>
      <p:ext uri="{BB962C8B-B14F-4D97-AF65-F5344CB8AC3E}">
        <p14:creationId xmlns:p14="http://schemas.microsoft.com/office/powerpoint/2010/main" val="1790910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1">
            <a:extLst>
              <a:ext uri="{FF2B5EF4-FFF2-40B4-BE49-F238E27FC236}">
                <a16:creationId xmlns:a16="http://schemas.microsoft.com/office/drawing/2014/main" id="{412877D0-69D4-A74F-9A17-B09CB79DECF7}"/>
              </a:ext>
            </a:extLst>
          </p:cNvPr>
          <p:cNvSpPr>
            <a:spLocks noGrp="1"/>
          </p:cNvSpPr>
          <p:nvPr>
            <p:ph type="title"/>
          </p:nvPr>
        </p:nvSpPr>
        <p:spPr>
          <a:xfrm>
            <a:off x="320509" y="174106"/>
            <a:ext cx="11579048" cy="622548"/>
          </a:xfrm>
        </p:spPr>
        <p:txBody>
          <a:bodyPr>
            <a:noAutofit/>
          </a:bodyPr>
          <a:lstStyle/>
          <a:p>
            <a:r>
              <a:rPr lang="en-US" dirty="0"/>
              <a:t>Separation of Concerns Applied</a:t>
            </a:r>
          </a:p>
        </p:txBody>
      </p:sp>
      <p:grpSp>
        <p:nvGrpSpPr>
          <p:cNvPr id="12" name="Group 11">
            <a:extLst>
              <a:ext uri="{FF2B5EF4-FFF2-40B4-BE49-F238E27FC236}">
                <a16:creationId xmlns:a16="http://schemas.microsoft.com/office/drawing/2014/main" id="{64C4AB58-57DD-6B57-DB90-5B4F17A291B2}"/>
              </a:ext>
            </a:extLst>
          </p:cNvPr>
          <p:cNvGrpSpPr/>
          <p:nvPr/>
        </p:nvGrpSpPr>
        <p:grpSpPr>
          <a:xfrm>
            <a:off x="1523456" y="1836367"/>
            <a:ext cx="7708602" cy="3185266"/>
            <a:chOff x="2513012" y="2815216"/>
            <a:chExt cx="7708602" cy="3185266"/>
          </a:xfrm>
        </p:grpSpPr>
        <p:sp>
          <p:nvSpPr>
            <p:cNvPr id="18440" name="Rectangle 10"/>
            <p:cNvSpPr>
              <a:spLocks noChangeArrowheads="1"/>
            </p:cNvSpPr>
            <p:nvPr/>
          </p:nvSpPr>
          <p:spPr bwMode="auto">
            <a:xfrm>
              <a:off x="2513012" y="4003303"/>
              <a:ext cx="1314792" cy="857473"/>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Real view : A </a:t>
              </a:r>
            </a:p>
            <a:p>
              <a:r>
                <a:rPr lang="en-US" sz="1350" dirty="0"/>
                <a:t>whole domain </a:t>
              </a:r>
            </a:p>
            <a:p>
              <a:r>
                <a:rPr lang="en-US" sz="1350" dirty="0"/>
                <a:t>with many </a:t>
              </a:r>
            </a:p>
            <a:p>
              <a:r>
                <a:rPr lang="en-US" sz="1350" dirty="0"/>
                <a:t>operators</a:t>
              </a:r>
            </a:p>
          </p:txBody>
        </p:sp>
        <p:sp>
          <p:nvSpPr>
            <p:cNvPr id="18441" name="Rectangle 11"/>
            <p:cNvSpPr>
              <a:spLocks noChangeArrowheads="1"/>
            </p:cNvSpPr>
            <p:nvPr/>
          </p:nvSpPr>
          <p:spPr bwMode="auto">
            <a:xfrm>
              <a:off x="2513012" y="5212808"/>
              <a:ext cx="1314792" cy="754532"/>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Functional </a:t>
              </a:r>
            </a:p>
            <a:p>
              <a:r>
                <a:rPr lang="en-US" sz="1350" dirty="0"/>
                <a:t>decomposition</a:t>
              </a:r>
            </a:p>
            <a:p>
              <a:endParaRPr lang="en-US" sz="1350" dirty="0"/>
            </a:p>
          </p:txBody>
        </p:sp>
        <p:sp>
          <p:nvSpPr>
            <p:cNvPr id="18436" name="Rectangle 4"/>
            <p:cNvSpPr>
              <a:spLocks noChangeArrowheads="1"/>
            </p:cNvSpPr>
            <p:nvPr/>
          </p:nvSpPr>
          <p:spPr bwMode="auto">
            <a:xfrm>
              <a:off x="4286195" y="2822777"/>
              <a:ext cx="1371957" cy="858069"/>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domain sections </a:t>
              </a:r>
            </a:p>
            <a:p>
              <a:r>
                <a:rPr lang="en-US" sz="1350" dirty="0"/>
                <a:t>as stand-alone </a:t>
              </a:r>
            </a:p>
            <a:p>
              <a:r>
                <a:rPr lang="en-US" sz="1350" dirty="0"/>
                <a:t>computation unit </a:t>
              </a:r>
            </a:p>
            <a:p>
              <a:endParaRPr lang="en-US" sz="1350" dirty="0"/>
            </a:p>
          </p:txBody>
        </p:sp>
        <p:sp>
          <p:nvSpPr>
            <p:cNvPr id="39" name="Rectangle 11"/>
            <p:cNvSpPr>
              <a:spLocks noChangeArrowheads="1"/>
            </p:cNvSpPr>
            <p:nvPr/>
          </p:nvSpPr>
          <p:spPr bwMode="auto">
            <a:xfrm>
              <a:off x="4259338" y="5191612"/>
              <a:ext cx="1389442" cy="808870"/>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r>
                <a:rPr lang="en-US" sz="1350" dirty="0"/>
                <a:t>collection of</a:t>
              </a:r>
            </a:p>
            <a:p>
              <a:r>
                <a:rPr lang="en-US" sz="1350" dirty="0"/>
                <a:t>components </a:t>
              </a:r>
            </a:p>
          </p:txBody>
        </p:sp>
        <p:sp>
          <p:nvSpPr>
            <p:cNvPr id="50" name="Rectangle 11"/>
            <p:cNvSpPr>
              <a:spLocks noChangeArrowheads="1"/>
            </p:cNvSpPr>
            <p:nvPr/>
          </p:nvSpPr>
          <p:spPr bwMode="auto">
            <a:xfrm>
              <a:off x="2529027" y="2818681"/>
              <a:ext cx="1298777" cy="858069"/>
            </a:xfrm>
            <a:prstGeom prst="rect">
              <a:avLst/>
            </a:prstGeom>
            <a:solidFill>
              <a:srgbClr val="FF9900"/>
            </a:solidFill>
            <a:ln w="9525">
              <a:solidFill>
                <a:srgbClr val="000000"/>
              </a:solidFill>
              <a:round/>
              <a:headEnd/>
              <a:tailEnd/>
            </a:ln>
          </p:spPr>
          <p:txBody>
            <a:bodyPr wrap="none" anchor="ctr">
              <a:prstTxWarp prst="textNoShape">
                <a:avLst/>
              </a:prstTxWarp>
            </a:bodyPr>
            <a:lstStyle/>
            <a:p>
              <a:endParaRPr lang="en-US" sz="1350" dirty="0"/>
            </a:p>
            <a:p>
              <a:r>
                <a:rPr lang="en-US" sz="1350" dirty="0"/>
                <a:t>Spatial</a:t>
              </a:r>
            </a:p>
            <a:p>
              <a:r>
                <a:rPr lang="en-US" sz="1350" dirty="0"/>
                <a:t>decomposition</a:t>
              </a:r>
            </a:p>
            <a:p>
              <a:endParaRPr lang="en-US" sz="1350" dirty="0"/>
            </a:p>
          </p:txBody>
        </p:sp>
        <p:cxnSp>
          <p:nvCxnSpPr>
            <p:cNvPr id="48" name="Straight Arrow Connector 47"/>
            <p:cNvCxnSpPr>
              <a:stCxn id="50" idx="3"/>
              <a:endCxn id="18436" idx="1"/>
            </p:cNvCxnSpPr>
            <p:nvPr/>
          </p:nvCxnSpPr>
          <p:spPr>
            <a:xfrm>
              <a:off x="3827804" y="3247716"/>
              <a:ext cx="458391" cy="40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cxnSpLocks/>
              <a:stCxn id="18440" idx="2"/>
              <a:endCxn id="18441" idx="0"/>
            </p:cNvCxnSpPr>
            <p:nvPr/>
          </p:nvCxnSpPr>
          <p:spPr>
            <a:xfrm>
              <a:off x="3170408" y="4860776"/>
              <a:ext cx="0" cy="352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6" name="Group 35"/>
            <p:cNvGrpSpPr>
              <a:grpSpLocks noChangeAspect="1"/>
            </p:cNvGrpSpPr>
            <p:nvPr/>
          </p:nvGrpSpPr>
          <p:grpSpPr>
            <a:xfrm>
              <a:off x="4259338" y="3818054"/>
              <a:ext cx="1343047" cy="1236350"/>
              <a:chOff x="755444" y="554451"/>
              <a:chExt cx="5884201" cy="5852160"/>
            </a:xfrm>
          </p:grpSpPr>
          <p:grpSp>
            <p:nvGrpSpPr>
              <p:cNvPr id="37" name="Group 36"/>
              <p:cNvGrpSpPr/>
              <p:nvPr/>
            </p:nvGrpSpPr>
            <p:grpSpPr>
              <a:xfrm>
                <a:off x="755444" y="554451"/>
                <a:ext cx="5884201" cy="5852160"/>
                <a:chOff x="3637559" y="1828800"/>
                <a:chExt cx="3677641" cy="3657600"/>
              </a:xfrm>
            </p:grpSpPr>
            <p:sp>
              <p:nvSpPr>
                <p:cNvPr id="64" name="Rectangle 63"/>
                <p:cNvSpPr/>
                <p:nvPr/>
              </p:nvSpPr>
              <p:spPr>
                <a:xfrm>
                  <a:off x="3657600" y="1828800"/>
                  <a:ext cx="3657600" cy="3657600"/>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65" name="Straight Connector 64"/>
                <p:cNvCxnSpPr>
                  <a:stCxn id="64" idx="0"/>
                  <a:endCxn id="64" idx="2"/>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58521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6215189"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75488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0233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438912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4" idx="1"/>
                  <a:endCxn id="64" idx="3"/>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657600" y="43891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657600" y="40233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3657600" y="292608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3657600" y="25603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3657600" y="21945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6588492"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6951521"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5103956"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a:off x="3637559" y="514008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3637559" y="477432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3657600" y="329184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8" name="Group 37"/>
              <p:cNvGrpSpPr/>
              <p:nvPr/>
            </p:nvGrpSpPr>
            <p:grpSpPr>
              <a:xfrm>
                <a:off x="1372723" y="1152144"/>
                <a:ext cx="4671432" cy="4671760"/>
                <a:chOff x="914400" y="914400"/>
                <a:chExt cx="2919657" cy="2919850"/>
              </a:xfrm>
            </p:grpSpPr>
            <p:sp>
              <p:nvSpPr>
                <p:cNvPr id="40" name="Rectangle 39"/>
                <p:cNvSpPr/>
                <p:nvPr/>
              </p:nvSpPr>
              <p:spPr>
                <a:xfrm>
                  <a:off x="914400" y="914400"/>
                  <a:ext cx="2919657" cy="2919850"/>
                </a:xfrm>
                <a:prstGeom prst="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41" name="Straight Connector 40"/>
                <p:cNvCxnSpPr>
                  <a:stCxn id="40" idx="0"/>
                  <a:endCxn id="40" idx="2"/>
                </p:cNvCxnSpPr>
                <p:nvPr/>
              </p:nvCxnSpPr>
              <p:spPr>
                <a:xfrm>
                  <a:off x="237422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74320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1089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47198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01168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2801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164592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0" idx="1"/>
                  <a:endCxn id="40" idx="3"/>
                </p:cNvCxnSpPr>
                <p:nvPr/>
              </p:nvCxnSpPr>
              <p:spPr>
                <a:xfrm>
                  <a:off x="914400" y="2374325"/>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914400" y="34747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914400" y="31089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914400" y="274320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914400" y="201168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914400" y="16459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914400" y="12801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8432" name="Group 18431">
              <a:extLst>
                <a:ext uri="{FF2B5EF4-FFF2-40B4-BE49-F238E27FC236}">
                  <a16:creationId xmlns:a16="http://schemas.microsoft.com/office/drawing/2014/main" id="{33BAF6AC-235F-CA49-BA4A-A2D39CA4619E}"/>
                </a:ext>
              </a:extLst>
            </p:cNvPr>
            <p:cNvGrpSpPr/>
            <p:nvPr/>
          </p:nvGrpSpPr>
          <p:grpSpPr>
            <a:xfrm>
              <a:off x="5658152" y="2815216"/>
              <a:ext cx="1878978" cy="865034"/>
              <a:chOff x="4687400" y="1874389"/>
              <a:chExt cx="1878978" cy="865034"/>
            </a:xfrm>
          </p:grpSpPr>
          <p:sp>
            <p:nvSpPr>
              <p:cNvPr id="45" name="Rectangle 11"/>
              <p:cNvSpPr>
                <a:spLocks noChangeArrowheads="1"/>
              </p:cNvSpPr>
              <p:nvPr/>
            </p:nvSpPr>
            <p:spPr bwMode="auto">
              <a:xfrm>
                <a:off x="5086940" y="1874389"/>
                <a:ext cx="1479438" cy="865034"/>
              </a:xfrm>
              <a:prstGeom prst="rect">
                <a:avLst/>
              </a:prstGeom>
              <a:solidFill>
                <a:schemeClr val="accent5">
                  <a:lumMod val="60000"/>
                  <a:lumOff val="4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Parallelization</a:t>
                </a:r>
              </a:p>
              <a:p>
                <a:r>
                  <a:rPr lang="en-US" sz="1350" dirty="0"/>
                  <a:t>and scaling</a:t>
                </a:r>
              </a:p>
              <a:p>
                <a:r>
                  <a:rPr lang="en-US" sz="1350" dirty="0"/>
                  <a:t>optimization</a:t>
                </a:r>
              </a:p>
              <a:p>
                <a:endParaRPr lang="en-US" sz="1350" dirty="0"/>
              </a:p>
            </p:txBody>
          </p:sp>
          <p:cxnSp>
            <p:nvCxnSpPr>
              <p:cNvPr id="7" name="Straight Arrow Connector 6">
                <a:extLst>
                  <a:ext uri="{FF2B5EF4-FFF2-40B4-BE49-F238E27FC236}">
                    <a16:creationId xmlns:a16="http://schemas.microsoft.com/office/drawing/2014/main" id="{CA3C2FED-4441-0A47-BA46-6EEDF90149B1}"/>
                  </a:ext>
                </a:extLst>
              </p:cNvPr>
              <p:cNvCxnSpPr>
                <a:stCxn id="18436" idx="3"/>
                <a:endCxn id="45" idx="1"/>
              </p:cNvCxnSpPr>
              <p:nvPr/>
            </p:nvCxnSpPr>
            <p:spPr>
              <a:xfrm flipV="1">
                <a:off x="4687400" y="2306906"/>
                <a:ext cx="399540" cy="4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433" name="Group 18432">
              <a:extLst>
                <a:ext uri="{FF2B5EF4-FFF2-40B4-BE49-F238E27FC236}">
                  <a16:creationId xmlns:a16="http://schemas.microsoft.com/office/drawing/2014/main" id="{4B3861FC-15EF-0741-88B3-FDADB9E03747}"/>
                </a:ext>
              </a:extLst>
            </p:cNvPr>
            <p:cNvGrpSpPr/>
            <p:nvPr/>
          </p:nvGrpSpPr>
          <p:grpSpPr>
            <a:xfrm>
              <a:off x="5648780" y="5191612"/>
              <a:ext cx="1888350" cy="808870"/>
              <a:chOff x="4678028" y="4250785"/>
              <a:chExt cx="1888350" cy="808870"/>
            </a:xfrm>
          </p:grpSpPr>
          <p:sp>
            <p:nvSpPr>
              <p:cNvPr id="18437" name="Rectangle 6"/>
              <p:cNvSpPr>
                <a:spLocks noChangeArrowheads="1"/>
              </p:cNvSpPr>
              <p:nvPr/>
            </p:nvSpPr>
            <p:spPr bwMode="auto">
              <a:xfrm>
                <a:off x="5086940" y="4250785"/>
                <a:ext cx="1479438" cy="808870"/>
              </a:xfrm>
              <a:prstGeom prst="rect">
                <a:avLst/>
              </a:prstGeom>
              <a:solidFill>
                <a:schemeClr val="accent5">
                  <a:lumMod val="60000"/>
                  <a:lumOff val="4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Memory</a:t>
                </a:r>
              </a:p>
              <a:p>
                <a:r>
                  <a:rPr lang="en-US" sz="1350" dirty="0"/>
                  <a:t>access and </a:t>
                </a:r>
              </a:p>
              <a:p>
                <a:r>
                  <a:rPr lang="en-US" sz="1350" dirty="0"/>
                  <a:t>compute</a:t>
                </a:r>
              </a:p>
              <a:p>
                <a:r>
                  <a:rPr lang="en-US" sz="1350" dirty="0"/>
                  <a:t>optimization</a:t>
                </a:r>
              </a:p>
              <a:p>
                <a:endParaRPr lang="en-US" sz="1350" dirty="0"/>
              </a:p>
            </p:txBody>
          </p:sp>
          <p:cxnSp>
            <p:nvCxnSpPr>
              <p:cNvPr id="10" name="Straight Arrow Connector 9">
                <a:extLst>
                  <a:ext uri="{FF2B5EF4-FFF2-40B4-BE49-F238E27FC236}">
                    <a16:creationId xmlns:a16="http://schemas.microsoft.com/office/drawing/2014/main" id="{3D61A312-128E-454A-BBFE-0814F16984F6}"/>
                  </a:ext>
                </a:extLst>
              </p:cNvPr>
              <p:cNvCxnSpPr>
                <a:stCxn id="39" idx="3"/>
                <a:endCxn id="18437" idx="1"/>
              </p:cNvCxnSpPr>
              <p:nvPr/>
            </p:nvCxnSpPr>
            <p:spPr>
              <a:xfrm>
                <a:off x="4678028" y="4655220"/>
                <a:ext cx="4089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725590E0-7BC0-704F-B0F3-4F58F1C8C610}"/>
                </a:ext>
              </a:extLst>
            </p:cNvPr>
            <p:cNvCxnSpPr>
              <a:stCxn id="18440" idx="0"/>
              <a:endCxn id="50" idx="2"/>
            </p:cNvCxnSpPr>
            <p:nvPr/>
          </p:nvCxnSpPr>
          <p:spPr>
            <a:xfrm flipV="1">
              <a:off x="3170408" y="3676750"/>
              <a:ext cx="8008" cy="3265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DA4B49-F1D3-4D44-B681-00A0C7EE8C61}"/>
                </a:ext>
              </a:extLst>
            </p:cNvPr>
            <p:cNvCxnSpPr>
              <a:stCxn id="18441" idx="3"/>
              <a:endCxn id="39" idx="1"/>
            </p:cNvCxnSpPr>
            <p:nvPr/>
          </p:nvCxnSpPr>
          <p:spPr>
            <a:xfrm>
              <a:off x="3827804" y="5590074"/>
              <a:ext cx="431534" cy="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F99ABAB-132E-894D-B0EF-BF48DCC63C3F}"/>
                </a:ext>
              </a:extLst>
            </p:cNvPr>
            <p:cNvSpPr txBox="1"/>
            <p:nvPr/>
          </p:nvSpPr>
          <p:spPr>
            <a:xfrm>
              <a:off x="6016690" y="3786976"/>
              <a:ext cx="1945661" cy="1181862"/>
            </a:xfrm>
            <a:prstGeom prst="rect">
              <a:avLst/>
            </a:prstGeom>
            <a:noFill/>
          </p:spPr>
          <p:txBody>
            <a:bodyPr wrap="none" lIns="118872" tIns="91440" rIns="118872" bIns="91440" rtlCol="0" anchor="ctr" anchorCtr="0">
              <a:spAutoFit/>
            </a:bodyPr>
            <a:lstStyle/>
            <a:p>
              <a:pPr algn="l">
                <a:lnSpc>
                  <a:spcPct val="90000"/>
                </a:lnSpc>
              </a:pPr>
              <a:r>
                <a:rPr lang="en-US" dirty="0"/>
                <a:t>Implemented by </a:t>
              </a:r>
            </a:p>
            <a:p>
              <a:pPr algn="l">
                <a:lnSpc>
                  <a:spcPct val="90000"/>
                </a:lnSpc>
              </a:pPr>
              <a:r>
                <a:rPr lang="en-US" dirty="0"/>
                <a:t>domain experts </a:t>
              </a:r>
            </a:p>
            <a:p>
              <a:pPr algn="l">
                <a:lnSpc>
                  <a:spcPct val="90000"/>
                </a:lnSpc>
              </a:pPr>
              <a:r>
                <a:rPr lang="en-US" dirty="0"/>
                <a:t>and applied </a:t>
              </a:r>
            </a:p>
            <a:p>
              <a:pPr algn="l">
                <a:lnSpc>
                  <a:spcPct val="90000"/>
                </a:lnSpc>
              </a:pPr>
              <a:r>
                <a:rPr lang="en-US" dirty="0"/>
                <a:t>mathematicians</a:t>
              </a:r>
            </a:p>
          </p:txBody>
        </p:sp>
        <p:sp>
          <p:nvSpPr>
            <p:cNvPr id="3" name="Left Arrow 2">
              <a:extLst>
                <a:ext uri="{FF2B5EF4-FFF2-40B4-BE49-F238E27FC236}">
                  <a16:creationId xmlns:a16="http://schemas.microsoft.com/office/drawing/2014/main" id="{99C3632D-DEB6-CD4A-90C6-72DC51CD71D9}"/>
                </a:ext>
              </a:extLst>
            </p:cNvPr>
            <p:cNvSpPr/>
            <p:nvPr/>
          </p:nvSpPr>
          <p:spPr>
            <a:xfrm rot="-1800000">
              <a:off x="5658152" y="4860776"/>
              <a:ext cx="436260" cy="193628"/>
            </a:xfrm>
            <a:prstGeom prst="leftArrow">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4" name="TextBox 3">
              <a:extLst>
                <a:ext uri="{FF2B5EF4-FFF2-40B4-BE49-F238E27FC236}">
                  <a16:creationId xmlns:a16="http://schemas.microsoft.com/office/drawing/2014/main" id="{8C9C4127-71FD-7945-9AC1-5B1CA0927B18}"/>
                </a:ext>
              </a:extLst>
            </p:cNvPr>
            <p:cNvSpPr txBox="1"/>
            <p:nvPr/>
          </p:nvSpPr>
          <p:spPr>
            <a:xfrm>
              <a:off x="8340073" y="3902880"/>
              <a:ext cx="1881541" cy="1181862"/>
            </a:xfrm>
            <a:prstGeom prst="rect">
              <a:avLst/>
            </a:prstGeom>
            <a:noFill/>
          </p:spPr>
          <p:txBody>
            <a:bodyPr wrap="none" lIns="118872" tIns="91440" rIns="118872" bIns="91440" rtlCol="0" anchor="ctr" anchorCtr="0">
              <a:spAutoFit/>
            </a:bodyPr>
            <a:lstStyle/>
            <a:p>
              <a:pPr algn="l">
                <a:lnSpc>
                  <a:spcPct val="90000"/>
                </a:lnSpc>
              </a:pPr>
              <a:r>
                <a:rPr lang="en-US" dirty="0"/>
                <a:t>Implemented by</a:t>
              </a:r>
            </a:p>
            <a:p>
              <a:pPr algn="l">
                <a:lnSpc>
                  <a:spcPct val="90000"/>
                </a:lnSpc>
              </a:pPr>
              <a:r>
                <a:rPr lang="en-US" dirty="0"/>
                <a:t>software and </a:t>
              </a:r>
            </a:p>
            <a:p>
              <a:pPr algn="l">
                <a:lnSpc>
                  <a:spcPct val="90000"/>
                </a:lnSpc>
              </a:pPr>
              <a:r>
                <a:rPr lang="en-US" dirty="0"/>
                <a:t>performance</a:t>
              </a:r>
            </a:p>
            <a:p>
              <a:pPr algn="l">
                <a:lnSpc>
                  <a:spcPct val="90000"/>
                </a:lnSpc>
              </a:pPr>
              <a:r>
                <a:rPr lang="en-US" dirty="0"/>
                <a:t>engineers</a:t>
              </a:r>
            </a:p>
          </p:txBody>
        </p:sp>
        <p:sp>
          <p:nvSpPr>
            <p:cNvPr id="5" name="Down Arrow 4">
              <a:extLst>
                <a:ext uri="{FF2B5EF4-FFF2-40B4-BE49-F238E27FC236}">
                  <a16:creationId xmlns:a16="http://schemas.microsoft.com/office/drawing/2014/main" id="{28A62EF0-D9D7-7741-88AF-0EA6352EC5B8}"/>
                </a:ext>
              </a:extLst>
            </p:cNvPr>
            <p:cNvSpPr/>
            <p:nvPr/>
          </p:nvSpPr>
          <p:spPr>
            <a:xfrm rot="-3600000">
              <a:off x="7920360" y="3154709"/>
              <a:ext cx="166884" cy="901210"/>
            </a:xfrm>
            <a:prstGeom prst="down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87" name="Down Arrow 86">
              <a:extLst>
                <a:ext uri="{FF2B5EF4-FFF2-40B4-BE49-F238E27FC236}">
                  <a16:creationId xmlns:a16="http://schemas.microsoft.com/office/drawing/2014/main" id="{74877546-FCBD-C14E-A5E8-C20AE75CA18E}"/>
                </a:ext>
              </a:extLst>
            </p:cNvPr>
            <p:cNvSpPr/>
            <p:nvPr/>
          </p:nvSpPr>
          <p:spPr>
            <a:xfrm rot="14400000">
              <a:off x="7987502" y="4884793"/>
              <a:ext cx="166884" cy="901210"/>
            </a:xfrm>
            <a:prstGeom prst="down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2597175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85EA-0E8F-C746-87E2-C283B4540007}"/>
              </a:ext>
            </a:extLst>
          </p:cNvPr>
          <p:cNvSpPr>
            <a:spLocks noGrp="1"/>
          </p:cNvSpPr>
          <p:nvPr>
            <p:ph type="title"/>
          </p:nvPr>
        </p:nvSpPr>
        <p:spPr/>
        <p:txBody>
          <a:bodyPr/>
          <a:lstStyle/>
          <a:p>
            <a:r>
              <a:rPr lang="en-US" dirty="0"/>
              <a:t>Takeaways so far</a:t>
            </a:r>
          </a:p>
        </p:txBody>
      </p:sp>
      <p:sp>
        <p:nvSpPr>
          <p:cNvPr id="3" name="Content Placeholder 2">
            <a:extLst>
              <a:ext uri="{FF2B5EF4-FFF2-40B4-BE49-F238E27FC236}">
                <a16:creationId xmlns:a16="http://schemas.microsoft.com/office/drawing/2014/main" id="{FC84114E-9B93-6946-8537-70EC13595158}"/>
              </a:ext>
            </a:extLst>
          </p:cNvPr>
          <p:cNvSpPr>
            <a:spLocks noGrp="1"/>
          </p:cNvSpPr>
          <p:nvPr>
            <p:ph idx="1"/>
          </p:nvPr>
        </p:nvSpPr>
        <p:spPr>
          <a:xfrm>
            <a:off x="1009908" y="1602953"/>
            <a:ext cx="9790364" cy="4445723"/>
          </a:xfrm>
        </p:spPr>
        <p:txBody>
          <a:bodyPr/>
          <a:lstStyle/>
          <a:p>
            <a:r>
              <a:rPr lang="en-US" sz="2800" dirty="0">
                <a:solidFill>
                  <a:schemeClr val="tx1">
                    <a:lumMod val="95000"/>
                    <a:lumOff val="5000"/>
                  </a:schemeClr>
                </a:solidFill>
              </a:rPr>
              <a:t>Differentiate between slow changing and fast changing components of your code</a:t>
            </a:r>
          </a:p>
          <a:p>
            <a:r>
              <a:rPr lang="en-US" sz="2800" dirty="0">
                <a:solidFill>
                  <a:schemeClr val="tx1">
                    <a:lumMod val="95000"/>
                    <a:lumOff val="5000"/>
                  </a:schemeClr>
                </a:solidFill>
              </a:rPr>
              <a:t>Understand the requirements of your infrastructure</a:t>
            </a:r>
          </a:p>
          <a:p>
            <a:r>
              <a:rPr lang="en-US" sz="2800" dirty="0">
                <a:solidFill>
                  <a:schemeClr val="tx1">
                    <a:lumMod val="95000"/>
                    <a:lumOff val="5000"/>
                  </a:schemeClr>
                </a:solidFill>
              </a:rPr>
              <a:t>Implement separation of concerns</a:t>
            </a:r>
          </a:p>
          <a:p>
            <a:r>
              <a:rPr lang="en-US" sz="2800" dirty="0">
                <a:solidFill>
                  <a:schemeClr val="tx1">
                    <a:lumMod val="95000"/>
                    <a:lumOff val="5000"/>
                  </a:schemeClr>
                </a:solidFill>
              </a:rPr>
              <a:t>Design with portability, extensibility, reproducibility and maintainability in mind</a:t>
            </a:r>
          </a:p>
          <a:p>
            <a:pPr marL="0" indent="0">
              <a:buNone/>
            </a:pPr>
            <a:endParaRPr lang="en-US" dirty="0"/>
          </a:p>
        </p:txBody>
      </p:sp>
    </p:spTree>
    <p:extLst>
      <p:ext uri="{BB962C8B-B14F-4D97-AF65-F5344CB8AC3E}">
        <p14:creationId xmlns:p14="http://schemas.microsoft.com/office/powerpoint/2010/main" val="1223160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969AAFBA-E7D9-0542-BEAD-C2722F011739}"/>
              </a:ext>
            </a:extLst>
          </p:cNvPr>
          <p:cNvSpPr txBox="1">
            <a:spLocks/>
          </p:cNvSpPr>
          <p:nvPr/>
        </p:nvSpPr>
        <p:spPr>
          <a:xfrm>
            <a:off x="608719" y="1128060"/>
            <a:ext cx="8650062" cy="550134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Wingdings" panose="05000000000000000000" pitchFamily="2" charset="2"/>
              <a:buNone/>
              <a:defRPr sz="2800" kern="1200">
                <a:solidFill>
                  <a:schemeClr val="tx1">
                    <a:tint val="75000"/>
                  </a:schemeClr>
                </a:solidFill>
                <a:latin typeface="Arial" panose="020B0604020202020204" pitchFamily="34" charset="0"/>
                <a:ea typeface="+mn-ea"/>
                <a:cs typeface="Arial" panose="020B0604020202020204" pitchFamily="34" charset="0"/>
              </a:defRPr>
            </a:lvl1pPr>
            <a:lvl2pPr marL="342900" indent="0" algn="ctr" defTabSz="914400" rtl="0" eaLnBrk="1" latinLnBrk="0" hangingPunct="1">
              <a:spcBef>
                <a:spcPct val="20000"/>
              </a:spcBef>
              <a:buFont typeface="Wingdings" panose="05000000000000000000" pitchFamily="2" charset="2"/>
              <a:buNone/>
              <a:defRPr sz="2400" kern="1200">
                <a:solidFill>
                  <a:schemeClr val="tx1">
                    <a:tint val="75000"/>
                  </a:schemeClr>
                </a:solidFill>
                <a:latin typeface="Arial" panose="020B0604020202020204" pitchFamily="34" charset="0"/>
                <a:ea typeface="+mn-ea"/>
                <a:cs typeface="Arial" panose="020B0604020202020204" pitchFamily="34" charset="0"/>
              </a:defRPr>
            </a:lvl2pPr>
            <a:lvl3pPr marL="685800" indent="0" algn="ctr" defTabSz="914400" rtl="0" eaLnBrk="1" latinLnBrk="0" hangingPunct="1">
              <a:spcBef>
                <a:spcPct val="20000"/>
              </a:spcBef>
              <a:buFont typeface="Wingdings" panose="05000000000000000000" pitchFamily="2" charset="2"/>
              <a:buNone/>
              <a:defRPr sz="2000" kern="1200">
                <a:solidFill>
                  <a:schemeClr val="tx1">
                    <a:tint val="75000"/>
                  </a:schemeClr>
                </a:solidFill>
                <a:latin typeface="Arial" panose="020B0604020202020204" pitchFamily="34" charset="0"/>
                <a:ea typeface="+mn-ea"/>
                <a:cs typeface="Arial" panose="020B0604020202020204" pitchFamily="34" charset="0"/>
              </a:defRPr>
            </a:lvl3pPr>
            <a:lvl4pPr marL="1028700" indent="0" algn="ctr" defTabSz="914400" rtl="0" eaLnBrk="1" latinLnBrk="0" hangingPunct="1">
              <a:spcBef>
                <a:spcPct val="20000"/>
              </a:spcBef>
              <a:buFont typeface="Wingdings" panose="05000000000000000000" pitchFamily="2" charset="2"/>
              <a:buNone/>
              <a:defRPr sz="1800" kern="1200">
                <a:solidFill>
                  <a:schemeClr val="tx1">
                    <a:tint val="75000"/>
                  </a:schemeClr>
                </a:solidFill>
                <a:latin typeface="Arial" panose="020B0604020202020204" pitchFamily="34" charset="0"/>
                <a:ea typeface="+mn-ea"/>
                <a:cs typeface="Arial" panose="020B0604020202020204" pitchFamily="34" charset="0"/>
              </a:defRPr>
            </a:lvl4pPr>
            <a:lvl5pPr marL="1371600" indent="0" algn="ctr" defTabSz="914400" rtl="0" eaLnBrk="1" latinLnBrk="0" hangingPunct="1">
              <a:spcBef>
                <a:spcPct val="20000"/>
              </a:spcBef>
              <a:buFont typeface="Wingdings" panose="05000000000000000000" pitchFamily="2" charset="2"/>
              <a:buNone/>
              <a:defRPr sz="1800" kern="1200">
                <a:solidFill>
                  <a:schemeClr val="tx1">
                    <a:tint val="75000"/>
                  </a:schemeClr>
                </a:solidFill>
                <a:latin typeface="Arial" panose="020B0604020202020204" pitchFamily="34" charset="0"/>
                <a:ea typeface="+mn-ea"/>
                <a:cs typeface="Arial" panose="020B0604020202020204" pitchFamily="34" charset="0"/>
              </a:defRPr>
            </a:lvl5pPr>
            <a:lvl6pPr marL="17145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057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24003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solidFill>
                <a:schemeClr val="tx1"/>
              </a:solidFill>
            </a:endParaRPr>
          </a:p>
          <a:p>
            <a:pPr marL="457200" indent="-457200" algn="l">
              <a:buFont typeface="Wingdings" pitchFamily="2" charset="2"/>
              <a:buChar char="q"/>
            </a:pPr>
            <a:endParaRPr lang="en-US" dirty="0">
              <a:solidFill>
                <a:schemeClr val="tx1"/>
              </a:solidFill>
            </a:endParaRPr>
          </a:p>
          <a:p>
            <a:pPr algn="l"/>
            <a:endParaRPr lang="en-US" dirty="0">
              <a:solidFill>
                <a:schemeClr val="tx1"/>
              </a:solidFill>
            </a:endParaRPr>
          </a:p>
        </p:txBody>
      </p:sp>
      <p:grpSp>
        <p:nvGrpSpPr>
          <p:cNvPr id="2" name="Group 1">
            <a:extLst>
              <a:ext uri="{FF2B5EF4-FFF2-40B4-BE49-F238E27FC236}">
                <a16:creationId xmlns:a16="http://schemas.microsoft.com/office/drawing/2014/main" id="{F7D43C75-6652-9D43-A7CD-0183D0CEBCD5}"/>
              </a:ext>
            </a:extLst>
          </p:cNvPr>
          <p:cNvGrpSpPr/>
          <p:nvPr/>
        </p:nvGrpSpPr>
        <p:grpSpPr>
          <a:xfrm>
            <a:off x="608157" y="2416928"/>
            <a:ext cx="6067194" cy="2923603"/>
            <a:chOff x="2176244" y="1817067"/>
            <a:chExt cx="4826771" cy="3142742"/>
          </a:xfrm>
        </p:grpSpPr>
        <p:sp>
          <p:nvSpPr>
            <p:cNvPr id="7" name="Oval 6"/>
            <p:cNvSpPr/>
            <p:nvPr/>
          </p:nvSpPr>
          <p:spPr>
            <a:xfrm>
              <a:off x="3546363" y="1817067"/>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Scientific Understanding</a:t>
              </a:r>
            </a:p>
          </p:txBody>
        </p:sp>
        <p:sp>
          <p:nvSpPr>
            <p:cNvPr id="14" name="Oval 13"/>
            <p:cNvSpPr/>
            <p:nvPr/>
          </p:nvSpPr>
          <p:spPr>
            <a:xfrm>
              <a:off x="5349748" y="2965465"/>
              <a:ext cx="1653267" cy="1001145"/>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15" name="Oval 14"/>
            <p:cNvSpPr/>
            <p:nvPr/>
          </p:nvSpPr>
          <p:spPr>
            <a:xfrm>
              <a:off x="3576979" y="3958663"/>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16" name="Oval 15"/>
            <p:cNvSpPr/>
            <p:nvPr/>
          </p:nvSpPr>
          <p:spPr>
            <a:xfrm>
              <a:off x="2176244" y="2965464"/>
              <a:ext cx="16532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18" name="Curved Connector 17"/>
            <p:cNvCxnSpPr>
              <a:cxnSpLocks/>
              <a:stCxn id="7" idx="6"/>
              <a:endCxn id="14" idx="0"/>
            </p:cNvCxnSpPr>
            <p:nvPr/>
          </p:nvCxnSpPr>
          <p:spPr>
            <a:xfrm>
              <a:off x="5542531" y="2317640"/>
              <a:ext cx="633851" cy="64782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p:cNvCxnSpPr>
              <a:cxnSpLocks/>
              <a:stCxn id="14" idx="4"/>
              <a:endCxn id="15" idx="6"/>
            </p:cNvCxnSpPr>
            <p:nvPr/>
          </p:nvCxnSpPr>
          <p:spPr>
            <a:xfrm rot="5400000">
              <a:off x="5628452" y="3911307"/>
              <a:ext cx="492626" cy="6032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p:cNvCxnSpPr>
              <a:stCxn id="15" idx="2"/>
              <a:endCxn id="16"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p:cNvCxnSpPr>
              <a:stCxn id="16" idx="0"/>
              <a:endCxn id="7"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14" idx="2"/>
              <a:endCxn id="16" idx="6"/>
            </p:cNvCxnSpPr>
            <p:nvPr/>
          </p:nvCxnSpPr>
          <p:spPr>
            <a:xfrm flipH="1" flipV="1">
              <a:off x="3829512" y="3466037"/>
              <a:ext cx="1520236"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73FEECD-EE88-E040-895C-0240D635E635}"/>
              </a:ext>
            </a:extLst>
          </p:cNvPr>
          <p:cNvGrpSpPr/>
          <p:nvPr/>
        </p:nvGrpSpPr>
        <p:grpSpPr>
          <a:xfrm>
            <a:off x="7013943" y="2416928"/>
            <a:ext cx="4265142" cy="3524330"/>
            <a:chOff x="6979801" y="729343"/>
            <a:chExt cx="4265142" cy="3524330"/>
          </a:xfrm>
        </p:grpSpPr>
        <p:cxnSp>
          <p:nvCxnSpPr>
            <p:cNvPr id="9" name="Straight Arrow Connector 8">
              <a:extLst>
                <a:ext uri="{FF2B5EF4-FFF2-40B4-BE49-F238E27FC236}">
                  <a16:creationId xmlns:a16="http://schemas.microsoft.com/office/drawing/2014/main" id="{74C943FE-45EB-EF4A-A9C9-DBCCA64BE107}"/>
                </a:ext>
              </a:extLst>
            </p:cNvPr>
            <p:cNvCxnSpPr/>
            <p:nvPr/>
          </p:nvCxnSpPr>
          <p:spPr>
            <a:xfrm>
              <a:off x="7402286" y="3725330"/>
              <a:ext cx="38426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9EE4B5B6-D325-DA4A-9BFD-BCFD54BA1E1E}"/>
                </a:ext>
              </a:extLst>
            </p:cNvPr>
            <p:cNvCxnSpPr/>
            <p:nvPr/>
          </p:nvCxnSpPr>
          <p:spPr>
            <a:xfrm flipV="1">
              <a:off x="7424057" y="729343"/>
              <a:ext cx="0" cy="299598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D803AAA-CB4F-1144-8B15-F5B2C8FB7A51}"/>
                </a:ext>
              </a:extLst>
            </p:cNvPr>
            <p:cNvSpPr txBox="1"/>
            <p:nvPr/>
          </p:nvSpPr>
          <p:spPr>
            <a:xfrm>
              <a:off x="8290189" y="3819708"/>
              <a:ext cx="2253437" cy="433965"/>
            </a:xfrm>
            <a:prstGeom prst="rect">
              <a:avLst/>
            </a:prstGeom>
            <a:noFill/>
          </p:spPr>
          <p:txBody>
            <a:bodyPr wrap="none" lIns="118872" tIns="91440" rIns="118872" bIns="91440" rtlCol="0" anchor="ctr" anchorCtr="0">
              <a:spAutoFit/>
            </a:bodyPr>
            <a:lstStyle/>
            <a:p>
              <a:pPr algn="l">
                <a:lnSpc>
                  <a:spcPct val="90000"/>
                </a:lnSpc>
              </a:pPr>
              <a:r>
                <a:rPr lang="en-US" dirty="0"/>
                <a:t>Platform complexity</a:t>
              </a:r>
            </a:p>
          </p:txBody>
        </p:sp>
        <p:sp>
          <p:nvSpPr>
            <p:cNvPr id="25" name="TextBox 24">
              <a:extLst>
                <a:ext uri="{FF2B5EF4-FFF2-40B4-BE49-F238E27FC236}">
                  <a16:creationId xmlns:a16="http://schemas.microsoft.com/office/drawing/2014/main" id="{1F2B8E5A-6747-6840-9AB5-298CEE998CFB}"/>
                </a:ext>
              </a:extLst>
            </p:cNvPr>
            <p:cNvSpPr txBox="1"/>
            <p:nvPr/>
          </p:nvSpPr>
          <p:spPr>
            <a:xfrm rot="-5400000">
              <a:off x="6046587" y="2061274"/>
              <a:ext cx="2304733" cy="438305"/>
            </a:xfrm>
            <a:prstGeom prst="rect">
              <a:avLst/>
            </a:prstGeom>
            <a:noFill/>
          </p:spPr>
          <p:txBody>
            <a:bodyPr wrap="square" lIns="118872" tIns="91440" rIns="118872" bIns="91440" rtlCol="0" anchor="ctr" anchorCtr="0">
              <a:spAutoFit/>
            </a:bodyPr>
            <a:lstStyle/>
            <a:p>
              <a:pPr algn="l">
                <a:lnSpc>
                  <a:spcPct val="90000"/>
                </a:lnSpc>
              </a:pPr>
              <a:r>
                <a:rPr lang="en-US" dirty="0"/>
                <a:t>Software complexity</a:t>
              </a:r>
            </a:p>
          </p:txBody>
        </p:sp>
        <p:cxnSp>
          <p:nvCxnSpPr>
            <p:cNvPr id="27" name="Straight Connector 26">
              <a:extLst>
                <a:ext uri="{FF2B5EF4-FFF2-40B4-BE49-F238E27FC236}">
                  <a16:creationId xmlns:a16="http://schemas.microsoft.com/office/drawing/2014/main" id="{F0944214-B922-DE4E-8201-F097C1607D13}"/>
                </a:ext>
              </a:extLst>
            </p:cNvPr>
            <p:cNvCxnSpPr/>
            <p:nvPr/>
          </p:nvCxnSpPr>
          <p:spPr>
            <a:xfrm flipV="1">
              <a:off x="7871254" y="1865870"/>
              <a:ext cx="271849" cy="1401184"/>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6CC992-F868-F041-8AF1-1C98255A058E}"/>
                </a:ext>
              </a:extLst>
            </p:cNvPr>
            <p:cNvCxnSpPr>
              <a:cxnSpLocks/>
            </p:cNvCxnSpPr>
            <p:nvPr/>
          </p:nvCxnSpPr>
          <p:spPr>
            <a:xfrm flipV="1">
              <a:off x="8113046" y="868682"/>
              <a:ext cx="2759259" cy="1012232"/>
            </a:xfrm>
            <a:prstGeom prst="line">
              <a:avLst/>
            </a:prstGeom>
            <a:ln w="53975">
              <a:solidFill>
                <a:srgbClr val="7030A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5D10778-614C-0842-B0F5-17C22D27A489}"/>
                </a:ext>
              </a:extLst>
            </p:cNvPr>
            <p:cNvSpPr txBox="1"/>
            <p:nvPr/>
          </p:nvSpPr>
          <p:spPr>
            <a:xfrm>
              <a:off x="8063618" y="1663931"/>
              <a:ext cx="271849" cy="433965"/>
            </a:xfrm>
            <a:prstGeom prst="rect">
              <a:avLst/>
            </a:prstGeom>
            <a:noFill/>
          </p:spPr>
          <p:txBody>
            <a:bodyPr wrap="square" lIns="118872" tIns="91440" rIns="118872" bIns="91440" rtlCol="0" anchor="ctr" anchorCtr="0">
              <a:spAutoFit/>
            </a:bodyPr>
            <a:lstStyle/>
            <a:p>
              <a:pPr algn="l">
                <a:lnSpc>
                  <a:spcPct val="90000"/>
                </a:lnSpc>
              </a:pPr>
              <a:endParaRPr lang="en-US" dirty="0"/>
            </a:p>
          </p:txBody>
        </p:sp>
        <p:sp>
          <p:nvSpPr>
            <p:cNvPr id="32" name="TextBox 31">
              <a:extLst>
                <a:ext uri="{FF2B5EF4-FFF2-40B4-BE49-F238E27FC236}">
                  <a16:creationId xmlns:a16="http://schemas.microsoft.com/office/drawing/2014/main" id="{F5FBECCC-FDD4-DE4B-A88C-B7AF2B546EAE}"/>
                </a:ext>
              </a:extLst>
            </p:cNvPr>
            <p:cNvSpPr txBox="1"/>
            <p:nvPr/>
          </p:nvSpPr>
          <p:spPr>
            <a:xfrm>
              <a:off x="8453742" y="2528855"/>
              <a:ext cx="1407052" cy="932563"/>
            </a:xfrm>
            <a:prstGeom prst="rect">
              <a:avLst/>
            </a:prstGeom>
            <a:noFill/>
          </p:spPr>
          <p:txBody>
            <a:bodyPr wrap="none" lIns="118872" tIns="91440" rIns="118872" bIns="91440" rtlCol="0" anchor="ctr" anchorCtr="0">
              <a:spAutoFit/>
            </a:bodyPr>
            <a:lstStyle/>
            <a:p>
              <a:pPr algn="l">
                <a:lnSpc>
                  <a:spcPct val="90000"/>
                </a:lnSpc>
              </a:pPr>
              <a:r>
                <a:rPr lang="en-US" dirty="0"/>
                <a:t>Distributed </a:t>
              </a:r>
            </a:p>
            <a:p>
              <a:pPr algn="l">
                <a:lnSpc>
                  <a:spcPct val="90000"/>
                </a:lnSpc>
              </a:pPr>
              <a:r>
                <a:rPr lang="en-US" dirty="0"/>
                <a:t>memory</a:t>
              </a:r>
            </a:p>
            <a:p>
              <a:pPr algn="l">
                <a:lnSpc>
                  <a:spcPct val="90000"/>
                </a:lnSpc>
              </a:pPr>
              <a:r>
                <a:rPr lang="en-US" dirty="0"/>
                <a:t>model</a:t>
              </a:r>
            </a:p>
          </p:txBody>
        </p:sp>
        <p:sp>
          <p:nvSpPr>
            <p:cNvPr id="33" name="Left Arrow 32">
              <a:extLst>
                <a:ext uri="{FF2B5EF4-FFF2-40B4-BE49-F238E27FC236}">
                  <a16:creationId xmlns:a16="http://schemas.microsoft.com/office/drawing/2014/main" id="{6032F769-EB60-3346-ADD9-4B2D1BB53B93}"/>
                </a:ext>
              </a:extLst>
            </p:cNvPr>
            <p:cNvSpPr/>
            <p:nvPr/>
          </p:nvSpPr>
          <p:spPr>
            <a:xfrm>
              <a:off x="7990874" y="2889070"/>
              <a:ext cx="437831" cy="218824"/>
            </a:xfrm>
            <a:prstGeom prst="leftArrow">
              <a:avLst/>
            </a:prstGeom>
            <a:solidFill>
              <a:schemeClr val="accent4"/>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4" name="TextBox 33">
              <a:extLst>
                <a:ext uri="{FF2B5EF4-FFF2-40B4-BE49-F238E27FC236}">
                  <a16:creationId xmlns:a16="http://schemas.microsoft.com/office/drawing/2014/main" id="{C346DD6B-4509-764A-AE45-5F142DE3C708}"/>
                </a:ext>
              </a:extLst>
            </p:cNvPr>
            <p:cNvSpPr txBox="1"/>
            <p:nvPr/>
          </p:nvSpPr>
          <p:spPr>
            <a:xfrm>
              <a:off x="9327147" y="1554669"/>
              <a:ext cx="1817421" cy="683264"/>
            </a:xfrm>
            <a:prstGeom prst="rect">
              <a:avLst/>
            </a:prstGeom>
            <a:noFill/>
          </p:spPr>
          <p:txBody>
            <a:bodyPr wrap="none" lIns="118872" tIns="91440" rIns="118872" bIns="91440" rtlCol="0" anchor="ctr" anchorCtr="0">
              <a:spAutoFit/>
            </a:bodyPr>
            <a:lstStyle/>
            <a:p>
              <a:pPr algn="l">
                <a:lnSpc>
                  <a:spcPct val="90000"/>
                </a:lnSpc>
              </a:pPr>
              <a:r>
                <a:rPr lang="en-US" dirty="0"/>
                <a:t>Heterogeneous</a:t>
              </a:r>
            </a:p>
            <a:p>
              <a:pPr algn="l">
                <a:lnSpc>
                  <a:spcPct val="90000"/>
                </a:lnSpc>
              </a:pPr>
              <a:r>
                <a:rPr lang="en-US" dirty="0"/>
                <a:t>models</a:t>
              </a:r>
            </a:p>
          </p:txBody>
        </p:sp>
        <p:sp>
          <p:nvSpPr>
            <p:cNvPr id="36" name="Up Arrow 35">
              <a:extLst>
                <a:ext uri="{FF2B5EF4-FFF2-40B4-BE49-F238E27FC236}">
                  <a16:creationId xmlns:a16="http://schemas.microsoft.com/office/drawing/2014/main" id="{F0879347-097A-CF4B-B62B-6EAB93ABA995}"/>
                </a:ext>
              </a:extLst>
            </p:cNvPr>
            <p:cNvSpPr/>
            <p:nvPr/>
          </p:nvSpPr>
          <p:spPr>
            <a:xfrm>
              <a:off x="9980612" y="1267396"/>
              <a:ext cx="156950" cy="322396"/>
            </a:xfrm>
            <a:prstGeom prst="upArrow">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6" name="Title 1">
            <a:extLst>
              <a:ext uri="{FF2B5EF4-FFF2-40B4-BE49-F238E27FC236}">
                <a16:creationId xmlns:a16="http://schemas.microsoft.com/office/drawing/2014/main" id="{50E4DB40-020F-13AF-1116-399F2265801B}"/>
              </a:ext>
            </a:extLst>
          </p:cNvPr>
          <p:cNvSpPr txBox="1">
            <a:spLocks/>
          </p:cNvSpPr>
          <p:nvPr/>
        </p:nvSpPr>
        <p:spPr bwMode="auto">
          <a:xfrm>
            <a:off x="365760" y="411480"/>
            <a:ext cx="11372473"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sz="3200" b="0" dirty="0"/>
              <a:t>New Paradigm Because of Platform Heterogeneity</a:t>
            </a:r>
          </a:p>
        </p:txBody>
      </p:sp>
    </p:spTree>
    <p:extLst>
      <p:ext uri="{BB962C8B-B14F-4D97-AF65-F5344CB8AC3E}">
        <p14:creationId xmlns:p14="http://schemas.microsoft.com/office/powerpoint/2010/main" val="3961863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Tree>
    <p:extLst>
      <p:ext uri="{BB962C8B-B14F-4D97-AF65-F5344CB8AC3E}">
        <p14:creationId xmlns:p14="http://schemas.microsoft.com/office/powerpoint/2010/main" val="37168514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
        <p:nvSpPr>
          <p:cNvPr id="5" name="Rectangle 4">
            <a:extLst>
              <a:ext uri="{FF2B5EF4-FFF2-40B4-BE49-F238E27FC236}">
                <a16:creationId xmlns:a16="http://schemas.microsoft.com/office/drawing/2014/main" id="{3E5C2FF0-973B-B600-067C-C1EA53AFB4FE}"/>
              </a:ext>
            </a:extLst>
          </p:cNvPr>
          <p:cNvSpPr/>
          <p:nvPr/>
        </p:nvSpPr>
        <p:spPr>
          <a:xfrm>
            <a:off x="1614003" y="4788753"/>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holy grail for scientists – write equation and generate code</a:t>
            </a:r>
          </a:p>
        </p:txBody>
      </p:sp>
      <p:sp>
        <p:nvSpPr>
          <p:cNvPr id="6" name="Rectangle 5">
            <a:extLst>
              <a:ext uri="{FF2B5EF4-FFF2-40B4-BE49-F238E27FC236}">
                <a16:creationId xmlns:a16="http://schemas.microsoft.com/office/drawing/2014/main" id="{A28BA85B-9464-EA29-2DC2-27EDB4AE3F06}"/>
              </a:ext>
            </a:extLst>
          </p:cNvPr>
          <p:cNvSpPr/>
          <p:nvPr/>
        </p:nvSpPr>
        <p:spPr>
          <a:xfrm>
            <a:off x="3612970" y="5802774"/>
            <a:ext cx="3997935" cy="438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there another way?</a:t>
            </a:r>
          </a:p>
        </p:txBody>
      </p:sp>
      <p:sp>
        <p:nvSpPr>
          <p:cNvPr id="7" name="Rectangle 6">
            <a:extLst>
              <a:ext uri="{FF2B5EF4-FFF2-40B4-BE49-F238E27FC236}">
                <a16:creationId xmlns:a16="http://schemas.microsoft.com/office/drawing/2014/main" id="{30BA514D-7A50-87B9-9355-EA0D70DED958}"/>
              </a:ext>
            </a:extLst>
          </p:cNvPr>
          <p:cNvSpPr/>
          <p:nvPr/>
        </p:nvSpPr>
        <p:spPr>
          <a:xfrm>
            <a:off x="1614003" y="5215797"/>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Very limited success in some domains</a:t>
            </a:r>
          </a:p>
        </p:txBody>
      </p:sp>
    </p:spTree>
    <p:extLst>
      <p:ext uri="{BB962C8B-B14F-4D97-AF65-F5344CB8AC3E}">
        <p14:creationId xmlns:p14="http://schemas.microsoft.com/office/powerpoint/2010/main" val="1595705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Tree>
    <p:extLst>
      <p:ext uri="{BB962C8B-B14F-4D97-AF65-F5344CB8AC3E}">
        <p14:creationId xmlns:p14="http://schemas.microsoft.com/office/powerpoint/2010/main" val="1611207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Tree>
    <p:extLst>
      <p:ext uri="{BB962C8B-B14F-4D97-AF65-F5344CB8AC3E}">
        <p14:creationId xmlns:p14="http://schemas.microsoft.com/office/powerpoint/2010/main" val="3605204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marL="342900" indent="-342900">
              <a:lnSpc>
                <a:spcPct val="90000"/>
              </a:lnSpc>
              <a:buFont typeface="Arial" panose="020B0604020202020204" pitchFamily="34" charset="0"/>
              <a:buChar char="•"/>
            </a:pPr>
            <a:r>
              <a:rPr lang="en-US" sz="2000" dirty="0">
                <a:solidFill>
                  <a:schemeClr val="bg1"/>
                </a:solidFill>
              </a:rPr>
              <a:t>Figuring out the map</a:t>
            </a:r>
          </a:p>
          <a:p>
            <a:pPr marL="800100" lvl="1" indent="-342900">
              <a:lnSpc>
                <a:spcPct val="90000"/>
              </a:lnSpc>
              <a:buFont typeface="Arial" panose="020B0604020202020204" pitchFamily="34" charset="0"/>
              <a:buChar char="•"/>
            </a:pPr>
            <a:r>
              <a:rPr lang="en-US" sz="2000" dirty="0">
                <a:solidFill>
                  <a:schemeClr val="bg1"/>
                </a:solidFill>
              </a:rPr>
              <a:t>Expression of dependencies </a:t>
            </a:r>
          </a:p>
          <a:p>
            <a:pPr marL="800100" lvl="1" indent="-342900">
              <a:lnSpc>
                <a:spcPct val="90000"/>
              </a:lnSpc>
              <a:buFont typeface="Arial" panose="020B0604020202020204" pitchFamily="34" charset="0"/>
              <a:buChar char="•"/>
            </a:pPr>
            <a:r>
              <a:rPr lang="en-US" sz="2000" dirty="0">
                <a:solidFill>
                  <a:schemeClr val="bg1"/>
                </a:solidFill>
              </a:rPr>
              <a:t>Cost models</a:t>
            </a:r>
          </a:p>
          <a:p>
            <a:pPr marL="342900" indent="-342900">
              <a:lnSpc>
                <a:spcPct val="90000"/>
              </a:lnSpc>
              <a:buFont typeface="Arial" panose="020B0604020202020204" pitchFamily="34" charset="0"/>
              <a:buChar char="•"/>
            </a:pPr>
            <a:r>
              <a:rPr lang="en-US" sz="2000" dirty="0">
                <a:solidFill>
                  <a:schemeClr val="bg1"/>
                </a:solidFill>
              </a:rPr>
              <a:t>Expressing the map</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Tree>
    <p:extLst>
      <p:ext uri="{BB962C8B-B14F-4D97-AF65-F5344CB8AC3E}">
        <p14:creationId xmlns:p14="http://schemas.microsoft.com/office/powerpoint/2010/main" val="1086789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marL="342900" indent="-342900">
              <a:lnSpc>
                <a:spcPct val="90000"/>
              </a:lnSpc>
              <a:buFont typeface="Arial" panose="020B0604020202020204" pitchFamily="34" charset="0"/>
              <a:buChar char="•"/>
            </a:pPr>
            <a:r>
              <a:rPr lang="en-US" sz="2000" dirty="0">
                <a:solidFill>
                  <a:schemeClr val="bg1"/>
                </a:solidFill>
              </a:rPr>
              <a:t>Figuring out the map</a:t>
            </a:r>
          </a:p>
          <a:p>
            <a:pPr marL="800100" lvl="1" indent="-342900">
              <a:lnSpc>
                <a:spcPct val="90000"/>
              </a:lnSpc>
              <a:buFont typeface="Arial" panose="020B0604020202020204" pitchFamily="34" charset="0"/>
              <a:buChar char="•"/>
            </a:pPr>
            <a:r>
              <a:rPr lang="en-US" sz="2000" dirty="0">
                <a:solidFill>
                  <a:schemeClr val="bg1"/>
                </a:solidFill>
              </a:rPr>
              <a:t>Expression of dependencies </a:t>
            </a:r>
          </a:p>
          <a:p>
            <a:pPr marL="800100" lvl="1" indent="-342900">
              <a:lnSpc>
                <a:spcPct val="90000"/>
              </a:lnSpc>
              <a:buFont typeface="Arial" panose="020B0604020202020204" pitchFamily="34" charset="0"/>
              <a:buChar char="•"/>
            </a:pPr>
            <a:r>
              <a:rPr lang="en-US" sz="2000" dirty="0">
                <a:solidFill>
                  <a:schemeClr val="bg1"/>
                </a:solidFill>
              </a:rPr>
              <a:t>Cost models</a:t>
            </a:r>
          </a:p>
          <a:p>
            <a:pPr marL="342900" indent="-342900">
              <a:lnSpc>
                <a:spcPct val="90000"/>
              </a:lnSpc>
              <a:buFont typeface="Arial" panose="020B0604020202020204" pitchFamily="34" charset="0"/>
              <a:buChar char="•"/>
            </a:pPr>
            <a:r>
              <a:rPr lang="en-US" sz="2000" dirty="0">
                <a:solidFill>
                  <a:schemeClr val="bg1"/>
                </a:solidFill>
              </a:rPr>
              <a:t>Expressing the map</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
        <p:nvSpPr>
          <p:cNvPr id="5" name="TextBox 4">
            <a:extLst>
              <a:ext uri="{FF2B5EF4-FFF2-40B4-BE49-F238E27FC236}">
                <a16:creationId xmlns:a16="http://schemas.microsoft.com/office/drawing/2014/main" id="{98DB4760-90FA-132B-409F-E983E94F182F}"/>
              </a:ext>
            </a:extLst>
          </p:cNvPr>
          <p:cNvSpPr txBox="1"/>
          <p:nvPr/>
        </p:nvSpPr>
        <p:spPr>
          <a:xfrm>
            <a:off x="6702931" y="3736302"/>
            <a:ext cx="4584204" cy="1846659"/>
          </a:xfrm>
          <a:prstGeom prst="rect">
            <a:avLst/>
          </a:prstGeom>
          <a:noFill/>
        </p:spPr>
        <p:txBody>
          <a:bodyPr wrap="none" lIns="118872" tIns="91440" rIns="118872" bIns="91440" rtlCol="0" anchor="ctr" anchorCtr="0">
            <a:spAutoFit/>
          </a:bodyPr>
          <a:lstStyle/>
          <a:p>
            <a:pPr algn="l">
              <a:lnSpc>
                <a:spcPct val="90000"/>
              </a:lnSpc>
            </a:pPr>
            <a:r>
              <a:rPr lang="en-US" sz="2400" dirty="0"/>
              <a:t>So, what do we need?</a:t>
            </a:r>
          </a:p>
          <a:p>
            <a:pPr algn="l">
              <a:lnSpc>
                <a:spcPct val="90000"/>
              </a:lnSpc>
            </a:pPr>
            <a:endParaRPr lang="en-US" sz="2400" dirty="0"/>
          </a:p>
          <a:p>
            <a:pPr marL="285750" indent="-285750" algn="l">
              <a:lnSpc>
                <a:spcPct val="90000"/>
              </a:lnSpc>
              <a:buFont typeface="Arial" panose="020B0604020202020204" pitchFamily="34" charset="0"/>
              <a:buChar char="•"/>
            </a:pPr>
            <a:r>
              <a:rPr lang="en-US" sz="2400" dirty="0"/>
              <a:t>Abstractions layers </a:t>
            </a:r>
          </a:p>
          <a:p>
            <a:pPr marL="285750" indent="-285750" algn="l">
              <a:lnSpc>
                <a:spcPct val="90000"/>
              </a:lnSpc>
              <a:buFont typeface="Arial" panose="020B0604020202020204" pitchFamily="34" charset="0"/>
              <a:buChar char="•"/>
            </a:pPr>
            <a:r>
              <a:rPr lang="en-US" sz="2400" dirty="0"/>
              <a:t>Code transformation tools</a:t>
            </a:r>
          </a:p>
          <a:p>
            <a:pPr marL="285750" indent="-285750" algn="l">
              <a:lnSpc>
                <a:spcPct val="90000"/>
              </a:lnSpc>
              <a:buFont typeface="Arial" panose="020B0604020202020204" pitchFamily="34" charset="0"/>
              <a:buChar char="•"/>
            </a:pPr>
            <a:r>
              <a:rPr lang="en-US" sz="2400" dirty="0"/>
              <a:t>Data movement orchestrators</a:t>
            </a:r>
          </a:p>
        </p:txBody>
      </p:sp>
    </p:spTree>
    <p:extLst>
      <p:ext uri="{BB962C8B-B14F-4D97-AF65-F5344CB8AC3E}">
        <p14:creationId xmlns:p14="http://schemas.microsoft.com/office/powerpoint/2010/main" val="857536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FD111B62-9139-BD45-973A-64F08EA0ADA8}"/>
              </a:ext>
            </a:extLst>
          </p:cNvPr>
          <p:cNvSpPr/>
          <p:nvPr/>
        </p:nvSpPr>
        <p:spPr>
          <a:xfrm>
            <a:off x="743983" y="1609343"/>
            <a:ext cx="10700856" cy="2133601"/>
          </a:xfrm>
          <a:prstGeom prst="roundRect">
            <a:avLst/>
          </a:prstGeom>
          <a:solidFill>
            <a:schemeClr val="accent4">
              <a:lumMod val="60000"/>
              <a:lumOff val="40000"/>
            </a:schemeClr>
          </a:solidFill>
          <a:ln>
            <a:solidFill>
              <a:schemeClr val="accent1">
                <a:lumMod val="50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endParaRPr lang="en-US" sz="2000" b="1" dirty="0"/>
          </a:p>
          <a:p>
            <a:r>
              <a:rPr lang="en-US" b="1" dirty="0">
                <a:solidFill>
                  <a:schemeClr val="accent1">
                    <a:lumMod val="50000"/>
                  </a:schemeClr>
                </a:solidFill>
              </a:rPr>
              <a:t>Same algorithm different data layouts or operation sequence:</a:t>
            </a:r>
            <a:endParaRPr lang="en-US" b="1" dirty="0"/>
          </a:p>
          <a:p>
            <a:pPr marL="742950" lvl="1" indent="-285750">
              <a:buFont typeface="Arial" panose="020B0604020202020204" pitchFamily="34" charset="0"/>
              <a:buChar char="•"/>
            </a:pPr>
            <a:r>
              <a:rPr lang="en-US" dirty="0"/>
              <a:t>A way to let compiler know that ”this” expression can be specialized in many ways</a:t>
            </a:r>
          </a:p>
          <a:p>
            <a:pPr marL="742950" lvl="1" indent="-285750">
              <a:buFont typeface="Arial" panose="020B0604020202020204" pitchFamily="34" charset="0"/>
              <a:buChar char="•"/>
            </a:pPr>
            <a:r>
              <a:rPr lang="en-US" dirty="0"/>
              <a:t>Definition of specializations</a:t>
            </a:r>
          </a:p>
          <a:p>
            <a:pPr marL="742950" lvl="1" indent="-285750">
              <a:buFont typeface="Arial" panose="020B0604020202020204" pitchFamily="34" charset="0"/>
              <a:buChar char="•"/>
            </a:pPr>
            <a:r>
              <a:rPr lang="en-US" dirty="0"/>
              <a:t>Often done with template meta-programming</a:t>
            </a:r>
          </a:p>
          <a:p>
            <a:pPr marL="742950" lvl="1" indent="-285750">
              <a:buFont typeface="Arial" panose="020B0604020202020204" pitchFamily="34" charset="0"/>
              <a:buChar char="•"/>
            </a:pPr>
            <a:endParaRPr lang="en-US" dirty="0"/>
          </a:p>
        </p:txBody>
      </p:sp>
      <p:sp>
        <p:nvSpPr>
          <p:cNvPr id="11" name="Title 1">
            <a:extLst>
              <a:ext uri="{FF2B5EF4-FFF2-40B4-BE49-F238E27FC236}">
                <a16:creationId xmlns:a16="http://schemas.microsoft.com/office/drawing/2014/main" id="{2E8D93B1-0986-1B42-AE45-B531323D1290}"/>
              </a:ext>
            </a:extLst>
          </p:cNvPr>
          <p:cNvSpPr>
            <a:spLocks noGrp="1"/>
          </p:cNvSpPr>
          <p:nvPr>
            <p:ph type="title"/>
          </p:nvPr>
        </p:nvSpPr>
        <p:spPr>
          <a:xfrm>
            <a:off x="408175" y="229403"/>
            <a:ext cx="11372473" cy="914400"/>
          </a:xfrm>
        </p:spPr>
        <p:txBody>
          <a:bodyPr/>
          <a:lstStyle/>
          <a:p>
            <a:r>
              <a:rPr lang="en-US" dirty="0"/>
              <a:t>Underlying Ideas: Unification of Computational Expressions</a:t>
            </a:r>
          </a:p>
        </p:txBody>
      </p:sp>
      <p:sp>
        <p:nvSpPr>
          <p:cNvPr id="3" name="Rounded Rectangle 2">
            <a:extLst>
              <a:ext uri="{FF2B5EF4-FFF2-40B4-BE49-F238E27FC236}">
                <a16:creationId xmlns:a16="http://schemas.microsoft.com/office/drawing/2014/main" id="{FA5AC1FE-958A-777B-BE12-70917764B9EB}"/>
              </a:ext>
            </a:extLst>
          </p:cNvPr>
          <p:cNvSpPr/>
          <p:nvPr/>
        </p:nvSpPr>
        <p:spPr>
          <a:xfrm>
            <a:off x="743984" y="4059935"/>
            <a:ext cx="10700856" cy="1450849"/>
          </a:xfrm>
          <a:prstGeom prst="roundRect">
            <a:avLst/>
          </a:prstGeom>
          <a:solidFill>
            <a:schemeClr val="accent4">
              <a:lumMod val="40000"/>
              <a:lumOff val="60000"/>
            </a:schemeClr>
          </a:solidFill>
          <a:ln>
            <a:solidFill>
              <a:schemeClr val="accent1">
                <a:lumMod val="50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742950" lvl="1" indent="-285750">
              <a:buFont typeface="Arial" panose="020B0604020202020204" pitchFamily="34" charset="0"/>
              <a:buChar char="•"/>
            </a:pPr>
            <a:endParaRPr lang="en-US" dirty="0"/>
          </a:p>
          <a:p>
            <a:r>
              <a:rPr lang="en-US" b="1" dirty="0">
                <a:solidFill>
                  <a:schemeClr val="accent1">
                    <a:lumMod val="50000"/>
                  </a:schemeClr>
                </a:solidFill>
              </a:rPr>
              <a:t>More challenging if algorithms need to be fundamentally different</a:t>
            </a:r>
          </a:p>
          <a:p>
            <a:pPr marL="742950" lvl="1" indent="-285750">
              <a:buFont typeface="Arial" panose="020B0604020202020204" pitchFamily="34" charset="0"/>
              <a:buChar char="•"/>
            </a:pPr>
            <a:r>
              <a:rPr lang="en-US" dirty="0"/>
              <a:t>Support for alternatives</a:t>
            </a:r>
          </a:p>
        </p:txBody>
      </p:sp>
      <p:sp>
        <p:nvSpPr>
          <p:cNvPr id="4" name="TextBox 3">
            <a:extLst>
              <a:ext uri="{FF2B5EF4-FFF2-40B4-BE49-F238E27FC236}">
                <a16:creationId xmlns:a16="http://schemas.microsoft.com/office/drawing/2014/main" id="{4AD94BBA-B419-381E-1B10-23CBCA34DE94}"/>
              </a:ext>
            </a:extLst>
          </p:cNvPr>
          <p:cNvSpPr txBox="1"/>
          <p:nvPr/>
        </p:nvSpPr>
        <p:spPr>
          <a:xfrm>
            <a:off x="2928562" y="977350"/>
            <a:ext cx="5331203" cy="683264"/>
          </a:xfrm>
          <a:prstGeom prst="rect">
            <a:avLst/>
          </a:prstGeom>
          <a:noFill/>
        </p:spPr>
        <p:txBody>
          <a:bodyPr wrap="none" lIns="118872" tIns="91440" rIns="118872" bIns="91440" rtlCol="0" anchor="ctr" anchorCtr="0">
            <a:spAutoFit/>
          </a:bodyPr>
          <a:lstStyle/>
          <a:p>
            <a:pPr>
              <a:lnSpc>
                <a:spcPct val="90000"/>
              </a:lnSpc>
            </a:pPr>
            <a:r>
              <a:rPr lang="en-US" b="1" dirty="0"/>
              <a:t>Make the same code work on different devices</a:t>
            </a:r>
          </a:p>
          <a:p>
            <a:pPr algn="l">
              <a:lnSpc>
                <a:spcPct val="90000"/>
              </a:lnSpc>
            </a:pPr>
            <a:endParaRPr lang="en-US" dirty="0"/>
          </a:p>
        </p:txBody>
      </p:sp>
    </p:spTree>
    <p:extLst>
      <p:ext uri="{BB962C8B-B14F-4D97-AF65-F5344CB8AC3E}">
        <p14:creationId xmlns:p14="http://schemas.microsoft.com/office/powerpoint/2010/main" val="1153049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E8D93B1-0986-1B42-AE45-B531323D1290}"/>
              </a:ext>
            </a:extLst>
          </p:cNvPr>
          <p:cNvSpPr>
            <a:spLocks noGrp="1"/>
          </p:cNvSpPr>
          <p:nvPr>
            <p:ph type="title"/>
          </p:nvPr>
        </p:nvSpPr>
        <p:spPr>
          <a:xfrm>
            <a:off x="408175" y="229403"/>
            <a:ext cx="11372473" cy="914400"/>
          </a:xfrm>
        </p:spPr>
        <p:txBody>
          <a:bodyPr/>
          <a:lstStyle/>
          <a:p>
            <a:r>
              <a:rPr lang="en-US" dirty="0"/>
              <a:t>Underlying Ideas: Moving Work and Data to the Target</a:t>
            </a:r>
          </a:p>
        </p:txBody>
      </p:sp>
      <p:sp>
        <p:nvSpPr>
          <p:cNvPr id="3" name="Rounded Rectangle 2">
            <a:extLst>
              <a:ext uri="{FF2B5EF4-FFF2-40B4-BE49-F238E27FC236}">
                <a16:creationId xmlns:a16="http://schemas.microsoft.com/office/drawing/2014/main" id="{FA5AC1FE-958A-777B-BE12-70917764B9EB}"/>
              </a:ext>
            </a:extLst>
          </p:cNvPr>
          <p:cNvSpPr/>
          <p:nvPr/>
        </p:nvSpPr>
        <p:spPr>
          <a:xfrm>
            <a:off x="597680" y="1660614"/>
            <a:ext cx="10700856" cy="1450849"/>
          </a:xfrm>
          <a:prstGeom prst="roundRect">
            <a:avLst/>
          </a:prstGeom>
          <a:solidFill>
            <a:srgbClr val="A952EE">
              <a:alpha val="62966"/>
            </a:srgbClr>
          </a:solidFill>
          <a:ln>
            <a:solidFill>
              <a:schemeClr val="accent1">
                <a:lumMod val="50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742950" lvl="1" indent="-285750">
              <a:buFont typeface="Arial" panose="020B0604020202020204" pitchFamily="34" charset="0"/>
              <a:buChar char="•"/>
            </a:pPr>
            <a:endParaRPr lang="en-US" dirty="0"/>
          </a:p>
          <a:p>
            <a:r>
              <a:rPr lang="en-US" sz="2000" b="1" dirty="0"/>
              <a:t>Hierarchy in domain decomposition</a:t>
            </a:r>
          </a:p>
          <a:p>
            <a:endParaRPr lang="en-US" b="1" dirty="0">
              <a:solidFill>
                <a:schemeClr val="accent1">
                  <a:lumMod val="50000"/>
                </a:schemeClr>
              </a:solidFill>
            </a:endParaRPr>
          </a:p>
          <a:p>
            <a:pPr marL="742950" lvl="1" indent="-285750">
              <a:buFont typeface="Arial" panose="020B0604020202020204" pitchFamily="34" charset="0"/>
              <a:buChar char="•"/>
            </a:pPr>
            <a:r>
              <a:rPr lang="en-US" dirty="0"/>
              <a:t>Distributed memory model at node level – still very prevalent, likely to remain so for a while</a:t>
            </a:r>
          </a:p>
          <a:p>
            <a:pPr marL="742950" lvl="1" indent="-285750">
              <a:buFont typeface="Arial" panose="020B0604020202020204" pitchFamily="34" charset="0"/>
              <a:buChar char="•"/>
            </a:pPr>
            <a:r>
              <a:rPr lang="en-US" dirty="0"/>
              <a:t>Also done with PGAS models – shared with locality being important</a:t>
            </a:r>
          </a:p>
          <a:p>
            <a:pPr marL="742950" lvl="1"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4AD94BBA-B419-381E-1B10-23CBCA34DE94}"/>
              </a:ext>
            </a:extLst>
          </p:cNvPr>
          <p:cNvSpPr txBox="1"/>
          <p:nvPr/>
        </p:nvSpPr>
        <p:spPr>
          <a:xfrm>
            <a:off x="2928562" y="977350"/>
            <a:ext cx="2650982" cy="683264"/>
          </a:xfrm>
          <a:prstGeom prst="rect">
            <a:avLst/>
          </a:prstGeom>
          <a:noFill/>
        </p:spPr>
        <p:txBody>
          <a:bodyPr wrap="none" lIns="118872" tIns="91440" rIns="118872" bIns="91440" rtlCol="0" anchor="ctr" anchorCtr="0">
            <a:spAutoFit/>
          </a:bodyPr>
          <a:lstStyle/>
          <a:p>
            <a:pPr>
              <a:lnSpc>
                <a:spcPct val="90000"/>
              </a:lnSpc>
            </a:pPr>
            <a:r>
              <a:rPr lang="en-US" b="1" dirty="0"/>
              <a:t>Parallelization Models</a:t>
            </a:r>
          </a:p>
          <a:p>
            <a:pPr algn="l">
              <a:lnSpc>
                <a:spcPct val="90000"/>
              </a:lnSpc>
            </a:pPr>
            <a:endParaRPr lang="en-US" dirty="0"/>
          </a:p>
        </p:txBody>
      </p:sp>
      <p:sp>
        <p:nvSpPr>
          <p:cNvPr id="2" name="Rounded Rectangle 1">
            <a:extLst>
              <a:ext uri="{FF2B5EF4-FFF2-40B4-BE49-F238E27FC236}">
                <a16:creationId xmlns:a16="http://schemas.microsoft.com/office/drawing/2014/main" id="{AF718C10-22F9-DE1F-1A8C-F236C60F9659}"/>
              </a:ext>
            </a:extLst>
          </p:cNvPr>
          <p:cNvSpPr/>
          <p:nvPr/>
        </p:nvSpPr>
        <p:spPr>
          <a:xfrm>
            <a:off x="597680" y="3257480"/>
            <a:ext cx="10700856" cy="2623170"/>
          </a:xfrm>
          <a:prstGeom prst="roundRect">
            <a:avLst/>
          </a:prstGeom>
          <a:solidFill>
            <a:srgbClr val="EEC8FA"/>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r>
              <a:rPr lang="en-US" sz="2000" b="1" dirty="0"/>
              <a:t>Assigning work within the node</a:t>
            </a:r>
          </a:p>
          <a:p>
            <a:endParaRPr lang="en-US" sz="2000" b="1" dirty="0"/>
          </a:p>
          <a:p>
            <a:pPr marL="285750" indent="-285750">
              <a:buFont typeface="Arial" panose="020B0604020202020204" pitchFamily="34" charset="0"/>
              <a:buChar char="•"/>
            </a:pPr>
            <a:r>
              <a:rPr lang="en-US" dirty="0"/>
              <a:t>“Parallel For” or directives with  unified memory</a:t>
            </a:r>
          </a:p>
          <a:p>
            <a:pPr marL="285750" indent="-285750">
              <a:buFont typeface="Arial" panose="020B0604020202020204" pitchFamily="34" charset="0"/>
              <a:buChar char="•"/>
            </a:pPr>
            <a:r>
              <a:rPr lang="en-US" dirty="0"/>
              <a:t>Directives or specific programming model for explicit data movement</a:t>
            </a:r>
          </a:p>
          <a:p>
            <a:endParaRPr lang="en-US" b="1" dirty="0">
              <a:solidFill>
                <a:schemeClr val="accent1">
                  <a:lumMod val="50000"/>
                </a:schemeClr>
              </a:solidFill>
            </a:endParaRPr>
          </a:p>
          <a:p>
            <a:r>
              <a:rPr lang="en-US" b="1" dirty="0">
                <a:solidFill>
                  <a:schemeClr val="accent1">
                    <a:lumMod val="50000"/>
                  </a:schemeClr>
                </a:solidFill>
              </a:rPr>
              <a:t>More complex data orchestration system for asynchronous computation</a:t>
            </a:r>
          </a:p>
          <a:p>
            <a:endParaRPr lang="en-US" b="1" dirty="0">
              <a:solidFill>
                <a:schemeClr val="accent1">
                  <a:lumMod val="50000"/>
                </a:schemeClr>
              </a:solidFill>
            </a:endParaRPr>
          </a:p>
          <a:p>
            <a:pPr marL="285750" indent="-285750">
              <a:buFont typeface="Arial" panose="020B0604020202020204" pitchFamily="34" charset="0"/>
              <a:buChar char="•"/>
            </a:pPr>
            <a:r>
              <a:rPr lang="en-US" dirty="0"/>
              <a:t>Task based work distribution</a:t>
            </a:r>
          </a:p>
        </p:txBody>
      </p:sp>
    </p:spTree>
    <p:extLst>
      <p:ext uri="{BB962C8B-B14F-4D97-AF65-F5344CB8AC3E}">
        <p14:creationId xmlns:p14="http://schemas.microsoft.com/office/powerpoint/2010/main" val="4258885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E8D93B1-0986-1B42-AE45-B531323D1290}"/>
              </a:ext>
            </a:extLst>
          </p:cNvPr>
          <p:cNvSpPr>
            <a:spLocks noGrp="1"/>
          </p:cNvSpPr>
          <p:nvPr>
            <p:ph type="title"/>
          </p:nvPr>
        </p:nvSpPr>
        <p:spPr>
          <a:xfrm>
            <a:off x="408175" y="229403"/>
            <a:ext cx="11372473" cy="914400"/>
          </a:xfrm>
        </p:spPr>
        <p:txBody>
          <a:bodyPr/>
          <a:lstStyle/>
          <a:p>
            <a:r>
              <a:rPr lang="en-US" dirty="0"/>
              <a:t>Underlying Ideas: Mapping Work to Targets</a:t>
            </a:r>
          </a:p>
        </p:txBody>
      </p:sp>
      <p:sp>
        <p:nvSpPr>
          <p:cNvPr id="2" name="Rounded Rectangle 1">
            <a:extLst>
              <a:ext uri="{FF2B5EF4-FFF2-40B4-BE49-F238E27FC236}">
                <a16:creationId xmlns:a16="http://schemas.microsoft.com/office/drawing/2014/main" id="{AF718C10-22F9-DE1F-1A8C-F236C60F9659}"/>
              </a:ext>
            </a:extLst>
          </p:cNvPr>
          <p:cNvSpPr/>
          <p:nvPr/>
        </p:nvSpPr>
        <p:spPr>
          <a:xfrm>
            <a:off x="579392" y="959137"/>
            <a:ext cx="10700856" cy="3320919"/>
          </a:xfrm>
          <a:prstGeom prst="roundRect">
            <a:avLst/>
          </a:prstGeom>
          <a:solidFill>
            <a:srgbClr val="0070C0">
              <a:alpha val="42147"/>
            </a:srgb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r>
              <a:rPr lang="en-US" sz="2000" b="1" dirty="0"/>
              <a:t>This is how many abstraction layers work</a:t>
            </a:r>
          </a:p>
          <a:p>
            <a:endParaRPr lang="en-US" sz="2000" dirty="0"/>
          </a:p>
          <a:p>
            <a:pPr marL="342900" indent="-342900">
              <a:buFont typeface="Arial" panose="020B0604020202020204" pitchFamily="34" charset="0"/>
              <a:buChar char="•"/>
            </a:pPr>
            <a:r>
              <a:rPr lang="en-US" sz="2000" dirty="0"/>
              <a:t>Infer the structure of the code</a:t>
            </a:r>
          </a:p>
          <a:p>
            <a:pPr marL="342900" indent="-342900">
              <a:buFont typeface="Arial" panose="020B0604020202020204" pitchFamily="34" charset="0"/>
              <a:buChar char="•"/>
            </a:pPr>
            <a:r>
              <a:rPr lang="en-US" sz="2000" dirty="0"/>
              <a:t>Infer the map between algorithms and devices</a:t>
            </a:r>
          </a:p>
          <a:p>
            <a:pPr marL="342900" indent="-342900">
              <a:buFont typeface="Arial" panose="020B0604020202020204" pitchFamily="34" charset="0"/>
              <a:buChar char="•"/>
            </a:pPr>
            <a:r>
              <a:rPr lang="en-US" sz="2000" dirty="0"/>
              <a:t>Infer the data movements</a:t>
            </a:r>
          </a:p>
          <a:p>
            <a:pPr marL="342900" indent="-342900">
              <a:buFont typeface="Arial" panose="020B0604020202020204" pitchFamily="34" charset="0"/>
              <a:buChar char="•"/>
            </a:pPr>
            <a:r>
              <a:rPr lang="en-US" sz="2000" dirty="0"/>
              <a:t>Map computations to devices</a:t>
            </a:r>
          </a:p>
          <a:p>
            <a:pPr marL="342900" indent="-342900">
              <a:buFont typeface="Arial" panose="020B0604020202020204" pitchFamily="34" charset="0"/>
              <a:buChar char="•"/>
            </a:pPr>
            <a:r>
              <a:rPr lang="en-US" sz="2000" dirty="0"/>
              <a:t>These are specified either through constructs or pragmas</a:t>
            </a:r>
          </a:p>
          <a:p>
            <a:endParaRPr lang="en-US" sz="2000" dirty="0"/>
          </a:p>
        </p:txBody>
      </p:sp>
      <p:sp>
        <p:nvSpPr>
          <p:cNvPr id="6" name="Rectangle 5">
            <a:extLst>
              <a:ext uri="{FF2B5EF4-FFF2-40B4-BE49-F238E27FC236}">
                <a16:creationId xmlns:a16="http://schemas.microsoft.com/office/drawing/2014/main" id="{56994EF6-4771-DB83-B9DD-4A338ABCF8E4}"/>
              </a:ext>
            </a:extLst>
          </p:cNvPr>
          <p:cNvSpPr/>
          <p:nvPr/>
        </p:nvSpPr>
        <p:spPr>
          <a:xfrm>
            <a:off x="2434780" y="4609699"/>
            <a:ext cx="6092825" cy="369332"/>
          </a:xfrm>
          <a:prstGeom prst="rect">
            <a:avLst/>
          </a:prstGeom>
        </p:spPr>
        <p:txBody>
          <a:bodyPr>
            <a:spAutoFit/>
          </a:bodyPr>
          <a:lstStyle/>
          <a:p>
            <a:r>
              <a:rPr lang="en-US" b="1" dirty="0">
                <a:solidFill>
                  <a:schemeClr val="accent4">
                    <a:lumMod val="50000"/>
                  </a:schemeClr>
                </a:solidFill>
              </a:rPr>
              <a:t>.</a:t>
            </a:r>
          </a:p>
        </p:txBody>
      </p:sp>
      <p:sp>
        <p:nvSpPr>
          <p:cNvPr id="7" name="Rounded Rectangle 6">
            <a:extLst>
              <a:ext uri="{FF2B5EF4-FFF2-40B4-BE49-F238E27FC236}">
                <a16:creationId xmlns:a16="http://schemas.microsoft.com/office/drawing/2014/main" id="{50957D32-6340-7CCA-E204-70855E162224}"/>
              </a:ext>
            </a:extLst>
          </p:cNvPr>
          <p:cNvSpPr/>
          <p:nvPr/>
        </p:nvSpPr>
        <p:spPr>
          <a:xfrm>
            <a:off x="579392" y="4609699"/>
            <a:ext cx="10700856" cy="1035198"/>
          </a:xfrm>
          <a:prstGeom prst="roundRect">
            <a:avLst/>
          </a:prstGeom>
          <a:solidFill>
            <a:srgbClr val="00B0F0">
              <a:alpha val="42147"/>
            </a:srgb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r>
              <a:rPr lang="en-US" sz="2000" b="1" dirty="0"/>
              <a:t>It can also be the end user who figures out the mapping</a:t>
            </a:r>
          </a:p>
          <a:p>
            <a:r>
              <a:rPr lang="en-US" sz="2000" b="1" dirty="0"/>
              <a:t>In either case performance depends upon how well the mapping is done</a:t>
            </a:r>
            <a:r>
              <a:rPr lang="en-US" sz="2000" dirty="0"/>
              <a:t> </a:t>
            </a:r>
          </a:p>
          <a:p>
            <a:r>
              <a:rPr lang="en-US" sz="2000" b="1" dirty="0"/>
              <a:t> </a:t>
            </a:r>
          </a:p>
        </p:txBody>
      </p:sp>
    </p:spTree>
    <p:extLst>
      <p:ext uri="{BB962C8B-B14F-4D97-AF65-F5344CB8AC3E}">
        <p14:creationId xmlns:p14="http://schemas.microsoft.com/office/powerpoint/2010/main" val="15835683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
        <p:nvSpPr>
          <p:cNvPr id="5" name="Rectangle 4">
            <a:extLst>
              <a:ext uri="{FF2B5EF4-FFF2-40B4-BE49-F238E27FC236}">
                <a16:creationId xmlns:a16="http://schemas.microsoft.com/office/drawing/2014/main" id="{3E5C2FF0-973B-B600-067C-C1EA53AFB4FE}"/>
              </a:ext>
            </a:extLst>
          </p:cNvPr>
          <p:cNvSpPr/>
          <p:nvPr/>
        </p:nvSpPr>
        <p:spPr>
          <a:xfrm>
            <a:off x="1614003" y="4788753"/>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holy grail for scientists – write equation and generate code</a:t>
            </a:r>
          </a:p>
        </p:txBody>
      </p:sp>
      <p:sp>
        <p:nvSpPr>
          <p:cNvPr id="6" name="Rectangle 5">
            <a:extLst>
              <a:ext uri="{FF2B5EF4-FFF2-40B4-BE49-F238E27FC236}">
                <a16:creationId xmlns:a16="http://schemas.microsoft.com/office/drawing/2014/main" id="{A28BA85B-9464-EA29-2DC2-27EDB4AE3F06}"/>
              </a:ext>
            </a:extLst>
          </p:cNvPr>
          <p:cNvSpPr/>
          <p:nvPr/>
        </p:nvSpPr>
        <p:spPr>
          <a:xfrm>
            <a:off x="3612970" y="5802774"/>
            <a:ext cx="3997935" cy="438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there another way?</a:t>
            </a:r>
          </a:p>
        </p:txBody>
      </p:sp>
      <p:sp>
        <p:nvSpPr>
          <p:cNvPr id="7" name="Rectangle 6">
            <a:extLst>
              <a:ext uri="{FF2B5EF4-FFF2-40B4-BE49-F238E27FC236}">
                <a16:creationId xmlns:a16="http://schemas.microsoft.com/office/drawing/2014/main" id="{30BA514D-7A50-87B9-9355-EA0D70DED958}"/>
              </a:ext>
            </a:extLst>
          </p:cNvPr>
          <p:cNvSpPr/>
          <p:nvPr/>
        </p:nvSpPr>
        <p:spPr>
          <a:xfrm>
            <a:off x="1614003" y="5215797"/>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Very limited success in some domains</a:t>
            </a:r>
          </a:p>
        </p:txBody>
      </p:sp>
      <p:sp>
        <p:nvSpPr>
          <p:cNvPr id="8" name="Rectangle 7">
            <a:extLst>
              <a:ext uri="{FF2B5EF4-FFF2-40B4-BE49-F238E27FC236}">
                <a16:creationId xmlns:a16="http://schemas.microsoft.com/office/drawing/2014/main" id="{8F69E808-06F7-8E0A-B7F1-0CC2F3F5FD78}"/>
              </a:ext>
            </a:extLst>
          </p:cNvPr>
          <p:cNvSpPr/>
          <p:nvPr/>
        </p:nvSpPr>
        <p:spPr>
          <a:xfrm>
            <a:off x="2136853" y="1577037"/>
            <a:ext cx="6353171" cy="268535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199" b="1" dirty="0"/>
              <a:t>We have been developing one for Flash-X – started under ECP and TEAMS, continuing with RAPIDS and ENAF</a:t>
            </a:r>
          </a:p>
        </p:txBody>
      </p:sp>
    </p:spTree>
    <p:extLst>
      <p:ext uri="{BB962C8B-B14F-4D97-AF65-F5344CB8AC3E}">
        <p14:creationId xmlns:p14="http://schemas.microsoft.com/office/powerpoint/2010/main" val="2315916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 Example Flash-X</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a:lnSpc>
                <a:spcPct val="90000"/>
              </a:lnSpc>
            </a:pPr>
            <a:endParaRPr lang="en-US" sz="2400" dirty="0">
              <a:solidFill>
                <a:schemeClr val="bg1"/>
              </a:solidFill>
            </a:endParaRPr>
          </a:p>
          <a:p>
            <a:pPr algn="ctr">
              <a:lnSpc>
                <a:spcPct val="90000"/>
              </a:lnSpc>
            </a:pPr>
            <a:r>
              <a:rPr lang="en-US" sz="2400" dirty="0">
                <a:solidFill>
                  <a:schemeClr val="bg1"/>
                </a:solidFill>
              </a:rPr>
              <a:t>   Macros with inheritance </a:t>
            </a:r>
          </a:p>
        </p:txBody>
      </p:sp>
    </p:spTree>
    <p:extLst>
      <p:ext uri="{BB962C8B-B14F-4D97-AF65-F5344CB8AC3E}">
        <p14:creationId xmlns:p14="http://schemas.microsoft.com/office/powerpoint/2010/main" val="10984861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 Example Flash-X</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endParaRPr lang="en-US" sz="2400" dirty="0">
              <a:solidFill>
                <a:schemeClr val="bg1"/>
              </a:solidFill>
            </a:endParaRPr>
          </a:p>
          <a:p>
            <a:pPr algn="ctr">
              <a:lnSpc>
                <a:spcPct val="90000"/>
              </a:lnSpc>
            </a:pPr>
            <a:r>
              <a:rPr lang="en-US" sz="2400" dirty="0">
                <a:solidFill>
                  <a:schemeClr val="bg1"/>
                </a:solidFill>
              </a:rPr>
              <a:t>    Domain specific runtime</a:t>
            </a:r>
            <a:endParaRPr lang="en-US" sz="2000" dirty="0">
              <a:solidFill>
                <a:schemeClr val="bg1"/>
              </a:solidFill>
            </a:endParaRP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a:lnSpc>
                <a:spcPct val="90000"/>
              </a:lnSpc>
            </a:pPr>
            <a:endParaRPr lang="en-US" sz="2400" dirty="0">
              <a:solidFill>
                <a:schemeClr val="bg1"/>
              </a:solidFill>
            </a:endParaRPr>
          </a:p>
          <a:p>
            <a:pPr algn="ctr">
              <a:lnSpc>
                <a:spcPct val="90000"/>
              </a:lnSpc>
            </a:pPr>
            <a:r>
              <a:rPr lang="en-US" sz="2400" dirty="0">
                <a:solidFill>
                  <a:schemeClr val="bg1"/>
                </a:solidFill>
              </a:rPr>
              <a:t>   Macros with inheritance </a:t>
            </a:r>
          </a:p>
        </p:txBody>
      </p:sp>
    </p:spTree>
    <p:extLst>
      <p:ext uri="{BB962C8B-B14F-4D97-AF65-F5344CB8AC3E}">
        <p14:creationId xmlns:p14="http://schemas.microsoft.com/office/powerpoint/2010/main" val="3916990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 Example Flash-X</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a:lnSpc>
                <a:spcPct val="90000"/>
              </a:lnSpc>
            </a:pPr>
            <a:endParaRPr lang="en-US" sz="2400" dirty="0">
              <a:solidFill>
                <a:schemeClr val="bg1"/>
              </a:solidFill>
            </a:endParaRPr>
          </a:p>
          <a:p>
            <a:pPr algn="ctr">
              <a:lnSpc>
                <a:spcPct val="90000"/>
              </a:lnSpc>
            </a:pPr>
            <a:r>
              <a:rPr lang="en-US" sz="2400" dirty="0">
                <a:solidFill>
                  <a:schemeClr val="bg1"/>
                </a:solidFill>
              </a:rPr>
              <a:t>DSL for recipes with code generator</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endParaRPr lang="en-US" sz="2400" dirty="0">
              <a:solidFill>
                <a:schemeClr val="bg1"/>
              </a:solidFill>
            </a:endParaRPr>
          </a:p>
          <a:p>
            <a:pPr algn="ctr">
              <a:lnSpc>
                <a:spcPct val="90000"/>
              </a:lnSpc>
            </a:pPr>
            <a:r>
              <a:rPr lang="en-US" sz="2400" dirty="0">
                <a:solidFill>
                  <a:schemeClr val="bg1"/>
                </a:solidFill>
              </a:rPr>
              <a:t>    Domain specific runtime</a:t>
            </a:r>
            <a:endParaRPr lang="en-US" sz="2000" dirty="0">
              <a:solidFill>
                <a:schemeClr val="bg1"/>
              </a:solidFill>
            </a:endParaRP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a:lnSpc>
                <a:spcPct val="90000"/>
              </a:lnSpc>
            </a:pPr>
            <a:endParaRPr lang="en-US" sz="2400" dirty="0">
              <a:solidFill>
                <a:schemeClr val="bg1"/>
              </a:solidFill>
            </a:endParaRPr>
          </a:p>
          <a:p>
            <a:pPr algn="ctr">
              <a:lnSpc>
                <a:spcPct val="90000"/>
              </a:lnSpc>
            </a:pPr>
            <a:r>
              <a:rPr lang="en-US" sz="2400" dirty="0">
                <a:solidFill>
                  <a:schemeClr val="bg1"/>
                </a:solidFill>
              </a:rPr>
              <a:t>   Macros with inheritance </a:t>
            </a:r>
          </a:p>
        </p:txBody>
      </p:sp>
    </p:spTree>
    <p:extLst>
      <p:ext uri="{BB962C8B-B14F-4D97-AF65-F5344CB8AC3E}">
        <p14:creationId xmlns:p14="http://schemas.microsoft.com/office/powerpoint/2010/main" val="3533314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 Example Flash-X</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a:lnSpc>
                <a:spcPct val="90000"/>
              </a:lnSpc>
            </a:pPr>
            <a:endParaRPr lang="en-US" sz="2400" dirty="0">
              <a:solidFill>
                <a:schemeClr val="bg1"/>
              </a:solidFill>
            </a:endParaRPr>
          </a:p>
          <a:p>
            <a:pPr algn="ctr">
              <a:lnSpc>
                <a:spcPct val="90000"/>
              </a:lnSpc>
            </a:pPr>
            <a:r>
              <a:rPr lang="en-US" sz="2400" dirty="0">
                <a:solidFill>
                  <a:schemeClr val="bg1"/>
                </a:solidFill>
              </a:rPr>
              <a:t>DSL for recipes with code generator</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endParaRPr lang="en-US" sz="2400" dirty="0">
              <a:solidFill>
                <a:schemeClr val="bg1"/>
              </a:solidFill>
            </a:endParaRPr>
          </a:p>
          <a:p>
            <a:pPr algn="ctr">
              <a:lnSpc>
                <a:spcPct val="90000"/>
              </a:lnSpc>
            </a:pPr>
            <a:r>
              <a:rPr lang="en-US" sz="2400" dirty="0">
                <a:solidFill>
                  <a:schemeClr val="bg1"/>
                </a:solidFill>
              </a:rPr>
              <a:t>    Domain specific runtime</a:t>
            </a:r>
            <a:endParaRPr lang="en-US" sz="2000" dirty="0">
              <a:solidFill>
                <a:schemeClr val="bg1"/>
              </a:solidFill>
            </a:endParaRP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a:lnSpc>
                <a:spcPct val="90000"/>
              </a:lnSpc>
            </a:pPr>
            <a:endParaRPr lang="en-US" sz="2400" dirty="0">
              <a:solidFill>
                <a:schemeClr val="bg1"/>
              </a:solidFill>
            </a:endParaRPr>
          </a:p>
          <a:p>
            <a:pPr algn="ctr">
              <a:lnSpc>
                <a:spcPct val="90000"/>
              </a:lnSpc>
            </a:pPr>
            <a:r>
              <a:rPr lang="en-US" sz="2400" dirty="0">
                <a:solidFill>
                  <a:schemeClr val="bg1"/>
                </a:solidFill>
              </a:rPr>
              <a:t>   Macros with inheritance </a:t>
            </a:r>
          </a:p>
        </p:txBody>
      </p:sp>
      <p:sp>
        <p:nvSpPr>
          <p:cNvPr id="5" name="Rounded Rectangle 4">
            <a:extLst>
              <a:ext uri="{FF2B5EF4-FFF2-40B4-BE49-F238E27FC236}">
                <a16:creationId xmlns:a16="http://schemas.microsoft.com/office/drawing/2014/main" id="{03F4EA3B-2D5D-C05D-E165-FA8F8EF12B71}"/>
              </a:ext>
            </a:extLst>
          </p:cNvPr>
          <p:cNvSpPr/>
          <p:nvPr/>
        </p:nvSpPr>
        <p:spPr>
          <a:xfrm>
            <a:off x="6130988" y="3874008"/>
            <a:ext cx="5266944" cy="2220468"/>
          </a:xfrm>
          <a:prstGeom prst="roundRect">
            <a:avLst/>
          </a:prstGeom>
          <a:solidFill>
            <a:schemeClr val="accent5">
              <a:lumMod val="50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Composability in the source</a:t>
            </a:r>
          </a:p>
          <a:p>
            <a:pPr algn="ctr">
              <a:lnSpc>
                <a:spcPct val="90000"/>
              </a:lnSpc>
            </a:pPr>
            <a:r>
              <a:rPr lang="en-US" sz="2400" dirty="0">
                <a:solidFill>
                  <a:schemeClr val="bg1"/>
                </a:solidFill>
              </a:rPr>
              <a:t>A toolset of each mechanism</a:t>
            </a:r>
          </a:p>
          <a:p>
            <a:pPr algn="ctr">
              <a:lnSpc>
                <a:spcPct val="90000"/>
              </a:lnSpc>
            </a:pPr>
            <a:r>
              <a:rPr lang="en-US" sz="2400" dirty="0">
                <a:solidFill>
                  <a:schemeClr val="bg1"/>
                </a:solidFill>
              </a:rPr>
              <a:t>Independent tool sets</a:t>
            </a:r>
          </a:p>
          <a:p>
            <a:pPr algn="ctr">
              <a:lnSpc>
                <a:spcPct val="90000"/>
              </a:lnSpc>
            </a:pPr>
            <a:endParaRPr lang="en-US" sz="2400" dirty="0">
              <a:solidFill>
                <a:schemeClr val="bg1"/>
              </a:solidFill>
            </a:endParaRPr>
          </a:p>
          <a:p>
            <a:pPr algn="ctr">
              <a:lnSpc>
                <a:spcPct val="90000"/>
              </a:lnSpc>
            </a:pPr>
            <a:r>
              <a:rPr lang="en-US" sz="2400" dirty="0">
                <a:solidFill>
                  <a:schemeClr val="bg1"/>
                </a:solidFill>
              </a:rPr>
              <a:t> </a:t>
            </a:r>
          </a:p>
        </p:txBody>
      </p:sp>
    </p:spTree>
    <p:extLst>
      <p:ext uri="{BB962C8B-B14F-4D97-AF65-F5344CB8AC3E}">
        <p14:creationId xmlns:p14="http://schemas.microsoft.com/office/powerpoint/2010/main" val="920082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4BC88B2-EC34-6EB8-EEB3-8F4628A6C912}"/>
              </a:ext>
            </a:extLst>
          </p:cNvPr>
          <p:cNvSpPr txBox="1"/>
          <p:nvPr/>
        </p:nvSpPr>
        <p:spPr>
          <a:xfrm>
            <a:off x="5234940" y="1771650"/>
            <a:ext cx="6803346" cy="5016758"/>
          </a:xfrm>
          <a:prstGeom prst="rect">
            <a:avLst/>
          </a:prstGeom>
          <a:noFill/>
        </p:spPr>
        <p:txBody>
          <a:bodyPr wrap="square" rtlCol="0">
            <a:spAutoFit/>
          </a:bodyPr>
          <a:lstStyle/>
          <a:p>
            <a:pPr algn="ctr"/>
            <a:r>
              <a:rPr lang="en-US" sz="1600" b="1" dirty="0"/>
              <a:t>Alternative Definitions</a:t>
            </a:r>
          </a:p>
          <a:p>
            <a:endParaRPr lang="en-US" sz="1600" b="1" dirty="0"/>
          </a:p>
          <a:p>
            <a:r>
              <a:rPr lang="en-US" sz="1600" b="1" dirty="0"/>
              <a:t>For all spatial points at once                 For one spatial point at a time.                                                   </a:t>
            </a:r>
            <a:r>
              <a:rPr lang="en-US" sz="1600" dirty="0">
                <a:solidFill>
                  <a:srgbClr val="C00000"/>
                </a:solidFill>
              </a:rPr>
              <a:t>indices</a:t>
            </a:r>
            <a:r>
              <a:rPr lang="en-US" sz="1600" dirty="0">
                <a:solidFill>
                  <a:schemeClr val="accent1">
                    <a:lumMod val="50000"/>
                  </a:schemeClr>
                </a:solidFill>
              </a:rPr>
              <a:t>]                                                                            [</a:t>
            </a:r>
            <a:r>
              <a:rPr lang="en-US" sz="1600" dirty="0">
                <a:solidFill>
                  <a:srgbClr val="C00000"/>
                </a:solidFill>
              </a:rPr>
              <a:t>indices</a:t>
            </a:r>
            <a:r>
              <a:rPr lang="en-US" sz="1600" dirty="0">
                <a:solidFill>
                  <a:schemeClr val="accent1">
                    <a:lumMod val="50000"/>
                  </a:schemeClr>
                </a:solidFill>
              </a:rPr>
              <a:t>]            </a:t>
            </a:r>
          </a:p>
          <a:p>
            <a:r>
              <a:rPr lang="en-US" sz="1600" dirty="0">
                <a:solidFill>
                  <a:schemeClr val="accent1">
                    <a:lumMod val="50000"/>
                  </a:schemeClr>
                </a:solidFill>
              </a:rPr>
              <a:t>definition =                                                                          definition =                                            </a:t>
            </a:r>
          </a:p>
          <a:p>
            <a:r>
              <a:rPr lang="en-US" sz="1600" dirty="0">
                <a:solidFill>
                  <a:schemeClr val="accent1">
                    <a:lumMod val="50000"/>
                  </a:schemeClr>
                </a:solidFill>
              </a:rPr>
              <a:t>   ,</a:t>
            </a:r>
            <a:r>
              <a:rPr lang="en-US" sz="1600" dirty="0" err="1">
                <a:solidFill>
                  <a:schemeClr val="accent1">
                    <a:lumMod val="50000"/>
                  </a:schemeClr>
                </a:solidFill>
              </a:rPr>
              <a:t>i,j,k</a:t>
            </a:r>
            <a:r>
              <a:rPr lang="en-US" sz="1600" dirty="0">
                <a:solidFill>
                  <a:schemeClr val="accent1">
                    <a:lumMod val="50000"/>
                  </a:schemeClr>
                </a:solidFill>
              </a:rPr>
              <a:t> </a:t>
            </a:r>
          </a:p>
          <a:p>
            <a:endParaRPr lang="en-US" sz="1600" dirty="0">
              <a:solidFill>
                <a:schemeClr val="accent1">
                  <a:lumMod val="50000"/>
                </a:schemeClr>
              </a:solidFill>
            </a:endParaRPr>
          </a:p>
          <a:p>
            <a:r>
              <a:rPr lang="en-US" sz="1600" dirty="0">
                <a:solidFill>
                  <a:schemeClr val="accent1">
                    <a:lumMod val="50000"/>
                  </a:schemeClr>
                </a:solidFill>
              </a:rPr>
              <a:t>[</a:t>
            </a:r>
            <a:r>
              <a:rPr lang="en-US" sz="1600" dirty="0" err="1">
                <a:solidFill>
                  <a:srgbClr val="C00000"/>
                </a:solidFill>
              </a:rPr>
              <a:t>loop_begin</a:t>
            </a:r>
            <a:r>
              <a:rPr lang="en-US" sz="1600" dirty="0">
                <a:solidFill>
                  <a:schemeClr val="accent1">
                    <a:lumMod val="50000"/>
                  </a:schemeClr>
                </a:solidFill>
              </a:rPr>
              <a:t>]                                                                       [</a:t>
            </a:r>
            <a:r>
              <a:rPr lang="en-US" sz="1600" dirty="0" err="1">
                <a:solidFill>
                  <a:srgbClr val="C00000"/>
                </a:solidFill>
              </a:rPr>
              <a:t>loop_begin</a:t>
            </a:r>
            <a:r>
              <a:rPr lang="en-US" sz="1600" dirty="0">
                <a:solidFill>
                  <a:schemeClr val="accent1">
                    <a:lumMod val="50000"/>
                  </a:schemeClr>
                </a:solidFill>
              </a:rPr>
              <a:t>]</a:t>
            </a:r>
          </a:p>
          <a:p>
            <a:r>
              <a:rPr lang="en-US" sz="1600" dirty="0" err="1">
                <a:solidFill>
                  <a:schemeClr val="accent1">
                    <a:lumMod val="50000"/>
                  </a:schemeClr>
                </a:solidFill>
              </a:rPr>
              <a:t>args</a:t>
            </a:r>
            <a:r>
              <a:rPr lang="en-US" sz="1600" dirty="0">
                <a:solidFill>
                  <a:schemeClr val="accent1">
                    <a:lumMod val="50000"/>
                  </a:schemeClr>
                </a:solidFill>
              </a:rPr>
              <a:t> = limits                                                                          </a:t>
            </a:r>
            <a:r>
              <a:rPr lang="en-US" sz="1600" dirty="0" err="1">
                <a:solidFill>
                  <a:schemeClr val="accent1">
                    <a:lumMod val="50000"/>
                  </a:schemeClr>
                </a:solidFill>
              </a:rPr>
              <a:t>args</a:t>
            </a:r>
            <a:r>
              <a:rPr lang="en-US" sz="1600" dirty="0">
                <a:solidFill>
                  <a:schemeClr val="accent1">
                    <a:lumMod val="50000"/>
                  </a:schemeClr>
                </a:solidFill>
              </a:rPr>
              <a:t> = limits</a:t>
            </a:r>
          </a:p>
          <a:p>
            <a:r>
              <a:rPr lang="en-US" sz="1600" dirty="0">
                <a:solidFill>
                  <a:schemeClr val="accent1">
                    <a:lumMod val="50000"/>
                  </a:schemeClr>
                </a:solidFill>
              </a:rPr>
              <a:t>definition=                                                                            definition=</a:t>
            </a:r>
          </a:p>
          <a:p>
            <a:r>
              <a:rPr lang="en-US" sz="1600" dirty="0">
                <a:solidFill>
                  <a:schemeClr val="accent1">
                    <a:lumMod val="50000"/>
                  </a:schemeClr>
                </a:solidFill>
              </a:rPr>
              <a:t>   do k = limits(LOW,KAXIS),limits(LOW,KAXIS)</a:t>
            </a:r>
          </a:p>
          <a:p>
            <a:r>
              <a:rPr lang="en-US" sz="1600" dirty="0">
                <a:solidFill>
                  <a:schemeClr val="accent1">
                    <a:lumMod val="50000"/>
                  </a:schemeClr>
                </a:solidFill>
              </a:rPr>
              <a:t>        do j = limits(LOW,JAXIS),limits(LOW,JAXIS)</a:t>
            </a:r>
          </a:p>
          <a:p>
            <a:r>
              <a:rPr lang="en-US" sz="1600" dirty="0">
                <a:solidFill>
                  <a:schemeClr val="accent1">
                    <a:lumMod val="50000"/>
                  </a:schemeClr>
                </a:solidFill>
              </a:rPr>
              <a:t>            do I = limits(LOW,IAXIS),limits(LOW,IAXIS)  </a:t>
            </a:r>
          </a:p>
          <a:p>
            <a:endParaRPr lang="en-US" sz="1600" dirty="0">
              <a:solidFill>
                <a:schemeClr val="accent1">
                  <a:lumMod val="50000"/>
                </a:schemeClr>
              </a:solidFill>
            </a:endParaRPr>
          </a:p>
          <a:p>
            <a:r>
              <a:rPr lang="en-US" sz="1600" dirty="0">
                <a:solidFill>
                  <a:schemeClr val="accent1">
                    <a:lumMod val="50000"/>
                  </a:schemeClr>
                </a:solidFill>
              </a:rPr>
              <a:t>[</a:t>
            </a:r>
            <a:r>
              <a:rPr lang="en-US" sz="1600" dirty="0" err="1">
                <a:solidFill>
                  <a:srgbClr val="C00000"/>
                </a:solidFill>
              </a:rPr>
              <a:t>loop_end</a:t>
            </a:r>
            <a:r>
              <a:rPr lang="en-US" sz="1600" dirty="0">
                <a:solidFill>
                  <a:schemeClr val="accent1">
                    <a:lumMod val="50000"/>
                  </a:schemeClr>
                </a:solidFill>
              </a:rPr>
              <a:t>]                                                                           [</a:t>
            </a:r>
            <a:r>
              <a:rPr lang="en-US" sz="1600" dirty="0" err="1">
                <a:solidFill>
                  <a:srgbClr val="C00000"/>
                </a:solidFill>
              </a:rPr>
              <a:t>loop_end</a:t>
            </a:r>
            <a:r>
              <a:rPr lang="en-US" sz="1600" dirty="0">
                <a:solidFill>
                  <a:schemeClr val="accent1">
                    <a:lumMod val="50000"/>
                  </a:schemeClr>
                </a:solidFill>
              </a:rPr>
              <a:t>]</a:t>
            </a:r>
          </a:p>
          <a:p>
            <a:r>
              <a:rPr lang="en-US" sz="1600" dirty="0">
                <a:solidFill>
                  <a:schemeClr val="accent1">
                    <a:lumMod val="50000"/>
                  </a:schemeClr>
                </a:solidFill>
              </a:rPr>
              <a:t>definition =                                                                           definition =</a:t>
            </a:r>
          </a:p>
          <a:p>
            <a:r>
              <a:rPr lang="en-US" sz="1600" dirty="0">
                <a:solidFill>
                  <a:schemeClr val="accent1">
                    <a:lumMod val="50000"/>
                  </a:schemeClr>
                </a:solidFill>
              </a:rPr>
              <a:t>          </a:t>
            </a:r>
            <a:r>
              <a:rPr lang="en-US" sz="1600" dirty="0" err="1">
                <a:solidFill>
                  <a:schemeClr val="accent1">
                    <a:lumMod val="50000"/>
                  </a:schemeClr>
                </a:solidFill>
              </a:rPr>
              <a:t>enddo</a:t>
            </a:r>
            <a:endParaRPr lang="en-US" sz="1600" dirty="0">
              <a:solidFill>
                <a:schemeClr val="accent1">
                  <a:lumMod val="50000"/>
                </a:schemeClr>
              </a:solidFill>
            </a:endParaRPr>
          </a:p>
          <a:p>
            <a:r>
              <a:rPr lang="en-US" sz="1600" dirty="0">
                <a:solidFill>
                  <a:schemeClr val="accent1">
                    <a:lumMod val="50000"/>
                  </a:schemeClr>
                </a:solidFill>
              </a:rPr>
              <a:t>       </a:t>
            </a:r>
            <a:r>
              <a:rPr lang="en-US" sz="1600" dirty="0" err="1">
                <a:solidFill>
                  <a:schemeClr val="accent1">
                    <a:lumMod val="50000"/>
                  </a:schemeClr>
                </a:solidFill>
              </a:rPr>
              <a:t>enddo</a:t>
            </a:r>
            <a:endParaRPr lang="en-US" sz="1600" dirty="0">
              <a:solidFill>
                <a:schemeClr val="accent1">
                  <a:lumMod val="50000"/>
                </a:schemeClr>
              </a:solidFill>
            </a:endParaRPr>
          </a:p>
          <a:p>
            <a:r>
              <a:rPr lang="en-US" sz="1600" dirty="0">
                <a:solidFill>
                  <a:schemeClr val="accent1">
                    <a:lumMod val="50000"/>
                  </a:schemeClr>
                </a:solidFill>
              </a:rPr>
              <a:t>    </a:t>
            </a:r>
            <a:r>
              <a:rPr lang="en-US" sz="1600" dirty="0" err="1">
                <a:solidFill>
                  <a:schemeClr val="accent1">
                    <a:lumMod val="50000"/>
                  </a:schemeClr>
                </a:solidFill>
              </a:rPr>
              <a:t>enddo</a:t>
            </a:r>
            <a:endParaRPr lang="en-US" sz="1600" dirty="0">
              <a:solidFill>
                <a:schemeClr val="accent1">
                  <a:lumMod val="50000"/>
                </a:schemeClr>
              </a:solidFill>
            </a:endParaRPr>
          </a:p>
        </p:txBody>
      </p:sp>
      <p:sp>
        <p:nvSpPr>
          <p:cNvPr id="2" name="Title 1">
            <a:extLst>
              <a:ext uri="{FF2B5EF4-FFF2-40B4-BE49-F238E27FC236}">
                <a16:creationId xmlns:a16="http://schemas.microsoft.com/office/drawing/2014/main" id="{D47B9BAA-A810-5129-CA21-D50C438D3E93}"/>
              </a:ext>
            </a:extLst>
          </p:cNvPr>
          <p:cNvSpPr>
            <a:spLocks noGrp="1"/>
          </p:cNvSpPr>
          <p:nvPr>
            <p:ph type="title"/>
          </p:nvPr>
        </p:nvSpPr>
        <p:spPr>
          <a:xfrm>
            <a:off x="653094" y="52532"/>
            <a:ext cx="10512862" cy="792908"/>
          </a:xfrm>
        </p:spPr>
        <p:txBody>
          <a:bodyPr/>
          <a:lstStyle/>
          <a:p>
            <a:r>
              <a:rPr lang="en-US" dirty="0"/>
              <a:t>Orthogonal Axes of Challenges and Optimization</a:t>
            </a:r>
          </a:p>
        </p:txBody>
      </p:sp>
      <p:sp>
        <p:nvSpPr>
          <p:cNvPr id="3" name="Content Placeholder 2">
            <a:extLst>
              <a:ext uri="{FF2B5EF4-FFF2-40B4-BE49-F238E27FC236}">
                <a16:creationId xmlns:a16="http://schemas.microsoft.com/office/drawing/2014/main" id="{9E1D2D18-7D93-3909-BE43-FB61ED18A86D}"/>
              </a:ext>
            </a:extLst>
          </p:cNvPr>
          <p:cNvSpPr>
            <a:spLocks noGrp="1"/>
          </p:cNvSpPr>
          <p:nvPr>
            <p:ph idx="1"/>
          </p:nvPr>
        </p:nvSpPr>
        <p:spPr>
          <a:xfrm>
            <a:off x="1280778" y="617249"/>
            <a:ext cx="10512862" cy="1263509"/>
          </a:xfrm>
        </p:spPr>
        <p:txBody>
          <a:bodyPr/>
          <a:lstStyle/>
          <a:p>
            <a:pPr lvl="1"/>
            <a:r>
              <a:rPr lang="en-US" dirty="0"/>
              <a:t>Separate out arithmetic and control flow</a:t>
            </a:r>
          </a:p>
          <a:p>
            <a:pPr lvl="2"/>
            <a:r>
              <a:rPr lang="en-US" dirty="0"/>
              <a:t>Make arithmetic invariant</a:t>
            </a:r>
          </a:p>
          <a:p>
            <a:pPr lvl="2"/>
            <a:r>
              <a:rPr lang="en-US" dirty="0"/>
              <a:t>Turn separate pieces into building blocks using macros</a:t>
            </a:r>
          </a:p>
        </p:txBody>
      </p:sp>
      <p:sp>
        <p:nvSpPr>
          <p:cNvPr id="5" name="Rounded Rectangle 4">
            <a:extLst>
              <a:ext uri="{FF2B5EF4-FFF2-40B4-BE49-F238E27FC236}">
                <a16:creationId xmlns:a16="http://schemas.microsoft.com/office/drawing/2014/main" id="{09ACA7F0-13A3-FD2D-6F43-744BD11B57AC}"/>
              </a:ext>
            </a:extLst>
          </p:cNvPr>
          <p:cNvSpPr/>
          <p:nvPr/>
        </p:nvSpPr>
        <p:spPr>
          <a:xfrm>
            <a:off x="0" y="1666898"/>
            <a:ext cx="5040630" cy="2600186"/>
          </a:xfrm>
          <a:prstGeom prst="roundRect">
            <a:avLst/>
          </a:prstGeom>
          <a:solidFill>
            <a:schemeClr val="bg2">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rtlCol="0" anchor="ctr">
            <a:normAutofit fontScale="92500" lnSpcReduction="20000"/>
          </a:bodyPr>
          <a:lstStyle/>
          <a:p>
            <a:r>
              <a:rPr lang="en-US" sz="1799" b="1" dirty="0">
                <a:solidFill>
                  <a:schemeClr val="accent1">
                    <a:lumMod val="50000"/>
                  </a:schemeClr>
                </a:solidFill>
              </a:rPr>
              <a:t>[hy_fluxesSec1]</a:t>
            </a:r>
          </a:p>
          <a:p>
            <a:r>
              <a:rPr lang="en-US" dirty="0" err="1">
                <a:solidFill>
                  <a:schemeClr val="tx1"/>
                </a:solidFill>
              </a:rPr>
              <a:t>a</a:t>
            </a:r>
            <a:r>
              <a:rPr lang="en-US" sz="1799" dirty="0" err="1">
                <a:solidFill>
                  <a:schemeClr val="tx1"/>
                </a:solidFill>
              </a:rPr>
              <a:t>rgs</a:t>
            </a:r>
            <a:r>
              <a:rPr lang="en-US" sz="1799" dirty="0">
                <a:solidFill>
                  <a:schemeClr val="tx1"/>
                </a:solidFill>
              </a:rPr>
              <a:t>= XL, </a:t>
            </a:r>
            <a:r>
              <a:rPr lang="en-US" sz="1799" dirty="0" err="1">
                <a:solidFill>
                  <a:schemeClr val="tx1"/>
                </a:solidFill>
              </a:rPr>
              <a:t>XR,limits</a:t>
            </a:r>
            <a:endParaRPr lang="en-US" sz="1799" dirty="0">
              <a:solidFill>
                <a:schemeClr val="tx1"/>
              </a:solidFill>
            </a:endParaRPr>
          </a:p>
          <a:p>
            <a:r>
              <a:rPr lang="en-US" sz="1799" dirty="0">
                <a:solidFill>
                  <a:schemeClr val="tx1"/>
                </a:solidFill>
              </a:rPr>
              <a:t>definition =</a:t>
            </a:r>
          </a:p>
          <a:p>
            <a:r>
              <a:rPr lang="en-US" sz="1799" dirty="0">
                <a:solidFill>
                  <a:srgbClr val="C00000"/>
                </a:solidFill>
              </a:rPr>
              <a:t>@M </a:t>
            </a:r>
            <a:r>
              <a:rPr lang="en-US" sz="1799" dirty="0" err="1">
                <a:solidFill>
                  <a:srgbClr val="C00000"/>
                </a:solidFill>
              </a:rPr>
              <a:t>loop_begin</a:t>
            </a:r>
            <a:r>
              <a:rPr lang="en-US" sz="1799" dirty="0">
                <a:solidFill>
                  <a:srgbClr val="C00000"/>
                </a:solidFill>
              </a:rPr>
              <a:t>(limits)</a:t>
            </a:r>
          </a:p>
          <a:p>
            <a:r>
              <a:rPr lang="en-US" sz="1799" dirty="0">
                <a:solidFill>
                  <a:schemeClr val="tx1"/>
                </a:solidFill>
              </a:rPr>
              <a:t>    if (flux(1</a:t>
            </a:r>
            <a:r>
              <a:rPr lang="en-US" sz="1799" dirty="0">
                <a:solidFill>
                  <a:srgbClr val="C00000"/>
                </a:solidFill>
              </a:rPr>
              <a:t>@M indices</a:t>
            </a:r>
            <a:r>
              <a:rPr lang="en-US" sz="1799" dirty="0">
                <a:solidFill>
                  <a:schemeClr val="tx1"/>
                </a:solidFill>
              </a:rPr>
              <a:t>) &gt; 0.) then</a:t>
            </a:r>
          </a:p>
          <a:p>
            <a:r>
              <a:rPr lang="en-US" sz="1799" dirty="0">
                <a:solidFill>
                  <a:schemeClr val="tx1"/>
                </a:solidFill>
              </a:rPr>
              <a:t>         call doSection1(XL(:</a:t>
            </a:r>
            <a:r>
              <a:rPr lang="en-US" sz="1799" dirty="0">
                <a:solidFill>
                  <a:srgbClr val="C00000"/>
                </a:solidFill>
              </a:rPr>
              <a:t>@M indices), ……</a:t>
            </a:r>
            <a:r>
              <a:rPr lang="en-US" sz="1799" dirty="0">
                <a:solidFill>
                  <a:schemeClr val="tx1"/>
                </a:solidFill>
              </a:rPr>
              <a:t>)</a:t>
            </a:r>
          </a:p>
          <a:p>
            <a:r>
              <a:rPr lang="en-US" sz="1799" dirty="0">
                <a:solidFill>
                  <a:schemeClr val="tx1"/>
                </a:solidFill>
              </a:rPr>
              <a:t>    else</a:t>
            </a:r>
          </a:p>
          <a:p>
            <a:r>
              <a:rPr lang="en-US" sz="1799" dirty="0">
                <a:solidFill>
                  <a:schemeClr val="tx1"/>
                </a:solidFill>
              </a:rPr>
              <a:t>        call doSection1(XR(:</a:t>
            </a:r>
            <a:r>
              <a:rPr lang="en-US" sz="1799" dirty="0">
                <a:solidFill>
                  <a:srgbClr val="C00000"/>
                </a:solidFill>
              </a:rPr>
              <a:t>@M indices), …….</a:t>
            </a:r>
            <a:r>
              <a:rPr lang="en-US" sz="1799" dirty="0">
                <a:solidFill>
                  <a:schemeClr val="tx1"/>
                </a:solidFill>
              </a:rPr>
              <a:t>)</a:t>
            </a:r>
          </a:p>
          <a:p>
            <a:r>
              <a:rPr lang="en-US" sz="1799" dirty="0">
                <a:solidFill>
                  <a:schemeClr val="tx1"/>
                </a:solidFill>
              </a:rPr>
              <a:t>    end if</a:t>
            </a:r>
          </a:p>
          <a:p>
            <a:r>
              <a:rPr lang="en-US" sz="1799" dirty="0">
                <a:solidFill>
                  <a:srgbClr val="C00000"/>
                </a:solidFill>
              </a:rPr>
              <a:t> @M </a:t>
            </a:r>
            <a:r>
              <a:rPr lang="en-US" sz="1799" dirty="0" err="1">
                <a:solidFill>
                  <a:srgbClr val="C00000"/>
                </a:solidFill>
              </a:rPr>
              <a:t>loop_end</a:t>
            </a:r>
            <a:endParaRPr lang="en-US" sz="1799" dirty="0">
              <a:solidFill>
                <a:srgbClr val="C00000"/>
              </a:solidFill>
            </a:endParaRPr>
          </a:p>
        </p:txBody>
      </p:sp>
      <p:sp>
        <p:nvSpPr>
          <p:cNvPr id="7" name="Content Placeholder 2">
            <a:extLst>
              <a:ext uri="{FF2B5EF4-FFF2-40B4-BE49-F238E27FC236}">
                <a16:creationId xmlns:a16="http://schemas.microsoft.com/office/drawing/2014/main" id="{E930E585-9C66-1A41-1E78-603E284DD951}"/>
              </a:ext>
            </a:extLst>
          </p:cNvPr>
          <p:cNvSpPr txBox="1">
            <a:spLocks/>
          </p:cNvSpPr>
          <p:nvPr/>
        </p:nvSpPr>
        <p:spPr>
          <a:xfrm>
            <a:off x="1" y="4544259"/>
            <a:ext cx="5389745" cy="2030661"/>
          </a:xfrm>
          <a:prstGeom prst="rect">
            <a:avLst/>
          </a:prstGeom>
        </p:spPr>
        <p:txBody>
          <a:bodyPr vert="horz" lIns="91416" tIns="45708" rIns="91416" bIns="45708" rtlCol="0">
            <a:normAutofit fontScale="77500" lnSpcReduction="200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99" dirty="0"/>
              <a:t>Permit alternative definitions for all the macros as needed</a:t>
            </a:r>
          </a:p>
          <a:p>
            <a:r>
              <a:rPr lang="en-US" sz="2799" dirty="0"/>
              <a:t>Build in arbitration mechanism for picking the right definition</a:t>
            </a:r>
          </a:p>
          <a:p>
            <a:r>
              <a:rPr lang="en-US" sz="2799" dirty="0"/>
              <a:t>This code section can be invoked as </a:t>
            </a:r>
          </a:p>
          <a:p>
            <a:pPr marL="457063" lvl="1" indent="0">
              <a:buNone/>
            </a:pPr>
            <a:r>
              <a:rPr lang="en-US" sz="2399" dirty="0"/>
              <a:t>@M hy_fluxesSec1(</a:t>
            </a:r>
            <a:r>
              <a:rPr lang="en-US" sz="2399" dirty="0" err="1"/>
              <a:t>uLeft,uRight,blkLimits</a:t>
            </a:r>
            <a:r>
              <a:rPr lang="en-US" sz="2399" dirty="0"/>
              <a:t>)</a:t>
            </a:r>
          </a:p>
          <a:p>
            <a:endParaRPr lang="en-US" sz="2799" dirty="0"/>
          </a:p>
        </p:txBody>
      </p:sp>
    </p:spTree>
    <p:extLst>
      <p:ext uri="{BB962C8B-B14F-4D97-AF65-F5344CB8AC3E}">
        <p14:creationId xmlns:p14="http://schemas.microsoft.com/office/powerpoint/2010/main" val="1979211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9BAA-A810-5129-CA21-D50C438D3E93}"/>
              </a:ext>
            </a:extLst>
          </p:cNvPr>
          <p:cNvSpPr>
            <a:spLocks noGrp="1"/>
          </p:cNvSpPr>
          <p:nvPr>
            <p:ph type="title"/>
          </p:nvPr>
        </p:nvSpPr>
        <p:spPr>
          <a:xfrm>
            <a:off x="653094" y="52532"/>
            <a:ext cx="10512862" cy="792908"/>
          </a:xfrm>
        </p:spPr>
        <p:txBody>
          <a:bodyPr/>
          <a:lstStyle/>
          <a:p>
            <a:r>
              <a:rPr lang="en-US" dirty="0"/>
              <a:t>Alternatively</a:t>
            </a:r>
          </a:p>
        </p:txBody>
      </p:sp>
      <p:sp>
        <p:nvSpPr>
          <p:cNvPr id="3" name="Content Placeholder 2">
            <a:extLst>
              <a:ext uri="{FF2B5EF4-FFF2-40B4-BE49-F238E27FC236}">
                <a16:creationId xmlns:a16="http://schemas.microsoft.com/office/drawing/2014/main" id="{9E1D2D18-7D93-3909-BE43-FB61ED18A86D}"/>
              </a:ext>
            </a:extLst>
          </p:cNvPr>
          <p:cNvSpPr>
            <a:spLocks noGrp="1"/>
          </p:cNvSpPr>
          <p:nvPr>
            <p:ph idx="1"/>
          </p:nvPr>
        </p:nvSpPr>
        <p:spPr>
          <a:xfrm>
            <a:off x="837981" y="6095929"/>
            <a:ext cx="10512862" cy="506358"/>
          </a:xfrm>
        </p:spPr>
        <p:txBody>
          <a:bodyPr/>
          <a:lstStyle/>
          <a:p>
            <a:pPr marL="457063" lvl="1" indent="0">
              <a:buNone/>
            </a:pPr>
            <a:r>
              <a:rPr lang="en-US" dirty="0"/>
              <a:t>With macros it is possible to use any arbitrary code section as a building block </a:t>
            </a:r>
          </a:p>
        </p:txBody>
      </p:sp>
      <p:sp>
        <p:nvSpPr>
          <p:cNvPr id="5" name="Rounded Rectangle 4">
            <a:extLst>
              <a:ext uri="{FF2B5EF4-FFF2-40B4-BE49-F238E27FC236}">
                <a16:creationId xmlns:a16="http://schemas.microsoft.com/office/drawing/2014/main" id="{09ACA7F0-13A3-FD2D-6F43-744BD11B57AC}"/>
              </a:ext>
            </a:extLst>
          </p:cNvPr>
          <p:cNvSpPr/>
          <p:nvPr/>
        </p:nvSpPr>
        <p:spPr>
          <a:xfrm>
            <a:off x="0" y="762071"/>
            <a:ext cx="4263390" cy="2600186"/>
          </a:xfrm>
          <a:prstGeom prst="roundRect">
            <a:avLst/>
          </a:prstGeom>
          <a:solidFill>
            <a:schemeClr val="bg2">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rtlCol="0" anchor="ctr">
            <a:normAutofit fontScale="92500" lnSpcReduction="20000"/>
          </a:bodyPr>
          <a:lstStyle/>
          <a:p>
            <a:r>
              <a:rPr lang="en-US" sz="1799" b="1" dirty="0">
                <a:solidFill>
                  <a:schemeClr val="accent1">
                    <a:lumMod val="50000"/>
                  </a:schemeClr>
                </a:solidFill>
              </a:rPr>
              <a:t>[hy_fluxesSec1]</a:t>
            </a:r>
          </a:p>
          <a:p>
            <a:r>
              <a:rPr lang="en-US" dirty="0" err="1">
                <a:solidFill>
                  <a:schemeClr val="tx1"/>
                </a:solidFill>
              </a:rPr>
              <a:t>a</a:t>
            </a:r>
            <a:r>
              <a:rPr lang="en-US" sz="1799" dirty="0" err="1">
                <a:solidFill>
                  <a:schemeClr val="tx1"/>
                </a:solidFill>
              </a:rPr>
              <a:t>rgs</a:t>
            </a:r>
            <a:r>
              <a:rPr lang="en-US" sz="1799" dirty="0">
                <a:solidFill>
                  <a:schemeClr val="tx1"/>
                </a:solidFill>
              </a:rPr>
              <a:t>= XL, </a:t>
            </a:r>
            <a:r>
              <a:rPr lang="en-US" sz="1799" dirty="0" err="1">
                <a:solidFill>
                  <a:schemeClr val="tx1"/>
                </a:solidFill>
              </a:rPr>
              <a:t>XR,limits</a:t>
            </a:r>
            <a:endParaRPr lang="en-US" sz="1799" dirty="0">
              <a:solidFill>
                <a:schemeClr val="tx1"/>
              </a:solidFill>
            </a:endParaRPr>
          </a:p>
          <a:p>
            <a:r>
              <a:rPr lang="en-US" sz="1799" dirty="0">
                <a:solidFill>
                  <a:schemeClr val="tx1"/>
                </a:solidFill>
              </a:rPr>
              <a:t>definition =</a:t>
            </a:r>
          </a:p>
          <a:p>
            <a:r>
              <a:rPr lang="en-US" sz="1799" dirty="0">
                <a:solidFill>
                  <a:srgbClr val="C00000"/>
                </a:solidFill>
              </a:rPr>
              <a:t>@M </a:t>
            </a:r>
            <a:r>
              <a:rPr lang="en-US" sz="1799" dirty="0" err="1">
                <a:solidFill>
                  <a:srgbClr val="C00000"/>
                </a:solidFill>
              </a:rPr>
              <a:t>loop_begin</a:t>
            </a:r>
            <a:r>
              <a:rPr lang="en-US" sz="1799" dirty="0">
                <a:solidFill>
                  <a:srgbClr val="C00000"/>
                </a:solidFill>
              </a:rPr>
              <a:t>(limits)</a:t>
            </a:r>
          </a:p>
          <a:p>
            <a:r>
              <a:rPr lang="en-US" sz="1799" dirty="0">
                <a:solidFill>
                  <a:schemeClr val="tx1"/>
                </a:solidFill>
              </a:rPr>
              <a:t>    if (flux(1</a:t>
            </a:r>
            <a:r>
              <a:rPr lang="en-US" sz="1799" dirty="0">
                <a:solidFill>
                  <a:srgbClr val="C00000"/>
                </a:solidFill>
              </a:rPr>
              <a:t>@M indices</a:t>
            </a:r>
            <a:r>
              <a:rPr lang="en-US" sz="1799" dirty="0">
                <a:solidFill>
                  <a:schemeClr val="tx1"/>
                </a:solidFill>
              </a:rPr>
              <a:t>) &gt; 0.) then</a:t>
            </a:r>
          </a:p>
          <a:p>
            <a:r>
              <a:rPr lang="en-US" sz="1799" dirty="0">
                <a:solidFill>
                  <a:schemeClr val="tx1"/>
                </a:solidFill>
              </a:rPr>
              <a:t>         @M doSection1(XL)</a:t>
            </a:r>
          </a:p>
          <a:p>
            <a:r>
              <a:rPr lang="en-US" sz="1799" dirty="0">
                <a:solidFill>
                  <a:schemeClr val="tx1"/>
                </a:solidFill>
              </a:rPr>
              <a:t>    else</a:t>
            </a:r>
          </a:p>
          <a:p>
            <a:r>
              <a:rPr lang="en-US" sz="1799" dirty="0">
                <a:solidFill>
                  <a:schemeClr val="tx1"/>
                </a:solidFill>
              </a:rPr>
              <a:t>        @M doSection1(XR)</a:t>
            </a:r>
          </a:p>
          <a:p>
            <a:r>
              <a:rPr lang="en-US" sz="1799" dirty="0">
                <a:solidFill>
                  <a:schemeClr val="tx1"/>
                </a:solidFill>
              </a:rPr>
              <a:t>    end if</a:t>
            </a:r>
          </a:p>
          <a:p>
            <a:r>
              <a:rPr lang="en-US" sz="1799" dirty="0">
                <a:solidFill>
                  <a:srgbClr val="C00000"/>
                </a:solidFill>
              </a:rPr>
              <a:t> @M </a:t>
            </a:r>
            <a:r>
              <a:rPr lang="en-US" sz="1799" dirty="0" err="1">
                <a:solidFill>
                  <a:srgbClr val="C00000"/>
                </a:solidFill>
              </a:rPr>
              <a:t>loop_end</a:t>
            </a:r>
            <a:endParaRPr lang="en-US" sz="1799" dirty="0">
              <a:solidFill>
                <a:srgbClr val="C00000"/>
              </a:solidFill>
            </a:endParaRPr>
          </a:p>
        </p:txBody>
      </p:sp>
      <p:sp>
        <p:nvSpPr>
          <p:cNvPr id="7" name="Content Placeholder 2">
            <a:extLst>
              <a:ext uri="{FF2B5EF4-FFF2-40B4-BE49-F238E27FC236}">
                <a16:creationId xmlns:a16="http://schemas.microsoft.com/office/drawing/2014/main" id="{E930E585-9C66-1A41-1E78-603E284DD951}"/>
              </a:ext>
            </a:extLst>
          </p:cNvPr>
          <p:cNvSpPr txBox="1">
            <a:spLocks/>
          </p:cNvSpPr>
          <p:nvPr/>
        </p:nvSpPr>
        <p:spPr>
          <a:xfrm>
            <a:off x="519781" y="3443558"/>
            <a:ext cx="5389745" cy="1665215"/>
          </a:xfrm>
          <a:prstGeom prst="rect">
            <a:avLst/>
          </a:prstGeom>
        </p:spPr>
        <p:txBody>
          <a:bodyPr vert="horz" lIns="91416" tIns="45708" rIns="91416" bIns="45708" rtlCol="0">
            <a:normAutofit fontScale="62500" lnSpcReduction="200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799" dirty="0"/>
              <a:t>[</a:t>
            </a:r>
            <a:r>
              <a:rPr lang="en-US" sz="2799" dirty="0">
                <a:solidFill>
                  <a:srgbClr val="C00000"/>
                </a:solidFill>
              </a:rPr>
              <a:t>doSection1</a:t>
            </a:r>
            <a:r>
              <a:rPr lang="en-US" sz="2799" dirty="0"/>
              <a:t>]</a:t>
            </a:r>
          </a:p>
          <a:p>
            <a:pPr marL="0" indent="0">
              <a:buNone/>
            </a:pPr>
            <a:r>
              <a:rPr lang="en-US" sz="2799" dirty="0" err="1"/>
              <a:t>args</a:t>
            </a:r>
            <a:r>
              <a:rPr lang="en-US" sz="2799" dirty="0"/>
              <a:t>=</a:t>
            </a:r>
            <a:r>
              <a:rPr lang="en-US" sz="2799" dirty="0" err="1"/>
              <a:t>uDir</a:t>
            </a:r>
            <a:endParaRPr lang="en-US" sz="2799" dirty="0"/>
          </a:p>
          <a:p>
            <a:pPr marL="0" indent="0">
              <a:buNone/>
            </a:pPr>
            <a:r>
              <a:rPr lang="en-US" sz="2799" dirty="0"/>
              <a:t>definition =</a:t>
            </a:r>
          </a:p>
          <a:p>
            <a:pPr marL="0" indent="0">
              <a:buNone/>
            </a:pPr>
            <a:r>
              <a:rPr lang="en-US" sz="2799" dirty="0"/>
              <a:t>   … some computation </a:t>
            </a:r>
          </a:p>
          <a:p>
            <a:pPr marL="0" indent="0">
              <a:buNone/>
            </a:pPr>
            <a:r>
              <a:rPr lang="en-US" sz="2799" dirty="0" err="1"/>
              <a:t>uDir</a:t>
            </a:r>
            <a:r>
              <a:rPr lang="en-US" sz="2799" dirty="0"/>
              <a:t>(:@M indices) =  res</a:t>
            </a:r>
          </a:p>
          <a:p>
            <a:pPr marL="0" indent="0">
              <a:buNone/>
            </a:pPr>
            <a:endParaRPr lang="en-US" sz="2799" dirty="0"/>
          </a:p>
        </p:txBody>
      </p:sp>
      <p:sp>
        <p:nvSpPr>
          <p:cNvPr id="9" name="TextBox 8">
            <a:extLst>
              <a:ext uri="{FF2B5EF4-FFF2-40B4-BE49-F238E27FC236}">
                <a16:creationId xmlns:a16="http://schemas.microsoft.com/office/drawing/2014/main" id="{74BC88B2-EC34-6EB8-EEB3-8F4628A6C912}"/>
              </a:ext>
            </a:extLst>
          </p:cNvPr>
          <p:cNvSpPr txBox="1"/>
          <p:nvPr/>
        </p:nvSpPr>
        <p:spPr>
          <a:xfrm>
            <a:off x="4652010" y="845440"/>
            <a:ext cx="7386276" cy="4770537"/>
          </a:xfrm>
          <a:prstGeom prst="rect">
            <a:avLst/>
          </a:prstGeom>
          <a:noFill/>
        </p:spPr>
        <p:txBody>
          <a:bodyPr wrap="square" rtlCol="0">
            <a:spAutoFit/>
          </a:bodyPr>
          <a:lstStyle/>
          <a:p>
            <a:pPr algn="ctr"/>
            <a:r>
              <a:rPr lang="en-US" sz="1600" b="1" dirty="0"/>
              <a:t>Alternative Definitions</a:t>
            </a:r>
          </a:p>
          <a:p>
            <a:endParaRPr lang="en-US" sz="1600" b="1" dirty="0"/>
          </a:p>
          <a:p>
            <a:r>
              <a:rPr lang="en-US" sz="1600" b="1" dirty="0"/>
              <a:t>For all spatial points at once                 For one spatial point at a time </a:t>
            </a:r>
          </a:p>
          <a:p>
            <a:r>
              <a:rPr lang="en-US" sz="1600" dirty="0">
                <a:solidFill>
                  <a:schemeClr val="accent1">
                    <a:lumMod val="50000"/>
                  </a:schemeClr>
                </a:solidFill>
              </a:rPr>
              <a:t>[</a:t>
            </a:r>
            <a:r>
              <a:rPr lang="en-US" sz="1600" dirty="0">
                <a:solidFill>
                  <a:srgbClr val="C00000"/>
                </a:solidFill>
              </a:rPr>
              <a:t>indices</a:t>
            </a:r>
            <a:r>
              <a:rPr lang="en-US" sz="1600" dirty="0">
                <a:solidFill>
                  <a:schemeClr val="accent1">
                    <a:lumMod val="50000"/>
                  </a:schemeClr>
                </a:solidFill>
              </a:rPr>
              <a:t>]                                                                               [</a:t>
            </a:r>
            <a:r>
              <a:rPr lang="en-US" sz="1600" dirty="0">
                <a:solidFill>
                  <a:srgbClr val="C00000"/>
                </a:solidFill>
              </a:rPr>
              <a:t>indices</a:t>
            </a:r>
            <a:r>
              <a:rPr lang="en-US" sz="1600" dirty="0">
                <a:solidFill>
                  <a:schemeClr val="accent1">
                    <a:lumMod val="50000"/>
                  </a:schemeClr>
                </a:solidFill>
              </a:rPr>
              <a:t>]            </a:t>
            </a:r>
          </a:p>
          <a:p>
            <a:r>
              <a:rPr lang="en-US" sz="1600" dirty="0">
                <a:solidFill>
                  <a:schemeClr val="accent1">
                    <a:lumMod val="50000"/>
                  </a:schemeClr>
                </a:solidFill>
              </a:rPr>
              <a:t>definition =                                                                          definition =                                            </a:t>
            </a:r>
          </a:p>
          <a:p>
            <a:r>
              <a:rPr lang="en-US" sz="1600" dirty="0">
                <a:solidFill>
                  <a:schemeClr val="accent1">
                    <a:lumMod val="50000"/>
                  </a:schemeClr>
                </a:solidFill>
              </a:rPr>
              <a:t>   ,</a:t>
            </a:r>
            <a:r>
              <a:rPr lang="en-US" sz="1600" dirty="0" err="1">
                <a:solidFill>
                  <a:schemeClr val="accent1">
                    <a:lumMod val="50000"/>
                  </a:schemeClr>
                </a:solidFill>
              </a:rPr>
              <a:t>i,j,k</a:t>
            </a:r>
            <a:r>
              <a:rPr lang="en-US" sz="1600" dirty="0">
                <a:solidFill>
                  <a:schemeClr val="accent1">
                    <a:lumMod val="50000"/>
                  </a:schemeClr>
                </a:solidFill>
              </a:rPr>
              <a:t> </a:t>
            </a:r>
          </a:p>
          <a:p>
            <a:endParaRPr lang="en-US" sz="1600" dirty="0">
              <a:solidFill>
                <a:schemeClr val="accent1">
                  <a:lumMod val="50000"/>
                </a:schemeClr>
              </a:solidFill>
            </a:endParaRPr>
          </a:p>
          <a:p>
            <a:r>
              <a:rPr lang="en-US" sz="1600" dirty="0">
                <a:solidFill>
                  <a:schemeClr val="accent1">
                    <a:lumMod val="50000"/>
                  </a:schemeClr>
                </a:solidFill>
              </a:rPr>
              <a:t>[</a:t>
            </a:r>
            <a:r>
              <a:rPr lang="en-US" sz="1600" dirty="0" err="1">
                <a:solidFill>
                  <a:srgbClr val="C00000"/>
                </a:solidFill>
              </a:rPr>
              <a:t>loop_begin</a:t>
            </a:r>
            <a:r>
              <a:rPr lang="en-US" sz="1600" dirty="0">
                <a:solidFill>
                  <a:schemeClr val="accent1">
                    <a:lumMod val="50000"/>
                  </a:schemeClr>
                </a:solidFill>
              </a:rPr>
              <a:t>]                                                                       [</a:t>
            </a:r>
            <a:r>
              <a:rPr lang="en-US" sz="1600" dirty="0" err="1">
                <a:solidFill>
                  <a:srgbClr val="C00000"/>
                </a:solidFill>
              </a:rPr>
              <a:t>loop_begin</a:t>
            </a:r>
            <a:r>
              <a:rPr lang="en-US" sz="1600" dirty="0">
                <a:solidFill>
                  <a:schemeClr val="accent1">
                    <a:lumMod val="50000"/>
                  </a:schemeClr>
                </a:solidFill>
              </a:rPr>
              <a:t>]</a:t>
            </a:r>
          </a:p>
          <a:p>
            <a:r>
              <a:rPr lang="en-US" sz="1600" dirty="0" err="1">
                <a:solidFill>
                  <a:schemeClr val="accent1">
                    <a:lumMod val="50000"/>
                  </a:schemeClr>
                </a:solidFill>
              </a:rPr>
              <a:t>args</a:t>
            </a:r>
            <a:r>
              <a:rPr lang="en-US" sz="1600" dirty="0">
                <a:solidFill>
                  <a:schemeClr val="accent1">
                    <a:lumMod val="50000"/>
                  </a:schemeClr>
                </a:solidFill>
              </a:rPr>
              <a:t> = limits                                                                          </a:t>
            </a:r>
            <a:r>
              <a:rPr lang="en-US" sz="1600" dirty="0" err="1">
                <a:solidFill>
                  <a:schemeClr val="accent1">
                    <a:lumMod val="50000"/>
                  </a:schemeClr>
                </a:solidFill>
              </a:rPr>
              <a:t>args</a:t>
            </a:r>
            <a:r>
              <a:rPr lang="en-US" sz="1600" dirty="0">
                <a:solidFill>
                  <a:schemeClr val="accent1">
                    <a:lumMod val="50000"/>
                  </a:schemeClr>
                </a:solidFill>
              </a:rPr>
              <a:t> = limits</a:t>
            </a:r>
          </a:p>
          <a:p>
            <a:r>
              <a:rPr lang="en-US" sz="1600" dirty="0">
                <a:solidFill>
                  <a:schemeClr val="accent1">
                    <a:lumMod val="50000"/>
                  </a:schemeClr>
                </a:solidFill>
              </a:rPr>
              <a:t>definition=                                                                            definition=</a:t>
            </a:r>
          </a:p>
          <a:p>
            <a:r>
              <a:rPr lang="en-US" sz="1600" dirty="0">
                <a:solidFill>
                  <a:schemeClr val="accent1">
                    <a:lumMod val="50000"/>
                  </a:schemeClr>
                </a:solidFill>
              </a:rPr>
              <a:t>   do k = limits(LOW,KAXIS),limits(LOW,KAXIS)</a:t>
            </a:r>
          </a:p>
          <a:p>
            <a:r>
              <a:rPr lang="en-US" sz="1600" dirty="0">
                <a:solidFill>
                  <a:schemeClr val="accent1">
                    <a:lumMod val="50000"/>
                  </a:schemeClr>
                </a:solidFill>
              </a:rPr>
              <a:t>        do j = limits(LOW,JAXIS),limits(LOW,JAXIS)</a:t>
            </a:r>
          </a:p>
          <a:p>
            <a:r>
              <a:rPr lang="en-US" sz="1600" dirty="0">
                <a:solidFill>
                  <a:schemeClr val="accent1">
                    <a:lumMod val="50000"/>
                  </a:schemeClr>
                </a:solidFill>
              </a:rPr>
              <a:t>            do I = limits(LOW,IAXIS),limits(LOW,IAXIS)  </a:t>
            </a:r>
          </a:p>
          <a:p>
            <a:endParaRPr lang="en-US" sz="1600" dirty="0">
              <a:solidFill>
                <a:schemeClr val="accent1">
                  <a:lumMod val="50000"/>
                </a:schemeClr>
              </a:solidFill>
            </a:endParaRPr>
          </a:p>
          <a:p>
            <a:r>
              <a:rPr lang="en-US" sz="1600" dirty="0">
                <a:solidFill>
                  <a:schemeClr val="accent1">
                    <a:lumMod val="50000"/>
                  </a:schemeClr>
                </a:solidFill>
              </a:rPr>
              <a:t>[</a:t>
            </a:r>
            <a:r>
              <a:rPr lang="en-US" sz="1600" dirty="0" err="1">
                <a:solidFill>
                  <a:srgbClr val="C00000"/>
                </a:solidFill>
              </a:rPr>
              <a:t>loop_end</a:t>
            </a:r>
            <a:r>
              <a:rPr lang="en-US" sz="1600" dirty="0">
                <a:solidFill>
                  <a:schemeClr val="accent1">
                    <a:lumMod val="50000"/>
                  </a:schemeClr>
                </a:solidFill>
              </a:rPr>
              <a:t>]                                                                           [</a:t>
            </a:r>
            <a:r>
              <a:rPr lang="en-US" sz="1600" dirty="0" err="1">
                <a:solidFill>
                  <a:srgbClr val="C00000"/>
                </a:solidFill>
              </a:rPr>
              <a:t>loop_end</a:t>
            </a:r>
            <a:r>
              <a:rPr lang="en-US" sz="1600" dirty="0">
                <a:solidFill>
                  <a:schemeClr val="accent1">
                    <a:lumMod val="50000"/>
                  </a:schemeClr>
                </a:solidFill>
              </a:rPr>
              <a:t>]</a:t>
            </a:r>
          </a:p>
          <a:p>
            <a:r>
              <a:rPr lang="en-US" sz="1600" dirty="0">
                <a:solidFill>
                  <a:schemeClr val="accent1">
                    <a:lumMod val="50000"/>
                  </a:schemeClr>
                </a:solidFill>
              </a:rPr>
              <a:t>definition =                                                                           definition =</a:t>
            </a:r>
          </a:p>
          <a:p>
            <a:r>
              <a:rPr lang="en-US" sz="1600" dirty="0">
                <a:solidFill>
                  <a:schemeClr val="accent1">
                    <a:lumMod val="50000"/>
                  </a:schemeClr>
                </a:solidFill>
              </a:rPr>
              <a:t>          </a:t>
            </a:r>
            <a:r>
              <a:rPr lang="en-US" sz="1600" dirty="0" err="1">
                <a:solidFill>
                  <a:schemeClr val="accent1">
                    <a:lumMod val="50000"/>
                  </a:schemeClr>
                </a:solidFill>
              </a:rPr>
              <a:t>enddo</a:t>
            </a:r>
            <a:endParaRPr lang="en-US" sz="1600" dirty="0">
              <a:solidFill>
                <a:schemeClr val="accent1">
                  <a:lumMod val="50000"/>
                </a:schemeClr>
              </a:solidFill>
            </a:endParaRPr>
          </a:p>
          <a:p>
            <a:r>
              <a:rPr lang="en-US" sz="1600" dirty="0">
                <a:solidFill>
                  <a:schemeClr val="accent1">
                    <a:lumMod val="50000"/>
                  </a:schemeClr>
                </a:solidFill>
              </a:rPr>
              <a:t>       </a:t>
            </a:r>
            <a:r>
              <a:rPr lang="en-US" sz="1600" dirty="0" err="1">
                <a:solidFill>
                  <a:schemeClr val="accent1">
                    <a:lumMod val="50000"/>
                  </a:schemeClr>
                </a:solidFill>
              </a:rPr>
              <a:t>enddo</a:t>
            </a:r>
            <a:endParaRPr lang="en-US" sz="1600" dirty="0">
              <a:solidFill>
                <a:schemeClr val="accent1">
                  <a:lumMod val="50000"/>
                </a:schemeClr>
              </a:solidFill>
            </a:endParaRPr>
          </a:p>
          <a:p>
            <a:r>
              <a:rPr lang="en-US" sz="1600" dirty="0">
                <a:solidFill>
                  <a:schemeClr val="accent1">
                    <a:lumMod val="50000"/>
                  </a:schemeClr>
                </a:solidFill>
              </a:rPr>
              <a:t>    </a:t>
            </a:r>
            <a:r>
              <a:rPr lang="en-US" sz="1600" dirty="0" err="1">
                <a:solidFill>
                  <a:schemeClr val="accent1">
                    <a:lumMod val="50000"/>
                  </a:schemeClr>
                </a:solidFill>
              </a:rPr>
              <a:t>enddo</a:t>
            </a:r>
            <a:endParaRPr lang="en-US" sz="1600" dirty="0">
              <a:solidFill>
                <a:schemeClr val="accent1">
                  <a:lumMod val="50000"/>
                </a:schemeClr>
              </a:solidFill>
            </a:endParaRPr>
          </a:p>
        </p:txBody>
      </p:sp>
    </p:spTree>
    <p:extLst>
      <p:ext uri="{BB962C8B-B14F-4D97-AF65-F5344CB8AC3E}">
        <p14:creationId xmlns:p14="http://schemas.microsoft.com/office/powerpoint/2010/main" val="3157112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E6DAAB3-39BB-75EB-3B84-2A238F4BD01E}"/>
              </a:ext>
            </a:extLst>
          </p:cNvPr>
          <p:cNvSpPr txBox="1">
            <a:spLocks/>
          </p:cNvSpPr>
          <p:nvPr/>
        </p:nvSpPr>
        <p:spPr>
          <a:xfrm>
            <a:off x="653094" y="52532"/>
            <a:ext cx="10512862" cy="792908"/>
          </a:xfrm>
          <a:prstGeom prst="rect">
            <a:avLst/>
          </a:prstGeom>
        </p:spPr>
        <p:txBody>
          <a:bodyPr vert="horz" lIns="91416" tIns="45708" rIns="91416" bIns="45708" rtlCol="0" anchor="ctr">
            <a:normAutofit fontScale="85000" lnSpcReduction="10000"/>
          </a:bodyPr>
          <a:lstStyle>
            <a:lvl1pPr algn="l" defTabSz="914400" rtl="0" eaLnBrk="1" latinLnBrk="0" hangingPunct="1">
              <a:lnSpc>
                <a:spcPct val="90000"/>
              </a:lnSpc>
              <a:spcBef>
                <a:spcPct val="0"/>
              </a:spcBef>
              <a:buNone/>
              <a:defRPr sz="4000" b="1" i="0" kern="1200" baseline="0">
                <a:solidFill>
                  <a:schemeClr val="tx1"/>
                </a:solidFill>
                <a:latin typeface="+mj-lt"/>
                <a:ea typeface="+mj-ea"/>
                <a:cs typeface="+mj-cs"/>
              </a:defRPr>
            </a:lvl1pPr>
          </a:lstStyle>
          <a:p>
            <a:r>
              <a:rPr lang="en-US" sz="3999" dirty="0"/>
              <a:t>Orthogonal Axes of Challenges and Optimization</a:t>
            </a:r>
          </a:p>
        </p:txBody>
      </p:sp>
      <p:sp>
        <p:nvSpPr>
          <p:cNvPr id="6" name="Content Placeholder 2">
            <a:extLst>
              <a:ext uri="{FF2B5EF4-FFF2-40B4-BE49-F238E27FC236}">
                <a16:creationId xmlns:a16="http://schemas.microsoft.com/office/drawing/2014/main" id="{9423F266-451C-82AA-8A0C-E7FE7144817F}"/>
              </a:ext>
            </a:extLst>
          </p:cNvPr>
          <p:cNvSpPr txBox="1">
            <a:spLocks/>
          </p:cNvSpPr>
          <p:nvPr/>
        </p:nvSpPr>
        <p:spPr>
          <a:xfrm>
            <a:off x="837981" y="812226"/>
            <a:ext cx="10512862" cy="1263509"/>
          </a:xfrm>
          <a:prstGeom prst="rect">
            <a:avLst/>
          </a:prstGeom>
        </p:spPr>
        <p:txBody>
          <a:bodyPr vert="horz" lIns="91416" tIns="45708" rIns="91416" bIns="45708" rtlCol="0">
            <a:normAutofit/>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399" dirty="0"/>
              <a:t>Have a method for expressing algorithmic variants</a:t>
            </a:r>
          </a:p>
          <a:p>
            <a:pPr lvl="2"/>
            <a:r>
              <a:rPr lang="en-US" sz="1999" dirty="0"/>
              <a:t>Without delving into the details of the arithmetic</a:t>
            </a:r>
          </a:p>
        </p:txBody>
      </p:sp>
      <p:sp>
        <p:nvSpPr>
          <p:cNvPr id="7" name="Content Placeholder 3">
            <a:extLst>
              <a:ext uri="{FF2B5EF4-FFF2-40B4-BE49-F238E27FC236}">
                <a16:creationId xmlns:a16="http://schemas.microsoft.com/office/drawing/2014/main" id="{353CFD6D-1F1A-981D-93D3-F7B208E44DDC}"/>
              </a:ext>
            </a:extLst>
          </p:cNvPr>
          <p:cNvSpPr txBox="1">
            <a:spLocks/>
          </p:cNvSpPr>
          <p:nvPr/>
        </p:nvSpPr>
        <p:spPr>
          <a:xfrm>
            <a:off x="653094" y="1627568"/>
            <a:ext cx="8032598" cy="1492092"/>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99" dirty="0"/>
              <a:t>Example -- Flash-X supports two block-structured AMR grid backends</a:t>
            </a:r>
          </a:p>
          <a:p>
            <a:pPr lvl="1"/>
            <a:r>
              <a:rPr lang="en-US" sz="2399" dirty="0"/>
              <a:t>Paramesh: Octree-based, </a:t>
            </a:r>
            <a:r>
              <a:rPr lang="en-US" sz="2399" dirty="0" err="1"/>
              <a:t>AMReX</a:t>
            </a:r>
            <a:r>
              <a:rPr lang="en-US" sz="2399" dirty="0"/>
              <a:t>: Level-based</a:t>
            </a:r>
          </a:p>
          <a:p>
            <a:r>
              <a:rPr lang="en-US" sz="2799" dirty="0"/>
              <a:t>Each has different preferences for flux correction at fine-coarse boundaries</a:t>
            </a:r>
          </a:p>
          <a:p>
            <a:r>
              <a:rPr lang="en-US" sz="2799" dirty="0"/>
              <a:t>For higher order RK integration Communication avoidance – telescoping mode</a:t>
            </a:r>
          </a:p>
          <a:p>
            <a:pPr marL="0" indent="0">
              <a:buNone/>
            </a:pPr>
            <a:endParaRPr lang="en-US" sz="2799" dirty="0"/>
          </a:p>
          <a:p>
            <a:endParaRPr lang="en-US" sz="2799" dirty="0"/>
          </a:p>
        </p:txBody>
      </p:sp>
      <p:pic>
        <p:nvPicPr>
          <p:cNvPr id="8" name="Picture 7">
            <a:extLst>
              <a:ext uri="{FF2B5EF4-FFF2-40B4-BE49-F238E27FC236}">
                <a16:creationId xmlns:a16="http://schemas.microsoft.com/office/drawing/2014/main" id="{6098C275-D845-46C4-0008-96411F6F7FF0}"/>
              </a:ext>
            </a:extLst>
          </p:cNvPr>
          <p:cNvPicPr>
            <a:picLocks noChangeAspect="1"/>
          </p:cNvPicPr>
          <p:nvPr/>
        </p:nvPicPr>
        <p:blipFill>
          <a:blip r:embed="rId2"/>
          <a:stretch>
            <a:fillRect/>
          </a:stretch>
        </p:blipFill>
        <p:spPr>
          <a:xfrm>
            <a:off x="467502" y="2835429"/>
            <a:ext cx="5442023" cy="1493080"/>
          </a:xfrm>
          <a:prstGeom prst="rect">
            <a:avLst/>
          </a:prstGeom>
        </p:spPr>
      </p:pic>
      <p:pic>
        <p:nvPicPr>
          <p:cNvPr id="9" name="Picture 8">
            <a:extLst>
              <a:ext uri="{FF2B5EF4-FFF2-40B4-BE49-F238E27FC236}">
                <a16:creationId xmlns:a16="http://schemas.microsoft.com/office/drawing/2014/main" id="{0FE551E7-6183-AD3B-5F3C-999B10F77062}"/>
              </a:ext>
            </a:extLst>
          </p:cNvPr>
          <p:cNvPicPr>
            <a:picLocks noChangeAspect="1"/>
          </p:cNvPicPr>
          <p:nvPr/>
        </p:nvPicPr>
        <p:blipFill>
          <a:blip r:embed="rId3"/>
          <a:stretch>
            <a:fillRect/>
          </a:stretch>
        </p:blipFill>
        <p:spPr>
          <a:xfrm>
            <a:off x="6052076" y="2817902"/>
            <a:ext cx="5655410" cy="1563241"/>
          </a:xfrm>
          <a:prstGeom prst="rect">
            <a:avLst/>
          </a:prstGeom>
        </p:spPr>
      </p:pic>
      <p:pic>
        <p:nvPicPr>
          <p:cNvPr id="10" name="Picture 9">
            <a:extLst>
              <a:ext uri="{FF2B5EF4-FFF2-40B4-BE49-F238E27FC236}">
                <a16:creationId xmlns:a16="http://schemas.microsoft.com/office/drawing/2014/main" id="{7E04467E-5033-B6B3-B0D8-CABA3E0AE6FB}"/>
              </a:ext>
            </a:extLst>
          </p:cNvPr>
          <p:cNvPicPr>
            <a:picLocks noChangeAspect="1"/>
          </p:cNvPicPr>
          <p:nvPr/>
        </p:nvPicPr>
        <p:blipFill>
          <a:blip r:embed="rId4"/>
          <a:stretch>
            <a:fillRect/>
          </a:stretch>
        </p:blipFill>
        <p:spPr>
          <a:xfrm>
            <a:off x="416190" y="4386588"/>
            <a:ext cx="5493335" cy="1516662"/>
          </a:xfrm>
          <a:prstGeom prst="rect">
            <a:avLst/>
          </a:prstGeom>
        </p:spPr>
      </p:pic>
      <p:pic>
        <p:nvPicPr>
          <p:cNvPr id="11" name="Picture 10">
            <a:extLst>
              <a:ext uri="{FF2B5EF4-FFF2-40B4-BE49-F238E27FC236}">
                <a16:creationId xmlns:a16="http://schemas.microsoft.com/office/drawing/2014/main" id="{5831DA50-696B-1715-965E-AA4ED080EAF7}"/>
              </a:ext>
            </a:extLst>
          </p:cNvPr>
          <p:cNvPicPr>
            <a:picLocks noChangeAspect="1"/>
          </p:cNvPicPr>
          <p:nvPr/>
        </p:nvPicPr>
        <p:blipFill>
          <a:blip r:embed="rId5"/>
          <a:stretch>
            <a:fillRect/>
          </a:stretch>
        </p:blipFill>
        <p:spPr>
          <a:xfrm>
            <a:off x="6009740" y="4381143"/>
            <a:ext cx="5697746" cy="1563241"/>
          </a:xfrm>
          <a:prstGeom prst="rect">
            <a:avLst/>
          </a:prstGeom>
        </p:spPr>
      </p:pic>
    </p:spTree>
    <p:extLst>
      <p:ext uri="{BB962C8B-B14F-4D97-AF65-F5344CB8AC3E}">
        <p14:creationId xmlns:p14="http://schemas.microsoft.com/office/powerpoint/2010/main" val="3493464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CAC70B-330C-7868-21A9-B34624C0E643}"/>
              </a:ext>
            </a:extLst>
          </p:cNvPr>
          <p:cNvSpPr txBox="1">
            <a:spLocks/>
          </p:cNvSpPr>
          <p:nvPr/>
        </p:nvSpPr>
        <p:spPr>
          <a:xfrm>
            <a:off x="653094" y="52532"/>
            <a:ext cx="10512862" cy="792908"/>
          </a:xfrm>
          <a:prstGeom prst="rect">
            <a:avLst/>
          </a:prstGeom>
        </p:spPr>
        <p:txBody>
          <a:bodyPr vert="horz" lIns="91416" tIns="45708" rIns="91416" bIns="45708" rtlCol="0" anchor="ctr">
            <a:normAutofit fontScale="85000" lnSpcReduction="10000"/>
          </a:bodyPr>
          <a:lstStyle>
            <a:lvl1pPr algn="l" defTabSz="914400" rtl="0" eaLnBrk="1" latinLnBrk="0" hangingPunct="1">
              <a:lnSpc>
                <a:spcPct val="90000"/>
              </a:lnSpc>
              <a:spcBef>
                <a:spcPct val="0"/>
              </a:spcBef>
              <a:buNone/>
              <a:defRPr sz="4000" b="1" i="0" kern="1200" baseline="0">
                <a:solidFill>
                  <a:schemeClr val="tx1"/>
                </a:solidFill>
                <a:latin typeface="+mj-lt"/>
                <a:ea typeface="+mj-ea"/>
                <a:cs typeface="+mj-cs"/>
              </a:defRPr>
            </a:lvl1pPr>
          </a:lstStyle>
          <a:p>
            <a:r>
              <a:rPr lang="en-US" sz="3999" dirty="0"/>
              <a:t>Orthogonal Axes of Challenges and Optimization</a:t>
            </a:r>
          </a:p>
        </p:txBody>
      </p:sp>
      <p:sp>
        <p:nvSpPr>
          <p:cNvPr id="8" name="Content Placeholder 2">
            <a:extLst>
              <a:ext uri="{FF2B5EF4-FFF2-40B4-BE49-F238E27FC236}">
                <a16:creationId xmlns:a16="http://schemas.microsoft.com/office/drawing/2014/main" id="{3E6B596F-A447-C996-0328-EDB66F73B864}"/>
              </a:ext>
            </a:extLst>
          </p:cNvPr>
          <p:cNvSpPr txBox="1">
            <a:spLocks/>
          </p:cNvSpPr>
          <p:nvPr/>
        </p:nvSpPr>
        <p:spPr>
          <a:xfrm>
            <a:off x="837981" y="812226"/>
            <a:ext cx="10512862" cy="924548"/>
          </a:xfrm>
          <a:prstGeom prst="rect">
            <a:avLst/>
          </a:prstGeom>
        </p:spPr>
        <p:txBody>
          <a:bodyPr vert="horz" lIns="91416" tIns="45708" rIns="91416" bIns="45708" rtlCol="0">
            <a:normAutofit fontScale="925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399" dirty="0"/>
              <a:t>Have a way of rearranging data locality and moving data and computation</a:t>
            </a:r>
          </a:p>
          <a:p>
            <a:pPr lvl="2"/>
            <a:r>
              <a:rPr lang="en-US" sz="1999" dirty="0"/>
              <a:t>Let the human-in-the-loop dictate this</a:t>
            </a:r>
          </a:p>
        </p:txBody>
      </p:sp>
      <p:sp>
        <p:nvSpPr>
          <p:cNvPr id="9" name="Rounded Rectangle 8">
            <a:extLst>
              <a:ext uri="{FF2B5EF4-FFF2-40B4-BE49-F238E27FC236}">
                <a16:creationId xmlns:a16="http://schemas.microsoft.com/office/drawing/2014/main" id="{BF6B6299-B0A5-E470-E82C-2B981677601B}"/>
              </a:ext>
            </a:extLst>
          </p:cNvPr>
          <p:cNvSpPr/>
          <p:nvPr/>
        </p:nvSpPr>
        <p:spPr>
          <a:xfrm>
            <a:off x="373893" y="1754186"/>
            <a:ext cx="5265572" cy="1903355"/>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a:solidFill>
                  <a:schemeClr val="bg1"/>
                </a:solidFill>
              </a:rPr>
              <a:t>CG-Kit – recipes in python</a:t>
            </a:r>
          </a:p>
          <a:p>
            <a:pPr>
              <a:lnSpc>
                <a:spcPct val="90000"/>
              </a:lnSpc>
            </a:pPr>
            <a:r>
              <a:rPr lang="en-US" sz="2399" dirty="0">
                <a:solidFill>
                  <a:schemeClr val="bg1"/>
                </a:solidFill>
              </a:rPr>
              <a:t> -- templates for different variants</a:t>
            </a:r>
          </a:p>
          <a:p>
            <a:pPr>
              <a:lnSpc>
                <a:spcPct val="90000"/>
              </a:lnSpc>
            </a:pPr>
            <a:r>
              <a:rPr lang="en-US" sz="2399" dirty="0">
                <a:solidFill>
                  <a:schemeClr val="bg1"/>
                </a:solidFill>
              </a:rPr>
              <a:t> -- express where to compute what</a:t>
            </a:r>
          </a:p>
          <a:p>
            <a:pPr>
              <a:lnSpc>
                <a:spcPct val="90000"/>
              </a:lnSpc>
            </a:pPr>
            <a:r>
              <a:rPr lang="en-US" sz="2399" dirty="0">
                <a:solidFill>
                  <a:schemeClr val="bg1"/>
                </a:solidFill>
              </a:rPr>
              <a:t> --  emit code in Fortran/C/C++</a:t>
            </a:r>
          </a:p>
        </p:txBody>
      </p:sp>
      <p:sp>
        <p:nvSpPr>
          <p:cNvPr id="10" name="Rounded Rectangle 9">
            <a:extLst>
              <a:ext uri="{FF2B5EF4-FFF2-40B4-BE49-F238E27FC236}">
                <a16:creationId xmlns:a16="http://schemas.microsoft.com/office/drawing/2014/main" id="{AC39B286-BF3B-3780-5905-393DC60A509C}"/>
              </a:ext>
            </a:extLst>
          </p:cNvPr>
          <p:cNvSpPr/>
          <p:nvPr/>
        </p:nvSpPr>
        <p:spPr>
          <a:xfrm>
            <a:off x="5781839" y="1736774"/>
            <a:ext cx="6033091" cy="1920767"/>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err="1">
                <a:solidFill>
                  <a:schemeClr val="bg1"/>
                </a:solidFill>
              </a:rPr>
              <a:t>Milhoja</a:t>
            </a:r>
            <a:r>
              <a:rPr lang="en-US" sz="2399" dirty="0">
                <a:solidFill>
                  <a:schemeClr val="bg1"/>
                </a:solidFill>
              </a:rPr>
              <a:t> – flatten/decompose data and move it to the target</a:t>
            </a:r>
          </a:p>
          <a:p>
            <a:pPr>
              <a:lnSpc>
                <a:spcPct val="90000"/>
              </a:lnSpc>
            </a:pPr>
            <a:r>
              <a:rPr lang="en-US" sz="2399" dirty="0">
                <a:solidFill>
                  <a:schemeClr val="bg1"/>
                </a:solidFill>
              </a:rPr>
              <a:t>  -- combine data into one data packet</a:t>
            </a:r>
          </a:p>
          <a:p>
            <a:pPr>
              <a:lnSpc>
                <a:spcPct val="90000"/>
              </a:lnSpc>
            </a:pPr>
            <a:r>
              <a:rPr lang="en-US" sz="2399" dirty="0">
                <a:solidFill>
                  <a:schemeClr val="bg1"/>
                </a:solidFill>
              </a:rPr>
              <a:t>  -- decompose into smaller computational sections if needed</a:t>
            </a:r>
          </a:p>
        </p:txBody>
      </p:sp>
      <p:sp>
        <p:nvSpPr>
          <p:cNvPr id="11" name="Content Placeholder 2">
            <a:extLst>
              <a:ext uri="{FF2B5EF4-FFF2-40B4-BE49-F238E27FC236}">
                <a16:creationId xmlns:a16="http://schemas.microsoft.com/office/drawing/2014/main" id="{610F3005-4EA2-8FE8-1602-266BE3E25DBA}"/>
              </a:ext>
            </a:extLst>
          </p:cNvPr>
          <p:cNvSpPr>
            <a:spLocks noGrp="1"/>
          </p:cNvSpPr>
          <p:nvPr>
            <p:ph idx="1"/>
          </p:nvPr>
        </p:nvSpPr>
        <p:spPr>
          <a:xfrm>
            <a:off x="373894" y="3859873"/>
            <a:ext cx="4831876" cy="2272221"/>
          </a:xfrm>
        </p:spPr>
        <p:txBody>
          <a:bodyPr>
            <a:normAutofit fontScale="92500" lnSpcReduction="10000"/>
          </a:bodyPr>
          <a:lstStyle/>
          <a:p>
            <a:r>
              <a:rPr lang="en-US" dirty="0"/>
              <a:t>If tools only execute what they are told to, they are simpler</a:t>
            </a:r>
          </a:p>
          <a:p>
            <a:r>
              <a:rPr lang="en-US" dirty="0"/>
              <a:t>Code generation is our friend – especially when it is simple forward map</a:t>
            </a:r>
          </a:p>
          <a:p>
            <a:pPr lvl="1"/>
            <a:r>
              <a:rPr lang="en-US" dirty="0"/>
              <a:t>And is not entangled with the details of the arithmetic</a:t>
            </a:r>
          </a:p>
          <a:p>
            <a:pPr lvl="2"/>
            <a:endParaRPr lang="en-US" dirty="0"/>
          </a:p>
          <a:p>
            <a:endParaRPr lang="en-US" dirty="0"/>
          </a:p>
        </p:txBody>
      </p:sp>
      <p:sp>
        <p:nvSpPr>
          <p:cNvPr id="2" name="Content Placeholder 2">
            <a:extLst>
              <a:ext uri="{FF2B5EF4-FFF2-40B4-BE49-F238E27FC236}">
                <a16:creationId xmlns:a16="http://schemas.microsoft.com/office/drawing/2014/main" id="{99519F2D-5C66-6848-E527-51079EDC4E54}"/>
              </a:ext>
            </a:extLst>
          </p:cNvPr>
          <p:cNvSpPr txBox="1">
            <a:spLocks/>
          </p:cNvSpPr>
          <p:nvPr/>
        </p:nvSpPr>
        <p:spPr>
          <a:xfrm>
            <a:off x="6094413" y="3859872"/>
            <a:ext cx="5076202" cy="2582882"/>
          </a:xfrm>
          <a:prstGeom prst="rect">
            <a:avLst/>
          </a:prstGeom>
        </p:spPr>
        <p:txBody>
          <a:bodyPr vert="horz" lIns="91416" tIns="45708" rIns="91416" bIns="45708" rtlCol="0">
            <a:normAutofit fontScale="92500" lnSpcReduction="100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99" dirty="0"/>
              <a:t>If N blocks are sent to the device we need N copies of all block-wise scratch</a:t>
            </a:r>
          </a:p>
          <a:p>
            <a:r>
              <a:rPr lang="en-US" sz="2799" dirty="0"/>
              <a:t>For all data items we need device pointers</a:t>
            </a:r>
          </a:p>
          <a:p>
            <a:r>
              <a:rPr lang="en-US" sz="2799" dirty="0"/>
              <a:t>Code internally decorated with directives</a:t>
            </a:r>
          </a:p>
          <a:p>
            <a:pPr marL="914126" lvl="2" indent="0">
              <a:buNone/>
            </a:pPr>
            <a:endParaRPr lang="en-US" sz="1999" dirty="0"/>
          </a:p>
          <a:p>
            <a:endParaRPr lang="en-US" sz="2799" dirty="0"/>
          </a:p>
        </p:txBody>
      </p:sp>
    </p:spTree>
    <p:extLst>
      <p:ext uri="{BB962C8B-B14F-4D97-AF65-F5344CB8AC3E}">
        <p14:creationId xmlns:p14="http://schemas.microsoft.com/office/powerpoint/2010/main" val="25631015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56AA-AF32-23F8-0F8F-A64808F0B724}"/>
              </a:ext>
            </a:extLst>
          </p:cNvPr>
          <p:cNvSpPr>
            <a:spLocks noGrp="1"/>
          </p:cNvSpPr>
          <p:nvPr>
            <p:ph type="title"/>
          </p:nvPr>
        </p:nvSpPr>
        <p:spPr>
          <a:xfrm>
            <a:off x="837981" y="365924"/>
            <a:ext cx="10512862" cy="661398"/>
          </a:xfrm>
        </p:spPr>
        <p:txBody>
          <a:bodyPr/>
          <a:lstStyle/>
          <a:p>
            <a:r>
              <a:rPr lang="en-US" dirty="0"/>
              <a:t>Code Generators</a:t>
            </a:r>
          </a:p>
        </p:txBody>
      </p:sp>
      <p:sp>
        <p:nvSpPr>
          <p:cNvPr id="3" name="Content Placeholder 2">
            <a:extLst>
              <a:ext uri="{FF2B5EF4-FFF2-40B4-BE49-F238E27FC236}">
                <a16:creationId xmlns:a16="http://schemas.microsoft.com/office/drawing/2014/main" id="{EE469064-0777-7B98-BAEE-C0A6DE72545A}"/>
              </a:ext>
            </a:extLst>
          </p:cNvPr>
          <p:cNvSpPr>
            <a:spLocks noGrp="1"/>
          </p:cNvSpPr>
          <p:nvPr>
            <p:ph idx="1"/>
          </p:nvPr>
        </p:nvSpPr>
        <p:spPr>
          <a:xfrm>
            <a:off x="837981" y="1313409"/>
            <a:ext cx="9021080" cy="4876282"/>
          </a:xfrm>
        </p:spPr>
        <p:txBody>
          <a:bodyPr>
            <a:normAutofit/>
          </a:bodyPr>
          <a:lstStyle/>
          <a:p>
            <a:r>
              <a:rPr lang="en-US" dirty="0"/>
              <a:t>Two Classes</a:t>
            </a:r>
          </a:p>
          <a:p>
            <a:pPr lvl="1"/>
            <a:r>
              <a:rPr lang="en-US" dirty="0"/>
              <a:t>Data packet generators</a:t>
            </a:r>
          </a:p>
          <a:p>
            <a:pPr lvl="2"/>
            <a:r>
              <a:rPr lang="en-US" dirty="0"/>
              <a:t>Parse the interface files </a:t>
            </a:r>
          </a:p>
          <a:p>
            <a:pPr lvl="2"/>
            <a:r>
              <a:rPr lang="en-US" dirty="0"/>
              <a:t>Collect all data to be put into a data packet</a:t>
            </a:r>
          </a:p>
          <a:p>
            <a:pPr lvl="2"/>
            <a:r>
              <a:rPr lang="en-US" dirty="0"/>
              <a:t>Generate code that will flatten all data into data packets</a:t>
            </a:r>
          </a:p>
          <a:p>
            <a:pPr lvl="1"/>
            <a:r>
              <a:rPr lang="en-US" dirty="0"/>
              <a:t>Task function generators</a:t>
            </a:r>
          </a:p>
          <a:p>
            <a:pPr lvl="2"/>
            <a:r>
              <a:rPr lang="en-US" dirty="0"/>
              <a:t>Consolidate functions to be invoked </a:t>
            </a:r>
          </a:p>
          <a:p>
            <a:pPr lvl="2"/>
            <a:r>
              <a:rPr lang="en-US" dirty="0"/>
              <a:t>Bookended by internode communication</a:t>
            </a:r>
          </a:p>
          <a:p>
            <a:pPr lvl="2"/>
            <a:r>
              <a:rPr lang="en-US" dirty="0"/>
              <a:t>Unpack data packets</a:t>
            </a:r>
          </a:p>
          <a:p>
            <a:r>
              <a:rPr lang="en-US" dirty="0"/>
              <a:t>Decorate interface definitions with needed metadata</a:t>
            </a:r>
          </a:p>
          <a:p>
            <a:pPr marL="914126" lvl="2" indent="0">
              <a:buNone/>
            </a:pPr>
            <a:r>
              <a:rPr lang="en-US" dirty="0">
                <a:hlinkClick r:id="rId2"/>
              </a:rPr>
              <a:t>Example</a:t>
            </a:r>
            <a:r>
              <a:rPr lang="en-US" dirty="0"/>
              <a:t>  -- </a:t>
            </a:r>
            <a:r>
              <a:rPr lang="en-US" sz="1600" i="1" dirty="0"/>
              <a:t>this link will work only if you have access to the Flash-X code repository. Please email flash-x@lists.cels.anl.gov with your </a:t>
            </a:r>
            <a:r>
              <a:rPr lang="en-US" sz="1600" i="1" dirty="0" err="1"/>
              <a:t>github</a:t>
            </a:r>
            <a:r>
              <a:rPr lang="en-US" sz="1600" i="1" dirty="0"/>
              <a:t> username to get access</a:t>
            </a:r>
          </a:p>
        </p:txBody>
      </p:sp>
    </p:spTree>
    <p:extLst>
      <p:ext uri="{BB962C8B-B14F-4D97-AF65-F5344CB8AC3E}">
        <p14:creationId xmlns:p14="http://schemas.microsoft.com/office/powerpoint/2010/main" val="2428316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F34345C-9FD3-574F-AE9E-15E8A49D5331}"/>
              </a:ext>
            </a:extLst>
          </p:cNvPr>
          <p:cNvGrpSpPr/>
          <p:nvPr/>
        </p:nvGrpSpPr>
        <p:grpSpPr>
          <a:xfrm>
            <a:off x="1209919" y="1385579"/>
            <a:ext cx="9961676" cy="4695278"/>
            <a:chOff x="-2" y="-1"/>
            <a:chExt cx="11291950" cy="5739950"/>
          </a:xfrm>
        </p:grpSpPr>
        <p:grpSp>
          <p:nvGrpSpPr>
            <p:cNvPr id="5" name="Rectangle 4">
              <a:extLst>
                <a:ext uri="{FF2B5EF4-FFF2-40B4-BE49-F238E27FC236}">
                  <a16:creationId xmlns:a16="http://schemas.microsoft.com/office/drawing/2014/main" id="{5C98D8B6-DEE9-7C43-90D5-D7BF06E64B3B}"/>
                </a:ext>
              </a:extLst>
            </p:cNvPr>
            <p:cNvGrpSpPr/>
            <p:nvPr/>
          </p:nvGrpSpPr>
          <p:grpSpPr>
            <a:xfrm>
              <a:off x="21409" y="3039218"/>
              <a:ext cx="2730535" cy="1171100"/>
              <a:chOff x="0" y="-1"/>
              <a:chExt cx="2730533" cy="1171099"/>
            </a:xfrm>
          </p:grpSpPr>
          <p:sp>
            <p:nvSpPr>
              <p:cNvPr id="68" name="Rectangle">
                <a:extLst>
                  <a:ext uri="{FF2B5EF4-FFF2-40B4-BE49-F238E27FC236}">
                    <a16:creationId xmlns:a16="http://schemas.microsoft.com/office/drawing/2014/main" id="{EADA70C0-658E-CA4A-9CC9-F264BDB96DC4}"/>
                  </a:ext>
                </a:extLst>
              </p:cNvPr>
              <p:cNvSpPr/>
              <p:nvPr/>
            </p:nvSpPr>
            <p:spPr>
              <a:xfrm>
                <a:off x="0" y="-1"/>
                <a:ext cx="2730533" cy="1171099"/>
              </a:xfrm>
              <a:prstGeom prst="rect">
                <a:avLst/>
              </a:prstGeom>
              <a:solidFill>
                <a:schemeClr val="accent1">
                  <a:lumMod val="60000"/>
                  <a:lumOff val="4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69" name="Library of templates for time-stepping">
                <a:extLst>
                  <a:ext uri="{FF2B5EF4-FFF2-40B4-BE49-F238E27FC236}">
                    <a16:creationId xmlns:a16="http://schemas.microsoft.com/office/drawing/2014/main" id="{8C756D37-6ACE-AF40-811E-B965C3780E12}"/>
                  </a:ext>
                </a:extLst>
              </p:cNvPr>
              <p:cNvSpPr txBox="1"/>
              <p:nvPr/>
            </p:nvSpPr>
            <p:spPr>
              <a:xfrm>
                <a:off x="58420" y="289126"/>
                <a:ext cx="2613695" cy="592846"/>
              </a:xfrm>
              <a:prstGeom prst="rect">
                <a:avLst/>
              </a:prstGeom>
              <a:solidFill>
                <a:schemeClr val="accent1">
                  <a:lumMod val="60000"/>
                  <a:lumOff val="40000"/>
                </a:scheme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lstStyle>
              <a:p>
                <a:r>
                  <a:rPr sz="1351"/>
                  <a:t>Library of templates for time-stepping </a:t>
                </a:r>
              </a:p>
            </p:txBody>
          </p:sp>
        </p:grpSp>
        <p:grpSp>
          <p:nvGrpSpPr>
            <p:cNvPr id="6" name="Rectangle 5">
              <a:extLst>
                <a:ext uri="{FF2B5EF4-FFF2-40B4-BE49-F238E27FC236}">
                  <a16:creationId xmlns:a16="http://schemas.microsoft.com/office/drawing/2014/main" id="{BE7BD37B-58B7-0841-82B0-45DC89CB5C3F}"/>
                </a:ext>
              </a:extLst>
            </p:cNvPr>
            <p:cNvGrpSpPr/>
            <p:nvPr/>
          </p:nvGrpSpPr>
          <p:grpSpPr>
            <a:xfrm>
              <a:off x="3066198" y="0"/>
              <a:ext cx="568872" cy="2361716"/>
              <a:chOff x="-1" y="0"/>
              <a:chExt cx="568871" cy="2361714"/>
            </a:xfrm>
          </p:grpSpPr>
          <p:sp>
            <p:nvSpPr>
              <p:cNvPr id="66" name="Rectangle">
                <a:extLst>
                  <a:ext uri="{FF2B5EF4-FFF2-40B4-BE49-F238E27FC236}">
                    <a16:creationId xmlns:a16="http://schemas.microsoft.com/office/drawing/2014/main" id="{F8640EEC-9E6A-1A43-B394-26A1F3BB6BD8}"/>
                  </a:ext>
                </a:extLst>
              </p:cNvPr>
              <p:cNvSpPr/>
              <p:nvPr/>
            </p:nvSpPr>
            <p:spPr>
              <a:xfrm>
                <a:off x="-1" y="0"/>
                <a:ext cx="568871" cy="2361714"/>
              </a:xfrm>
              <a:prstGeom prst="rect">
                <a:avLst/>
              </a:prstGeom>
              <a:solidFill>
                <a:srgbClr val="7030A0"/>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67" name="Configurator">
                <a:extLst>
                  <a:ext uri="{FF2B5EF4-FFF2-40B4-BE49-F238E27FC236}">
                    <a16:creationId xmlns:a16="http://schemas.microsoft.com/office/drawing/2014/main" id="{B6110DB6-CC56-6947-A4D4-D1D773C4761E}"/>
                  </a:ext>
                </a:extLst>
              </p:cNvPr>
              <p:cNvSpPr txBox="1"/>
              <p:nvPr/>
            </p:nvSpPr>
            <p:spPr>
              <a:xfrm rot="16200000">
                <a:off x="-838003" y="1023789"/>
                <a:ext cx="2244875" cy="3141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lang="en-US" sz="1351" dirty="0"/>
                  <a:t>Optimizer</a:t>
                </a:r>
                <a:r>
                  <a:rPr sz="1351" dirty="0"/>
                  <a:t> </a:t>
                </a:r>
              </a:p>
            </p:txBody>
          </p:sp>
        </p:grpSp>
        <p:grpSp>
          <p:nvGrpSpPr>
            <p:cNvPr id="7" name="Rectangle 6">
              <a:extLst>
                <a:ext uri="{FF2B5EF4-FFF2-40B4-BE49-F238E27FC236}">
                  <a16:creationId xmlns:a16="http://schemas.microsoft.com/office/drawing/2014/main" id="{45E05B79-2FDE-1849-92EA-3187A00C3997}"/>
                </a:ext>
              </a:extLst>
            </p:cNvPr>
            <p:cNvGrpSpPr/>
            <p:nvPr/>
          </p:nvGrpSpPr>
          <p:grpSpPr>
            <a:xfrm>
              <a:off x="3967514" y="0"/>
              <a:ext cx="1179793" cy="2361716"/>
              <a:chOff x="0" y="0"/>
              <a:chExt cx="1179791" cy="2361715"/>
            </a:xfrm>
          </p:grpSpPr>
          <p:sp>
            <p:nvSpPr>
              <p:cNvPr id="64" name="Rectangle">
                <a:extLst>
                  <a:ext uri="{FF2B5EF4-FFF2-40B4-BE49-F238E27FC236}">
                    <a16:creationId xmlns:a16="http://schemas.microsoft.com/office/drawing/2014/main" id="{CC413C79-E08E-1B48-A5E2-7D69138E33A8}"/>
                  </a:ext>
                </a:extLst>
              </p:cNvPr>
              <p:cNvSpPr/>
              <p:nvPr/>
            </p:nvSpPr>
            <p:spPr>
              <a:xfrm>
                <a:off x="0" y="0"/>
                <a:ext cx="1179791" cy="2361715"/>
              </a:xfrm>
              <a:prstGeom prst="rect">
                <a:avLst/>
              </a:prstGeom>
              <a:solidFill>
                <a:schemeClr val="accent6">
                  <a:lumMod val="60000"/>
                  <a:lumOff val="4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65" name="Keyed code for target device">
                <a:extLst>
                  <a:ext uri="{FF2B5EF4-FFF2-40B4-BE49-F238E27FC236}">
                    <a16:creationId xmlns:a16="http://schemas.microsoft.com/office/drawing/2014/main" id="{85B68DC9-C89E-8C49-806B-1F9001F26CED}"/>
                  </a:ext>
                </a:extLst>
              </p:cNvPr>
              <p:cNvSpPr txBox="1"/>
              <p:nvPr/>
            </p:nvSpPr>
            <p:spPr>
              <a:xfrm>
                <a:off x="58420" y="757402"/>
                <a:ext cx="1062950" cy="84691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lstStyle>
              <a:p>
                <a:r>
                  <a:rPr sz="1351" dirty="0"/>
                  <a:t> code for target device</a:t>
                </a:r>
              </a:p>
            </p:txBody>
          </p:sp>
        </p:grpSp>
        <p:grpSp>
          <p:nvGrpSpPr>
            <p:cNvPr id="8" name="Rectangle 7">
              <a:extLst>
                <a:ext uri="{FF2B5EF4-FFF2-40B4-BE49-F238E27FC236}">
                  <a16:creationId xmlns:a16="http://schemas.microsoft.com/office/drawing/2014/main" id="{22053E60-070C-B94B-B7BA-2ACA1F773769}"/>
                </a:ext>
              </a:extLst>
            </p:cNvPr>
            <p:cNvGrpSpPr/>
            <p:nvPr/>
          </p:nvGrpSpPr>
          <p:grpSpPr>
            <a:xfrm>
              <a:off x="21409" y="0"/>
              <a:ext cx="2712347" cy="1306531"/>
              <a:chOff x="-1" y="0"/>
              <a:chExt cx="2712346" cy="1306529"/>
            </a:xfrm>
          </p:grpSpPr>
          <p:sp>
            <p:nvSpPr>
              <p:cNvPr id="62" name="Rectangle">
                <a:extLst>
                  <a:ext uri="{FF2B5EF4-FFF2-40B4-BE49-F238E27FC236}">
                    <a16:creationId xmlns:a16="http://schemas.microsoft.com/office/drawing/2014/main" id="{F137F59A-B912-0943-A693-2AA01F1CD8FF}"/>
                  </a:ext>
                </a:extLst>
              </p:cNvPr>
              <p:cNvSpPr/>
              <p:nvPr/>
            </p:nvSpPr>
            <p:spPr>
              <a:xfrm>
                <a:off x="-1" y="0"/>
                <a:ext cx="2712346" cy="1306529"/>
              </a:xfrm>
              <a:prstGeom prst="rect">
                <a:avLst/>
              </a:prstGeom>
              <a:solidFill>
                <a:schemeClr val="accent1">
                  <a:lumMod val="60000"/>
                  <a:lumOff val="40000"/>
                </a:schemeClr>
              </a:solidFill>
              <a:ln w="25400" cap="flat">
                <a:solidFill>
                  <a:srgbClr val="1C466B"/>
                </a:solidFill>
                <a:prstDash val="solid"/>
                <a:round/>
              </a:ln>
              <a:effectLst/>
            </p:spPr>
            <p:txBody>
              <a:bodyPr wrap="square" lIns="34316" tIns="34316" rIns="34316" bIns="34316" numCol="1" anchor="ctr">
                <a:noAutofit/>
              </a:bodyPr>
              <a:lstStyle/>
              <a:p>
                <a:pPr>
                  <a:defRPr>
                    <a:solidFill>
                      <a:srgbClr val="FFFFFF"/>
                    </a:solidFill>
                  </a:defRPr>
                </a:pPr>
                <a:endParaRPr sz="1351"/>
              </a:p>
            </p:txBody>
          </p:sp>
          <p:sp>
            <p:nvSpPr>
              <p:cNvPr id="63" name="Static physics code…">
                <a:extLst>
                  <a:ext uri="{FF2B5EF4-FFF2-40B4-BE49-F238E27FC236}">
                    <a16:creationId xmlns:a16="http://schemas.microsoft.com/office/drawing/2014/main" id="{1B0E05CA-B3C2-AE49-AB27-271AAC1BFC90}"/>
                  </a:ext>
                </a:extLst>
              </p:cNvPr>
              <p:cNvSpPr txBox="1"/>
              <p:nvPr/>
            </p:nvSpPr>
            <p:spPr>
              <a:xfrm>
                <a:off x="58419" y="102780"/>
                <a:ext cx="2595507" cy="1100971"/>
              </a:xfrm>
              <a:prstGeom prst="rect">
                <a:avLst/>
              </a:prstGeom>
              <a:solidFill>
                <a:schemeClr val="accent1">
                  <a:lumMod val="60000"/>
                  <a:lumOff val="40000"/>
                </a:scheme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p>
                <a:pPr>
                  <a:defRPr b="1"/>
                </a:pPr>
                <a:r>
                  <a:rPr sz="1351" dirty="0"/>
                  <a:t>Static physics code</a:t>
                </a:r>
                <a:endParaRPr sz="1351" dirty="0">
                  <a:solidFill>
                    <a:srgbClr val="FFFFFF"/>
                  </a:solidFill>
                </a:endParaRPr>
              </a:p>
              <a:p>
                <a:pPr marL="214477" indent="-214477">
                  <a:buSzPct val="100000"/>
                  <a:buFont typeface="Arial"/>
                  <a:buChar char="•"/>
                </a:pPr>
                <a:r>
                  <a:rPr sz="1351" dirty="0"/>
                  <a:t>Encoded with </a:t>
                </a:r>
                <a:r>
                  <a:rPr lang="en-US" sz="1351" dirty="0"/>
                  <a:t>macros</a:t>
                </a:r>
                <a:endParaRPr sz="1351" dirty="0">
                  <a:solidFill>
                    <a:srgbClr val="FFFFFF"/>
                  </a:solidFill>
                </a:endParaRPr>
              </a:p>
              <a:p>
                <a:pPr marL="214477" indent="-214477">
                  <a:buSzPct val="100000"/>
                  <a:buFont typeface="Arial"/>
                  <a:buChar char="•"/>
                </a:pPr>
                <a:r>
                  <a:rPr sz="1351" dirty="0"/>
                  <a:t>Including optimization hints as directives</a:t>
                </a:r>
              </a:p>
            </p:txBody>
          </p:sp>
        </p:grpSp>
        <p:grpSp>
          <p:nvGrpSpPr>
            <p:cNvPr id="9" name="Rectangle 8">
              <a:extLst>
                <a:ext uri="{FF2B5EF4-FFF2-40B4-BE49-F238E27FC236}">
                  <a16:creationId xmlns:a16="http://schemas.microsoft.com/office/drawing/2014/main" id="{E7BF3B62-240B-B349-8CEF-ECCAB60B4405}"/>
                </a:ext>
              </a:extLst>
            </p:cNvPr>
            <p:cNvGrpSpPr/>
            <p:nvPr/>
          </p:nvGrpSpPr>
          <p:grpSpPr>
            <a:xfrm>
              <a:off x="-2" y="1577638"/>
              <a:ext cx="2733756" cy="1190475"/>
              <a:chOff x="-1" y="-1"/>
              <a:chExt cx="2733755" cy="1190474"/>
            </a:xfrm>
          </p:grpSpPr>
          <p:sp>
            <p:nvSpPr>
              <p:cNvPr id="60" name="Rectangle">
                <a:extLst>
                  <a:ext uri="{FF2B5EF4-FFF2-40B4-BE49-F238E27FC236}">
                    <a16:creationId xmlns:a16="http://schemas.microsoft.com/office/drawing/2014/main" id="{7029AB53-5D63-3A47-890D-95EC92993380}"/>
                  </a:ext>
                </a:extLst>
              </p:cNvPr>
              <p:cNvSpPr/>
              <p:nvPr/>
            </p:nvSpPr>
            <p:spPr>
              <a:xfrm>
                <a:off x="-1" y="-1"/>
                <a:ext cx="2733755" cy="1190474"/>
              </a:xfrm>
              <a:prstGeom prst="rect">
                <a:avLst/>
              </a:prstGeom>
              <a:solidFill>
                <a:schemeClr val="accent4">
                  <a:lumMod val="60000"/>
                  <a:lumOff val="4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61" name="Platform specific information">
                <a:extLst>
                  <a:ext uri="{FF2B5EF4-FFF2-40B4-BE49-F238E27FC236}">
                    <a16:creationId xmlns:a16="http://schemas.microsoft.com/office/drawing/2014/main" id="{773B971F-E59D-BF48-8A43-105EF1A90DCA}"/>
                  </a:ext>
                </a:extLst>
              </p:cNvPr>
              <p:cNvSpPr txBox="1"/>
              <p:nvPr/>
            </p:nvSpPr>
            <p:spPr>
              <a:xfrm>
                <a:off x="58419" y="425844"/>
                <a:ext cx="2616916" cy="3387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lstStyle>
              <a:p>
                <a:r>
                  <a:rPr sz="1351"/>
                  <a:t>Platform specific information</a:t>
                </a:r>
              </a:p>
            </p:txBody>
          </p:sp>
        </p:grpSp>
        <p:grpSp>
          <p:nvGrpSpPr>
            <p:cNvPr id="10" name="Rectangle 9">
              <a:extLst>
                <a:ext uri="{FF2B5EF4-FFF2-40B4-BE49-F238E27FC236}">
                  <a16:creationId xmlns:a16="http://schemas.microsoft.com/office/drawing/2014/main" id="{7739EF9C-B482-5945-B2BD-BF42A8FA63EC}"/>
                </a:ext>
              </a:extLst>
            </p:cNvPr>
            <p:cNvGrpSpPr/>
            <p:nvPr/>
          </p:nvGrpSpPr>
          <p:grpSpPr>
            <a:xfrm>
              <a:off x="3899959" y="3231179"/>
              <a:ext cx="1247347" cy="2361717"/>
              <a:chOff x="0" y="0"/>
              <a:chExt cx="1247345" cy="2361715"/>
            </a:xfrm>
          </p:grpSpPr>
          <p:sp>
            <p:nvSpPr>
              <p:cNvPr id="58" name="Rectangle">
                <a:extLst>
                  <a:ext uri="{FF2B5EF4-FFF2-40B4-BE49-F238E27FC236}">
                    <a16:creationId xmlns:a16="http://schemas.microsoft.com/office/drawing/2014/main" id="{32225D52-6F36-E148-9F3D-D78B388890B8}"/>
                  </a:ext>
                </a:extLst>
              </p:cNvPr>
              <p:cNvSpPr/>
              <p:nvPr/>
            </p:nvSpPr>
            <p:spPr>
              <a:xfrm>
                <a:off x="0" y="0"/>
                <a:ext cx="1247345" cy="2361715"/>
              </a:xfrm>
              <a:prstGeom prst="rect">
                <a:avLst/>
              </a:prstGeom>
              <a:solidFill>
                <a:schemeClr val="accent6">
                  <a:lumMod val="60000"/>
                  <a:lumOff val="4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59" name="Recipe for control flow in time…">
                <a:extLst>
                  <a:ext uri="{FF2B5EF4-FFF2-40B4-BE49-F238E27FC236}">
                    <a16:creationId xmlns:a16="http://schemas.microsoft.com/office/drawing/2014/main" id="{0D00E2D4-94E3-9A43-82A2-469A1B871BB4}"/>
                  </a:ext>
                </a:extLst>
              </p:cNvPr>
              <p:cNvSpPr txBox="1"/>
              <p:nvPr/>
            </p:nvSpPr>
            <p:spPr>
              <a:xfrm>
                <a:off x="58420" y="630370"/>
                <a:ext cx="1130504" cy="11009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p>
                <a:pPr algn="ctr"/>
                <a:r>
                  <a:rPr sz="1351" dirty="0"/>
                  <a:t>Recipe for control flow in time</a:t>
                </a:r>
                <a:endParaRPr sz="1351" dirty="0">
                  <a:solidFill>
                    <a:srgbClr val="FFFFFF"/>
                  </a:solidFill>
                </a:endParaRPr>
              </a:p>
              <a:p>
                <a:pPr algn="ctr"/>
                <a:r>
                  <a:rPr sz="1351" dirty="0"/>
                  <a:t>stepping</a:t>
                </a:r>
              </a:p>
            </p:txBody>
          </p:sp>
        </p:grpSp>
        <p:grpSp>
          <p:nvGrpSpPr>
            <p:cNvPr id="11" name="Rectangle 10">
              <a:extLst>
                <a:ext uri="{FF2B5EF4-FFF2-40B4-BE49-F238E27FC236}">
                  <a16:creationId xmlns:a16="http://schemas.microsoft.com/office/drawing/2014/main" id="{0A51348D-7D20-B544-80EE-56D139F46E12}"/>
                </a:ext>
              </a:extLst>
            </p:cNvPr>
            <p:cNvGrpSpPr/>
            <p:nvPr/>
          </p:nvGrpSpPr>
          <p:grpSpPr>
            <a:xfrm>
              <a:off x="5472954" y="3231178"/>
              <a:ext cx="589762" cy="2361719"/>
              <a:chOff x="0" y="-1"/>
              <a:chExt cx="589760" cy="2361718"/>
            </a:xfrm>
          </p:grpSpPr>
          <p:sp>
            <p:nvSpPr>
              <p:cNvPr id="56" name="Rectangle">
                <a:extLst>
                  <a:ext uri="{FF2B5EF4-FFF2-40B4-BE49-F238E27FC236}">
                    <a16:creationId xmlns:a16="http://schemas.microsoft.com/office/drawing/2014/main" id="{11CF896D-2B3C-B745-931D-6974CA49CA64}"/>
                  </a:ext>
                </a:extLst>
              </p:cNvPr>
              <p:cNvSpPr/>
              <p:nvPr/>
            </p:nvSpPr>
            <p:spPr>
              <a:xfrm>
                <a:off x="0" y="-1"/>
                <a:ext cx="589760" cy="2361718"/>
              </a:xfrm>
              <a:prstGeom prst="rect">
                <a:avLst/>
              </a:prstGeom>
              <a:solidFill>
                <a:srgbClr val="7030A0"/>
              </a:solidFill>
              <a:ln w="25400" cap="flat">
                <a:solidFill>
                  <a:schemeClr val="accent1"/>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57" name="Recipe translator">
                <a:extLst>
                  <a:ext uri="{FF2B5EF4-FFF2-40B4-BE49-F238E27FC236}">
                    <a16:creationId xmlns:a16="http://schemas.microsoft.com/office/drawing/2014/main" id="{9CEF4420-D076-6740-83E4-8046D6EF41C2}"/>
                  </a:ext>
                </a:extLst>
              </p:cNvPr>
              <p:cNvSpPr txBox="1"/>
              <p:nvPr/>
            </p:nvSpPr>
            <p:spPr>
              <a:xfrm rot="16200000">
                <a:off x="-827559" y="1023791"/>
                <a:ext cx="2244879" cy="31413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sz="1351"/>
                  <a:t>Recipe translator</a:t>
                </a:r>
              </a:p>
            </p:txBody>
          </p:sp>
        </p:grpSp>
        <p:grpSp>
          <p:nvGrpSpPr>
            <p:cNvPr id="12" name="Rectangle 11">
              <a:extLst>
                <a:ext uri="{FF2B5EF4-FFF2-40B4-BE49-F238E27FC236}">
                  <a16:creationId xmlns:a16="http://schemas.microsoft.com/office/drawing/2014/main" id="{A76CB0B7-A24D-144D-9A35-58889B5CFC77}"/>
                </a:ext>
              </a:extLst>
            </p:cNvPr>
            <p:cNvGrpSpPr/>
            <p:nvPr/>
          </p:nvGrpSpPr>
          <p:grpSpPr>
            <a:xfrm>
              <a:off x="6534944" y="3231178"/>
              <a:ext cx="1179795" cy="2373484"/>
              <a:chOff x="-1" y="-1"/>
              <a:chExt cx="1179794" cy="2373483"/>
            </a:xfrm>
          </p:grpSpPr>
          <p:sp>
            <p:nvSpPr>
              <p:cNvPr id="54" name="Rectangle">
                <a:extLst>
                  <a:ext uri="{FF2B5EF4-FFF2-40B4-BE49-F238E27FC236}">
                    <a16:creationId xmlns:a16="http://schemas.microsoft.com/office/drawing/2014/main" id="{5FF6621B-0DAF-9C40-91A1-361487573AE8}"/>
                  </a:ext>
                </a:extLst>
              </p:cNvPr>
              <p:cNvSpPr/>
              <p:nvPr/>
            </p:nvSpPr>
            <p:spPr>
              <a:xfrm>
                <a:off x="-1" y="-1"/>
                <a:ext cx="1179794" cy="2373483"/>
              </a:xfrm>
              <a:prstGeom prst="rect">
                <a:avLst/>
              </a:prstGeom>
              <a:solidFill>
                <a:schemeClr val="accent1">
                  <a:lumMod val="75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55" name="Source code for time…">
                <a:extLst>
                  <a:ext uri="{FF2B5EF4-FFF2-40B4-BE49-F238E27FC236}">
                    <a16:creationId xmlns:a16="http://schemas.microsoft.com/office/drawing/2014/main" id="{E03E5F16-F717-8C49-83F0-2F4D6FE43D3C}"/>
                  </a:ext>
                </a:extLst>
              </p:cNvPr>
              <p:cNvSpPr txBox="1"/>
              <p:nvPr/>
            </p:nvSpPr>
            <p:spPr>
              <a:xfrm>
                <a:off x="58419" y="255160"/>
                <a:ext cx="1062956" cy="1863160"/>
              </a:xfrm>
              <a:prstGeom prst="rect">
                <a:avLst/>
              </a:prstGeom>
              <a:solidFill>
                <a:schemeClr val="accent1">
                  <a:lumMod val="75000"/>
                </a:scheme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p>
                <a:pPr algn="ctr">
                  <a:defRPr>
                    <a:solidFill>
                      <a:srgbClr val="FFFFFF"/>
                    </a:solidFill>
                  </a:defRPr>
                </a:pPr>
                <a:r>
                  <a:rPr sz="1351" dirty="0"/>
                  <a:t>Source code for time</a:t>
                </a:r>
              </a:p>
              <a:p>
                <a:pPr algn="ctr">
                  <a:defRPr>
                    <a:solidFill>
                      <a:srgbClr val="FFFFFF"/>
                    </a:solidFill>
                  </a:defRPr>
                </a:pPr>
                <a:r>
                  <a:rPr sz="1351" dirty="0"/>
                  <a:t>stepping</a:t>
                </a:r>
              </a:p>
              <a:p>
                <a:pPr algn="ctr">
                  <a:defRPr>
                    <a:solidFill>
                      <a:srgbClr val="FFFFFF"/>
                    </a:solidFill>
                  </a:defRPr>
                </a:pPr>
                <a:r>
                  <a:rPr lang="en-US" sz="1351" dirty="0"/>
                  <a:t>a</a:t>
                </a:r>
                <a:r>
                  <a:rPr sz="1351" dirty="0"/>
                  <a:t>nd </a:t>
                </a:r>
              </a:p>
              <a:p>
                <a:pPr algn="ctr">
                  <a:defRPr>
                    <a:solidFill>
                      <a:srgbClr val="FFFFFF"/>
                    </a:solidFill>
                  </a:defRPr>
                </a:pPr>
                <a:r>
                  <a:rPr lang="en-US" sz="1351" dirty="0"/>
                  <a:t>r</a:t>
                </a:r>
                <a:r>
                  <a:rPr sz="1351" dirty="0"/>
                  <a:t>untime pipeline</a:t>
                </a:r>
              </a:p>
            </p:txBody>
          </p:sp>
        </p:grpSp>
        <p:grpSp>
          <p:nvGrpSpPr>
            <p:cNvPr id="13" name="Rectangle 12">
              <a:extLst>
                <a:ext uri="{FF2B5EF4-FFF2-40B4-BE49-F238E27FC236}">
                  <a16:creationId xmlns:a16="http://schemas.microsoft.com/office/drawing/2014/main" id="{0FAB36EC-C3C2-894D-80DB-19BD6A4A829F}"/>
                </a:ext>
              </a:extLst>
            </p:cNvPr>
            <p:cNvGrpSpPr/>
            <p:nvPr/>
          </p:nvGrpSpPr>
          <p:grpSpPr>
            <a:xfrm>
              <a:off x="21409" y="4470184"/>
              <a:ext cx="2712345" cy="1171100"/>
              <a:chOff x="0" y="-1"/>
              <a:chExt cx="2712343" cy="1171099"/>
            </a:xfrm>
          </p:grpSpPr>
          <p:sp>
            <p:nvSpPr>
              <p:cNvPr id="52" name="Rectangle">
                <a:extLst>
                  <a:ext uri="{FF2B5EF4-FFF2-40B4-BE49-F238E27FC236}">
                    <a16:creationId xmlns:a16="http://schemas.microsoft.com/office/drawing/2014/main" id="{72635198-8F5D-504C-B591-1D3027D68478}"/>
                  </a:ext>
                </a:extLst>
              </p:cNvPr>
              <p:cNvSpPr/>
              <p:nvPr/>
            </p:nvSpPr>
            <p:spPr>
              <a:xfrm>
                <a:off x="0" y="-1"/>
                <a:ext cx="2712343" cy="1171099"/>
              </a:xfrm>
              <a:prstGeom prst="rect">
                <a:avLst/>
              </a:prstGeom>
              <a:solidFill>
                <a:schemeClr val="accent1">
                  <a:lumMod val="60000"/>
                  <a:lumOff val="4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53" name="Library of runtime configurations">
                <a:extLst>
                  <a:ext uri="{FF2B5EF4-FFF2-40B4-BE49-F238E27FC236}">
                    <a16:creationId xmlns:a16="http://schemas.microsoft.com/office/drawing/2014/main" id="{A84E478A-9800-B949-A595-E08022910DBC}"/>
                  </a:ext>
                </a:extLst>
              </p:cNvPr>
              <p:cNvSpPr txBox="1"/>
              <p:nvPr/>
            </p:nvSpPr>
            <p:spPr>
              <a:xfrm>
                <a:off x="58420" y="289124"/>
                <a:ext cx="2595504" cy="592846"/>
              </a:xfrm>
              <a:prstGeom prst="rect">
                <a:avLst/>
              </a:prstGeom>
              <a:solidFill>
                <a:schemeClr val="accent1">
                  <a:lumMod val="60000"/>
                  <a:lumOff val="40000"/>
                </a:scheme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lstStyle>
              <a:p>
                <a:r>
                  <a:rPr sz="1351"/>
                  <a:t>Library of runtime configurations</a:t>
                </a:r>
              </a:p>
            </p:txBody>
          </p:sp>
        </p:grpSp>
        <p:grpSp>
          <p:nvGrpSpPr>
            <p:cNvPr id="14" name="Rectangle 13">
              <a:extLst>
                <a:ext uri="{FF2B5EF4-FFF2-40B4-BE49-F238E27FC236}">
                  <a16:creationId xmlns:a16="http://schemas.microsoft.com/office/drawing/2014/main" id="{DFE8AD76-2E0E-9D4A-A46F-20789D67F248}"/>
                </a:ext>
              </a:extLst>
            </p:cNvPr>
            <p:cNvGrpSpPr/>
            <p:nvPr/>
          </p:nvGrpSpPr>
          <p:grpSpPr>
            <a:xfrm>
              <a:off x="5479750" y="11764"/>
              <a:ext cx="589762" cy="2361719"/>
              <a:chOff x="0" y="-1"/>
              <a:chExt cx="589760" cy="2361718"/>
            </a:xfrm>
          </p:grpSpPr>
          <p:sp>
            <p:nvSpPr>
              <p:cNvPr id="50" name="Rectangle">
                <a:extLst>
                  <a:ext uri="{FF2B5EF4-FFF2-40B4-BE49-F238E27FC236}">
                    <a16:creationId xmlns:a16="http://schemas.microsoft.com/office/drawing/2014/main" id="{5CB3395B-0899-A748-8E64-9F4E3FC38880}"/>
                  </a:ext>
                </a:extLst>
              </p:cNvPr>
              <p:cNvSpPr/>
              <p:nvPr/>
            </p:nvSpPr>
            <p:spPr>
              <a:xfrm>
                <a:off x="0" y="-1"/>
                <a:ext cx="589760" cy="2361718"/>
              </a:xfrm>
              <a:prstGeom prst="rect">
                <a:avLst/>
              </a:prstGeom>
              <a:solidFill>
                <a:srgbClr val="7030A0"/>
              </a:solidFill>
              <a:ln w="25400" cap="flat">
                <a:solidFill>
                  <a:schemeClr val="accent1"/>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51" name="translator">
                <a:extLst>
                  <a:ext uri="{FF2B5EF4-FFF2-40B4-BE49-F238E27FC236}">
                    <a16:creationId xmlns:a16="http://schemas.microsoft.com/office/drawing/2014/main" id="{A0896222-9EC6-9842-A630-F02FA564F0B2}"/>
                  </a:ext>
                </a:extLst>
              </p:cNvPr>
              <p:cNvSpPr txBox="1"/>
              <p:nvPr/>
            </p:nvSpPr>
            <p:spPr>
              <a:xfrm rot="16200000">
                <a:off x="-827559" y="1023791"/>
                <a:ext cx="2244879" cy="31413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lang="en-US" sz="1351" dirty="0"/>
                  <a:t>T</a:t>
                </a:r>
                <a:r>
                  <a:rPr sz="1351" dirty="0"/>
                  <a:t>ranslator</a:t>
                </a:r>
              </a:p>
            </p:txBody>
          </p:sp>
        </p:grpSp>
        <p:grpSp>
          <p:nvGrpSpPr>
            <p:cNvPr id="15" name="Rectangle 14">
              <a:extLst>
                <a:ext uri="{FF2B5EF4-FFF2-40B4-BE49-F238E27FC236}">
                  <a16:creationId xmlns:a16="http://schemas.microsoft.com/office/drawing/2014/main" id="{BF5014D2-F011-0849-979E-80C61980620A}"/>
                </a:ext>
              </a:extLst>
            </p:cNvPr>
            <p:cNvGrpSpPr/>
            <p:nvPr/>
          </p:nvGrpSpPr>
          <p:grpSpPr>
            <a:xfrm>
              <a:off x="6534947" y="-1"/>
              <a:ext cx="1179793" cy="2373483"/>
              <a:chOff x="0" y="-1"/>
              <a:chExt cx="1179791" cy="2373482"/>
            </a:xfrm>
          </p:grpSpPr>
          <p:sp>
            <p:nvSpPr>
              <p:cNvPr id="48" name="Rectangle">
                <a:extLst>
                  <a:ext uri="{FF2B5EF4-FFF2-40B4-BE49-F238E27FC236}">
                    <a16:creationId xmlns:a16="http://schemas.microsoft.com/office/drawing/2014/main" id="{95DB6F89-71BD-2948-9773-A5DDBEF871E3}"/>
                  </a:ext>
                </a:extLst>
              </p:cNvPr>
              <p:cNvSpPr/>
              <p:nvPr/>
            </p:nvSpPr>
            <p:spPr>
              <a:xfrm>
                <a:off x="0" y="-1"/>
                <a:ext cx="1179791" cy="2373482"/>
              </a:xfrm>
              <a:prstGeom prst="rect">
                <a:avLst/>
              </a:prstGeom>
              <a:solidFill>
                <a:schemeClr val="accent1">
                  <a:lumMod val="75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49" name="Source code for physics operators">
                <a:extLst>
                  <a:ext uri="{FF2B5EF4-FFF2-40B4-BE49-F238E27FC236}">
                    <a16:creationId xmlns:a16="http://schemas.microsoft.com/office/drawing/2014/main" id="{3A692CEB-474F-CC4D-B6DF-AEE53F33174B}"/>
                  </a:ext>
                </a:extLst>
              </p:cNvPr>
              <p:cNvSpPr txBox="1"/>
              <p:nvPr/>
            </p:nvSpPr>
            <p:spPr>
              <a:xfrm>
                <a:off x="58420" y="636254"/>
                <a:ext cx="1062950" cy="11009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sz="1351"/>
                  <a:t>Source code for physics operators</a:t>
                </a:r>
              </a:p>
            </p:txBody>
          </p:sp>
        </p:grpSp>
        <p:grpSp>
          <p:nvGrpSpPr>
            <p:cNvPr id="16" name="Rectangle 15">
              <a:extLst>
                <a:ext uri="{FF2B5EF4-FFF2-40B4-BE49-F238E27FC236}">
                  <a16:creationId xmlns:a16="http://schemas.microsoft.com/office/drawing/2014/main" id="{ABC54C09-2984-5940-AACE-0662A634CC3F}"/>
                </a:ext>
              </a:extLst>
            </p:cNvPr>
            <p:cNvGrpSpPr/>
            <p:nvPr/>
          </p:nvGrpSpPr>
          <p:grpSpPr>
            <a:xfrm>
              <a:off x="3041516" y="3231179"/>
              <a:ext cx="593554" cy="2361716"/>
              <a:chOff x="0" y="0"/>
              <a:chExt cx="593552" cy="2361714"/>
            </a:xfrm>
          </p:grpSpPr>
          <p:sp>
            <p:nvSpPr>
              <p:cNvPr id="46" name="Rectangle">
                <a:extLst>
                  <a:ext uri="{FF2B5EF4-FFF2-40B4-BE49-F238E27FC236}">
                    <a16:creationId xmlns:a16="http://schemas.microsoft.com/office/drawing/2014/main" id="{A1CCF214-2225-9749-AE73-8A08ECA8B4B0}"/>
                  </a:ext>
                </a:extLst>
              </p:cNvPr>
              <p:cNvSpPr/>
              <p:nvPr/>
            </p:nvSpPr>
            <p:spPr>
              <a:xfrm>
                <a:off x="0" y="0"/>
                <a:ext cx="593552" cy="2361714"/>
              </a:xfrm>
              <a:prstGeom prst="rect">
                <a:avLst/>
              </a:prstGeom>
              <a:solidFill>
                <a:srgbClr val="7030A0"/>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47" name="Human in the loop">
                <a:extLst>
                  <a:ext uri="{FF2B5EF4-FFF2-40B4-BE49-F238E27FC236}">
                    <a16:creationId xmlns:a16="http://schemas.microsoft.com/office/drawing/2014/main" id="{9F0A97E1-1C39-C547-BA44-8AB2F4B5FE2D}"/>
                  </a:ext>
                </a:extLst>
              </p:cNvPr>
              <p:cNvSpPr txBox="1"/>
              <p:nvPr/>
            </p:nvSpPr>
            <p:spPr>
              <a:xfrm rot="16200000">
                <a:off x="-825661" y="1023791"/>
                <a:ext cx="2244875" cy="31413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sz="1351"/>
                  <a:t>Human in the loop</a:t>
                </a:r>
              </a:p>
            </p:txBody>
          </p:sp>
        </p:grpSp>
        <p:sp>
          <p:nvSpPr>
            <p:cNvPr id="17" name="Straight Arrow Connector 16">
              <a:extLst>
                <a:ext uri="{FF2B5EF4-FFF2-40B4-BE49-F238E27FC236}">
                  <a16:creationId xmlns:a16="http://schemas.microsoft.com/office/drawing/2014/main" id="{27587CEB-C0A5-594E-8510-160B1CA67CD6}"/>
                </a:ext>
              </a:extLst>
            </p:cNvPr>
            <p:cNvSpPr/>
            <p:nvPr/>
          </p:nvSpPr>
          <p:spPr>
            <a:xfrm>
              <a:off x="2733755" y="653266"/>
              <a:ext cx="332445" cy="4609"/>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18" name="Straight Arrow Connector 17">
              <a:extLst>
                <a:ext uri="{FF2B5EF4-FFF2-40B4-BE49-F238E27FC236}">
                  <a16:creationId xmlns:a16="http://schemas.microsoft.com/office/drawing/2014/main" id="{14DCD9D0-78BA-A442-887E-6D36A6E92DE0}"/>
                </a:ext>
              </a:extLst>
            </p:cNvPr>
            <p:cNvSpPr/>
            <p:nvPr/>
          </p:nvSpPr>
          <p:spPr>
            <a:xfrm>
              <a:off x="2733753" y="2160918"/>
              <a:ext cx="307763" cy="4609"/>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19" name="Elbow Connector 18">
              <a:extLst>
                <a:ext uri="{FF2B5EF4-FFF2-40B4-BE49-F238E27FC236}">
                  <a16:creationId xmlns:a16="http://schemas.microsoft.com/office/drawing/2014/main" id="{8CE47963-1F86-A94F-A9BC-92F57D212F8A}"/>
                </a:ext>
              </a:extLst>
            </p:cNvPr>
            <p:cNvSpPr/>
            <p:nvPr/>
          </p:nvSpPr>
          <p:spPr>
            <a:xfrm rot="16200000" flipH="1">
              <a:off x="2648009" y="2540896"/>
              <a:ext cx="776027" cy="60454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815" y="0"/>
                  </a:lnTo>
                  <a:lnTo>
                    <a:pt x="815" y="21600"/>
                  </a:lnTo>
                  <a:lnTo>
                    <a:pt x="21600" y="21600"/>
                  </a:lnTo>
                </a:path>
              </a:pathLst>
            </a:custGeom>
            <a:noFill/>
            <a:ln w="38100" cap="flat">
              <a:solidFill>
                <a:srgbClr val="000000"/>
              </a:solidFill>
              <a:prstDash val="solid"/>
              <a:round/>
              <a:tailEnd type="triangle" w="med" len="med"/>
            </a:ln>
            <a:effectLst/>
          </p:spPr>
          <p:txBody>
            <a:bodyPr wrap="square" lIns="34316" tIns="34316" rIns="34316" bIns="34316" numCol="1" anchor="ctr">
              <a:noAutofit/>
            </a:bodyPr>
            <a:lstStyle/>
            <a:p>
              <a:endParaRPr sz="1351"/>
            </a:p>
          </p:txBody>
        </p:sp>
        <p:sp>
          <p:nvSpPr>
            <p:cNvPr id="20" name="Straight Arrow Connector 19">
              <a:extLst>
                <a:ext uri="{FF2B5EF4-FFF2-40B4-BE49-F238E27FC236}">
                  <a16:creationId xmlns:a16="http://schemas.microsoft.com/office/drawing/2014/main" id="{95BCA8FA-9C73-9845-9AEA-149879AA4D32}"/>
                </a:ext>
              </a:extLst>
            </p:cNvPr>
            <p:cNvSpPr/>
            <p:nvPr/>
          </p:nvSpPr>
          <p:spPr>
            <a:xfrm flipV="1">
              <a:off x="2751943" y="3623414"/>
              <a:ext cx="314257" cy="1356"/>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1" name="Straight Arrow Connector 20">
              <a:extLst>
                <a:ext uri="{FF2B5EF4-FFF2-40B4-BE49-F238E27FC236}">
                  <a16:creationId xmlns:a16="http://schemas.microsoft.com/office/drawing/2014/main" id="{41CBEFA0-A5D7-0D4C-93B8-5316CF5BD445}"/>
                </a:ext>
              </a:extLst>
            </p:cNvPr>
            <p:cNvSpPr/>
            <p:nvPr/>
          </p:nvSpPr>
          <p:spPr>
            <a:xfrm>
              <a:off x="2733753" y="5055734"/>
              <a:ext cx="278410" cy="24048"/>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2" name="Straight Arrow Connector 21">
              <a:extLst>
                <a:ext uri="{FF2B5EF4-FFF2-40B4-BE49-F238E27FC236}">
                  <a16:creationId xmlns:a16="http://schemas.microsoft.com/office/drawing/2014/main" id="{D034F452-E295-194B-8E3E-3721BC18EE21}"/>
                </a:ext>
              </a:extLst>
            </p:cNvPr>
            <p:cNvSpPr/>
            <p:nvPr/>
          </p:nvSpPr>
          <p:spPr>
            <a:xfrm>
              <a:off x="3635068" y="4412036"/>
              <a:ext cx="264892" cy="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3" name="Straight Arrow Connector 22">
              <a:extLst>
                <a:ext uri="{FF2B5EF4-FFF2-40B4-BE49-F238E27FC236}">
                  <a16:creationId xmlns:a16="http://schemas.microsoft.com/office/drawing/2014/main" id="{72890BED-4187-6841-99E9-8EC9F5BD901D}"/>
                </a:ext>
              </a:extLst>
            </p:cNvPr>
            <p:cNvSpPr/>
            <p:nvPr/>
          </p:nvSpPr>
          <p:spPr>
            <a:xfrm>
              <a:off x="5147305" y="1180858"/>
              <a:ext cx="332446" cy="11766"/>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4" name="Straight Arrow Connector 23">
              <a:extLst>
                <a:ext uri="{FF2B5EF4-FFF2-40B4-BE49-F238E27FC236}">
                  <a16:creationId xmlns:a16="http://schemas.microsoft.com/office/drawing/2014/main" id="{8CF8F909-CCF5-4446-9C94-1FB8C7E44A96}"/>
                </a:ext>
              </a:extLst>
            </p:cNvPr>
            <p:cNvSpPr/>
            <p:nvPr/>
          </p:nvSpPr>
          <p:spPr>
            <a:xfrm>
              <a:off x="3635069" y="1180858"/>
              <a:ext cx="332446" cy="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5" name="Straight Arrow Connector 24">
              <a:extLst>
                <a:ext uri="{FF2B5EF4-FFF2-40B4-BE49-F238E27FC236}">
                  <a16:creationId xmlns:a16="http://schemas.microsoft.com/office/drawing/2014/main" id="{DBF80A7B-B179-0F46-896D-D0B99A257FBB}"/>
                </a:ext>
              </a:extLst>
            </p:cNvPr>
            <p:cNvSpPr/>
            <p:nvPr/>
          </p:nvSpPr>
          <p:spPr>
            <a:xfrm flipV="1">
              <a:off x="6069511" y="1186741"/>
              <a:ext cx="465437" cy="5883"/>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6" name="Straight Arrow Connector 25">
              <a:extLst>
                <a:ext uri="{FF2B5EF4-FFF2-40B4-BE49-F238E27FC236}">
                  <a16:creationId xmlns:a16="http://schemas.microsoft.com/office/drawing/2014/main" id="{3C5D20E9-7F16-4D4F-8051-0432DDD1658C}"/>
                </a:ext>
              </a:extLst>
            </p:cNvPr>
            <p:cNvSpPr/>
            <p:nvPr/>
          </p:nvSpPr>
          <p:spPr>
            <a:xfrm>
              <a:off x="5147305" y="4412037"/>
              <a:ext cx="325649" cy="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27" name="Straight Arrow Connector 26">
              <a:extLst>
                <a:ext uri="{FF2B5EF4-FFF2-40B4-BE49-F238E27FC236}">
                  <a16:creationId xmlns:a16="http://schemas.microsoft.com/office/drawing/2014/main" id="{E54C3D3A-9A30-A247-BAA8-A458055D291D}"/>
                </a:ext>
              </a:extLst>
            </p:cNvPr>
            <p:cNvSpPr/>
            <p:nvPr/>
          </p:nvSpPr>
          <p:spPr>
            <a:xfrm>
              <a:off x="6062714" y="4412037"/>
              <a:ext cx="472232" cy="5884"/>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grpSp>
          <p:nvGrpSpPr>
            <p:cNvPr id="28" name="Rectangle 27">
              <a:extLst>
                <a:ext uri="{FF2B5EF4-FFF2-40B4-BE49-F238E27FC236}">
                  <a16:creationId xmlns:a16="http://schemas.microsoft.com/office/drawing/2014/main" id="{BAC1F6A3-518D-0741-BFD5-BD79DC78F26A}"/>
                </a:ext>
              </a:extLst>
            </p:cNvPr>
            <p:cNvGrpSpPr/>
            <p:nvPr/>
          </p:nvGrpSpPr>
          <p:grpSpPr>
            <a:xfrm>
              <a:off x="8047183" y="605568"/>
              <a:ext cx="589762" cy="4668026"/>
              <a:chOff x="0" y="-1"/>
              <a:chExt cx="589760" cy="4668025"/>
            </a:xfrm>
          </p:grpSpPr>
          <p:sp>
            <p:nvSpPr>
              <p:cNvPr id="44" name="Rectangle">
                <a:extLst>
                  <a:ext uri="{FF2B5EF4-FFF2-40B4-BE49-F238E27FC236}">
                    <a16:creationId xmlns:a16="http://schemas.microsoft.com/office/drawing/2014/main" id="{A5E7082A-A652-2041-B12A-EC392B08A9FC}"/>
                  </a:ext>
                </a:extLst>
              </p:cNvPr>
              <p:cNvSpPr/>
              <p:nvPr/>
            </p:nvSpPr>
            <p:spPr>
              <a:xfrm>
                <a:off x="0" y="-1"/>
                <a:ext cx="589760" cy="4668025"/>
              </a:xfrm>
              <a:prstGeom prst="rect">
                <a:avLst/>
              </a:prstGeom>
              <a:solidFill>
                <a:srgbClr val="7030A0"/>
              </a:solidFill>
              <a:ln w="25400" cap="flat">
                <a:solidFill>
                  <a:schemeClr val="accent1"/>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45" name="Code Assembler">
                <a:extLst>
                  <a:ext uri="{FF2B5EF4-FFF2-40B4-BE49-F238E27FC236}">
                    <a16:creationId xmlns:a16="http://schemas.microsoft.com/office/drawing/2014/main" id="{F3E2D1A0-8C2D-BE43-8F2C-F6CC690C9A67}"/>
                  </a:ext>
                </a:extLst>
              </p:cNvPr>
              <p:cNvSpPr txBox="1"/>
              <p:nvPr/>
            </p:nvSpPr>
            <p:spPr>
              <a:xfrm rot="16200000">
                <a:off x="-1980712" y="2176946"/>
                <a:ext cx="4551184" cy="31413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sz="1351" dirty="0"/>
                  <a:t>Code </a:t>
                </a:r>
                <a:r>
                  <a:rPr lang="en-US" sz="1351" dirty="0"/>
                  <a:t>a</a:t>
                </a:r>
                <a:r>
                  <a:rPr sz="1351" dirty="0"/>
                  <a:t>ssembler</a:t>
                </a:r>
              </a:p>
            </p:txBody>
          </p:sp>
        </p:grpSp>
        <p:grpSp>
          <p:nvGrpSpPr>
            <p:cNvPr id="29" name="Rectangle 28">
              <a:extLst>
                <a:ext uri="{FF2B5EF4-FFF2-40B4-BE49-F238E27FC236}">
                  <a16:creationId xmlns:a16="http://schemas.microsoft.com/office/drawing/2014/main" id="{5A03E08E-EEF8-174D-86DE-870CB696E17D}"/>
                </a:ext>
              </a:extLst>
            </p:cNvPr>
            <p:cNvGrpSpPr/>
            <p:nvPr/>
          </p:nvGrpSpPr>
          <p:grpSpPr>
            <a:xfrm>
              <a:off x="9386707" y="307916"/>
              <a:ext cx="1560353" cy="2808802"/>
              <a:chOff x="0" y="-291023"/>
              <a:chExt cx="1560351" cy="2808801"/>
            </a:xfrm>
          </p:grpSpPr>
          <p:sp>
            <p:nvSpPr>
              <p:cNvPr id="42" name="Rectangle">
                <a:extLst>
                  <a:ext uri="{FF2B5EF4-FFF2-40B4-BE49-F238E27FC236}">
                    <a16:creationId xmlns:a16="http://schemas.microsoft.com/office/drawing/2014/main" id="{E06CE736-E957-734B-B46F-5E6917A6CF05}"/>
                  </a:ext>
                </a:extLst>
              </p:cNvPr>
              <p:cNvSpPr/>
              <p:nvPr/>
            </p:nvSpPr>
            <p:spPr>
              <a:xfrm>
                <a:off x="0" y="-291023"/>
                <a:ext cx="1560351" cy="2808801"/>
              </a:xfrm>
              <a:prstGeom prst="rect">
                <a:avLst/>
              </a:prstGeom>
              <a:solidFill>
                <a:schemeClr val="accent2">
                  <a:lumMod val="40000"/>
                  <a:lumOff val="6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dirty="0"/>
              </a:p>
            </p:txBody>
          </p:sp>
          <p:sp>
            <p:nvSpPr>
              <p:cNvPr id="43" name="Fully assembled and configured source code">
                <a:extLst>
                  <a:ext uri="{FF2B5EF4-FFF2-40B4-BE49-F238E27FC236}">
                    <a16:creationId xmlns:a16="http://schemas.microsoft.com/office/drawing/2014/main" id="{32FEE793-F7B6-3147-8917-CB5DEA013B56}"/>
                  </a:ext>
                </a:extLst>
              </p:cNvPr>
              <p:cNvSpPr txBox="1"/>
              <p:nvPr/>
            </p:nvSpPr>
            <p:spPr>
              <a:xfrm>
                <a:off x="58420" y="824381"/>
                <a:ext cx="1443511" cy="11009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lstStyle>
              <a:p>
                <a:r>
                  <a:rPr sz="1351" dirty="0"/>
                  <a:t>Fully assembled and configured source code</a:t>
                </a:r>
              </a:p>
            </p:txBody>
          </p:sp>
        </p:grpSp>
        <p:grpSp>
          <p:nvGrpSpPr>
            <p:cNvPr id="30" name="Oval 29">
              <a:extLst>
                <a:ext uri="{FF2B5EF4-FFF2-40B4-BE49-F238E27FC236}">
                  <a16:creationId xmlns:a16="http://schemas.microsoft.com/office/drawing/2014/main" id="{0930237A-F798-4D4E-8618-3067BD91F537}"/>
                </a:ext>
              </a:extLst>
            </p:cNvPr>
            <p:cNvGrpSpPr/>
            <p:nvPr/>
          </p:nvGrpSpPr>
          <p:grpSpPr>
            <a:xfrm>
              <a:off x="9357522" y="3525516"/>
              <a:ext cx="1648531" cy="956629"/>
              <a:chOff x="-1" y="-1"/>
              <a:chExt cx="1648530" cy="956628"/>
            </a:xfrm>
          </p:grpSpPr>
          <p:sp>
            <p:nvSpPr>
              <p:cNvPr id="40" name="Oval">
                <a:extLst>
                  <a:ext uri="{FF2B5EF4-FFF2-40B4-BE49-F238E27FC236}">
                    <a16:creationId xmlns:a16="http://schemas.microsoft.com/office/drawing/2014/main" id="{2A5A6621-F110-3C41-9F9A-B7FDD6E7D2DE}"/>
                  </a:ext>
                </a:extLst>
              </p:cNvPr>
              <p:cNvSpPr/>
              <p:nvPr/>
            </p:nvSpPr>
            <p:spPr>
              <a:xfrm>
                <a:off x="-1" y="-1"/>
                <a:ext cx="1648530" cy="956628"/>
              </a:xfrm>
              <a:prstGeom prst="ellipse">
                <a:avLst/>
              </a:prstGeom>
              <a:solidFill>
                <a:srgbClr val="1B8DC3"/>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41" name="Compiler">
                <a:extLst>
                  <a:ext uri="{FF2B5EF4-FFF2-40B4-BE49-F238E27FC236}">
                    <a16:creationId xmlns:a16="http://schemas.microsoft.com/office/drawing/2014/main" id="{F6166567-DD73-1949-AB2F-ED83BB6DD45D}"/>
                  </a:ext>
                </a:extLst>
              </p:cNvPr>
              <p:cNvSpPr txBox="1"/>
              <p:nvPr/>
            </p:nvSpPr>
            <p:spPr>
              <a:xfrm>
                <a:off x="299839" y="308921"/>
                <a:ext cx="1048847" cy="3387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defRPr>
                    <a:solidFill>
                      <a:srgbClr val="FFFFFF"/>
                    </a:solidFill>
                  </a:defRPr>
                </a:lvl1pPr>
              </a:lstStyle>
              <a:p>
                <a:r>
                  <a:rPr sz="1351" dirty="0"/>
                  <a:t>Compiler</a:t>
                </a:r>
              </a:p>
            </p:txBody>
          </p:sp>
        </p:grpSp>
        <p:grpSp>
          <p:nvGrpSpPr>
            <p:cNvPr id="31" name="Rounded Rectangle 30">
              <a:extLst>
                <a:ext uri="{FF2B5EF4-FFF2-40B4-BE49-F238E27FC236}">
                  <a16:creationId xmlns:a16="http://schemas.microsoft.com/office/drawing/2014/main" id="{DFDD298A-A375-4749-863D-3251E4C7F93D}"/>
                </a:ext>
              </a:extLst>
            </p:cNvPr>
            <p:cNvGrpSpPr/>
            <p:nvPr/>
          </p:nvGrpSpPr>
          <p:grpSpPr>
            <a:xfrm>
              <a:off x="9178577" y="4890943"/>
              <a:ext cx="1869853" cy="585935"/>
              <a:chOff x="0" y="0"/>
              <a:chExt cx="1869851" cy="585934"/>
            </a:xfrm>
          </p:grpSpPr>
          <p:sp>
            <p:nvSpPr>
              <p:cNvPr id="38" name="Rounded Rectangle">
                <a:extLst>
                  <a:ext uri="{FF2B5EF4-FFF2-40B4-BE49-F238E27FC236}">
                    <a16:creationId xmlns:a16="http://schemas.microsoft.com/office/drawing/2014/main" id="{2FB42381-450A-6F4B-9A3F-301A22BD4BD5}"/>
                  </a:ext>
                </a:extLst>
              </p:cNvPr>
              <p:cNvSpPr/>
              <p:nvPr/>
            </p:nvSpPr>
            <p:spPr>
              <a:xfrm>
                <a:off x="0" y="0"/>
                <a:ext cx="1869851" cy="585934"/>
              </a:xfrm>
              <a:prstGeom prst="roundRect">
                <a:avLst>
                  <a:gd name="adj" fmla="val 16667"/>
                </a:avLst>
              </a:prstGeom>
              <a:solidFill>
                <a:schemeClr val="accent2">
                  <a:lumMod val="40000"/>
                  <a:lumOff val="60000"/>
                </a:schemeClr>
              </a:solid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sp>
            <p:nvSpPr>
              <p:cNvPr id="39" name="Executable">
                <a:extLst>
                  <a:ext uri="{FF2B5EF4-FFF2-40B4-BE49-F238E27FC236}">
                    <a16:creationId xmlns:a16="http://schemas.microsoft.com/office/drawing/2014/main" id="{3A6525DC-4C19-5843-97ED-873B881147F0}"/>
                  </a:ext>
                </a:extLst>
              </p:cNvPr>
              <p:cNvSpPr txBox="1"/>
              <p:nvPr/>
            </p:nvSpPr>
            <p:spPr>
              <a:xfrm>
                <a:off x="87023" y="123575"/>
                <a:ext cx="1695806" cy="338784"/>
              </a:xfrm>
              <a:prstGeom prst="rect">
                <a:avLst/>
              </a:prstGeom>
              <a:solidFill>
                <a:schemeClr val="accent2">
                  <a:lumMod val="40000"/>
                  <a:lumOff val="60000"/>
                </a:scheme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316" tIns="34316" rIns="34316" bIns="34316" numCol="1" anchor="ctr">
                <a:spAutoFit/>
              </a:bodyPr>
              <a:lstStyle>
                <a:lvl1pPr algn="ctr"/>
              </a:lstStyle>
              <a:p>
                <a:r>
                  <a:rPr sz="1351"/>
                  <a:t>Executable</a:t>
                </a:r>
              </a:p>
            </p:txBody>
          </p:sp>
        </p:grpSp>
        <p:sp>
          <p:nvSpPr>
            <p:cNvPr id="32" name="Straight Arrow Connector 31">
              <a:extLst>
                <a:ext uri="{FF2B5EF4-FFF2-40B4-BE49-F238E27FC236}">
                  <a16:creationId xmlns:a16="http://schemas.microsoft.com/office/drawing/2014/main" id="{56FF4EBC-F170-E141-A7D1-618954DB0595}"/>
                </a:ext>
              </a:extLst>
            </p:cNvPr>
            <p:cNvSpPr/>
            <p:nvPr/>
          </p:nvSpPr>
          <p:spPr>
            <a:xfrm>
              <a:off x="7714738" y="1186741"/>
              <a:ext cx="332445" cy="5883"/>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33" name="Straight Arrow Connector 32">
              <a:extLst>
                <a:ext uri="{FF2B5EF4-FFF2-40B4-BE49-F238E27FC236}">
                  <a16:creationId xmlns:a16="http://schemas.microsoft.com/office/drawing/2014/main" id="{715B6486-358B-6C42-9CFB-54E1505775EF}"/>
                </a:ext>
              </a:extLst>
            </p:cNvPr>
            <p:cNvSpPr/>
            <p:nvPr/>
          </p:nvSpPr>
          <p:spPr>
            <a:xfrm>
              <a:off x="7714737" y="4417920"/>
              <a:ext cx="343434" cy="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34" name="Straight Arrow Connector 33">
              <a:extLst>
                <a:ext uri="{FF2B5EF4-FFF2-40B4-BE49-F238E27FC236}">
                  <a16:creationId xmlns:a16="http://schemas.microsoft.com/office/drawing/2014/main" id="{AB340F16-C34E-6B49-AED3-B36BFCFC15EB}"/>
                </a:ext>
              </a:extLst>
            </p:cNvPr>
            <p:cNvSpPr/>
            <p:nvPr/>
          </p:nvSpPr>
          <p:spPr>
            <a:xfrm>
              <a:off x="8636943" y="1973804"/>
              <a:ext cx="749766" cy="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35" name="Straight Arrow Connector 34">
              <a:extLst>
                <a:ext uri="{FF2B5EF4-FFF2-40B4-BE49-F238E27FC236}">
                  <a16:creationId xmlns:a16="http://schemas.microsoft.com/office/drawing/2014/main" id="{19257A86-9C32-054F-8F92-E76DEC6CF3A7}"/>
                </a:ext>
              </a:extLst>
            </p:cNvPr>
            <p:cNvSpPr/>
            <p:nvPr/>
          </p:nvSpPr>
          <p:spPr>
            <a:xfrm flipH="1">
              <a:off x="10181786" y="3116717"/>
              <a:ext cx="1" cy="40880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36" name="Straight Arrow Connector 35">
              <a:extLst>
                <a:ext uri="{FF2B5EF4-FFF2-40B4-BE49-F238E27FC236}">
                  <a16:creationId xmlns:a16="http://schemas.microsoft.com/office/drawing/2014/main" id="{1B13153A-EE5E-5A49-8189-E9410B42A4C6}"/>
                </a:ext>
              </a:extLst>
            </p:cNvPr>
            <p:cNvSpPr/>
            <p:nvPr/>
          </p:nvSpPr>
          <p:spPr>
            <a:xfrm>
              <a:off x="10181787" y="4482143"/>
              <a:ext cx="5927" cy="408801"/>
            </a:xfrm>
            <a:prstGeom prst="line">
              <a:avLst/>
            </a:prstGeom>
            <a:noFill/>
            <a:ln w="38100" cap="flat">
              <a:solidFill>
                <a:srgbClr val="000000"/>
              </a:solidFill>
              <a:prstDash val="solid"/>
              <a:round/>
              <a:tailEnd type="triangle" w="med" len="med"/>
            </a:ln>
            <a:effectLst/>
          </p:spPr>
          <p:txBody>
            <a:bodyPr wrap="square" lIns="34316" tIns="34316" rIns="34316" bIns="34316" numCol="1" anchor="t">
              <a:noAutofit/>
            </a:bodyPr>
            <a:lstStyle/>
            <a:p>
              <a:endParaRPr sz="1351"/>
            </a:p>
          </p:txBody>
        </p:sp>
        <p:sp>
          <p:nvSpPr>
            <p:cNvPr id="37" name="Rectangle 36">
              <a:extLst>
                <a:ext uri="{FF2B5EF4-FFF2-40B4-BE49-F238E27FC236}">
                  <a16:creationId xmlns:a16="http://schemas.microsoft.com/office/drawing/2014/main" id="{0A92DF2D-2792-3444-95FA-0E8BC4F3D770}"/>
                </a:ext>
              </a:extLst>
            </p:cNvPr>
            <p:cNvSpPr/>
            <p:nvPr/>
          </p:nvSpPr>
          <p:spPr>
            <a:xfrm>
              <a:off x="8936482" y="70182"/>
              <a:ext cx="2355466" cy="5669767"/>
            </a:xfrm>
            <a:prstGeom prst="rect">
              <a:avLst/>
            </a:prstGeom>
            <a:noFill/>
            <a:ln w="25400" cap="flat">
              <a:solidFill>
                <a:srgbClr val="1C466B"/>
              </a:solidFill>
              <a:prstDash val="solid"/>
              <a:round/>
            </a:ln>
            <a:effectLst/>
          </p:spPr>
          <p:txBody>
            <a:bodyPr wrap="square" lIns="34316" tIns="34316" rIns="34316" bIns="34316" numCol="1" anchor="ctr">
              <a:noAutofit/>
            </a:bodyPr>
            <a:lstStyle/>
            <a:p>
              <a:pPr algn="ctr">
                <a:defRPr>
                  <a:solidFill>
                    <a:srgbClr val="FFFFFF"/>
                  </a:solidFill>
                </a:defRPr>
              </a:pPr>
              <a:endParaRPr sz="1351"/>
            </a:p>
          </p:txBody>
        </p:sp>
      </p:grpSp>
      <p:sp>
        <p:nvSpPr>
          <p:cNvPr id="72" name="Title 1">
            <a:extLst>
              <a:ext uri="{FF2B5EF4-FFF2-40B4-BE49-F238E27FC236}">
                <a16:creationId xmlns:a16="http://schemas.microsoft.com/office/drawing/2014/main" id="{BD152E73-0A93-8236-75A8-875C287D03EA}"/>
              </a:ext>
            </a:extLst>
          </p:cNvPr>
          <p:cNvSpPr>
            <a:spLocks noGrp="1"/>
          </p:cNvSpPr>
          <p:nvPr>
            <p:ph type="title"/>
          </p:nvPr>
        </p:nvSpPr>
        <p:spPr>
          <a:xfrm>
            <a:off x="494405" y="401605"/>
            <a:ext cx="10512862" cy="1325218"/>
          </a:xfrm>
        </p:spPr>
        <p:txBody>
          <a:bodyPr/>
          <a:lstStyle/>
          <a:p>
            <a:r>
              <a:rPr lang="en-US" dirty="0"/>
              <a:t>Construction of Application with Components and Tools</a:t>
            </a:r>
          </a:p>
        </p:txBody>
      </p:sp>
    </p:spTree>
    <p:extLst>
      <p:ext uri="{BB962C8B-B14F-4D97-AF65-F5344CB8AC3E}">
        <p14:creationId xmlns:p14="http://schemas.microsoft.com/office/powerpoint/2010/main" val="6733566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0FE5BE-D6D7-42CF-8A5E-D501516A65A8}"/>
              </a:ext>
            </a:extLst>
          </p:cNvPr>
          <p:cNvSpPr>
            <a:spLocks noGrp="1"/>
          </p:cNvSpPr>
          <p:nvPr>
            <p:ph type="title"/>
          </p:nvPr>
        </p:nvSpPr>
        <p:spPr>
          <a:xfrm>
            <a:off x="365125" y="243840"/>
            <a:ext cx="11372473" cy="914400"/>
          </a:xfrm>
        </p:spPr>
        <p:txBody>
          <a:bodyPr/>
          <a:lstStyle/>
          <a:p>
            <a:r>
              <a:rPr lang="en-US" dirty="0"/>
              <a:t>Final takeaways</a:t>
            </a:r>
          </a:p>
        </p:txBody>
      </p:sp>
      <p:sp>
        <p:nvSpPr>
          <p:cNvPr id="4" name="Content Placeholder 3">
            <a:extLst>
              <a:ext uri="{FF2B5EF4-FFF2-40B4-BE49-F238E27FC236}">
                <a16:creationId xmlns:a16="http://schemas.microsoft.com/office/drawing/2014/main" id="{9EAF9B28-68BD-45D5-89A7-A961B5872359}"/>
              </a:ext>
            </a:extLst>
          </p:cNvPr>
          <p:cNvSpPr>
            <a:spLocks noGrp="1"/>
          </p:cNvSpPr>
          <p:nvPr>
            <p:ph idx="1"/>
          </p:nvPr>
        </p:nvSpPr>
        <p:spPr>
          <a:xfrm>
            <a:off x="365125" y="1106112"/>
            <a:ext cx="11369675" cy="5050848"/>
          </a:xfrm>
        </p:spPr>
        <p:txBody>
          <a:bodyPr/>
          <a:lstStyle/>
          <a:p>
            <a:r>
              <a:rPr lang="en-US" dirty="0"/>
              <a:t>Requirements gathering and intentional design are indispensable for sustainable software development</a:t>
            </a:r>
          </a:p>
          <a:p>
            <a:r>
              <a:rPr lang="en-US" dirty="0"/>
              <a:t>Many books and online resources available for good design principles</a:t>
            </a:r>
          </a:p>
          <a:p>
            <a:r>
              <a:rPr lang="en-US" dirty="0"/>
              <a:t>Research software poses additional constraints on design because of its exploratory nature</a:t>
            </a:r>
          </a:p>
          <a:p>
            <a:pPr lvl="1"/>
            <a:r>
              <a:rPr lang="en-US" dirty="0"/>
              <a:t>Scientific research software has further challenges</a:t>
            </a:r>
          </a:p>
          <a:p>
            <a:pPr lvl="1"/>
            <a:r>
              <a:rPr lang="en-US" dirty="0"/>
              <a:t>High performance computing research software has even more challenges</a:t>
            </a:r>
          </a:p>
          <a:p>
            <a:pPr lvl="1"/>
            <a:r>
              <a:rPr lang="en-US" dirty="0"/>
              <a:t>That are further exacerbated by the ubiquity of accelerators in platforms</a:t>
            </a:r>
          </a:p>
          <a:p>
            <a:r>
              <a:rPr lang="en-US" dirty="0"/>
              <a:t>Separation of concerns at various granularities, and abstractions enable sustainable software design </a:t>
            </a:r>
          </a:p>
          <a:p>
            <a:pPr marL="0" indent="0">
              <a:buNone/>
            </a:pPr>
            <a:endParaRPr lang="en-US" dirty="0"/>
          </a:p>
        </p:txBody>
      </p:sp>
    </p:spTree>
    <p:extLst>
      <p:ext uri="{BB962C8B-B14F-4D97-AF65-F5344CB8AC3E}">
        <p14:creationId xmlns:p14="http://schemas.microsoft.com/office/powerpoint/2010/main" val="507045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0FE5BE-D6D7-42CF-8A5E-D501516A65A8}"/>
              </a:ext>
            </a:extLst>
          </p:cNvPr>
          <p:cNvSpPr>
            <a:spLocks noGrp="1"/>
          </p:cNvSpPr>
          <p:nvPr>
            <p:ph type="title"/>
          </p:nvPr>
        </p:nvSpPr>
        <p:spPr>
          <a:xfrm>
            <a:off x="365125" y="243840"/>
            <a:ext cx="11372473" cy="914400"/>
          </a:xfrm>
        </p:spPr>
        <p:txBody>
          <a:bodyPr/>
          <a:lstStyle/>
          <a:p>
            <a:r>
              <a:rPr lang="en-US" dirty="0"/>
              <a:t>Takeaways</a:t>
            </a:r>
          </a:p>
        </p:txBody>
      </p:sp>
      <p:sp>
        <p:nvSpPr>
          <p:cNvPr id="4" name="Content Placeholder 3">
            <a:extLst>
              <a:ext uri="{FF2B5EF4-FFF2-40B4-BE49-F238E27FC236}">
                <a16:creationId xmlns:a16="http://schemas.microsoft.com/office/drawing/2014/main" id="{9EAF9B28-68BD-45D5-89A7-A961B5872359}"/>
              </a:ext>
            </a:extLst>
          </p:cNvPr>
          <p:cNvSpPr>
            <a:spLocks noGrp="1"/>
          </p:cNvSpPr>
          <p:nvPr>
            <p:ph idx="1"/>
          </p:nvPr>
        </p:nvSpPr>
        <p:spPr>
          <a:xfrm>
            <a:off x="365125" y="1106112"/>
            <a:ext cx="11369675" cy="5050848"/>
          </a:xfrm>
        </p:spPr>
        <p:txBody>
          <a:bodyPr/>
          <a:lstStyle/>
          <a:p>
            <a:r>
              <a:rPr lang="en-US" dirty="0"/>
              <a:t>Requirements gathering and intentional design are indispensable for sustainable software development</a:t>
            </a:r>
          </a:p>
          <a:p>
            <a:r>
              <a:rPr lang="en-US" dirty="0"/>
              <a:t>Many books and online resources available for good design principles</a:t>
            </a:r>
          </a:p>
          <a:p>
            <a:r>
              <a:rPr lang="en-US" dirty="0"/>
              <a:t>Research software poses additional constraints on design because of its exploratory nature</a:t>
            </a:r>
          </a:p>
          <a:p>
            <a:pPr lvl="1"/>
            <a:r>
              <a:rPr lang="en-US" dirty="0"/>
              <a:t>Scientific research software has further challenges</a:t>
            </a:r>
          </a:p>
          <a:p>
            <a:pPr lvl="1"/>
            <a:r>
              <a:rPr lang="en-US" dirty="0"/>
              <a:t>High performance computing research software has even more challenges</a:t>
            </a:r>
          </a:p>
          <a:p>
            <a:pPr lvl="1"/>
            <a:r>
              <a:rPr lang="en-US" dirty="0"/>
              <a:t>That are further exacerbated by the ubiquity of accelerators in platforms</a:t>
            </a:r>
          </a:p>
          <a:p>
            <a:r>
              <a:rPr lang="en-US" dirty="0"/>
              <a:t>Separation of concerns at various granularities, and abstractions enable sustainable software design </a:t>
            </a:r>
          </a:p>
          <a:p>
            <a:pPr marL="0" indent="0">
              <a:buNone/>
            </a:pPr>
            <a:endParaRPr lang="en-US" dirty="0"/>
          </a:p>
        </p:txBody>
      </p:sp>
    </p:spTree>
    <p:extLst>
      <p:ext uri="{BB962C8B-B14F-4D97-AF65-F5344CB8AC3E}">
        <p14:creationId xmlns:p14="http://schemas.microsoft.com/office/powerpoint/2010/main" val="3209363160"/>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3.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2505</TotalTime>
  <Words>3832</Words>
  <Application>Microsoft Macintosh PowerPoint</Application>
  <PresentationFormat>Custom</PresentationFormat>
  <Paragraphs>737</Paragraphs>
  <Slides>51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-apple-system</vt:lpstr>
      <vt:lpstr>Arial</vt:lpstr>
      <vt:lpstr>Arial Black</vt:lpstr>
      <vt:lpstr>Calibri</vt:lpstr>
      <vt:lpstr>sohne</vt:lpstr>
      <vt:lpstr>Wingdings</vt:lpstr>
      <vt:lpstr>Presentations (Wide Screen)</vt:lpstr>
      <vt:lpstr>Scientific Software Design</vt:lpstr>
      <vt:lpstr>License, Citation and Acknowledgements</vt:lpstr>
      <vt:lpstr>Introduction</vt:lpstr>
      <vt:lpstr>General Design Principles for Maintainable Software</vt:lpstr>
      <vt:lpstr>General Design Principles for Maintainable Software</vt:lpstr>
      <vt:lpstr>Designing Software – High Level Phases</vt:lpstr>
      <vt:lpstr>Example 1 – Problem Description </vt:lpstr>
      <vt:lpstr>Mathematical formulation</vt:lpstr>
      <vt:lpstr>Requirements gathering </vt:lpstr>
      <vt:lpstr>Decomposition</vt:lpstr>
      <vt:lpstr>Connectivity</vt:lpstr>
      <vt:lpstr>Connectivity – alternative possibility</vt:lpstr>
      <vt:lpstr>Resources for Independent Exploration</vt:lpstr>
      <vt:lpstr>Research Software Challenges</vt:lpstr>
      <vt:lpstr>SOLID Principles Pose Some Difficulties</vt:lpstr>
      <vt:lpstr>Additional Considerations for Research Software</vt:lpstr>
      <vt:lpstr>More Complex Application Design – Sedov Blast Wave </vt:lpstr>
      <vt:lpstr>Deeper Dive into Requirements</vt:lpstr>
      <vt:lpstr>Components</vt:lpstr>
      <vt:lpstr>Connectivity</vt:lpstr>
      <vt:lpstr>Connectivity</vt:lpstr>
      <vt:lpstr>Connectivity</vt:lpstr>
      <vt:lpstr>Connectivity</vt:lpstr>
      <vt:lpstr>Connectivity</vt:lpstr>
      <vt:lpstr>A Design Model for Separation of Concerns</vt:lpstr>
      <vt:lpstr>Exploring design space – Abstractions</vt:lpstr>
      <vt:lpstr>Separation of Concerns Applied</vt:lpstr>
      <vt:lpstr>Takeaways so far</vt:lpstr>
      <vt:lpstr>PowerPoint Presentation</vt:lpstr>
      <vt:lpstr>State of Practice – Abstractions and Runtimes</vt:lpstr>
      <vt:lpstr>State of Practice – Abstractions and Runtimes</vt:lpstr>
      <vt:lpstr>Mechanisms Needed by the Code </vt:lpstr>
      <vt:lpstr>Mechanisms Needed by the Code </vt:lpstr>
      <vt:lpstr>Mechanisms Needed by the Code </vt:lpstr>
      <vt:lpstr>Mechanisms Needed by the Code </vt:lpstr>
      <vt:lpstr>Underlying Ideas: Unification of Computational Expressions</vt:lpstr>
      <vt:lpstr>Underlying Ideas: Moving Work and Data to the Target</vt:lpstr>
      <vt:lpstr>Underlying Ideas: Mapping Work to Targets</vt:lpstr>
      <vt:lpstr>State of Practice – Abstractions and Runtimes</vt:lpstr>
      <vt:lpstr>Mechanisms Needed by the Code : Example Flash-X</vt:lpstr>
      <vt:lpstr>Mechanisms Needed by the Code : Example Flash-X</vt:lpstr>
      <vt:lpstr>Mechanisms Needed by the Code : Example Flash-X</vt:lpstr>
      <vt:lpstr>Mechanisms Needed by the Code : Example Flash-X</vt:lpstr>
      <vt:lpstr>Orthogonal Axes of Challenges and Optimization</vt:lpstr>
      <vt:lpstr>Alternatively</vt:lpstr>
      <vt:lpstr>PowerPoint Presentation</vt:lpstr>
      <vt:lpstr>PowerPoint Presentation</vt:lpstr>
      <vt:lpstr>Code Generators</vt:lpstr>
      <vt:lpstr>Construction of Application with Components and Tools</vt:lpstr>
      <vt:lpstr>Final takeaways</vt:lpstr>
      <vt:lpstr>Takeaways</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Dubey, Anshu</cp:lastModifiedBy>
  <cp:revision>234</cp:revision>
  <cp:lastPrinted>2017-11-02T18:35:01Z</cp:lastPrinted>
  <dcterms:created xsi:type="dcterms:W3CDTF">2018-11-06T17:28:56Z</dcterms:created>
  <dcterms:modified xsi:type="dcterms:W3CDTF">2025-08-03T16:26:01Z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