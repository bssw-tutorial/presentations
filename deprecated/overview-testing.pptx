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13"/>
  </p:notesMasterIdLst>
  <p:handoutMasterIdLst>
    <p:handoutMasterId r:id="rId14"/>
  </p:handoutMasterIdLst>
  <p:sldIdLst>
    <p:sldId id="318" r:id="rId5"/>
    <p:sldId id="1860" r:id="rId6"/>
    <p:sldId id="1819" r:id="rId7"/>
    <p:sldId id="1822" r:id="rId8"/>
    <p:sldId id="1821" r:id="rId9"/>
    <p:sldId id="279" r:id="rId10"/>
    <p:sldId id="1845" r:id="rId11"/>
    <p:sldId id="1859" r:id="rId12"/>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93" autoAdjust="0"/>
    <p:restoredTop sz="96327" autoAdjust="0"/>
  </p:normalViewPr>
  <p:slideViewPr>
    <p:cSldViewPr snapToGrid="0" showGuides="1">
      <p:cViewPr varScale="1">
        <p:scale>
          <a:sx n="118" d="100"/>
          <a:sy n="118" d="100"/>
        </p:scale>
        <p:origin x="756" y="108"/>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 message</a:t>
            </a:r>
          </a:p>
        </p:txBody>
      </p:sp>
      <p:sp>
        <p:nvSpPr>
          <p:cNvPr id="4" name="Slide Number Placeholder 3"/>
          <p:cNvSpPr>
            <a:spLocks noGrp="1"/>
          </p:cNvSpPr>
          <p:nvPr>
            <p:ph type="sldNum" sz="quarter" idx="5"/>
          </p:nvPr>
        </p:nvSpPr>
        <p:spPr/>
        <p:txBody>
          <a:bodyPr/>
          <a:lstStyle/>
          <a:p>
            <a:fld id="{54E672D7-8E2D-4611-973D-F4591A707C34}" type="slidenum">
              <a:rPr lang="en-US" smtClean="0"/>
              <a:t>3</a:t>
            </a:fld>
            <a:endParaRPr lang="en-US"/>
          </a:p>
        </p:txBody>
      </p:sp>
    </p:spTree>
    <p:extLst>
      <p:ext uri="{BB962C8B-B14F-4D97-AF65-F5344CB8AC3E}">
        <p14:creationId xmlns:p14="http://schemas.microsoft.com/office/powerpoint/2010/main" val="42621562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 Id="rId9"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7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3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1810" y="1848659"/>
            <a:ext cx="2108499" cy="914400"/>
          </a:xfrm>
          <a:prstGeom prst="rect">
            <a:avLst/>
          </a:prstGeom>
        </p:spPr>
      </p:pic>
    </p:spTree>
    <p:extLst>
      <p:ext uri="{BB962C8B-B14F-4D97-AF65-F5344CB8AC3E}">
        <p14:creationId xmlns:p14="http://schemas.microsoft.com/office/powerpoint/2010/main" val="324926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8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r>
              <a:rPr lang="en-US" sz="1600" dirty="0">
                <a:ln>
                  <a:noFill/>
                </a:ln>
                <a:solidFill>
                  <a:schemeClr val="bg1"/>
                </a:solidFill>
              </a:rPr>
              <a:t>exascaleproject.org</a:t>
            </a: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749" y="483164"/>
            <a:ext cx="2050840" cy="935496"/>
          </a:xfrm>
          <a:prstGeom prst="rect">
            <a:avLst/>
          </a:prstGeom>
        </p:spPr>
      </p:pic>
      <p:pic>
        <p:nvPicPr>
          <p:cNvPr id="16" name="Picture 15"/>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289921" y="6322747"/>
            <a:ext cx="2409477" cy="401008"/>
          </a:xfrm>
          <a:prstGeom prst="rect">
            <a:avLst/>
          </a:prstGeom>
        </p:spPr>
      </p:pic>
      <p:pic>
        <p:nvPicPr>
          <p:cNvPr id="17" name="Picture 16"/>
          <p:cNvPicPr>
            <a:picLocks noChangeAspect="1"/>
          </p:cNvPicPr>
          <p:nvPr userDrawn="1"/>
        </p:nvPicPr>
        <p:blipFill rotWithShape="1">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rcRect b="70693"/>
          <a:stretch/>
        </p:blipFill>
        <p:spPr>
          <a:xfrm>
            <a:off x="10204521" y="6307740"/>
            <a:ext cx="1367541" cy="428915"/>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C432A180-7341-4E28-8C2B-73F9AB53D13F}"/>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33920" y="1848659"/>
            <a:ext cx="2108499" cy="914400"/>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15" name="Picture 14">
            <a:extLst>
              <a:ext uri="{FF2B5EF4-FFF2-40B4-BE49-F238E27FC236}">
                <a16:creationId xmlns:a16="http://schemas.microsoft.com/office/drawing/2014/main" id="{C554CDC7-44CF-4751-9869-0265C8E0184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33211" y="3189686"/>
            <a:ext cx="2109916" cy="905256"/>
          </a:xfrm>
          <a:prstGeom prst="rect">
            <a:avLst/>
          </a:prstGeom>
        </p:spPr>
      </p:pic>
    </p:spTree>
    <p:extLst>
      <p:ext uri="{BB962C8B-B14F-4D97-AF65-F5344CB8AC3E}">
        <p14:creationId xmlns:p14="http://schemas.microsoft.com/office/powerpoint/2010/main" val="451228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3" name="Picture 12"/>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41160" y="6185919"/>
            <a:ext cx="1971212" cy="533060"/>
          </a:xfrm>
          <a:prstGeom prst="rect">
            <a:avLst/>
          </a:prstGeom>
        </p:spPr>
      </p:pic>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pic>
        <p:nvPicPr>
          <p:cNvPr id="3" name="Picture 2" descr="A picture containing shape&#10;&#10;Description automatically generated">
            <a:extLst>
              <a:ext uri="{FF2B5EF4-FFF2-40B4-BE49-F238E27FC236}">
                <a16:creationId xmlns:a16="http://schemas.microsoft.com/office/drawing/2014/main" id="{2A4943B8-0F89-4A94-B130-A128F45E57C4}"/>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806050" y="6114121"/>
            <a:ext cx="1560289" cy="676656"/>
          </a:xfrm>
          <a:prstGeom prst="rect">
            <a:avLst/>
          </a:prstGeom>
        </p:spPr>
      </p:pic>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49" r:id="rId1"/>
    <p:sldLayoutId id="2147483951"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hyperlink" Target="https://doi.org/10.6084/m9.figshare.1960892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bssw-psip.github.io/ptc-catalog/catalog" TargetMode="External"/><Relationship Id="rId2" Type="http://schemas.openxmlformats.org/officeDocument/2006/relationships/hyperlink" Target="https://rateyourproject.org/" TargetMode="External"/><Relationship Id="rId1" Type="http://schemas.openxmlformats.org/officeDocument/2006/relationships/slideLayout" Target="../slideLayouts/slideLayout3.xml"/><Relationship Id="rId6" Type="http://schemas.openxmlformats.org/officeDocument/2006/relationships/hyperlink" Target="ttps://bssw.io/" TargetMode="External"/><Relationship Id="rId5" Type="http://schemas.openxmlformats.org/officeDocument/2006/relationships/image" Target="../media/image10.png"/><Relationship Id="rId4" Type="http://schemas.openxmlformats.org/officeDocument/2006/relationships/hyperlink" Target="https://bssw.io/psip" TargetMode="External"/></Relationships>
</file>

<file path=ppt/slides/_rels/slide8.xml.rels><?xml version="1.0" encoding="UTF-8" standalone="yes"?>
<Relationships xmlns="http://schemas.openxmlformats.org/package/2006/relationships"><Relationship Id="rId2" Type="http://schemas.openxmlformats.org/officeDocument/2006/relationships/hyperlink" Target="https://bssw-tutorial.github.io/"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1A77B7-F99D-49EA-A49F-D263718C48D7}"/>
              </a:ext>
            </a:extLst>
          </p:cNvPr>
          <p:cNvSpPr>
            <a:spLocks noGrp="1"/>
          </p:cNvSpPr>
          <p:nvPr>
            <p:ph type="ctrTitle"/>
          </p:nvPr>
        </p:nvSpPr>
        <p:spPr/>
        <p:txBody>
          <a:bodyPr/>
          <a:lstStyle/>
          <a:p>
            <a:r>
              <a:rPr lang="en-US" dirty="0"/>
              <a:t>Motivation and Overview</a:t>
            </a:r>
          </a:p>
        </p:txBody>
      </p:sp>
      <p:sp>
        <p:nvSpPr>
          <p:cNvPr id="5" name="Subtitle 4">
            <a:extLst>
              <a:ext uri="{FF2B5EF4-FFF2-40B4-BE49-F238E27FC236}">
                <a16:creationId xmlns:a16="http://schemas.microsoft.com/office/drawing/2014/main" id="{E9C36191-4CD4-4D95-BBB8-C25F2055F697}"/>
              </a:ext>
            </a:extLst>
          </p:cNvPr>
          <p:cNvSpPr>
            <a:spLocks noGrp="1"/>
          </p:cNvSpPr>
          <p:nvPr>
            <p:ph type="subTitle" idx="1"/>
          </p:nvPr>
        </p:nvSpPr>
        <p:spPr/>
        <p:txBody>
          <a:bodyPr/>
          <a:lstStyle/>
          <a:p>
            <a:r>
              <a:rPr lang="en-US" u="sng" dirty="0"/>
              <a:t>Greg Watson</a:t>
            </a:r>
            <a:r>
              <a:rPr lang="en-US" dirty="0"/>
              <a:t> </a:t>
            </a:r>
            <a:r>
              <a:rPr lang="en-US" sz="2000" dirty="0"/>
              <a:t>(he/him)</a:t>
            </a:r>
            <a:br>
              <a:rPr lang="en-US" sz="2000" u="sng" dirty="0"/>
            </a:br>
            <a:r>
              <a:rPr lang="en-US" sz="2000" dirty="0"/>
              <a:t>Oak Ridge National Laboratory</a:t>
            </a:r>
          </a:p>
          <a:p>
            <a:pPr>
              <a:spcBef>
                <a:spcPts val="2800"/>
              </a:spcBef>
            </a:pPr>
            <a:r>
              <a:rPr lang="en-US" sz="2000" dirty="0"/>
              <a:t>Developing a Testing and Continuous Integration Strategy for your Team tutorial @ Exascale Computing Project Annual Meeting</a:t>
            </a:r>
          </a:p>
          <a:p>
            <a:pPr>
              <a:spcBef>
                <a:spcPts val="2800"/>
              </a:spcBef>
            </a:pPr>
            <a:r>
              <a:rPr lang="en-US" sz="2000" dirty="0"/>
              <a:t>Contributors: David E. Bernholdt (ORNL), Anshu Dubey (ANL), Patricia A. Grubel (LANL), Rinku K. Gupta (ANL), Katherine M. Riley (ANL), David M. Rogers (ORNL), Gregory R. Watson (ORNL)</a:t>
            </a:r>
          </a:p>
        </p:txBody>
      </p:sp>
    </p:spTree>
    <p:extLst>
      <p:ext uri="{BB962C8B-B14F-4D97-AF65-F5344CB8AC3E}">
        <p14:creationId xmlns:p14="http://schemas.microsoft.com/office/powerpoint/2010/main" val="13651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Gregory R. Watson and David M. </a:t>
            </a:r>
            <a:r>
              <a:rPr lang="en-US" sz="1600" b="1"/>
              <a:t>Rogers, </a:t>
            </a:r>
            <a:r>
              <a:rPr lang="en-US" sz="1600" b="1" dirty="0"/>
              <a:t>Developing a Testing and Continuous Integration Strategy for your Team tutorial, in Exascale Computing Project Annual Meeting, online, 2022. DOI: </a:t>
            </a:r>
            <a:r>
              <a:rPr lang="en-US" sz="1600" b="1" dirty="0">
                <a:hlinkClick r:id="rId4"/>
              </a:rPr>
              <a:t>10.6084/m9.figshare.19608927</a:t>
            </a:r>
            <a:endParaRPr lang="en-US" sz="1600" b="1" dirty="0"/>
          </a:p>
          <a:p>
            <a:pPr>
              <a:spcBef>
                <a:spcPts val="400"/>
              </a:spcBef>
            </a:pPr>
            <a:r>
              <a:rPr lang="en-US" sz="1600" dirty="0"/>
              <a:t>Individual modules may be cited as </a:t>
            </a:r>
            <a:r>
              <a:rPr lang="en-US" sz="1600" i="1" dirty="0"/>
              <a:t>Speaker, Module Title</a:t>
            </a:r>
            <a:r>
              <a:rPr lang="en-US" sz="1600" dirty="0"/>
              <a:t>, in Better Scientific Software tutorial…</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a:t>
            </a:r>
            <a:r>
              <a:rPr lang="en-US" sz="1400" dirty="0" err="1"/>
              <a:t>Exascale</a:t>
            </a:r>
            <a:r>
              <a:rPr lang="en-US" sz="1400" dirty="0"/>
              <a:t> Computing Project (17-SC-20-SC), a collaborative effort of the U.S. Department of Energy Office of Science and the National Nuclear Security Administration</a:t>
            </a:r>
            <a:r>
              <a:rPr lang="en-US" sz="1400" i="1" dirty="0"/>
              <a:t>.</a:t>
            </a:r>
            <a:endParaRPr lang="en-US" sz="1400" dirty="0"/>
          </a:p>
          <a:p>
            <a:pPr>
              <a:spcBef>
                <a:spcPts val="400"/>
              </a:spcBef>
            </a:pPr>
            <a:r>
              <a:rPr lang="en-US" sz="1400" dirty="0"/>
              <a:t>This work was performed in part at the Argonne National Laboratory, which is managed by </a:t>
            </a:r>
            <a:r>
              <a:rPr lang="en-US" sz="1400" dirty="0" err="1"/>
              <a:t>UChicago</a:t>
            </a:r>
            <a:r>
              <a:rPr lang="en-US" sz="1400" dirty="0"/>
              <a:t> Argonne, LLC for the U.S. Department of Energy under Contract No. DE-AC02-06CH11357.</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312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3E54-E07F-40D0-AAF9-603545181CBC}"/>
              </a:ext>
            </a:extLst>
          </p:cNvPr>
          <p:cNvSpPr>
            <a:spLocks noGrp="1"/>
          </p:cNvSpPr>
          <p:nvPr>
            <p:ph idx="1"/>
          </p:nvPr>
        </p:nvSpPr>
        <p:spPr>
          <a:xfrm>
            <a:off x="365760" y="1405111"/>
            <a:ext cx="11369809" cy="4047778"/>
          </a:xfrm>
        </p:spPr>
        <p:txBody>
          <a:bodyPr anchor="ctr" anchorCtr="0"/>
          <a:lstStyle/>
          <a:p>
            <a:pPr marL="0" indent="0" algn="ctr">
              <a:buNone/>
            </a:pPr>
            <a:r>
              <a:rPr lang="en-US" sz="4400" dirty="0"/>
              <a:t>Science through computing is, </a:t>
            </a:r>
            <a:br>
              <a:rPr lang="en-US" sz="4400" dirty="0"/>
            </a:br>
            <a:r>
              <a:rPr lang="en-US" sz="4400" dirty="0"/>
              <a:t>at best, </a:t>
            </a:r>
            <a:br>
              <a:rPr lang="en-US" sz="4400" dirty="0"/>
            </a:br>
            <a:r>
              <a:rPr lang="en-US" sz="4400" dirty="0"/>
              <a:t>as credible as the software that produces it!</a:t>
            </a:r>
          </a:p>
        </p:txBody>
      </p:sp>
    </p:spTree>
    <p:extLst>
      <p:ext uri="{BB962C8B-B14F-4D97-AF65-F5344CB8AC3E}">
        <p14:creationId xmlns:p14="http://schemas.microsoft.com/office/powerpoint/2010/main" val="24229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681E-868C-4362-8CE9-D9277D90945D}"/>
              </a:ext>
            </a:extLst>
          </p:cNvPr>
          <p:cNvSpPr>
            <a:spLocks noGrp="1"/>
          </p:cNvSpPr>
          <p:nvPr>
            <p:ph type="title"/>
          </p:nvPr>
        </p:nvSpPr>
        <p:spPr/>
        <p:txBody>
          <a:bodyPr/>
          <a:lstStyle/>
          <a:p>
            <a:r>
              <a:rPr lang="en-US" dirty="0"/>
              <a:t>High-Consequence Software-Related Scientific Failures</a:t>
            </a:r>
          </a:p>
        </p:txBody>
      </p:sp>
      <p:sp>
        <p:nvSpPr>
          <p:cNvPr id="4" name="Text Placeholder 3">
            <a:extLst>
              <a:ext uri="{FF2B5EF4-FFF2-40B4-BE49-F238E27FC236}">
                <a16:creationId xmlns:a16="http://schemas.microsoft.com/office/drawing/2014/main" id="{E8D361FB-619E-41D2-B8F0-CA5FA1B12783}"/>
              </a:ext>
            </a:extLst>
          </p:cNvPr>
          <p:cNvSpPr>
            <a:spLocks noGrp="1"/>
          </p:cNvSpPr>
          <p:nvPr>
            <p:ph type="body" idx="1"/>
          </p:nvPr>
        </p:nvSpPr>
        <p:spPr>
          <a:xfrm>
            <a:off x="457200" y="1082160"/>
            <a:ext cx="5588582" cy="821190"/>
          </a:xfrm>
        </p:spPr>
        <p:txBody>
          <a:bodyPr/>
          <a:lstStyle/>
          <a:p>
            <a:r>
              <a:rPr lang="en-US" dirty="0"/>
              <a:t>Therac-25 (1985-1987)</a:t>
            </a:r>
          </a:p>
        </p:txBody>
      </p:sp>
      <p:sp>
        <p:nvSpPr>
          <p:cNvPr id="5" name="Content Placeholder 4">
            <a:extLst>
              <a:ext uri="{FF2B5EF4-FFF2-40B4-BE49-F238E27FC236}">
                <a16:creationId xmlns:a16="http://schemas.microsoft.com/office/drawing/2014/main" id="{56CD8BB6-7BE3-465D-9CA1-DEAACB888B21}"/>
              </a:ext>
            </a:extLst>
          </p:cNvPr>
          <p:cNvSpPr>
            <a:spLocks noGrp="1"/>
          </p:cNvSpPr>
          <p:nvPr>
            <p:ph sz="half" idx="2"/>
          </p:nvPr>
        </p:nvSpPr>
        <p:spPr>
          <a:xfrm>
            <a:off x="457200" y="1903350"/>
            <a:ext cx="5588582" cy="3373229"/>
          </a:xfrm>
        </p:spPr>
        <p:txBody>
          <a:bodyPr/>
          <a:lstStyle/>
          <a:p>
            <a:r>
              <a:rPr lang="en-US" dirty="0"/>
              <a:t>Computer-controlled radiation therapy system</a:t>
            </a:r>
          </a:p>
          <a:p>
            <a:r>
              <a:rPr lang="en-US" b="1" dirty="0"/>
              <a:t>Poor software design, development and testing practices </a:t>
            </a:r>
            <a:r>
              <a:rPr lang="en-US" dirty="0"/>
              <a:t>allowed flaws that let to at least six cases of substantial radiation overdoses, three fatal</a:t>
            </a:r>
          </a:p>
        </p:txBody>
      </p:sp>
      <p:sp>
        <p:nvSpPr>
          <p:cNvPr id="8" name="Text Placeholder 7">
            <a:extLst>
              <a:ext uri="{FF2B5EF4-FFF2-40B4-BE49-F238E27FC236}">
                <a16:creationId xmlns:a16="http://schemas.microsoft.com/office/drawing/2014/main" id="{2A9420E6-1ED3-47F5-A868-592FBE0CF025}"/>
              </a:ext>
            </a:extLst>
          </p:cNvPr>
          <p:cNvSpPr>
            <a:spLocks noGrp="1"/>
          </p:cNvSpPr>
          <p:nvPr>
            <p:ph type="body" sz="quarter" idx="3"/>
          </p:nvPr>
        </p:nvSpPr>
        <p:spPr>
          <a:xfrm>
            <a:off x="6218913" y="1082160"/>
            <a:ext cx="5588581" cy="821190"/>
          </a:xfrm>
        </p:spPr>
        <p:txBody>
          <a:bodyPr/>
          <a:lstStyle/>
          <a:p>
            <a:r>
              <a:rPr lang="en-US" dirty="0"/>
              <a:t>Mars Climate Orbiter (1999)</a:t>
            </a:r>
          </a:p>
        </p:txBody>
      </p:sp>
      <p:sp>
        <p:nvSpPr>
          <p:cNvPr id="10" name="Text Placeholder 9">
            <a:extLst>
              <a:ext uri="{FF2B5EF4-FFF2-40B4-BE49-F238E27FC236}">
                <a16:creationId xmlns:a16="http://schemas.microsoft.com/office/drawing/2014/main" id="{C8632146-7E50-4441-AA9F-3B7BFE2EDC5F}"/>
              </a:ext>
            </a:extLst>
          </p:cNvPr>
          <p:cNvSpPr>
            <a:spLocks noGrp="1"/>
          </p:cNvSpPr>
          <p:nvPr>
            <p:ph sz="quarter" idx="4"/>
          </p:nvPr>
        </p:nvSpPr>
        <p:spPr>
          <a:xfrm>
            <a:off x="6218914" y="1903350"/>
            <a:ext cx="5588582" cy="3373229"/>
          </a:xfrm>
        </p:spPr>
        <p:txBody>
          <a:bodyPr/>
          <a:lstStyle/>
          <a:p>
            <a:r>
              <a:rPr lang="en-US" dirty="0"/>
              <a:t>Incorrect trajectory adjustment caused loss of the orbiter as it was supposed to enter Martian orbit</a:t>
            </a:r>
          </a:p>
          <a:p>
            <a:r>
              <a:rPr lang="en-US" dirty="0"/>
              <a:t>Discrepancy in the units used in two different software components</a:t>
            </a:r>
          </a:p>
          <a:p>
            <a:r>
              <a:rPr lang="en-US" dirty="0"/>
              <a:t>One component </a:t>
            </a:r>
            <a:r>
              <a:rPr lang="en-US" b="1" dirty="0"/>
              <a:t>didn’t follow specifications</a:t>
            </a:r>
          </a:p>
          <a:p>
            <a:r>
              <a:rPr lang="en-US" b="1" dirty="0"/>
              <a:t>Inadequate testing </a:t>
            </a:r>
            <a:r>
              <a:rPr lang="en-US" dirty="0"/>
              <a:t>at the interface</a:t>
            </a:r>
          </a:p>
          <a:p>
            <a:r>
              <a:rPr lang="en-US" dirty="0"/>
              <a:t>Concerns raised earlier in the mission were ignored because they </a:t>
            </a:r>
            <a:r>
              <a:rPr lang="en-US" b="1" dirty="0"/>
              <a:t>weren’t properly documented </a:t>
            </a:r>
          </a:p>
        </p:txBody>
      </p:sp>
      <p:pic>
        <p:nvPicPr>
          <p:cNvPr id="1030" name="Picture 6" descr="Photo of the Therac 25">
            <a:extLst>
              <a:ext uri="{FF2B5EF4-FFF2-40B4-BE49-F238E27FC236}">
                <a16:creationId xmlns:a16="http://schemas.microsoft.com/office/drawing/2014/main" id="{0B40ADAE-0821-49AE-9C40-E819AA1A08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86" t="5757" r="2268" b="3090"/>
          <a:stretch/>
        </p:blipFill>
        <p:spPr bwMode="auto">
          <a:xfrm>
            <a:off x="457200" y="3709440"/>
            <a:ext cx="3312001" cy="206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408BCE3-0998-4F7D-940F-78254B7569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2747" y="4363920"/>
            <a:ext cx="2570581" cy="23364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14C56D-3B93-4509-884B-13EFE57E3C93}"/>
              </a:ext>
            </a:extLst>
          </p:cNvPr>
          <p:cNvSpPr txBox="1"/>
          <p:nvPr/>
        </p:nvSpPr>
        <p:spPr>
          <a:xfrm>
            <a:off x="7025304" y="5505985"/>
            <a:ext cx="3919153" cy="517065"/>
          </a:xfrm>
          <a:prstGeom prst="rect">
            <a:avLst/>
          </a:prstGeom>
          <a:noFill/>
          <a:ln>
            <a:solidFill>
              <a:schemeClr val="accent4"/>
            </a:solidFill>
          </a:ln>
        </p:spPr>
        <p:txBody>
          <a:bodyPr wrap="square" lIns="118872" tIns="91440" rIns="118872" bIns="91440" rtlCol="0" anchor="ctr" anchorCtr="0">
            <a:spAutoFit/>
          </a:bodyPr>
          <a:lstStyle/>
          <a:p>
            <a:pPr algn="l">
              <a:lnSpc>
                <a:spcPct val="90000"/>
              </a:lnSpc>
            </a:pPr>
            <a:r>
              <a:rPr lang="en-US" sz="2400" i="1" dirty="0">
                <a:solidFill>
                  <a:schemeClr val="accent4"/>
                </a:solidFill>
              </a:rPr>
              <a:t>Just two of many examples</a:t>
            </a:r>
          </a:p>
        </p:txBody>
      </p:sp>
    </p:spTree>
    <p:extLst>
      <p:ext uri="{BB962C8B-B14F-4D97-AF65-F5344CB8AC3E}">
        <p14:creationId xmlns:p14="http://schemas.microsoft.com/office/powerpoint/2010/main" val="1096721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410602"/>
            <a:ext cx="11375136" cy="510909"/>
          </a:xfrm>
        </p:spPr>
        <p:txBody>
          <a:bodyPr/>
          <a:lstStyle/>
          <a:p>
            <a:r>
              <a:rPr lang="en-US" dirty="0"/>
              <a:t>Challenges Developing Scientific Applications Today</a:t>
            </a:r>
          </a:p>
        </p:txBody>
      </p:sp>
      <p:sp>
        <p:nvSpPr>
          <p:cNvPr id="3" name="Text Placeholder 2"/>
          <p:cNvSpPr>
            <a:spLocks noGrp="1"/>
          </p:cNvSpPr>
          <p:nvPr>
            <p:ph type="body" idx="1"/>
          </p:nvPr>
        </p:nvSpPr>
        <p:spPr>
          <a:xfrm>
            <a:off x="365760" y="1163920"/>
            <a:ext cx="5588582" cy="821190"/>
          </a:xfrm>
        </p:spPr>
        <p:txBody>
          <a:bodyPr/>
          <a:lstStyle/>
          <a:p>
            <a:r>
              <a:rPr lang="en-US" sz="2800" dirty="0"/>
              <a:t>Technical</a:t>
            </a:r>
          </a:p>
        </p:txBody>
      </p:sp>
      <p:sp>
        <p:nvSpPr>
          <p:cNvPr id="7" name="Content Placeholder 6"/>
          <p:cNvSpPr>
            <a:spLocks noGrp="1"/>
          </p:cNvSpPr>
          <p:nvPr>
            <p:ph sz="half" idx="2"/>
          </p:nvPr>
        </p:nvSpPr>
        <p:spPr>
          <a:xfrm>
            <a:off x="365760" y="2043782"/>
            <a:ext cx="5588582" cy="3702110"/>
          </a:xfrm>
        </p:spPr>
        <p:txBody>
          <a:bodyPr>
            <a:normAutofit lnSpcReduction="10000"/>
          </a:bodyPr>
          <a:lstStyle/>
          <a:p>
            <a:r>
              <a:rPr lang="en-US" sz="2400" dirty="0"/>
              <a:t>All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 so is the software</a:t>
            </a:r>
          </a:p>
          <a:p>
            <a:r>
              <a:rPr lang="en-US" sz="2400" dirty="0"/>
              <a:t>Increasing architectural diversity</a:t>
            </a:r>
          </a:p>
          <a:p>
            <a:endParaRPr lang="en-US" sz="2400" dirty="0"/>
          </a:p>
          <a:p>
            <a:endParaRPr lang="en-US" sz="2400" dirty="0"/>
          </a:p>
          <a:p>
            <a:endParaRPr lang="en-US" sz="2400" dirty="0"/>
          </a:p>
        </p:txBody>
      </p:sp>
      <p:sp>
        <p:nvSpPr>
          <p:cNvPr id="6" name="Text Placeholder 5"/>
          <p:cNvSpPr>
            <a:spLocks noGrp="1"/>
          </p:cNvSpPr>
          <p:nvPr>
            <p:ph type="body" sz="quarter" idx="3"/>
          </p:nvPr>
        </p:nvSpPr>
        <p:spPr>
          <a:xfrm>
            <a:off x="6191755" y="1163920"/>
            <a:ext cx="5531934" cy="821190"/>
          </a:xfrm>
        </p:spPr>
        <p:txBody>
          <a:bodyPr/>
          <a:lstStyle/>
          <a:p>
            <a:r>
              <a:rPr lang="en-US" sz="2800" dirty="0"/>
              <a:t>Sociological</a:t>
            </a:r>
          </a:p>
        </p:txBody>
      </p:sp>
      <p:sp>
        <p:nvSpPr>
          <p:cNvPr id="8" name="Content Placeholder 7"/>
          <p:cNvSpPr>
            <a:spLocks noGrp="1"/>
          </p:cNvSpPr>
          <p:nvPr>
            <p:ph sz="quarter" idx="4"/>
          </p:nvPr>
        </p:nvSpPr>
        <p:spPr>
          <a:xfrm>
            <a:off x="6191755" y="2043782"/>
            <a:ext cx="5531934" cy="3702110"/>
          </a:xfrm>
        </p:spPr>
        <p:txBody>
          <a:bodyPr/>
          <a:lstStyle/>
          <a:p>
            <a:r>
              <a:rPr lang="en-US" sz="2400" dirty="0"/>
              <a:t>Competing priorities and incentives</a:t>
            </a:r>
          </a:p>
          <a:p>
            <a:pPr lvl="1"/>
            <a:r>
              <a:rPr lang="en-US" sz="2200" dirty="0"/>
              <a:t>Sponsors often care more about scientific publications than software per se</a:t>
            </a:r>
          </a:p>
          <a:p>
            <a:pPr lvl="1"/>
            <a:r>
              <a:rPr lang="en-US" sz="2200" dirty="0"/>
              <a:t>Balancing development and maintenance with research</a:t>
            </a:r>
          </a:p>
          <a:p>
            <a:r>
              <a:rPr lang="en-US" sz="2400" dirty="0"/>
              <a:t>Limited resources </a:t>
            </a:r>
          </a:p>
          <a:p>
            <a:r>
              <a:rPr lang="en-US" sz="2400" dirty="0"/>
              <a:t>Need for interdisciplinary interactions</a:t>
            </a:r>
          </a:p>
          <a:p>
            <a:pPr lvl="1"/>
            <a:r>
              <a:rPr lang="en-US" sz="2200" dirty="0"/>
              <a:t>Many different kinds of expertise to be successful</a:t>
            </a:r>
          </a:p>
          <a:p>
            <a:endParaRPr lang="en-US" sz="2400" dirty="0"/>
          </a:p>
        </p:txBody>
      </p:sp>
    </p:spTree>
    <p:extLst>
      <p:ext uri="{BB962C8B-B14F-4D97-AF65-F5344CB8AC3E}">
        <p14:creationId xmlns:p14="http://schemas.microsoft.com/office/powerpoint/2010/main" val="395716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5760" y="410602"/>
            <a:ext cx="11375136" cy="510909"/>
          </a:xfrm>
        </p:spPr>
        <p:txBody>
          <a:bodyPr/>
          <a:lstStyle/>
          <a:p>
            <a:r>
              <a:rPr lang="en-US" dirty="0"/>
              <a:t>Best Practices for Scientific Software Development</a:t>
            </a:r>
          </a:p>
        </p:txBody>
      </p:sp>
      <p:sp>
        <p:nvSpPr>
          <p:cNvPr id="2" name="Text Placeholder 1"/>
          <p:cNvSpPr>
            <a:spLocks noGrp="1"/>
          </p:cNvSpPr>
          <p:nvPr>
            <p:ph type="body" idx="1"/>
          </p:nvPr>
        </p:nvSpPr>
        <p:spPr>
          <a:xfrm>
            <a:off x="365760" y="996683"/>
            <a:ext cx="5588582" cy="821190"/>
          </a:xfrm>
        </p:spPr>
        <p:txBody>
          <a:bodyPr/>
          <a:lstStyle/>
          <a:p>
            <a:r>
              <a:rPr lang="en-US" sz="2800" dirty="0"/>
              <a:t>Baseline</a:t>
            </a:r>
          </a:p>
        </p:txBody>
      </p:sp>
      <p:sp>
        <p:nvSpPr>
          <p:cNvPr id="7" name="Content Placeholder 2"/>
          <p:cNvSpPr>
            <a:spLocks noGrp="1"/>
          </p:cNvSpPr>
          <p:nvPr>
            <p:ph sz="half" idx="2"/>
          </p:nvPr>
        </p:nvSpPr>
        <p:spPr>
          <a:xfrm>
            <a:off x="365760" y="1918320"/>
            <a:ext cx="5588582" cy="4185918"/>
          </a:xfrm>
        </p:spPr>
        <p:txBody>
          <a:bodyPr>
            <a:noAutofit/>
          </a:bodyPr>
          <a:lstStyle/>
          <a:p>
            <a:r>
              <a:rPr lang="en-US" sz="2400" dirty="0"/>
              <a:t>Invest in extensible code design</a:t>
            </a:r>
          </a:p>
          <a:p>
            <a:r>
              <a:rPr lang="en-US" sz="2400" dirty="0"/>
              <a:t>Use version control and automated testing</a:t>
            </a:r>
          </a:p>
          <a:p>
            <a:r>
              <a:rPr lang="en-US" sz="2400" b="1" dirty="0"/>
              <a:t>Institute a rigorous verification and validation regime</a:t>
            </a:r>
          </a:p>
          <a:p>
            <a:r>
              <a:rPr lang="en-US" sz="2400" b="1" dirty="0"/>
              <a:t>Define and enforce coding and testing standards</a:t>
            </a:r>
          </a:p>
          <a:p>
            <a:r>
              <a:rPr lang="en-US" sz="2400" dirty="0"/>
              <a:t>Clear and well-defined policies for </a:t>
            </a:r>
          </a:p>
          <a:p>
            <a:pPr lvl="1"/>
            <a:r>
              <a:rPr lang="en-US" sz="2000" dirty="0"/>
              <a:t>Auditing and maintenance</a:t>
            </a:r>
          </a:p>
          <a:p>
            <a:pPr lvl="1"/>
            <a:r>
              <a:rPr lang="en-US" sz="2000" dirty="0"/>
              <a:t>Distribution and contribution</a:t>
            </a:r>
          </a:p>
          <a:p>
            <a:pPr lvl="1"/>
            <a:r>
              <a:rPr lang="en-US" sz="2000" dirty="0"/>
              <a:t>Documentation</a:t>
            </a:r>
          </a:p>
        </p:txBody>
      </p:sp>
      <p:sp>
        <p:nvSpPr>
          <p:cNvPr id="3" name="Text Placeholder 2"/>
          <p:cNvSpPr>
            <a:spLocks noGrp="1"/>
          </p:cNvSpPr>
          <p:nvPr>
            <p:ph type="body" sz="quarter" idx="3"/>
          </p:nvPr>
        </p:nvSpPr>
        <p:spPr>
          <a:xfrm>
            <a:off x="6191755" y="996683"/>
            <a:ext cx="5531934" cy="821190"/>
          </a:xfrm>
        </p:spPr>
        <p:txBody>
          <a:bodyPr/>
          <a:lstStyle/>
          <a:p>
            <a:r>
              <a:rPr lang="en-US" sz="2800" dirty="0"/>
              <a:t>Desirable</a:t>
            </a:r>
          </a:p>
        </p:txBody>
      </p:sp>
      <p:sp>
        <p:nvSpPr>
          <p:cNvPr id="9" name="Content Placeholder 8"/>
          <p:cNvSpPr>
            <a:spLocks noGrp="1"/>
          </p:cNvSpPr>
          <p:nvPr>
            <p:ph sz="quarter" idx="4"/>
          </p:nvPr>
        </p:nvSpPr>
        <p:spPr>
          <a:xfrm>
            <a:off x="6191755" y="1918320"/>
            <a:ext cx="5531934" cy="4185918"/>
          </a:xfrm>
        </p:spPr>
        <p:txBody>
          <a:bodyPr/>
          <a:lstStyle/>
          <a:p>
            <a:r>
              <a:rPr lang="en-US" sz="2400" dirty="0"/>
              <a:t>Provenance and reproducibility</a:t>
            </a:r>
          </a:p>
          <a:p>
            <a:r>
              <a:rPr lang="en-US" sz="2400" dirty="0"/>
              <a:t>Lifecycle management</a:t>
            </a:r>
          </a:p>
          <a:p>
            <a:r>
              <a:rPr lang="en-US" sz="2400" dirty="0"/>
              <a:t>Open development and frequent releases</a:t>
            </a:r>
          </a:p>
        </p:txBody>
      </p:sp>
      <p:sp>
        <p:nvSpPr>
          <p:cNvPr id="4" name="TextBox 3">
            <a:extLst>
              <a:ext uri="{FF2B5EF4-FFF2-40B4-BE49-F238E27FC236}">
                <a16:creationId xmlns:a16="http://schemas.microsoft.com/office/drawing/2014/main" id="{6AEB12FC-503B-4B3F-A1C9-CE40BF9C4BA1}"/>
              </a:ext>
            </a:extLst>
          </p:cNvPr>
          <p:cNvSpPr txBox="1"/>
          <p:nvPr/>
        </p:nvSpPr>
        <p:spPr>
          <a:xfrm>
            <a:off x="6208961" y="4502995"/>
            <a:ext cx="5531935" cy="1514261"/>
          </a:xfrm>
          <a:prstGeom prst="rect">
            <a:avLst/>
          </a:prstGeom>
          <a:noFill/>
          <a:ln>
            <a:solidFill>
              <a:schemeClr val="tx2"/>
            </a:solidFill>
          </a:ln>
        </p:spPr>
        <p:txBody>
          <a:bodyPr wrap="square" lIns="118872" tIns="91440" rIns="118872" bIns="91440" rtlCol="0" anchor="ctr" anchorCtr="0">
            <a:spAutoFit/>
          </a:bodyPr>
          <a:lstStyle/>
          <a:p>
            <a:pPr algn="l">
              <a:lnSpc>
                <a:spcPct val="90000"/>
              </a:lnSpc>
            </a:pPr>
            <a:r>
              <a:rPr lang="en-US" sz="2400" b="1" i="1" dirty="0">
                <a:solidFill>
                  <a:schemeClr val="tx2"/>
                </a:solidFill>
              </a:rPr>
              <a:t>This tutorial will focus primarily on scientific software as distinct from more generic software engineering best practices</a:t>
            </a:r>
          </a:p>
        </p:txBody>
      </p:sp>
    </p:spTree>
    <p:extLst>
      <p:ext uri="{BB962C8B-B14F-4D97-AF65-F5344CB8AC3E}">
        <p14:creationId xmlns:p14="http://schemas.microsoft.com/office/powerpoint/2010/main" val="769054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2F6E-6146-4EFE-B865-F5301F6BE1EB}"/>
              </a:ext>
            </a:extLst>
          </p:cNvPr>
          <p:cNvSpPr>
            <a:spLocks noGrp="1"/>
          </p:cNvSpPr>
          <p:nvPr>
            <p:ph type="title"/>
          </p:nvPr>
        </p:nvSpPr>
        <p:spPr/>
        <p:txBody>
          <a:bodyPr/>
          <a:lstStyle/>
          <a:p>
            <a:r>
              <a:rPr lang="en-US" dirty="0"/>
              <a:t>Continual, Incremental Software Process Improvement</a:t>
            </a:r>
          </a:p>
        </p:txBody>
      </p:sp>
      <p:sp>
        <p:nvSpPr>
          <p:cNvPr id="3" name="Content Placeholder 2">
            <a:extLst>
              <a:ext uri="{FF2B5EF4-FFF2-40B4-BE49-F238E27FC236}">
                <a16:creationId xmlns:a16="http://schemas.microsoft.com/office/drawing/2014/main" id="{27AD9C12-D43C-463C-8992-BC3491AF2024}"/>
              </a:ext>
            </a:extLst>
          </p:cNvPr>
          <p:cNvSpPr>
            <a:spLocks noGrp="1"/>
          </p:cNvSpPr>
          <p:nvPr>
            <p:ph idx="1"/>
          </p:nvPr>
        </p:nvSpPr>
        <p:spPr>
          <a:xfrm>
            <a:off x="365761" y="1027458"/>
            <a:ext cx="6151518" cy="4047778"/>
          </a:xfrm>
        </p:spPr>
        <p:txBody>
          <a:bodyPr/>
          <a:lstStyle/>
          <a:p>
            <a:pPr marL="0" indent="0">
              <a:buNone/>
            </a:pPr>
            <a:r>
              <a:rPr lang="en-US" sz="1800" dirty="0">
                <a:solidFill>
                  <a:schemeClr val="tx2"/>
                </a:solidFill>
              </a:rPr>
              <a:t>Target: your project should include “just enough” software engineering so that you can meet your short-term and longer-term scientific goals effectively</a:t>
            </a:r>
          </a:p>
          <a:p>
            <a:pPr marL="457200" indent="-457200">
              <a:buFont typeface="+mj-lt"/>
              <a:buAutoNum type="arabicPeriod"/>
            </a:pPr>
            <a:r>
              <a:rPr lang="en-US" sz="1800" dirty="0"/>
              <a:t>Identify your team’s “pain points” in your software development processes</a:t>
            </a:r>
          </a:p>
          <a:p>
            <a:pPr lvl="1">
              <a:spcBef>
                <a:spcPts val="200"/>
              </a:spcBef>
            </a:pPr>
            <a:r>
              <a:rPr lang="en-US" sz="1600" dirty="0">
                <a:solidFill>
                  <a:schemeClr val="tx2"/>
                </a:solidFill>
              </a:rPr>
              <a:t>Help: </a:t>
            </a:r>
            <a:r>
              <a:rPr lang="en-US" sz="1600" dirty="0" err="1">
                <a:solidFill>
                  <a:schemeClr val="tx2"/>
                </a:solidFill>
              </a:rPr>
              <a:t>RateYourProject</a:t>
            </a:r>
            <a:r>
              <a:rPr lang="en-US" sz="1600" dirty="0">
                <a:solidFill>
                  <a:schemeClr val="tx2"/>
                </a:solidFill>
              </a:rPr>
              <a:t> assessment tool: </a:t>
            </a:r>
            <a:r>
              <a:rPr lang="en-US" sz="1600" dirty="0">
                <a:hlinkClick r:id="rId2"/>
              </a:rPr>
              <a:t>https://rateyourproject.org/</a:t>
            </a:r>
            <a:endParaRPr lang="en-US" sz="1600" dirty="0"/>
          </a:p>
          <a:p>
            <a:pPr marL="457200" indent="-457200">
              <a:spcBef>
                <a:spcPts val="1000"/>
              </a:spcBef>
              <a:buFont typeface="+mj-lt"/>
              <a:buAutoNum type="arabicPeriod"/>
            </a:pPr>
            <a:r>
              <a:rPr lang="en-US" sz="1800" dirty="0"/>
              <a:t>Set a goal for something to improve</a:t>
            </a:r>
          </a:p>
          <a:p>
            <a:pPr lvl="1">
              <a:spcBef>
                <a:spcPts val="200"/>
              </a:spcBef>
            </a:pPr>
            <a:r>
              <a:rPr lang="en-US" sz="1600" dirty="0"/>
              <a:t>Target processes and behaviors, not just tasks</a:t>
            </a:r>
          </a:p>
          <a:p>
            <a:pPr lvl="1">
              <a:spcBef>
                <a:spcPts val="200"/>
              </a:spcBef>
            </a:pPr>
            <a:r>
              <a:rPr lang="en-US" sz="1600" dirty="0"/>
              <a:t>Pick something that you can address in a few months that will give you a noticeable benefit</a:t>
            </a:r>
          </a:p>
          <a:p>
            <a:pPr marL="457200" indent="-457200">
              <a:spcBef>
                <a:spcPts val="1000"/>
              </a:spcBef>
              <a:buFont typeface="+mj-lt"/>
              <a:buAutoNum type="arabicPeriod"/>
            </a:pPr>
            <a:r>
              <a:rPr lang="en-US" sz="1800" dirty="0"/>
              <a:t>Agree on a plan to address it, identify </a:t>
            </a:r>
            <a:br>
              <a:rPr lang="en-US" sz="1800" dirty="0"/>
            </a:br>
            <a:r>
              <a:rPr lang="en-US" sz="1800" dirty="0"/>
              <a:t>markers of progress and what is “done”</a:t>
            </a:r>
          </a:p>
          <a:p>
            <a:pPr lvl="1">
              <a:spcBef>
                <a:spcPts val="200"/>
              </a:spcBef>
            </a:pPr>
            <a:r>
              <a:rPr lang="en-US" sz="1600" dirty="0"/>
              <a:t>Write them down</a:t>
            </a:r>
          </a:p>
          <a:p>
            <a:pPr lvl="1">
              <a:spcBef>
                <a:spcPts val="200"/>
              </a:spcBef>
            </a:pPr>
            <a:r>
              <a:rPr lang="en-US" sz="1600" dirty="0">
                <a:solidFill>
                  <a:schemeClr val="tx2"/>
                </a:solidFill>
              </a:rPr>
              <a:t>Help: Progress tracking card examples:</a:t>
            </a:r>
            <a:br>
              <a:rPr lang="en-US" sz="1600" dirty="0">
                <a:solidFill>
                  <a:schemeClr val="tx2"/>
                </a:solidFill>
              </a:rPr>
            </a:br>
            <a:r>
              <a:rPr lang="en-US" sz="1600" dirty="0">
                <a:hlinkClick r:id="rId3"/>
              </a:rPr>
              <a:t>https://bssw-psip.github.io/ptc-catalog/catalog</a:t>
            </a:r>
            <a:endParaRPr lang="en-US" sz="1600" dirty="0"/>
          </a:p>
          <a:p>
            <a:pPr marL="457200" indent="-457200">
              <a:spcBef>
                <a:spcPts val="1000"/>
              </a:spcBef>
              <a:buFont typeface="+mj-lt"/>
              <a:buAutoNum type="arabicPeriod"/>
            </a:pPr>
            <a:r>
              <a:rPr lang="en-US" sz="1800" dirty="0"/>
              <a:t>Work your plan, track your progress</a:t>
            </a:r>
          </a:p>
          <a:p>
            <a:pPr marL="457200" indent="-457200">
              <a:spcBef>
                <a:spcPts val="1000"/>
              </a:spcBef>
              <a:buFont typeface="+mj-lt"/>
              <a:buAutoNum type="arabicPeriod"/>
            </a:pPr>
            <a:r>
              <a:rPr lang="en-US" sz="1800" dirty="0"/>
              <a:t>When you are done, celebrate…</a:t>
            </a:r>
          </a:p>
          <a:p>
            <a:pPr marL="0" indent="0">
              <a:spcBef>
                <a:spcPts val="1000"/>
              </a:spcBef>
              <a:buNone/>
            </a:pPr>
            <a:r>
              <a:rPr lang="en-US" sz="1800" dirty="0"/>
              <a:t>…then pick a new pain point to address</a:t>
            </a:r>
          </a:p>
        </p:txBody>
      </p:sp>
      <p:grpSp>
        <p:nvGrpSpPr>
          <p:cNvPr id="4" name="Group 3">
            <a:extLst>
              <a:ext uri="{FF2B5EF4-FFF2-40B4-BE49-F238E27FC236}">
                <a16:creationId xmlns:a16="http://schemas.microsoft.com/office/drawing/2014/main" id="{DEC13CE4-4B4C-452A-B152-15940038BCDB}"/>
              </a:ext>
            </a:extLst>
          </p:cNvPr>
          <p:cNvGrpSpPr/>
          <p:nvPr/>
        </p:nvGrpSpPr>
        <p:grpSpPr>
          <a:xfrm>
            <a:off x="7053210" y="1325882"/>
            <a:ext cx="4344246" cy="1983272"/>
            <a:chOff x="1221440" y="2819400"/>
            <a:chExt cx="5136248" cy="2800725"/>
          </a:xfrm>
        </p:grpSpPr>
        <p:cxnSp>
          <p:nvCxnSpPr>
            <p:cNvPr id="5" name="Straight Arrow Connector 4">
              <a:extLst>
                <a:ext uri="{FF2B5EF4-FFF2-40B4-BE49-F238E27FC236}">
                  <a16:creationId xmlns:a16="http://schemas.microsoft.com/office/drawing/2014/main" id="{29FB71AC-EC8C-4EFD-9651-13F8E238B9E9}"/>
                </a:ext>
              </a:extLst>
            </p:cNvPr>
            <p:cNvCxnSpPr/>
            <p:nvPr/>
          </p:nvCxnSpPr>
          <p:spPr>
            <a:xfrm flipV="1">
              <a:off x="1828800" y="2819400"/>
              <a:ext cx="0" cy="2133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2955D048-918B-4AD0-8D97-AAA2265EC1E7}"/>
                </a:ext>
              </a:extLst>
            </p:cNvPr>
            <p:cNvCxnSpPr/>
            <p:nvPr/>
          </p:nvCxnSpPr>
          <p:spPr>
            <a:xfrm>
              <a:off x="1828800" y="4953000"/>
              <a:ext cx="426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3BC6B35-3F60-47AA-A46C-877971ABA70E}"/>
                </a:ext>
              </a:extLst>
            </p:cNvPr>
            <p:cNvSpPr txBox="1"/>
            <p:nvPr/>
          </p:nvSpPr>
          <p:spPr>
            <a:xfrm rot="16200000">
              <a:off x="923849" y="3766860"/>
              <a:ext cx="1067759" cy="4725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Cost</a:t>
              </a:r>
            </a:p>
          </p:txBody>
        </p:sp>
        <p:sp>
          <p:nvSpPr>
            <p:cNvPr id="8" name="TextBox 7">
              <a:extLst>
                <a:ext uri="{FF2B5EF4-FFF2-40B4-BE49-F238E27FC236}">
                  <a16:creationId xmlns:a16="http://schemas.microsoft.com/office/drawing/2014/main" id="{77AAE76F-8A49-4EF9-B227-D1C603A30142}"/>
                </a:ext>
              </a:extLst>
            </p:cNvPr>
            <p:cNvSpPr txBox="1"/>
            <p:nvPr/>
          </p:nvSpPr>
          <p:spPr>
            <a:xfrm>
              <a:off x="3228867" y="5053524"/>
              <a:ext cx="147729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Progress</a:t>
              </a:r>
            </a:p>
          </p:txBody>
        </p:sp>
        <p:cxnSp>
          <p:nvCxnSpPr>
            <p:cNvPr id="9" name="Straight Connector 8">
              <a:extLst>
                <a:ext uri="{FF2B5EF4-FFF2-40B4-BE49-F238E27FC236}">
                  <a16:creationId xmlns:a16="http://schemas.microsoft.com/office/drawing/2014/main" id="{734F5887-730B-4A85-AB9B-F1526C3A2E8B}"/>
                </a:ext>
              </a:extLst>
            </p:cNvPr>
            <p:cNvCxnSpPr/>
            <p:nvPr/>
          </p:nvCxnSpPr>
          <p:spPr>
            <a:xfrm>
              <a:off x="5715000" y="4816152"/>
              <a:ext cx="0" cy="2736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660C7B-61C6-4891-A541-D6D4D90B5FE0}"/>
                </a:ext>
              </a:extLst>
            </p:cNvPr>
            <p:cNvSpPr txBox="1"/>
            <p:nvPr/>
          </p:nvSpPr>
          <p:spPr>
            <a:xfrm>
              <a:off x="1513456" y="5042031"/>
              <a:ext cx="864421"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Start</a:t>
              </a:r>
            </a:p>
          </p:txBody>
        </p:sp>
        <p:sp>
          <p:nvSpPr>
            <p:cNvPr id="11" name="TextBox 10">
              <a:extLst>
                <a:ext uri="{FF2B5EF4-FFF2-40B4-BE49-F238E27FC236}">
                  <a16:creationId xmlns:a16="http://schemas.microsoft.com/office/drawing/2014/main" id="{963A2AFD-582A-4C12-88FF-7ABAB0661306}"/>
                </a:ext>
              </a:extLst>
            </p:cNvPr>
            <p:cNvSpPr txBox="1"/>
            <p:nvPr/>
          </p:nvSpPr>
          <p:spPr>
            <a:xfrm>
              <a:off x="5340664" y="5055670"/>
              <a:ext cx="101702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Finish</a:t>
              </a:r>
            </a:p>
          </p:txBody>
        </p:sp>
        <p:cxnSp>
          <p:nvCxnSpPr>
            <p:cNvPr id="12" name="Straight Connector 11">
              <a:extLst>
                <a:ext uri="{FF2B5EF4-FFF2-40B4-BE49-F238E27FC236}">
                  <a16:creationId xmlns:a16="http://schemas.microsoft.com/office/drawing/2014/main" id="{7DD4FC99-ACDA-4640-A14D-10B1CBD4BFE0}"/>
                </a:ext>
              </a:extLst>
            </p:cNvPr>
            <p:cNvCxnSpPr/>
            <p:nvPr/>
          </p:nvCxnSpPr>
          <p:spPr>
            <a:xfrm flipV="1">
              <a:off x="1843033" y="2947405"/>
              <a:ext cx="3891330" cy="200559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89CFB48-4418-4698-9F56-8D2060B724A6}"/>
                </a:ext>
              </a:extLst>
            </p:cNvPr>
            <p:cNvCxnSpPr/>
            <p:nvPr/>
          </p:nvCxnSpPr>
          <p:spPr>
            <a:xfrm flipV="1">
              <a:off x="1843033" y="4336335"/>
              <a:ext cx="629455" cy="616665"/>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33A540-12B4-4DDF-AF11-A09126055DBB}"/>
                </a:ext>
              </a:extLst>
            </p:cNvPr>
            <p:cNvCxnSpPr/>
            <p:nvPr/>
          </p:nvCxnSpPr>
          <p:spPr>
            <a:xfrm flipV="1">
              <a:off x="2472489" y="3826882"/>
              <a:ext cx="3235005" cy="509453"/>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E169B2CA-9C5D-443D-8F6A-932A654488CD}"/>
                </a:ext>
              </a:extLst>
            </p:cNvPr>
            <p:cNvGrpSpPr/>
            <p:nvPr/>
          </p:nvGrpSpPr>
          <p:grpSpPr>
            <a:xfrm>
              <a:off x="2057400" y="2947405"/>
              <a:ext cx="2048669" cy="801054"/>
              <a:chOff x="6663843" y="2438400"/>
              <a:chExt cx="2048669" cy="801054"/>
            </a:xfrm>
          </p:grpSpPr>
          <p:sp>
            <p:nvSpPr>
              <p:cNvPr id="16" name="TextBox 15">
                <a:extLst>
                  <a:ext uri="{FF2B5EF4-FFF2-40B4-BE49-F238E27FC236}">
                    <a16:creationId xmlns:a16="http://schemas.microsoft.com/office/drawing/2014/main" id="{9C4E6164-3FFB-4A92-A0E6-6AE45E9C5CAE}"/>
                  </a:ext>
                </a:extLst>
              </p:cNvPr>
              <p:cNvSpPr txBox="1"/>
              <p:nvPr/>
            </p:nvSpPr>
            <p:spPr>
              <a:xfrm>
                <a:off x="7120197" y="2438400"/>
                <a:ext cx="1592315" cy="801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Old 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New Process</a:t>
                </a:r>
              </a:p>
            </p:txBody>
          </p:sp>
          <p:cxnSp>
            <p:nvCxnSpPr>
              <p:cNvPr id="17" name="Straight Connector 16">
                <a:extLst>
                  <a:ext uri="{FF2B5EF4-FFF2-40B4-BE49-F238E27FC236}">
                    <a16:creationId xmlns:a16="http://schemas.microsoft.com/office/drawing/2014/main" id="{6C63E1A2-427D-456C-B92A-C936948D5EE9}"/>
                  </a:ext>
                </a:extLst>
              </p:cNvPr>
              <p:cNvCxnSpPr/>
              <p:nvPr/>
            </p:nvCxnSpPr>
            <p:spPr>
              <a:xfrm>
                <a:off x="6663843" y="2590800"/>
                <a:ext cx="43376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BF1FD62-76D5-4B93-825B-7B7D7C45D88E}"/>
                  </a:ext>
                </a:extLst>
              </p:cNvPr>
              <p:cNvCxnSpPr/>
              <p:nvPr/>
            </p:nvCxnSpPr>
            <p:spPr>
              <a:xfrm>
                <a:off x="6663843" y="2878138"/>
                <a:ext cx="445057"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grpSp>
      <p:sp>
        <p:nvSpPr>
          <p:cNvPr id="19" name="TextBox 18">
            <a:extLst>
              <a:ext uri="{FF2B5EF4-FFF2-40B4-BE49-F238E27FC236}">
                <a16:creationId xmlns:a16="http://schemas.microsoft.com/office/drawing/2014/main" id="{CB4556FD-8900-4E34-B5BB-4F6E7C6D06E9}"/>
              </a:ext>
            </a:extLst>
          </p:cNvPr>
          <p:cNvSpPr txBox="1"/>
          <p:nvPr/>
        </p:nvSpPr>
        <p:spPr>
          <a:xfrm>
            <a:off x="7232899" y="3144011"/>
            <a:ext cx="3984868"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tx2"/>
                </a:solidFill>
              </a:rPr>
              <a:t>The new process costs something to implement, but it pays off over time</a:t>
            </a:r>
          </a:p>
        </p:txBody>
      </p:sp>
      <p:sp>
        <p:nvSpPr>
          <p:cNvPr id="20" name="TextBox 19">
            <a:extLst>
              <a:ext uri="{FF2B5EF4-FFF2-40B4-BE49-F238E27FC236}">
                <a16:creationId xmlns:a16="http://schemas.microsoft.com/office/drawing/2014/main" id="{7793B6FD-77CE-4671-8B2B-B34FC1FA5A19}"/>
              </a:ext>
            </a:extLst>
          </p:cNvPr>
          <p:cNvSpPr txBox="1"/>
          <p:nvPr/>
        </p:nvSpPr>
        <p:spPr>
          <a:xfrm>
            <a:off x="6386607" y="4034936"/>
            <a:ext cx="5677452" cy="683264"/>
          </a:xfrm>
          <a:prstGeom prst="rect">
            <a:avLst/>
          </a:prstGeom>
          <a:noFill/>
          <a:ln w="25400">
            <a:solidFill>
              <a:schemeClr val="tx1"/>
            </a:solidFill>
          </a:ln>
        </p:spPr>
        <p:txBody>
          <a:bodyPr wrap="none" lIns="118872" tIns="91440" rIns="118872" bIns="91440" rtlCol="0" anchor="ctr" anchorCtr="0">
            <a:spAutoFit/>
          </a:bodyPr>
          <a:lstStyle/>
          <a:p>
            <a:pPr algn="ctr">
              <a:lnSpc>
                <a:spcPct val="90000"/>
              </a:lnSpc>
              <a:spcBef>
                <a:spcPts val="800"/>
              </a:spcBef>
            </a:pPr>
            <a:r>
              <a:rPr lang="en-US" dirty="0"/>
              <a:t>Productivity and Sustainability Improvement Planning</a:t>
            </a:r>
            <a:br>
              <a:rPr lang="en-US" dirty="0"/>
            </a:br>
            <a:r>
              <a:rPr lang="en-US" dirty="0">
                <a:hlinkClick r:id="rId4"/>
              </a:rPr>
              <a:t>https://bssw.io/psip</a:t>
            </a:r>
            <a:endParaRPr lang="en-US" dirty="0"/>
          </a:p>
        </p:txBody>
      </p:sp>
      <p:grpSp>
        <p:nvGrpSpPr>
          <p:cNvPr id="21" name="Group 20">
            <a:extLst>
              <a:ext uri="{FF2B5EF4-FFF2-40B4-BE49-F238E27FC236}">
                <a16:creationId xmlns:a16="http://schemas.microsoft.com/office/drawing/2014/main" id="{C926B267-D614-491D-B26F-909BA469B8F1}"/>
              </a:ext>
            </a:extLst>
          </p:cNvPr>
          <p:cNvGrpSpPr/>
          <p:nvPr/>
        </p:nvGrpSpPr>
        <p:grpSpPr>
          <a:xfrm>
            <a:off x="6366805" y="4876507"/>
            <a:ext cx="5697253" cy="1181862"/>
            <a:chOff x="6366805" y="4842132"/>
            <a:chExt cx="5697253" cy="1181862"/>
          </a:xfrm>
        </p:grpSpPr>
        <p:pic>
          <p:nvPicPr>
            <p:cNvPr id="22" name="Picture 21" descr="Screen Shot 2017-01-21 at 6.45.35 PM.png">
              <a:extLst>
                <a:ext uri="{FF2B5EF4-FFF2-40B4-BE49-F238E27FC236}">
                  <a16:creationId xmlns:a16="http://schemas.microsoft.com/office/drawing/2014/main" id="{22C4806D-94FD-4905-9044-2BEB9899B36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4086"/>
            <a:stretch/>
          </p:blipFill>
          <p:spPr>
            <a:xfrm>
              <a:off x="6366805" y="4843952"/>
              <a:ext cx="986232" cy="1178223"/>
            </a:xfrm>
            <a:prstGeom prst="rect">
              <a:avLst/>
            </a:prstGeom>
          </p:spPr>
        </p:pic>
        <p:sp>
          <p:nvSpPr>
            <p:cNvPr id="23" name="TextBox 22">
              <a:extLst>
                <a:ext uri="{FF2B5EF4-FFF2-40B4-BE49-F238E27FC236}">
                  <a16:creationId xmlns:a16="http://schemas.microsoft.com/office/drawing/2014/main" id="{E19EA268-DC2F-4F4A-90A8-154C18171E59}"/>
                </a:ext>
              </a:extLst>
            </p:cNvPr>
            <p:cNvSpPr txBox="1"/>
            <p:nvPr/>
          </p:nvSpPr>
          <p:spPr>
            <a:xfrm>
              <a:off x="7300197" y="4842132"/>
              <a:ext cx="4763861" cy="1181862"/>
            </a:xfrm>
            <a:prstGeom prst="rect">
              <a:avLst/>
            </a:prstGeom>
            <a:noFill/>
          </p:spPr>
          <p:txBody>
            <a:bodyPr wrap="square" lIns="118872" tIns="91440" rIns="118872" bIns="91440" rtlCol="0" anchor="ctr" anchorCtr="0">
              <a:spAutoFit/>
            </a:bodyPr>
            <a:lstStyle/>
            <a:p>
              <a:pPr algn="l">
                <a:lnSpc>
                  <a:spcPct val="90000"/>
                </a:lnSpc>
              </a:pPr>
              <a:r>
                <a:rPr lang="en-US" dirty="0"/>
                <a:t>A goal of </a:t>
              </a:r>
              <a:r>
                <a:rPr lang="en-US" dirty="0">
                  <a:hlinkClick r:id="rId6"/>
                </a:rPr>
                <a:t>BSSw.io</a:t>
              </a:r>
              <a:r>
                <a:rPr lang="en-US" dirty="0"/>
                <a:t> is to provide resources for improving your software processes.  If you find useful resources that aren’t on BSSw.io, consider contributing.  Its easy and quick.</a:t>
              </a:r>
            </a:p>
          </p:txBody>
        </p:sp>
      </p:grpSp>
    </p:spTree>
    <p:extLst>
      <p:ext uri="{BB962C8B-B14F-4D97-AF65-F5344CB8AC3E}">
        <p14:creationId xmlns:p14="http://schemas.microsoft.com/office/powerpoint/2010/main" val="3932546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756EE-C2D9-4E52-B0B6-3C831FD6A565}"/>
              </a:ext>
            </a:extLst>
          </p:cNvPr>
          <p:cNvSpPr>
            <a:spLocks noGrp="1"/>
          </p:cNvSpPr>
          <p:nvPr>
            <p:ph type="title"/>
          </p:nvPr>
        </p:nvSpPr>
        <p:spPr/>
        <p:txBody>
          <a:bodyPr/>
          <a:lstStyle/>
          <a:p>
            <a:r>
              <a:rPr lang="en-US" dirty="0"/>
              <a:t>Agenda</a:t>
            </a:r>
          </a:p>
        </p:txBody>
      </p:sp>
      <p:graphicFrame>
        <p:nvGraphicFramePr>
          <p:cNvPr id="6" name="Table 6">
            <a:extLst>
              <a:ext uri="{FF2B5EF4-FFF2-40B4-BE49-F238E27FC236}">
                <a16:creationId xmlns:a16="http://schemas.microsoft.com/office/drawing/2014/main" id="{99D13FB2-5BF8-4AC0-A13D-ECB8E230F5BC}"/>
              </a:ext>
            </a:extLst>
          </p:cNvPr>
          <p:cNvGraphicFramePr>
            <a:graphicFrameLocks noGrp="1"/>
          </p:cNvGraphicFramePr>
          <p:nvPr>
            <p:ph idx="1"/>
          </p:nvPr>
        </p:nvGraphicFramePr>
        <p:xfrm>
          <a:off x="365759" y="1030431"/>
          <a:ext cx="11372473" cy="3413760"/>
        </p:xfrm>
        <a:graphic>
          <a:graphicData uri="http://schemas.openxmlformats.org/drawingml/2006/table">
            <a:tbl>
              <a:tblPr firstRow="1" bandRow="1">
                <a:tableStyleId>{5C22544A-7EE6-4342-B048-85BDC9FD1C3A}</a:tableStyleId>
              </a:tblPr>
              <a:tblGrid>
                <a:gridCol w="1475653">
                  <a:extLst>
                    <a:ext uri="{9D8B030D-6E8A-4147-A177-3AD203B41FA5}">
                      <a16:colId xmlns:a16="http://schemas.microsoft.com/office/drawing/2014/main" val="41390910"/>
                    </a:ext>
                  </a:extLst>
                </a:gridCol>
                <a:gridCol w="1059443">
                  <a:extLst>
                    <a:ext uri="{9D8B030D-6E8A-4147-A177-3AD203B41FA5}">
                      <a16:colId xmlns:a16="http://schemas.microsoft.com/office/drawing/2014/main" val="2968622667"/>
                    </a:ext>
                  </a:extLst>
                </a:gridCol>
                <a:gridCol w="5757567">
                  <a:extLst>
                    <a:ext uri="{9D8B030D-6E8A-4147-A177-3AD203B41FA5}">
                      <a16:colId xmlns:a16="http://schemas.microsoft.com/office/drawing/2014/main" val="1261297711"/>
                    </a:ext>
                  </a:extLst>
                </a:gridCol>
                <a:gridCol w="3079810">
                  <a:extLst>
                    <a:ext uri="{9D8B030D-6E8A-4147-A177-3AD203B41FA5}">
                      <a16:colId xmlns:a16="http://schemas.microsoft.com/office/drawing/2014/main" val="3622604584"/>
                    </a:ext>
                  </a:extLst>
                </a:gridCol>
              </a:tblGrid>
              <a:tr h="370840">
                <a:tc>
                  <a:txBody>
                    <a:bodyPr/>
                    <a:lstStyle/>
                    <a:p>
                      <a:pPr algn="r"/>
                      <a:r>
                        <a:rPr lang="en-US" sz="1800" dirty="0">
                          <a:effectLst/>
                        </a:rPr>
                        <a:t>Time (EDT)</a:t>
                      </a:r>
                    </a:p>
                  </a:txBody>
                  <a:tcPr marL="114300" marR="114300" marT="76200" marB="76200" anchor="ctr"/>
                </a:tc>
                <a:tc>
                  <a:txBody>
                    <a:bodyPr/>
                    <a:lstStyle/>
                    <a:p>
                      <a:pPr algn="r"/>
                      <a:r>
                        <a:rPr lang="en-US" sz="1800" dirty="0">
                          <a:effectLst/>
                        </a:rPr>
                        <a:t>Module</a:t>
                      </a:r>
                    </a:p>
                  </a:txBody>
                  <a:tcPr marL="114300" marR="114300" marT="76200" marB="76200" anchor="ctr"/>
                </a:tc>
                <a:tc>
                  <a:txBody>
                    <a:bodyPr/>
                    <a:lstStyle/>
                    <a:p>
                      <a:r>
                        <a:rPr lang="en-US" sz="1800" dirty="0">
                          <a:effectLst/>
                        </a:rPr>
                        <a:t>Title</a:t>
                      </a:r>
                    </a:p>
                  </a:txBody>
                  <a:tcPr marL="114300" marR="114300" marT="76200" marB="76200" anchor="ctr"/>
                </a:tc>
                <a:tc>
                  <a:txBody>
                    <a:bodyPr/>
                    <a:lstStyle/>
                    <a:p>
                      <a:r>
                        <a:rPr lang="en-US" sz="1800" dirty="0">
                          <a:effectLst/>
                        </a:rPr>
                        <a:t>Presenter</a:t>
                      </a:r>
                    </a:p>
                  </a:txBody>
                  <a:tcPr marL="114300" marR="114300" marT="76200" marB="76200" anchor="ctr"/>
                </a:tc>
                <a:extLst>
                  <a:ext uri="{0D108BD9-81ED-4DB2-BD59-A6C34878D82A}">
                    <a16:rowId xmlns:a16="http://schemas.microsoft.com/office/drawing/2014/main" val="2098024418"/>
                  </a:ext>
                </a:extLst>
              </a:tr>
              <a:tr h="370840">
                <a:tc>
                  <a:txBody>
                    <a:bodyPr/>
                    <a:lstStyle/>
                    <a:p>
                      <a:pPr algn="r"/>
                      <a:r>
                        <a:rPr lang="en-US" dirty="0">
                          <a:effectLst/>
                        </a:rPr>
                        <a:t>2:30 PM</a:t>
                      </a:r>
                    </a:p>
                  </a:txBody>
                  <a:tcPr marL="114300" marR="114300" marT="76200" marB="76200" anchor="ctr"/>
                </a:tc>
                <a:tc>
                  <a:txBody>
                    <a:bodyPr/>
                    <a:lstStyle/>
                    <a:p>
                      <a:pPr algn="r"/>
                      <a:r>
                        <a:rPr lang="en-US">
                          <a:effectLst/>
                        </a:rPr>
                        <a:t>0</a:t>
                      </a:r>
                    </a:p>
                  </a:txBody>
                  <a:tcPr marL="114300" marR="114300" marT="76200" marB="76200" anchor="ctr"/>
                </a:tc>
                <a:tc>
                  <a:txBody>
                    <a:bodyPr/>
                    <a:lstStyle/>
                    <a:p>
                      <a:r>
                        <a:rPr lang="en-US">
                          <a:effectLst/>
                        </a:rPr>
                        <a:t>Introduction and Setup</a:t>
                      </a:r>
                    </a:p>
                  </a:txBody>
                  <a:tcPr marL="114300" marR="114300" marT="76200" marB="76200" anchor="ctr"/>
                </a:tc>
                <a:tc>
                  <a:txBody>
                    <a:bodyPr/>
                    <a:lstStyle/>
                    <a:p>
                      <a:r>
                        <a:rPr lang="en-US" dirty="0">
                          <a:effectLst/>
                        </a:rPr>
                        <a:t>Gregory R. Watson (ORNL)</a:t>
                      </a:r>
                    </a:p>
                  </a:txBody>
                  <a:tcPr marL="114300" marR="114300" marT="76200" marB="76200" anchor="ctr"/>
                </a:tc>
                <a:extLst>
                  <a:ext uri="{0D108BD9-81ED-4DB2-BD59-A6C34878D82A}">
                    <a16:rowId xmlns:a16="http://schemas.microsoft.com/office/drawing/2014/main" val="4095277928"/>
                  </a:ext>
                </a:extLst>
              </a:tr>
              <a:tr h="370840">
                <a:tc>
                  <a:txBody>
                    <a:bodyPr/>
                    <a:lstStyle/>
                    <a:p>
                      <a:pPr algn="r"/>
                      <a:r>
                        <a:rPr lang="en-US">
                          <a:effectLst/>
                        </a:rPr>
                        <a:t>2:35 PM</a:t>
                      </a:r>
                    </a:p>
                  </a:txBody>
                  <a:tcPr marL="114300" marR="114300" marT="76200" marB="76200" anchor="ctr"/>
                </a:tc>
                <a:tc>
                  <a:txBody>
                    <a:bodyPr/>
                    <a:lstStyle/>
                    <a:p>
                      <a:pPr algn="r"/>
                      <a:r>
                        <a:rPr lang="en-US">
                          <a:effectLst/>
                        </a:rPr>
                        <a:t>1</a:t>
                      </a:r>
                    </a:p>
                  </a:txBody>
                  <a:tcPr marL="114300" marR="114300" marT="76200" marB="76200" anchor="ctr"/>
                </a:tc>
                <a:tc>
                  <a:txBody>
                    <a:bodyPr/>
                    <a:lstStyle/>
                    <a:p>
                      <a:r>
                        <a:rPr lang="en-US">
                          <a:effectLst/>
                        </a:rPr>
                        <a:t>Motivation and Overview</a:t>
                      </a:r>
                    </a:p>
                  </a:txBody>
                  <a:tcPr marL="114300" marR="114300" marT="76200" marB="76200" anchor="ctr"/>
                </a:tc>
                <a:tc>
                  <a:txBody>
                    <a:bodyPr/>
                    <a:lstStyle/>
                    <a:p>
                      <a:r>
                        <a:rPr lang="en-US">
                          <a:effectLst/>
                        </a:rPr>
                        <a:t>Gregory R. Watson (ORNL)</a:t>
                      </a:r>
                    </a:p>
                  </a:txBody>
                  <a:tcPr marL="114300" marR="114300" marT="76200" marB="76200" anchor="ctr"/>
                </a:tc>
                <a:extLst>
                  <a:ext uri="{0D108BD9-81ED-4DB2-BD59-A6C34878D82A}">
                    <a16:rowId xmlns:a16="http://schemas.microsoft.com/office/drawing/2014/main" val="763903436"/>
                  </a:ext>
                </a:extLst>
              </a:tr>
              <a:tr h="370840">
                <a:tc>
                  <a:txBody>
                    <a:bodyPr/>
                    <a:lstStyle/>
                    <a:p>
                      <a:pPr algn="r"/>
                      <a:r>
                        <a:rPr lang="en-US">
                          <a:effectLst/>
                        </a:rPr>
                        <a:t>2:40 PM</a:t>
                      </a:r>
                    </a:p>
                  </a:txBody>
                  <a:tcPr marL="114300" marR="114300" marT="76200" marB="76200" anchor="ctr"/>
                </a:tc>
                <a:tc>
                  <a:txBody>
                    <a:bodyPr/>
                    <a:lstStyle/>
                    <a:p>
                      <a:pPr algn="r"/>
                      <a:r>
                        <a:rPr lang="en-US">
                          <a:effectLst/>
                        </a:rPr>
                        <a:t>2</a:t>
                      </a:r>
                    </a:p>
                  </a:txBody>
                  <a:tcPr marL="114300" marR="114300" marT="76200" marB="76200" anchor="ctr"/>
                </a:tc>
                <a:tc>
                  <a:txBody>
                    <a:bodyPr/>
                    <a:lstStyle/>
                    <a:p>
                      <a:r>
                        <a:rPr lang="en-US">
                          <a:effectLst/>
                        </a:rPr>
                        <a:t>Software Testing Introduction</a:t>
                      </a:r>
                    </a:p>
                  </a:txBody>
                  <a:tcPr marL="114300" marR="114300" marT="76200" marB="76200" anchor="ctr"/>
                </a:tc>
                <a:tc>
                  <a:txBody>
                    <a:bodyPr/>
                    <a:lstStyle/>
                    <a:p>
                      <a:r>
                        <a:rPr lang="en-US">
                          <a:effectLst/>
                        </a:rPr>
                        <a:t>Gregory R. Watson (ORNL)</a:t>
                      </a:r>
                    </a:p>
                  </a:txBody>
                  <a:tcPr marL="114300" marR="114300" marT="76200" marB="76200" anchor="ctr"/>
                </a:tc>
                <a:extLst>
                  <a:ext uri="{0D108BD9-81ED-4DB2-BD59-A6C34878D82A}">
                    <a16:rowId xmlns:a16="http://schemas.microsoft.com/office/drawing/2014/main" val="1954771440"/>
                  </a:ext>
                </a:extLst>
              </a:tr>
              <a:tr h="370840">
                <a:tc>
                  <a:txBody>
                    <a:bodyPr/>
                    <a:lstStyle/>
                    <a:p>
                      <a:pPr algn="r"/>
                      <a:r>
                        <a:rPr lang="en-US">
                          <a:effectLst/>
                        </a:rPr>
                        <a:t>3:00 PM</a:t>
                      </a:r>
                    </a:p>
                  </a:txBody>
                  <a:tcPr marL="114300" marR="114300" marT="76200" marB="76200" anchor="ctr"/>
                </a:tc>
                <a:tc>
                  <a:txBody>
                    <a:bodyPr/>
                    <a:lstStyle/>
                    <a:p>
                      <a:pPr algn="r"/>
                      <a:r>
                        <a:rPr lang="en-US">
                          <a:effectLst/>
                        </a:rPr>
                        <a:t>3</a:t>
                      </a:r>
                    </a:p>
                  </a:txBody>
                  <a:tcPr marL="114300" marR="114300" marT="76200" marB="76200" anchor="ctr"/>
                </a:tc>
                <a:tc>
                  <a:txBody>
                    <a:bodyPr/>
                    <a:lstStyle/>
                    <a:p>
                      <a:r>
                        <a:rPr lang="en-US">
                          <a:effectLst/>
                        </a:rPr>
                        <a:t>Testing Complex Software</a:t>
                      </a:r>
                    </a:p>
                  </a:txBody>
                  <a:tcPr marL="114300" marR="114300" marT="76200" marB="76200" anchor="ctr"/>
                </a:tc>
                <a:tc>
                  <a:txBody>
                    <a:bodyPr/>
                    <a:lstStyle/>
                    <a:p>
                      <a:r>
                        <a:rPr lang="en-US">
                          <a:effectLst/>
                        </a:rPr>
                        <a:t>David M. Rogers (ORNL)</a:t>
                      </a:r>
                    </a:p>
                  </a:txBody>
                  <a:tcPr marL="114300" marR="114300" marT="76200" marB="76200" anchor="ctr"/>
                </a:tc>
                <a:extLst>
                  <a:ext uri="{0D108BD9-81ED-4DB2-BD59-A6C34878D82A}">
                    <a16:rowId xmlns:a16="http://schemas.microsoft.com/office/drawing/2014/main" val="746396693"/>
                  </a:ext>
                </a:extLst>
              </a:tr>
              <a:tr h="370840">
                <a:tc>
                  <a:txBody>
                    <a:bodyPr/>
                    <a:lstStyle/>
                    <a:p>
                      <a:pPr algn="r"/>
                      <a:r>
                        <a:rPr lang="en-US">
                          <a:effectLst/>
                        </a:rPr>
                        <a:t>3:25 PM</a:t>
                      </a:r>
                    </a:p>
                  </a:txBody>
                  <a:tcPr marL="114300" marR="114300" marT="76200" marB="76200" anchor="ctr"/>
                </a:tc>
                <a:tc>
                  <a:txBody>
                    <a:bodyPr/>
                    <a:lstStyle/>
                    <a:p>
                      <a:pPr algn="r"/>
                      <a:r>
                        <a:rPr lang="en-US">
                          <a:effectLst/>
                        </a:rPr>
                        <a:t>4</a:t>
                      </a:r>
                    </a:p>
                  </a:txBody>
                  <a:tcPr marL="114300" marR="114300" marT="76200" marB="76200" anchor="ctr"/>
                </a:tc>
                <a:tc>
                  <a:txBody>
                    <a:bodyPr/>
                    <a:lstStyle/>
                    <a:p>
                      <a:r>
                        <a:rPr lang="en-US">
                          <a:effectLst/>
                        </a:rPr>
                        <a:t>Continuous Integration</a:t>
                      </a:r>
                    </a:p>
                  </a:txBody>
                  <a:tcPr marL="114300" marR="114300" marT="76200" marB="76200" anchor="ctr"/>
                </a:tc>
                <a:tc>
                  <a:txBody>
                    <a:bodyPr/>
                    <a:lstStyle/>
                    <a:p>
                      <a:r>
                        <a:rPr lang="en-US">
                          <a:effectLst/>
                        </a:rPr>
                        <a:t>David M. Rogers (ORNL)</a:t>
                      </a:r>
                    </a:p>
                  </a:txBody>
                  <a:tcPr marL="114300" marR="114300" marT="76200" marB="76200" anchor="ctr"/>
                </a:tc>
                <a:extLst>
                  <a:ext uri="{0D108BD9-81ED-4DB2-BD59-A6C34878D82A}">
                    <a16:rowId xmlns:a16="http://schemas.microsoft.com/office/drawing/2014/main" val="1592907298"/>
                  </a:ext>
                </a:extLst>
              </a:tr>
              <a:tr h="370840">
                <a:tc>
                  <a:txBody>
                    <a:bodyPr/>
                    <a:lstStyle/>
                    <a:p>
                      <a:pPr algn="r"/>
                      <a:r>
                        <a:rPr lang="en-US">
                          <a:effectLst/>
                        </a:rPr>
                        <a:t>3:55 PM</a:t>
                      </a:r>
                    </a:p>
                  </a:txBody>
                  <a:tcPr marL="114300" marR="114300" marT="76200" marB="76200" anchor="ctr"/>
                </a:tc>
                <a:tc>
                  <a:txBody>
                    <a:bodyPr/>
                    <a:lstStyle/>
                    <a:p>
                      <a:pPr algn="r"/>
                      <a:r>
                        <a:rPr lang="en-US">
                          <a:effectLst/>
                        </a:rPr>
                        <a:t>5</a:t>
                      </a:r>
                    </a:p>
                  </a:txBody>
                  <a:tcPr marL="114300" marR="114300" marT="76200" marB="76200" anchor="ctr"/>
                </a:tc>
                <a:tc>
                  <a:txBody>
                    <a:bodyPr/>
                    <a:lstStyle/>
                    <a:p>
                      <a:r>
                        <a:rPr lang="en-US">
                          <a:effectLst/>
                        </a:rPr>
                        <a:t>Summary</a:t>
                      </a:r>
                    </a:p>
                  </a:txBody>
                  <a:tcPr marL="114300" marR="114300" marT="76200" marB="76200" anchor="ctr"/>
                </a:tc>
                <a:tc>
                  <a:txBody>
                    <a:bodyPr/>
                    <a:lstStyle/>
                    <a:p>
                      <a:r>
                        <a:rPr lang="en-US">
                          <a:effectLst/>
                        </a:rPr>
                        <a:t>David M. Rogers (ORNL)</a:t>
                      </a:r>
                    </a:p>
                  </a:txBody>
                  <a:tcPr marL="114300" marR="114300" marT="76200" marB="76200" anchor="ctr"/>
                </a:tc>
                <a:extLst>
                  <a:ext uri="{0D108BD9-81ED-4DB2-BD59-A6C34878D82A}">
                    <a16:rowId xmlns:a16="http://schemas.microsoft.com/office/drawing/2014/main" val="110245607"/>
                  </a:ext>
                </a:extLst>
              </a:tr>
              <a:tr h="370840">
                <a:tc>
                  <a:txBody>
                    <a:bodyPr/>
                    <a:lstStyle/>
                    <a:p>
                      <a:pPr algn="r"/>
                      <a:r>
                        <a:rPr lang="en-US">
                          <a:effectLst/>
                        </a:rPr>
                        <a:t>4:00 PM</a:t>
                      </a:r>
                    </a:p>
                  </a:txBody>
                  <a:tcPr marL="114300" marR="114300" marT="76200" marB="76200" anchor="ctr"/>
                </a:tc>
                <a:tc>
                  <a:txBody>
                    <a:bodyPr/>
                    <a:lstStyle/>
                    <a:p>
                      <a:pPr algn="r"/>
                      <a:endParaRPr lang="en-US">
                        <a:effectLst/>
                      </a:endParaRPr>
                    </a:p>
                  </a:txBody>
                  <a:tcPr marL="114300" marR="114300" marT="76200" marB="76200" anchor="ctr"/>
                </a:tc>
                <a:tc>
                  <a:txBody>
                    <a:bodyPr/>
                    <a:lstStyle/>
                    <a:p>
                      <a:r>
                        <a:rPr lang="en-US" i="1">
                          <a:effectLst/>
                        </a:rPr>
                        <a:t>Adjourn</a:t>
                      </a:r>
                      <a:endParaRPr lang="en-US">
                        <a:effectLst/>
                      </a:endParaRPr>
                    </a:p>
                  </a:txBody>
                  <a:tcPr marL="114300" marR="114300" marT="76200" marB="76200" anchor="ctr"/>
                </a:tc>
                <a:tc>
                  <a:txBody>
                    <a:bodyPr/>
                    <a:lstStyle/>
                    <a:p>
                      <a:endParaRPr lang="en-US" dirty="0"/>
                    </a:p>
                  </a:txBody>
                  <a:tcPr/>
                </a:tc>
                <a:extLst>
                  <a:ext uri="{0D108BD9-81ED-4DB2-BD59-A6C34878D82A}">
                    <a16:rowId xmlns:a16="http://schemas.microsoft.com/office/drawing/2014/main" val="1951011699"/>
                  </a:ext>
                </a:extLst>
              </a:tr>
            </a:tbl>
          </a:graphicData>
        </a:graphic>
      </p:graphicFrame>
      <p:sp>
        <p:nvSpPr>
          <p:cNvPr id="9" name="TextBox 8">
            <a:extLst>
              <a:ext uri="{FF2B5EF4-FFF2-40B4-BE49-F238E27FC236}">
                <a16:creationId xmlns:a16="http://schemas.microsoft.com/office/drawing/2014/main" id="{2C67F121-FA5A-4323-B777-FC3438185944}"/>
              </a:ext>
            </a:extLst>
          </p:cNvPr>
          <p:cNvSpPr txBox="1"/>
          <p:nvPr/>
        </p:nvSpPr>
        <p:spPr>
          <a:xfrm>
            <a:off x="6520617" y="0"/>
            <a:ext cx="5668207" cy="923330"/>
          </a:xfrm>
          <a:prstGeom prst="rect">
            <a:avLst/>
          </a:prstGeom>
          <a:noFill/>
        </p:spPr>
        <p:txBody>
          <a:bodyPr wrap="square">
            <a:spAutoFit/>
          </a:bodyPr>
          <a:lstStyle/>
          <a:p>
            <a:pPr algn="l"/>
            <a:r>
              <a:rPr lang="en-US" dirty="0"/>
              <a:t>The agenda is also available on the tutorial web page.  Visit </a:t>
            </a:r>
            <a:r>
              <a:rPr lang="en-US" b="1" dirty="0">
                <a:hlinkClick r:id="rId2"/>
              </a:rPr>
              <a:t>https://bssw-tutorial.github.io</a:t>
            </a:r>
            <a:r>
              <a:rPr lang="en-US" b="1" dirty="0"/>
              <a:t> </a:t>
            </a:r>
            <a:r>
              <a:rPr lang="en-US" dirty="0"/>
              <a:t>and click on the link for today’s tutorial</a:t>
            </a:r>
          </a:p>
        </p:txBody>
      </p:sp>
    </p:spTree>
    <p:extLst>
      <p:ext uri="{BB962C8B-B14F-4D97-AF65-F5344CB8AC3E}">
        <p14:creationId xmlns:p14="http://schemas.microsoft.com/office/powerpoint/2010/main" val="880627419"/>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2.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2797</TotalTime>
  <Words>1038</Words>
  <Application>Microsoft Office PowerPoint</Application>
  <PresentationFormat>Custom</PresentationFormat>
  <Paragraphs>114</Paragraphs>
  <Slides>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Calibri</vt:lpstr>
      <vt:lpstr>Presentations (Wide Screen)</vt:lpstr>
      <vt:lpstr>Motivation and Overview</vt:lpstr>
      <vt:lpstr>License, Citation and Acknowledgements</vt:lpstr>
      <vt:lpstr>PowerPoint Presentation</vt:lpstr>
      <vt:lpstr>High-Consequence Software-Related Scientific Failures</vt:lpstr>
      <vt:lpstr>Challenges Developing Scientific Applications Today</vt:lpstr>
      <vt:lpstr>Best Practices for Scientific Software Development</vt:lpstr>
      <vt:lpstr>Continual, Incremental Software Process Improvement</vt:lpstr>
      <vt:lpstr>Agenda</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402</cp:revision>
  <cp:lastPrinted>2017-11-02T18:35:01Z</cp:lastPrinted>
  <dcterms:created xsi:type="dcterms:W3CDTF">2018-11-06T17:28:56Z</dcterms:created>
  <dcterms:modified xsi:type="dcterms:W3CDTF">2025-08-03T18:12:06Z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