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tags/tag2.xml" ContentType="application/vnd.openxmlformats-officedocument.presentationml.tags+xml"/>
  <Override PartName="/ppt/notesSlides/notesSlide16.xml" ContentType="application/vnd.openxmlformats-officedocument.presentationml.notesSlide+xml"/>
  <Override PartName="/ppt/tags/tag3.xml" ContentType="application/vnd.openxmlformats-officedocument.presentationml.tags+xml"/>
  <Override PartName="/ppt/notesSlides/notesSlide17.xml" ContentType="application/vnd.openxmlformats-officedocument.presentationml.notesSlide+xml"/>
  <Override PartName="/ppt/tags/tag4.xml" ContentType="application/vnd.openxmlformats-officedocument.presentationml.tags+xml"/>
  <Override PartName="/ppt/notesSlides/notesSlide18.xml" ContentType="application/vnd.openxmlformats-officedocument.presentationml.notesSlide+xml"/>
  <Override PartName="/ppt/tags/tag5.xml" ContentType="application/vnd.openxmlformats-officedocument.presentationml.tags+xml"/>
  <Override PartName="/ppt/notesSlides/notesSlide19.xml" ContentType="application/vnd.openxmlformats-officedocument.presentationml.notesSlide+xml"/>
  <Override PartName="/ppt/tags/tag6.xml" ContentType="application/vnd.openxmlformats-officedocument.presentationml.tags+xml"/>
  <Override PartName="/ppt/notesSlides/notesSlide20.xml" ContentType="application/vnd.openxmlformats-officedocument.presentationml.notesSlide+xml"/>
  <Override PartName="/ppt/tags/tag7.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7"/>
  </p:notesMasterIdLst>
  <p:handoutMasterIdLst>
    <p:handoutMasterId r:id="rId48"/>
  </p:handoutMasterIdLst>
  <p:sldIdLst>
    <p:sldId id="256" r:id="rId5"/>
    <p:sldId id="1901" r:id="rId6"/>
    <p:sldId id="1880" r:id="rId7"/>
    <p:sldId id="1882" r:id="rId8"/>
    <p:sldId id="1881" r:id="rId9"/>
    <p:sldId id="1883" r:id="rId10"/>
    <p:sldId id="1872" r:id="rId11"/>
    <p:sldId id="1888" r:id="rId12"/>
    <p:sldId id="1887" r:id="rId13"/>
    <p:sldId id="1886" r:id="rId14"/>
    <p:sldId id="1885" r:id="rId15"/>
    <p:sldId id="1889" r:id="rId16"/>
    <p:sldId id="1891" r:id="rId17"/>
    <p:sldId id="1890" r:id="rId18"/>
    <p:sldId id="1892" r:id="rId19"/>
    <p:sldId id="1893" r:id="rId20"/>
    <p:sldId id="1894" r:id="rId21"/>
    <p:sldId id="1896" r:id="rId22"/>
    <p:sldId id="1899" r:id="rId23"/>
    <p:sldId id="1900" r:id="rId24"/>
    <p:sldId id="536" r:id="rId25"/>
    <p:sldId id="548" r:id="rId26"/>
    <p:sldId id="563" r:id="rId27"/>
    <p:sldId id="1884" r:id="rId28"/>
    <p:sldId id="1897" r:id="rId29"/>
    <p:sldId id="1898" r:id="rId30"/>
    <p:sldId id="1855" r:id="rId31"/>
    <p:sldId id="1864" r:id="rId32"/>
    <p:sldId id="1863" r:id="rId33"/>
    <p:sldId id="1867" r:id="rId34"/>
    <p:sldId id="1868" r:id="rId35"/>
    <p:sldId id="1865" r:id="rId36"/>
    <p:sldId id="1866" r:id="rId37"/>
    <p:sldId id="486" r:id="rId38"/>
    <p:sldId id="1869" r:id="rId39"/>
    <p:sldId id="1895" r:id="rId40"/>
    <p:sldId id="299" r:id="rId41"/>
    <p:sldId id="1878" r:id="rId42"/>
    <p:sldId id="611" r:id="rId43"/>
    <p:sldId id="1870" r:id="rId44"/>
    <p:sldId id="636" r:id="rId45"/>
    <p:sldId id="654" r:id="rId46"/>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64" autoAdjust="0"/>
    <p:restoredTop sz="95840" autoAdjust="0"/>
  </p:normalViewPr>
  <p:slideViewPr>
    <p:cSldViewPr snapToGrid="0" showGuides="1">
      <p:cViewPr>
        <p:scale>
          <a:sx n="125" d="100"/>
          <a:sy n="125" d="100"/>
        </p:scale>
        <p:origin x="288" y="-108"/>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definitions and how it is used in a workflow. A process of inserting a check in development cycle. </a:t>
            </a:r>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3664551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1054125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1501362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32</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34</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35</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36</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37</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Let's think about this problem as "selecting the right tests."  Taking a step back, there are two 'levels' of tests (regression testing and CI-type tests), and there are multiple 'granularities' of tests (from unit to integration).  Computer scientists tend to gravitate towards tests that run quickly and check data structures, types, definitions, syntax, and error reporting.  These quick tests are great for a continuous integration suite.  Domain scientists tend to think of ways to compare program outputs to external measures - like known solutions and example run cases.  These tests can be long-running, and need interpretation to understand what's going on.  Such tests are often better suited for scheduled testing - which can be set up to run on dedicated servers on a nightly or weekly schedule. And there is a range of intermediate levels of testing pertaining to interoperability in component-based software systems, verification of non-trivial functionality such as transparent restart from a checkpoint etc. Since testing is so broad, individual tests can also vary in complexity.  As a rule of thumb, complicated tests get -100 points.  Tests should be as simple as possible, and always provide information on what went wrong.  If a test can't help to diagnose an error condition, it's not a useful test.</a:t>
            </a:r>
          </a:p>
        </p:txBody>
      </p:sp>
      <p:sp>
        <p:nvSpPr>
          <p:cNvPr id="4" name="Slide Number Placeholder 3"/>
          <p:cNvSpPr>
            <a:spLocks noGrp="1"/>
          </p:cNvSpPr>
          <p:nvPr>
            <p:ph type="sldNum" sz="quarter" idx="5"/>
          </p:nvPr>
        </p:nvSpPr>
        <p:spPr/>
        <p:txBody>
          <a:bodyPr/>
          <a:lstStyle/>
          <a:p>
            <a:fld id="{54E672D7-8E2D-4611-973D-F4591A707C34}" type="slidenum">
              <a:rPr lang="en-US" smtClean="0"/>
              <a:t>38</a:t>
            </a:fld>
            <a:endParaRPr lang="en-US"/>
          </a:p>
        </p:txBody>
      </p:sp>
    </p:spTree>
    <p:extLst>
      <p:ext uri="{BB962C8B-B14F-4D97-AF65-F5344CB8AC3E}">
        <p14:creationId xmlns:p14="http://schemas.microsoft.com/office/powerpoint/2010/main" val="27615837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Even if you follow the TDD methodology, it is useful to know how much code is actually being tested. </a:t>
            </a:r>
          </a:p>
        </p:txBody>
      </p:sp>
      <p:sp>
        <p:nvSpPr>
          <p:cNvPr id="4" name="Slide Number Placeholder 3"/>
          <p:cNvSpPr>
            <a:spLocks noGrp="1"/>
          </p:cNvSpPr>
          <p:nvPr>
            <p:ph type="sldNum" sz="quarter" idx="5"/>
          </p:nvPr>
        </p:nvSpPr>
        <p:spPr/>
        <p:txBody>
          <a:bodyPr/>
          <a:lstStyle/>
          <a:p>
            <a:fld id="{54E672D7-8E2D-4611-973D-F4591A707C34}" type="slidenum">
              <a:rPr lang="en-US" smtClean="0"/>
              <a:t>39</a:t>
            </a:fld>
            <a:endParaRPr lang="en-US"/>
          </a:p>
        </p:txBody>
      </p:sp>
    </p:spTree>
    <p:extLst>
      <p:ext uri="{BB962C8B-B14F-4D97-AF65-F5344CB8AC3E}">
        <p14:creationId xmlns:p14="http://schemas.microsoft.com/office/powerpoint/2010/main" val="2039089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Slides from reproducibility talk</a:t>
            </a:r>
          </a:p>
        </p:txBody>
      </p:sp>
      <p:sp>
        <p:nvSpPr>
          <p:cNvPr id="4" name="Slide Number Placeholder 3"/>
          <p:cNvSpPr>
            <a:spLocks noGrp="1"/>
          </p:cNvSpPr>
          <p:nvPr>
            <p:ph type="sldNum" sz="quarter" idx="5"/>
          </p:nvPr>
        </p:nvSpPr>
        <p:spPr/>
        <p:txBody>
          <a:bodyPr/>
          <a:lstStyle/>
          <a:p>
            <a:fld id="{54E672D7-8E2D-4611-973D-F4591A707C34}" type="slidenum">
              <a:rPr lang="en-US" smtClean="0"/>
              <a:t>40</a:t>
            </a:fld>
            <a:endParaRPr lang="en-US"/>
          </a:p>
        </p:txBody>
      </p:sp>
    </p:spTree>
    <p:extLst>
      <p:ext uri="{BB962C8B-B14F-4D97-AF65-F5344CB8AC3E}">
        <p14:creationId xmlns:p14="http://schemas.microsoft.com/office/powerpoint/2010/main" val="39311301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1999427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42</a:t>
            </a:fld>
            <a:endParaRPr lang="en-US"/>
          </a:p>
        </p:txBody>
      </p:sp>
    </p:spTree>
    <p:extLst>
      <p:ext uri="{BB962C8B-B14F-4D97-AF65-F5344CB8AC3E}">
        <p14:creationId xmlns:p14="http://schemas.microsoft.com/office/powerpoint/2010/main" val="303759809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microsoft.com/office/2007/relationships/hdphoto" Target="../media/hdphoto1.wdp"/><Relationship Id="rId9" Type="http://schemas.openxmlformats.org/officeDocument/2006/relationships/hyperlink" Target="https://pesoproject.org/" TargetMode="Externa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1.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5" name="Picture 4">
            <a:extLst>
              <a:ext uri="{FF2B5EF4-FFF2-40B4-BE49-F238E27FC236}">
                <a16:creationId xmlns:a16="http://schemas.microsoft.com/office/drawing/2014/main" id="{A2C53EE5-09E9-436C-E546-F3B31C1F32EB}"/>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A11F14C9-8368-4B57-46BD-BCB4FA3B476B}"/>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1810BA88-0F02-D90E-2312-AC245F17B750}"/>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18" name="TextBox 17">
            <a:extLst>
              <a:ext uri="{FF2B5EF4-FFF2-40B4-BE49-F238E27FC236}">
                <a16:creationId xmlns:a16="http://schemas.microsoft.com/office/drawing/2014/main" id="{3ADC0507-9EE9-D7DC-D409-25B6AE093488}"/>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9" name="Group 18">
            <a:extLst>
              <a:ext uri="{FF2B5EF4-FFF2-40B4-BE49-F238E27FC236}">
                <a16:creationId xmlns:a16="http://schemas.microsoft.com/office/drawing/2014/main" id="{80573ECB-49FC-5A7E-6E42-C449D1515352}"/>
              </a:ext>
            </a:extLst>
          </p:cNvPr>
          <p:cNvGrpSpPr/>
          <p:nvPr userDrawn="1"/>
        </p:nvGrpSpPr>
        <p:grpSpPr>
          <a:xfrm>
            <a:off x="232445" y="5027111"/>
            <a:ext cx="2237149" cy="457200"/>
            <a:chOff x="343050" y="5128711"/>
            <a:chExt cx="2237149" cy="457200"/>
          </a:xfrm>
        </p:grpSpPr>
        <p:pic>
          <p:nvPicPr>
            <p:cNvPr id="24" name="Picture 23">
              <a:extLst>
                <a:ext uri="{FF2B5EF4-FFF2-40B4-BE49-F238E27FC236}">
                  <a16:creationId xmlns:a16="http://schemas.microsoft.com/office/drawing/2014/main" id="{D3EE11A7-6D2C-0883-8FA8-6A307A7C2EE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5" name="Picture 24" descr="A picture containing shape&#10;&#10;Description automatically generated">
              <a:extLst>
                <a:ext uri="{FF2B5EF4-FFF2-40B4-BE49-F238E27FC236}">
                  <a16:creationId xmlns:a16="http://schemas.microsoft.com/office/drawing/2014/main" id="{89791A3C-160A-7DCF-6A70-CD9EAAF79ECB}"/>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26" name="Picture 2" descr="A picture containing graphics, logo, font, symbol&#10;&#10;Description automatically generated">
            <a:extLst>
              <a:ext uri="{FF2B5EF4-FFF2-40B4-BE49-F238E27FC236}">
                <a16:creationId xmlns:a16="http://schemas.microsoft.com/office/drawing/2014/main" id="{DFF58805-EAE5-6F7D-5258-0D8C24FA5324}"/>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23616F15-4E6D-1CB5-FB6B-BE7AFBFF613E}"/>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8" name="TextBox 27">
            <a:extLst>
              <a:ext uri="{FF2B5EF4-FFF2-40B4-BE49-F238E27FC236}">
                <a16:creationId xmlns:a16="http://schemas.microsoft.com/office/drawing/2014/main" id="{4C239ADC-ECFB-6A90-BB71-CD594150F47F}"/>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9" name="Picture 28" descr="A picture containing arrow&#10;&#10;AI-generated content may be incorrect.">
            <a:extLst>
              <a:ext uri="{FF2B5EF4-FFF2-40B4-BE49-F238E27FC236}">
                <a16:creationId xmlns:a16="http://schemas.microsoft.com/office/drawing/2014/main" id="{0E7F8ADB-5C66-BC54-773B-2308333838D1}"/>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2571738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6" name="Picture 5">
            <a:extLst>
              <a:ext uri="{FF2B5EF4-FFF2-40B4-BE49-F238E27FC236}">
                <a16:creationId xmlns:a16="http://schemas.microsoft.com/office/drawing/2014/main" id="{3E703921-9EBE-5372-9DCE-1C75AA5F3B6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C5CD7864-2235-DC67-1A48-BEFC17A1363C}"/>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8" name="TextBox 7">
            <a:extLst>
              <a:ext uri="{FF2B5EF4-FFF2-40B4-BE49-F238E27FC236}">
                <a16:creationId xmlns:a16="http://schemas.microsoft.com/office/drawing/2014/main" id="{B8DD7E0B-CFDD-8C73-4DEF-A58B0DDA52CC}"/>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9" name="TextBox 8">
            <a:extLst>
              <a:ext uri="{FF2B5EF4-FFF2-40B4-BE49-F238E27FC236}">
                <a16:creationId xmlns:a16="http://schemas.microsoft.com/office/drawing/2014/main" id="{24EC56CD-C634-3B70-A076-5DDCA44CDAB1}"/>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0" name="Group 9">
            <a:extLst>
              <a:ext uri="{FF2B5EF4-FFF2-40B4-BE49-F238E27FC236}">
                <a16:creationId xmlns:a16="http://schemas.microsoft.com/office/drawing/2014/main" id="{C9B83769-2CD8-CB0B-294E-5F70A5FCAA43}"/>
              </a:ext>
            </a:extLst>
          </p:cNvPr>
          <p:cNvGrpSpPr/>
          <p:nvPr userDrawn="1"/>
        </p:nvGrpSpPr>
        <p:grpSpPr>
          <a:xfrm>
            <a:off x="232445" y="5027111"/>
            <a:ext cx="2237149" cy="457200"/>
            <a:chOff x="343050" y="5128711"/>
            <a:chExt cx="2237149" cy="457200"/>
          </a:xfrm>
        </p:grpSpPr>
        <p:pic>
          <p:nvPicPr>
            <p:cNvPr id="11" name="Picture 10">
              <a:extLst>
                <a:ext uri="{FF2B5EF4-FFF2-40B4-BE49-F238E27FC236}">
                  <a16:creationId xmlns:a16="http://schemas.microsoft.com/office/drawing/2014/main" id="{ED499A87-2929-F040-B5A1-B87F7ADD4AB7}"/>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5" name="Picture 14" descr="A picture containing shape&#10;&#10;Description automatically generated">
              <a:extLst>
                <a:ext uri="{FF2B5EF4-FFF2-40B4-BE49-F238E27FC236}">
                  <a16:creationId xmlns:a16="http://schemas.microsoft.com/office/drawing/2014/main" id="{666C1839-220A-BC3C-0E70-7390B0E5453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7" name="Picture 2" descr="A picture containing graphics, logo, font, symbol&#10;&#10;Description automatically generated">
            <a:extLst>
              <a:ext uri="{FF2B5EF4-FFF2-40B4-BE49-F238E27FC236}">
                <a16:creationId xmlns:a16="http://schemas.microsoft.com/office/drawing/2014/main" id="{044653D0-C0A3-3702-5D02-2B101F4345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109C0312-80D5-AC8B-CD3D-577B1E8B8CE3}"/>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0" name="TextBox 19">
            <a:extLst>
              <a:ext uri="{FF2B5EF4-FFF2-40B4-BE49-F238E27FC236}">
                <a16:creationId xmlns:a16="http://schemas.microsoft.com/office/drawing/2014/main" id="{068C020D-982F-20EE-0F4C-D2AE36BD709F}"/>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1" name="Picture 20" descr="A picture containing arrow&#10;&#10;AI-generated content may be incorrect.">
            <a:extLst>
              <a:ext uri="{FF2B5EF4-FFF2-40B4-BE49-F238E27FC236}">
                <a16:creationId xmlns:a16="http://schemas.microsoft.com/office/drawing/2014/main" id="{4834F82D-3C29-A666-3B4F-A4B13BF7BA9D}"/>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4197880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48917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38.xml.rels><?xml version="1.0" encoding="UTF-8" standalone="yes"?>
<Relationships xmlns="http://schemas.openxmlformats.org/package/2006/relationships"><Relationship Id="rId3" Type="http://schemas.openxmlformats.org/officeDocument/2006/relationships/hyperlink" Target="https://bssw.io/items?topic=testing" TargetMode="External"/><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inux-test-project/lcov" TargetMode="External"/><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doi.org/10.1017/CBO9780511760396"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hyperlink" Target="https://doi.org/10.1002/spe.2220" TargetMode="External"/><Relationship Id="rId4" Type="http://schemas.openxmlformats.org/officeDocument/2006/relationships/hyperlink" Target="https://isbndb.com/book/9780131177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869611" y="2140952"/>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Oak Ridge National Laboratory</a:t>
            </a:r>
          </a:p>
        </p:txBody>
      </p:sp>
      <p:sp>
        <p:nvSpPr>
          <p:cNvPr id="11" name="Google Shape;50;g60257ae959_0_0">
            <a:extLst>
              <a:ext uri="{FF2B5EF4-FFF2-40B4-BE49-F238E27FC236}">
                <a16:creationId xmlns:a16="http://schemas.microsoft.com/office/drawing/2014/main" id="{380DB08E-B7A6-645B-502A-C387F1AD1DA5}"/>
              </a:ext>
            </a:extLst>
          </p:cNvPr>
          <p:cNvSpPr txBox="1">
            <a:spLocks noGrp="1"/>
          </p:cNvSpPr>
          <p:nvPr>
            <p:ph type="ctrTitle"/>
          </p:nvPr>
        </p:nvSpPr>
        <p:spPr>
          <a:xfrm>
            <a:off x="3177633" y="503144"/>
            <a:ext cx="8292316" cy="1030930"/>
          </a:xfrm>
          <a:prstGeom prst="rect">
            <a:avLst/>
          </a:prstGeom>
          <a:noFill/>
          <a:ln>
            <a:noFill/>
          </a:ln>
        </p:spPr>
        <p:txBody>
          <a:bodyPr spcFirstLastPara="1" wrap="square" lIns="91425" tIns="45700" rIns="91425" bIns="45700" anchor="b" anchorCtr="0">
            <a:noAutofit/>
          </a:bodyPr>
          <a:lstStyle/>
          <a:p>
            <a:r>
              <a:rPr lang="en-US" dirty="0"/>
              <a:t>Software Testing and Verification</a:t>
            </a:r>
            <a:endParaRPr lang="en-US" sz="2800" dirty="0">
              <a:effectLst/>
            </a:endParaRPr>
          </a:p>
        </p:txBody>
      </p:sp>
      <p:sp>
        <p:nvSpPr>
          <p:cNvPr id="15" name="Text Placeholder 7">
            <a:extLst>
              <a:ext uri="{FF2B5EF4-FFF2-40B4-BE49-F238E27FC236}">
                <a16:creationId xmlns:a16="http://schemas.microsoft.com/office/drawing/2014/main" id="{BB6EEDEF-17DF-DA33-79BB-1F4577FFC573}"/>
              </a:ext>
            </a:extLst>
          </p:cNvPr>
          <p:cNvSpPr>
            <a:spLocks noGrp="1"/>
          </p:cNvSpPr>
          <p:nvPr>
            <p:ph type="body" sz="quarter" idx="15"/>
          </p:nvPr>
        </p:nvSpPr>
        <p:spPr>
          <a:xfrm>
            <a:off x="3176924" y="4524111"/>
            <a:ext cx="8292316" cy="1200329"/>
          </a:xfrm>
        </p:spPr>
        <p:txBody>
          <a:bodyPr/>
          <a:lstStyle/>
          <a:p>
            <a:r>
              <a:rPr lang="en-US" sz="2000" dirty="0"/>
              <a:t>Contributors: Anshu Dubey (ANL), David E. Bernholdt (ORNL), Patricia Grubel (LANL), Rinku Gupta (ANL), Alicia </a:t>
            </a:r>
            <a:r>
              <a:rPr lang="en-US" sz="2000" dirty="0" err="1"/>
              <a:t>Klinvex</a:t>
            </a:r>
            <a:r>
              <a:rPr lang="en-US" sz="2000" dirty="0"/>
              <a:t> (SNL), Mark C. Miller (LLNL), Jared O’Neal (ANL), David M. Rogers (ORNL), Gregory R. Watson (ORNL)</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dirty="0"/>
              <a:t>Software Sustainability track @ Argonne Training Program on Extreme-Scale Computing summer school</a:t>
            </a:r>
            <a:endParaRPr lang="en-US" dirty="0">
              <a:solidFill>
                <a:srgbClr val="111111"/>
              </a:solidFill>
            </a:endParaRP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0317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692727" y="5943599"/>
            <a:ext cx="6788728"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intimidates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Classes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Clear box testing – when you know the internals and can modify the code you are testing</a:t>
            </a:r>
          </a:p>
          <a:p>
            <a:pPr lvl="1"/>
            <a:r>
              <a:rPr lang="en-US" dirty="0"/>
              <a:t>Likely to be the code you and your collaborators are developing</a:t>
            </a:r>
          </a:p>
          <a:p>
            <a:pPr lvl="1"/>
            <a:r>
              <a:rPr lang="en-US" dirty="0"/>
              <a:t>You can insert assertions </a:t>
            </a:r>
          </a:p>
          <a:p>
            <a:pPr lvl="1"/>
            <a:r>
              <a:rPr lang="en-US" dirty="0"/>
              <a:t>You can insert code snippets that make testing easier</a:t>
            </a:r>
          </a:p>
          <a:p>
            <a:endParaRPr lang="en-US" dirty="0"/>
          </a:p>
          <a:p>
            <a:r>
              <a:rPr lang="en-US" dirty="0"/>
              <a:t>Opaque box testing – when you do not know the internals of the code being tested, and cannot modify the code</a:t>
            </a:r>
          </a:p>
          <a:p>
            <a:pPr lvl="1"/>
            <a:r>
              <a:rPr lang="en-US" dirty="0"/>
              <a:t>Third party software or legacy code</a:t>
            </a:r>
          </a:p>
          <a:p>
            <a:pPr lvl="1"/>
            <a:r>
              <a:rPr lang="en-US" dirty="0"/>
              <a:t>The only means of verification available is reasoning about output to be obtained from supplied input</a:t>
            </a:r>
          </a:p>
        </p:txBody>
      </p:sp>
    </p:spTree>
    <p:extLst>
      <p:ext uri="{BB962C8B-B14F-4D97-AF65-F5344CB8AC3E}">
        <p14:creationId xmlns:p14="http://schemas.microsoft.com/office/powerpoint/2010/main" val="62222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Tree>
    <p:extLst>
      <p:ext uri="{BB962C8B-B14F-4D97-AF65-F5344CB8AC3E}">
        <p14:creationId xmlns:p14="http://schemas.microsoft.com/office/powerpoint/2010/main" val="3671208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50A31D3-4DA7-3448-B1F5-2E6DA28EE481}"/>
              </a:ext>
            </a:extLst>
          </p:cNvPr>
          <p:cNvSpPr/>
          <p:nvPr/>
        </p:nvSpPr>
        <p:spPr>
          <a:xfrm>
            <a:off x="7638585" y="5988205"/>
            <a:ext cx="4226313" cy="869795"/>
          </a:xfrm>
          <a:prstGeom prst="rect">
            <a:avLst/>
          </a:prstGeom>
          <a:solidFill>
            <a:schemeClr val="bg1"/>
          </a:solidFill>
          <a:ln>
            <a:noFill/>
          </a:ln>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What is Continuous Integration (CI)</a:t>
            </a:r>
            <a:endParaRPr lang="en-US" i="1" dirty="0"/>
          </a:p>
        </p:txBody>
      </p:sp>
      <p:pic>
        <p:nvPicPr>
          <p:cNvPr id="1026" name="Picture 2">
            <a:extLst>
              <a:ext uri="{FF2B5EF4-FFF2-40B4-BE49-F238E27FC236}">
                <a16:creationId xmlns:a16="http://schemas.microsoft.com/office/drawing/2014/main" id="{3D7300DE-94CF-7B44-BF28-EF47BA49F5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607" y="1072862"/>
            <a:ext cx="9966040" cy="55155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3862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CI Components</a:t>
            </a:r>
          </a:p>
        </p:txBody>
      </p:sp>
      <p:sp>
        <p:nvSpPr>
          <p:cNvPr id="3" name="Content Placeholder 2">
            <a:extLst>
              <a:ext uri="{FF2B5EF4-FFF2-40B4-BE49-F238E27FC236}">
                <a16:creationId xmlns:a16="http://schemas.microsoft.com/office/drawing/2014/main" id="{7A78E7AF-E77C-0444-AFCD-CD3AF65384A0}"/>
              </a:ext>
            </a:extLst>
          </p:cNvPr>
          <p:cNvSpPr>
            <a:spLocks noGrp="1"/>
          </p:cNvSpPr>
          <p:nvPr>
            <p:ph idx="1"/>
          </p:nvPr>
        </p:nvSpPr>
        <p:spPr>
          <a:xfrm>
            <a:off x="365760" y="1072863"/>
            <a:ext cx="11369809" cy="5373657"/>
          </a:xfrm>
        </p:spPr>
        <p:txBody>
          <a:bodyPr>
            <a:normAutofit/>
          </a:bodyPr>
          <a:lstStyle/>
          <a:p>
            <a:r>
              <a:rPr lang="en-US" dirty="0"/>
              <a:t>Testing</a:t>
            </a:r>
          </a:p>
          <a:p>
            <a:pPr lvl="1"/>
            <a:r>
              <a:rPr lang="en-US" dirty="0"/>
              <a:t>Focused, critical functionality (infrastructure), fast, independent, orthogonal, complete, … </a:t>
            </a:r>
          </a:p>
          <a:p>
            <a:pPr lvl="1"/>
            <a:r>
              <a:rPr lang="en-US" dirty="0"/>
              <a:t>Existing test suites often require re-design/refactoring for CI</a:t>
            </a:r>
          </a:p>
          <a:p>
            <a:r>
              <a:rPr lang="en-US" dirty="0"/>
              <a:t>Integration</a:t>
            </a:r>
          </a:p>
          <a:p>
            <a:pPr lvl="1"/>
            <a:r>
              <a:rPr lang="en-US" dirty="0"/>
              <a:t>Changes across key branches merged &amp; tested to ensure the “whole” still works</a:t>
            </a:r>
          </a:p>
          <a:p>
            <a:pPr lvl="2"/>
            <a:r>
              <a:rPr lang="en-US" dirty="0"/>
              <a:t>Integration can take place at multiple levels</a:t>
            </a:r>
          </a:p>
          <a:p>
            <a:pPr lvl="1"/>
            <a:r>
              <a:rPr lang="en-US" dirty="0"/>
              <a:t>Develop, develop, develop, merge, merge, merge, test, test, test…NO!</a:t>
            </a:r>
          </a:p>
          <a:p>
            <a:pPr lvl="1"/>
            <a:r>
              <a:rPr lang="en-US" dirty="0"/>
              <a:t>Develop, test, merge, develop, test, merge, develop, test, merge…YES!</a:t>
            </a:r>
          </a:p>
          <a:p>
            <a:r>
              <a:rPr lang="en-US" dirty="0"/>
              <a:t>Continuous</a:t>
            </a:r>
          </a:p>
          <a:p>
            <a:pPr lvl="1"/>
            <a:r>
              <a:rPr lang="en-US" dirty="0"/>
              <a:t>Changes tested every commit and/or pull-request (like auto-correct)</a:t>
            </a:r>
          </a:p>
          <a:p>
            <a:endParaRPr lang="en-US" dirty="0"/>
          </a:p>
          <a:p>
            <a:r>
              <a:rPr lang="en-US" dirty="0"/>
              <a:t>CI generally implies a lot of </a:t>
            </a:r>
            <a:r>
              <a:rPr lang="en-US" u="sng" dirty="0"/>
              <a:t>automation</a:t>
            </a:r>
            <a:endParaRPr lang="en-US" dirty="0"/>
          </a:p>
          <a:p>
            <a:pPr lvl="1"/>
            <a:endParaRPr lang="en-US" dirty="0"/>
          </a:p>
        </p:txBody>
      </p:sp>
    </p:spTree>
    <p:extLst>
      <p:ext uri="{BB962C8B-B14F-4D97-AF65-F5344CB8AC3E}">
        <p14:creationId xmlns:p14="http://schemas.microsoft.com/office/powerpoint/2010/main" val="732844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82E9C-1FA9-7843-B671-FBEA9FE7458B}"/>
              </a:ext>
            </a:extLst>
          </p:cNvPr>
          <p:cNvSpPr>
            <a:spLocks noGrp="1"/>
          </p:cNvSpPr>
          <p:nvPr>
            <p:ph type="title"/>
          </p:nvPr>
        </p:nvSpPr>
        <p:spPr/>
        <p:txBody>
          <a:bodyPr/>
          <a:lstStyle/>
          <a:p>
            <a:r>
              <a:rPr lang="en-US" dirty="0"/>
              <a:t>Test Driven Development vs. Automated Testing vs. CI</a:t>
            </a:r>
          </a:p>
        </p:txBody>
      </p:sp>
      <p:sp>
        <p:nvSpPr>
          <p:cNvPr id="3" name="Content Placeholder 2">
            <a:extLst>
              <a:ext uri="{FF2B5EF4-FFF2-40B4-BE49-F238E27FC236}">
                <a16:creationId xmlns:a16="http://schemas.microsoft.com/office/drawing/2014/main" id="{89E29C68-6DCB-2D47-926F-5D9411676618}"/>
              </a:ext>
            </a:extLst>
          </p:cNvPr>
          <p:cNvSpPr>
            <a:spLocks noGrp="1"/>
          </p:cNvSpPr>
          <p:nvPr>
            <p:ph idx="1"/>
          </p:nvPr>
        </p:nvSpPr>
        <p:spPr>
          <a:xfrm>
            <a:off x="365760" y="1224663"/>
            <a:ext cx="11457305" cy="4773507"/>
          </a:xfrm>
        </p:spPr>
        <p:txBody>
          <a:bodyPr/>
          <a:lstStyle/>
          <a:p>
            <a:r>
              <a:rPr lang="en-US" sz="2000" b="1" i="1" dirty="0"/>
              <a:t>Test Driven Development: </a:t>
            </a:r>
            <a:r>
              <a:rPr lang="en-US" sz="2000" dirty="0"/>
              <a:t>A development methodology where functional test are written before the code</a:t>
            </a:r>
          </a:p>
          <a:p>
            <a:pPr lvl="1"/>
            <a:r>
              <a:rPr lang="en-US" sz="1800" dirty="0"/>
              <a:t>Works well with CI as tests are written and committed and are automatically run (failing)</a:t>
            </a:r>
          </a:p>
          <a:p>
            <a:pPr lvl="1"/>
            <a:r>
              <a:rPr lang="en-US" sz="1800" dirty="0"/>
              <a:t>Code that implements the functionality being tested retriggers the tests automatically</a:t>
            </a:r>
          </a:p>
          <a:p>
            <a:r>
              <a:rPr lang="en-US" sz="2000" b="1" i="1" dirty="0"/>
              <a:t>Automated Testing</a:t>
            </a:r>
            <a:r>
              <a:rPr lang="en-US" sz="2000" dirty="0"/>
              <a:t>: Software that automatically performs tests on a regular basis and reliably detects and reports anomalous behaviors/outcomes.</a:t>
            </a:r>
          </a:p>
          <a:p>
            <a:pPr lvl="1"/>
            <a:r>
              <a:rPr lang="en-US" sz="1800" dirty="0"/>
              <a:t>Examples: Auto-test, CTest/CDash, nightly testing, etc.</a:t>
            </a:r>
          </a:p>
          <a:p>
            <a:pPr lvl="1"/>
            <a:r>
              <a:rPr lang="en-US" sz="1800" dirty="0"/>
              <a:t>May live “next to” your development workflow</a:t>
            </a:r>
          </a:p>
          <a:p>
            <a:pPr lvl="1"/>
            <a:r>
              <a:rPr lang="en-US" sz="1800" dirty="0"/>
              <a:t>Potential issues: change attribution, timeliness of results, multiple branches of development</a:t>
            </a:r>
          </a:p>
          <a:p>
            <a:r>
              <a:rPr lang="en-US" sz="2000" b="1" i="1" dirty="0"/>
              <a:t>Continuous Integration (CI)</a:t>
            </a:r>
            <a:r>
              <a:rPr lang="en-US" sz="2000" dirty="0"/>
              <a:t>: automated testing performed at high frequency and fine granularity</a:t>
            </a:r>
          </a:p>
          <a:p>
            <a:pPr lvl="1"/>
            <a:r>
              <a:rPr lang="en-US" sz="1800" dirty="0"/>
              <a:t>Aimed at preventing code changes from breaking key branches of development (e.g. main)</a:t>
            </a:r>
          </a:p>
          <a:p>
            <a:pPr lvl="1"/>
            <a:r>
              <a:rPr lang="en-US" sz="1800" dirty="0"/>
              <a:t>Lives “within” your development workflow</a:t>
            </a:r>
          </a:p>
          <a:p>
            <a:pPr lvl="1"/>
            <a:r>
              <a:rPr lang="en-US" sz="1800" dirty="0"/>
              <a:t>Potential issues: extreme automation, test granularity, coverage, 3</a:t>
            </a:r>
            <a:r>
              <a:rPr lang="en-US" sz="1800" baseline="30000" dirty="0"/>
              <a:t>rd</a:t>
            </a:r>
            <a:r>
              <a:rPr lang="en-US" sz="1800" dirty="0"/>
              <a:t>-party services/resources </a:t>
            </a:r>
          </a:p>
        </p:txBody>
      </p:sp>
    </p:spTree>
    <p:extLst>
      <p:ext uri="{BB962C8B-B14F-4D97-AF65-F5344CB8AC3E}">
        <p14:creationId xmlns:p14="http://schemas.microsoft.com/office/powerpoint/2010/main" val="3295112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85456-6481-8145-ABBE-F65385A1E8B7}"/>
              </a:ext>
            </a:extLst>
          </p:cNvPr>
          <p:cNvSpPr>
            <a:spLocks noGrp="1"/>
          </p:cNvSpPr>
          <p:nvPr>
            <p:ph type="title"/>
          </p:nvPr>
        </p:nvSpPr>
        <p:spPr/>
        <p:txBody>
          <a:bodyPr/>
          <a:lstStyle/>
          <a:p>
            <a:r>
              <a:rPr lang="en-US" dirty="0"/>
              <a:t>Examples…</a:t>
            </a:r>
          </a:p>
        </p:txBody>
      </p:sp>
      <p:sp>
        <p:nvSpPr>
          <p:cNvPr id="3" name="Text Placeholder 2">
            <a:extLst>
              <a:ext uri="{FF2B5EF4-FFF2-40B4-BE49-F238E27FC236}">
                <a16:creationId xmlns:a16="http://schemas.microsoft.com/office/drawing/2014/main" id="{D7512096-ED27-A141-B43B-6D2CBABEBA17}"/>
              </a:ext>
            </a:extLst>
          </p:cNvPr>
          <p:cNvSpPr>
            <a:spLocks noGrp="1"/>
          </p:cNvSpPr>
          <p:nvPr>
            <p:ph type="body" idx="1"/>
          </p:nvPr>
        </p:nvSpPr>
        <p:spPr>
          <a:xfrm>
            <a:off x="457200" y="1644150"/>
            <a:ext cx="5588582" cy="914400"/>
          </a:xfrm>
        </p:spPr>
        <p:txBody>
          <a:bodyPr/>
          <a:lstStyle/>
          <a:p>
            <a:pPr algn="ctr"/>
            <a:r>
              <a:rPr lang="en-US" dirty="0"/>
              <a:t>Automated Nightly Testing Dashboard</a:t>
            </a:r>
            <a:br>
              <a:rPr lang="en-US" dirty="0"/>
            </a:br>
            <a:r>
              <a:rPr lang="en-US" dirty="0"/>
              <a:t>Lives “next to” your development work</a:t>
            </a:r>
            <a:br>
              <a:rPr lang="en-US" dirty="0"/>
            </a:br>
            <a:endParaRPr lang="en-US" dirty="0"/>
          </a:p>
        </p:txBody>
      </p:sp>
      <p:sp>
        <p:nvSpPr>
          <p:cNvPr id="5" name="Text Placeholder 4">
            <a:extLst>
              <a:ext uri="{FF2B5EF4-FFF2-40B4-BE49-F238E27FC236}">
                <a16:creationId xmlns:a16="http://schemas.microsoft.com/office/drawing/2014/main" id="{E5F7A6A4-34F1-4149-A32A-F18F03DFB360}"/>
              </a:ext>
            </a:extLst>
          </p:cNvPr>
          <p:cNvSpPr>
            <a:spLocks noGrp="1"/>
          </p:cNvSpPr>
          <p:nvPr>
            <p:ph type="body" sz="quarter" idx="3"/>
          </p:nvPr>
        </p:nvSpPr>
        <p:spPr>
          <a:xfrm>
            <a:off x="6218914" y="1644150"/>
            <a:ext cx="5531934" cy="914400"/>
          </a:xfrm>
        </p:spPr>
        <p:txBody>
          <a:bodyPr/>
          <a:lstStyle/>
          <a:p>
            <a:pPr algn="ctr"/>
            <a:r>
              <a:rPr lang="en-US" dirty="0"/>
              <a:t>CI Testing</a:t>
            </a:r>
            <a:br>
              <a:rPr lang="en-US" dirty="0"/>
            </a:br>
            <a:r>
              <a:rPr lang="en-US" dirty="0"/>
              <a:t>Lives embedded in your development work</a:t>
            </a:r>
            <a:br>
              <a:rPr lang="en-US" dirty="0"/>
            </a:br>
            <a:endParaRPr lang="en-US" dirty="0"/>
          </a:p>
        </p:txBody>
      </p:sp>
      <p:pic>
        <p:nvPicPr>
          <p:cNvPr id="7" name="Content Placeholder 9">
            <a:extLst>
              <a:ext uri="{FF2B5EF4-FFF2-40B4-BE49-F238E27FC236}">
                <a16:creationId xmlns:a16="http://schemas.microsoft.com/office/drawing/2014/main" id="{DD0F9FAC-D744-E04D-9F82-4C27F218C702}"/>
              </a:ext>
            </a:extLst>
          </p:cNvPr>
          <p:cNvPicPr>
            <a:picLocks noGrp="1" noChangeAspect="1"/>
          </p:cNvPicPr>
          <p:nvPr>
            <p:ph sz="half" idx="2"/>
          </p:nvPr>
        </p:nvPicPr>
        <p:blipFill>
          <a:blip r:embed="rId2"/>
          <a:stretch>
            <a:fillRect/>
          </a:stretch>
        </p:blipFill>
        <p:spPr>
          <a:xfrm>
            <a:off x="1454123" y="2695684"/>
            <a:ext cx="3594735" cy="3373438"/>
          </a:xfrm>
          <a:prstGeom prst="rect">
            <a:avLst/>
          </a:prstGeom>
        </p:spPr>
      </p:pic>
      <p:pic>
        <p:nvPicPr>
          <p:cNvPr id="8" name="Content Placeholder 10">
            <a:extLst>
              <a:ext uri="{FF2B5EF4-FFF2-40B4-BE49-F238E27FC236}">
                <a16:creationId xmlns:a16="http://schemas.microsoft.com/office/drawing/2014/main" id="{5A091814-85DD-2B4B-AED0-190BAFDB4F27}"/>
              </a:ext>
            </a:extLst>
          </p:cNvPr>
          <p:cNvPicPr>
            <a:picLocks noGrp="1" noChangeAspect="1"/>
          </p:cNvPicPr>
          <p:nvPr>
            <p:ph sz="quarter" idx="4"/>
          </p:nvPr>
        </p:nvPicPr>
        <p:blipFill>
          <a:blip r:embed="rId3"/>
          <a:stretch>
            <a:fillRect/>
          </a:stretch>
        </p:blipFill>
        <p:spPr>
          <a:xfrm>
            <a:off x="6218238" y="3031490"/>
            <a:ext cx="5532437" cy="2428558"/>
          </a:xfrm>
          <a:prstGeom prst="rect">
            <a:avLst/>
          </a:prstGeom>
        </p:spPr>
      </p:pic>
    </p:spTree>
    <p:extLst>
      <p:ext uri="{BB962C8B-B14F-4D97-AF65-F5344CB8AC3E}">
        <p14:creationId xmlns:p14="http://schemas.microsoft.com/office/powerpoint/2010/main" val="453650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1D32CB7-D634-43E1-8542-F61B3C62064E}"/>
              </a:ext>
            </a:extLst>
          </p:cNvPr>
          <p:cNvSpPr>
            <a:spLocks noGrp="1"/>
          </p:cNvSpPr>
          <p:nvPr>
            <p:ph type="title"/>
          </p:nvPr>
        </p:nvSpPr>
        <p:spPr/>
        <p:txBody>
          <a:bodyPr/>
          <a:lstStyle/>
          <a:p>
            <a:r>
              <a:rPr lang="en-US" dirty="0"/>
              <a:t>What is CI Good For</a:t>
            </a:r>
          </a:p>
        </p:txBody>
      </p:sp>
      <p:sp>
        <p:nvSpPr>
          <p:cNvPr id="10" name="Content Placeholder 9">
            <a:extLst>
              <a:ext uri="{FF2B5EF4-FFF2-40B4-BE49-F238E27FC236}">
                <a16:creationId xmlns:a16="http://schemas.microsoft.com/office/drawing/2014/main" id="{E214442A-CF4F-4DB6-85EE-FF2632D271ED}"/>
              </a:ext>
            </a:extLst>
          </p:cNvPr>
          <p:cNvSpPr>
            <a:spLocks noGrp="1"/>
          </p:cNvSpPr>
          <p:nvPr>
            <p:ph idx="1"/>
          </p:nvPr>
        </p:nvSpPr>
        <p:spPr>
          <a:xfrm>
            <a:off x="365760" y="1003074"/>
            <a:ext cx="11369809" cy="4047778"/>
          </a:xfrm>
        </p:spPr>
        <p:txBody>
          <a:bodyPr/>
          <a:lstStyle/>
          <a:p>
            <a:r>
              <a:rPr lang="en-US" sz="2000" dirty="0"/>
              <a:t>The purpose of CI is to identify problems early</a:t>
            </a:r>
          </a:p>
          <a:p>
            <a:pPr lvl="1">
              <a:spcBef>
                <a:spcPts val="200"/>
              </a:spcBef>
            </a:pPr>
            <a:r>
              <a:rPr lang="en-US" sz="1800" dirty="0"/>
              <a:t>Prevent code that would “break the build” or adversely impact other developers being introduced</a:t>
            </a:r>
          </a:p>
          <a:p>
            <a:pPr lvl="1">
              <a:spcBef>
                <a:spcPts val="200"/>
              </a:spcBef>
            </a:pPr>
            <a:r>
              <a:rPr lang="en-US" sz="1800" dirty="0"/>
              <a:t>Need to provide sufficient confidence, but run quickly – balance varies by project</a:t>
            </a:r>
            <a:endParaRPr lang="en-US" sz="2000" dirty="0"/>
          </a:p>
          <a:p>
            <a:pPr>
              <a:spcBef>
                <a:spcPts val="2400"/>
              </a:spcBef>
            </a:pPr>
            <a:r>
              <a:rPr lang="en-US" sz="2000" dirty="0"/>
              <a:t>CI should complement (not replace) more extensive automated testing</a:t>
            </a:r>
          </a:p>
          <a:p>
            <a:pPr lvl="1">
              <a:spcBef>
                <a:spcPts val="200"/>
              </a:spcBef>
            </a:pPr>
            <a:r>
              <a:rPr lang="en-US" sz="1800" dirty="0"/>
              <a:t>Use scheduled testing for more and more detailed tests, more configurations and platforms, performance testing, etc.</a:t>
            </a:r>
          </a:p>
          <a:p>
            <a:pPr>
              <a:spcBef>
                <a:spcPts val="2400"/>
              </a:spcBef>
            </a:pPr>
            <a:r>
              <a:rPr lang="en-US" sz="2000" dirty="0"/>
              <a:t>CI for TDD is a natural fit</a:t>
            </a:r>
          </a:p>
          <a:p>
            <a:pPr lvl="1">
              <a:spcBef>
                <a:spcPts val="200"/>
              </a:spcBef>
            </a:pPr>
            <a:r>
              <a:rPr lang="en-US" sz="1800" dirty="0"/>
              <a:t>Writing tests before the code works well with CI</a:t>
            </a:r>
          </a:p>
          <a:p>
            <a:pPr>
              <a:spcBef>
                <a:spcPts val="2400"/>
              </a:spcBef>
            </a:pPr>
            <a:r>
              <a:rPr lang="en-US" sz="2000" dirty="0"/>
              <a:t>Many options for where to execute CI tests</a:t>
            </a:r>
          </a:p>
          <a:p>
            <a:pPr lvl="1">
              <a:spcBef>
                <a:spcPts val="200"/>
              </a:spcBef>
            </a:pPr>
            <a:r>
              <a:rPr lang="en-US" sz="1800" dirty="0"/>
              <a:t>Free services are a good (easy) place to start</a:t>
            </a:r>
          </a:p>
          <a:p>
            <a:pPr lvl="1">
              <a:spcBef>
                <a:spcPts val="200"/>
              </a:spcBef>
            </a:pPr>
            <a:r>
              <a:rPr lang="en-US" sz="1800" dirty="0"/>
              <a:t>But may not be sufficient in the long run (especially large HPC/scientific codes)</a:t>
            </a:r>
          </a:p>
          <a:p>
            <a:pPr>
              <a:spcBef>
                <a:spcPts val="2400"/>
              </a:spcBef>
            </a:pPr>
            <a:r>
              <a:rPr lang="en-US" sz="2000" u="sng" dirty="0"/>
              <a:t>Start simple</a:t>
            </a:r>
            <a:r>
              <a:rPr lang="en-US" sz="2000" dirty="0"/>
              <a:t> to get automation working, then build out what you need</a:t>
            </a:r>
          </a:p>
          <a:p>
            <a:pPr lvl="1">
              <a:spcBef>
                <a:spcPts val="200"/>
              </a:spcBef>
            </a:pPr>
            <a:r>
              <a:rPr lang="en-US" sz="1800" dirty="0"/>
              <a:t>Focus initially on key software configurations and aspects of the code to be tested</a:t>
            </a:r>
          </a:p>
          <a:p>
            <a:pPr lvl="1">
              <a:spcBef>
                <a:spcPts val="200"/>
              </a:spcBef>
            </a:pPr>
            <a:r>
              <a:rPr lang="en-US" sz="1800" dirty="0"/>
              <a:t>Make sure your testing expands to cover new code, use TDD</a:t>
            </a:r>
          </a:p>
        </p:txBody>
      </p:sp>
    </p:spTree>
    <p:extLst>
      <p:ext uri="{BB962C8B-B14F-4D97-AF65-F5344CB8AC3E}">
        <p14:creationId xmlns:p14="http://schemas.microsoft.com/office/powerpoint/2010/main" val="3784091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clear box testing</a:t>
            </a:r>
          </a:p>
        </p:txBody>
      </p:sp>
    </p:spTree>
    <p:extLst>
      <p:ext uri="{BB962C8B-B14F-4D97-AF65-F5344CB8AC3E}">
        <p14:creationId xmlns:p14="http://schemas.microsoft.com/office/powerpoint/2010/main" val="1642722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Clear/Opaque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1"/>
          <p:cNvSpPr>
            <a:spLocks noGrp="1"/>
          </p:cNvSpPr>
          <p:nvPr>
            <p:ph type="title"/>
          </p:nvPr>
        </p:nvSpPr>
        <p:spPr>
          <a:xfrm>
            <a:off x="804462" y="233314"/>
            <a:ext cx="8227457" cy="510904"/>
          </a:xfrm>
        </p:spPr>
        <p:txBody>
          <a:bodyPr/>
          <a:lstStyle/>
          <a:p>
            <a:r>
              <a:rPr lang="en-US" dirty="0"/>
              <a:t>How to build your test suite?</a:t>
            </a:r>
          </a:p>
        </p:txBody>
      </p:sp>
      <p:sp>
        <p:nvSpPr>
          <p:cNvPr id="3" name="Content Placeholder 2">
            <a:extLst>
              <a:ext uri="{FF2B5EF4-FFF2-40B4-BE49-F238E27FC236}">
                <a16:creationId xmlns:a16="http://schemas.microsoft.com/office/drawing/2014/main" id="{33CEB475-6103-499A-277A-222D42710F9B}"/>
              </a:ext>
            </a:extLst>
          </p:cNvPr>
          <p:cNvSpPr>
            <a:spLocks noGrp="1"/>
          </p:cNvSpPr>
          <p:nvPr>
            <p:ph idx="1"/>
          </p:nvPr>
        </p:nvSpPr>
        <p:spPr>
          <a:xfrm>
            <a:off x="710317" y="1405111"/>
            <a:ext cx="11369809" cy="4047778"/>
          </a:xfrm>
        </p:spPr>
        <p:txBody>
          <a:bodyPr/>
          <a:lstStyle/>
          <a:p>
            <a:r>
              <a:rPr lang="en-US" dirty="0"/>
              <a:t>A mix of different granularities works well</a:t>
            </a:r>
          </a:p>
          <a:p>
            <a:pPr lvl="1"/>
            <a:r>
              <a:rPr lang="en-US" dirty="0"/>
              <a:t>Unit tests for isolating component or sub-component level faults </a:t>
            </a:r>
          </a:p>
          <a:p>
            <a:pPr lvl="1"/>
            <a:r>
              <a:rPr lang="en-US" dirty="0"/>
              <a:t>Integration tests with simple to complex configuration and system level</a:t>
            </a:r>
          </a:p>
          <a:p>
            <a:pPr lvl="1"/>
            <a:r>
              <a:rPr lang="en-US" dirty="0"/>
              <a:t>Restart tests</a:t>
            </a:r>
          </a:p>
          <a:p>
            <a:r>
              <a:rPr lang="en-US" dirty="0"/>
              <a:t> Rules of thumb</a:t>
            </a:r>
          </a:p>
          <a:p>
            <a:pPr lvl="1"/>
            <a:r>
              <a:rPr lang="en-US" dirty="0"/>
              <a:t>Simple </a:t>
            </a:r>
          </a:p>
          <a:p>
            <a:pPr lvl="1"/>
            <a:r>
              <a:rPr lang="en-US" dirty="0"/>
              <a:t>Enable quick pin-pointing </a:t>
            </a:r>
          </a:p>
          <a:p>
            <a:pPr marL="346075" lvl="1" indent="0">
              <a:buNone/>
            </a:pPr>
            <a:endParaRPr lang="en-US" dirty="0"/>
          </a:p>
          <a:p>
            <a:pPr marL="346075" lvl="1" indent="0">
              <a:buNone/>
            </a:pPr>
            <a:r>
              <a:rPr lang="en-US" dirty="0"/>
              <a:t>Useful resources </a:t>
            </a:r>
            <a:r>
              <a:rPr lang="en-US" dirty="0">
                <a:hlinkClick r:id="rId3"/>
              </a:rPr>
              <a:t>https://bssw.io/items?topic=testing</a:t>
            </a:r>
            <a:endParaRPr lang="en-US" dirty="0"/>
          </a:p>
        </p:txBody>
      </p:sp>
    </p:spTree>
    <p:extLst>
      <p:ext uri="{BB962C8B-B14F-4D97-AF65-F5344CB8AC3E}">
        <p14:creationId xmlns:p14="http://schemas.microsoft.com/office/powerpoint/2010/main" val="338891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031832-2156-504F-B8AF-48ABE34B424D}"/>
              </a:ext>
            </a:extLst>
          </p:cNvPr>
          <p:cNvSpPr>
            <a:spLocks noGrp="1"/>
          </p:cNvSpPr>
          <p:nvPr>
            <p:ph idx="1"/>
          </p:nvPr>
        </p:nvSpPr>
        <p:spPr>
          <a:xfrm>
            <a:off x="609443" y="1385204"/>
            <a:ext cx="6470978" cy="4422776"/>
          </a:xfrm>
        </p:spPr>
        <p:txBody>
          <a:bodyPr/>
          <a:lstStyle/>
          <a:p>
            <a:r>
              <a:rPr lang="en-US" sz="2200" dirty="0"/>
              <a:t>Expose parts of the code that aren’t being tested</a:t>
            </a:r>
          </a:p>
          <a:p>
            <a:pPr lvl="1"/>
            <a:r>
              <a:rPr lang="en-US" sz="1900" dirty="0" err="1"/>
              <a:t>gcov</a:t>
            </a:r>
            <a:r>
              <a:rPr lang="en-US" sz="1900" dirty="0"/>
              <a:t> - standard utility with the GNU compiler collection suite (we will use it in the next few slides)</a:t>
            </a:r>
          </a:p>
          <a:p>
            <a:pPr lvl="1"/>
            <a:r>
              <a:rPr lang="en-US" sz="1900" dirty="0"/>
              <a:t>Compile/link with –coverage &amp; turn off optimization</a:t>
            </a:r>
          </a:p>
          <a:p>
            <a:pPr lvl="1"/>
            <a:r>
              <a:rPr lang="en-US" sz="1900" dirty="0"/>
              <a:t>Counts the number of times each statement is executed</a:t>
            </a:r>
          </a:p>
          <a:p>
            <a:pPr lvl="1"/>
            <a:r>
              <a:rPr lang="en-US" sz="1900" dirty="0"/>
              <a:t>Necessary for testing, but not sufficient</a:t>
            </a:r>
          </a:p>
          <a:p>
            <a:r>
              <a:rPr lang="en-US" sz="2200" dirty="0" err="1"/>
              <a:t>gcov</a:t>
            </a:r>
            <a:r>
              <a:rPr lang="en-US" sz="2200" dirty="0"/>
              <a:t> also works for C and Fortran</a:t>
            </a:r>
          </a:p>
          <a:p>
            <a:pPr lvl="1"/>
            <a:r>
              <a:rPr lang="en-US" sz="1900" dirty="0"/>
              <a:t>Other tools exist for other languages</a:t>
            </a:r>
          </a:p>
          <a:p>
            <a:pPr lvl="1"/>
            <a:r>
              <a:rPr lang="en-US" sz="1900" dirty="0" err="1"/>
              <a:t>JCov</a:t>
            </a:r>
            <a:r>
              <a:rPr lang="en-US" sz="1900" dirty="0"/>
              <a:t> for Java</a:t>
            </a:r>
          </a:p>
          <a:p>
            <a:pPr lvl="1"/>
            <a:r>
              <a:rPr lang="en-US" sz="1900" dirty="0" err="1"/>
              <a:t>Coverage.py</a:t>
            </a:r>
            <a:r>
              <a:rPr lang="en-US" sz="1900" dirty="0"/>
              <a:t> for python</a:t>
            </a:r>
          </a:p>
          <a:p>
            <a:pPr lvl="1"/>
            <a:r>
              <a:rPr lang="en-US" sz="1900" dirty="0" err="1"/>
              <a:t>Devel</a:t>
            </a:r>
            <a:r>
              <a:rPr lang="en-US" sz="1900" dirty="0"/>
              <a:t>::Cover for </a:t>
            </a:r>
            <a:r>
              <a:rPr lang="en-US" sz="1900" dirty="0" err="1"/>
              <a:t>perl</a:t>
            </a:r>
            <a:endParaRPr lang="en-US" sz="1900" dirty="0"/>
          </a:p>
          <a:p>
            <a:pPr lvl="1"/>
            <a:r>
              <a:rPr lang="en-US" sz="1900" dirty="0"/>
              <a:t>profile for MATLAB</a:t>
            </a:r>
          </a:p>
          <a:p>
            <a:endParaRPr lang="en-US" sz="2000" dirty="0"/>
          </a:p>
        </p:txBody>
      </p:sp>
      <p:sp>
        <p:nvSpPr>
          <p:cNvPr id="4" name="Text Placeholder 3">
            <a:extLst>
              <a:ext uri="{FF2B5EF4-FFF2-40B4-BE49-F238E27FC236}">
                <a16:creationId xmlns:a16="http://schemas.microsoft.com/office/drawing/2014/main" id="{F62A6E05-B1BD-534E-884C-E62949A07353}"/>
              </a:ext>
            </a:extLst>
          </p:cNvPr>
          <p:cNvSpPr>
            <a:spLocks noGrp="1"/>
          </p:cNvSpPr>
          <p:nvPr>
            <p:ph type="body" sz="quarter" idx="12"/>
          </p:nvPr>
        </p:nvSpPr>
        <p:spPr>
          <a:xfrm>
            <a:off x="609442" y="853958"/>
            <a:ext cx="11160961" cy="499715"/>
          </a:xfrm>
        </p:spPr>
        <p:txBody>
          <a:bodyPr/>
          <a:lstStyle/>
          <a:p>
            <a:r>
              <a:rPr lang="en-US" dirty="0"/>
              <a:t>Code coverage tools</a:t>
            </a:r>
          </a:p>
          <a:p>
            <a:endParaRPr lang="en-US" dirty="0"/>
          </a:p>
        </p:txBody>
      </p:sp>
      <p:sp>
        <p:nvSpPr>
          <p:cNvPr id="2" name="Title 1">
            <a:extLst>
              <a:ext uri="{FF2B5EF4-FFF2-40B4-BE49-F238E27FC236}">
                <a16:creationId xmlns:a16="http://schemas.microsoft.com/office/drawing/2014/main" id="{75E86857-8815-FB42-AB5A-F79919C28FB0}"/>
              </a:ext>
            </a:extLst>
          </p:cNvPr>
          <p:cNvSpPr>
            <a:spLocks noGrp="1"/>
          </p:cNvSpPr>
          <p:nvPr>
            <p:ph type="title"/>
          </p:nvPr>
        </p:nvSpPr>
        <p:spPr/>
        <p:txBody>
          <a:bodyPr/>
          <a:lstStyle/>
          <a:p>
            <a:r>
              <a:rPr lang="en-US" dirty="0"/>
              <a:t>How do we determine what tests are needed?</a:t>
            </a:r>
          </a:p>
        </p:txBody>
      </p:sp>
      <p:sp>
        <p:nvSpPr>
          <p:cNvPr id="7" name="Content Placeholder 2">
            <a:extLst>
              <a:ext uri="{FF2B5EF4-FFF2-40B4-BE49-F238E27FC236}">
                <a16:creationId xmlns:a16="http://schemas.microsoft.com/office/drawing/2014/main" id="{B0AC3198-6740-CB42-9C0C-C51FE1D7A69F}"/>
              </a:ext>
            </a:extLst>
          </p:cNvPr>
          <p:cNvSpPr txBox="1">
            <a:spLocks/>
          </p:cNvSpPr>
          <p:nvPr/>
        </p:nvSpPr>
        <p:spPr bwMode="auto">
          <a:xfrm>
            <a:off x="7103631" y="1413172"/>
            <a:ext cx="4527211" cy="393067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t>Lcov</a:t>
            </a:r>
            <a:r>
              <a:rPr lang="en-US" dirty="0"/>
              <a:t> </a:t>
            </a:r>
          </a:p>
          <a:p>
            <a:pPr lvl="1"/>
            <a:r>
              <a:rPr lang="en-US" dirty="0"/>
              <a:t>a graphical front-end for </a:t>
            </a:r>
            <a:r>
              <a:rPr lang="en-US" dirty="0" err="1"/>
              <a:t>gcov</a:t>
            </a:r>
            <a:endParaRPr lang="en-US" dirty="0"/>
          </a:p>
          <a:p>
            <a:pPr lvl="1"/>
            <a:r>
              <a:rPr lang="en-US" dirty="0"/>
              <a:t>available at </a:t>
            </a:r>
            <a:r>
              <a:rPr lang="en-US" dirty="0">
                <a:hlinkClick r:id="rId3"/>
              </a:rPr>
              <a:t>https://github.com/linux-test-project/lcov</a:t>
            </a:r>
            <a:endParaRPr lang="en-US" dirty="0"/>
          </a:p>
          <a:p>
            <a:pPr lvl="1"/>
            <a:r>
              <a:rPr lang="en-US" dirty="0" err="1"/>
              <a:t>Codecov.io</a:t>
            </a:r>
            <a:r>
              <a:rPr lang="en-US" dirty="0"/>
              <a:t> in CI module </a:t>
            </a:r>
          </a:p>
          <a:p>
            <a:r>
              <a:rPr lang="en-US" dirty="0"/>
              <a:t>Hosted servers (e.g., coveralls, </a:t>
            </a:r>
            <a:r>
              <a:rPr lang="en-US" dirty="0" err="1"/>
              <a:t>codecov</a:t>
            </a:r>
            <a:r>
              <a:rPr lang="en-US" dirty="0"/>
              <a:t>)</a:t>
            </a:r>
          </a:p>
          <a:p>
            <a:r>
              <a:rPr lang="en-US" dirty="0"/>
              <a:t>graphical visualization of results</a:t>
            </a:r>
          </a:p>
          <a:p>
            <a:r>
              <a:rPr lang="en-US" dirty="0"/>
              <a:t>push results to server through continuous integration server</a:t>
            </a:r>
          </a:p>
          <a:p>
            <a:endParaRPr lang="en-US" dirty="0"/>
          </a:p>
          <a:p>
            <a:endParaRPr lang="en-US" dirty="0"/>
          </a:p>
          <a:p>
            <a:endParaRPr lang="en-US" dirty="0"/>
          </a:p>
        </p:txBody>
      </p:sp>
    </p:spTree>
    <p:extLst>
      <p:ext uri="{BB962C8B-B14F-4D97-AF65-F5344CB8AC3E}">
        <p14:creationId xmlns:p14="http://schemas.microsoft.com/office/powerpoint/2010/main" val="9608311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Good Rules of Thumb</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991268" y="675860"/>
            <a:ext cx="9733722" cy="6016770"/>
          </a:xfrm>
          <a:ln>
            <a:noFill/>
          </a:ln>
        </p:spPr>
        <p:txBody>
          <a:bodyPr>
            <a:normAutofit/>
          </a:bodyPr>
          <a:lstStyle/>
          <a:p>
            <a:pPr marL="0" indent="0">
              <a:buNone/>
            </a:pPr>
            <a:endParaRPr lang="en-US" sz="2000" b="1" dirty="0">
              <a:solidFill>
                <a:schemeClr val="tx2"/>
              </a:solidFill>
            </a:endParaRPr>
          </a:p>
          <a:p>
            <a:r>
              <a:rPr lang="en-US" dirty="0"/>
              <a:t>Test your tests!</a:t>
            </a:r>
          </a:p>
          <a:p>
            <a:pPr lvl="1">
              <a:spcBef>
                <a:spcPts val="200"/>
              </a:spcBef>
            </a:pPr>
            <a:r>
              <a:rPr lang="en-US" dirty="0"/>
              <a:t>Make sure tests fail when they’re supposed to!</a:t>
            </a:r>
            <a:endParaRPr lang="en-US" sz="2000" b="1" dirty="0">
              <a:solidFill>
                <a:schemeClr val="tx2"/>
              </a:solidFill>
            </a:endParaRPr>
          </a:p>
          <a:p>
            <a:r>
              <a:rPr lang="en-US" sz="2000" dirty="0"/>
              <a:t>Add “regression tests”</a:t>
            </a:r>
          </a:p>
          <a:p>
            <a:pPr lvl="1">
              <a:spcBef>
                <a:spcPts val="200"/>
              </a:spcBef>
            </a:pPr>
            <a:r>
              <a:rPr lang="en-US" sz="1800" dirty="0"/>
              <a:t>Ensure that bugs aren’t creeping in</a:t>
            </a:r>
            <a:endParaRPr lang="en-US" dirty="0"/>
          </a:p>
          <a:p>
            <a:r>
              <a:rPr lang="en-US" dirty="0"/>
              <a:t>Test regularly</a:t>
            </a:r>
          </a:p>
          <a:p>
            <a:pPr lvl="1"/>
            <a:r>
              <a:rPr lang="en-US" dirty="0"/>
              <a:t>Critical when teams are adding code regularly</a:t>
            </a:r>
          </a:p>
          <a:p>
            <a:pPr lvl="1">
              <a:spcBef>
                <a:spcPts val="200"/>
              </a:spcBef>
            </a:pPr>
            <a:r>
              <a:rPr lang="en-US" dirty="0"/>
              <a:t>To identify and document where changes to the underlying platform change code behavior/results</a:t>
            </a:r>
          </a:p>
          <a:p>
            <a:pPr marL="346075" lvl="1" indent="0">
              <a:spcBef>
                <a:spcPts val="200"/>
              </a:spcBef>
              <a:buNone/>
            </a:pPr>
            <a:endParaRPr lang="en-US" dirty="0"/>
          </a:p>
          <a:p>
            <a:pPr>
              <a:spcBef>
                <a:spcPts val="200"/>
              </a:spcBef>
            </a:pPr>
            <a:r>
              <a:rPr lang="en-US" dirty="0"/>
              <a:t>Automate regular testing</a:t>
            </a:r>
          </a:p>
          <a:p>
            <a:pPr lvl="1">
              <a:spcBef>
                <a:spcPts val="200"/>
              </a:spcBef>
            </a:pPr>
            <a:r>
              <a:rPr lang="en-US" dirty="0"/>
              <a:t>Inculcate the discipline of monitoring the outcome of regular testing</a:t>
            </a:r>
          </a:p>
          <a:p>
            <a:r>
              <a:rPr lang="en-US" dirty="0"/>
              <a:t>Exercise third-party dependencies</a:t>
            </a:r>
          </a:p>
          <a:p>
            <a:pPr lvl="1">
              <a:spcBef>
                <a:spcPts val="200"/>
              </a:spcBef>
            </a:pPr>
            <a:endParaRPr lang="en-US" dirty="0"/>
          </a:p>
          <a:p>
            <a:pPr>
              <a:spcBef>
                <a:spcPts val="200"/>
              </a:spcBef>
            </a:pPr>
            <a:r>
              <a:rPr lang="en-US" dirty="0"/>
              <a:t>Physics/math-based strategies</a:t>
            </a:r>
          </a:p>
          <a:p>
            <a:pPr lvl="1">
              <a:spcBef>
                <a:spcPts val="200"/>
              </a:spcBef>
            </a:pPr>
            <a:r>
              <a:rPr lang="en-US" dirty="0"/>
              <a:t>Conserved quantities, symmetries, synthetic operators</a:t>
            </a:r>
          </a:p>
          <a:p>
            <a:pPr lvl="1">
              <a:spcBef>
                <a:spcPts val="200"/>
              </a:spcBef>
            </a:pPr>
            <a:r>
              <a:rPr lang="en-US" dirty="0"/>
              <a:t>Eliminate complete dependence on bitwise reproducibility</a:t>
            </a:r>
          </a:p>
          <a:p>
            <a:pPr>
              <a:spcBef>
                <a:spcPts val="200"/>
              </a:spcBef>
            </a:pPr>
            <a:endParaRPr lang="en-US" dirty="0"/>
          </a:p>
          <a:p>
            <a:pPr lvl="1">
              <a:spcBef>
                <a:spcPts val="200"/>
              </a:spcBef>
            </a:pPr>
            <a:endParaRPr lang="en-US" sz="800" dirty="0"/>
          </a:p>
          <a:p>
            <a:pPr lvl="1">
              <a:spcBef>
                <a:spcPts val="200"/>
              </a:spcBef>
            </a:pPr>
            <a:endParaRPr lang="en-US" sz="800" dirty="0"/>
          </a:p>
        </p:txBody>
      </p:sp>
    </p:spTree>
    <p:extLst>
      <p:ext uri="{BB962C8B-B14F-4D97-AF65-F5344CB8AC3E}">
        <p14:creationId xmlns:p14="http://schemas.microsoft.com/office/powerpoint/2010/main" val="2183274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174BE-4E72-FE40-8782-11FDA9237EF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3356FF5-E6BE-B54D-B0C3-DA1A1ADD65B2}"/>
              </a:ext>
            </a:extLst>
          </p:cNvPr>
          <p:cNvSpPr>
            <a:spLocks noGrp="1"/>
          </p:cNvSpPr>
          <p:nvPr>
            <p:ph idx="1"/>
          </p:nvPr>
        </p:nvSpPr>
        <p:spPr>
          <a:xfrm>
            <a:off x="365760" y="1056877"/>
            <a:ext cx="11369809" cy="5088742"/>
          </a:xfrm>
        </p:spPr>
        <p:txBody>
          <a:bodyPr/>
          <a:lstStyle/>
          <a:p>
            <a:r>
              <a:rPr lang="en-US" sz="2800" dirty="0"/>
              <a:t>A testing strategy is essential for producing reliable trustworthy software</a:t>
            </a:r>
          </a:p>
          <a:p>
            <a:pPr lvl="1"/>
            <a:r>
              <a:rPr lang="en-US" sz="2400" dirty="0"/>
              <a:t>Invest the time needed to thoroughly test your software at all levels</a:t>
            </a:r>
          </a:p>
          <a:p>
            <a:pPr lvl="1"/>
            <a:r>
              <a:rPr lang="en-US" sz="2400" dirty="0"/>
              <a:t>Use automation whenever possible</a:t>
            </a:r>
          </a:p>
          <a:p>
            <a:r>
              <a:rPr lang="en-US" sz="2800" dirty="0"/>
              <a:t>Different challenges are associated with exploratory, legacy, and composable codes</a:t>
            </a:r>
          </a:p>
          <a:p>
            <a:pPr lvl="1"/>
            <a:r>
              <a:rPr lang="en-US" sz="2400" dirty="0"/>
              <a:t>Adapt your strategy to fit your situation.</a:t>
            </a:r>
          </a:p>
          <a:p>
            <a:pPr lvl="1"/>
            <a:r>
              <a:rPr lang="en-US" sz="2400" dirty="0"/>
              <a:t>Eventually you will want to be able to verify all components in a code release.</a:t>
            </a:r>
          </a:p>
          <a:p>
            <a:r>
              <a:rPr lang="en-US" sz="2800" dirty="0"/>
              <a:t>Don’t get distracted by all the technologies out there – focus on exercising your code.</a:t>
            </a:r>
          </a:p>
          <a:p>
            <a:pPr lvl="1"/>
            <a:r>
              <a:rPr lang="en-US" sz="2400" dirty="0"/>
              <a:t>Scaffolding projects can help with mechanics.</a:t>
            </a:r>
            <a:endParaRPr lang="en-US" sz="2800" dirty="0"/>
          </a:p>
        </p:txBody>
      </p:sp>
    </p:spTree>
    <p:extLst>
      <p:ext uri="{BB962C8B-B14F-4D97-AF65-F5344CB8AC3E}">
        <p14:creationId xmlns:p14="http://schemas.microsoft.com/office/powerpoint/2010/main" val="10970660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6EEB-43E1-F64D-85B5-5CC6AD754298}"/>
              </a:ext>
            </a:extLst>
          </p:cNvPr>
          <p:cNvSpPr>
            <a:spLocks noGrp="1"/>
          </p:cNvSpPr>
          <p:nvPr>
            <p:ph type="title"/>
          </p:nvPr>
        </p:nvSpPr>
        <p:spPr>
          <a:xfrm>
            <a:off x="365760" y="190005"/>
            <a:ext cx="11372473" cy="914400"/>
          </a:xfrm>
        </p:spPr>
        <p:txBody>
          <a:bodyPr/>
          <a:lstStyle/>
          <a:p>
            <a:r>
              <a:rPr lang="en-US" dirty="0"/>
              <a:t>Resources</a:t>
            </a:r>
          </a:p>
        </p:txBody>
      </p:sp>
      <p:sp>
        <p:nvSpPr>
          <p:cNvPr id="3" name="Content Placeholder 2">
            <a:extLst>
              <a:ext uri="{FF2B5EF4-FFF2-40B4-BE49-F238E27FC236}">
                <a16:creationId xmlns:a16="http://schemas.microsoft.com/office/drawing/2014/main" id="{41764CD8-1A86-7F41-BF28-CD89A699A75F}"/>
              </a:ext>
            </a:extLst>
          </p:cNvPr>
          <p:cNvSpPr>
            <a:spLocks noGrp="1"/>
          </p:cNvSpPr>
          <p:nvPr>
            <p:ph idx="1"/>
          </p:nvPr>
        </p:nvSpPr>
        <p:spPr>
          <a:xfrm>
            <a:off x="365760" y="875489"/>
            <a:ext cx="11369809" cy="3359054"/>
          </a:xfrm>
        </p:spPr>
        <p:txBody>
          <a:bodyPr/>
          <a:lstStyle/>
          <a:p>
            <a:r>
              <a:rPr lang="en-US" sz="2400" dirty="0"/>
              <a:t>Oberkampf, W., &amp; Roy, C. (2010). Verification and Validation in Scientific Computing. Cambridge: Cambridge University Press. doi:</a:t>
            </a:r>
            <a:r>
              <a:rPr lang="en-US" sz="2400" dirty="0">
                <a:hlinkClick r:id="rId3"/>
              </a:rPr>
              <a:t>10.1017/CBO9780511760396</a:t>
            </a:r>
            <a:endParaRPr lang="en-US" sz="2400" dirty="0"/>
          </a:p>
          <a:p>
            <a:r>
              <a:rPr lang="en-US" sz="2400" dirty="0"/>
              <a:t>Michael Feathers. 2004. Working Effectively with Legacy Code. Prentice Hall PTR, USA.</a:t>
            </a:r>
            <a:r>
              <a:rPr lang="en-US" dirty="0"/>
              <a:t> ISBN: </a:t>
            </a:r>
            <a:r>
              <a:rPr lang="en-US" dirty="0">
                <a:hlinkClick r:id="rId4"/>
              </a:rPr>
              <a:t>9780131177055</a:t>
            </a:r>
            <a:endParaRPr lang="en-US" dirty="0"/>
          </a:p>
          <a:p>
            <a:r>
              <a:rPr lang="en-US" dirty="0"/>
              <a:t>A Dubey, K </a:t>
            </a:r>
            <a:r>
              <a:rPr lang="en-US" dirty="0" err="1"/>
              <a:t>Weide</a:t>
            </a:r>
            <a:r>
              <a:rPr lang="en-US" dirty="0"/>
              <a:t>, D Lee, J </a:t>
            </a:r>
            <a:r>
              <a:rPr lang="en-US" dirty="0" err="1"/>
              <a:t>Bachan</a:t>
            </a:r>
            <a:r>
              <a:rPr lang="en-US" dirty="0"/>
              <a:t>, C Daley, S </a:t>
            </a:r>
            <a:r>
              <a:rPr lang="en-US" dirty="0" err="1"/>
              <a:t>Olofin</a:t>
            </a:r>
            <a:r>
              <a:rPr lang="en-US" dirty="0"/>
              <a:t>… - Ongoing Verification of a Multiphysics Community Code. Software: Practice and Experience, 2015 </a:t>
            </a:r>
            <a:r>
              <a:rPr lang="en-US" b="1" dirty="0">
                <a:hlinkClick r:id="rId5"/>
              </a:rPr>
              <a:t>https://doi.org/10.1002/spe.2220</a:t>
            </a:r>
            <a:endParaRPr lang="en-US" dirty="0"/>
          </a:p>
          <a:p>
            <a:pPr marL="0" indent="0">
              <a:buNone/>
            </a:pPr>
            <a:endParaRPr lang="en-US" sz="2400" dirty="0"/>
          </a:p>
        </p:txBody>
      </p:sp>
    </p:spTree>
    <p:extLst>
      <p:ext uri="{BB962C8B-B14F-4D97-AF65-F5344CB8AC3E}">
        <p14:creationId xmlns:p14="http://schemas.microsoft.com/office/powerpoint/2010/main" val="3193119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3107</TotalTime>
  <Words>4617</Words>
  <Application>Microsoft Office PowerPoint</Application>
  <PresentationFormat>Custom</PresentationFormat>
  <Paragraphs>482</Paragraphs>
  <Slides>42</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Arial Black</vt:lpstr>
      <vt:lpstr>Calibri</vt:lpstr>
      <vt:lpstr>Presentations (Wide Screen)</vt:lpstr>
      <vt:lpstr>Software Testing and Verification</vt:lpstr>
      <vt:lpstr>License, Citation and Acknowledgements</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Classes of Tests</vt:lpstr>
      <vt:lpstr>Test Driven Development</vt:lpstr>
      <vt:lpstr>What is Continuous Integration (CI)</vt:lpstr>
      <vt:lpstr>CI Components</vt:lpstr>
      <vt:lpstr>Test Driven Development vs. Automated Testing vs. CI</vt:lpstr>
      <vt:lpstr>Examples…</vt:lpstr>
      <vt:lpstr>What is CI Good For</vt:lpstr>
      <vt:lpstr>Building a Test-suite</vt:lpstr>
      <vt:lpstr>Building a Test-suite</vt:lpstr>
      <vt:lpstr>Building a Test-suite</vt:lpstr>
      <vt:lpstr>Example – Shock Hydrodynamics with Adaptive Mesh Refinement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How to build your test suite?</vt:lpstr>
      <vt:lpstr>How do we determine what tests are needed?</vt:lpstr>
      <vt:lpstr>Good Rules of Thumb</vt:lpstr>
      <vt:lpstr>Summary</vt:lpstr>
      <vt:lpstr>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431</cp:revision>
  <cp:lastPrinted>2017-11-02T18:35:01Z</cp:lastPrinted>
  <dcterms:created xsi:type="dcterms:W3CDTF">2018-11-06T17:28:56Z</dcterms:created>
  <dcterms:modified xsi:type="dcterms:W3CDTF">2026-08-02T19:33:21Z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