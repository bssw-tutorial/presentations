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1863"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12" d="100"/>
          <a:sy n="112" d="100"/>
        </p:scale>
        <p:origin x="944" y="200"/>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12" name="TextBox 11">
            <a:extLst>
              <a:ext uri="{FF2B5EF4-FFF2-40B4-BE49-F238E27FC236}">
                <a16:creationId xmlns:a16="http://schemas.microsoft.com/office/drawing/2014/main" id="{3F954870-C682-26B7-6FE5-E14F5B1F3B9B}"/>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5" name="TextBox 14">
            <a:extLst>
              <a:ext uri="{FF2B5EF4-FFF2-40B4-BE49-F238E27FC236}">
                <a16:creationId xmlns:a16="http://schemas.microsoft.com/office/drawing/2014/main" id="{6708AFC7-FBAA-23CD-9DDC-BA7CA1495AD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6" name="TextBox 15">
            <a:extLst>
              <a:ext uri="{FF2B5EF4-FFF2-40B4-BE49-F238E27FC236}">
                <a16:creationId xmlns:a16="http://schemas.microsoft.com/office/drawing/2014/main" id="{8379D1AE-343B-C08D-1D5F-ABE472F92F88}"/>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7" name="Group 16">
            <a:extLst>
              <a:ext uri="{FF2B5EF4-FFF2-40B4-BE49-F238E27FC236}">
                <a16:creationId xmlns:a16="http://schemas.microsoft.com/office/drawing/2014/main" id="{ABFC8ABA-61CA-72AF-2C7E-043247D8BC0C}"/>
              </a:ext>
            </a:extLst>
          </p:cNvPr>
          <p:cNvGrpSpPr/>
          <p:nvPr userDrawn="1"/>
        </p:nvGrpSpPr>
        <p:grpSpPr>
          <a:xfrm>
            <a:off x="355043" y="5027111"/>
            <a:ext cx="2237149" cy="457200"/>
            <a:chOff x="343050" y="5128711"/>
            <a:chExt cx="2237149" cy="457200"/>
          </a:xfrm>
        </p:grpSpPr>
        <p:pic>
          <p:nvPicPr>
            <p:cNvPr id="30" name="Picture 29">
              <a:extLst>
                <a:ext uri="{FF2B5EF4-FFF2-40B4-BE49-F238E27FC236}">
                  <a16:creationId xmlns:a16="http://schemas.microsoft.com/office/drawing/2014/main" id="{1E2AD0F6-10DC-98A5-79DD-C90240AE687E}"/>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1" name="Picture 30" descr="A picture containing shape&#10;&#10;Description automatically generated">
              <a:extLst>
                <a:ext uri="{FF2B5EF4-FFF2-40B4-BE49-F238E27FC236}">
                  <a16:creationId xmlns:a16="http://schemas.microsoft.com/office/drawing/2014/main" id="{2449CC7D-BD8C-7ECB-3C54-8F9BB82ED1E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4CEDAD68-C244-F1A3-ACEA-CC6BE37C9A69}"/>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054F6C39-D707-3C5E-5357-EFF942E48140}"/>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5906AE25-5C39-2699-F82C-559E99E2457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B7CA6173-4E66-4B0F-273D-245D55166A2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D2DFED4-FFF4-DDD0-F917-1FE13B5BDF9C}"/>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57197297-ED07-DD11-659C-28F4C7BA884D}"/>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896C00E6-3EB5-4AA8-585B-0788D437BE8D}"/>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D2507DA-E5C9-455D-8769-6257BF6CD242}"/>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BBBA8FC1-5600-D5CB-3550-4FC4661BAB0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B35CC12-9BDD-9DD3-0009-F125F666D82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34DDD4AC-A056-690A-9D6A-65B8CD12FAD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F714F1F5-2AF0-B278-24B9-83A736A0BE78}"/>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4EEEF1CD-D59F-3F41-2F4A-95BE432C2C2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DB5E97AC-9256-B437-B430-EEB938D83972}"/>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405E1179-15AE-97A9-3ADA-68F85E920A12}"/>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24092C08-E508-914A-7E4F-BCB6C203CED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0A5D376-C949-F2EF-C385-29ECA8E8009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FD9C9035-C5E2-2D84-B0DF-753E437CAC5B}"/>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B175C86-8C98-0550-F1E7-99ED5AD5A83B}"/>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C31673-7F70-63B4-CAB3-78103A0E10E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1.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5.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3.xml"/><Relationship Id="rId4" Type="http://schemas.openxmlformats.org/officeDocument/2006/relationships/image" Target="../media/image19.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20.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816001" y="2134517"/>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Argonne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Better Software for Reproducible Science tutorial @ SCA/HPC-Asia 2026 Conferenc</a:t>
            </a:r>
            <a:r>
              <a:rPr lang="en-US" dirty="0">
                <a:solidFill>
                  <a:srgbClr val="111111"/>
                </a:solidFill>
              </a:rPr>
              <a:t>e, Osaka</a:t>
            </a:r>
            <a:r>
              <a:rPr lang="en-US">
                <a:solidFill>
                  <a:srgbClr val="111111"/>
                </a:solidFill>
              </a:rPr>
              <a:t>, Japan</a:t>
            </a:r>
            <a:endParaRPr lang="en-US" sz="2000" b="0" i="0" dirty="0">
              <a:solidFill>
                <a:srgbClr val="111111"/>
              </a:solidFill>
              <a:effectLst/>
              <a:latin typeface="+mn-lt"/>
            </a:endParaRP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a:t>) programs</a:t>
            </a:r>
            <a:r>
              <a:rPr lang="en-US" sz="1400" dirty="0"/>
              <a:t>.</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Reproducibility</a:t>
            </a:r>
          </a:p>
          <a:p>
            <a:pPr lvl="1"/>
            <a:r>
              <a:rPr lang="en-US" dirty="0"/>
              <a:t>Designing software for flexibility and extensibility</a:t>
            </a:r>
          </a:p>
          <a:p>
            <a:pPr lvl="1"/>
            <a:r>
              <a:rPr lang="en-US" dirty="0"/>
              <a:t>Testing strategies for complex high-performance computing software</a:t>
            </a:r>
          </a:p>
          <a:p>
            <a:pPr lvl="1"/>
            <a:r>
              <a:rPr lang="en-US" dirty="0"/>
              <a:t>Refactoring scientific software</a:t>
            </a:r>
          </a:p>
          <a:p>
            <a:pPr lvl="1"/>
            <a:r>
              <a:rPr lang="en-US" dirty="0"/>
              <a:t>Use of LLMs in scientific software coding tasks</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3109</TotalTime>
  <Words>3791</Words>
  <Application>Microsoft Macintosh PowerPoint</Application>
  <PresentationFormat>Custom</PresentationFormat>
  <Paragraphs>350</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476</cp:revision>
  <cp:lastPrinted>2017-11-02T18:35:01Z</cp:lastPrinted>
  <dcterms:created xsi:type="dcterms:W3CDTF">2018-11-06T17:28:56Z</dcterms:created>
  <dcterms:modified xsi:type="dcterms:W3CDTF">2025-12-02T22:24:14Z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