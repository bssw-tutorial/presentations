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1863"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39" name="Picture 38">
            <a:extLst>
              <a:ext uri="{FF2B5EF4-FFF2-40B4-BE49-F238E27FC236}">
                <a16:creationId xmlns:a16="http://schemas.microsoft.com/office/drawing/2014/main" id="{51935EF4-178D-44D6-4B7D-24F69985C1CF}"/>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40" name="TextBox 39">
            <a:extLst>
              <a:ext uri="{FF2B5EF4-FFF2-40B4-BE49-F238E27FC236}">
                <a16:creationId xmlns:a16="http://schemas.microsoft.com/office/drawing/2014/main" id="{74918F9C-3629-6809-9AA8-7E7844225048}"/>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41" name="TextBox 40">
            <a:extLst>
              <a:ext uri="{FF2B5EF4-FFF2-40B4-BE49-F238E27FC236}">
                <a16:creationId xmlns:a16="http://schemas.microsoft.com/office/drawing/2014/main" id="{B764AD3E-82AC-BA71-BFAE-4F2D5228B58C}"/>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42" name="TextBox 41">
            <a:extLst>
              <a:ext uri="{FF2B5EF4-FFF2-40B4-BE49-F238E27FC236}">
                <a16:creationId xmlns:a16="http://schemas.microsoft.com/office/drawing/2014/main" id="{7B2BFBD3-2A3F-3491-AE35-C48CB2EE1259}"/>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43" name="Group 42">
            <a:extLst>
              <a:ext uri="{FF2B5EF4-FFF2-40B4-BE49-F238E27FC236}">
                <a16:creationId xmlns:a16="http://schemas.microsoft.com/office/drawing/2014/main" id="{F4848D1F-CB11-C95C-E085-662702BD1EB5}"/>
              </a:ext>
            </a:extLst>
          </p:cNvPr>
          <p:cNvGrpSpPr/>
          <p:nvPr userDrawn="1"/>
        </p:nvGrpSpPr>
        <p:grpSpPr>
          <a:xfrm>
            <a:off x="232445" y="5027111"/>
            <a:ext cx="2237149" cy="457200"/>
            <a:chOff x="343050" y="5128711"/>
            <a:chExt cx="2237149" cy="457200"/>
          </a:xfrm>
        </p:grpSpPr>
        <p:pic>
          <p:nvPicPr>
            <p:cNvPr id="44" name="Picture 43">
              <a:extLst>
                <a:ext uri="{FF2B5EF4-FFF2-40B4-BE49-F238E27FC236}">
                  <a16:creationId xmlns:a16="http://schemas.microsoft.com/office/drawing/2014/main" id="{30605FD7-94FE-67F6-D66E-F7A7DF78FBC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45" name="Picture 44" descr="A picture containing shape&#10;&#10;Description automatically generated">
              <a:extLst>
                <a:ext uri="{FF2B5EF4-FFF2-40B4-BE49-F238E27FC236}">
                  <a16:creationId xmlns:a16="http://schemas.microsoft.com/office/drawing/2014/main" id="{0C1990C9-EB52-3C9A-245A-50CBF8115FE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46" name="Picture 2" descr="A picture containing graphics, logo, font, symbol&#10;&#10;Description automatically generated">
            <a:extLst>
              <a:ext uri="{FF2B5EF4-FFF2-40B4-BE49-F238E27FC236}">
                <a16:creationId xmlns:a16="http://schemas.microsoft.com/office/drawing/2014/main" id="{5307E9F5-7E2B-FD8A-CC67-0E7B95B4B37D}"/>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47" name="TextBox 46">
            <a:extLst>
              <a:ext uri="{FF2B5EF4-FFF2-40B4-BE49-F238E27FC236}">
                <a16:creationId xmlns:a16="http://schemas.microsoft.com/office/drawing/2014/main" id="{12BD9802-276C-70F8-0450-87F61091670A}"/>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48" name="TextBox 47">
            <a:extLst>
              <a:ext uri="{FF2B5EF4-FFF2-40B4-BE49-F238E27FC236}">
                <a16:creationId xmlns:a16="http://schemas.microsoft.com/office/drawing/2014/main" id="{0DCFA416-C1FC-C7D7-AA8B-47D3522F5C28}"/>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49" name="Picture 48" descr="A picture containing arrow&#10;&#10;AI-generated content may be incorrect.">
            <a:extLst>
              <a:ext uri="{FF2B5EF4-FFF2-40B4-BE49-F238E27FC236}">
                <a16:creationId xmlns:a16="http://schemas.microsoft.com/office/drawing/2014/main" id="{BBC3DFB2-1E4B-59CB-58DE-14ACE4F01EF7}"/>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0CA6E43C-9F87-C86D-A76D-A8F81B4B652B}"/>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5249B28E-F953-42E3-3FF3-10DBAD389DB0}"/>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26B1F13B-DB34-8E09-8886-D65B25DDCA8B}"/>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CF7400E1-CF65-0807-2769-C568A13015C6}"/>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2F98E142-1030-AEF2-4514-C348DAB76F27}"/>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3A590056-0CFC-F443-E68E-C1CFA114ABC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B0B7B05E-4A9D-FFF5-786C-E5B7D97CC18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A09466AB-F88B-AD1D-7763-A151D1C25951}"/>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F01A4ABF-6FC0-4B72-D8A5-4A3E69EFE214}"/>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6DB022F4-F380-6EEB-273E-37FC41233A38}"/>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5E4E7A72-5673-B174-7A06-800610621F29}"/>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1.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0.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4.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tiff"/><Relationship Id="rId1" Type="http://schemas.openxmlformats.org/officeDocument/2006/relationships/slideLayout" Target="../slideLayouts/slideLayout3.xml"/><Relationship Id="rId4" Type="http://schemas.openxmlformats.org/officeDocument/2006/relationships/image" Target="../media/image18.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19.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909437"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2972888"/>
            <a:ext cx="8292316" cy="646331"/>
          </a:xfrm>
        </p:spPr>
        <p:txBody>
          <a:bodyPr/>
          <a:lstStyle/>
          <a:p>
            <a:pPr>
              <a:spcBef>
                <a:spcPts val="2800"/>
              </a:spcBef>
            </a:pPr>
            <a:r>
              <a:rPr lang="en-US" dirty="0"/>
              <a:t>Software Sustainability track @ Argonne Training Program on Extreme-Scale Computing summer school</a:t>
            </a:r>
            <a:endParaRPr lang="en-US" sz="2000" b="0" i="0" dirty="0">
              <a:solidFill>
                <a:srgbClr val="111111"/>
              </a:solidFill>
              <a:effectLst/>
              <a:latin typeface="+mn-lt"/>
            </a:endParaRP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dirty="0"/>
              <a:t>					</a:t>
            </a: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Designing software for flexibility and extensibility</a:t>
            </a:r>
          </a:p>
          <a:p>
            <a:pPr lvl="1"/>
            <a:r>
              <a:rPr lang="en-US" dirty="0"/>
              <a:t>Testing strategies for complex high-performance computing software</a:t>
            </a:r>
          </a:p>
          <a:p>
            <a:pPr lvl="1"/>
            <a:r>
              <a:rPr lang="en-US" dirty="0"/>
              <a:t>Refactoring scientific software</a:t>
            </a:r>
          </a:p>
          <a:p>
            <a:pPr lvl="1"/>
            <a:r>
              <a:rPr lang="en-US" dirty="0"/>
              <a:t>Reproducibility</a:t>
            </a:r>
          </a:p>
          <a:p>
            <a:pPr lvl="1"/>
            <a:r>
              <a:rPr lang="en-US" dirty="0"/>
              <a:t>Use of LLMs in scientific software coding tasks</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3124</TotalTime>
  <Words>3780</Words>
  <Application>Microsoft Office PowerPoint</Application>
  <PresentationFormat>Custom</PresentationFormat>
  <Paragraphs>350</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484</cp:revision>
  <cp:lastPrinted>2017-11-02T18:35:01Z</cp:lastPrinted>
  <dcterms:created xsi:type="dcterms:W3CDTF">2018-11-06T17:28:56Z</dcterms:created>
  <dcterms:modified xsi:type="dcterms:W3CDTF">2026-08-02T18:39:36Z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