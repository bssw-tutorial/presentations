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1"/>
  </p:notesMasterIdLst>
  <p:handoutMasterIdLst>
    <p:handoutMasterId r:id="rId32"/>
  </p:handoutMasterIdLst>
  <p:sldIdLst>
    <p:sldId id="1859" r:id="rId5"/>
    <p:sldId id="320" r:id="rId6"/>
    <p:sldId id="1819" r:id="rId7"/>
    <p:sldId id="325" r:id="rId8"/>
    <p:sldId id="1821" r:id="rId9"/>
    <p:sldId id="1822" r:id="rId10"/>
    <p:sldId id="1840" r:id="rId11"/>
    <p:sldId id="1841" r:id="rId12"/>
    <p:sldId id="1842" r:id="rId13"/>
    <p:sldId id="1843" r:id="rId14"/>
    <p:sldId id="1824" r:id="rId15"/>
    <p:sldId id="1846" r:id="rId16"/>
    <p:sldId id="1823" r:id="rId17"/>
    <p:sldId id="1820" r:id="rId18"/>
    <p:sldId id="1848" r:id="rId19"/>
    <p:sldId id="1849" r:id="rId20"/>
    <p:sldId id="1850" r:id="rId21"/>
    <p:sldId id="1851" r:id="rId22"/>
    <p:sldId id="1852" r:id="rId23"/>
    <p:sldId id="1855" r:id="rId24"/>
    <p:sldId id="1854" r:id="rId25"/>
    <p:sldId id="1862" r:id="rId26"/>
    <p:sldId id="1856" r:id="rId27"/>
    <p:sldId id="1857" r:id="rId28"/>
    <p:sldId id="1845" r:id="rId29"/>
    <p:sldId id="1858" r:id="rId3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p:scale>
          <a:sx n="126" d="100"/>
          <a:sy n="126" d="100"/>
        </p:scale>
        <p:origin x="366" y="138"/>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1/22/2026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1/22/2026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 message</a:t>
            </a:r>
          </a:p>
        </p:txBody>
      </p:sp>
      <p:sp>
        <p:nvSpPr>
          <p:cNvPr id="4" name="Slide Number Placeholder 3"/>
          <p:cNvSpPr>
            <a:spLocks noGrp="1"/>
          </p:cNvSpPr>
          <p:nvPr>
            <p:ph type="sldNum" sz="quarter" idx="5"/>
          </p:nvPr>
        </p:nvSpPr>
        <p:spPr/>
        <p:txBody>
          <a:bodyPr/>
          <a:lstStyle/>
          <a:p>
            <a:fld id="{54E672D7-8E2D-4611-973D-F4591A707C34}" type="slidenum">
              <a:rPr lang="en-US" smtClean="0"/>
              <a:t>3</a:t>
            </a:fld>
            <a:endParaRPr lang="en-US"/>
          </a:p>
        </p:txBody>
      </p:sp>
    </p:spTree>
    <p:extLst>
      <p:ext uri="{BB962C8B-B14F-4D97-AF65-F5344CB8AC3E}">
        <p14:creationId xmlns:p14="http://schemas.microsoft.com/office/powerpoint/2010/main" val="4262156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Numerical models</a:t>
            </a:r>
          </a:p>
        </p:txBody>
      </p:sp>
      <p:sp>
        <p:nvSpPr>
          <p:cNvPr id="4" name="Slide Number Placeholder 3"/>
          <p:cNvSpPr>
            <a:spLocks noGrp="1"/>
          </p:cNvSpPr>
          <p:nvPr>
            <p:ph type="sldNum" sz="quarter" idx="10"/>
          </p:nvPr>
        </p:nvSpPr>
        <p:spPr/>
        <p:txBody>
          <a:bodyPr/>
          <a:lstStyle/>
          <a:p>
            <a:fld id="{54E672D7-8E2D-4611-973D-F4591A707C34}" type="slidenum">
              <a:rPr lang="en-US" smtClean="0"/>
              <a:t>4</a:t>
            </a:fld>
            <a:endParaRPr lang="en-US"/>
          </a:p>
        </p:txBody>
      </p:sp>
    </p:spTree>
    <p:extLst>
      <p:ext uri="{BB962C8B-B14F-4D97-AF65-F5344CB8AC3E}">
        <p14:creationId xmlns:p14="http://schemas.microsoft.com/office/powerpoint/2010/main" val="16860029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BG/L</a:t>
            </a:r>
          </a:p>
          <a:p>
            <a:r>
              <a:rPr lang="en-US" dirty="0"/>
              <a:t>This was not even a</a:t>
            </a:r>
            <a:r>
              <a:rPr lang="en-US" baseline="0" dirty="0"/>
              <a:t> situation like retracting results </a:t>
            </a:r>
            <a:endParaRPr lang="en-US" dirty="0"/>
          </a:p>
        </p:txBody>
      </p:sp>
      <p:sp>
        <p:nvSpPr>
          <p:cNvPr id="4" name="Slide Number Placeholder 3"/>
          <p:cNvSpPr>
            <a:spLocks noGrp="1"/>
          </p:cNvSpPr>
          <p:nvPr>
            <p:ph type="sldNum" sz="quarter" idx="10"/>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1019170940"/>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8" name="Picture 7">
            <a:extLst>
              <a:ext uri="{FF2B5EF4-FFF2-40B4-BE49-F238E27FC236}">
                <a16:creationId xmlns:a16="http://schemas.microsoft.com/office/drawing/2014/main" id="{80966B56-FE91-7E43-C245-5C5A7A2A9D4D}"/>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12" name="TextBox 11">
            <a:extLst>
              <a:ext uri="{FF2B5EF4-FFF2-40B4-BE49-F238E27FC236}">
                <a16:creationId xmlns:a16="http://schemas.microsoft.com/office/drawing/2014/main" id="{3F954870-C682-26B7-6FE5-E14F5B1F3B9B}"/>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5" name="TextBox 14">
            <a:extLst>
              <a:ext uri="{FF2B5EF4-FFF2-40B4-BE49-F238E27FC236}">
                <a16:creationId xmlns:a16="http://schemas.microsoft.com/office/drawing/2014/main" id="{6708AFC7-FBAA-23CD-9DDC-BA7CA1495ADE}"/>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6" name="TextBox 15">
            <a:extLst>
              <a:ext uri="{FF2B5EF4-FFF2-40B4-BE49-F238E27FC236}">
                <a16:creationId xmlns:a16="http://schemas.microsoft.com/office/drawing/2014/main" id="{8379D1AE-343B-C08D-1D5F-ABE472F92F88}"/>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7" name="Group 16">
            <a:extLst>
              <a:ext uri="{FF2B5EF4-FFF2-40B4-BE49-F238E27FC236}">
                <a16:creationId xmlns:a16="http://schemas.microsoft.com/office/drawing/2014/main" id="{ABFC8ABA-61CA-72AF-2C7E-043247D8BC0C}"/>
              </a:ext>
            </a:extLst>
          </p:cNvPr>
          <p:cNvGrpSpPr/>
          <p:nvPr userDrawn="1"/>
        </p:nvGrpSpPr>
        <p:grpSpPr>
          <a:xfrm>
            <a:off x="355043" y="5027111"/>
            <a:ext cx="2237149" cy="457200"/>
            <a:chOff x="343050" y="5128711"/>
            <a:chExt cx="2237149" cy="457200"/>
          </a:xfrm>
        </p:grpSpPr>
        <p:pic>
          <p:nvPicPr>
            <p:cNvPr id="30" name="Picture 29">
              <a:extLst>
                <a:ext uri="{FF2B5EF4-FFF2-40B4-BE49-F238E27FC236}">
                  <a16:creationId xmlns:a16="http://schemas.microsoft.com/office/drawing/2014/main" id="{1E2AD0F6-10DC-98A5-79DD-C90240AE687E}"/>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1" name="Picture 30" descr="A picture containing shape&#10;&#10;Description automatically generated">
              <a:extLst>
                <a:ext uri="{FF2B5EF4-FFF2-40B4-BE49-F238E27FC236}">
                  <a16:creationId xmlns:a16="http://schemas.microsoft.com/office/drawing/2014/main" id="{2449CC7D-BD8C-7ECB-3C54-8F9BB82ED1E3}"/>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4CEDAD68-C244-F1A3-ACEA-CC6BE37C9A69}"/>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054F6C39-D707-3C5E-5357-EFF942E48140}"/>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5906AE25-5C39-2699-F82C-559E99E2457A}"/>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B7CA6173-4E66-4B0F-273D-245D55166A2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FD2DFED4-FFF4-DDD0-F917-1FE13B5BDF9C}"/>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57197297-ED07-DD11-659C-28F4C7BA884D}"/>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896C00E6-3EB5-4AA8-585B-0788D437BE8D}"/>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7690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2D2507DA-E5C9-455D-8769-6257BF6CD242}"/>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BBBA8FC1-5600-D5CB-3550-4FC4661BAB08}"/>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8B35CC12-9BDD-9DD3-0009-F125F666D82A}"/>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34DDD4AC-A056-690A-9D6A-65B8CD12FAD1}"/>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F714F1F5-2AF0-B278-24B9-83A736A0BE78}"/>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4EEEF1CD-D59F-3F41-2F4A-95BE432C2C2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DB5E97AC-9256-B437-B430-EEB938D83972}"/>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405E1179-15AE-97A9-3ADA-68F85E920A12}"/>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24092C08-E508-914A-7E4F-BCB6C203CEDA}"/>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D0A5D376-C949-F2EF-C385-29ECA8E80095}"/>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FD9C9035-C5E2-2D84-B0DF-753E437CAC5B}"/>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B175C86-8C98-0550-F1E7-99ED5AD5A83B}"/>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80C31673-7F70-63B4-CAB3-78103A0E10E1}"/>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10712584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2"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1130062"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2.jpg"/><Relationship Id="rId7" Type="http://schemas.openxmlformats.org/officeDocument/2006/relationships/hyperlink" Target="https://www.nicholaslewis.org/imperial-college-uk-covid-19-numbers-dont-seem-to-add-up/" TargetMode="External"/><Relationship Id="rId2" Type="http://schemas.openxmlformats.org/officeDocument/2006/relationships/image" Target="../media/image11.jpg"/><Relationship Id="rId1" Type="http://schemas.openxmlformats.org/officeDocument/2006/relationships/slideLayout" Target="../slideLayouts/slideLayout4.xml"/><Relationship Id="rId6" Type="http://schemas.openxmlformats.org/officeDocument/2006/relationships/hyperlink" Target="https://www.nature.com/articles/d41586-020-01003-6" TargetMode="External"/><Relationship Id="rId5" Type="http://schemas.openxmlformats.org/officeDocument/2006/relationships/hyperlink" Target="https://doi.org/10.25561/77482" TargetMode="Externa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3" Type="http://schemas.openxmlformats.org/officeDocument/2006/relationships/hyperlink" Target="https://www.telegraph.co.uk/technology/2020/05/16/coding-led-lockdown-totally-unreliable-buggy-mess-say-experts/" TargetMode="External"/><Relationship Id="rId2" Type="http://schemas.openxmlformats.org/officeDocument/2006/relationships/hyperlink" Target="https://www.foxnews.com/world/imperial-college-britain-coronavirus-lockdown-buggy-mess-unreliable"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hyperlink" Target="https://philbull.wordpress.com/2020/05/10/why-you-can-ignore-reviews-of-scientific-code-by-commercial-software-developers/amp/" TargetMode="External"/><Relationship Id="rId2" Type="http://schemas.openxmlformats.org/officeDocument/2006/relationships/hyperlink" Target="https://github.com/mrc-ide/covid-sim/" TargetMode="External"/><Relationship Id="rId1" Type="http://schemas.openxmlformats.org/officeDocument/2006/relationships/slideLayout" Target="../slideLayouts/slideLayout4.xml"/><Relationship Id="rId5" Type="http://schemas.openxmlformats.org/officeDocument/2006/relationships/image" Target="../media/image15.jpg"/><Relationship Id="rId4" Type="http://schemas.openxmlformats.org/officeDocument/2006/relationships/hyperlink" Target="http://doi.org/10.5281/zenodo.386549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tiff"/><Relationship Id="rId1" Type="http://schemas.openxmlformats.org/officeDocument/2006/relationships/slideLayout" Target="../slideLayouts/slideLayout3.xml"/><Relationship Id="rId4" Type="http://schemas.openxmlformats.org/officeDocument/2006/relationships/image" Target="../media/image19.tif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www.bestpractices.dev/en"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hyperlink" Target="https://doi.org/10.1109/MCSE.2023.3259259"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hyperlink" Target="https://bssw-psip.github.io/ptc-catalog/catalog" TargetMode="External"/><Relationship Id="rId2" Type="http://schemas.openxmlformats.org/officeDocument/2006/relationships/hyperlink" Target="https://rateyourproject.org/" TargetMode="External"/><Relationship Id="rId1" Type="http://schemas.openxmlformats.org/officeDocument/2006/relationships/slideLayout" Target="../slideLayouts/slideLayout3.xml"/><Relationship Id="rId6" Type="http://schemas.openxmlformats.org/officeDocument/2006/relationships/hyperlink" Target="ttps://bssw.io/" TargetMode="External"/><Relationship Id="rId5" Type="http://schemas.openxmlformats.org/officeDocument/2006/relationships/image" Target="../media/image20.png"/><Relationship Id="rId4" Type="http://schemas.openxmlformats.org/officeDocument/2006/relationships/hyperlink" Target="https://bssw.io/psip"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DD424-A667-46AE-4FD2-92C429F03955}"/>
              </a:ext>
            </a:extLst>
          </p:cNvPr>
          <p:cNvSpPr>
            <a:spLocks noGrp="1"/>
          </p:cNvSpPr>
          <p:nvPr>
            <p:ph type="ctrTitle"/>
          </p:nvPr>
        </p:nvSpPr>
        <p:spPr/>
        <p:txBody>
          <a:bodyPr/>
          <a:lstStyle/>
          <a:p>
            <a:r>
              <a:rPr lang="en-US" dirty="0"/>
              <a:t>Motivation and Overview of Best Practices in HPC Software Development</a:t>
            </a:r>
          </a:p>
        </p:txBody>
      </p:sp>
      <p:sp>
        <p:nvSpPr>
          <p:cNvPr id="4" name="Text Placeholder 3">
            <a:extLst>
              <a:ext uri="{FF2B5EF4-FFF2-40B4-BE49-F238E27FC236}">
                <a16:creationId xmlns:a16="http://schemas.microsoft.com/office/drawing/2014/main" id="{8E36A7A1-F680-92C6-F3A1-5D7F255B135E}"/>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5" name="Text Placeholder 4">
            <a:extLst>
              <a:ext uri="{FF2B5EF4-FFF2-40B4-BE49-F238E27FC236}">
                <a16:creationId xmlns:a16="http://schemas.microsoft.com/office/drawing/2014/main" id="{1EA6297E-8D90-11A0-FC14-35A285467E5A}"/>
              </a:ext>
            </a:extLst>
          </p:cNvPr>
          <p:cNvSpPr>
            <a:spLocks noGrp="1"/>
          </p:cNvSpPr>
          <p:nvPr>
            <p:ph type="body" sz="quarter" idx="12"/>
          </p:nvPr>
        </p:nvSpPr>
        <p:spPr>
          <a:xfrm>
            <a:off x="5188770" y="2134517"/>
            <a:ext cx="1690167" cy="376085"/>
          </a:xfrm>
        </p:spPr>
        <p:txBody>
          <a:bodyPr/>
          <a:lstStyle/>
          <a:p>
            <a:r>
              <a:rPr lang="en-US" dirty="0"/>
              <a:t>(she/her)</a:t>
            </a:r>
          </a:p>
        </p:txBody>
      </p:sp>
      <p:sp>
        <p:nvSpPr>
          <p:cNvPr id="6" name="Text Placeholder 5">
            <a:extLst>
              <a:ext uri="{FF2B5EF4-FFF2-40B4-BE49-F238E27FC236}">
                <a16:creationId xmlns:a16="http://schemas.microsoft.com/office/drawing/2014/main" id="{D3C34BE2-2AC9-6E78-5645-4833849B1A63}"/>
              </a:ext>
            </a:extLst>
          </p:cNvPr>
          <p:cNvSpPr>
            <a:spLocks noGrp="1"/>
          </p:cNvSpPr>
          <p:nvPr>
            <p:ph type="body" sz="quarter" idx="13"/>
          </p:nvPr>
        </p:nvSpPr>
        <p:spPr/>
        <p:txBody>
          <a:bodyPr/>
          <a:lstStyle/>
          <a:p>
            <a:r>
              <a:rPr lang="en-US" dirty="0"/>
              <a:t>Argonne National Laboratory</a:t>
            </a:r>
          </a:p>
        </p:txBody>
      </p:sp>
      <p:sp>
        <p:nvSpPr>
          <p:cNvPr id="7" name="Text Placeholder 6">
            <a:extLst>
              <a:ext uri="{FF2B5EF4-FFF2-40B4-BE49-F238E27FC236}">
                <a16:creationId xmlns:a16="http://schemas.microsoft.com/office/drawing/2014/main" id="{FEC7102F-7E34-103F-335F-B318D257216D}"/>
              </a:ext>
            </a:extLst>
          </p:cNvPr>
          <p:cNvSpPr>
            <a:spLocks noGrp="1"/>
          </p:cNvSpPr>
          <p:nvPr>
            <p:ph type="body" sz="quarter" idx="14"/>
          </p:nvPr>
        </p:nvSpPr>
        <p:spPr>
          <a:xfrm>
            <a:off x="3176925" y="2972888"/>
            <a:ext cx="8292316" cy="1200329"/>
          </a:xfrm>
        </p:spPr>
        <p:txBody>
          <a:bodyPr/>
          <a:lstStyle/>
          <a:p>
            <a:pPr>
              <a:spcBef>
                <a:spcPts val="2800"/>
              </a:spcBef>
            </a:pPr>
            <a:r>
              <a:rPr lang="en-US" dirty="0"/>
              <a:t>Better Software for Science with High-Performance Computing tutorial @ </a:t>
            </a:r>
            <a:r>
              <a:rPr lang="en-US" dirty="0" err="1"/>
              <a:t>SupercomputingAsia</a:t>
            </a:r>
            <a:r>
              <a:rPr lang="en-US" dirty="0"/>
              <a:t> 2026 (SCA 2026)/The International Conference on High Performance Computing in Asia-Pacific Region 2026 (</a:t>
            </a:r>
            <a:r>
              <a:rPr lang="en-US" dirty="0" err="1"/>
              <a:t>HPCAsia</a:t>
            </a:r>
            <a:r>
              <a:rPr lang="en-US" dirty="0"/>
              <a:t> 2026) conference</a:t>
            </a:r>
            <a:endParaRPr lang="en-US" sz="2000" b="0" i="0" dirty="0">
              <a:solidFill>
                <a:srgbClr val="111111"/>
              </a:solidFill>
              <a:effectLst/>
              <a:latin typeface="+mn-lt"/>
            </a:endParaRPr>
          </a:p>
        </p:txBody>
      </p:sp>
      <p:sp>
        <p:nvSpPr>
          <p:cNvPr id="8" name="Text Placeholder 7">
            <a:extLst>
              <a:ext uri="{FF2B5EF4-FFF2-40B4-BE49-F238E27FC236}">
                <a16:creationId xmlns:a16="http://schemas.microsoft.com/office/drawing/2014/main" id="{E95D1AF7-A6BA-7684-426F-60FFD7CB9E17}"/>
              </a:ext>
            </a:extLst>
          </p:cNvPr>
          <p:cNvSpPr>
            <a:spLocks noGrp="1"/>
          </p:cNvSpPr>
          <p:nvPr>
            <p:ph type="body" sz="quarter" idx="15"/>
          </p:nvPr>
        </p:nvSpPr>
        <p:spPr>
          <a:xfrm>
            <a:off x="3176924" y="4257408"/>
            <a:ext cx="8292316" cy="923330"/>
          </a:xfrm>
        </p:spPr>
        <p:txBody>
          <a:bodyPr/>
          <a:lstStyle/>
          <a:p>
            <a:r>
              <a:rPr lang="en-US" sz="2000" dirty="0"/>
              <a:t>Contributors: David E. Bernholdt (ORNL), Anshu Dubey (ANL), Patricia A. Grubel (LANL), Rinku K. Gupta (ANL), Katherine M. Riley (ANL), David M. Rogers (ORNL)</a:t>
            </a:r>
            <a:r>
              <a:rPr lang="en-US" dirty="0"/>
              <a:t>, Gregory R. </a:t>
            </a:r>
            <a:r>
              <a:rPr lang="en-US"/>
              <a:t>Watson (ORNL)</a:t>
            </a:r>
            <a:endParaRPr lang="en-US" sz="2000" dirty="0"/>
          </a:p>
        </p:txBody>
      </p:sp>
      <p:sp>
        <p:nvSpPr>
          <p:cNvPr id="10" name="Text Placeholder 9">
            <a:extLst>
              <a:ext uri="{FF2B5EF4-FFF2-40B4-BE49-F238E27FC236}">
                <a16:creationId xmlns:a16="http://schemas.microsoft.com/office/drawing/2014/main" id="{7BC551D1-A9E0-FE59-9346-863EA304E483}"/>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1887062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and Akash Dhruv, Better Software for Science with High-Performance Computing tutorial, in </a:t>
            </a:r>
            <a:r>
              <a:rPr lang="en-US" sz="1600" dirty="0" err="1"/>
              <a:t>SupercomputingAsia</a:t>
            </a:r>
            <a:r>
              <a:rPr lang="en-US" sz="1600" dirty="0"/>
              <a:t> 2026 (SCA 2026)/The International Conference on High Performance Computing in Asia-Pacific Region 2026 (</a:t>
            </a:r>
            <a:r>
              <a:rPr lang="en-US" sz="1600" dirty="0" err="1"/>
              <a:t>HPCAsia</a:t>
            </a:r>
            <a:r>
              <a:rPr lang="en-US" sz="1600" dirty="0"/>
              <a:t> 2026), Osaka, Japan, 2026. DOI: </a:t>
            </a:r>
            <a:r>
              <a:rPr lang="en-US" sz="1600" dirty="0">
                <a:hlinkClick r:id="rId4"/>
              </a:rPr>
              <a:t>10.6084/m9.figshare.31130062</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2685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42292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8238594" cy="914400"/>
          </a:xfrm>
        </p:spPr>
        <p:txBody>
          <a:bodyPr/>
          <a:lstStyle/>
          <a:p>
            <a:r>
              <a:rPr lang="en-US" dirty="0"/>
              <a:t>The Success of Computational Science Creates the Challenges of Computational Science</a:t>
            </a:r>
          </a:p>
        </p:txBody>
      </p:sp>
      <p:sp>
        <p:nvSpPr>
          <p:cNvPr id="3" name="Content Placeholder 2"/>
          <p:cNvSpPr>
            <a:spLocks noGrp="1"/>
          </p:cNvSpPr>
          <p:nvPr>
            <p:ph idx="1"/>
          </p:nvPr>
        </p:nvSpPr>
        <p:spPr>
          <a:xfrm>
            <a:off x="365760" y="1362920"/>
            <a:ext cx="10984728" cy="4050385"/>
          </a:xfrm>
        </p:spPr>
        <p:txBody>
          <a:bodyPr>
            <a:normAutofit lnSpcReduction="10000"/>
          </a:bodyPr>
          <a:lstStyle/>
          <a:p>
            <a:r>
              <a:rPr lang="en-US" dirty="0"/>
              <a:t>Positive feedback loop</a:t>
            </a:r>
          </a:p>
          <a:p>
            <a:pPr lvl="1"/>
            <a:r>
              <a:rPr lang="en-US" dirty="0"/>
              <a:t>More complex codes, simulations </a:t>
            </a:r>
            <a:br>
              <a:rPr lang="en-US" dirty="0"/>
            </a:br>
            <a:r>
              <a:rPr lang="en-US" dirty="0"/>
              <a:t>and analysis</a:t>
            </a:r>
          </a:p>
          <a:p>
            <a:pPr lvl="1"/>
            <a:r>
              <a:rPr lang="en-US" dirty="0"/>
              <a:t>More moving parts that need to interoperate</a:t>
            </a:r>
          </a:p>
          <a:p>
            <a:pPr lvl="1"/>
            <a:r>
              <a:rPr lang="en-US" dirty="0"/>
              <a:t>Variety of expertise needed – the only tractable </a:t>
            </a:r>
            <a:br>
              <a:rPr lang="en-US" dirty="0"/>
            </a:br>
            <a:r>
              <a:rPr lang="en-US" dirty="0"/>
              <a:t>development model is through </a:t>
            </a:r>
            <a:r>
              <a:rPr lang="en-US" b="1" dirty="0"/>
              <a:t>separation of concerns</a:t>
            </a:r>
          </a:p>
          <a:p>
            <a:pPr lvl="1"/>
            <a:r>
              <a:rPr lang="en-US" b="1" dirty="0">
                <a:solidFill>
                  <a:schemeClr val="tx2"/>
                </a:solidFill>
              </a:rPr>
              <a:t>It is more difficult to work on the same software in different roles without a software engineering process</a:t>
            </a:r>
            <a:endParaRPr lang="en-US" dirty="0">
              <a:solidFill>
                <a:schemeClr val="tx2"/>
              </a:solidFill>
            </a:endParaRPr>
          </a:p>
          <a:p>
            <a:r>
              <a:rPr lang="en-US" dirty="0"/>
              <a:t>Onset of higher platform heterogeneity</a:t>
            </a:r>
          </a:p>
          <a:p>
            <a:pPr lvl="1"/>
            <a:r>
              <a:rPr lang="en-US" dirty="0"/>
              <a:t>Requirements are unfolding, not known </a:t>
            </a:r>
            <a:r>
              <a:rPr lang="en-US" i="1" dirty="0"/>
              <a:t>a priori </a:t>
            </a:r>
          </a:p>
          <a:p>
            <a:pPr lvl="1"/>
            <a:r>
              <a:rPr lang="en-US" b="1" dirty="0">
                <a:solidFill>
                  <a:schemeClr val="tx2"/>
                </a:solidFill>
              </a:rPr>
              <a:t>The only safeguard is investing in flexible design and robust software engineering process</a:t>
            </a:r>
          </a:p>
        </p:txBody>
      </p:sp>
      <p:grpSp>
        <p:nvGrpSpPr>
          <p:cNvPr id="4" name="Group 3">
            <a:extLst>
              <a:ext uri="{FF2B5EF4-FFF2-40B4-BE49-F238E27FC236}">
                <a16:creationId xmlns:a16="http://schemas.microsoft.com/office/drawing/2014/main" id="{B134E098-D40D-654E-A6F9-C1193874E37E}"/>
              </a:ext>
            </a:extLst>
          </p:cNvPr>
          <p:cNvGrpSpPr/>
          <p:nvPr/>
        </p:nvGrpSpPr>
        <p:grpSpPr>
          <a:xfrm>
            <a:off x="5509994" y="1011086"/>
            <a:ext cx="6497602" cy="1991138"/>
            <a:chOff x="2176244" y="1817067"/>
            <a:chExt cx="4797637" cy="3142742"/>
          </a:xfrm>
        </p:grpSpPr>
        <p:sp>
          <p:nvSpPr>
            <p:cNvPr id="5" name="Oval 4">
              <a:extLst>
                <a:ext uri="{FF2B5EF4-FFF2-40B4-BE49-F238E27FC236}">
                  <a16:creationId xmlns:a16="http://schemas.microsoft.com/office/drawing/2014/main" id="{59E41C8A-4437-524B-8CC2-5756891D9DE2}"/>
                </a:ext>
              </a:extLst>
            </p:cNvPr>
            <p:cNvSpPr/>
            <p:nvPr/>
          </p:nvSpPr>
          <p:spPr>
            <a:xfrm>
              <a:off x="3546363" y="1817067"/>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Better Scientific Understanding</a:t>
              </a:r>
            </a:p>
          </p:txBody>
        </p:sp>
        <p:sp>
          <p:nvSpPr>
            <p:cNvPr id="6" name="Oval 5">
              <a:extLst>
                <a:ext uri="{FF2B5EF4-FFF2-40B4-BE49-F238E27FC236}">
                  <a16:creationId xmlns:a16="http://schemas.microsoft.com/office/drawing/2014/main" id="{1315E2E6-AC21-DF40-895B-8AFFDF77ADCE}"/>
                </a:ext>
              </a:extLst>
            </p:cNvPr>
            <p:cNvSpPr/>
            <p:nvPr/>
          </p:nvSpPr>
          <p:spPr>
            <a:xfrm>
              <a:off x="5349748" y="2965465"/>
              <a:ext cx="1624133"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2A522D8A-4B47-3449-AA0F-6174A984CA19}"/>
                </a:ext>
              </a:extLst>
            </p:cNvPr>
            <p:cNvSpPr/>
            <p:nvPr/>
          </p:nvSpPr>
          <p:spPr>
            <a:xfrm>
              <a:off x="3576979" y="3958663"/>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7998BA34-FC42-A940-9470-0AE7570FA7EF}"/>
                </a:ext>
              </a:extLst>
            </p:cNvPr>
            <p:cNvSpPr/>
            <p:nvPr/>
          </p:nvSpPr>
          <p:spPr>
            <a:xfrm>
              <a:off x="2176244" y="2965464"/>
              <a:ext cx="16532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1A97BBAB-5F1A-AC46-AB08-901AE39A72B9}"/>
                </a:ext>
              </a:extLst>
            </p:cNvPr>
            <p:cNvCxnSpPr>
              <a:cxnSpLocks/>
              <a:stCxn id="5" idx="6"/>
              <a:endCxn id="6" idx="0"/>
            </p:cNvCxnSpPr>
            <p:nvPr/>
          </p:nvCxnSpPr>
          <p:spPr>
            <a:xfrm>
              <a:off x="5542531" y="2317641"/>
              <a:ext cx="619284" cy="647824"/>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CEAC2101-14AF-184C-9E60-478F80D7ED21}"/>
                </a:ext>
              </a:extLst>
            </p:cNvPr>
            <p:cNvCxnSpPr>
              <a:cxnSpLocks/>
              <a:stCxn id="6" idx="4"/>
              <a:endCxn id="7" idx="6"/>
            </p:cNvCxnSpPr>
            <p:nvPr/>
          </p:nvCxnSpPr>
          <p:spPr>
            <a:xfrm rot="5400000">
              <a:off x="5621168" y="3918590"/>
              <a:ext cx="492627" cy="58866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8A09E030-EB77-1B41-B322-38EC42880A6C}"/>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16BF5C38-1670-F34C-A3DF-42C43328A156}"/>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A5D4B1A-B6F9-E84B-8C7D-A646585D4623}"/>
                </a:ext>
              </a:extLst>
            </p:cNvPr>
            <p:cNvCxnSpPr>
              <a:cxnSpLocks/>
              <a:stCxn id="6" idx="2"/>
              <a:endCxn id="8" idx="6"/>
            </p:cNvCxnSpPr>
            <p:nvPr/>
          </p:nvCxnSpPr>
          <p:spPr>
            <a:xfrm flipH="1">
              <a:off x="3829512" y="3466038"/>
              <a:ext cx="1520236"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990A2FF0-E8AD-2246-955A-291B8171681D}"/>
              </a:ext>
            </a:extLst>
          </p:cNvPr>
          <p:cNvSpPr/>
          <p:nvPr/>
        </p:nvSpPr>
        <p:spPr>
          <a:xfrm>
            <a:off x="1434973" y="5450345"/>
            <a:ext cx="5879939" cy="914400"/>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sz="2800" dirty="0">
                <a:solidFill>
                  <a:schemeClr val="bg1"/>
                </a:solidFill>
              </a:rPr>
              <a:t>Supercomputers change fast</a:t>
            </a:r>
          </a:p>
          <a:p>
            <a:pPr algn="ctr">
              <a:lnSpc>
                <a:spcPct val="90000"/>
              </a:lnSpc>
            </a:pPr>
            <a:r>
              <a:rPr lang="en-US" sz="2800" dirty="0">
                <a:solidFill>
                  <a:schemeClr val="bg1"/>
                </a:solidFill>
              </a:rPr>
              <a:t>Especially now!</a:t>
            </a:r>
          </a:p>
        </p:txBody>
      </p:sp>
    </p:spTree>
    <p:extLst>
      <p:ext uri="{BB962C8B-B14F-4D97-AF65-F5344CB8AC3E}">
        <p14:creationId xmlns:p14="http://schemas.microsoft.com/office/powerpoint/2010/main" val="1797783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410602"/>
            <a:ext cx="11375136" cy="510909"/>
          </a:xfrm>
        </p:spPr>
        <p:txBody>
          <a:bodyPr/>
          <a:lstStyle/>
          <a:p>
            <a:r>
              <a:rPr lang="en-US" dirty="0"/>
              <a:t>Challenges Developing Scientific Applications Today</a:t>
            </a:r>
          </a:p>
        </p:txBody>
      </p:sp>
      <p:sp>
        <p:nvSpPr>
          <p:cNvPr id="3" name="Text Placeholder 2"/>
          <p:cNvSpPr>
            <a:spLocks noGrp="1"/>
          </p:cNvSpPr>
          <p:nvPr>
            <p:ph type="body" idx="1"/>
          </p:nvPr>
        </p:nvSpPr>
        <p:spPr>
          <a:xfrm>
            <a:off x="365760" y="1163920"/>
            <a:ext cx="5588582" cy="821190"/>
          </a:xfrm>
        </p:spPr>
        <p:txBody>
          <a:bodyPr/>
          <a:lstStyle/>
          <a:p>
            <a:r>
              <a:rPr lang="en-US" sz="2800" dirty="0"/>
              <a:t>Technical</a:t>
            </a:r>
          </a:p>
        </p:txBody>
      </p:sp>
      <p:sp>
        <p:nvSpPr>
          <p:cNvPr id="7" name="Content Placeholder 6"/>
          <p:cNvSpPr>
            <a:spLocks noGrp="1"/>
          </p:cNvSpPr>
          <p:nvPr>
            <p:ph sz="half" idx="2"/>
          </p:nvPr>
        </p:nvSpPr>
        <p:spPr>
          <a:xfrm>
            <a:off x="365760" y="2043782"/>
            <a:ext cx="5588582" cy="3702110"/>
          </a:xfrm>
        </p:spPr>
        <p:txBody>
          <a:bodyPr>
            <a:normAutofit lnSpcReduction="10000"/>
          </a:bodyPr>
          <a:lstStyle/>
          <a:p>
            <a:r>
              <a:rPr lang="en-US" sz="2400" dirty="0"/>
              <a:t>All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 so is the software</a:t>
            </a:r>
          </a:p>
          <a:p>
            <a:r>
              <a:rPr lang="en-US" sz="2400" dirty="0"/>
              <a:t>Increasing architectural diversity</a:t>
            </a:r>
          </a:p>
          <a:p>
            <a:endParaRPr lang="en-US" sz="2400" dirty="0"/>
          </a:p>
          <a:p>
            <a:endParaRPr lang="en-US" sz="2400" dirty="0"/>
          </a:p>
          <a:p>
            <a:endParaRPr lang="en-US" sz="2400" dirty="0"/>
          </a:p>
        </p:txBody>
      </p:sp>
      <p:sp>
        <p:nvSpPr>
          <p:cNvPr id="6" name="Text Placeholder 5"/>
          <p:cNvSpPr>
            <a:spLocks noGrp="1"/>
          </p:cNvSpPr>
          <p:nvPr>
            <p:ph type="body" sz="quarter" idx="3"/>
          </p:nvPr>
        </p:nvSpPr>
        <p:spPr>
          <a:xfrm>
            <a:off x="6191755" y="1163920"/>
            <a:ext cx="5531934" cy="821190"/>
          </a:xfrm>
        </p:spPr>
        <p:txBody>
          <a:bodyPr/>
          <a:lstStyle/>
          <a:p>
            <a:r>
              <a:rPr lang="en-US" sz="2800" dirty="0"/>
              <a:t>Sociological</a:t>
            </a:r>
          </a:p>
        </p:txBody>
      </p:sp>
      <p:sp>
        <p:nvSpPr>
          <p:cNvPr id="8" name="Content Placeholder 7"/>
          <p:cNvSpPr>
            <a:spLocks noGrp="1"/>
          </p:cNvSpPr>
          <p:nvPr>
            <p:ph sz="quarter" idx="4"/>
          </p:nvPr>
        </p:nvSpPr>
        <p:spPr>
          <a:xfrm>
            <a:off x="6191755" y="2043782"/>
            <a:ext cx="5531934" cy="3702110"/>
          </a:xfrm>
        </p:spPr>
        <p:txBody>
          <a:bodyPr/>
          <a:lstStyle/>
          <a:p>
            <a:r>
              <a:rPr lang="en-US" sz="2400" dirty="0"/>
              <a:t>Competing priorities and incentives</a:t>
            </a:r>
          </a:p>
          <a:p>
            <a:pPr lvl="1"/>
            <a:r>
              <a:rPr lang="en-US" sz="2200" dirty="0"/>
              <a:t>Sponsors often care more about scientific publications than software per se</a:t>
            </a:r>
          </a:p>
          <a:p>
            <a:pPr lvl="1"/>
            <a:r>
              <a:rPr lang="en-US" sz="2200" dirty="0"/>
              <a:t>Balancing development and maintenance with research</a:t>
            </a:r>
          </a:p>
          <a:p>
            <a:r>
              <a:rPr lang="en-US" sz="2400" dirty="0"/>
              <a:t>Limited resources </a:t>
            </a:r>
          </a:p>
          <a:p>
            <a:r>
              <a:rPr lang="en-US" sz="2400" dirty="0"/>
              <a:t>Need for interdisciplinary interactions</a:t>
            </a:r>
          </a:p>
          <a:p>
            <a:pPr lvl="1"/>
            <a:r>
              <a:rPr lang="en-US" sz="2200" dirty="0"/>
              <a:t>Many different kinds of expertise required to be successful</a:t>
            </a:r>
          </a:p>
          <a:p>
            <a:endParaRPr lang="en-US" sz="2400" dirty="0"/>
          </a:p>
        </p:txBody>
      </p:sp>
    </p:spTree>
    <p:extLst>
      <p:ext uri="{BB962C8B-B14F-4D97-AF65-F5344CB8AC3E}">
        <p14:creationId xmlns:p14="http://schemas.microsoft.com/office/powerpoint/2010/main" val="3957161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E681E-868C-4362-8CE9-D9277D90945D}"/>
              </a:ext>
            </a:extLst>
          </p:cNvPr>
          <p:cNvSpPr>
            <a:spLocks noGrp="1"/>
          </p:cNvSpPr>
          <p:nvPr>
            <p:ph type="title"/>
          </p:nvPr>
        </p:nvSpPr>
        <p:spPr/>
        <p:txBody>
          <a:bodyPr/>
          <a:lstStyle/>
          <a:p>
            <a:r>
              <a:rPr lang="en-US" dirty="0"/>
              <a:t>High-Consequence Software-Related Scientific Failures</a:t>
            </a:r>
          </a:p>
        </p:txBody>
      </p:sp>
      <p:sp>
        <p:nvSpPr>
          <p:cNvPr id="4" name="Text Placeholder 3">
            <a:extLst>
              <a:ext uri="{FF2B5EF4-FFF2-40B4-BE49-F238E27FC236}">
                <a16:creationId xmlns:a16="http://schemas.microsoft.com/office/drawing/2014/main" id="{E8D361FB-619E-41D2-B8F0-CA5FA1B12783}"/>
              </a:ext>
            </a:extLst>
          </p:cNvPr>
          <p:cNvSpPr>
            <a:spLocks noGrp="1"/>
          </p:cNvSpPr>
          <p:nvPr>
            <p:ph type="body" idx="1"/>
          </p:nvPr>
        </p:nvSpPr>
        <p:spPr>
          <a:xfrm>
            <a:off x="457200" y="1082160"/>
            <a:ext cx="5588582" cy="821190"/>
          </a:xfrm>
        </p:spPr>
        <p:txBody>
          <a:bodyPr/>
          <a:lstStyle/>
          <a:p>
            <a:r>
              <a:rPr lang="en-US" dirty="0"/>
              <a:t>Therac-25 (1985-1987)</a:t>
            </a:r>
          </a:p>
        </p:txBody>
      </p:sp>
      <p:sp>
        <p:nvSpPr>
          <p:cNvPr id="5" name="Content Placeholder 4">
            <a:extLst>
              <a:ext uri="{FF2B5EF4-FFF2-40B4-BE49-F238E27FC236}">
                <a16:creationId xmlns:a16="http://schemas.microsoft.com/office/drawing/2014/main" id="{56CD8BB6-7BE3-465D-9CA1-DEAACB888B21}"/>
              </a:ext>
            </a:extLst>
          </p:cNvPr>
          <p:cNvSpPr>
            <a:spLocks noGrp="1"/>
          </p:cNvSpPr>
          <p:nvPr>
            <p:ph sz="half" idx="2"/>
          </p:nvPr>
        </p:nvSpPr>
        <p:spPr>
          <a:xfrm>
            <a:off x="457200" y="1903350"/>
            <a:ext cx="5588582" cy="3373229"/>
          </a:xfrm>
        </p:spPr>
        <p:txBody>
          <a:bodyPr/>
          <a:lstStyle/>
          <a:p>
            <a:r>
              <a:rPr lang="en-US" dirty="0"/>
              <a:t>Computer-controlled radiation therapy system</a:t>
            </a:r>
          </a:p>
          <a:p>
            <a:r>
              <a:rPr lang="en-US" b="1" dirty="0"/>
              <a:t>Poor software design, development and testing practices </a:t>
            </a:r>
            <a:r>
              <a:rPr lang="en-US" dirty="0"/>
              <a:t>allowed flaws that let to at least six cases of substantial radiation overdoses, three fatal</a:t>
            </a:r>
          </a:p>
        </p:txBody>
      </p:sp>
      <p:sp>
        <p:nvSpPr>
          <p:cNvPr id="8" name="Text Placeholder 7">
            <a:extLst>
              <a:ext uri="{FF2B5EF4-FFF2-40B4-BE49-F238E27FC236}">
                <a16:creationId xmlns:a16="http://schemas.microsoft.com/office/drawing/2014/main" id="{2A9420E6-1ED3-47F5-A868-592FBE0CF025}"/>
              </a:ext>
            </a:extLst>
          </p:cNvPr>
          <p:cNvSpPr>
            <a:spLocks noGrp="1"/>
          </p:cNvSpPr>
          <p:nvPr>
            <p:ph type="body" sz="quarter" idx="3"/>
          </p:nvPr>
        </p:nvSpPr>
        <p:spPr>
          <a:xfrm>
            <a:off x="6218913" y="1082160"/>
            <a:ext cx="5588581" cy="821190"/>
          </a:xfrm>
        </p:spPr>
        <p:txBody>
          <a:bodyPr/>
          <a:lstStyle/>
          <a:p>
            <a:r>
              <a:rPr lang="en-US" dirty="0"/>
              <a:t>Mars Climate Orbiter (1999)</a:t>
            </a:r>
          </a:p>
        </p:txBody>
      </p:sp>
      <p:sp>
        <p:nvSpPr>
          <p:cNvPr id="10" name="Text Placeholder 9">
            <a:extLst>
              <a:ext uri="{FF2B5EF4-FFF2-40B4-BE49-F238E27FC236}">
                <a16:creationId xmlns:a16="http://schemas.microsoft.com/office/drawing/2014/main" id="{C8632146-7E50-4441-AA9F-3B7BFE2EDC5F}"/>
              </a:ext>
            </a:extLst>
          </p:cNvPr>
          <p:cNvSpPr>
            <a:spLocks noGrp="1"/>
          </p:cNvSpPr>
          <p:nvPr>
            <p:ph sz="quarter" idx="4"/>
          </p:nvPr>
        </p:nvSpPr>
        <p:spPr>
          <a:xfrm>
            <a:off x="6218914" y="1903350"/>
            <a:ext cx="5588582" cy="3373229"/>
          </a:xfrm>
        </p:spPr>
        <p:txBody>
          <a:bodyPr/>
          <a:lstStyle/>
          <a:p>
            <a:r>
              <a:rPr lang="en-US" dirty="0"/>
              <a:t>Incorrect trajectory adjustment caused loss of the orbiter as it was supposed to enter Martian orbit</a:t>
            </a:r>
          </a:p>
          <a:p>
            <a:r>
              <a:rPr lang="en-US" dirty="0"/>
              <a:t>Discrepancy in the units used in two different software components</a:t>
            </a:r>
          </a:p>
          <a:p>
            <a:r>
              <a:rPr lang="en-US" dirty="0"/>
              <a:t>One component </a:t>
            </a:r>
            <a:r>
              <a:rPr lang="en-US" b="1" dirty="0"/>
              <a:t>didn’t follow specifications</a:t>
            </a:r>
          </a:p>
          <a:p>
            <a:r>
              <a:rPr lang="en-US" b="1" dirty="0"/>
              <a:t>Inadequate testing </a:t>
            </a:r>
            <a:r>
              <a:rPr lang="en-US" dirty="0"/>
              <a:t>at the interface</a:t>
            </a:r>
          </a:p>
          <a:p>
            <a:r>
              <a:rPr lang="en-US" dirty="0"/>
              <a:t>Concerns raised earlier in the mission were ignored because they </a:t>
            </a:r>
            <a:r>
              <a:rPr lang="en-US" b="1" dirty="0"/>
              <a:t>weren’t properly documented </a:t>
            </a:r>
          </a:p>
        </p:txBody>
      </p:sp>
      <p:pic>
        <p:nvPicPr>
          <p:cNvPr id="1030" name="Picture 6" descr="Photo of the Therac 25">
            <a:extLst>
              <a:ext uri="{FF2B5EF4-FFF2-40B4-BE49-F238E27FC236}">
                <a16:creationId xmlns:a16="http://schemas.microsoft.com/office/drawing/2014/main" id="{0B40ADAE-0821-49AE-9C40-E819AA1A08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986" t="5757" r="2268" b="3090"/>
          <a:stretch/>
        </p:blipFill>
        <p:spPr bwMode="auto">
          <a:xfrm>
            <a:off x="457200" y="3709440"/>
            <a:ext cx="3312001" cy="20664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F408BCE3-0998-4F7D-940F-78254B75691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747" y="4363920"/>
            <a:ext cx="2570581" cy="233640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0914C56D-3B93-4509-884B-13EFE57E3C93}"/>
              </a:ext>
            </a:extLst>
          </p:cNvPr>
          <p:cNvSpPr txBox="1"/>
          <p:nvPr/>
        </p:nvSpPr>
        <p:spPr>
          <a:xfrm>
            <a:off x="7025304" y="5505985"/>
            <a:ext cx="3919153" cy="517065"/>
          </a:xfrm>
          <a:prstGeom prst="rect">
            <a:avLst/>
          </a:prstGeom>
          <a:noFill/>
          <a:ln>
            <a:solidFill>
              <a:schemeClr val="accent4"/>
            </a:solidFill>
          </a:ln>
        </p:spPr>
        <p:txBody>
          <a:bodyPr wrap="square" lIns="118872" tIns="91440" rIns="118872" bIns="91440" rtlCol="0" anchor="ctr" anchorCtr="0">
            <a:spAutoFit/>
          </a:bodyPr>
          <a:lstStyle/>
          <a:p>
            <a:pPr algn="l">
              <a:lnSpc>
                <a:spcPct val="90000"/>
              </a:lnSpc>
            </a:pPr>
            <a:r>
              <a:rPr lang="en-US" sz="2400" i="1" dirty="0">
                <a:solidFill>
                  <a:schemeClr val="accent4"/>
                </a:solidFill>
              </a:rPr>
              <a:t>Just two of many examples</a:t>
            </a:r>
          </a:p>
        </p:txBody>
      </p:sp>
    </p:spTree>
    <p:extLst>
      <p:ext uri="{BB962C8B-B14F-4D97-AF65-F5344CB8AC3E}">
        <p14:creationId xmlns:p14="http://schemas.microsoft.com/office/powerpoint/2010/main" val="1096721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44D94-3E9F-43CD-AAF7-1C9718E6D132}"/>
              </a:ext>
            </a:extLst>
          </p:cNvPr>
          <p:cNvSpPr>
            <a:spLocks noGrp="1"/>
          </p:cNvSpPr>
          <p:nvPr>
            <p:ph type="title"/>
          </p:nvPr>
        </p:nvSpPr>
        <p:spPr/>
        <p:txBody>
          <a:bodyPr/>
          <a:lstStyle/>
          <a:p>
            <a:r>
              <a:rPr lang="en-US" dirty="0"/>
              <a:t>Software Under the Microscope</a:t>
            </a:r>
          </a:p>
        </p:txBody>
      </p:sp>
      <p:sp>
        <p:nvSpPr>
          <p:cNvPr id="3" name="Content Placeholder 2">
            <a:extLst>
              <a:ext uri="{FF2B5EF4-FFF2-40B4-BE49-F238E27FC236}">
                <a16:creationId xmlns:a16="http://schemas.microsoft.com/office/drawing/2014/main" id="{268F46BB-6B5A-4644-9D89-549681D75630}"/>
              </a:ext>
            </a:extLst>
          </p:cNvPr>
          <p:cNvSpPr>
            <a:spLocks noGrp="1"/>
          </p:cNvSpPr>
          <p:nvPr>
            <p:ph sz="half" idx="2"/>
          </p:nvPr>
        </p:nvSpPr>
        <p:spPr>
          <a:xfrm>
            <a:off x="457200" y="1419254"/>
            <a:ext cx="5774132" cy="3373229"/>
          </a:xfrm>
          <a:ln>
            <a:noFill/>
          </a:ln>
        </p:spPr>
        <p:txBody>
          <a:bodyPr/>
          <a:lstStyle/>
          <a:p>
            <a:r>
              <a:rPr lang="en-US" sz="2000" dirty="0"/>
              <a:t>Mar. 16 2020: Epidemiologist Neil Ferguson (Imperial College) briefed UK Parliament on computational modeling of COVID-19 pandemic</a:t>
            </a:r>
          </a:p>
          <a:p>
            <a:pPr lvl="1">
              <a:spcBef>
                <a:spcPts val="200"/>
              </a:spcBef>
            </a:pPr>
            <a:r>
              <a:rPr lang="en-US" sz="1600" dirty="0"/>
              <a:t>Epidemiological models like this helped prompt government action, but have lots of assumptions</a:t>
            </a:r>
          </a:p>
          <a:p>
            <a:r>
              <a:rPr lang="en-US" sz="2000" dirty="0"/>
              <a:t>April 1 2020: Nicholas Lewis (independent climate science researcher in UK) can’t easily see where some of the assumptions come from – publishes a blog article</a:t>
            </a:r>
          </a:p>
          <a:p>
            <a:pPr lvl="1"/>
            <a:r>
              <a:rPr lang="en-US" dirty="0">
                <a:solidFill>
                  <a:schemeClr val="tx2"/>
                </a:solidFill>
              </a:rPr>
              <a:t>“Moreover, the computer code… is old, unverified, and documented inadequately, if at all…”</a:t>
            </a:r>
          </a:p>
        </p:txBody>
      </p:sp>
      <p:pic>
        <p:nvPicPr>
          <p:cNvPr id="8" name="Picture 7" descr="A screenshot of a cell phone&#10;&#10;Description automatically generated">
            <a:extLst>
              <a:ext uri="{FF2B5EF4-FFF2-40B4-BE49-F238E27FC236}">
                <a16:creationId xmlns:a16="http://schemas.microsoft.com/office/drawing/2014/main" id="{D75A5D10-6C61-4973-A536-F9DB2ECCEC9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9115" t="9104" r="7533" b="76091"/>
          <a:stretch/>
        </p:blipFill>
        <p:spPr>
          <a:xfrm>
            <a:off x="6809849" y="4122497"/>
            <a:ext cx="4042279" cy="1015300"/>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0" name="Picture 9" descr="A screenshot of a cell phone&#10;&#10;Description automatically generated">
            <a:extLst>
              <a:ext uri="{FF2B5EF4-FFF2-40B4-BE49-F238E27FC236}">
                <a16:creationId xmlns:a16="http://schemas.microsoft.com/office/drawing/2014/main" id="{0478805F-E121-4A80-88F5-B4CDA20812B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0675" t="3862" r="9742" b="62942"/>
          <a:stretch/>
        </p:blipFill>
        <p:spPr>
          <a:xfrm>
            <a:off x="6143044" y="339860"/>
            <a:ext cx="3859399" cy="2276542"/>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2" name="Picture 11" descr="A close up of a map&#10;&#10;Description automatically generated">
            <a:extLst>
              <a:ext uri="{FF2B5EF4-FFF2-40B4-BE49-F238E27FC236}">
                <a16:creationId xmlns:a16="http://schemas.microsoft.com/office/drawing/2014/main" id="{07733F80-77F2-46CC-8074-06717545457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1326" t="15632" r="10913" b="44828"/>
          <a:stretch/>
        </p:blipFill>
        <p:spPr>
          <a:xfrm>
            <a:off x="8288767" y="1176619"/>
            <a:ext cx="3771112" cy="2711670"/>
          </a:xfrm>
          <a:prstGeom prst="rect">
            <a:avLst/>
          </a:prstGeom>
          <a:ln>
            <a:solidFill>
              <a:schemeClr val="accent1"/>
            </a:solidFill>
          </a:ln>
          <a:effectLst>
            <a:outerShdw blurRad="50800" dist="38100" dir="2700000" algn="tl" rotWithShape="0">
              <a:prstClr val="black">
                <a:alpha val="40000"/>
              </a:prstClr>
            </a:outerShdw>
          </a:effectLst>
        </p:spPr>
      </p:pic>
      <p:sp>
        <p:nvSpPr>
          <p:cNvPr id="13" name="TextBox 12">
            <a:extLst>
              <a:ext uri="{FF2B5EF4-FFF2-40B4-BE49-F238E27FC236}">
                <a16:creationId xmlns:a16="http://schemas.microsoft.com/office/drawing/2014/main" id="{95476604-38E0-4990-8608-A0AF27FDA5F7}"/>
              </a:ext>
            </a:extLst>
          </p:cNvPr>
          <p:cNvSpPr txBox="1"/>
          <p:nvPr/>
        </p:nvSpPr>
        <p:spPr>
          <a:xfrm>
            <a:off x="457200" y="5269551"/>
            <a:ext cx="7390806" cy="7663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5"/>
              </a:rPr>
              <a:t>https://doi.org/10.25561/77482</a:t>
            </a:r>
            <a:endParaRPr kumimoji="0" lang="en-US" sz="1400" b="0" i="0" u="none" strike="noStrike" kern="1200" cap="none" spc="0" normalizeH="0" baseline="0" noProof="0" dirty="0">
              <a:ln>
                <a:noFill/>
              </a:ln>
              <a:solidFill>
                <a:prstClr val="black"/>
              </a:solidFill>
              <a:effectLst/>
              <a:uLnTx/>
              <a:uFillTx/>
              <a:latin typeface="Arial"/>
              <a:ea typeface="+mn-ea"/>
              <a:cs typeface="+mn-cs"/>
              <a:hlinkClick r:id="rId6"/>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7"/>
              </a:rPr>
              <a:t>https://www.nicholaslewis.org/imperial-college-uk-covid-19-numbers-dont-seem-to-add-up/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6"/>
              </a:rPr>
              <a:t>https://www.nature.com/articles/d41586-020-01003-6</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Tree>
    <p:extLst>
      <p:ext uri="{BB962C8B-B14F-4D97-AF65-F5344CB8AC3E}">
        <p14:creationId xmlns:p14="http://schemas.microsoft.com/office/powerpoint/2010/main" val="3946097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26887-E839-4994-8D3F-B684EEE2158C}"/>
              </a:ext>
            </a:extLst>
          </p:cNvPr>
          <p:cNvSpPr>
            <a:spLocks noGrp="1"/>
          </p:cNvSpPr>
          <p:nvPr>
            <p:ph type="title"/>
          </p:nvPr>
        </p:nvSpPr>
        <p:spPr/>
        <p:txBody>
          <a:bodyPr/>
          <a:lstStyle/>
          <a:p>
            <a:r>
              <a:rPr lang="en-US" dirty="0"/>
              <a:t>The Press Picks Up the Story</a:t>
            </a:r>
          </a:p>
        </p:txBody>
      </p:sp>
      <p:sp>
        <p:nvSpPr>
          <p:cNvPr id="7" name="TextBox 6">
            <a:extLst>
              <a:ext uri="{FF2B5EF4-FFF2-40B4-BE49-F238E27FC236}">
                <a16:creationId xmlns:a16="http://schemas.microsoft.com/office/drawing/2014/main" id="{27B9885B-2F9D-4132-89B1-5734073BA3DA}"/>
              </a:ext>
            </a:extLst>
          </p:cNvPr>
          <p:cNvSpPr txBox="1"/>
          <p:nvPr/>
        </p:nvSpPr>
        <p:spPr>
          <a:xfrm>
            <a:off x="1393927" y="5499197"/>
            <a:ext cx="9400971" cy="5724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https://www.foxnews.com/world/imperial-college-britain-coronavirus-lockdown-buggy-mess-unreliable</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https://www.telegraph.co.uk/technology/2020/05/16/coding-led-lockdown-totally-unreliable-buggy-mess-say-experts/</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pic>
        <p:nvPicPr>
          <p:cNvPr id="12" name="Picture 11" descr="A screenshot of a social media post&#10;&#10;Description automatically generated">
            <a:extLst>
              <a:ext uri="{FF2B5EF4-FFF2-40B4-BE49-F238E27FC236}">
                <a16:creationId xmlns:a16="http://schemas.microsoft.com/office/drawing/2014/main" id="{7A99D9B9-5B12-4D08-BDB7-1B5D6001092B}"/>
              </a:ext>
            </a:extLst>
          </p:cNvPr>
          <p:cNvPicPr>
            <a:picLocks noChangeAspect="1"/>
          </p:cNvPicPr>
          <p:nvPr/>
        </p:nvPicPr>
        <p:blipFill rotWithShape="1">
          <a:blip r:embed="rId4">
            <a:extLst>
              <a:ext uri="{28A0092B-C50C-407E-A947-70E740481C1C}">
                <a14:useLocalDpi xmlns:a14="http://schemas.microsoft.com/office/drawing/2010/main" val="0"/>
              </a:ext>
            </a:extLst>
          </a:blip>
          <a:srcRect l="26511" t="41819" r="26898" b="37404"/>
          <a:stretch/>
        </p:blipFill>
        <p:spPr>
          <a:xfrm>
            <a:off x="5837035" y="238701"/>
            <a:ext cx="5678906" cy="1375038"/>
          </a:xfrm>
          <a:prstGeom prst="rect">
            <a:avLst/>
          </a:prstGeom>
          <a:ln>
            <a:solidFill>
              <a:schemeClr val="accent1"/>
            </a:solidFill>
          </a:ln>
          <a:effectLst>
            <a:outerShdw blurRad="50800" dist="38100" dir="2700000" algn="tl" rotWithShape="0">
              <a:prstClr val="black">
                <a:alpha val="40000"/>
              </a:prstClr>
            </a:outerShdw>
          </a:effectLst>
        </p:spPr>
      </p:pic>
      <p:sp>
        <p:nvSpPr>
          <p:cNvPr id="13" name="Rectangle 12">
            <a:extLst>
              <a:ext uri="{FF2B5EF4-FFF2-40B4-BE49-F238E27FC236}">
                <a16:creationId xmlns:a16="http://schemas.microsoft.com/office/drawing/2014/main" id="{9247790C-CFF1-484A-A92D-04A37887B341}"/>
              </a:ext>
            </a:extLst>
          </p:cNvPr>
          <p:cNvSpPr/>
          <p:nvPr/>
        </p:nvSpPr>
        <p:spPr>
          <a:xfrm>
            <a:off x="186818" y="3349327"/>
            <a:ext cx="5190403"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Arial" charset="0"/>
              </a:rPr>
              <a:t>“</a:t>
            </a:r>
            <a:r>
              <a:rPr kumimoji="0" lang="en-US" sz="1800" b="0" i="0" u="none" strike="noStrike" kern="1200" cap="none" spc="0" normalizeH="0" baseline="0" noProof="0" dirty="0">
                <a:ln>
                  <a:noFill/>
                </a:ln>
                <a:solidFill>
                  <a:prstClr val="black"/>
                </a:solidFill>
                <a:effectLst/>
                <a:highlight>
                  <a:srgbClr val="FFFF00"/>
                </a:highlight>
                <a:uLnTx/>
                <a:uFillTx/>
                <a:latin typeface="Arial"/>
                <a:ea typeface="+mn-ea"/>
                <a:cs typeface="Arial" charset="0"/>
              </a:rPr>
              <a:t>Models must be capable of passing the basic scientific test of producing the same results given the same initial set of parameters</a:t>
            </a:r>
            <a:r>
              <a:rPr kumimoji="0" lang="en-US" sz="1800" b="0" i="0" u="none" strike="noStrike" kern="1200" cap="none" spc="0" normalizeH="0" baseline="0" noProof="0" dirty="0">
                <a:ln>
                  <a:noFill/>
                </a:ln>
                <a:solidFill>
                  <a:prstClr val="black"/>
                </a:solidFill>
                <a:effectLst/>
                <a:uLnTx/>
                <a:uFillTx/>
                <a:latin typeface="Arial"/>
                <a:ea typeface="+mn-ea"/>
                <a:cs typeface="Arial" charset="0"/>
              </a:rPr>
              <a:t>…otherwise, there is simply no way of knowing whether they will be reliable,” said Michael Bonsall, Professor of Mathematical Biology at Oxford University.</a:t>
            </a:r>
          </a:p>
        </p:txBody>
      </p:sp>
      <p:sp>
        <p:nvSpPr>
          <p:cNvPr id="14" name="Rectangle 13">
            <a:extLst>
              <a:ext uri="{FF2B5EF4-FFF2-40B4-BE49-F238E27FC236}">
                <a16:creationId xmlns:a16="http://schemas.microsoft.com/office/drawing/2014/main" id="{590551D9-996E-4696-B3DD-86421718D866}"/>
              </a:ext>
            </a:extLst>
          </p:cNvPr>
          <p:cNvSpPr/>
          <p:nvPr/>
        </p:nvSpPr>
        <p:spPr>
          <a:xfrm>
            <a:off x="373787" y="1425155"/>
            <a:ext cx="4816467"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“In our commercial reality,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we would fire anyone for developing code like this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any business that relied on it to produce software for sale would likely go bust,” David Richards, co-founder of British data technology company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WANdisco</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told the Daily Telegraph.</a:t>
            </a:r>
          </a:p>
        </p:txBody>
      </p:sp>
      <p:sp>
        <p:nvSpPr>
          <p:cNvPr id="15" name="Rectangle 14">
            <a:extLst>
              <a:ext uri="{FF2B5EF4-FFF2-40B4-BE49-F238E27FC236}">
                <a16:creationId xmlns:a16="http://schemas.microsoft.com/office/drawing/2014/main" id="{A9681A77-8F7F-40BA-A04E-61141280FBC4}"/>
              </a:ext>
            </a:extLst>
          </p:cNvPr>
          <p:cNvSpPr/>
          <p:nvPr/>
        </p:nvSpPr>
        <p:spPr>
          <a:xfrm>
            <a:off x="5625866" y="1879838"/>
            <a:ext cx="6266248" cy="3416320"/>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Scientists from the University of Edinburgh have further claimed that it is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impossible to reproduce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same results from the same data using the model. The team got different results when they used different machines, and even different results from the same machines.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“There appears to be a bug in either the creation or re-use of the network file. If we attempt two completely identical runs, only varying in that the second should use the network file produced by the first, the results are quite different,” the Edinburgh researchers wrote on the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Github</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file.</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 fix was provided, but it was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the first of many bugs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found within the program.</a:t>
            </a:r>
          </a:p>
        </p:txBody>
      </p:sp>
      <p:sp>
        <p:nvSpPr>
          <p:cNvPr id="16" name="TextBox 15">
            <a:extLst>
              <a:ext uri="{FF2B5EF4-FFF2-40B4-BE49-F238E27FC236}">
                <a16:creationId xmlns:a16="http://schemas.microsoft.com/office/drawing/2014/main" id="{2A6A05DB-8039-483A-8C18-6E63A758D369}"/>
              </a:ext>
            </a:extLst>
          </p:cNvPr>
          <p:cNvSpPr txBox="1"/>
          <p:nvPr/>
        </p:nvSpPr>
        <p:spPr>
          <a:xfrm>
            <a:off x="373787" y="907768"/>
            <a:ext cx="3430042" cy="350865"/>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200" b="0" i="1" u="none" strike="noStrike" kern="1200" cap="none" spc="0" normalizeH="0" baseline="0" noProof="0" dirty="0">
                <a:ln>
                  <a:noFill/>
                </a:ln>
                <a:solidFill>
                  <a:srgbClr val="266093"/>
                </a:solidFill>
                <a:effectLst/>
                <a:uLnTx/>
                <a:uFillTx/>
                <a:latin typeface="Arial" charset="0"/>
                <a:ea typeface="+mn-ea"/>
                <a:cs typeface="Arial" charset="0"/>
              </a:rPr>
              <a:t>Headline and quotes from the Fox News article</a:t>
            </a:r>
          </a:p>
        </p:txBody>
      </p:sp>
    </p:spTree>
    <p:extLst>
      <p:ext uri="{BB962C8B-B14F-4D97-AF65-F5344CB8AC3E}">
        <p14:creationId xmlns:p14="http://schemas.microsoft.com/office/powerpoint/2010/main" val="3267181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BC4CB-2CF6-4B12-AA0F-B434DB9F521A}"/>
              </a:ext>
            </a:extLst>
          </p:cNvPr>
          <p:cNvSpPr>
            <a:spLocks noGrp="1"/>
          </p:cNvSpPr>
          <p:nvPr>
            <p:ph type="title"/>
          </p:nvPr>
        </p:nvSpPr>
        <p:spPr/>
        <p:txBody>
          <a:bodyPr/>
          <a:lstStyle/>
          <a:p>
            <a:r>
              <a:rPr lang="en-US" dirty="0"/>
              <a:t>What you May Not Have Heard</a:t>
            </a:r>
          </a:p>
        </p:txBody>
      </p:sp>
      <p:sp>
        <p:nvSpPr>
          <p:cNvPr id="4" name="Content Placeholder 3">
            <a:extLst>
              <a:ext uri="{FF2B5EF4-FFF2-40B4-BE49-F238E27FC236}">
                <a16:creationId xmlns:a16="http://schemas.microsoft.com/office/drawing/2014/main" id="{01357309-EA5B-4871-B245-254EA8DF9454}"/>
              </a:ext>
            </a:extLst>
          </p:cNvPr>
          <p:cNvSpPr>
            <a:spLocks noGrp="1"/>
          </p:cNvSpPr>
          <p:nvPr>
            <p:ph sz="half" idx="2"/>
          </p:nvPr>
        </p:nvSpPr>
        <p:spPr>
          <a:xfrm>
            <a:off x="457200" y="1534144"/>
            <a:ext cx="5588582" cy="3373229"/>
          </a:xfrm>
          <a:ln>
            <a:noFill/>
          </a:ln>
        </p:spPr>
        <p:txBody>
          <a:bodyPr/>
          <a:lstStyle/>
          <a:p>
            <a:r>
              <a:rPr lang="en-US" dirty="0"/>
              <a:t>April 22 2020: Imperial collaborates with Microsoft to refactor and clean up the code, which is released on GitHub</a:t>
            </a:r>
          </a:p>
          <a:p>
            <a:r>
              <a:rPr lang="en-US" dirty="0"/>
              <a:t>May 10 2020: Phil Bull rebuts criticisms of the Imperial code</a:t>
            </a:r>
          </a:p>
          <a:p>
            <a:pPr lvl="1"/>
            <a:r>
              <a:rPr lang="en-US" dirty="0"/>
              <a:t>Which spurs further discussions within some groups focused on scientific software</a:t>
            </a:r>
          </a:p>
          <a:p>
            <a:r>
              <a:rPr lang="en-US" dirty="0"/>
              <a:t>May 29 2020: CODECHECK independently reproduces results of Imperial’s Report 9</a:t>
            </a:r>
          </a:p>
        </p:txBody>
      </p:sp>
      <p:sp>
        <p:nvSpPr>
          <p:cNvPr id="7" name="TextBox 6">
            <a:extLst>
              <a:ext uri="{FF2B5EF4-FFF2-40B4-BE49-F238E27FC236}">
                <a16:creationId xmlns:a16="http://schemas.microsoft.com/office/drawing/2014/main" id="{15D30507-6194-454F-AB00-74011ECCE6EA}"/>
              </a:ext>
            </a:extLst>
          </p:cNvPr>
          <p:cNvSpPr txBox="1"/>
          <p:nvPr/>
        </p:nvSpPr>
        <p:spPr>
          <a:xfrm>
            <a:off x="807902" y="5051400"/>
            <a:ext cx="4809128" cy="1154162"/>
          </a:xfrm>
          <a:prstGeom prst="rect">
            <a:avLst/>
          </a:prstGeom>
        </p:spPr>
        <p:style>
          <a:lnRef idx="2">
            <a:schemeClr val="dk1"/>
          </a:lnRef>
          <a:fillRef idx="1">
            <a:schemeClr val="lt1"/>
          </a:fillRef>
          <a:effectRef idx="0">
            <a:schemeClr val="dk1"/>
          </a:effectRef>
          <a:fontRef idx="minor">
            <a:schemeClr val="dk1"/>
          </a:fontRef>
        </p:style>
        <p:txBody>
          <a:bodyPr wrap="squar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https://github.com/mrc-ide/covid-sim/</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https://philbull.wordpress.com/2020/05/10/why-you-can-ignore-reviews-of-scientific-code-by-commercial-software-developers/amp/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4"/>
              </a:rPr>
              <a:t>http://doi.org/10.5281/zenodo.3865491</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Rectangle 7">
            <a:extLst>
              <a:ext uri="{FF2B5EF4-FFF2-40B4-BE49-F238E27FC236}">
                <a16:creationId xmlns:a16="http://schemas.microsoft.com/office/drawing/2014/main" id="{28B0AE1F-B199-489E-BB28-CE689B7DE1EE}"/>
              </a:ext>
            </a:extLst>
          </p:cNvPr>
          <p:cNvSpPr/>
          <p:nvPr/>
        </p:nvSpPr>
        <p:spPr>
          <a:xfrm>
            <a:off x="6045782" y="1050899"/>
            <a:ext cx="5975243" cy="2308324"/>
          </a:xfrm>
          <a:prstGeom prst="rect">
            <a:avLst/>
          </a:prstGeom>
          <a:solidFill>
            <a:schemeClr val="bg1"/>
          </a:solidFill>
          <a:ln>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Many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scientists write code that is crappy stylistically, but which is nevertheless scientifically correct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(following rigorous checking/validation of outputs </a:t>
            </a:r>
            <a:r>
              <a:rPr kumimoji="0" lang="en-US" sz="1800" b="0" i="1" u="none" strike="noStrike" kern="1200" cap="none" spc="0" normalizeH="0" baseline="0" noProof="0" dirty="0" err="1">
                <a:ln>
                  <a:noFill/>
                </a:ln>
                <a:solidFill>
                  <a:srgbClr val="353535"/>
                </a:solidFill>
                <a:effectLst/>
                <a:uLnTx/>
                <a:uFillTx/>
                <a:latin typeface="Arial"/>
                <a:ea typeface="+mn-ea"/>
                <a:cs typeface="Arial" charset="0"/>
              </a:rPr>
              <a:t>etc</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Professional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commercial software developers are well-qualified to review code style, but most don’t have a clue about checking scientific validity or what counts as good scientific practice</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Criticisms of the </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Imperial </a:t>
            </a:r>
            <a:r>
              <a:rPr kumimoji="0" lang="en-US" sz="1800" b="0" i="1" u="none" strike="noStrike" kern="1200" cap="none" spc="0" normalizeH="0" baseline="0" noProof="0" dirty="0" err="1">
                <a:ln>
                  <a:noFill/>
                </a:ln>
                <a:solidFill>
                  <a:prstClr val="black"/>
                </a:solidFill>
                <a:effectLst/>
                <a:uLnTx/>
                <a:uFillTx/>
                <a:latin typeface="Arial"/>
                <a:ea typeface="+mn-ea"/>
                <a:cs typeface="Arial" charset="0"/>
              </a:rPr>
              <a:t>Covid</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-Sim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model from some of the latter are overstated at best.</a:t>
            </a:r>
            <a:endParaRPr kumimoji="0" lang="en-US" sz="1800" b="0" i="0" u="none" strike="noStrike" kern="1200" cap="none" spc="0" normalizeH="0" baseline="0" noProof="0" dirty="0">
              <a:ln>
                <a:noFill/>
              </a:ln>
              <a:solidFill>
                <a:prstClr val="black"/>
              </a:solidFill>
              <a:effectLst/>
              <a:uLnTx/>
              <a:uFillTx/>
              <a:latin typeface="Arial"/>
              <a:ea typeface="+mn-ea"/>
              <a:cs typeface="Arial" charset="0"/>
            </a:endParaRPr>
          </a:p>
        </p:txBody>
      </p:sp>
      <p:pic>
        <p:nvPicPr>
          <p:cNvPr id="12" name="Picture 11" descr="A screenshot of a cell phone&#10;&#10;Description automatically generated">
            <a:extLst>
              <a:ext uri="{FF2B5EF4-FFF2-40B4-BE49-F238E27FC236}">
                <a16:creationId xmlns:a16="http://schemas.microsoft.com/office/drawing/2014/main" id="{55130320-93E9-4928-8D3D-88B5FA347BC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9196" t="12341" r="18661" b="52281"/>
          <a:stretch/>
        </p:blipFill>
        <p:spPr>
          <a:xfrm>
            <a:off x="7386795" y="3565479"/>
            <a:ext cx="3293215" cy="2426253"/>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4412882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9328965-75A8-4374-82D5-A2BF03690E41}"/>
              </a:ext>
            </a:extLst>
          </p:cNvPr>
          <p:cNvSpPr>
            <a:spLocks noGrp="1"/>
          </p:cNvSpPr>
          <p:nvPr>
            <p:ph type="title"/>
          </p:nvPr>
        </p:nvSpPr>
        <p:spPr/>
        <p:txBody>
          <a:bodyPr/>
          <a:lstStyle/>
          <a:p>
            <a:r>
              <a:rPr lang="en-US" dirty="0"/>
              <a:t>Some Observations</a:t>
            </a:r>
          </a:p>
        </p:txBody>
      </p:sp>
      <p:sp>
        <p:nvSpPr>
          <p:cNvPr id="8" name="Content Placeholder 7">
            <a:extLst>
              <a:ext uri="{FF2B5EF4-FFF2-40B4-BE49-F238E27FC236}">
                <a16:creationId xmlns:a16="http://schemas.microsoft.com/office/drawing/2014/main" id="{20324307-6414-484B-8953-D8554EF97306}"/>
              </a:ext>
            </a:extLst>
          </p:cNvPr>
          <p:cNvSpPr>
            <a:spLocks noGrp="1"/>
          </p:cNvSpPr>
          <p:nvPr>
            <p:ph idx="1"/>
          </p:nvPr>
        </p:nvSpPr>
        <p:spPr>
          <a:xfrm>
            <a:off x="365760" y="1233665"/>
            <a:ext cx="11369809" cy="4047778"/>
          </a:xfrm>
        </p:spPr>
        <p:txBody>
          <a:bodyPr/>
          <a:lstStyle/>
          <a:p>
            <a:r>
              <a:rPr lang="en-US" dirty="0"/>
              <a:t>Your code is likely to live longer than you expect …</a:t>
            </a:r>
            <a:br>
              <a:rPr lang="en-US" dirty="0"/>
            </a:br>
            <a:r>
              <a:rPr lang="en-US" dirty="0"/>
              <a:t>		and may be used in ways you don’t expect …</a:t>
            </a:r>
            <a:br>
              <a:rPr lang="en-US" dirty="0"/>
            </a:br>
            <a:r>
              <a:rPr lang="en-US" dirty="0"/>
              <a:t>				by people you don’t know …</a:t>
            </a:r>
            <a:br>
              <a:rPr lang="en-US" dirty="0"/>
            </a:br>
            <a:r>
              <a:rPr lang="en-US" b="1" i="1" dirty="0"/>
              <a:t>Plan for it!</a:t>
            </a:r>
          </a:p>
          <a:p>
            <a:r>
              <a:rPr lang="en-US" dirty="0"/>
              <a:t>Increasingly, consequential decisions are made based on computational results</a:t>
            </a:r>
          </a:p>
          <a:p>
            <a:pPr lvl="1"/>
            <a:r>
              <a:rPr lang="en-US" dirty="0"/>
              <a:t>The codes generating those results may (justifiably) be subject to greater scrutiny</a:t>
            </a:r>
          </a:p>
          <a:p>
            <a:r>
              <a:rPr lang="en-US" dirty="0"/>
              <a:t>The scientific credibility of software is strongly connected to good software engineering practices</a:t>
            </a:r>
          </a:p>
          <a:p>
            <a:pPr lvl="1"/>
            <a:r>
              <a:rPr lang="en-US" dirty="0"/>
              <a:t>Documentation</a:t>
            </a:r>
          </a:p>
          <a:p>
            <a:pPr lvl="1"/>
            <a:r>
              <a:rPr lang="en-US" dirty="0"/>
              <a:t>Testing, verification, and (where possible) validation</a:t>
            </a:r>
          </a:p>
          <a:p>
            <a:pPr lvl="1"/>
            <a:r>
              <a:rPr lang="en-US" dirty="0"/>
              <a:t>Code readability and quality metrics</a:t>
            </a:r>
          </a:p>
        </p:txBody>
      </p:sp>
      <p:sp>
        <p:nvSpPr>
          <p:cNvPr id="9" name="TextBox 8">
            <a:extLst>
              <a:ext uri="{FF2B5EF4-FFF2-40B4-BE49-F238E27FC236}">
                <a16:creationId xmlns:a16="http://schemas.microsoft.com/office/drawing/2014/main" id="{F7A973BB-506E-4A1B-8268-0ECF0419F34A}"/>
              </a:ext>
            </a:extLst>
          </p:cNvPr>
          <p:cNvSpPr txBox="1"/>
          <p:nvPr/>
        </p:nvSpPr>
        <p:spPr>
          <a:xfrm>
            <a:off x="365760" y="5577379"/>
            <a:ext cx="10869579" cy="849463"/>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solidFill>
                <a:effectLst/>
                <a:uLnTx/>
                <a:uFillTx/>
                <a:latin typeface="Arial" charset="0"/>
                <a:ea typeface="+mn-ea"/>
                <a:cs typeface="Arial" charset="0"/>
              </a:rPr>
              <a:t>Question: Should we excuse scientific software for being “crappy stylistically”?</a:t>
            </a: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lumMod val="40000"/>
                    <a:lumOff val="60000"/>
                  </a:srgbClr>
                </a:solidFill>
                <a:effectLst/>
                <a:uLnTx/>
                <a:uFillTx/>
                <a:latin typeface="Arial" charset="0"/>
                <a:ea typeface="+mn-ea"/>
                <a:cs typeface="Arial" charset="0"/>
              </a:rPr>
              <a:t>Hint: crappy code can hide bugs</a:t>
            </a:r>
          </a:p>
        </p:txBody>
      </p:sp>
    </p:spTree>
    <p:extLst>
      <p:ext uri="{BB962C8B-B14F-4D97-AF65-F5344CB8AC3E}">
        <p14:creationId xmlns:p14="http://schemas.microsoft.com/office/powerpoint/2010/main" val="739991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7382802" cy="914400"/>
          </a:xfrm>
        </p:spPr>
        <p:txBody>
          <a:bodyPr/>
          <a:lstStyle/>
          <a:p>
            <a:r>
              <a:rPr lang="en-US" dirty="0"/>
              <a:t>More Subtle Impacts on Scientific Productivity</a:t>
            </a:r>
          </a:p>
        </p:txBody>
      </p:sp>
      <p:sp>
        <p:nvSpPr>
          <p:cNvPr id="3" name="Content Placeholder 2"/>
          <p:cNvSpPr>
            <a:spLocks noGrp="1"/>
          </p:cNvSpPr>
          <p:nvPr>
            <p:ph idx="1"/>
          </p:nvPr>
        </p:nvSpPr>
        <p:spPr>
          <a:xfrm>
            <a:off x="365760" y="1409441"/>
            <a:ext cx="11369809" cy="4047778"/>
          </a:xfrm>
        </p:spPr>
        <p:txBody>
          <a:bodyPr/>
          <a:lstStyle/>
          <a:p>
            <a:r>
              <a:rPr lang="en-US" dirty="0"/>
              <a:t>In 2005, the FLASH astrophysics team was </a:t>
            </a:r>
            <a:br>
              <a:rPr lang="en-US" dirty="0"/>
            </a:br>
            <a:r>
              <a:rPr lang="en-US" dirty="0"/>
              <a:t>offered a unique opportunity to access one </a:t>
            </a:r>
            <a:br>
              <a:rPr lang="en-US" dirty="0"/>
            </a:br>
            <a:r>
              <a:rPr lang="en-US" dirty="0"/>
              <a:t>of the biggest machines in the world at that </a:t>
            </a:r>
            <a:br>
              <a:rPr lang="en-US" dirty="0"/>
            </a:br>
            <a:r>
              <a:rPr lang="en-US" dirty="0"/>
              <a:t>time (BG/L) for a dedicated run</a:t>
            </a:r>
          </a:p>
          <a:p>
            <a:r>
              <a:rPr lang="en-US" dirty="0"/>
              <a:t>Short notice to prepare</a:t>
            </a:r>
          </a:p>
          <a:p>
            <a:pPr lvl="1">
              <a:spcBef>
                <a:spcPts val="200"/>
              </a:spcBef>
            </a:pPr>
            <a:r>
              <a:rPr lang="en-US" b="1"/>
              <a:t>&lt; 1 month </a:t>
            </a:r>
            <a:r>
              <a:rPr lang="en-US" b="1" dirty="0"/>
              <a:t>to get ready for 1.5 week run</a:t>
            </a:r>
            <a:endParaRPr lang="en-US" dirty="0"/>
          </a:p>
          <a:p>
            <a:r>
              <a:rPr lang="en-US" dirty="0"/>
              <a:t>Quick and dirty development of particle capability in code</a:t>
            </a:r>
          </a:p>
          <a:p>
            <a:r>
              <a:rPr lang="en-US" dirty="0"/>
              <a:t>Error in tracking particles resulted in duplicated tags from round-off</a:t>
            </a:r>
          </a:p>
          <a:p>
            <a:r>
              <a:rPr lang="en-US" dirty="0"/>
              <a:t>Had to develop post-processing tools to correctly identify trajectories</a:t>
            </a:r>
          </a:p>
          <a:p>
            <a:pPr lvl="1">
              <a:spcBef>
                <a:spcPts val="200"/>
              </a:spcBef>
            </a:pPr>
            <a:r>
              <a:rPr lang="en-US" b="1" dirty="0"/>
              <a:t>6 months to process results</a:t>
            </a:r>
          </a:p>
          <a:p>
            <a:endParaRPr lang="en-US" dirty="0"/>
          </a:p>
          <a:p>
            <a:endParaRPr lang="en-US" dirty="0"/>
          </a:p>
          <a:p>
            <a:endParaRPr lang="en-US" dirty="0"/>
          </a:p>
          <a:p>
            <a:endParaRPr lang="en-US" dirty="0"/>
          </a:p>
        </p:txBody>
      </p:sp>
      <p:sp>
        <p:nvSpPr>
          <p:cNvPr id="4" name="Rounded Rectangle 3"/>
          <p:cNvSpPr/>
          <p:nvPr/>
        </p:nvSpPr>
        <p:spPr>
          <a:xfrm>
            <a:off x="365760" y="5606978"/>
            <a:ext cx="11266797" cy="1169041"/>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rPr>
              <a:t>FLASH had a software process in place. It was tested regularly. This was one instance when the full process could not be applied because of time constraints. </a:t>
            </a:r>
          </a:p>
        </p:txBody>
      </p:sp>
      <p:pic>
        <p:nvPicPr>
          <p:cNvPr id="5" name="Content Placeholder 5" descr="particles.jpg"/>
          <p:cNvPicPr>
            <a:picLocks noChangeAspect="1"/>
          </p:cNvPicPr>
          <p:nvPr/>
        </p:nvPicPr>
        <p:blipFill>
          <a:blip r:embed="rId3" cstate="print">
            <a:extLst>
              <a:ext uri="{28A0092B-C50C-407E-A947-70E740481C1C}">
                <a14:useLocalDpi xmlns:a14="http://schemas.microsoft.com/office/drawing/2010/main" val="0"/>
              </a:ext>
            </a:extLst>
          </a:blip>
          <a:srcRect t="15266" b="15266"/>
          <a:stretch>
            <a:fillRect/>
          </a:stretch>
        </p:blipFill>
        <p:spPr bwMode="auto">
          <a:xfrm>
            <a:off x="7382801" y="411480"/>
            <a:ext cx="4440263" cy="2313449"/>
          </a:xfrm>
          <a:prstGeom prst="rect">
            <a:avLst/>
          </a:prstGeom>
          <a:noFill/>
          <a:ln w="9525">
            <a:noFill/>
            <a:miter lim="800000"/>
            <a:headEnd/>
            <a:tailEnd/>
          </a:ln>
        </p:spPr>
      </p:pic>
    </p:spTree>
    <p:extLst>
      <p:ext uri="{BB962C8B-B14F-4D97-AF65-F5344CB8AC3E}">
        <p14:creationId xmlns:p14="http://schemas.microsoft.com/office/powerpoint/2010/main" val="1356759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8C76E-ADF1-4EAC-97C5-8BDB0E63E3F6}"/>
              </a:ext>
            </a:extLst>
          </p:cNvPr>
          <p:cNvSpPr>
            <a:spLocks noGrp="1"/>
          </p:cNvSpPr>
          <p:nvPr>
            <p:ph type="title"/>
          </p:nvPr>
        </p:nvSpPr>
        <p:spPr/>
        <p:txBody>
          <a:bodyPr/>
          <a:lstStyle/>
          <a:p>
            <a:r>
              <a:rPr lang="en-US" dirty="0"/>
              <a:t>Technical Debt</a:t>
            </a:r>
          </a:p>
        </p:txBody>
      </p:sp>
      <p:sp>
        <p:nvSpPr>
          <p:cNvPr id="3" name="Content Placeholder 2">
            <a:extLst>
              <a:ext uri="{FF2B5EF4-FFF2-40B4-BE49-F238E27FC236}">
                <a16:creationId xmlns:a16="http://schemas.microsoft.com/office/drawing/2014/main" id="{2255B14C-4E3E-4DB2-8529-0139E3DE7D42}"/>
              </a:ext>
            </a:extLst>
          </p:cNvPr>
          <p:cNvSpPr>
            <a:spLocks noGrp="1"/>
          </p:cNvSpPr>
          <p:nvPr>
            <p:ph idx="1"/>
          </p:nvPr>
        </p:nvSpPr>
        <p:spPr>
          <a:xfrm>
            <a:off x="365760" y="2892389"/>
            <a:ext cx="11369809" cy="4047778"/>
          </a:xfrm>
        </p:spPr>
        <p:txBody>
          <a:bodyPr/>
          <a:lstStyle/>
          <a:p>
            <a:pPr marL="0" indent="0">
              <a:buNone/>
            </a:pPr>
            <a:r>
              <a:rPr lang="en-US" dirty="0"/>
              <a:t>Like monetary debt, the more you accumulate, the harder it is to pay off</a:t>
            </a:r>
          </a:p>
          <a:p>
            <a:r>
              <a:rPr lang="en-US" dirty="0"/>
              <a:t>Increases cost of maintenance</a:t>
            </a:r>
          </a:p>
          <a:p>
            <a:r>
              <a:rPr lang="en-US" dirty="0"/>
              <a:t>Parts of software may become unusable over time</a:t>
            </a:r>
          </a:p>
          <a:p>
            <a:r>
              <a:rPr lang="en-US" dirty="0"/>
              <a:t>Inadequately verified software produces questionable results</a:t>
            </a:r>
          </a:p>
          <a:p>
            <a:r>
              <a:rPr lang="en-US" dirty="0"/>
              <a:t>Increases ramp-up time for new developers</a:t>
            </a:r>
          </a:p>
          <a:p>
            <a:r>
              <a:rPr lang="en-US" b="1" dirty="0">
                <a:solidFill>
                  <a:schemeClr val="tx2"/>
                </a:solidFill>
              </a:rPr>
              <a:t>Overall, reduces software and science productivity</a:t>
            </a:r>
          </a:p>
        </p:txBody>
      </p:sp>
      <p:sp>
        <p:nvSpPr>
          <p:cNvPr id="5" name="Rectangle 4">
            <a:extLst>
              <a:ext uri="{FF2B5EF4-FFF2-40B4-BE49-F238E27FC236}">
                <a16:creationId xmlns:a16="http://schemas.microsoft.com/office/drawing/2014/main" id="{EED0B917-5ACB-4EA0-B849-BE3F0F378877}"/>
              </a:ext>
            </a:extLst>
          </p:cNvPr>
          <p:cNvSpPr/>
          <p:nvPr/>
        </p:nvSpPr>
        <p:spPr>
          <a:xfrm>
            <a:off x="2447567" y="1074694"/>
            <a:ext cx="7351360" cy="1569660"/>
          </a:xfrm>
          <a:prstGeom prst="rect">
            <a:avLst/>
          </a:prstGeom>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spAutoFit/>
          </a:bodyPr>
          <a:lstStyle/>
          <a:p>
            <a:pPr algn="ctr"/>
            <a:r>
              <a:rPr lang="en-US" sz="2400" dirty="0">
                <a:solidFill>
                  <a:schemeClr val="bg1"/>
                </a:solidFill>
              </a:rPr>
              <a:t>The implied cost of additional rework caused by choosing an easy (limited) solution now instead of </a:t>
            </a:r>
            <a:br>
              <a:rPr lang="en-US" sz="2400" dirty="0">
                <a:solidFill>
                  <a:schemeClr val="bg1"/>
                </a:solidFill>
              </a:rPr>
            </a:br>
            <a:r>
              <a:rPr lang="en-US" sz="2400" dirty="0">
                <a:solidFill>
                  <a:schemeClr val="bg1"/>
                </a:solidFill>
              </a:rPr>
              <a:t>using a better approach that would take longer.</a:t>
            </a:r>
          </a:p>
          <a:p>
            <a:pPr algn="r"/>
            <a:r>
              <a:rPr lang="en-US" sz="2400" dirty="0">
                <a:solidFill>
                  <a:schemeClr val="bg1"/>
                </a:solidFill>
              </a:rPr>
              <a:t>-- Wikipedia </a:t>
            </a:r>
          </a:p>
        </p:txBody>
      </p:sp>
    </p:spTree>
    <p:extLst>
      <p:ext uri="{BB962C8B-B14F-4D97-AF65-F5344CB8AC3E}">
        <p14:creationId xmlns:p14="http://schemas.microsoft.com/office/powerpoint/2010/main" val="4884934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1B305-C6F2-4C36-9A38-F2C17456AE2B}"/>
              </a:ext>
            </a:extLst>
          </p:cNvPr>
          <p:cNvSpPr>
            <a:spLocks noGrp="1"/>
          </p:cNvSpPr>
          <p:nvPr>
            <p:ph type="title"/>
          </p:nvPr>
        </p:nvSpPr>
        <p:spPr>
          <a:xfrm>
            <a:off x="365761" y="411480"/>
            <a:ext cx="7749992" cy="914400"/>
          </a:xfrm>
        </p:spPr>
        <p:txBody>
          <a:bodyPr/>
          <a:lstStyle/>
          <a:p>
            <a:r>
              <a:rPr lang="en-US" dirty="0"/>
              <a:t>Scientific Facilities Provide Valuable Resources</a:t>
            </a:r>
          </a:p>
        </p:txBody>
      </p:sp>
      <p:sp>
        <p:nvSpPr>
          <p:cNvPr id="10" name="Content Placeholder 9">
            <a:extLst>
              <a:ext uri="{FF2B5EF4-FFF2-40B4-BE49-F238E27FC236}">
                <a16:creationId xmlns:a16="http://schemas.microsoft.com/office/drawing/2014/main" id="{DFC96AD3-4FF0-435B-AC4F-F2EE976B850D}"/>
              </a:ext>
            </a:extLst>
          </p:cNvPr>
          <p:cNvSpPr>
            <a:spLocks noGrp="1"/>
          </p:cNvSpPr>
          <p:nvPr>
            <p:ph idx="1"/>
          </p:nvPr>
        </p:nvSpPr>
        <p:spPr>
          <a:xfrm>
            <a:off x="365761" y="1388332"/>
            <a:ext cx="7749994" cy="4047778"/>
          </a:xfrm>
        </p:spPr>
        <p:txBody>
          <a:bodyPr/>
          <a:lstStyle/>
          <a:p>
            <a:pPr>
              <a:spcBef>
                <a:spcPts val="800"/>
              </a:spcBef>
            </a:pPr>
            <a:r>
              <a:rPr lang="en-US" dirty="0"/>
              <a:t>Major supercomputers often cost O($100M)</a:t>
            </a:r>
          </a:p>
          <a:p>
            <a:pPr>
              <a:spcBef>
                <a:spcPts val="800"/>
              </a:spcBef>
            </a:pPr>
            <a:r>
              <a:rPr lang="en-US" dirty="0"/>
              <a:t>All cost millions more to operate, annually</a:t>
            </a:r>
          </a:p>
          <a:p>
            <a:pPr>
              <a:spcBef>
                <a:spcPts val="800"/>
              </a:spcBef>
            </a:pPr>
            <a:r>
              <a:rPr lang="en-US" dirty="0"/>
              <a:t>Significant allocations on large supercomputers can be worth millions</a:t>
            </a:r>
          </a:p>
          <a:p>
            <a:pPr>
              <a:spcBef>
                <a:spcPts val="800"/>
              </a:spcBef>
            </a:pPr>
            <a:r>
              <a:rPr lang="en-US" dirty="0"/>
              <a:t>Even if you don’t pay the $ you have to spend the time and effort to get the allocation</a:t>
            </a:r>
          </a:p>
          <a:p>
            <a:pPr>
              <a:spcBef>
                <a:spcPts val="800"/>
              </a:spcBef>
            </a:pPr>
            <a:r>
              <a:rPr lang="en-US" i="1" dirty="0"/>
              <a:t>Alternative scenario:</a:t>
            </a:r>
            <a:r>
              <a:rPr lang="en-US" dirty="0"/>
              <a:t> someone else is using an experimental user facility, being guided by your simulations</a:t>
            </a:r>
          </a:p>
          <a:p>
            <a:pPr>
              <a:spcBef>
                <a:spcPts val="800"/>
              </a:spcBef>
            </a:pPr>
            <a:r>
              <a:rPr lang="en-US" b="1" u="sng" dirty="0">
                <a:solidFill>
                  <a:schemeClr val="tx2"/>
                </a:solidFill>
              </a:rPr>
              <a:t>Sponsors’ concern</a:t>
            </a:r>
            <a:r>
              <a:rPr lang="en-US" b="1" dirty="0">
                <a:solidFill>
                  <a:schemeClr val="tx2"/>
                </a:solidFill>
              </a:rPr>
              <a:t>: Are you being a good steward of the resources?</a:t>
            </a:r>
          </a:p>
          <a:p>
            <a:pPr>
              <a:spcBef>
                <a:spcPts val="800"/>
              </a:spcBef>
            </a:pPr>
            <a:r>
              <a:rPr lang="en-US" b="1" u="sng" dirty="0">
                <a:solidFill>
                  <a:schemeClr val="tx2"/>
                </a:solidFill>
              </a:rPr>
              <a:t>Your concern</a:t>
            </a:r>
            <a:r>
              <a:rPr lang="en-US" b="1" dirty="0">
                <a:solidFill>
                  <a:schemeClr val="tx2"/>
                </a:solidFill>
              </a:rPr>
              <a:t>: Are you getting the most science possible out of your work (aka scientific productivity)?</a:t>
            </a:r>
          </a:p>
        </p:txBody>
      </p:sp>
      <p:pic>
        <p:nvPicPr>
          <p:cNvPr id="8" name="Picture 7">
            <a:extLst>
              <a:ext uri="{FF2B5EF4-FFF2-40B4-BE49-F238E27FC236}">
                <a16:creationId xmlns:a16="http://schemas.microsoft.com/office/drawing/2014/main" id="{CBF1AD80-AE63-444B-8CCE-A328E711D223}"/>
              </a:ext>
            </a:extLst>
          </p:cNvPr>
          <p:cNvPicPr>
            <a:picLocks noChangeAspect="1"/>
          </p:cNvPicPr>
          <p:nvPr/>
        </p:nvPicPr>
        <p:blipFill>
          <a:blip r:embed="rId2"/>
          <a:stretch>
            <a:fillRect/>
          </a:stretch>
        </p:blipFill>
        <p:spPr>
          <a:xfrm>
            <a:off x="8190744" y="2236185"/>
            <a:ext cx="3703320" cy="1851660"/>
          </a:xfrm>
          <a:prstGeom prst="rect">
            <a:avLst/>
          </a:prstGeom>
        </p:spPr>
      </p:pic>
      <p:pic>
        <p:nvPicPr>
          <p:cNvPr id="9" name="Picture 4" descr="Image result for olcf frontier images">
            <a:extLst>
              <a:ext uri="{FF2B5EF4-FFF2-40B4-BE49-F238E27FC236}">
                <a16:creationId xmlns:a16="http://schemas.microsoft.com/office/drawing/2014/main" id="{96E8923D-49A5-47B3-89A0-1F0743A5BE5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15754" y="739566"/>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Content Placeholder 3">
            <a:extLst>
              <a:ext uri="{FF2B5EF4-FFF2-40B4-BE49-F238E27FC236}">
                <a16:creationId xmlns:a16="http://schemas.microsoft.com/office/drawing/2014/main" id="{3352E1D0-7C38-486F-8113-805BA100DA8B}"/>
              </a:ext>
            </a:extLst>
          </p:cNvPr>
          <p:cNvPicPr>
            <a:picLocks noChangeAspect="1"/>
          </p:cNvPicPr>
          <p:nvPr/>
        </p:nvPicPr>
        <p:blipFill>
          <a:blip r:embed="rId4"/>
          <a:stretch>
            <a:fillRect/>
          </a:stretch>
        </p:blipFill>
        <p:spPr>
          <a:xfrm>
            <a:off x="8190744" y="3973133"/>
            <a:ext cx="3703320" cy="1902581"/>
          </a:xfrm>
          <a:prstGeom prst="rect">
            <a:avLst/>
          </a:prstGeom>
        </p:spPr>
      </p:pic>
    </p:spTree>
    <p:extLst>
      <p:ext uri="{BB962C8B-B14F-4D97-AF65-F5344CB8AC3E}">
        <p14:creationId xmlns:p14="http://schemas.microsoft.com/office/powerpoint/2010/main" val="38973808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B3607C-F7FB-4C9C-B89D-B2DE6168B45D}"/>
              </a:ext>
            </a:extLst>
          </p:cNvPr>
          <p:cNvSpPr/>
          <p:nvPr/>
        </p:nvSpPr>
        <p:spPr>
          <a:xfrm>
            <a:off x="575448" y="1152602"/>
            <a:ext cx="4892029" cy="1569660"/>
          </a:xfrm>
          <a:prstGeom prst="rect">
            <a:avLst/>
          </a:prstGeom>
        </p:spPr>
        <p:txBody>
          <a:bodyPr wrap="square">
            <a:spAutoFit/>
          </a:bodyPr>
          <a:lstStyle/>
          <a:p>
            <a:pPr algn="ctr"/>
            <a:r>
              <a:rPr lang="en-US" sz="3200" b="1" dirty="0"/>
              <a:t>Good scientific process </a:t>
            </a:r>
            <a:br>
              <a:rPr lang="en-US" sz="3200" b="1" dirty="0"/>
            </a:br>
            <a:r>
              <a:rPr lang="en-US" sz="3200" b="1" dirty="0"/>
              <a:t>requires </a:t>
            </a:r>
            <a:br>
              <a:rPr lang="en-US" sz="3200" b="1" dirty="0"/>
            </a:br>
            <a:r>
              <a:rPr lang="en-US" sz="3200" b="1" dirty="0">
                <a:solidFill>
                  <a:schemeClr val="tx2"/>
                </a:solidFill>
              </a:rPr>
              <a:t>good software practices</a:t>
            </a:r>
          </a:p>
        </p:txBody>
      </p:sp>
      <p:sp>
        <p:nvSpPr>
          <p:cNvPr id="5" name="Rectangle 4">
            <a:extLst>
              <a:ext uri="{FF2B5EF4-FFF2-40B4-BE49-F238E27FC236}">
                <a16:creationId xmlns:a16="http://schemas.microsoft.com/office/drawing/2014/main" id="{1791A19B-0FCA-4503-B689-72E52F74EEE8}"/>
              </a:ext>
            </a:extLst>
          </p:cNvPr>
          <p:cNvSpPr/>
          <p:nvPr/>
        </p:nvSpPr>
        <p:spPr>
          <a:xfrm>
            <a:off x="532542" y="4127870"/>
            <a:ext cx="4977841"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t>scientific productivity</a:t>
            </a:r>
          </a:p>
        </p:txBody>
      </p:sp>
      <p:sp>
        <p:nvSpPr>
          <p:cNvPr id="4" name="Rectangle 3">
            <a:extLst>
              <a:ext uri="{FF2B5EF4-FFF2-40B4-BE49-F238E27FC236}">
                <a16:creationId xmlns:a16="http://schemas.microsoft.com/office/drawing/2014/main" id="{BD777262-E40E-4426-8E71-2943DF7F4D50}"/>
              </a:ext>
            </a:extLst>
          </p:cNvPr>
          <p:cNvSpPr/>
          <p:nvPr/>
        </p:nvSpPr>
        <p:spPr>
          <a:xfrm>
            <a:off x="6779738" y="4127870"/>
            <a:ext cx="4659139" cy="1569660"/>
          </a:xfrm>
          <a:prstGeom prst="rect">
            <a:avLst/>
          </a:prstGeom>
        </p:spPr>
        <p:txBody>
          <a:bodyPr wrap="square">
            <a:spAutoFit/>
          </a:bodyPr>
          <a:lstStyle/>
          <a:p>
            <a:pPr algn="ctr"/>
            <a:r>
              <a:rPr lang="en-US" sz="3200" b="1" dirty="0">
                <a:solidFill>
                  <a:schemeClr val="accent2"/>
                </a:solidFill>
              </a:rPr>
              <a:t>Software sustainability</a:t>
            </a:r>
          </a:p>
          <a:p>
            <a:pPr algn="ctr"/>
            <a:r>
              <a:rPr lang="en-US" sz="3200" b="1" dirty="0"/>
              <a:t>increases</a:t>
            </a:r>
            <a:br>
              <a:rPr lang="en-US" sz="3200" b="1" dirty="0"/>
            </a:br>
            <a:r>
              <a:rPr lang="en-US" sz="3200" b="1" dirty="0"/>
              <a:t>scientific productivity</a:t>
            </a:r>
          </a:p>
        </p:txBody>
      </p:sp>
      <p:sp>
        <p:nvSpPr>
          <p:cNvPr id="6" name="Rectangle 5">
            <a:extLst>
              <a:ext uri="{FF2B5EF4-FFF2-40B4-BE49-F238E27FC236}">
                <a16:creationId xmlns:a16="http://schemas.microsoft.com/office/drawing/2014/main" id="{E9B4162B-73A5-4EC1-A8CB-E2B1C199CF67}"/>
              </a:ext>
            </a:extLst>
          </p:cNvPr>
          <p:cNvSpPr/>
          <p:nvPr/>
        </p:nvSpPr>
        <p:spPr>
          <a:xfrm>
            <a:off x="6621520" y="1152602"/>
            <a:ext cx="4975574"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solidFill>
                  <a:schemeClr val="accent2"/>
                </a:solidFill>
              </a:rPr>
              <a:t>software sustainability</a:t>
            </a:r>
          </a:p>
        </p:txBody>
      </p:sp>
      <p:sp>
        <p:nvSpPr>
          <p:cNvPr id="3" name="Arrow: Right 2">
            <a:extLst>
              <a:ext uri="{FF2B5EF4-FFF2-40B4-BE49-F238E27FC236}">
                <a16:creationId xmlns:a16="http://schemas.microsoft.com/office/drawing/2014/main" id="{6E668A13-9DBB-419A-8098-62D01AFEF4A4}"/>
              </a:ext>
            </a:extLst>
          </p:cNvPr>
          <p:cNvSpPr/>
          <p:nvPr/>
        </p:nvSpPr>
        <p:spPr>
          <a:xfrm>
            <a:off x="5640901" y="1581132"/>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Arrow: Right 6">
            <a:extLst>
              <a:ext uri="{FF2B5EF4-FFF2-40B4-BE49-F238E27FC236}">
                <a16:creationId xmlns:a16="http://schemas.microsoft.com/office/drawing/2014/main" id="{32F4E506-C103-40A0-9EEF-9A24BE3F5CC2}"/>
              </a:ext>
            </a:extLst>
          </p:cNvPr>
          <p:cNvSpPr/>
          <p:nvPr/>
        </p:nvSpPr>
        <p:spPr>
          <a:xfrm rot="5400000">
            <a:off x="2617865" y="3133510"/>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 name="Arrow: Right 8">
            <a:extLst>
              <a:ext uri="{FF2B5EF4-FFF2-40B4-BE49-F238E27FC236}">
                <a16:creationId xmlns:a16="http://schemas.microsoft.com/office/drawing/2014/main" id="{2D94D1BA-E69D-401A-BC0A-24EF1ED24AAB}"/>
              </a:ext>
            </a:extLst>
          </p:cNvPr>
          <p:cNvSpPr/>
          <p:nvPr/>
        </p:nvSpPr>
        <p:spPr>
          <a:xfrm rot="5400000">
            <a:off x="8705710" y="3133511"/>
            <a:ext cx="807194" cy="712601"/>
          </a:xfrm>
          <a:prstGeom prst="rightArrow">
            <a:avLst/>
          </a:prstGeom>
          <a:solidFill>
            <a:schemeClr val="accent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35829059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161E7B-1B03-4C4A-87D2-F133E12924E1}"/>
              </a:ext>
            </a:extLst>
          </p:cNvPr>
          <p:cNvSpPr>
            <a:spLocks noGrp="1"/>
          </p:cNvSpPr>
          <p:nvPr>
            <p:ph type="title"/>
          </p:nvPr>
        </p:nvSpPr>
        <p:spPr/>
        <p:txBody>
          <a:bodyPr/>
          <a:lstStyle/>
          <a:p>
            <a:r>
              <a:rPr lang="en-US" dirty="0"/>
              <a:t>So, What Are Good Software Practices?</a:t>
            </a:r>
          </a:p>
        </p:txBody>
      </p:sp>
      <p:sp>
        <p:nvSpPr>
          <p:cNvPr id="4" name="Content Placeholder 3">
            <a:extLst>
              <a:ext uri="{FF2B5EF4-FFF2-40B4-BE49-F238E27FC236}">
                <a16:creationId xmlns:a16="http://schemas.microsoft.com/office/drawing/2014/main" id="{0B2BD4E6-18EC-4F8B-B51A-517FF6F77967}"/>
              </a:ext>
            </a:extLst>
          </p:cNvPr>
          <p:cNvSpPr>
            <a:spLocks noGrp="1"/>
          </p:cNvSpPr>
          <p:nvPr>
            <p:ph idx="1"/>
          </p:nvPr>
        </p:nvSpPr>
        <p:spPr/>
        <p:txBody>
          <a:bodyPr/>
          <a:lstStyle/>
          <a:p>
            <a:r>
              <a:rPr lang="en-US" dirty="0"/>
              <a:t>There is no fixed, universally agreed set of best practices for scientific software</a:t>
            </a:r>
          </a:p>
          <a:p>
            <a:pPr lvl="1"/>
            <a:r>
              <a:rPr lang="en-US" dirty="0"/>
              <a:t>Specifics of what’s appropriate will depend on the software, how it is used, and the team</a:t>
            </a:r>
          </a:p>
          <a:p>
            <a:r>
              <a:rPr lang="en-US" dirty="0"/>
              <a:t>Let’s look at a few recommendations from different perspectives…</a:t>
            </a:r>
          </a:p>
        </p:txBody>
      </p:sp>
    </p:spTree>
    <p:extLst>
      <p:ext uri="{BB962C8B-B14F-4D97-AF65-F5344CB8AC3E}">
        <p14:creationId xmlns:p14="http://schemas.microsoft.com/office/powerpoint/2010/main" val="4214121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a:pPr>
            <a:r>
              <a:rPr lang="en-US" dirty="0">
                <a:highlight>
                  <a:srgbClr val="FFFF00"/>
                </a:highlight>
              </a:rPr>
              <a:t>Write programs for people, not computers</a:t>
            </a:r>
            <a:r>
              <a:rPr lang="en-US" dirty="0"/>
              <a:t>.</a:t>
            </a:r>
          </a:p>
          <a:p>
            <a:pPr marL="688975" lvl="1" indent="-342900">
              <a:spcBef>
                <a:spcPts val="200"/>
              </a:spcBef>
              <a:buFont typeface="+mj-lt"/>
              <a:buAutoNum type="alphaLcPeriod"/>
            </a:pPr>
            <a:r>
              <a:rPr lang="en-US" dirty="0"/>
              <a:t>A program should not require its readers to hold more than a handful of facts in memory at once.</a:t>
            </a:r>
          </a:p>
          <a:p>
            <a:pPr marL="688975" lvl="1" indent="-342900">
              <a:spcBef>
                <a:spcPts val="200"/>
              </a:spcBef>
              <a:buFont typeface="+mj-lt"/>
              <a:buAutoNum type="alphaLcPeriod"/>
            </a:pPr>
            <a:r>
              <a:rPr lang="en-US" dirty="0"/>
              <a:t>Make names consistent, distinctive, and meaningful.</a:t>
            </a:r>
          </a:p>
          <a:p>
            <a:pPr marL="688975" lvl="1" indent="-342900">
              <a:spcBef>
                <a:spcPts val="200"/>
              </a:spcBef>
              <a:buFont typeface="+mj-lt"/>
              <a:buAutoNum type="alphaLcPeriod"/>
            </a:pPr>
            <a:r>
              <a:rPr lang="en-US" dirty="0"/>
              <a:t>Make code style and formatting consistent.</a:t>
            </a:r>
          </a:p>
          <a:p>
            <a:pPr marL="457200" indent="-457200">
              <a:buFont typeface="+mj-lt"/>
              <a:buAutoNum type="arabicPeriod"/>
            </a:pPr>
            <a:r>
              <a:rPr lang="en-US" dirty="0">
                <a:highlight>
                  <a:srgbClr val="FFFF00"/>
                </a:highlight>
              </a:rPr>
              <a:t>Let the computer do the work.</a:t>
            </a:r>
          </a:p>
          <a:p>
            <a:pPr marL="688975" lvl="1" indent="-342900">
              <a:spcBef>
                <a:spcPts val="200"/>
              </a:spcBef>
              <a:buFont typeface="+mj-lt"/>
              <a:buAutoNum type="alphaLcPeriod"/>
            </a:pPr>
            <a:r>
              <a:rPr lang="en-US" dirty="0"/>
              <a:t>Make the computer repeat tasks.</a:t>
            </a:r>
          </a:p>
          <a:p>
            <a:pPr marL="688975" lvl="1" indent="-342900">
              <a:spcBef>
                <a:spcPts val="200"/>
              </a:spcBef>
              <a:buFont typeface="+mj-lt"/>
              <a:buAutoNum type="alphaLcPeriod"/>
            </a:pPr>
            <a:r>
              <a:rPr lang="en-US" dirty="0"/>
              <a:t>Save recent commands in a file for re-use.</a:t>
            </a:r>
          </a:p>
          <a:p>
            <a:pPr marL="688975" lvl="1" indent="-342900">
              <a:spcBef>
                <a:spcPts val="200"/>
              </a:spcBef>
              <a:buFont typeface="+mj-lt"/>
              <a:buAutoNum type="alphaLcPeriod"/>
            </a:pPr>
            <a:r>
              <a:rPr lang="en-US" dirty="0"/>
              <a:t>Use a build tool to automate workflows.</a:t>
            </a:r>
          </a:p>
          <a:p>
            <a:pPr marL="457200" indent="-457200">
              <a:buFont typeface="+mj-lt"/>
              <a:buAutoNum type="arabicPeriod"/>
            </a:pPr>
            <a:r>
              <a:rPr lang="en-US" dirty="0">
                <a:highlight>
                  <a:srgbClr val="FFFF00"/>
                </a:highlight>
              </a:rPr>
              <a:t>Make incremental changes</a:t>
            </a:r>
            <a:r>
              <a:rPr lang="en-US" dirty="0"/>
              <a:t>.</a:t>
            </a:r>
          </a:p>
          <a:p>
            <a:pPr marL="688975" lvl="1" indent="-342900">
              <a:spcBef>
                <a:spcPts val="200"/>
              </a:spcBef>
              <a:buFont typeface="+mj-lt"/>
              <a:buAutoNum type="alphaLcPeriod"/>
            </a:pPr>
            <a:r>
              <a:rPr lang="en-US" dirty="0"/>
              <a:t>Work in small steps with frequent feedback and course correction.</a:t>
            </a:r>
          </a:p>
          <a:p>
            <a:pPr marL="688975" lvl="1" indent="-342900">
              <a:spcBef>
                <a:spcPts val="200"/>
              </a:spcBef>
              <a:buFont typeface="+mj-lt"/>
              <a:buAutoNum type="alphaLcPeriod"/>
            </a:pPr>
            <a:r>
              <a:rPr lang="en-US" dirty="0"/>
              <a:t>Use a version control system.</a:t>
            </a:r>
          </a:p>
          <a:p>
            <a:pPr marL="688975" lvl="1" indent="-342900">
              <a:spcBef>
                <a:spcPts val="200"/>
              </a:spcBef>
              <a:buFont typeface="+mj-lt"/>
              <a:buAutoNum type="alphaLcPeriod"/>
            </a:pPr>
            <a:r>
              <a:rPr lang="en-US" dirty="0"/>
              <a:t>Put everything that has been created manually in version control.</a:t>
            </a:r>
          </a:p>
        </p:txBody>
      </p:sp>
      <p:sp>
        <p:nvSpPr>
          <p:cNvPr id="13" name="Content Placeholder 12">
            <a:extLst>
              <a:ext uri="{FF2B5EF4-FFF2-40B4-BE49-F238E27FC236}">
                <a16:creationId xmlns:a16="http://schemas.microsoft.com/office/drawing/2014/main" id="{14726AEC-7AC2-46DB-8C1C-1B1035B77052}"/>
              </a:ext>
            </a:extLst>
          </p:cNvPr>
          <p:cNvSpPr>
            <a:spLocks noGrp="1"/>
          </p:cNvSpPr>
          <p:nvPr>
            <p:ph sz="quarter" idx="4"/>
          </p:nvPr>
        </p:nvSpPr>
        <p:spPr>
          <a:xfrm>
            <a:off x="6218914" y="1417132"/>
            <a:ext cx="5531934" cy="3373229"/>
          </a:xfrm>
          <a:ln>
            <a:noFill/>
          </a:ln>
        </p:spPr>
        <p:txBody>
          <a:bodyPr/>
          <a:lstStyle/>
          <a:p>
            <a:pPr marL="457200" indent="-457200">
              <a:buFont typeface="+mj-lt"/>
              <a:buAutoNum type="arabicPeriod" startAt="4"/>
            </a:pPr>
            <a:r>
              <a:rPr lang="en-US" dirty="0">
                <a:highlight>
                  <a:srgbClr val="FFFF00"/>
                </a:highlight>
              </a:rPr>
              <a:t>Don't repeat yourself (or others).</a:t>
            </a:r>
          </a:p>
          <a:p>
            <a:pPr marL="688975" lvl="1" indent="-342900">
              <a:spcBef>
                <a:spcPts val="200"/>
              </a:spcBef>
              <a:buFont typeface="+mj-lt"/>
              <a:buAutoNum type="alphaLcPeriod"/>
            </a:pPr>
            <a:r>
              <a:rPr lang="en-US" dirty="0"/>
              <a:t>Every piece of data must have a single authoritative representation in the system.</a:t>
            </a:r>
          </a:p>
          <a:p>
            <a:pPr marL="688975" lvl="1" indent="-342900">
              <a:spcBef>
                <a:spcPts val="200"/>
              </a:spcBef>
              <a:buFont typeface="+mj-lt"/>
              <a:buAutoNum type="alphaLcPeriod"/>
            </a:pPr>
            <a:r>
              <a:rPr lang="en-US" dirty="0"/>
              <a:t>Modularize code rather than copying and pasting.</a:t>
            </a:r>
          </a:p>
          <a:p>
            <a:pPr marL="688975" lvl="1" indent="-342900">
              <a:spcBef>
                <a:spcPts val="200"/>
              </a:spcBef>
              <a:buFont typeface="+mj-lt"/>
              <a:buAutoNum type="alphaLcPeriod"/>
            </a:pPr>
            <a:r>
              <a:rPr lang="en-US" dirty="0"/>
              <a:t>Re-use code instead of rewriting it.</a:t>
            </a:r>
          </a:p>
          <a:p>
            <a:pPr marL="457200" indent="-457200">
              <a:buFont typeface="+mj-lt"/>
              <a:buAutoNum type="arabicPeriod" startAt="4"/>
            </a:pPr>
            <a:r>
              <a:rPr lang="en-US" dirty="0">
                <a:highlight>
                  <a:srgbClr val="FFFF00"/>
                </a:highlight>
              </a:rPr>
              <a:t>Plan for mistakes</a:t>
            </a:r>
            <a:r>
              <a:rPr lang="en-US" dirty="0"/>
              <a:t>.</a:t>
            </a:r>
          </a:p>
          <a:p>
            <a:pPr marL="688975" lvl="1" indent="-342900">
              <a:spcBef>
                <a:spcPts val="200"/>
              </a:spcBef>
              <a:buFont typeface="+mj-lt"/>
              <a:buAutoNum type="alphaLcPeriod"/>
            </a:pPr>
            <a:r>
              <a:rPr lang="en-US" dirty="0"/>
              <a:t>Add assertions to programs to check their operation.</a:t>
            </a:r>
          </a:p>
          <a:p>
            <a:pPr marL="688975" lvl="1" indent="-342900">
              <a:spcBef>
                <a:spcPts val="200"/>
              </a:spcBef>
              <a:buFont typeface="+mj-lt"/>
              <a:buAutoNum type="alphaLcPeriod"/>
            </a:pPr>
            <a:r>
              <a:rPr lang="en-US" dirty="0"/>
              <a:t>Use an off-the-shelf unit testing library.</a:t>
            </a:r>
          </a:p>
          <a:p>
            <a:pPr marL="688975" lvl="1" indent="-342900">
              <a:spcBef>
                <a:spcPts val="200"/>
              </a:spcBef>
              <a:buFont typeface="+mj-lt"/>
              <a:buAutoNum type="alphaLcPeriod"/>
            </a:pPr>
            <a:r>
              <a:rPr lang="en-US" dirty="0"/>
              <a:t>Turn bugs into test cases.</a:t>
            </a:r>
          </a:p>
          <a:p>
            <a:pPr marL="688975" lvl="1" indent="-342900">
              <a:spcBef>
                <a:spcPts val="200"/>
              </a:spcBef>
              <a:buFont typeface="+mj-lt"/>
              <a:buAutoNum type="alphaLcPeriod"/>
            </a:pPr>
            <a:r>
              <a:rPr lang="en-US" dirty="0"/>
              <a:t>Use a symbolic debugger.</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25473983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startAt="6"/>
            </a:pPr>
            <a:r>
              <a:rPr lang="en-US" dirty="0">
                <a:highlight>
                  <a:srgbClr val="FFFF00"/>
                </a:highlight>
              </a:rPr>
              <a:t>Optimize software only after it works correctly</a:t>
            </a:r>
            <a:r>
              <a:rPr lang="en-US" dirty="0"/>
              <a:t>.</a:t>
            </a:r>
          </a:p>
          <a:p>
            <a:pPr marL="688975" lvl="1" indent="-342900">
              <a:spcBef>
                <a:spcPts val="200"/>
              </a:spcBef>
              <a:buFont typeface="+mj-lt"/>
              <a:buAutoNum type="alphaLcPeriod"/>
            </a:pPr>
            <a:r>
              <a:rPr lang="en-US" dirty="0"/>
              <a:t>Use a profiler to identify bottlenecks.</a:t>
            </a:r>
          </a:p>
          <a:p>
            <a:pPr marL="688975" lvl="1" indent="-342900">
              <a:spcBef>
                <a:spcPts val="200"/>
              </a:spcBef>
              <a:buFont typeface="+mj-lt"/>
              <a:buAutoNum type="alphaLcPeriod"/>
            </a:pPr>
            <a:r>
              <a:rPr lang="en-US" dirty="0"/>
              <a:t>Write code in the highest-level language possible.</a:t>
            </a:r>
          </a:p>
          <a:p>
            <a:pPr marL="457200" indent="-457200">
              <a:buFont typeface="+mj-lt"/>
              <a:buAutoNum type="arabicPeriod" startAt="7"/>
            </a:pPr>
            <a:r>
              <a:rPr lang="en-US" dirty="0">
                <a:highlight>
                  <a:srgbClr val="FFFF00"/>
                </a:highlight>
              </a:rPr>
              <a:t>Document design and purpose, not mechanics</a:t>
            </a:r>
            <a:r>
              <a:rPr lang="en-US" dirty="0"/>
              <a:t>.</a:t>
            </a:r>
          </a:p>
          <a:p>
            <a:pPr marL="688975" lvl="1" indent="-342900">
              <a:spcBef>
                <a:spcPts val="200"/>
              </a:spcBef>
              <a:buFont typeface="+mj-lt"/>
              <a:buAutoNum type="alphaLcPeriod"/>
            </a:pPr>
            <a:r>
              <a:rPr lang="en-US" dirty="0"/>
              <a:t>Document interfaces and reasons, not implementations.</a:t>
            </a:r>
          </a:p>
          <a:p>
            <a:pPr marL="688975" lvl="1" indent="-342900">
              <a:spcBef>
                <a:spcPts val="200"/>
              </a:spcBef>
              <a:buFont typeface="+mj-lt"/>
              <a:buAutoNum type="alphaLcPeriod"/>
            </a:pPr>
            <a:r>
              <a:rPr lang="en-US" dirty="0"/>
              <a:t>Refactor code in preference to explaining how it works.</a:t>
            </a:r>
          </a:p>
          <a:p>
            <a:pPr marL="688975" lvl="1" indent="-342900">
              <a:spcBef>
                <a:spcPts val="200"/>
              </a:spcBef>
              <a:buFont typeface="+mj-lt"/>
              <a:buAutoNum type="alphaLcPeriod"/>
            </a:pPr>
            <a:r>
              <a:rPr lang="en-US" dirty="0"/>
              <a:t>Embed the documentation for a piece of software in that software.</a:t>
            </a:r>
          </a:p>
          <a:p>
            <a:pPr marL="457200" indent="-457200">
              <a:buFont typeface="+mj-lt"/>
              <a:buAutoNum type="arabicPeriod" startAt="7"/>
            </a:pP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buFont typeface="+mj-lt"/>
              <a:buAutoNum type="arabicPeriod" startAt="8"/>
            </a:pPr>
            <a:r>
              <a:rPr lang="en-US" dirty="0">
                <a:highlight>
                  <a:srgbClr val="FFFF00"/>
                </a:highlight>
              </a:rPr>
              <a:t>Collaborate.</a:t>
            </a:r>
          </a:p>
          <a:p>
            <a:pPr marL="688975" lvl="1" indent="-342900">
              <a:spcBef>
                <a:spcPts val="200"/>
              </a:spcBef>
              <a:buFont typeface="+mj-lt"/>
              <a:buAutoNum type="alphaLcPeriod"/>
            </a:pPr>
            <a:r>
              <a:rPr lang="en-US" dirty="0"/>
              <a:t>Use pre-merge code reviews.</a:t>
            </a:r>
          </a:p>
          <a:p>
            <a:pPr marL="688975" lvl="1" indent="-342900">
              <a:spcBef>
                <a:spcPts val="200"/>
              </a:spcBef>
              <a:buFont typeface="+mj-lt"/>
              <a:buAutoNum type="alphaLcPeriod"/>
            </a:pPr>
            <a:r>
              <a:rPr lang="en-US" dirty="0"/>
              <a:t>Use pair programming when bringing someone new up to speed and when tackling particularly tricky problems.</a:t>
            </a:r>
          </a:p>
          <a:p>
            <a:pPr marL="688975" lvl="1" indent="-342900">
              <a:spcBef>
                <a:spcPts val="200"/>
              </a:spcBef>
              <a:buFont typeface="+mj-lt"/>
              <a:buAutoNum type="alphaLcPeriod"/>
            </a:pPr>
            <a:r>
              <a:rPr lang="en-US" dirty="0"/>
              <a:t>Use an issue tracking tool.</a:t>
            </a:r>
          </a:p>
        </p:txBody>
      </p:sp>
      <p:sp>
        <p:nvSpPr>
          <p:cNvPr id="9" name="TextBox 8">
            <a:extLst>
              <a:ext uri="{FF2B5EF4-FFF2-40B4-BE49-F238E27FC236}">
                <a16:creationId xmlns:a16="http://schemas.microsoft.com/office/drawing/2014/main" id="{DB552483-BD94-4E77-AFD5-3E268DAB4A98}"/>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34094606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algn="l">
              <a:buFont typeface="+mj-lt"/>
              <a:buAutoNum type="arabicPeriod"/>
            </a:pPr>
            <a:r>
              <a:rPr lang="en-US" b="0" i="0" dirty="0">
                <a:solidFill>
                  <a:srgbClr val="202020"/>
                </a:solidFill>
                <a:effectLst/>
                <a:highlight>
                  <a:srgbClr val="FFFF00"/>
                </a:highlight>
              </a:rPr>
              <a:t>Data management</a:t>
            </a:r>
          </a:p>
          <a:p>
            <a:pPr marL="800100" lvl="1" indent="-342900" algn="l">
              <a:spcBef>
                <a:spcPts val="200"/>
              </a:spcBef>
              <a:buFont typeface="+mj-lt"/>
              <a:buAutoNum type="alphaLcPeriod"/>
            </a:pPr>
            <a:r>
              <a:rPr lang="en-US" b="0" i="0" dirty="0">
                <a:solidFill>
                  <a:srgbClr val="202020"/>
                </a:solidFill>
                <a:effectLst/>
              </a:rPr>
              <a:t>Save the raw data.</a:t>
            </a:r>
          </a:p>
          <a:p>
            <a:pPr marL="800100" lvl="1" indent="-342900" algn="l">
              <a:spcBef>
                <a:spcPts val="200"/>
              </a:spcBef>
              <a:buFont typeface="+mj-lt"/>
              <a:buAutoNum type="alphaLcPeriod"/>
            </a:pPr>
            <a:r>
              <a:rPr lang="en-US" b="0" i="0" dirty="0">
                <a:solidFill>
                  <a:srgbClr val="202020"/>
                </a:solidFill>
                <a:effectLst/>
              </a:rPr>
              <a:t>Ensure that raw data are backed up in more than one location.</a:t>
            </a:r>
          </a:p>
          <a:p>
            <a:pPr marL="800100" lvl="1" indent="-342900" algn="l">
              <a:spcBef>
                <a:spcPts val="200"/>
              </a:spcBef>
              <a:buFont typeface="+mj-lt"/>
              <a:buAutoNum type="alphaLcPeriod"/>
            </a:pPr>
            <a:r>
              <a:rPr lang="en-US" b="0" i="0" dirty="0">
                <a:solidFill>
                  <a:srgbClr val="202020"/>
                </a:solidFill>
                <a:effectLst/>
              </a:rPr>
              <a:t>Create the data you wish to see in the world.</a:t>
            </a:r>
          </a:p>
          <a:p>
            <a:pPr marL="800100" lvl="1" indent="-342900" algn="l">
              <a:spcBef>
                <a:spcPts val="200"/>
              </a:spcBef>
              <a:buFont typeface="+mj-lt"/>
              <a:buAutoNum type="alphaLcPeriod"/>
            </a:pPr>
            <a:r>
              <a:rPr lang="en-US" b="0" i="0" dirty="0">
                <a:solidFill>
                  <a:srgbClr val="202020"/>
                </a:solidFill>
                <a:effectLst/>
              </a:rPr>
              <a:t>Create analysis-friendly data.</a:t>
            </a:r>
          </a:p>
          <a:p>
            <a:pPr marL="800100" lvl="1" indent="-342900" algn="l">
              <a:spcBef>
                <a:spcPts val="200"/>
              </a:spcBef>
              <a:buFont typeface="+mj-lt"/>
              <a:buAutoNum type="alphaLcPeriod"/>
            </a:pPr>
            <a:r>
              <a:rPr lang="en-US" b="0" i="0" dirty="0">
                <a:solidFill>
                  <a:srgbClr val="202020"/>
                </a:solidFill>
                <a:effectLst/>
              </a:rPr>
              <a:t>Record all the steps used to process data.</a:t>
            </a:r>
          </a:p>
          <a:p>
            <a:pPr marL="800100" lvl="1" indent="-342900" algn="l">
              <a:spcBef>
                <a:spcPts val="200"/>
              </a:spcBef>
              <a:buFont typeface="+mj-lt"/>
              <a:buAutoNum type="alphaLcPeriod"/>
            </a:pPr>
            <a:r>
              <a:rPr lang="en-US" b="0" i="0" dirty="0">
                <a:solidFill>
                  <a:srgbClr val="202020"/>
                </a:solidFill>
                <a:effectLst/>
              </a:rPr>
              <a:t>Anticipate the need to use multiple tables, and use a unique identifier for every record.</a:t>
            </a:r>
          </a:p>
          <a:p>
            <a:pPr marL="800100" lvl="1" indent="-342900" algn="l">
              <a:spcBef>
                <a:spcPts val="200"/>
              </a:spcBef>
              <a:buFont typeface="+mj-lt"/>
              <a:buAutoNum type="alphaLcPeriod"/>
            </a:pPr>
            <a:r>
              <a:rPr lang="en-US" b="0" i="0" dirty="0">
                <a:solidFill>
                  <a:srgbClr val="202020"/>
                </a:solidFill>
                <a:effectLst/>
              </a:rPr>
              <a:t>Submit data to a reputable DOI-issuing repository so that others can access and cite it.</a:t>
            </a:r>
          </a:p>
          <a:p>
            <a:pPr marL="457200" indent="-457200" algn="l">
              <a:buFont typeface="+mj-lt"/>
              <a:buAutoNum type="arabicPeriod" startAt="6"/>
            </a:pPr>
            <a:r>
              <a:rPr lang="en-US" b="0" i="0" dirty="0">
                <a:solidFill>
                  <a:srgbClr val="202020"/>
                </a:solidFill>
                <a:effectLst/>
                <a:highlight>
                  <a:srgbClr val="FFFF00"/>
                </a:highlight>
              </a:rPr>
              <a:t>Manuscripts </a:t>
            </a:r>
            <a:r>
              <a:rPr lang="en-US" b="0" i="0" dirty="0">
                <a:solidFill>
                  <a:schemeClr val="bg1">
                    <a:lumMod val="50000"/>
                  </a:schemeClr>
                </a:solidFill>
                <a:effectLst/>
              </a:rPr>
              <a:t>(out of order to save space)</a:t>
            </a:r>
          </a:p>
          <a:p>
            <a:pPr marL="800100" lvl="1" indent="-342900" algn="l">
              <a:spcBef>
                <a:spcPts val="200"/>
              </a:spcBef>
              <a:buFont typeface="+mj-lt"/>
              <a:buAutoNum type="alphaLcPeriod"/>
            </a:pPr>
            <a:r>
              <a:rPr lang="en-US" b="0" i="0" dirty="0">
                <a:solidFill>
                  <a:srgbClr val="202020"/>
                </a:solidFill>
                <a:effectLst/>
              </a:rPr>
              <a:t>Write manuscripts using online tools with rich formatting, change tracking, and reference management.</a:t>
            </a:r>
          </a:p>
          <a:p>
            <a:pPr marL="800100" lvl="1" indent="-342900" algn="l">
              <a:spcBef>
                <a:spcPts val="200"/>
              </a:spcBef>
              <a:buFont typeface="+mj-lt"/>
              <a:buAutoNum type="alphaLcPeriod"/>
            </a:pPr>
            <a:r>
              <a:rPr lang="en-US" b="0" i="0" dirty="0">
                <a:solidFill>
                  <a:srgbClr val="202020"/>
                </a:solidFill>
                <a:effectLst/>
              </a:rPr>
              <a:t>Write the manuscript in a plain text format that permits version control.</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2"/>
            </a:pPr>
            <a:r>
              <a:rPr lang="en-US" b="0" i="0" dirty="0">
                <a:solidFill>
                  <a:srgbClr val="202020"/>
                </a:solidFill>
                <a:effectLst/>
                <a:highlight>
                  <a:srgbClr val="FFFF00"/>
                </a:highlight>
              </a:rPr>
              <a:t>Software</a:t>
            </a:r>
          </a:p>
          <a:p>
            <a:pPr marL="800100" lvl="1" indent="-342900" algn="l">
              <a:spcBef>
                <a:spcPts val="200"/>
              </a:spcBef>
              <a:buFont typeface="+mj-lt"/>
              <a:buAutoNum type="alphaLcPeriod"/>
            </a:pPr>
            <a:r>
              <a:rPr lang="en-US" b="0" i="0" dirty="0">
                <a:solidFill>
                  <a:srgbClr val="202020"/>
                </a:solidFill>
                <a:effectLst/>
              </a:rPr>
              <a:t>Place a brief explanatory comment at the start of every program.</a:t>
            </a:r>
          </a:p>
          <a:p>
            <a:pPr marL="800100" lvl="1" indent="-342900" algn="l">
              <a:spcBef>
                <a:spcPts val="200"/>
              </a:spcBef>
              <a:buFont typeface="+mj-lt"/>
              <a:buAutoNum type="alphaLcPeriod"/>
            </a:pPr>
            <a:r>
              <a:rPr lang="en-US" b="0" i="0" dirty="0">
                <a:solidFill>
                  <a:srgbClr val="202020"/>
                </a:solidFill>
                <a:effectLst/>
              </a:rPr>
              <a:t>Decompose programs into functions.</a:t>
            </a:r>
          </a:p>
          <a:p>
            <a:pPr marL="800100" lvl="1" indent="-342900" algn="l">
              <a:spcBef>
                <a:spcPts val="200"/>
              </a:spcBef>
              <a:buFont typeface="+mj-lt"/>
              <a:buAutoNum type="alphaLcPeriod"/>
            </a:pPr>
            <a:r>
              <a:rPr lang="en-US" b="0" i="0" dirty="0">
                <a:solidFill>
                  <a:srgbClr val="202020"/>
                </a:solidFill>
                <a:effectLst/>
              </a:rPr>
              <a:t>Be ruthless about eliminating duplication.</a:t>
            </a:r>
          </a:p>
          <a:p>
            <a:pPr marL="800100" lvl="1" indent="-342900" algn="l">
              <a:spcBef>
                <a:spcPts val="200"/>
              </a:spcBef>
              <a:buFont typeface="+mj-lt"/>
              <a:buAutoNum type="alphaLcPeriod"/>
            </a:pPr>
            <a:r>
              <a:rPr lang="en-US" b="0" i="0" dirty="0">
                <a:solidFill>
                  <a:srgbClr val="202020"/>
                </a:solidFill>
                <a:effectLst/>
              </a:rPr>
              <a:t>Always search for well-maintained software libraries that do what you need.</a:t>
            </a:r>
          </a:p>
          <a:p>
            <a:pPr marL="800100" lvl="1" indent="-342900" algn="l">
              <a:spcBef>
                <a:spcPts val="200"/>
              </a:spcBef>
              <a:buFont typeface="+mj-lt"/>
              <a:buAutoNum type="alphaLcPeriod"/>
            </a:pPr>
            <a:r>
              <a:rPr lang="en-US" b="0" i="0" dirty="0">
                <a:solidFill>
                  <a:srgbClr val="202020"/>
                </a:solidFill>
                <a:effectLst/>
              </a:rPr>
              <a:t>Test libraries before relying on them.</a:t>
            </a:r>
          </a:p>
          <a:p>
            <a:pPr marL="800100" lvl="1" indent="-342900" algn="l">
              <a:spcBef>
                <a:spcPts val="200"/>
              </a:spcBef>
              <a:buFont typeface="+mj-lt"/>
              <a:buAutoNum type="alphaLcPeriod"/>
            </a:pPr>
            <a:r>
              <a:rPr lang="en-US" b="0" i="0" dirty="0">
                <a:solidFill>
                  <a:srgbClr val="202020"/>
                </a:solidFill>
                <a:effectLst/>
              </a:rPr>
              <a:t>Give functions and variables meaningful names.</a:t>
            </a:r>
          </a:p>
          <a:p>
            <a:pPr marL="800100" lvl="1" indent="-342900" algn="l">
              <a:spcBef>
                <a:spcPts val="200"/>
              </a:spcBef>
              <a:buFont typeface="+mj-lt"/>
              <a:buAutoNum type="alphaLcPeriod"/>
            </a:pPr>
            <a:r>
              <a:rPr lang="en-US" b="0" i="0" dirty="0">
                <a:solidFill>
                  <a:srgbClr val="202020"/>
                </a:solidFill>
                <a:effectLst/>
              </a:rPr>
              <a:t>Make dependencies and requirements explicit.</a:t>
            </a:r>
          </a:p>
          <a:p>
            <a:pPr marL="800100" lvl="1" indent="-342900" algn="l">
              <a:spcBef>
                <a:spcPts val="200"/>
              </a:spcBef>
              <a:buFont typeface="+mj-lt"/>
              <a:buAutoNum type="alphaLcPeriod"/>
            </a:pPr>
            <a:r>
              <a:rPr lang="en-US" b="0" i="0" dirty="0">
                <a:solidFill>
                  <a:srgbClr val="202020"/>
                </a:solidFill>
                <a:effectLst/>
              </a:rPr>
              <a:t>Do not comment and uncomment sections of code to control a program's behavior.</a:t>
            </a:r>
          </a:p>
          <a:p>
            <a:pPr marL="800100" lvl="1" indent="-342900" algn="l">
              <a:spcBef>
                <a:spcPts val="200"/>
              </a:spcBef>
              <a:buFont typeface="+mj-lt"/>
              <a:buAutoNum type="alphaLcPeriod"/>
            </a:pPr>
            <a:r>
              <a:rPr lang="en-US" b="0" i="0" dirty="0">
                <a:solidFill>
                  <a:srgbClr val="202020"/>
                </a:solidFill>
                <a:effectLst/>
              </a:rPr>
              <a:t>Provide a simple example or test data set.</a:t>
            </a:r>
          </a:p>
          <a:p>
            <a:pPr marL="800100" lvl="1" indent="-342900" algn="l">
              <a:spcBef>
                <a:spcPts val="200"/>
              </a:spcBef>
              <a:buFont typeface="+mj-lt"/>
              <a:buAutoNum type="alphaLcPeriod"/>
            </a:pPr>
            <a:r>
              <a:rPr lang="en-US" b="0" i="0" dirty="0">
                <a:solidFill>
                  <a:srgbClr val="202020"/>
                </a:solidFill>
                <a:effectLst/>
              </a:rPr>
              <a:t>Submit code to a reputable DOI-issuing repository.</a:t>
            </a:r>
          </a:p>
        </p:txBody>
      </p:sp>
    </p:spTree>
    <p:extLst>
      <p:ext uri="{BB962C8B-B14F-4D97-AF65-F5344CB8AC3E}">
        <p14:creationId xmlns:p14="http://schemas.microsoft.com/office/powerpoint/2010/main" val="41039124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lgn="l">
              <a:buFont typeface="+mj-lt"/>
              <a:buAutoNum type="arabicPeriod" startAt="3"/>
            </a:pPr>
            <a:r>
              <a:rPr lang="en-US" b="0" i="0" dirty="0">
                <a:solidFill>
                  <a:srgbClr val="202020"/>
                </a:solidFill>
                <a:effectLst/>
                <a:highlight>
                  <a:srgbClr val="FFFF00"/>
                </a:highlight>
              </a:rPr>
              <a:t>Collaboration</a:t>
            </a:r>
          </a:p>
          <a:p>
            <a:pPr marL="800100" lvl="1" indent="-342900" algn="l">
              <a:spcBef>
                <a:spcPts val="200"/>
              </a:spcBef>
              <a:buFont typeface="+mj-lt"/>
              <a:buAutoNum type="alphaLcPeriod"/>
            </a:pPr>
            <a:r>
              <a:rPr lang="en-US" b="0" i="0" dirty="0">
                <a:solidFill>
                  <a:srgbClr val="202020"/>
                </a:solidFill>
                <a:effectLst/>
              </a:rPr>
              <a:t>Create an overview of your project.</a:t>
            </a:r>
          </a:p>
          <a:p>
            <a:pPr marL="800100" lvl="1" indent="-342900" algn="l">
              <a:spcBef>
                <a:spcPts val="200"/>
              </a:spcBef>
              <a:buFont typeface="+mj-lt"/>
              <a:buAutoNum type="alphaLcPeriod"/>
            </a:pPr>
            <a:r>
              <a:rPr lang="en-US" b="0" i="0" dirty="0">
                <a:solidFill>
                  <a:srgbClr val="202020"/>
                </a:solidFill>
                <a:effectLst/>
              </a:rPr>
              <a:t>Create a shared "to-do" list for the project.</a:t>
            </a:r>
          </a:p>
          <a:p>
            <a:pPr marL="800100" lvl="1" indent="-342900" algn="l">
              <a:spcBef>
                <a:spcPts val="200"/>
              </a:spcBef>
              <a:buFont typeface="+mj-lt"/>
              <a:buAutoNum type="alphaLcPeriod"/>
            </a:pPr>
            <a:r>
              <a:rPr lang="en-US" b="0" i="0" dirty="0">
                <a:solidFill>
                  <a:srgbClr val="202020"/>
                </a:solidFill>
                <a:effectLst/>
              </a:rPr>
              <a:t>Decide on communication strategies.</a:t>
            </a:r>
          </a:p>
          <a:p>
            <a:pPr marL="800100" lvl="1" indent="-342900" algn="l">
              <a:spcBef>
                <a:spcPts val="200"/>
              </a:spcBef>
              <a:buFont typeface="+mj-lt"/>
              <a:buAutoNum type="alphaLcPeriod"/>
            </a:pPr>
            <a:r>
              <a:rPr lang="en-US" b="0" i="0" dirty="0">
                <a:solidFill>
                  <a:srgbClr val="202020"/>
                </a:solidFill>
                <a:effectLst/>
              </a:rPr>
              <a:t>Make the license explicit.</a:t>
            </a:r>
          </a:p>
          <a:p>
            <a:pPr marL="800100" lvl="1" indent="-342900" algn="l">
              <a:spcBef>
                <a:spcPts val="200"/>
              </a:spcBef>
              <a:buFont typeface="+mj-lt"/>
              <a:buAutoNum type="alphaLcPeriod"/>
            </a:pPr>
            <a:r>
              <a:rPr lang="en-US" b="0" i="0" dirty="0">
                <a:solidFill>
                  <a:srgbClr val="202020"/>
                </a:solidFill>
                <a:effectLst/>
              </a:rPr>
              <a:t>Make the project citable.</a:t>
            </a:r>
          </a:p>
          <a:p>
            <a:pPr algn="l">
              <a:buFont typeface="+mj-lt"/>
              <a:buAutoNum type="arabicPeriod" startAt="3"/>
            </a:pPr>
            <a:r>
              <a:rPr lang="en-US" b="0" i="0" dirty="0">
                <a:solidFill>
                  <a:srgbClr val="202020"/>
                </a:solidFill>
                <a:effectLst/>
                <a:highlight>
                  <a:srgbClr val="FFFF00"/>
                </a:highlight>
              </a:rPr>
              <a:t>Project organization</a:t>
            </a:r>
          </a:p>
          <a:p>
            <a:pPr marL="800100" lvl="1" indent="-342900" algn="l">
              <a:spcBef>
                <a:spcPts val="200"/>
              </a:spcBef>
              <a:buFont typeface="+mj-lt"/>
              <a:buAutoNum type="alphaLcPeriod"/>
            </a:pPr>
            <a:r>
              <a:rPr lang="en-US" b="0" i="0" dirty="0">
                <a:solidFill>
                  <a:srgbClr val="202020"/>
                </a:solidFill>
                <a:effectLst/>
              </a:rPr>
              <a:t>Put each project in its own directory, which is named after the project.</a:t>
            </a:r>
          </a:p>
          <a:p>
            <a:pPr marL="800100" lvl="1" indent="-342900" algn="l">
              <a:spcBef>
                <a:spcPts val="200"/>
              </a:spcBef>
              <a:buFont typeface="+mj-lt"/>
              <a:buAutoNum type="alphaLcPeriod"/>
            </a:pPr>
            <a:r>
              <a:rPr lang="en-US" b="0" i="0" dirty="0">
                <a:solidFill>
                  <a:srgbClr val="202020"/>
                </a:solidFill>
                <a:effectLst/>
              </a:rPr>
              <a:t>Put text documents associated with the project in the doc directory.</a:t>
            </a:r>
          </a:p>
          <a:p>
            <a:pPr marL="800100" lvl="1" indent="-342900" algn="l">
              <a:spcBef>
                <a:spcPts val="200"/>
              </a:spcBef>
              <a:buFont typeface="+mj-lt"/>
              <a:buAutoNum type="alphaLcPeriod"/>
            </a:pPr>
            <a:r>
              <a:rPr lang="en-US" b="0" i="0" dirty="0">
                <a:solidFill>
                  <a:srgbClr val="202020"/>
                </a:solidFill>
                <a:effectLst/>
              </a:rPr>
              <a:t>Put raw data and metadata in a data directory and files generated during cleanup and analysis in a results directory.</a:t>
            </a:r>
          </a:p>
          <a:p>
            <a:pPr marL="800100" lvl="1" indent="-342900" algn="l">
              <a:spcBef>
                <a:spcPts val="200"/>
              </a:spcBef>
              <a:buFont typeface="+mj-lt"/>
              <a:buAutoNum type="alphaLcPeriod"/>
            </a:pPr>
            <a:r>
              <a:rPr lang="en-US" b="0" i="0" dirty="0">
                <a:solidFill>
                  <a:srgbClr val="202020"/>
                </a:solidFill>
                <a:effectLst/>
              </a:rPr>
              <a:t>Put project source code in the </a:t>
            </a:r>
            <a:r>
              <a:rPr lang="en-US" b="0" i="0" dirty="0" err="1">
                <a:solidFill>
                  <a:srgbClr val="202020"/>
                </a:solidFill>
                <a:effectLst/>
              </a:rPr>
              <a:t>src</a:t>
            </a:r>
            <a:r>
              <a:rPr lang="en-US" b="0" i="0" dirty="0">
                <a:solidFill>
                  <a:srgbClr val="202020"/>
                </a:solidFill>
                <a:effectLst/>
              </a:rPr>
              <a:t> directory.</a:t>
            </a:r>
          </a:p>
          <a:p>
            <a:pPr marL="800100" lvl="1" indent="-342900" algn="l">
              <a:spcBef>
                <a:spcPts val="200"/>
              </a:spcBef>
              <a:buFont typeface="+mj-lt"/>
              <a:buAutoNum type="alphaLcPeriod"/>
            </a:pPr>
            <a:r>
              <a:rPr lang="en-US" b="0" i="0" dirty="0">
                <a:solidFill>
                  <a:srgbClr val="202020"/>
                </a:solidFill>
                <a:effectLst/>
              </a:rPr>
              <a:t>Put external scripts or compiled programs in the bin directory.</a:t>
            </a:r>
          </a:p>
          <a:p>
            <a:pPr marL="800100" lvl="1" indent="-342900" algn="l">
              <a:spcBef>
                <a:spcPts val="200"/>
              </a:spcBef>
              <a:buFont typeface="+mj-lt"/>
              <a:buAutoNum type="alphaLcPeriod"/>
            </a:pPr>
            <a:r>
              <a:rPr lang="en-US" b="0" i="0" dirty="0">
                <a:solidFill>
                  <a:srgbClr val="202020"/>
                </a:solidFill>
                <a:effectLst/>
              </a:rPr>
              <a:t>Name all files to reflect their content or function.</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5"/>
            </a:pPr>
            <a:r>
              <a:rPr lang="en-US" b="0" i="0" dirty="0">
                <a:solidFill>
                  <a:srgbClr val="202020"/>
                </a:solidFill>
                <a:effectLst/>
                <a:highlight>
                  <a:srgbClr val="FFFF00"/>
                </a:highlight>
              </a:rPr>
              <a:t>Keeping track of changes</a:t>
            </a:r>
          </a:p>
          <a:p>
            <a:pPr marL="800100" lvl="1" indent="-342900" algn="l">
              <a:spcBef>
                <a:spcPts val="200"/>
              </a:spcBef>
              <a:buFont typeface="+mj-lt"/>
              <a:buAutoNum type="alphaLcPeriod"/>
            </a:pPr>
            <a:r>
              <a:rPr lang="en-US" b="0" i="0" dirty="0">
                <a:solidFill>
                  <a:srgbClr val="202020"/>
                </a:solidFill>
                <a:effectLst/>
              </a:rPr>
              <a:t>Back up (almost) everything created by a human being as soon as it is created.</a:t>
            </a:r>
          </a:p>
          <a:p>
            <a:pPr marL="800100" lvl="1" indent="-342900" algn="l">
              <a:spcBef>
                <a:spcPts val="200"/>
              </a:spcBef>
              <a:buFont typeface="+mj-lt"/>
              <a:buAutoNum type="alphaLcPeriod"/>
            </a:pPr>
            <a:r>
              <a:rPr lang="en-US" b="0" i="0" dirty="0">
                <a:solidFill>
                  <a:srgbClr val="202020"/>
                </a:solidFill>
                <a:effectLst/>
              </a:rPr>
              <a:t>Keep changes small.</a:t>
            </a:r>
          </a:p>
          <a:p>
            <a:pPr marL="800100" lvl="1" indent="-342900" algn="l">
              <a:spcBef>
                <a:spcPts val="200"/>
              </a:spcBef>
              <a:buFont typeface="+mj-lt"/>
              <a:buAutoNum type="alphaLcPeriod"/>
            </a:pPr>
            <a:r>
              <a:rPr lang="en-US" b="0" i="0" dirty="0">
                <a:solidFill>
                  <a:srgbClr val="202020"/>
                </a:solidFill>
                <a:effectLst/>
              </a:rPr>
              <a:t>Share changes frequently.</a:t>
            </a:r>
          </a:p>
          <a:p>
            <a:pPr marL="800100" lvl="1" indent="-342900" algn="l">
              <a:spcBef>
                <a:spcPts val="200"/>
              </a:spcBef>
              <a:buFont typeface="+mj-lt"/>
              <a:buAutoNum type="alphaLcPeriod"/>
            </a:pPr>
            <a:r>
              <a:rPr lang="en-US" b="0" i="0" dirty="0">
                <a:solidFill>
                  <a:srgbClr val="202020"/>
                </a:solidFill>
                <a:effectLst/>
              </a:rPr>
              <a:t>Create, maintain, and use a checklist for saving and sharing changes to the project.</a:t>
            </a:r>
          </a:p>
          <a:p>
            <a:pPr marL="800100" lvl="1" indent="-342900" algn="l">
              <a:spcBef>
                <a:spcPts val="200"/>
              </a:spcBef>
              <a:buFont typeface="+mj-lt"/>
              <a:buAutoNum type="alphaLcPeriod"/>
            </a:pPr>
            <a:r>
              <a:rPr lang="en-US" b="0" i="0" dirty="0">
                <a:solidFill>
                  <a:srgbClr val="202020"/>
                </a:solidFill>
                <a:effectLst/>
              </a:rPr>
              <a:t>Store each project in a folder that is mirrored off the researcher's working machine.</a:t>
            </a:r>
          </a:p>
          <a:p>
            <a:pPr marL="800100" lvl="1" indent="-342900" algn="l">
              <a:spcBef>
                <a:spcPts val="200"/>
              </a:spcBef>
              <a:buFont typeface="+mj-lt"/>
              <a:buAutoNum type="alphaLcPeriod"/>
            </a:pPr>
            <a:r>
              <a:rPr lang="en-US" b="0" i="0" dirty="0">
                <a:solidFill>
                  <a:srgbClr val="202020"/>
                </a:solidFill>
                <a:effectLst/>
              </a:rPr>
              <a:t>Add a file called CHANGELOG.txt to the project's docs subfolder.</a:t>
            </a:r>
          </a:p>
          <a:p>
            <a:pPr marL="800100" lvl="1" indent="-342900" algn="l">
              <a:spcBef>
                <a:spcPts val="200"/>
              </a:spcBef>
              <a:buFont typeface="+mj-lt"/>
              <a:buAutoNum type="alphaLcPeriod"/>
            </a:pPr>
            <a:r>
              <a:rPr lang="en-US" b="0" i="0" dirty="0">
                <a:solidFill>
                  <a:srgbClr val="202020"/>
                </a:solidFill>
                <a:effectLst/>
              </a:rPr>
              <a:t>Copy the entire project whenever a significant change has been made.</a:t>
            </a:r>
          </a:p>
          <a:p>
            <a:pPr marL="800100" lvl="1" indent="-342900" algn="l">
              <a:spcBef>
                <a:spcPts val="200"/>
              </a:spcBef>
              <a:buFont typeface="+mj-lt"/>
              <a:buAutoNum type="alphaLcPeriod"/>
            </a:pPr>
            <a:r>
              <a:rPr lang="en-US" b="0" i="0" dirty="0">
                <a:solidFill>
                  <a:srgbClr val="202020"/>
                </a:solidFill>
                <a:effectLst/>
              </a:rPr>
              <a:t>Use a version control system.</a:t>
            </a:r>
          </a:p>
        </p:txBody>
      </p:sp>
    </p:spTree>
    <p:extLst>
      <p:ext uri="{BB962C8B-B14F-4D97-AF65-F5344CB8AC3E}">
        <p14:creationId xmlns:p14="http://schemas.microsoft.com/office/powerpoint/2010/main" val="12852432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E4A6F5A-1431-47E0-B414-98D6A3C81AD8}"/>
              </a:ext>
            </a:extLst>
          </p:cNvPr>
          <p:cNvSpPr>
            <a:spLocks noGrp="1"/>
          </p:cNvSpPr>
          <p:nvPr>
            <p:ph type="title"/>
          </p:nvPr>
        </p:nvSpPr>
        <p:spPr/>
        <p:txBody>
          <a:bodyPr/>
          <a:lstStyle/>
          <a:p>
            <a:r>
              <a:rPr lang="en-US" dirty="0"/>
              <a:t>Example 3: </a:t>
            </a:r>
            <a:r>
              <a:rPr lang="en-US" dirty="0" err="1"/>
              <a:t>OpenSSF</a:t>
            </a:r>
            <a:r>
              <a:rPr lang="en-US" dirty="0"/>
              <a:t> Best Practices Badge Program</a:t>
            </a:r>
          </a:p>
        </p:txBody>
      </p:sp>
      <p:sp>
        <p:nvSpPr>
          <p:cNvPr id="8" name="Content Placeholder 7">
            <a:extLst>
              <a:ext uri="{FF2B5EF4-FFF2-40B4-BE49-F238E27FC236}">
                <a16:creationId xmlns:a16="http://schemas.microsoft.com/office/drawing/2014/main" id="{E569C241-BE37-4775-B3BA-0625446206C1}"/>
              </a:ext>
            </a:extLst>
          </p:cNvPr>
          <p:cNvSpPr>
            <a:spLocks noGrp="1"/>
          </p:cNvSpPr>
          <p:nvPr>
            <p:ph idx="1"/>
          </p:nvPr>
        </p:nvSpPr>
        <p:spPr/>
        <p:txBody>
          <a:bodyPr/>
          <a:lstStyle/>
          <a:p>
            <a:r>
              <a:rPr lang="en-US" dirty="0"/>
              <a:t>Not specifically intended for scientific software</a:t>
            </a:r>
          </a:p>
          <a:p>
            <a:pPr lvl="1"/>
            <a:r>
              <a:rPr lang="en-US" dirty="0" err="1"/>
              <a:t>OpenSSF</a:t>
            </a:r>
            <a:r>
              <a:rPr lang="en-US" dirty="0"/>
              <a:t> = Open Source Security Foundation</a:t>
            </a:r>
          </a:p>
          <a:p>
            <a:r>
              <a:rPr lang="en-US" dirty="0"/>
              <a:t>Three levels</a:t>
            </a:r>
          </a:p>
          <a:p>
            <a:pPr lvl="1">
              <a:buFont typeface="Arial" panose="020B0604020202020204" pitchFamily="34" charset="0"/>
              <a:buChar char="•"/>
            </a:pPr>
            <a:r>
              <a:rPr lang="en-US" b="1" i="0" dirty="0">
                <a:solidFill>
                  <a:srgbClr val="333333"/>
                </a:solidFill>
                <a:effectLst/>
              </a:rPr>
              <a:t>Passing</a:t>
            </a:r>
            <a:r>
              <a:rPr lang="en-US" b="0" i="0" dirty="0">
                <a:solidFill>
                  <a:srgbClr val="333333"/>
                </a:solidFill>
                <a:effectLst/>
              </a:rPr>
              <a:t> focuses on best practices that well-run FLOSS projects typically already follow. </a:t>
            </a:r>
            <a:r>
              <a:rPr lang="en-US" b="0" i="0" u="sng" dirty="0">
                <a:solidFill>
                  <a:srgbClr val="333333"/>
                </a:solidFill>
                <a:effectLst/>
              </a:rPr>
              <a:t>Getting the passing badge is an achievement</a:t>
            </a:r>
            <a:r>
              <a:rPr lang="en-US" b="0" i="0" dirty="0">
                <a:solidFill>
                  <a:srgbClr val="333333"/>
                </a:solidFill>
                <a:effectLst/>
              </a:rPr>
              <a:t>; at any one time only about 10% of projects pursuing a badge achieve the passing level.</a:t>
            </a:r>
          </a:p>
          <a:p>
            <a:pPr lvl="1">
              <a:buFont typeface="Arial" panose="020B0604020202020204" pitchFamily="34" charset="0"/>
              <a:buChar char="•"/>
            </a:pPr>
            <a:r>
              <a:rPr lang="en-US" b="1" i="0" dirty="0">
                <a:solidFill>
                  <a:srgbClr val="333333"/>
                </a:solidFill>
                <a:effectLst/>
              </a:rPr>
              <a:t>Silver</a:t>
            </a:r>
            <a:r>
              <a:rPr lang="en-US" b="0" i="0" dirty="0">
                <a:solidFill>
                  <a:srgbClr val="333333"/>
                </a:solidFill>
                <a:effectLst/>
              </a:rPr>
              <a:t> is a more stringent set of criteria than passing but is </a:t>
            </a:r>
            <a:r>
              <a:rPr lang="en-US" b="0" i="0" u="sng" dirty="0">
                <a:solidFill>
                  <a:srgbClr val="333333"/>
                </a:solidFill>
                <a:effectLst/>
              </a:rPr>
              <a:t>expected to be achievable by small and single-organization projects</a:t>
            </a:r>
            <a:r>
              <a:rPr lang="en-US" b="0" i="0" dirty="0">
                <a:solidFill>
                  <a:srgbClr val="333333"/>
                </a:solidFill>
                <a:effectLst/>
              </a:rPr>
              <a:t>.</a:t>
            </a:r>
          </a:p>
          <a:p>
            <a:pPr lvl="1">
              <a:buFont typeface="Arial" panose="020B0604020202020204" pitchFamily="34" charset="0"/>
              <a:buChar char="•"/>
            </a:pPr>
            <a:r>
              <a:rPr lang="en-US" b="1" i="0" dirty="0">
                <a:solidFill>
                  <a:srgbClr val="333333"/>
                </a:solidFill>
                <a:effectLst/>
              </a:rPr>
              <a:t>Gold</a:t>
            </a:r>
            <a:r>
              <a:rPr lang="en-US" b="0" i="0" dirty="0">
                <a:solidFill>
                  <a:srgbClr val="333333"/>
                </a:solidFill>
                <a:effectLst/>
              </a:rPr>
              <a:t> is even more stringent than silver and includes criteria that are </a:t>
            </a:r>
            <a:r>
              <a:rPr lang="en-US" b="0" i="0" u="sng" dirty="0">
                <a:solidFill>
                  <a:srgbClr val="333333"/>
                </a:solidFill>
                <a:effectLst/>
              </a:rPr>
              <a:t>not achievable by small or single-organization projects</a:t>
            </a:r>
            <a:r>
              <a:rPr lang="en-US" b="0" i="0" dirty="0">
                <a:solidFill>
                  <a:srgbClr val="333333"/>
                </a:solidFill>
                <a:effectLst/>
              </a:rPr>
              <a:t>.</a:t>
            </a:r>
          </a:p>
          <a:p>
            <a:pPr>
              <a:buFont typeface="Arial" panose="020B0604020202020204" pitchFamily="34" charset="0"/>
              <a:buChar char="•"/>
            </a:pPr>
            <a:r>
              <a:rPr lang="en-US" dirty="0">
                <a:solidFill>
                  <a:srgbClr val="333333"/>
                </a:solidFill>
              </a:rPr>
              <a:t>Combination of MUST and SHOULD criteria</a:t>
            </a:r>
            <a:endParaRPr lang="en-US" dirty="0"/>
          </a:p>
        </p:txBody>
      </p:sp>
      <p:sp>
        <p:nvSpPr>
          <p:cNvPr id="9" name="TextBox 8">
            <a:extLst>
              <a:ext uri="{FF2B5EF4-FFF2-40B4-BE49-F238E27FC236}">
                <a16:creationId xmlns:a16="http://schemas.microsoft.com/office/drawing/2014/main" id="{A8307BE4-783D-4D3F-A96B-AD68FD9D8C67}"/>
              </a:ext>
            </a:extLst>
          </p:cNvPr>
          <p:cNvSpPr txBox="1"/>
          <p:nvPr/>
        </p:nvSpPr>
        <p:spPr>
          <a:xfrm>
            <a:off x="4332070" y="1253149"/>
            <a:ext cx="3524684" cy="369332"/>
          </a:xfrm>
          <a:prstGeom prst="rect">
            <a:avLst/>
          </a:prstGeom>
          <a:noFill/>
        </p:spPr>
        <p:txBody>
          <a:bodyPr wrap="square">
            <a:spAutoFit/>
          </a:bodyPr>
          <a:lstStyle/>
          <a:p>
            <a:r>
              <a:rPr lang="en-US" dirty="0">
                <a:hlinkClick r:id="rId2"/>
              </a:rPr>
              <a:t>https://www.bestpractices.dev/en</a:t>
            </a:r>
            <a:endParaRPr lang="en-US" dirty="0"/>
          </a:p>
        </p:txBody>
      </p:sp>
    </p:spTree>
    <p:extLst>
      <p:ext uri="{BB962C8B-B14F-4D97-AF65-F5344CB8AC3E}">
        <p14:creationId xmlns:p14="http://schemas.microsoft.com/office/powerpoint/2010/main" val="3500682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err="1"/>
              <a:t>OpenSSF</a:t>
            </a:r>
            <a:r>
              <a:rPr lang="en-US" dirty="0"/>
              <a:t> Best Practices Criteria Summary</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993891"/>
            <a:ext cx="5588000" cy="3373438"/>
          </a:xfrm>
          <a:ln>
            <a:noFill/>
          </a:ln>
        </p:spPr>
        <p:txBody>
          <a:bodyPr/>
          <a:lstStyle/>
          <a:p>
            <a:r>
              <a:rPr lang="en-US" dirty="0">
                <a:highlight>
                  <a:srgbClr val="FFFF00"/>
                </a:highlight>
              </a:rPr>
              <a:t>Basics</a:t>
            </a:r>
          </a:p>
          <a:p>
            <a:pPr lvl="1">
              <a:spcBef>
                <a:spcPts val="200"/>
              </a:spcBef>
            </a:pPr>
            <a:r>
              <a:rPr lang="en-US" dirty="0"/>
              <a:t>Basic project website content (P, S)</a:t>
            </a:r>
          </a:p>
          <a:p>
            <a:pPr lvl="1">
              <a:spcBef>
                <a:spcPts val="200"/>
              </a:spcBef>
            </a:pPr>
            <a:r>
              <a:rPr lang="en-US" dirty="0"/>
              <a:t>FLOSS license (P)</a:t>
            </a:r>
          </a:p>
          <a:p>
            <a:pPr lvl="1">
              <a:spcBef>
                <a:spcPts val="200"/>
              </a:spcBef>
            </a:pPr>
            <a:r>
              <a:rPr lang="en-US" dirty="0"/>
              <a:t>Documentation (P, S)</a:t>
            </a:r>
          </a:p>
          <a:p>
            <a:pPr lvl="1">
              <a:spcBef>
                <a:spcPts val="200"/>
              </a:spcBef>
            </a:pPr>
            <a:r>
              <a:rPr lang="en-US" dirty="0"/>
              <a:t>Project oversight (S, G)</a:t>
            </a:r>
          </a:p>
          <a:p>
            <a:pPr lvl="1">
              <a:spcBef>
                <a:spcPts val="200"/>
              </a:spcBef>
            </a:pPr>
            <a:r>
              <a:rPr lang="en-US" dirty="0"/>
              <a:t>Accessibility and internationalization (S)</a:t>
            </a:r>
          </a:p>
          <a:p>
            <a:r>
              <a:rPr lang="en-US" dirty="0">
                <a:highlight>
                  <a:srgbClr val="FFFF00"/>
                </a:highlight>
              </a:rPr>
              <a:t>Change control</a:t>
            </a:r>
          </a:p>
          <a:p>
            <a:pPr lvl="1">
              <a:spcBef>
                <a:spcPts val="200"/>
              </a:spcBef>
            </a:pPr>
            <a:r>
              <a:rPr lang="en-US" dirty="0"/>
              <a:t>Public version controlled source repo. (P, G)</a:t>
            </a:r>
          </a:p>
          <a:p>
            <a:pPr lvl="1">
              <a:spcBef>
                <a:spcPts val="200"/>
              </a:spcBef>
            </a:pPr>
            <a:r>
              <a:rPr lang="en-US" dirty="0"/>
              <a:t>Unique version numbering (P)</a:t>
            </a:r>
          </a:p>
          <a:p>
            <a:pPr lvl="1">
              <a:spcBef>
                <a:spcPts val="200"/>
              </a:spcBef>
            </a:pPr>
            <a:r>
              <a:rPr lang="en-US" dirty="0"/>
              <a:t>Release notes (P)</a:t>
            </a:r>
          </a:p>
          <a:p>
            <a:pPr lvl="1">
              <a:spcBef>
                <a:spcPts val="200"/>
              </a:spcBef>
            </a:pPr>
            <a:r>
              <a:rPr lang="en-US" dirty="0"/>
              <a:t>Previous versions (S)</a:t>
            </a:r>
          </a:p>
          <a:p>
            <a:r>
              <a:rPr lang="en-US" dirty="0">
                <a:highlight>
                  <a:srgbClr val="FFFF00"/>
                </a:highlight>
              </a:rPr>
              <a:t>Reporting</a:t>
            </a:r>
          </a:p>
          <a:p>
            <a:pPr lvl="1">
              <a:spcBef>
                <a:spcPts val="200"/>
              </a:spcBef>
            </a:pPr>
            <a:r>
              <a:rPr lang="en-US" dirty="0"/>
              <a:t>Bug-reporting process (P, S)</a:t>
            </a:r>
          </a:p>
          <a:p>
            <a:pPr lvl="1">
              <a:spcBef>
                <a:spcPts val="200"/>
              </a:spcBef>
            </a:pPr>
            <a:r>
              <a:rPr lang="en-US" dirty="0"/>
              <a:t>Vulnerability reporting process (P, S)</a:t>
            </a:r>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993891"/>
            <a:ext cx="5531934" cy="3373229"/>
          </a:xfrm>
          <a:ln>
            <a:noFill/>
          </a:ln>
        </p:spPr>
        <p:txBody>
          <a:bodyPr/>
          <a:lstStyle/>
          <a:p>
            <a:r>
              <a:rPr lang="en-US" b="0" i="0" dirty="0">
                <a:solidFill>
                  <a:srgbClr val="202020"/>
                </a:solidFill>
                <a:effectLst/>
                <a:highlight>
                  <a:srgbClr val="FFFF00"/>
                </a:highlight>
              </a:rPr>
              <a:t>Quality</a:t>
            </a:r>
          </a:p>
          <a:p>
            <a:pPr lvl="1">
              <a:spcBef>
                <a:spcPts val="200"/>
              </a:spcBef>
            </a:pPr>
            <a:r>
              <a:rPr lang="en-US" dirty="0">
                <a:solidFill>
                  <a:srgbClr val="202020"/>
                </a:solidFill>
              </a:rPr>
              <a:t>Working build system </a:t>
            </a:r>
            <a:r>
              <a:rPr lang="en-US" dirty="0"/>
              <a:t>(P, S, G)</a:t>
            </a:r>
            <a:endParaRPr lang="en-US" dirty="0">
              <a:solidFill>
                <a:srgbClr val="202020"/>
              </a:solidFill>
            </a:endParaRPr>
          </a:p>
          <a:p>
            <a:pPr lvl="1">
              <a:spcBef>
                <a:spcPts val="200"/>
              </a:spcBef>
            </a:pPr>
            <a:r>
              <a:rPr lang="en-US" b="0" i="0" dirty="0">
                <a:solidFill>
                  <a:srgbClr val="202020"/>
                </a:solidFill>
                <a:effectLst/>
              </a:rPr>
              <a:t>Automated test suite </a:t>
            </a:r>
            <a:r>
              <a:rPr lang="en-US" dirty="0"/>
              <a:t>(P, S, G)</a:t>
            </a:r>
            <a:endParaRPr lang="en-US" b="0" i="0" dirty="0">
              <a:solidFill>
                <a:srgbClr val="202020"/>
              </a:solidFill>
              <a:effectLst/>
            </a:endParaRPr>
          </a:p>
          <a:p>
            <a:pPr lvl="1">
              <a:spcBef>
                <a:spcPts val="200"/>
              </a:spcBef>
            </a:pPr>
            <a:r>
              <a:rPr lang="en-US" dirty="0">
                <a:solidFill>
                  <a:srgbClr val="202020"/>
                </a:solidFill>
              </a:rPr>
              <a:t>New functionality testing </a:t>
            </a:r>
            <a:r>
              <a:rPr lang="en-US" dirty="0"/>
              <a:t>(P, S)</a:t>
            </a:r>
            <a:endParaRPr lang="en-US" dirty="0">
              <a:solidFill>
                <a:srgbClr val="202020"/>
              </a:solidFill>
            </a:endParaRPr>
          </a:p>
          <a:p>
            <a:pPr lvl="1">
              <a:spcBef>
                <a:spcPts val="200"/>
              </a:spcBef>
            </a:pPr>
            <a:r>
              <a:rPr lang="en-US" b="0" i="0" dirty="0">
                <a:solidFill>
                  <a:srgbClr val="202020"/>
                </a:solidFill>
                <a:effectLst/>
              </a:rPr>
              <a:t>Warning flags </a:t>
            </a:r>
            <a:r>
              <a:rPr lang="en-US" dirty="0"/>
              <a:t>(P, S)</a:t>
            </a:r>
          </a:p>
          <a:p>
            <a:pPr lvl="1">
              <a:spcBef>
                <a:spcPts val="200"/>
              </a:spcBef>
            </a:pPr>
            <a:r>
              <a:rPr lang="en-US" b="0" i="0" dirty="0">
                <a:solidFill>
                  <a:srgbClr val="202020"/>
                </a:solidFill>
                <a:effectLst/>
              </a:rPr>
              <a:t>Coding standards (S, G)</a:t>
            </a:r>
          </a:p>
          <a:p>
            <a:pPr lvl="1">
              <a:spcBef>
                <a:spcPts val="200"/>
              </a:spcBef>
            </a:pPr>
            <a:r>
              <a:rPr lang="en-US" dirty="0">
                <a:solidFill>
                  <a:srgbClr val="202020"/>
                </a:solidFill>
              </a:rPr>
              <a:t>Installation system (S)</a:t>
            </a:r>
          </a:p>
          <a:p>
            <a:pPr lvl="1">
              <a:spcBef>
                <a:spcPts val="200"/>
              </a:spcBef>
            </a:pPr>
            <a:r>
              <a:rPr lang="en-US" b="0" i="0" dirty="0">
                <a:solidFill>
                  <a:srgbClr val="202020"/>
                </a:solidFill>
                <a:effectLst/>
              </a:rPr>
              <a:t>Externally-maintained components (S)</a:t>
            </a:r>
          </a:p>
          <a:p>
            <a:r>
              <a:rPr lang="en-US" dirty="0">
                <a:solidFill>
                  <a:srgbClr val="202020"/>
                </a:solidFill>
                <a:highlight>
                  <a:srgbClr val="FFFF00"/>
                </a:highlight>
              </a:rPr>
              <a:t>Security</a:t>
            </a:r>
          </a:p>
          <a:p>
            <a:pPr lvl="1">
              <a:spcBef>
                <a:spcPts val="200"/>
              </a:spcBef>
            </a:pPr>
            <a:r>
              <a:rPr lang="en-US" b="0" i="0" dirty="0">
                <a:solidFill>
                  <a:srgbClr val="202020"/>
                </a:solidFill>
                <a:effectLst/>
              </a:rPr>
              <a:t>Secure development knowledge </a:t>
            </a:r>
            <a:r>
              <a:rPr lang="en-US" dirty="0"/>
              <a:t>(P, S)</a:t>
            </a:r>
            <a:endParaRPr lang="en-US" b="0" i="0" dirty="0">
              <a:solidFill>
                <a:srgbClr val="202020"/>
              </a:solidFill>
              <a:effectLst/>
            </a:endParaRPr>
          </a:p>
          <a:p>
            <a:pPr lvl="1">
              <a:spcBef>
                <a:spcPts val="200"/>
              </a:spcBef>
            </a:pPr>
            <a:r>
              <a:rPr lang="en-US" dirty="0">
                <a:solidFill>
                  <a:srgbClr val="202020"/>
                </a:solidFill>
              </a:rPr>
              <a:t>Use basic good crypto. practices </a:t>
            </a:r>
            <a:r>
              <a:rPr lang="en-US" dirty="0"/>
              <a:t>(P, S, G)</a:t>
            </a:r>
            <a:endParaRPr lang="en-US" dirty="0">
              <a:solidFill>
                <a:srgbClr val="202020"/>
              </a:solidFill>
            </a:endParaRPr>
          </a:p>
          <a:p>
            <a:pPr lvl="1">
              <a:spcBef>
                <a:spcPts val="200"/>
              </a:spcBef>
            </a:pPr>
            <a:r>
              <a:rPr lang="en-US" b="0" i="0" dirty="0">
                <a:solidFill>
                  <a:srgbClr val="202020"/>
                </a:solidFill>
                <a:effectLst/>
              </a:rPr>
              <a:t>Secured delivery against MITM attacks </a:t>
            </a:r>
            <a:r>
              <a:rPr lang="en-US" dirty="0"/>
              <a:t>(P, G)</a:t>
            </a:r>
            <a:endParaRPr lang="en-US" b="0" i="0" dirty="0">
              <a:solidFill>
                <a:srgbClr val="202020"/>
              </a:solidFill>
              <a:effectLst/>
            </a:endParaRPr>
          </a:p>
          <a:p>
            <a:pPr lvl="1">
              <a:spcBef>
                <a:spcPts val="200"/>
              </a:spcBef>
            </a:pPr>
            <a:r>
              <a:rPr lang="en-US" dirty="0">
                <a:solidFill>
                  <a:srgbClr val="202020"/>
                </a:solidFill>
              </a:rPr>
              <a:t>Publicly known vulnerabilities fixed </a:t>
            </a:r>
            <a:r>
              <a:rPr lang="en-US" dirty="0"/>
              <a:t>(P)</a:t>
            </a:r>
            <a:endParaRPr lang="en-US" dirty="0">
              <a:solidFill>
                <a:srgbClr val="202020"/>
              </a:solidFill>
            </a:endParaRPr>
          </a:p>
          <a:p>
            <a:pPr lvl="1">
              <a:spcBef>
                <a:spcPts val="200"/>
              </a:spcBef>
            </a:pPr>
            <a:r>
              <a:rPr lang="en-US" b="0" i="0" dirty="0">
                <a:solidFill>
                  <a:srgbClr val="202020"/>
                </a:solidFill>
                <a:effectLst/>
              </a:rPr>
              <a:t>Secure release (S)</a:t>
            </a:r>
          </a:p>
          <a:p>
            <a:r>
              <a:rPr lang="en-US" dirty="0">
                <a:solidFill>
                  <a:srgbClr val="202020"/>
                </a:solidFill>
                <a:highlight>
                  <a:srgbClr val="FFFF00"/>
                </a:highlight>
              </a:rPr>
              <a:t>Analysis</a:t>
            </a:r>
          </a:p>
          <a:p>
            <a:pPr lvl="1">
              <a:spcBef>
                <a:spcPts val="200"/>
              </a:spcBef>
            </a:pPr>
            <a:r>
              <a:rPr lang="en-US" b="0" i="0" dirty="0">
                <a:solidFill>
                  <a:srgbClr val="202020"/>
                </a:solidFill>
                <a:effectLst/>
              </a:rPr>
              <a:t>Static code analysis </a:t>
            </a:r>
            <a:r>
              <a:rPr lang="en-US" dirty="0"/>
              <a:t>(P, S)</a:t>
            </a:r>
            <a:endParaRPr lang="en-US" b="0" i="0" dirty="0">
              <a:solidFill>
                <a:srgbClr val="202020"/>
              </a:solidFill>
              <a:effectLst/>
            </a:endParaRPr>
          </a:p>
          <a:p>
            <a:pPr lvl="1">
              <a:spcBef>
                <a:spcPts val="200"/>
              </a:spcBef>
            </a:pPr>
            <a:r>
              <a:rPr lang="en-US" dirty="0">
                <a:solidFill>
                  <a:srgbClr val="202020"/>
                </a:solidFill>
              </a:rPr>
              <a:t>Dynamic code analysis </a:t>
            </a:r>
            <a:r>
              <a:rPr lang="en-US" dirty="0"/>
              <a:t>(P, S, G)</a:t>
            </a:r>
            <a:endParaRPr lang="en-US" b="0" i="0" dirty="0">
              <a:solidFill>
                <a:srgbClr val="202020"/>
              </a:solidFill>
              <a:effectLst/>
            </a:endParaRPr>
          </a:p>
        </p:txBody>
      </p:sp>
      <p:sp>
        <p:nvSpPr>
          <p:cNvPr id="4" name="TextBox 3">
            <a:extLst>
              <a:ext uri="{FF2B5EF4-FFF2-40B4-BE49-F238E27FC236}">
                <a16:creationId xmlns:a16="http://schemas.microsoft.com/office/drawing/2014/main" id="{786BD9C9-5936-4194-9BB3-D880388DA930}"/>
              </a:ext>
            </a:extLst>
          </p:cNvPr>
          <p:cNvSpPr txBox="1"/>
          <p:nvPr/>
        </p:nvSpPr>
        <p:spPr>
          <a:xfrm>
            <a:off x="917589" y="5389659"/>
            <a:ext cx="4667223" cy="1284454"/>
          </a:xfrm>
          <a:prstGeom prst="rect">
            <a:avLst/>
          </a:prstGeom>
          <a:noFill/>
          <a:ln>
            <a:solidFill>
              <a:schemeClr val="tx2"/>
            </a:solidFill>
          </a:ln>
        </p:spPr>
        <p:txBody>
          <a:bodyPr wrap="square" lIns="118872" tIns="91440" rIns="118872" bIns="91440" rtlCol="0" anchor="ctr" anchorCtr="0">
            <a:spAutoFit/>
          </a:bodyPr>
          <a:lstStyle/>
          <a:p>
            <a:pPr algn="l">
              <a:lnSpc>
                <a:spcPct val="90000"/>
              </a:lnSpc>
            </a:pPr>
            <a:r>
              <a:rPr lang="en-US" dirty="0">
                <a:solidFill>
                  <a:schemeClr val="tx2"/>
                </a:solidFill>
              </a:rPr>
              <a:t>(P, S, G) denotes additional criteria required at passing, silver, or gold certification levels</a:t>
            </a:r>
          </a:p>
          <a:p>
            <a:pPr algn="l">
              <a:lnSpc>
                <a:spcPct val="90000"/>
              </a:lnSpc>
              <a:spcBef>
                <a:spcPts val="800"/>
              </a:spcBef>
            </a:pPr>
            <a:r>
              <a:rPr lang="en-US" dirty="0">
                <a:solidFill>
                  <a:schemeClr val="tx2"/>
                </a:solidFill>
              </a:rPr>
              <a:t>Each topic area listed will have one or more specific criteria</a:t>
            </a:r>
          </a:p>
        </p:txBody>
      </p:sp>
    </p:spTree>
    <p:extLst>
      <p:ext uri="{BB962C8B-B14F-4D97-AF65-F5344CB8AC3E}">
        <p14:creationId xmlns:p14="http://schemas.microsoft.com/office/powerpoint/2010/main" val="28354195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88A6A-FA88-9CDB-F140-C7CD8F76D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983489-3F11-83A8-4FC1-23D2A2CD9107}"/>
              </a:ext>
            </a:extLst>
          </p:cNvPr>
          <p:cNvSpPr>
            <a:spLocks noGrp="1"/>
          </p:cNvSpPr>
          <p:nvPr>
            <p:ph type="title"/>
          </p:nvPr>
        </p:nvSpPr>
        <p:spPr/>
        <p:txBody>
          <a:bodyPr/>
          <a:lstStyle/>
          <a:p>
            <a:r>
              <a:rPr lang="en-US" dirty="0"/>
              <a:t>Example 4: Good Practices for High-Quality Scientific Computing</a:t>
            </a:r>
            <a:br>
              <a:rPr lang="en-US" dirty="0"/>
            </a:br>
            <a:endParaRPr lang="en-US" dirty="0"/>
          </a:p>
        </p:txBody>
      </p:sp>
      <p:sp>
        <p:nvSpPr>
          <p:cNvPr id="4" name="Text Placeholder 3">
            <a:extLst>
              <a:ext uri="{FF2B5EF4-FFF2-40B4-BE49-F238E27FC236}">
                <a16:creationId xmlns:a16="http://schemas.microsoft.com/office/drawing/2014/main" id="{146C8C65-706D-911A-3B27-73904D419E47}"/>
              </a:ext>
            </a:extLst>
          </p:cNvPr>
          <p:cNvSpPr>
            <a:spLocks noGrp="1"/>
          </p:cNvSpPr>
          <p:nvPr>
            <p:ph type="body" idx="1"/>
          </p:nvPr>
        </p:nvSpPr>
        <p:spPr>
          <a:xfrm>
            <a:off x="457200" y="1285301"/>
            <a:ext cx="5588582" cy="444885"/>
          </a:xfrm>
        </p:spPr>
        <p:txBody>
          <a:bodyPr/>
          <a:lstStyle/>
          <a:p>
            <a:r>
              <a:rPr lang="en-US" dirty="0"/>
              <a:t>Good Practices for Software Development</a:t>
            </a:r>
          </a:p>
        </p:txBody>
      </p:sp>
      <p:sp>
        <p:nvSpPr>
          <p:cNvPr id="3" name="Content Placeholder 2">
            <a:extLst>
              <a:ext uri="{FF2B5EF4-FFF2-40B4-BE49-F238E27FC236}">
                <a16:creationId xmlns:a16="http://schemas.microsoft.com/office/drawing/2014/main" id="{62CC922E-FDC6-0F72-EBB0-F4C779FF4329}"/>
              </a:ext>
            </a:extLst>
          </p:cNvPr>
          <p:cNvSpPr>
            <a:spLocks noGrp="1"/>
          </p:cNvSpPr>
          <p:nvPr>
            <p:ph sz="half" idx="2"/>
          </p:nvPr>
        </p:nvSpPr>
        <p:spPr>
          <a:xfrm>
            <a:off x="457200" y="1730187"/>
            <a:ext cx="5588582" cy="3373229"/>
          </a:xfrm>
          <a:ln>
            <a:noFill/>
          </a:ln>
        </p:spPr>
        <p:txBody>
          <a:bodyPr/>
          <a:lstStyle/>
          <a:p>
            <a:r>
              <a:rPr lang="en-US" b="0" i="0" dirty="0">
                <a:solidFill>
                  <a:srgbClr val="202020"/>
                </a:solidFill>
                <a:effectLst/>
                <a:highlight>
                  <a:srgbClr val="FFFF00"/>
                </a:highlight>
              </a:rPr>
              <a:t>Invest in design</a:t>
            </a:r>
          </a:p>
          <a:p>
            <a:pPr lvl="1">
              <a:spcBef>
                <a:spcPts val="0"/>
              </a:spcBef>
            </a:pPr>
            <a:r>
              <a:rPr lang="en-US" b="0" i="0" dirty="0">
                <a:solidFill>
                  <a:srgbClr val="202020"/>
                </a:solidFill>
                <a:effectLst/>
              </a:rPr>
              <a:t>Create t</a:t>
            </a:r>
            <a:r>
              <a:rPr lang="en-US" dirty="0">
                <a:solidFill>
                  <a:srgbClr val="202020"/>
                </a:solidFill>
              </a:rPr>
              <a:t>he framework into which all of the capabilities you need will fit naturally</a:t>
            </a:r>
            <a:endParaRPr lang="en-US" b="0" i="0" dirty="0">
              <a:solidFill>
                <a:srgbClr val="202020"/>
              </a:solidFill>
              <a:effectLst/>
            </a:endParaRPr>
          </a:p>
          <a:p>
            <a:pPr>
              <a:spcBef>
                <a:spcPts val="600"/>
              </a:spcBef>
            </a:pPr>
            <a:r>
              <a:rPr lang="en-US" dirty="0">
                <a:solidFill>
                  <a:srgbClr val="202020"/>
                </a:solidFill>
                <a:highlight>
                  <a:srgbClr val="FFFF00"/>
                </a:highlight>
              </a:rPr>
              <a:t>Invest in development of tests and automated testing</a:t>
            </a:r>
          </a:p>
          <a:p>
            <a:pPr lvl="1">
              <a:spcBef>
                <a:spcPts val="0"/>
              </a:spcBef>
            </a:pPr>
            <a:r>
              <a:rPr lang="en-US" dirty="0">
                <a:solidFill>
                  <a:srgbClr val="202020"/>
                </a:solidFill>
              </a:rPr>
              <a:t>How can you convince yourself that the code is correct…after every change?</a:t>
            </a:r>
          </a:p>
          <a:p>
            <a:pPr>
              <a:spcBef>
                <a:spcPts val="600"/>
              </a:spcBef>
            </a:pPr>
            <a:r>
              <a:rPr lang="en-US" b="0" i="0" dirty="0">
                <a:solidFill>
                  <a:srgbClr val="202020"/>
                </a:solidFill>
                <a:effectLst/>
                <a:highlight>
                  <a:srgbClr val="FFFF00"/>
                </a:highlight>
              </a:rPr>
              <a:t>Capture and summarize the thought process</a:t>
            </a:r>
          </a:p>
          <a:p>
            <a:pPr lvl="1">
              <a:spcBef>
                <a:spcPts val="0"/>
              </a:spcBef>
            </a:pPr>
            <a:r>
              <a:rPr lang="en-US" dirty="0">
                <a:solidFill>
                  <a:srgbClr val="202020"/>
                </a:solidFill>
              </a:rPr>
              <a:t>Document the reasoning behind the design and other choices</a:t>
            </a:r>
          </a:p>
          <a:p>
            <a:pPr>
              <a:spcBef>
                <a:spcPts val="600"/>
              </a:spcBef>
            </a:pPr>
            <a:r>
              <a:rPr lang="en-US" dirty="0">
                <a:solidFill>
                  <a:srgbClr val="202020"/>
                </a:solidFill>
                <a:highlight>
                  <a:srgbClr val="FFFF00"/>
                </a:highlight>
              </a:rPr>
              <a:t>Use optimal rigor in your software process</a:t>
            </a:r>
          </a:p>
          <a:p>
            <a:pPr lvl="1">
              <a:spcBef>
                <a:spcPts val="0"/>
              </a:spcBef>
            </a:pPr>
            <a:r>
              <a:rPr lang="en-US" dirty="0">
                <a:solidFill>
                  <a:srgbClr val="202020"/>
                </a:solidFill>
              </a:rPr>
              <a:t>Too little can compromise code quality</a:t>
            </a:r>
          </a:p>
          <a:p>
            <a:pPr lvl="1">
              <a:spcBef>
                <a:spcPts val="0"/>
              </a:spcBef>
            </a:pPr>
            <a:r>
              <a:rPr lang="en-US" dirty="0">
                <a:solidFill>
                  <a:srgbClr val="202020"/>
                </a:solidFill>
              </a:rPr>
              <a:t>Too much can reduce developer productivity</a:t>
            </a:r>
          </a:p>
          <a:p>
            <a:pPr>
              <a:spcBef>
                <a:spcPts val="600"/>
              </a:spcBef>
            </a:pPr>
            <a:r>
              <a:rPr lang="en-US" b="0" i="0" dirty="0">
                <a:solidFill>
                  <a:srgbClr val="202020"/>
                </a:solidFill>
                <a:effectLst/>
                <a:highlight>
                  <a:srgbClr val="FFFF00"/>
                </a:highlight>
              </a:rPr>
              <a:t>Pick and choose from software engineering rese</a:t>
            </a:r>
            <a:r>
              <a:rPr lang="en-US" dirty="0">
                <a:solidFill>
                  <a:srgbClr val="202020"/>
                </a:solidFill>
                <a:highlight>
                  <a:srgbClr val="FFFF00"/>
                </a:highlight>
              </a:rPr>
              <a:t>arch</a:t>
            </a:r>
          </a:p>
          <a:p>
            <a:pPr lvl="1">
              <a:spcBef>
                <a:spcPts val="0"/>
              </a:spcBef>
            </a:pPr>
            <a:r>
              <a:rPr lang="en-US" b="0" i="0" dirty="0">
                <a:solidFill>
                  <a:srgbClr val="202020"/>
                </a:solidFill>
                <a:effectLst/>
              </a:rPr>
              <a:t>Often requires adaptation for scientific software</a:t>
            </a:r>
          </a:p>
        </p:txBody>
      </p:sp>
      <p:sp>
        <p:nvSpPr>
          <p:cNvPr id="6" name="Text Placeholder 5">
            <a:extLst>
              <a:ext uri="{FF2B5EF4-FFF2-40B4-BE49-F238E27FC236}">
                <a16:creationId xmlns:a16="http://schemas.microsoft.com/office/drawing/2014/main" id="{EEAE083B-F034-2FBD-180F-75C611D9FB9E}"/>
              </a:ext>
            </a:extLst>
          </p:cNvPr>
          <p:cNvSpPr>
            <a:spLocks noGrp="1"/>
          </p:cNvSpPr>
          <p:nvPr>
            <p:ph type="body" sz="quarter" idx="3"/>
          </p:nvPr>
        </p:nvSpPr>
        <p:spPr>
          <a:xfrm>
            <a:off x="6218914" y="1285301"/>
            <a:ext cx="5531934" cy="444885"/>
          </a:xfrm>
        </p:spPr>
        <p:txBody>
          <a:bodyPr/>
          <a:lstStyle/>
          <a:p>
            <a:r>
              <a:rPr lang="en-US" dirty="0"/>
              <a:t>Good Practices for Using Software</a:t>
            </a:r>
          </a:p>
        </p:txBody>
      </p:sp>
      <p:sp>
        <p:nvSpPr>
          <p:cNvPr id="5" name="Content Placeholder 4">
            <a:extLst>
              <a:ext uri="{FF2B5EF4-FFF2-40B4-BE49-F238E27FC236}">
                <a16:creationId xmlns:a16="http://schemas.microsoft.com/office/drawing/2014/main" id="{ED9C513E-7DBE-2797-62D4-CE9A770095FF}"/>
              </a:ext>
            </a:extLst>
          </p:cNvPr>
          <p:cNvSpPr>
            <a:spLocks noGrp="1"/>
          </p:cNvSpPr>
          <p:nvPr>
            <p:ph sz="quarter" idx="4"/>
          </p:nvPr>
        </p:nvSpPr>
        <p:spPr>
          <a:xfrm>
            <a:off x="6218914" y="1730187"/>
            <a:ext cx="5531934" cy="3373229"/>
          </a:xfrm>
          <a:ln>
            <a:noFill/>
          </a:ln>
        </p:spPr>
        <p:txBody>
          <a:bodyPr/>
          <a:lstStyle/>
          <a:p>
            <a:r>
              <a:rPr lang="en-US" b="0" i="0" dirty="0">
                <a:solidFill>
                  <a:srgbClr val="202020"/>
                </a:solidFill>
                <a:effectLst/>
                <a:highlight>
                  <a:srgbClr val="FFFF00"/>
                </a:highlight>
              </a:rPr>
              <a:t>Understand the capabilities and limitations</a:t>
            </a:r>
          </a:p>
          <a:p>
            <a:pPr lvl="1">
              <a:spcBef>
                <a:spcPts val="0"/>
              </a:spcBef>
            </a:pPr>
            <a:r>
              <a:rPr lang="en-US" dirty="0">
                <a:solidFill>
                  <a:srgbClr val="202020"/>
                </a:solidFill>
              </a:rPr>
              <a:t>Is your science case breaking assumptions built into the code?</a:t>
            </a:r>
          </a:p>
          <a:p>
            <a:pPr lvl="1">
              <a:spcBef>
                <a:spcPts val="0"/>
              </a:spcBef>
            </a:pPr>
            <a:r>
              <a:rPr lang="en-US" b="0" i="0" dirty="0">
                <a:solidFill>
                  <a:srgbClr val="202020"/>
                </a:solidFill>
                <a:effectLst/>
              </a:rPr>
              <a:t>How would you know?</a:t>
            </a:r>
          </a:p>
          <a:p>
            <a:pPr>
              <a:spcBef>
                <a:spcPts val="600"/>
              </a:spcBef>
            </a:pPr>
            <a:r>
              <a:rPr lang="en-US" b="0" i="0" dirty="0">
                <a:solidFill>
                  <a:srgbClr val="202020"/>
                </a:solidFill>
                <a:effectLst/>
                <a:highlight>
                  <a:srgbClr val="FFFF00"/>
                </a:highlight>
              </a:rPr>
              <a:t>Know the parameters</a:t>
            </a:r>
          </a:p>
          <a:p>
            <a:pPr lvl="1">
              <a:spcBef>
                <a:spcPts val="0"/>
              </a:spcBef>
            </a:pPr>
            <a:r>
              <a:rPr lang="en-US" b="0" i="0" dirty="0">
                <a:solidFill>
                  <a:srgbClr val="202020"/>
                </a:solidFill>
                <a:effectLst/>
              </a:rPr>
              <a:t>Are you using the knobs correctly?</a:t>
            </a:r>
          </a:p>
          <a:p>
            <a:pPr>
              <a:spcBef>
                <a:spcPts val="600"/>
              </a:spcBef>
            </a:pPr>
            <a:r>
              <a:rPr lang="en-US" b="0" i="0" dirty="0">
                <a:solidFill>
                  <a:srgbClr val="202020"/>
                </a:solidFill>
                <a:effectLst/>
                <a:highlight>
                  <a:srgbClr val="FFFF00"/>
                </a:highlight>
              </a:rPr>
              <a:t>Practice rigorous verification and validation for each </a:t>
            </a:r>
            <a:r>
              <a:rPr lang="en-US" dirty="0">
                <a:solidFill>
                  <a:srgbClr val="202020"/>
                </a:solidFill>
                <a:highlight>
                  <a:srgbClr val="FFFF00"/>
                </a:highlight>
              </a:rPr>
              <a:t>n</a:t>
            </a:r>
            <a:r>
              <a:rPr lang="en-US" b="0" i="0" dirty="0">
                <a:solidFill>
                  <a:srgbClr val="202020"/>
                </a:solidFill>
                <a:effectLst/>
                <a:highlight>
                  <a:srgbClr val="FFFF00"/>
                </a:highlight>
              </a:rPr>
              <a:t>ew </a:t>
            </a:r>
            <a:r>
              <a:rPr lang="en-US" dirty="0">
                <a:solidFill>
                  <a:srgbClr val="202020"/>
                </a:solidFill>
                <a:highlight>
                  <a:srgbClr val="FFFF00"/>
                </a:highlight>
              </a:rPr>
              <a:t>s</a:t>
            </a:r>
            <a:r>
              <a:rPr lang="en-US" b="0" i="0" dirty="0">
                <a:solidFill>
                  <a:srgbClr val="202020"/>
                </a:solidFill>
                <a:effectLst/>
                <a:highlight>
                  <a:srgbClr val="FFFF00"/>
                </a:highlight>
              </a:rPr>
              <a:t>cience </a:t>
            </a:r>
            <a:r>
              <a:rPr lang="en-US" dirty="0">
                <a:solidFill>
                  <a:srgbClr val="202020"/>
                </a:solidFill>
                <a:highlight>
                  <a:srgbClr val="FFFF00"/>
                </a:highlight>
              </a:rPr>
              <a:t>u</a:t>
            </a:r>
            <a:r>
              <a:rPr lang="en-US" b="0" i="0" dirty="0">
                <a:solidFill>
                  <a:srgbClr val="202020"/>
                </a:solidFill>
                <a:effectLst/>
                <a:highlight>
                  <a:srgbClr val="FFFF00"/>
                </a:highlight>
              </a:rPr>
              <a:t>se</a:t>
            </a:r>
          </a:p>
          <a:p>
            <a:pPr lvl="1">
              <a:spcBef>
                <a:spcPts val="0"/>
              </a:spcBef>
            </a:pPr>
            <a:r>
              <a:rPr lang="en-US" dirty="0">
                <a:solidFill>
                  <a:srgbClr val="202020"/>
                </a:solidFill>
              </a:rPr>
              <a:t>New science cases push your code in new ways</a:t>
            </a:r>
            <a:endParaRPr lang="en-US" b="0" i="0" dirty="0">
              <a:solidFill>
                <a:srgbClr val="202020"/>
              </a:solidFill>
              <a:effectLst/>
            </a:endParaRPr>
          </a:p>
          <a:p>
            <a:pPr>
              <a:spcBef>
                <a:spcPts val="600"/>
              </a:spcBef>
            </a:pPr>
            <a:r>
              <a:rPr lang="en-US" b="0" i="0" dirty="0">
                <a:solidFill>
                  <a:srgbClr val="202020"/>
                </a:solidFill>
                <a:effectLst/>
                <a:highlight>
                  <a:srgbClr val="FFFF00"/>
                </a:highlight>
              </a:rPr>
              <a:t>Develop a methodology for capturing, analyzing, and archiving </a:t>
            </a:r>
            <a:r>
              <a:rPr lang="en-US" dirty="0">
                <a:solidFill>
                  <a:srgbClr val="202020"/>
                </a:solidFill>
                <a:highlight>
                  <a:srgbClr val="FFFF00"/>
                </a:highlight>
              </a:rPr>
              <a:t>r</a:t>
            </a:r>
            <a:r>
              <a:rPr lang="en-US" b="0" i="0" dirty="0">
                <a:solidFill>
                  <a:srgbClr val="202020"/>
                </a:solidFill>
                <a:effectLst/>
                <a:highlight>
                  <a:srgbClr val="FFFF00"/>
                </a:highlight>
              </a:rPr>
              <a:t>esults</a:t>
            </a:r>
          </a:p>
          <a:p>
            <a:pPr>
              <a:spcBef>
                <a:spcPts val="600"/>
              </a:spcBef>
            </a:pPr>
            <a:r>
              <a:rPr lang="en-US" b="0" i="0" dirty="0">
                <a:solidFill>
                  <a:srgbClr val="202020"/>
                </a:solidFill>
                <a:effectLst/>
                <a:highlight>
                  <a:srgbClr val="FFFF00"/>
                </a:highlight>
              </a:rPr>
              <a:t>Fork code for science use</a:t>
            </a:r>
          </a:p>
          <a:p>
            <a:pPr lvl="1">
              <a:spcBef>
                <a:spcPts val="0"/>
              </a:spcBef>
            </a:pPr>
            <a:r>
              <a:rPr lang="en-US" dirty="0">
                <a:solidFill>
                  <a:srgbClr val="202020"/>
                </a:solidFill>
              </a:rPr>
              <a:t>Separate new development from supporting the science runs</a:t>
            </a:r>
            <a:endParaRPr lang="en-US" b="0" i="0" dirty="0">
              <a:solidFill>
                <a:srgbClr val="202020"/>
              </a:solidFill>
              <a:effectLst/>
            </a:endParaRPr>
          </a:p>
        </p:txBody>
      </p:sp>
      <p:sp>
        <p:nvSpPr>
          <p:cNvPr id="8" name="TextBox 7">
            <a:extLst>
              <a:ext uri="{FF2B5EF4-FFF2-40B4-BE49-F238E27FC236}">
                <a16:creationId xmlns:a16="http://schemas.microsoft.com/office/drawing/2014/main" id="{EF6805C0-F72C-2B1D-D9AE-C211F1B371F5}"/>
              </a:ext>
            </a:extLst>
          </p:cNvPr>
          <p:cNvSpPr txBox="1"/>
          <p:nvPr/>
        </p:nvSpPr>
        <p:spPr>
          <a:xfrm>
            <a:off x="2634119" y="868680"/>
            <a:ext cx="6920586" cy="369332"/>
          </a:xfrm>
          <a:prstGeom prst="rect">
            <a:avLst/>
          </a:prstGeom>
          <a:noFill/>
        </p:spPr>
        <p:txBody>
          <a:bodyPr wrap="square">
            <a:spAutoFit/>
          </a:bodyPr>
          <a:lstStyle/>
          <a:p>
            <a:r>
              <a:rPr lang="en-US" dirty="0"/>
              <a:t>Anshu Dubey (2022) </a:t>
            </a:r>
            <a:r>
              <a:rPr lang="en-US" dirty="0">
                <a:hlinkClick r:id="rId2"/>
              </a:rPr>
              <a:t>https://doi.org/10.1109/MCSE.2023.3259259</a:t>
            </a:r>
            <a:endParaRPr lang="en-US" dirty="0"/>
          </a:p>
        </p:txBody>
      </p:sp>
      <p:sp>
        <p:nvSpPr>
          <p:cNvPr id="7" name="TextBox 6">
            <a:extLst>
              <a:ext uri="{FF2B5EF4-FFF2-40B4-BE49-F238E27FC236}">
                <a16:creationId xmlns:a16="http://schemas.microsoft.com/office/drawing/2014/main" id="{D2EF9178-0433-0695-C196-34C8044755F1}"/>
              </a:ext>
            </a:extLst>
          </p:cNvPr>
          <p:cNvSpPr txBox="1"/>
          <p:nvPr/>
        </p:nvSpPr>
        <p:spPr>
          <a:xfrm>
            <a:off x="7017842" y="6174736"/>
            <a:ext cx="393407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return to some of these points in the module on reproducibility…</a:t>
            </a:r>
          </a:p>
        </p:txBody>
      </p:sp>
      <p:sp>
        <p:nvSpPr>
          <p:cNvPr id="9" name="TextBox 8">
            <a:extLst>
              <a:ext uri="{FF2B5EF4-FFF2-40B4-BE49-F238E27FC236}">
                <a16:creationId xmlns:a16="http://schemas.microsoft.com/office/drawing/2014/main" id="{6793BF1D-E2A3-B414-D224-49F95484FC15}"/>
              </a:ext>
            </a:extLst>
          </p:cNvPr>
          <p:cNvSpPr txBox="1"/>
          <p:nvPr/>
        </p:nvSpPr>
        <p:spPr>
          <a:xfrm>
            <a:off x="1559105" y="6174736"/>
            <a:ext cx="3384772"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expand on some of these points in the coming slides…</a:t>
            </a:r>
          </a:p>
        </p:txBody>
      </p:sp>
    </p:spTree>
    <p:extLst>
      <p:ext uri="{BB962C8B-B14F-4D97-AF65-F5344CB8AC3E}">
        <p14:creationId xmlns:p14="http://schemas.microsoft.com/office/powerpoint/2010/main" val="39040949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B5367B-EA59-4086-BB11-6B6F46882D5B}"/>
              </a:ext>
            </a:extLst>
          </p:cNvPr>
          <p:cNvSpPr>
            <a:spLocks noGrp="1"/>
          </p:cNvSpPr>
          <p:nvPr>
            <p:ph type="title"/>
          </p:nvPr>
        </p:nvSpPr>
        <p:spPr/>
        <p:txBody>
          <a:bodyPr/>
          <a:lstStyle/>
          <a:p>
            <a:r>
              <a:rPr lang="en-US" dirty="0"/>
              <a:t>Software Engineering Advice Often Needs Adaptation for Scientific Software</a:t>
            </a:r>
          </a:p>
        </p:txBody>
      </p:sp>
      <p:sp>
        <p:nvSpPr>
          <p:cNvPr id="8" name="Content Placeholder 7">
            <a:extLst>
              <a:ext uri="{FF2B5EF4-FFF2-40B4-BE49-F238E27FC236}">
                <a16:creationId xmlns:a16="http://schemas.microsoft.com/office/drawing/2014/main" id="{671C1039-A0A9-43ED-8E9D-9FF3530D2E77}"/>
              </a:ext>
            </a:extLst>
          </p:cNvPr>
          <p:cNvSpPr>
            <a:spLocks noGrp="1"/>
          </p:cNvSpPr>
          <p:nvPr>
            <p:ph idx="1"/>
          </p:nvPr>
        </p:nvSpPr>
        <p:spPr>
          <a:xfrm>
            <a:off x="365760" y="1302233"/>
            <a:ext cx="11369809" cy="4047778"/>
          </a:xfrm>
        </p:spPr>
        <p:txBody>
          <a:bodyPr/>
          <a:lstStyle/>
          <a:p>
            <a:r>
              <a:rPr lang="en-US" dirty="0"/>
              <a:t>The </a:t>
            </a:r>
            <a:r>
              <a:rPr lang="en-US" dirty="0" err="1"/>
              <a:t>OpenSSF</a:t>
            </a:r>
            <a:r>
              <a:rPr lang="en-US" dirty="0"/>
              <a:t> Best Practices are a good example of software engineering advice “in the wild”</a:t>
            </a:r>
          </a:p>
          <a:p>
            <a:r>
              <a:rPr lang="en-US" dirty="0"/>
              <a:t>Experiences reported in the wild often don’t consider the special nature of scientific software</a:t>
            </a:r>
          </a:p>
          <a:p>
            <a:r>
              <a:rPr lang="en-US" dirty="0"/>
              <a:t>But that doesn’t mean we should ignore software engineering research experience</a:t>
            </a:r>
          </a:p>
          <a:p>
            <a:pPr lvl="1"/>
            <a:r>
              <a:rPr lang="en-US" dirty="0"/>
              <a:t>Many useful concepts, approaches, and tools we can just </a:t>
            </a:r>
            <a:r>
              <a:rPr lang="en-US" u="sng" dirty="0"/>
              <a:t>adopt</a:t>
            </a:r>
          </a:p>
          <a:p>
            <a:r>
              <a:rPr lang="en-US" dirty="0"/>
              <a:t>Some approaches may need to be </a:t>
            </a:r>
            <a:r>
              <a:rPr lang="en-US" u="sng" dirty="0"/>
              <a:t>adapted</a:t>
            </a:r>
            <a:r>
              <a:rPr lang="en-US" dirty="0"/>
              <a:t> to work for scientific software</a:t>
            </a:r>
          </a:p>
          <a:p>
            <a:pPr lvl="1"/>
            <a:r>
              <a:rPr lang="en-US" dirty="0"/>
              <a:t>Find out how colleagues have addressed the challenges you’re facing</a:t>
            </a:r>
          </a:p>
          <a:p>
            <a:pPr lvl="2"/>
            <a:r>
              <a:rPr lang="en-US" dirty="0"/>
              <a:t>Probably you will find multiple ways</a:t>
            </a:r>
          </a:p>
          <a:p>
            <a:pPr lvl="1"/>
            <a:r>
              <a:rPr lang="en-US" dirty="0"/>
              <a:t>In the end, some approaches may not work well</a:t>
            </a:r>
          </a:p>
          <a:p>
            <a:r>
              <a:rPr lang="en-US" dirty="0"/>
              <a:t>Don’t be afraid to experiment with adaptations</a:t>
            </a:r>
          </a:p>
          <a:p>
            <a:pPr lvl="1"/>
            <a:r>
              <a:rPr lang="en-US" dirty="0"/>
              <a:t>Consider using the PSIP process (coming up)</a:t>
            </a:r>
          </a:p>
        </p:txBody>
      </p:sp>
    </p:spTree>
    <p:extLst>
      <p:ext uri="{BB962C8B-B14F-4D97-AF65-F5344CB8AC3E}">
        <p14:creationId xmlns:p14="http://schemas.microsoft.com/office/powerpoint/2010/main" val="34924685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B5533-2544-4B25-B864-D92F26777297}"/>
              </a:ext>
            </a:extLst>
          </p:cNvPr>
          <p:cNvSpPr>
            <a:spLocks noGrp="1"/>
          </p:cNvSpPr>
          <p:nvPr>
            <p:ph type="title"/>
          </p:nvPr>
        </p:nvSpPr>
        <p:spPr>
          <a:xfrm>
            <a:off x="365760" y="411480"/>
            <a:ext cx="11372473" cy="914400"/>
          </a:xfrm>
        </p:spPr>
        <p:txBody>
          <a:bodyPr/>
          <a:lstStyle/>
          <a:p>
            <a:r>
              <a:rPr lang="en-US" dirty="0"/>
              <a:t>How Much (Time, Effort) Should I Spend on Software Engineering?</a:t>
            </a:r>
          </a:p>
        </p:txBody>
      </p:sp>
      <p:sp>
        <p:nvSpPr>
          <p:cNvPr id="3" name="Content Placeholder 2">
            <a:extLst>
              <a:ext uri="{FF2B5EF4-FFF2-40B4-BE49-F238E27FC236}">
                <a16:creationId xmlns:a16="http://schemas.microsoft.com/office/drawing/2014/main" id="{23892D31-E3B6-4AF6-8DD2-7D4F084DC5C0}"/>
              </a:ext>
            </a:extLst>
          </p:cNvPr>
          <p:cNvSpPr>
            <a:spLocks noGrp="1"/>
          </p:cNvSpPr>
          <p:nvPr>
            <p:ph idx="1"/>
          </p:nvPr>
        </p:nvSpPr>
        <p:spPr>
          <a:xfrm>
            <a:off x="365125" y="1429558"/>
            <a:ext cx="11369675" cy="4048125"/>
          </a:xfrm>
        </p:spPr>
        <p:txBody>
          <a:bodyPr/>
          <a:lstStyle/>
          <a:p>
            <a:r>
              <a:rPr lang="en-US" dirty="0"/>
              <a:t>Your project should include “just enough” software engineering so that you can meet your short-term and longer-term scientific goals effectively</a:t>
            </a:r>
          </a:p>
          <a:p>
            <a:r>
              <a:rPr lang="en-US" dirty="0"/>
              <a:t>Take a graduated approach</a:t>
            </a:r>
          </a:p>
          <a:p>
            <a:pPr lvl="1"/>
            <a:r>
              <a:rPr lang="en-US" dirty="0"/>
              <a:t>Early on, maybe your project is exploratory and you’re the only user (and developer), basic practices may suffice</a:t>
            </a:r>
          </a:p>
          <a:p>
            <a:pPr lvl="1"/>
            <a:r>
              <a:rPr lang="en-US" dirty="0"/>
              <a:t>As the project gains developers and/or users, give more thought to software engineering and adjust practices</a:t>
            </a:r>
          </a:p>
          <a:p>
            <a:pPr lvl="1"/>
            <a:r>
              <a:rPr lang="en-US" dirty="0"/>
              <a:t>As the science being done with the code gains greater visibility, give more thought to software engineering and adjust practices</a:t>
            </a:r>
          </a:p>
          <a:p>
            <a:pPr lvl="1"/>
            <a:r>
              <a:rPr lang="en-US" dirty="0"/>
              <a:t>If you anticipate the software being used to make consequential decisions, probably better to consider “more” software engineering from the start</a:t>
            </a:r>
          </a:p>
          <a:p>
            <a:pPr lvl="1"/>
            <a:r>
              <a:rPr lang="en-US" dirty="0"/>
              <a:t>Make a practice of re-evaluating your software engineering needs on a regular basis</a:t>
            </a:r>
          </a:p>
          <a:p>
            <a:pPr lvl="2">
              <a:spcBef>
                <a:spcPts val="400"/>
              </a:spcBef>
            </a:pPr>
            <a:r>
              <a:rPr lang="en-US" dirty="0"/>
              <a:t>Changes may creep up on you without you noticing</a:t>
            </a:r>
          </a:p>
          <a:p>
            <a:pPr lvl="2">
              <a:spcBef>
                <a:spcPts val="400"/>
              </a:spcBef>
            </a:pPr>
            <a:r>
              <a:rPr lang="en-US" dirty="0"/>
              <a:t>Consider putting an annual reminder on your calendar (seriously!)</a:t>
            </a:r>
          </a:p>
          <a:p>
            <a:pPr lvl="2">
              <a:spcBef>
                <a:spcPts val="400"/>
              </a:spcBef>
            </a:pPr>
            <a:r>
              <a:rPr lang="en-US" dirty="0"/>
              <a:t>Plus, whenever significant changes take place</a:t>
            </a:r>
          </a:p>
        </p:txBody>
      </p:sp>
    </p:spTree>
    <p:extLst>
      <p:ext uri="{BB962C8B-B14F-4D97-AF65-F5344CB8AC3E}">
        <p14:creationId xmlns:p14="http://schemas.microsoft.com/office/powerpoint/2010/main" val="40385194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A2F6E-6146-4EFE-B865-F5301F6BE1EB}"/>
              </a:ext>
            </a:extLst>
          </p:cNvPr>
          <p:cNvSpPr>
            <a:spLocks noGrp="1"/>
          </p:cNvSpPr>
          <p:nvPr>
            <p:ph type="title"/>
          </p:nvPr>
        </p:nvSpPr>
        <p:spPr/>
        <p:txBody>
          <a:bodyPr/>
          <a:lstStyle/>
          <a:p>
            <a:r>
              <a:rPr lang="en-US" dirty="0"/>
              <a:t>Continual, Incremental Software Process Improvement</a:t>
            </a:r>
          </a:p>
        </p:txBody>
      </p:sp>
      <p:sp>
        <p:nvSpPr>
          <p:cNvPr id="3" name="Content Placeholder 2">
            <a:extLst>
              <a:ext uri="{FF2B5EF4-FFF2-40B4-BE49-F238E27FC236}">
                <a16:creationId xmlns:a16="http://schemas.microsoft.com/office/drawing/2014/main" id="{27AD9C12-D43C-463C-8992-BC3491AF2024}"/>
              </a:ext>
            </a:extLst>
          </p:cNvPr>
          <p:cNvSpPr>
            <a:spLocks noGrp="1"/>
          </p:cNvSpPr>
          <p:nvPr>
            <p:ph idx="1"/>
          </p:nvPr>
        </p:nvSpPr>
        <p:spPr>
          <a:xfrm>
            <a:off x="365761" y="1027458"/>
            <a:ext cx="6151518" cy="4047778"/>
          </a:xfrm>
        </p:spPr>
        <p:txBody>
          <a:bodyPr/>
          <a:lstStyle/>
          <a:p>
            <a:pPr marL="0" indent="0">
              <a:buNone/>
            </a:pPr>
            <a:r>
              <a:rPr lang="en-US" sz="1800" dirty="0">
                <a:solidFill>
                  <a:schemeClr val="tx2"/>
                </a:solidFill>
              </a:rPr>
              <a:t>Target: your project should include “just enough” software engineering so that you can meet your short-term and longer-term scientific goals effectively</a:t>
            </a:r>
          </a:p>
          <a:p>
            <a:pPr marL="457200" indent="-457200">
              <a:buFont typeface="+mj-lt"/>
              <a:buAutoNum type="arabicPeriod"/>
            </a:pPr>
            <a:r>
              <a:rPr lang="en-US" sz="1800" dirty="0"/>
              <a:t>Identify your team’s “pain points” in your software development processes</a:t>
            </a:r>
          </a:p>
          <a:p>
            <a:pPr lvl="1">
              <a:spcBef>
                <a:spcPts val="200"/>
              </a:spcBef>
            </a:pPr>
            <a:r>
              <a:rPr lang="en-US" sz="1600" dirty="0">
                <a:solidFill>
                  <a:schemeClr val="tx2"/>
                </a:solidFill>
              </a:rPr>
              <a:t>Help: </a:t>
            </a:r>
            <a:r>
              <a:rPr lang="en-US" sz="1600" dirty="0" err="1">
                <a:solidFill>
                  <a:schemeClr val="tx2"/>
                </a:solidFill>
              </a:rPr>
              <a:t>RateYourProject</a:t>
            </a:r>
            <a:r>
              <a:rPr lang="en-US" sz="1600" dirty="0">
                <a:solidFill>
                  <a:schemeClr val="tx2"/>
                </a:solidFill>
              </a:rPr>
              <a:t> assessment tool: </a:t>
            </a:r>
            <a:r>
              <a:rPr lang="en-US" sz="1600" dirty="0">
                <a:hlinkClick r:id="rId2"/>
              </a:rPr>
              <a:t>https://rateyourproject.org/</a:t>
            </a:r>
            <a:endParaRPr lang="en-US" sz="1600" dirty="0"/>
          </a:p>
          <a:p>
            <a:pPr marL="457200" indent="-457200">
              <a:spcBef>
                <a:spcPts val="1000"/>
              </a:spcBef>
              <a:buFont typeface="+mj-lt"/>
              <a:buAutoNum type="arabicPeriod"/>
            </a:pPr>
            <a:r>
              <a:rPr lang="en-US" sz="1800" dirty="0"/>
              <a:t>Set a goal for something to improve</a:t>
            </a:r>
          </a:p>
          <a:p>
            <a:pPr lvl="1">
              <a:spcBef>
                <a:spcPts val="200"/>
              </a:spcBef>
            </a:pPr>
            <a:r>
              <a:rPr lang="en-US" sz="1600" dirty="0"/>
              <a:t>Target processes and behaviors, not just tasks</a:t>
            </a:r>
          </a:p>
          <a:p>
            <a:pPr lvl="1">
              <a:spcBef>
                <a:spcPts val="200"/>
              </a:spcBef>
            </a:pPr>
            <a:r>
              <a:rPr lang="en-US" sz="1600" dirty="0"/>
              <a:t>Pick something that you can address in a few months that will give you a noticeable benefit</a:t>
            </a:r>
          </a:p>
          <a:p>
            <a:pPr marL="457200" indent="-457200">
              <a:spcBef>
                <a:spcPts val="1000"/>
              </a:spcBef>
              <a:buFont typeface="+mj-lt"/>
              <a:buAutoNum type="arabicPeriod"/>
            </a:pPr>
            <a:r>
              <a:rPr lang="en-US" sz="1800" dirty="0"/>
              <a:t>Agree on a plan to address it, identify </a:t>
            </a:r>
            <a:br>
              <a:rPr lang="en-US" sz="1800" dirty="0"/>
            </a:br>
            <a:r>
              <a:rPr lang="en-US" sz="1800" dirty="0"/>
              <a:t>markers of progress and what is “done”</a:t>
            </a:r>
          </a:p>
          <a:p>
            <a:pPr lvl="1">
              <a:spcBef>
                <a:spcPts val="200"/>
              </a:spcBef>
            </a:pPr>
            <a:r>
              <a:rPr lang="en-US" sz="1600" dirty="0"/>
              <a:t>Write them down</a:t>
            </a:r>
          </a:p>
          <a:p>
            <a:pPr lvl="1">
              <a:spcBef>
                <a:spcPts val="200"/>
              </a:spcBef>
            </a:pPr>
            <a:r>
              <a:rPr lang="en-US" sz="1600" dirty="0">
                <a:solidFill>
                  <a:schemeClr val="tx2"/>
                </a:solidFill>
              </a:rPr>
              <a:t>Help: Progress tracking card examples:</a:t>
            </a:r>
            <a:br>
              <a:rPr lang="en-US" sz="1600" dirty="0">
                <a:solidFill>
                  <a:schemeClr val="tx2"/>
                </a:solidFill>
              </a:rPr>
            </a:br>
            <a:r>
              <a:rPr lang="en-US" sz="1600" dirty="0">
                <a:hlinkClick r:id="rId3"/>
              </a:rPr>
              <a:t>https://bssw-psip.github.io/ptc-catalog/catalog</a:t>
            </a:r>
            <a:endParaRPr lang="en-US" sz="1600" dirty="0"/>
          </a:p>
          <a:p>
            <a:pPr marL="457200" indent="-457200">
              <a:spcBef>
                <a:spcPts val="1000"/>
              </a:spcBef>
              <a:buFont typeface="+mj-lt"/>
              <a:buAutoNum type="arabicPeriod"/>
            </a:pPr>
            <a:r>
              <a:rPr lang="en-US" sz="1800" dirty="0"/>
              <a:t>Work your plan, track your progress</a:t>
            </a:r>
          </a:p>
          <a:p>
            <a:pPr marL="457200" indent="-457200">
              <a:spcBef>
                <a:spcPts val="1000"/>
              </a:spcBef>
              <a:buFont typeface="+mj-lt"/>
              <a:buAutoNum type="arabicPeriod"/>
            </a:pPr>
            <a:r>
              <a:rPr lang="en-US" sz="1800" dirty="0"/>
              <a:t>When you are done, celebrate…</a:t>
            </a:r>
          </a:p>
          <a:p>
            <a:pPr marL="0" indent="0">
              <a:spcBef>
                <a:spcPts val="1000"/>
              </a:spcBef>
              <a:buNone/>
            </a:pPr>
            <a:r>
              <a:rPr lang="en-US" sz="1800" dirty="0"/>
              <a:t>…then pick a new pain point to address</a:t>
            </a:r>
          </a:p>
        </p:txBody>
      </p:sp>
      <p:grpSp>
        <p:nvGrpSpPr>
          <p:cNvPr id="4" name="Group 3">
            <a:extLst>
              <a:ext uri="{FF2B5EF4-FFF2-40B4-BE49-F238E27FC236}">
                <a16:creationId xmlns:a16="http://schemas.microsoft.com/office/drawing/2014/main" id="{DEC13CE4-4B4C-452A-B152-15940038BCDB}"/>
              </a:ext>
            </a:extLst>
          </p:cNvPr>
          <p:cNvGrpSpPr/>
          <p:nvPr/>
        </p:nvGrpSpPr>
        <p:grpSpPr>
          <a:xfrm>
            <a:off x="7053210" y="1325882"/>
            <a:ext cx="4344246" cy="1983272"/>
            <a:chOff x="1221440" y="2819400"/>
            <a:chExt cx="5136248" cy="2800725"/>
          </a:xfrm>
        </p:grpSpPr>
        <p:cxnSp>
          <p:nvCxnSpPr>
            <p:cNvPr id="5" name="Straight Arrow Connector 4">
              <a:extLst>
                <a:ext uri="{FF2B5EF4-FFF2-40B4-BE49-F238E27FC236}">
                  <a16:creationId xmlns:a16="http://schemas.microsoft.com/office/drawing/2014/main" id="{29FB71AC-EC8C-4EFD-9651-13F8E238B9E9}"/>
                </a:ext>
              </a:extLst>
            </p:cNvPr>
            <p:cNvCxnSpPr/>
            <p:nvPr/>
          </p:nvCxnSpPr>
          <p:spPr>
            <a:xfrm flipV="1">
              <a:off x="1828800" y="2819400"/>
              <a:ext cx="0" cy="21336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 name="Straight Arrow Connector 5">
              <a:extLst>
                <a:ext uri="{FF2B5EF4-FFF2-40B4-BE49-F238E27FC236}">
                  <a16:creationId xmlns:a16="http://schemas.microsoft.com/office/drawing/2014/main" id="{2955D048-918B-4AD0-8D97-AAA2265EC1E7}"/>
                </a:ext>
              </a:extLst>
            </p:cNvPr>
            <p:cNvCxnSpPr/>
            <p:nvPr/>
          </p:nvCxnSpPr>
          <p:spPr>
            <a:xfrm>
              <a:off x="1828800" y="4953000"/>
              <a:ext cx="426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23BC6B35-3F60-47AA-A46C-877971ABA70E}"/>
                </a:ext>
              </a:extLst>
            </p:cNvPr>
            <p:cNvSpPr txBox="1"/>
            <p:nvPr/>
          </p:nvSpPr>
          <p:spPr>
            <a:xfrm rot="16200000">
              <a:off x="923849" y="3766860"/>
              <a:ext cx="1067759" cy="472577"/>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Cost</a:t>
              </a:r>
            </a:p>
          </p:txBody>
        </p:sp>
        <p:sp>
          <p:nvSpPr>
            <p:cNvPr id="8" name="TextBox 7">
              <a:extLst>
                <a:ext uri="{FF2B5EF4-FFF2-40B4-BE49-F238E27FC236}">
                  <a16:creationId xmlns:a16="http://schemas.microsoft.com/office/drawing/2014/main" id="{77AAE76F-8A49-4EF9-B227-D1C603A30142}"/>
                </a:ext>
              </a:extLst>
            </p:cNvPr>
            <p:cNvSpPr txBox="1"/>
            <p:nvPr/>
          </p:nvSpPr>
          <p:spPr>
            <a:xfrm>
              <a:off x="3228867" y="5053524"/>
              <a:ext cx="147729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Progress</a:t>
              </a:r>
            </a:p>
          </p:txBody>
        </p:sp>
        <p:cxnSp>
          <p:nvCxnSpPr>
            <p:cNvPr id="9" name="Straight Connector 8">
              <a:extLst>
                <a:ext uri="{FF2B5EF4-FFF2-40B4-BE49-F238E27FC236}">
                  <a16:creationId xmlns:a16="http://schemas.microsoft.com/office/drawing/2014/main" id="{734F5887-730B-4A85-AB9B-F1526C3A2E8B}"/>
                </a:ext>
              </a:extLst>
            </p:cNvPr>
            <p:cNvCxnSpPr/>
            <p:nvPr/>
          </p:nvCxnSpPr>
          <p:spPr>
            <a:xfrm>
              <a:off x="5715000" y="4816152"/>
              <a:ext cx="0" cy="27369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F660C7B-61C6-4891-A541-D6D4D90B5FE0}"/>
                </a:ext>
              </a:extLst>
            </p:cNvPr>
            <p:cNvSpPr txBox="1"/>
            <p:nvPr/>
          </p:nvSpPr>
          <p:spPr>
            <a:xfrm>
              <a:off x="1513456" y="5042031"/>
              <a:ext cx="864421"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Start</a:t>
              </a:r>
            </a:p>
          </p:txBody>
        </p:sp>
        <p:sp>
          <p:nvSpPr>
            <p:cNvPr id="11" name="TextBox 10">
              <a:extLst>
                <a:ext uri="{FF2B5EF4-FFF2-40B4-BE49-F238E27FC236}">
                  <a16:creationId xmlns:a16="http://schemas.microsoft.com/office/drawing/2014/main" id="{963A2AFD-582A-4C12-88FF-7ABAB0661306}"/>
                </a:ext>
              </a:extLst>
            </p:cNvPr>
            <p:cNvSpPr txBox="1"/>
            <p:nvPr/>
          </p:nvSpPr>
          <p:spPr>
            <a:xfrm>
              <a:off x="5340664" y="5055670"/>
              <a:ext cx="101702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Finish</a:t>
              </a:r>
            </a:p>
          </p:txBody>
        </p:sp>
        <p:cxnSp>
          <p:nvCxnSpPr>
            <p:cNvPr id="12" name="Straight Connector 11">
              <a:extLst>
                <a:ext uri="{FF2B5EF4-FFF2-40B4-BE49-F238E27FC236}">
                  <a16:creationId xmlns:a16="http://schemas.microsoft.com/office/drawing/2014/main" id="{7DD4FC99-ACDA-4640-A14D-10B1CBD4BFE0}"/>
                </a:ext>
              </a:extLst>
            </p:cNvPr>
            <p:cNvCxnSpPr/>
            <p:nvPr/>
          </p:nvCxnSpPr>
          <p:spPr>
            <a:xfrm flipV="1">
              <a:off x="1843033" y="2947405"/>
              <a:ext cx="3891330" cy="200559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789CFB48-4418-4698-9F56-8D2060B724A6}"/>
                </a:ext>
              </a:extLst>
            </p:cNvPr>
            <p:cNvCxnSpPr/>
            <p:nvPr/>
          </p:nvCxnSpPr>
          <p:spPr>
            <a:xfrm flipV="1">
              <a:off x="1843033" y="4336335"/>
              <a:ext cx="629455" cy="616665"/>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0833A540-12B4-4DDF-AF11-A09126055DBB}"/>
                </a:ext>
              </a:extLst>
            </p:cNvPr>
            <p:cNvCxnSpPr/>
            <p:nvPr/>
          </p:nvCxnSpPr>
          <p:spPr>
            <a:xfrm flipV="1">
              <a:off x="2472489" y="3826882"/>
              <a:ext cx="3235005" cy="509453"/>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nvGrpSpPr>
            <p:cNvPr id="15" name="Group 14">
              <a:extLst>
                <a:ext uri="{FF2B5EF4-FFF2-40B4-BE49-F238E27FC236}">
                  <a16:creationId xmlns:a16="http://schemas.microsoft.com/office/drawing/2014/main" id="{E169B2CA-9C5D-443D-8F6A-932A654488CD}"/>
                </a:ext>
              </a:extLst>
            </p:cNvPr>
            <p:cNvGrpSpPr/>
            <p:nvPr/>
          </p:nvGrpSpPr>
          <p:grpSpPr>
            <a:xfrm>
              <a:off x="2057400" y="2947405"/>
              <a:ext cx="2048669" cy="801054"/>
              <a:chOff x="6663843" y="2438400"/>
              <a:chExt cx="2048669" cy="801054"/>
            </a:xfrm>
          </p:grpSpPr>
          <p:sp>
            <p:nvSpPr>
              <p:cNvPr id="16" name="TextBox 15">
                <a:extLst>
                  <a:ext uri="{FF2B5EF4-FFF2-40B4-BE49-F238E27FC236}">
                    <a16:creationId xmlns:a16="http://schemas.microsoft.com/office/drawing/2014/main" id="{9C4E6164-3FFB-4A92-A0E6-6AE45E9C5CAE}"/>
                  </a:ext>
                </a:extLst>
              </p:cNvPr>
              <p:cNvSpPr txBox="1"/>
              <p:nvPr/>
            </p:nvSpPr>
            <p:spPr>
              <a:xfrm>
                <a:off x="7120197" y="2438400"/>
                <a:ext cx="1592315" cy="801054"/>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Old Process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New Process</a:t>
                </a:r>
              </a:p>
            </p:txBody>
          </p:sp>
          <p:cxnSp>
            <p:nvCxnSpPr>
              <p:cNvPr id="17" name="Straight Connector 16">
                <a:extLst>
                  <a:ext uri="{FF2B5EF4-FFF2-40B4-BE49-F238E27FC236}">
                    <a16:creationId xmlns:a16="http://schemas.microsoft.com/office/drawing/2014/main" id="{6C63E1A2-427D-456C-B92A-C936948D5EE9}"/>
                  </a:ext>
                </a:extLst>
              </p:cNvPr>
              <p:cNvCxnSpPr/>
              <p:nvPr/>
            </p:nvCxnSpPr>
            <p:spPr>
              <a:xfrm>
                <a:off x="6663843" y="2590800"/>
                <a:ext cx="43376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BF1FD62-76D5-4B93-825B-7B7D7C45D88E}"/>
                  </a:ext>
                </a:extLst>
              </p:cNvPr>
              <p:cNvCxnSpPr/>
              <p:nvPr/>
            </p:nvCxnSpPr>
            <p:spPr>
              <a:xfrm>
                <a:off x="6663843" y="2878138"/>
                <a:ext cx="445057" cy="0"/>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grpSp>
      <p:sp>
        <p:nvSpPr>
          <p:cNvPr id="19" name="TextBox 18">
            <a:extLst>
              <a:ext uri="{FF2B5EF4-FFF2-40B4-BE49-F238E27FC236}">
                <a16:creationId xmlns:a16="http://schemas.microsoft.com/office/drawing/2014/main" id="{CB4556FD-8900-4E34-B5BB-4F6E7C6D06E9}"/>
              </a:ext>
            </a:extLst>
          </p:cNvPr>
          <p:cNvSpPr txBox="1"/>
          <p:nvPr/>
        </p:nvSpPr>
        <p:spPr>
          <a:xfrm>
            <a:off x="7232899" y="3144011"/>
            <a:ext cx="398486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tx2"/>
                </a:solidFill>
              </a:rPr>
              <a:t>The new process costs something to implement, but it pays off over time</a:t>
            </a:r>
          </a:p>
        </p:txBody>
      </p:sp>
      <p:sp>
        <p:nvSpPr>
          <p:cNvPr id="20" name="TextBox 19">
            <a:extLst>
              <a:ext uri="{FF2B5EF4-FFF2-40B4-BE49-F238E27FC236}">
                <a16:creationId xmlns:a16="http://schemas.microsoft.com/office/drawing/2014/main" id="{7793B6FD-77CE-4671-8B2B-B34FC1FA5A19}"/>
              </a:ext>
            </a:extLst>
          </p:cNvPr>
          <p:cNvSpPr txBox="1"/>
          <p:nvPr/>
        </p:nvSpPr>
        <p:spPr>
          <a:xfrm>
            <a:off x="6386607" y="4034936"/>
            <a:ext cx="5677452" cy="683264"/>
          </a:xfrm>
          <a:prstGeom prst="rect">
            <a:avLst/>
          </a:prstGeom>
          <a:noFill/>
          <a:ln w="25400">
            <a:solidFill>
              <a:schemeClr val="tx1"/>
            </a:solidFill>
          </a:ln>
        </p:spPr>
        <p:txBody>
          <a:bodyPr wrap="none" lIns="118872" tIns="91440" rIns="118872" bIns="91440" rtlCol="0" anchor="ctr" anchorCtr="0">
            <a:spAutoFit/>
          </a:bodyPr>
          <a:lstStyle/>
          <a:p>
            <a:pPr algn="ctr">
              <a:lnSpc>
                <a:spcPct val="90000"/>
              </a:lnSpc>
              <a:spcBef>
                <a:spcPts val="800"/>
              </a:spcBef>
            </a:pPr>
            <a:r>
              <a:rPr lang="en-US" dirty="0"/>
              <a:t>Productivity and Sustainability Improvement Planning</a:t>
            </a:r>
            <a:br>
              <a:rPr lang="en-US" dirty="0"/>
            </a:br>
            <a:r>
              <a:rPr lang="en-US" dirty="0">
                <a:hlinkClick r:id="rId4"/>
              </a:rPr>
              <a:t>https://bssw.io/psip</a:t>
            </a:r>
            <a:endParaRPr lang="en-US" dirty="0"/>
          </a:p>
        </p:txBody>
      </p:sp>
      <p:grpSp>
        <p:nvGrpSpPr>
          <p:cNvPr id="21" name="Group 20">
            <a:extLst>
              <a:ext uri="{FF2B5EF4-FFF2-40B4-BE49-F238E27FC236}">
                <a16:creationId xmlns:a16="http://schemas.microsoft.com/office/drawing/2014/main" id="{C926B267-D614-491D-B26F-909BA469B8F1}"/>
              </a:ext>
            </a:extLst>
          </p:cNvPr>
          <p:cNvGrpSpPr/>
          <p:nvPr/>
        </p:nvGrpSpPr>
        <p:grpSpPr>
          <a:xfrm>
            <a:off x="6366805" y="4876507"/>
            <a:ext cx="5697253" cy="1181862"/>
            <a:chOff x="6366805" y="4842132"/>
            <a:chExt cx="5697253" cy="1181862"/>
          </a:xfrm>
        </p:grpSpPr>
        <p:pic>
          <p:nvPicPr>
            <p:cNvPr id="22" name="Picture 21" descr="Screen Shot 2017-01-21 at 6.45.35 PM.png">
              <a:extLst>
                <a:ext uri="{FF2B5EF4-FFF2-40B4-BE49-F238E27FC236}">
                  <a16:creationId xmlns:a16="http://schemas.microsoft.com/office/drawing/2014/main" id="{22C4806D-94FD-4905-9044-2BEB9899B36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r="64086"/>
            <a:stretch/>
          </p:blipFill>
          <p:spPr>
            <a:xfrm>
              <a:off x="6366805" y="4843952"/>
              <a:ext cx="986232" cy="1178223"/>
            </a:xfrm>
            <a:prstGeom prst="rect">
              <a:avLst/>
            </a:prstGeom>
          </p:spPr>
        </p:pic>
        <p:sp>
          <p:nvSpPr>
            <p:cNvPr id="23" name="TextBox 22">
              <a:extLst>
                <a:ext uri="{FF2B5EF4-FFF2-40B4-BE49-F238E27FC236}">
                  <a16:creationId xmlns:a16="http://schemas.microsoft.com/office/drawing/2014/main" id="{E19EA268-DC2F-4F4A-90A8-154C18171E59}"/>
                </a:ext>
              </a:extLst>
            </p:cNvPr>
            <p:cNvSpPr txBox="1"/>
            <p:nvPr/>
          </p:nvSpPr>
          <p:spPr>
            <a:xfrm>
              <a:off x="7300197" y="4842132"/>
              <a:ext cx="4763861" cy="1181862"/>
            </a:xfrm>
            <a:prstGeom prst="rect">
              <a:avLst/>
            </a:prstGeom>
            <a:noFill/>
          </p:spPr>
          <p:txBody>
            <a:bodyPr wrap="square" lIns="118872" tIns="91440" rIns="118872" bIns="91440" rtlCol="0" anchor="ctr" anchorCtr="0">
              <a:spAutoFit/>
            </a:bodyPr>
            <a:lstStyle/>
            <a:p>
              <a:pPr algn="l">
                <a:lnSpc>
                  <a:spcPct val="90000"/>
                </a:lnSpc>
              </a:pPr>
              <a:r>
                <a:rPr lang="en-US" dirty="0"/>
                <a:t>A goal of </a:t>
              </a:r>
              <a:r>
                <a:rPr lang="en-US" dirty="0">
                  <a:hlinkClick r:id="rId6"/>
                </a:rPr>
                <a:t>BSSw.io</a:t>
              </a:r>
              <a:r>
                <a:rPr lang="en-US" dirty="0"/>
                <a:t> is to provide resources for improving your software processes.  If you find useful resources that aren’t on BSSw.io, consider contributing.  Its easy and quick.</a:t>
              </a:r>
            </a:p>
          </p:txBody>
        </p:sp>
      </p:grpSp>
    </p:spTree>
    <p:extLst>
      <p:ext uri="{BB962C8B-B14F-4D97-AF65-F5344CB8AC3E}">
        <p14:creationId xmlns:p14="http://schemas.microsoft.com/office/powerpoint/2010/main" val="39325466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31B43-E1A4-4F73-9503-0C600612AB47}"/>
              </a:ext>
            </a:extLst>
          </p:cNvPr>
          <p:cNvSpPr>
            <a:spLocks noGrp="1"/>
          </p:cNvSpPr>
          <p:nvPr>
            <p:ph type="title"/>
          </p:nvPr>
        </p:nvSpPr>
        <p:spPr/>
        <p:txBody>
          <a:bodyPr/>
          <a:lstStyle/>
          <a:p>
            <a:r>
              <a:rPr lang="en-US" dirty="0"/>
              <a:t>About Today’s Tutorial</a:t>
            </a:r>
          </a:p>
        </p:txBody>
      </p:sp>
      <p:sp>
        <p:nvSpPr>
          <p:cNvPr id="3" name="Content Placeholder 2">
            <a:extLst>
              <a:ext uri="{FF2B5EF4-FFF2-40B4-BE49-F238E27FC236}">
                <a16:creationId xmlns:a16="http://schemas.microsoft.com/office/drawing/2014/main" id="{BEFA0AFE-14CA-49B6-98B0-E8202E175802}"/>
              </a:ext>
            </a:extLst>
          </p:cNvPr>
          <p:cNvSpPr>
            <a:spLocks noGrp="1"/>
          </p:cNvSpPr>
          <p:nvPr>
            <p:ph idx="1"/>
          </p:nvPr>
        </p:nvSpPr>
        <p:spPr/>
        <p:txBody>
          <a:bodyPr/>
          <a:lstStyle/>
          <a:p>
            <a:r>
              <a:rPr lang="en-US" dirty="0"/>
              <a:t>There are many useful topics that could help you improve your scientific software development process</a:t>
            </a:r>
          </a:p>
          <a:p>
            <a:r>
              <a:rPr lang="en-US" dirty="0"/>
              <a:t>We’re going to focus on a few topics where the software engineering advice in the wild typically doesn’t address scientific software</a:t>
            </a:r>
          </a:p>
          <a:p>
            <a:pPr lvl="1"/>
            <a:r>
              <a:rPr lang="en-US" dirty="0"/>
              <a:t>Reproducibility</a:t>
            </a:r>
          </a:p>
          <a:p>
            <a:pPr lvl="1"/>
            <a:r>
              <a:rPr lang="en-US" dirty="0"/>
              <a:t>Designing software for flexibility and extensibility</a:t>
            </a:r>
          </a:p>
          <a:p>
            <a:pPr lvl="1"/>
            <a:r>
              <a:rPr lang="en-US" dirty="0"/>
              <a:t>Testing strategies for complex high-performance computing software</a:t>
            </a:r>
          </a:p>
          <a:p>
            <a:pPr lvl="1"/>
            <a:r>
              <a:rPr lang="en-US" dirty="0"/>
              <a:t>Refactoring scientific software</a:t>
            </a:r>
          </a:p>
          <a:p>
            <a:pPr lvl="1"/>
            <a:r>
              <a:rPr lang="en-US" dirty="0"/>
              <a:t>Use of LLMs in scientific software coding tasks</a:t>
            </a:r>
          </a:p>
        </p:txBody>
      </p:sp>
    </p:spTree>
    <p:extLst>
      <p:ext uri="{BB962C8B-B14F-4D97-AF65-F5344CB8AC3E}">
        <p14:creationId xmlns:p14="http://schemas.microsoft.com/office/powerpoint/2010/main" val="2220558370"/>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3112</TotalTime>
  <Words>3809</Words>
  <Application>Microsoft Office PowerPoint</Application>
  <PresentationFormat>Custom</PresentationFormat>
  <Paragraphs>350</Paragraphs>
  <Slides>26</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Arial Black</vt:lpstr>
      <vt:lpstr>Calibri</vt:lpstr>
      <vt:lpstr>Presentations (Wide Screen)</vt:lpstr>
      <vt:lpstr>Motivation and Overview of Best Practices in HPC Software Development</vt:lpstr>
      <vt:lpstr>License, Citation and Acknowledgements</vt:lpstr>
      <vt:lpstr>PowerPoint Presentation</vt:lpstr>
      <vt:lpstr>The Success of Computational Science Creates the Challenges of Computational Science</vt:lpstr>
      <vt:lpstr>Challenges Developing Scientific Applications Today</vt:lpstr>
      <vt:lpstr>High-Consequence Software-Related Scientific Failures</vt:lpstr>
      <vt:lpstr>Software Under the Microscope</vt:lpstr>
      <vt:lpstr>The Press Picks Up the Story</vt:lpstr>
      <vt:lpstr>What you May Not Have Heard</vt:lpstr>
      <vt:lpstr>Some Observations</vt:lpstr>
      <vt:lpstr>More Subtle Impacts on Scientific Productivity</vt:lpstr>
      <vt:lpstr>Technical Debt</vt:lpstr>
      <vt:lpstr>Scientific Facilities Provide Valuable Resources</vt:lpstr>
      <vt:lpstr>PowerPoint Presentation</vt:lpstr>
      <vt:lpstr>So, What Are Good Software Practices?</vt:lpstr>
      <vt:lpstr>Example 1: Best Practices for Scientific Computing (1/2)</vt:lpstr>
      <vt:lpstr>Example 1: Best Practices for Scientific Computing (2/2)</vt:lpstr>
      <vt:lpstr>Example 2: Good Enough Practices in Scientific Computing (1/2)</vt:lpstr>
      <vt:lpstr>Example 2: Good Enough Practices in Scientific Computing (2/2)</vt:lpstr>
      <vt:lpstr>Example 3: OpenSSF Best Practices Badge Program</vt:lpstr>
      <vt:lpstr>OpenSSF Best Practices Criteria Summary</vt:lpstr>
      <vt:lpstr>Example 4: Good Practices for High-Quality Scientific Computing </vt:lpstr>
      <vt:lpstr>Software Engineering Advice Often Needs Adaptation for Scientific Software</vt:lpstr>
      <vt:lpstr>How Much (Time, Effort) Should I Spend on Software Engineering?</vt:lpstr>
      <vt:lpstr>Continual, Incremental Software Process Improvement</vt:lpstr>
      <vt:lpstr>About Today’s Tutorial</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478</cp:revision>
  <cp:lastPrinted>2017-11-02T18:35:01Z</cp:lastPrinted>
  <dcterms:created xsi:type="dcterms:W3CDTF">2018-11-06T17:28:56Z</dcterms:created>
  <dcterms:modified xsi:type="dcterms:W3CDTF">2026-01-23T02:03:34Z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