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5" r:id="rId4"/>
  </p:sldMasterIdLst>
  <p:notesMasterIdLst>
    <p:notesMasterId r:id="rId49"/>
  </p:notesMasterIdLst>
  <p:handoutMasterIdLst>
    <p:handoutMasterId r:id="rId50"/>
  </p:handoutMasterIdLst>
  <p:sldIdLst>
    <p:sldId id="318" r:id="rId5"/>
    <p:sldId id="1854" r:id="rId6"/>
    <p:sldId id="1820" r:id="rId7"/>
    <p:sldId id="1838" r:id="rId8"/>
    <p:sldId id="1824" r:id="rId9"/>
    <p:sldId id="1797" r:id="rId10"/>
    <p:sldId id="1857" r:id="rId11"/>
    <p:sldId id="1818" r:id="rId12"/>
    <p:sldId id="1819" r:id="rId13"/>
    <p:sldId id="1825" r:id="rId14"/>
    <p:sldId id="1841" r:id="rId15"/>
    <p:sldId id="1811" r:id="rId16"/>
    <p:sldId id="1823" r:id="rId17"/>
    <p:sldId id="1826" r:id="rId18"/>
    <p:sldId id="1821" r:id="rId19"/>
    <p:sldId id="1834" r:id="rId20"/>
    <p:sldId id="1845" r:id="rId21"/>
    <p:sldId id="1844" r:id="rId22"/>
    <p:sldId id="1836" r:id="rId23"/>
    <p:sldId id="1837" r:id="rId24"/>
    <p:sldId id="1856" r:id="rId25"/>
    <p:sldId id="1829" r:id="rId26"/>
    <p:sldId id="335" r:id="rId27"/>
    <p:sldId id="349" r:id="rId28"/>
    <p:sldId id="336" r:id="rId29"/>
    <p:sldId id="346" r:id="rId30"/>
    <p:sldId id="1855" r:id="rId31"/>
    <p:sldId id="279" r:id="rId32"/>
    <p:sldId id="287" r:id="rId33"/>
    <p:sldId id="331" r:id="rId34"/>
    <p:sldId id="280" r:id="rId35"/>
    <p:sldId id="275" r:id="rId36"/>
    <p:sldId id="293" r:id="rId37"/>
    <p:sldId id="281" r:id="rId38"/>
    <p:sldId id="294" r:id="rId39"/>
    <p:sldId id="295" r:id="rId40"/>
    <p:sldId id="288" r:id="rId41"/>
    <p:sldId id="282" r:id="rId42"/>
    <p:sldId id="283" r:id="rId43"/>
    <p:sldId id="1833" r:id="rId44"/>
    <p:sldId id="1831" r:id="rId45"/>
    <p:sldId id="1842" r:id="rId46"/>
    <p:sldId id="1830" r:id="rId47"/>
    <p:sldId id="313" r:id="rId48"/>
  </p:sldIdLst>
  <p:sldSz cx="12188825"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C2F"/>
    <a:srgbClr val="C59C27"/>
    <a:srgbClr val="D13940"/>
    <a:srgbClr val="EF9A1A"/>
    <a:srgbClr val="907262"/>
    <a:srgbClr val="B3CD1F"/>
    <a:srgbClr val="43B1E5"/>
    <a:srgbClr val="00B8BB"/>
    <a:srgbClr val="426FB6"/>
    <a:srgbClr val="13A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64" autoAdjust="0"/>
    <p:restoredTop sz="96571" autoAdjust="0"/>
  </p:normalViewPr>
  <p:slideViewPr>
    <p:cSldViewPr snapToGrid="0" showGuides="1">
      <p:cViewPr varScale="1">
        <p:scale>
          <a:sx n="123" d="100"/>
          <a:sy n="123" d="100"/>
        </p:scale>
        <p:origin x="366" y="102"/>
      </p:cViewPr>
      <p:guideLst>
        <p:guide orient="horz" pos="888"/>
        <p:guide pos="3839"/>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5" d="100"/>
          <a:sy n="55" d="100"/>
        </p:scale>
        <p:origin x="-1472" y="-6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B842F42-2CE9-4E35-95C1-410DC08A50B1}" type="datetimeFigureOut">
              <a:rPr lang="en-US" smtClean="0"/>
              <a:t>8/5/2025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6F2E89A-4FDF-4617-8DDF-BE2769EE821E}" type="slidenum">
              <a:rPr lang="en-US" smtClean="0"/>
              <a:t>‹#›</a:t>
            </a:fld>
            <a:endParaRPr lang="en-US"/>
          </a:p>
        </p:txBody>
      </p:sp>
    </p:spTree>
    <p:extLst>
      <p:ext uri="{BB962C8B-B14F-4D97-AF65-F5344CB8AC3E}">
        <p14:creationId xmlns:p14="http://schemas.microsoft.com/office/powerpoint/2010/main" val="257926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F282904-F315-4730-8D91-37D99E141A6F}" type="datetimeFigureOut">
              <a:rPr lang="en-US" smtClean="0"/>
              <a:t>8/5/2025</a:t>
            </a:fld>
            <a:endParaRPr lang="en-US"/>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54E672D7-8E2D-4611-973D-F4591A707C34}" type="slidenum">
              <a:rPr lang="en-US" smtClean="0"/>
              <a:t>‹#›</a:t>
            </a:fld>
            <a:endParaRPr lang="en-US"/>
          </a:p>
        </p:txBody>
      </p:sp>
    </p:spTree>
    <p:extLst>
      <p:ext uri="{BB962C8B-B14F-4D97-AF65-F5344CB8AC3E}">
        <p14:creationId xmlns:p14="http://schemas.microsoft.com/office/powerpoint/2010/main" val="170135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Originally a 45 minute talk, cut to about 30 by putting the Data Management Plans and Reproducibility after the summary and cutting the Psychology example and the 2 slides at the end, probably covered under testing.</a:t>
            </a:r>
          </a:p>
          <a:p>
            <a:r>
              <a:rPr lang="en-US" dirty="0"/>
              <a:t>To make this a 15 minute talk go through the initial examples and incentives quickly then cover the How to sections.</a:t>
            </a:r>
          </a:p>
        </p:txBody>
      </p:sp>
      <p:sp>
        <p:nvSpPr>
          <p:cNvPr id="4" name="Slide Number Placeholder 3"/>
          <p:cNvSpPr>
            <a:spLocks noGrp="1"/>
          </p:cNvSpPr>
          <p:nvPr>
            <p:ph type="sldNum" sz="quarter" idx="5"/>
          </p:nvPr>
        </p:nvSpPr>
        <p:spPr/>
        <p:txBody>
          <a:bodyPr/>
          <a:lstStyle/>
          <a:p>
            <a:fld id="{54E672D7-8E2D-4611-973D-F4591A707C34}" type="slidenum">
              <a:rPr lang="en-US" smtClean="0"/>
              <a:t>1</a:t>
            </a:fld>
            <a:endParaRPr lang="en-US"/>
          </a:p>
        </p:txBody>
      </p:sp>
    </p:spTree>
    <p:extLst>
      <p:ext uri="{BB962C8B-B14F-4D97-AF65-F5344CB8AC3E}">
        <p14:creationId xmlns:p14="http://schemas.microsoft.com/office/powerpoint/2010/main" val="264095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5"/>
          </p:nvPr>
        </p:nvSpPr>
        <p:spPr/>
        <p:txBody>
          <a:bodyPr/>
          <a:lstStyle/>
          <a:p>
            <a:fld id="{54E672D7-8E2D-4611-973D-F4591A707C34}" type="slidenum">
              <a:rPr lang="en-US" smtClean="0"/>
              <a:t>5</a:t>
            </a:fld>
            <a:endParaRPr lang="en-US"/>
          </a:p>
        </p:txBody>
      </p:sp>
      <p:sp>
        <p:nvSpPr>
          <p:cNvPr id="6" name="Content Placeholder 2">
            <a:extLst>
              <a:ext uri="{FF2B5EF4-FFF2-40B4-BE49-F238E27FC236}">
                <a16:creationId xmlns:a16="http://schemas.microsoft.com/office/drawing/2014/main" id="{14E1251E-C854-AA46-A04A-00D9A85237CB}"/>
              </a:ext>
            </a:extLst>
          </p:cNvPr>
          <p:cNvSpPr txBox="1">
            <a:spLocks noGrp="1"/>
          </p:cNvSpPr>
          <p:nvPr>
            <p:ph type="body" idx="1"/>
          </p:nvPr>
        </p:nvSpPr>
        <p:spPr>
          <a:prstGeom prst="rect">
            <a:avLst/>
          </a:prstGeom>
        </p:spPr>
        <p:txBody>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dirty="0"/>
              <a:t>Examples  that resulted in disputed results</a:t>
            </a:r>
          </a:p>
          <a:p>
            <a:r>
              <a:rPr lang="en-US" sz="1600" dirty="0"/>
              <a:t>Additional Incentives</a:t>
            </a:r>
          </a:p>
          <a:p>
            <a:pPr lvl="1"/>
            <a:r>
              <a:rPr lang="en-US" sz="1600" dirty="0"/>
              <a:t>Ensure goals include credible science through better software</a:t>
            </a:r>
          </a:p>
          <a:p>
            <a:pPr lvl="1"/>
            <a:r>
              <a:rPr lang="en-US" sz="1600" dirty="0"/>
              <a:t>Limited resources</a:t>
            </a:r>
          </a:p>
          <a:p>
            <a:pPr lvl="1"/>
            <a:r>
              <a:rPr lang="en-US" sz="1600" dirty="0"/>
              <a:t>Data requirement plans for research</a:t>
            </a:r>
          </a:p>
          <a:p>
            <a:pPr lvl="1"/>
            <a:r>
              <a:rPr lang="en-US" sz="1600" dirty="0"/>
              <a:t> Reproducibility and transparency initiatives for publications</a:t>
            </a:r>
          </a:p>
          <a:p>
            <a:pPr lvl="1"/>
            <a:endParaRPr lang="en-US" dirty="0"/>
          </a:p>
        </p:txBody>
      </p:sp>
    </p:spTree>
    <p:extLst>
      <p:ext uri="{BB962C8B-B14F-4D97-AF65-F5344CB8AC3E}">
        <p14:creationId xmlns:p14="http://schemas.microsoft.com/office/powerpoint/2010/main" val="3547018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672D7-8E2D-4611-973D-F4591A707C34}" type="slidenum">
              <a:rPr lang="en-US" smtClean="0"/>
              <a:t>9</a:t>
            </a:fld>
            <a:endParaRPr lang="en-US"/>
          </a:p>
        </p:txBody>
      </p:sp>
    </p:spTree>
    <p:extLst>
      <p:ext uri="{BB962C8B-B14F-4D97-AF65-F5344CB8AC3E}">
        <p14:creationId xmlns:p14="http://schemas.microsoft.com/office/powerpoint/2010/main" val="3243764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14</a:t>
            </a:fld>
            <a:endParaRPr lang="en-US"/>
          </a:p>
        </p:txBody>
      </p:sp>
    </p:spTree>
    <p:extLst>
      <p:ext uri="{BB962C8B-B14F-4D97-AF65-F5344CB8AC3E}">
        <p14:creationId xmlns:p14="http://schemas.microsoft.com/office/powerpoint/2010/main" val="1945347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22</a:t>
            </a:fld>
            <a:endParaRPr lang="en-US"/>
          </a:p>
        </p:txBody>
      </p:sp>
    </p:spTree>
    <p:extLst>
      <p:ext uri="{BB962C8B-B14F-4D97-AF65-F5344CB8AC3E}">
        <p14:creationId xmlns:p14="http://schemas.microsoft.com/office/powerpoint/2010/main" val="3943811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23</a:t>
            </a:fld>
            <a:endParaRPr lang="en-US"/>
          </a:p>
        </p:txBody>
      </p:sp>
    </p:spTree>
    <p:extLst>
      <p:ext uri="{BB962C8B-B14F-4D97-AF65-F5344CB8AC3E}">
        <p14:creationId xmlns:p14="http://schemas.microsoft.com/office/powerpoint/2010/main" val="3785804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designed with the expectation that attendees have a basic idea of what a lab notebook is as well as some experience (e.g., in university lab classes).</a:t>
            </a:r>
          </a:p>
          <a:p>
            <a:endParaRPr lang="en-US" dirty="0"/>
          </a:p>
          <a:p>
            <a:r>
              <a:rPr lang="en-US" dirty="0"/>
              <a:t>This is just a moment to confirm this and understand the bare minimum of what a lab notebook should do.  Put this up front so that people can relate slides to what they understand of lab notes.</a:t>
            </a:r>
          </a:p>
          <a:p>
            <a:endParaRPr lang="en-US" dirty="0"/>
          </a:p>
          <a:p>
            <a:r>
              <a:rPr lang="en-US" dirty="0"/>
              <a:t>Emphasize that this is mostly likely the base minimum.  In this sense, the notebook is like a cookbook with a collection of recipes we want others to execute.</a:t>
            </a:r>
          </a:p>
        </p:txBody>
      </p:sp>
      <p:sp>
        <p:nvSpPr>
          <p:cNvPr id="4" name="Slide Number Placeholder 3"/>
          <p:cNvSpPr>
            <a:spLocks noGrp="1"/>
          </p:cNvSpPr>
          <p:nvPr>
            <p:ph type="sldNum" sz="quarter" idx="5"/>
          </p:nvPr>
        </p:nvSpPr>
        <p:spPr/>
        <p:txBody>
          <a:bodyPr/>
          <a:lstStyle/>
          <a:p>
            <a:fld id="{54E672D7-8E2D-4611-973D-F4591A707C34}" type="slidenum">
              <a:rPr lang="en-US" smtClean="0"/>
              <a:t>24</a:t>
            </a:fld>
            <a:endParaRPr lang="en-US"/>
          </a:p>
        </p:txBody>
      </p:sp>
    </p:spTree>
    <p:extLst>
      <p:ext uri="{BB962C8B-B14F-4D97-AF65-F5344CB8AC3E}">
        <p14:creationId xmlns:p14="http://schemas.microsoft.com/office/powerpoint/2010/main" val="95302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Automated is in quotes because the TIOs and astronomers still needed to input information into a system.  But there was a process for them to input such data into tools that aggregated their input with other notes.</a:t>
            </a:r>
          </a:p>
          <a:p>
            <a:endParaRPr lang="en-US" dirty="0"/>
          </a:p>
          <a:p>
            <a:r>
              <a:rPr lang="en-US" dirty="0"/>
              <a:t>Relate back to minimal lab notebook definition.  We want more that just a cookbook.</a:t>
            </a:r>
          </a:p>
          <a:p>
            <a:endParaRPr lang="en-US" dirty="0"/>
          </a:p>
          <a:p>
            <a:r>
              <a:rPr lang="en-US" dirty="0"/>
              <a:t>Notebooks serve as implicit communication</a:t>
            </a:r>
          </a:p>
        </p:txBody>
      </p:sp>
      <p:sp>
        <p:nvSpPr>
          <p:cNvPr id="4" name="Slide Number Placeholder 3"/>
          <p:cNvSpPr>
            <a:spLocks noGrp="1"/>
          </p:cNvSpPr>
          <p:nvPr>
            <p:ph type="sldNum" sz="quarter" idx="5"/>
          </p:nvPr>
        </p:nvSpPr>
        <p:spPr/>
        <p:txBody>
          <a:bodyPr/>
          <a:lstStyle/>
          <a:p>
            <a:fld id="{54E672D7-8E2D-4611-973D-F4591A707C34}" type="slidenum">
              <a:rPr lang="en-US" smtClean="0"/>
              <a:t>25</a:t>
            </a:fld>
            <a:endParaRPr lang="en-US"/>
          </a:p>
        </p:txBody>
      </p:sp>
    </p:spTree>
    <p:extLst>
      <p:ext uri="{BB962C8B-B14F-4D97-AF65-F5344CB8AC3E}">
        <p14:creationId xmlns:p14="http://schemas.microsoft.com/office/powerpoint/2010/main" val="2141150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Bad example is not at all comprehensive.  Imagine if we have three different researchers acquiring data and taking no notes or just these notes.  How can you stitch the whole data set together at the time much less at a later time?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Doesn’t need to be exhaustive.  I can just leave myself some bread crumbs with the expectation that writing notes is easier, but recreating notes could be time consuming should I ever need to do so.</a:t>
            </a:r>
          </a:p>
          <a:p>
            <a:pPr marL="171450" indent="-171450">
              <a:buFont typeface="Arial" panose="020B0604020202020204" pitchFamily="34" charset="0"/>
              <a:buChar char="•"/>
            </a:pPr>
            <a:r>
              <a:rPr lang="en-US" dirty="0"/>
              <a:t>Are the bread crumbs enough?  Can they determine what flags are implied by debug version?  What about the full SW stack?  What about the SW stack for the analysis?  Is such detail needed for this stage of work and if not, is that filtering?</a:t>
            </a:r>
          </a:p>
          <a:p>
            <a:pPr marL="171450" indent="-171450">
              <a:buFont typeface="Arial" panose="020B0604020202020204" pitchFamily="34" charset="0"/>
              <a:buChar char="•"/>
            </a:pPr>
            <a:r>
              <a:rPr lang="en-US" dirty="0"/>
              <a:t>Note that the build logs are acting as lab notes.</a:t>
            </a:r>
          </a:p>
          <a:p>
            <a:pPr marL="171450" indent="-171450">
              <a:buFont typeface="Arial" panose="020B0604020202020204" pitchFamily="34" charset="0"/>
              <a:buChar char="•"/>
            </a:pPr>
            <a:r>
              <a:rPr lang="en-US" dirty="0"/>
              <a:t>Note also, that we could have included git information in the build logs to make things simpler.</a:t>
            </a:r>
          </a:p>
          <a:p>
            <a:pPr marL="171450" indent="-171450">
              <a:buFont typeface="Arial" panose="020B0604020202020204" pitchFamily="34" charset="0"/>
              <a:buChar char="•"/>
            </a:pPr>
            <a:r>
              <a:rPr lang="en-US" dirty="0"/>
              <a:t>We likely should have included a graphic that points out missing peak.  Annotating the graphic with what was expected would be nice.</a:t>
            </a:r>
          </a:p>
          <a:p>
            <a:pPr marL="171450" indent="-171450">
              <a:buFont typeface="Arial" panose="020B0604020202020204" pitchFamily="34" charset="0"/>
              <a:buChar char="•"/>
            </a:pPr>
            <a:r>
              <a:rPr lang="en-US" dirty="0"/>
              <a:t>The better example is also not great.</a:t>
            </a:r>
          </a:p>
        </p:txBody>
      </p:sp>
      <p:sp>
        <p:nvSpPr>
          <p:cNvPr id="4" name="Slide Number Placeholder 3"/>
          <p:cNvSpPr>
            <a:spLocks noGrp="1"/>
          </p:cNvSpPr>
          <p:nvPr>
            <p:ph type="sldNum" sz="quarter" idx="5"/>
          </p:nvPr>
        </p:nvSpPr>
        <p:spPr/>
        <p:txBody>
          <a:bodyPr/>
          <a:lstStyle/>
          <a:p>
            <a:fld id="{54E672D7-8E2D-4611-973D-F4591A707C34}" type="slidenum">
              <a:rPr lang="en-US" smtClean="0"/>
              <a:t>26</a:t>
            </a:fld>
            <a:endParaRPr lang="en-US"/>
          </a:p>
        </p:txBody>
      </p:sp>
    </p:spTree>
    <p:extLst>
      <p:ext uri="{BB962C8B-B14F-4D97-AF65-F5344CB8AC3E}">
        <p14:creationId xmlns:p14="http://schemas.microsoft.com/office/powerpoint/2010/main" val="16368675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Procedures – someone with understanding writes down a recipe so that someone with knowledge can execute it.</a:t>
            </a:r>
          </a:p>
          <a:p>
            <a:endParaRPr lang="en-US" dirty="0"/>
          </a:p>
          <a:p>
            <a:r>
              <a:rPr lang="en-US" dirty="0"/>
              <a:t>How about, "I went into science because I hated English. Now you're telling me my English teacher was right?"</a:t>
            </a:r>
          </a:p>
        </p:txBody>
      </p:sp>
      <p:sp>
        <p:nvSpPr>
          <p:cNvPr id="4" name="Slide Number Placeholder 3"/>
          <p:cNvSpPr>
            <a:spLocks noGrp="1"/>
          </p:cNvSpPr>
          <p:nvPr>
            <p:ph type="sldNum" sz="quarter" idx="5"/>
          </p:nvPr>
        </p:nvSpPr>
        <p:spPr/>
        <p:txBody>
          <a:bodyPr/>
          <a:lstStyle/>
          <a:p>
            <a:fld id="{3EAA7A1A-8011-3A42-91B8-EE1BD44E4455}" type="slidenum">
              <a:rPr lang="en-US" smtClean="0"/>
              <a:t>27</a:t>
            </a:fld>
            <a:endParaRPr lang="en-US"/>
          </a:p>
        </p:txBody>
      </p:sp>
    </p:spTree>
    <p:extLst>
      <p:ext uri="{BB962C8B-B14F-4D97-AF65-F5344CB8AC3E}">
        <p14:creationId xmlns:p14="http://schemas.microsoft.com/office/powerpoint/2010/main" val="1266648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Documentation is capture, preserve, &amp; communicate</a:t>
            </a:r>
          </a:p>
          <a:p>
            <a:endParaRPr lang="en-US" dirty="0"/>
          </a:p>
          <a:p>
            <a:r>
              <a:rPr lang="en-US" dirty="0"/>
              <a:t>Not all documents are alike.</a:t>
            </a:r>
          </a:p>
          <a:p>
            <a:endParaRPr lang="en-US" dirty="0"/>
          </a:p>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30</a:t>
            </a:fld>
            <a:endParaRPr lang="en-US"/>
          </a:p>
        </p:txBody>
      </p:sp>
    </p:spTree>
    <p:extLst>
      <p:ext uri="{BB962C8B-B14F-4D97-AF65-F5344CB8AC3E}">
        <p14:creationId xmlns:p14="http://schemas.microsoft.com/office/powerpoint/2010/main" val="41572600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AA7A1A-8011-3A42-91B8-EE1BD44E4455}" type="slidenum">
              <a:rPr lang="en-US" smtClean="0"/>
              <a:t>32</a:t>
            </a:fld>
            <a:endParaRPr lang="en-US"/>
          </a:p>
        </p:txBody>
      </p:sp>
    </p:spTree>
    <p:extLst>
      <p:ext uri="{BB962C8B-B14F-4D97-AF65-F5344CB8AC3E}">
        <p14:creationId xmlns:p14="http://schemas.microsoft.com/office/powerpoint/2010/main" val="2895505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41</a:t>
            </a:fld>
            <a:endParaRPr lang="en-US"/>
          </a:p>
        </p:txBody>
      </p:sp>
    </p:spTree>
    <p:extLst>
      <p:ext uri="{BB962C8B-B14F-4D97-AF65-F5344CB8AC3E}">
        <p14:creationId xmlns:p14="http://schemas.microsoft.com/office/powerpoint/2010/main" val="375934625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5.png"/><Relationship Id="rId12" Type="http://schemas.openxmlformats.org/officeDocument/2006/relationships/hyperlink" Target="https://cass.community/" TargetMode="Externa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hyperlink" Target="https://rapids.lbl.gov/" TargetMode="External"/><Relationship Id="rId5" Type="http://schemas.microsoft.com/office/2007/relationships/hdphoto" Target="../media/hdphoto1.wdp"/><Relationship Id="rId10" Type="http://schemas.openxmlformats.org/officeDocument/2006/relationships/hyperlink" Target="https://pesoproject.org/" TargetMode="External"/><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8.png"/><Relationship Id="rId3" Type="http://schemas.microsoft.com/office/2007/relationships/hdphoto" Target="../media/hdphoto1.wdp"/><Relationship Id="rId7" Type="http://schemas.openxmlformats.org/officeDocument/2006/relationships/image" Target="../media/image5.png"/><Relationship Id="rId12" Type="http://schemas.openxmlformats.org/officeDocument/2006/relationships/hyperlink" Target="https://cass.community/" TargetMode="External"/><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hyperlink" Target="https://rapids.lbl.gov/" TargetMode="External"/><Relationship Id="rId5" Type="http://schemas.openxmlformats.org/officeDocument/2006/relationships/image" Target="../media/image2.png"/><Relationship Id="rId10" Type="http://schemas.openxmlformats.org/officeDocument/2006/relationships/hyperlink" Target="https://pesoproject.org/" TargetMode="External"/><Relationship Id="rId4" Type="http://schemas.openxmlformats.org/officeDocument/2006/relationships/image" Target="../media/image1.png"/><Relationship Id="rId9"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dirty="0"/>
              <a:t>Click to edit Master title style</a:t>
            </a:r>
          </a:p>
        </p:txBody>
      </p:sp>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sp>
        <p:nvSpPr>
          <p:cNvPr id="6" name="Text Placeholder 5">
            <a:extLst>
              <a:ext uri="{FF2B5EF4-FFF2-40B4-BE49-F238E27FC236}">
                <a16:creationId xmlns:a16="http://schemas.microsoft.com/office/drawing/2014/main" id="{516372F2-F09E-4139-B638-4F1B290B77B9}"/>
              </a:ext>
            </a:extLst>
          </p:cNvPr>
          <p:cNvSpPr>
            <a:spLocks noGrp="1"/>
          </p:cNvSpPr>
          <p:nvPr>
            <p:ph type="body" sz="quarter" idx="10" hasCustomPrompt="1"/>
          </p:nvPr>
        </p:nvSpPr>
        <p:spPr>
          <a:xfrm>
            <a:off x="9335896" y="5913283"/>
            <a:ext cx="2852929" cy="262814"/>
          </a:xfrm>
        </p:spPr>
        <p:txBody>
          <a:bodyPr/>
          <a:lstStyle>
            <a:lvl1pPr marL="0" indent="0" algn="r">
              <a:buNone/>
              <a:defRPr sz="1200"/>
            </a:lvl1pPr>
          </a:lstStyle>
          <a:p>
            <a:pPr lvl="0"/>
            <a:r>
              <a:rPr lang="en-US" dirty="0"/>
              <a:t>R&amp;R number (if required)</a:t>
            </a:r>
          </a:p>
        </p:txBody>
      </p:sp>
      <p:sp>
        <p:nvSpPr>
          <p:cNvPr id="9" name="Text Placeholder 8">
            <a:extLst>
              <a:ext uri="{FF2B5EF4-FFF2-40B4-BE49-F238E27FC236}">
                <a16:creationId xmlns:a16="http://schemas.microsoft.com/office/drawing/2014/main" id="{7A08ED72-5D36-44C1-A3D6-C72E158E1FA6}"/>
              </a:ext>
            </a:extLst>
          </p:cNvPr>
          <p:cNvSpPr>
            <a:spLocks noGrp="1"/>
          </p:cNvSpPr>
          <p:nvPr>
            <p:ph type="body" sz="quarter" idx="11" hasCustomPrompt="1"/>
          </p:nvPr>
        </p:nvSpPr>
        <p:spPr>
          <a:xfrm>
            <a:off x="3176924" y="2085870"/>
            <a:ext cx="2427268" cy="424732"/>
          </a:xfrm>
        </p:spPr>
        <p:txBody>
          <a:bodyPr wrap="none">
            <a:spAutoFit/>
          </a:bodyPr>
          <a:lstStyle>
            <a:lvl1pPr marL="0" indent="0">
              <a:buNone/>
              <a:defRPr u="sng"/>
            </a:lvl1pPr>
          </a:lstStyle>
          <a:p>
            <a:pPr lvl="0"/>
            <a:r>
              <a:rPr lang="en-US" dirty="0"/>
              <a:t>Presenter Name</a:t>
            </a:r>
          </a:p>
        </p:txBody>
      </p:sp>
      <p:sp>
        <p:nvSpPr>
          <p:cNvPr id="11" name="Text Placeholder 10">
            <a:extLst>
              <a:ext uri="{FF2B5EF4-FFF2-40B4-BE49-F238E27FC236}">
                <a16:creationId xmlns:a16="http://schemas.microsoft.com/office/drawing/2014/main" id="{07C2C5E0-3F9A-4B6C-82C6-FEE7176DA8DC}"/>
              </a:ext>
            </a:extLst>
          </p:cNvPr>
          <p:cNvSpPr>
            <a:spLocks noGrp="1"/>
          </p:cNvSpPr>
          <p:nvPr>
            <p:ph type="body" sz="quarter" idx="12" hasCustomPrompt="1"/>
          </p:nvPr>
        </p:nvSpPr>
        <p:spPr>
          <a:xfrm>
            <a:off x="5667411" y="2134517"/>
            <a:ext cx="1690167" cy="376085"/>
          </a:xfrm>
        </p:spPr>
        <p:txBody>
          <a:bodyPr>
            <a:spAutoFit/>
          </a:bodyPr>
          <a:lstStyle>
            <a:lvl1pPr marL="0" indent="0">
              <a:buNone/>
              <a:defRPr sz="2000"/>
            </a:lvl1pPr>
          </a:lstStyle>
          <a:p>
            <a:pPr lvl="0"/>
            <a:r>
              <a:rPr lang="en-US" dirty="0"/>
              <a:t>(pronouns)</a:t>
            </a:r>
          </a:p>
        </p:txBody>
      </p:sp>
      <p:sp>
        <p:nvSpPr>
          <p:cNvPr id="20" name="Text Placeholder 10">
            <a:extLst>
              <a:ext uri="{FF2B5EF4-FFF2-40B4-BE49-F238E27FC236}">
                <a16:creationId xmlns:a16="http://schemas.microsoft.com/office/drawing/2014/main" id="{6EE16D41-009C-4DB1-A6DF-FEBADC8C343B}"/>
              </a:ext>
            </a:extLst>
          </p:cNvPr>
          <p:cNvSpPr>
            <a:spLocks noGrp="1"/>
          </p:cNvSpPr>
          <p:nvPr>
            <p:ph type="body" sz="quarter" idx="13" hasCustomPrompt="1"/>
          </p:nvPr>
        </p:nvSpPr>
        <p:spPr>
          <a:xfrm>
            <a:off x="3176924" y="2459716"/>
            <a:ext cx="8292315" cy="369332"/>
          </a:xfrm>
        </p:spPr>
        <p:txBody>
          <a:bodyPr wrap="square">
            <a:spAutoFit/>
          </a:bodyPr>
          <a:lstStyle>
            <a:lvl1pPr marL="0" indent="0">
              <a:buNone/>
              <a:defRPr sz="2000"/>
            </a:lvl1pPr>
          </a:lstStyle>
          <a:p>
            <a:pPr lvl="0"/>
            <a:r>
              <a:rPr lang="en-US" dirty="0"/>
              <a:t>Long affiliation</a:t>
            </a:r>
          </a:p>
        </p:txBody>
      </p:sp>
      <p:sp>
        <p:nvSpPr>
          <p:cNvPr id="21" name="Text Placeholder 10">
            <a:extLst>
              <a:ext uri="{FF2B5EF4-FFF2-40B4-BE49-F238E27FC236}">
                <a16:creationId xmlns:a16="http://schemas.microsoft.com/office/drawing/2014/main" id="{8E791C6E-DB06-44D1-AB4E-AA0EF8215FBB}"/>
              </a:ext>
            </a:extLst>
          </p:cNvPr>
          <p:cNvSpPr>
            <a:spLocks noGrp="1"/>
          </p:cNvSpPr>
          <p:nvPr>
            <p:ph type="body" sz="quarter" idx="14" hasCustomPrompt="1"/>
          </p:nvPr>
        </p:nvSpPr>
        <p:spPr>
          <a:xfrm>
            <a:off x="3176925" y="3161813"/>
            <a:ext cx="8292316" cy="369332"/>
          </a:xfrm>
        </p:spPr>
        <p:txBody>
          <a:bodyPr wrap="square">
            <a:spAutoFit/>
          </a:bodyPr>
          <a:lstStyle>
            <a:lvl1pPr marL="0" indent="0">
              <a:buNone/>
              <a:defRPr sz="2000"/>
            </a:lvl1pPr>
          </a:lstStyle>
          <a:p>
            <a:pPr lvl="0"/>
            <a:r>
              <a:rPr lang="en-US" dirty="0"/>
              <a:t>Tutorial title @ Venue</a:t>
            </a:r>
          </a:p>
        </p:txBody>
      </p:sp>
      <p:sp>
        <p:nvSpPr>
          <p:cNvPr id="23" name="Text Placeholder 10">
            <a:extLst>
              <a:ext uri="{FF2B5EF4-FFF2-40B4-BE49-F238E27FC236}">
                <a16:creationId xmlns:a16="http://schemas.microsoft.com/office/drawing/2014/main" id="{AA4CD3CE-55B5-4132-9AC3-B94506768C36}"/>
              </a:ext>
            </a:extLst>
          </p:cNvPr>
          <p:cNvSpPr>
            <a:spLocks noGrp="1"/>
          </p:cNvSpPr>
          <p:nvPr>
            <p:ph type="body" sz="quarter" idx="15" hasCustomPrompt="1"/>
          </p:nvPr>
        </p:nvSpPr>
        <p:spPr>
          <a:xfrm>
            <a:off x="3176924" y="3792588"/>
            <a:ext cx="8292316" cy="646331"/>
          </a:xfrm>
        </p:spPr>
        <p:txBody>
          <a:bodyPr wrap="square">
            <a:spAutoFit/>
          </a:bodyPr>
          <a:lstStyle>
            <a:lvl1pPr marL="0" indent="0">
              <a:buNone/>
              <a:defRPr sz="2000"/>
            </a:lvl1pPr>
          </a:lstStyle>
          <a:p>
            <a:pPr>
              <a:spcBef>
                <a:spcPts val="2800"/>
              </a:spcBef>
            </a:pPr>
            <a:r>
              <a:rPr lang="en-US" sz="2000" dirty="0"/>
              <a:t>Contributors: Contributor Name (short affiliation), … in alphabetical order</a:t>
            </a:r>
          </a:p>
        </p:txBody>
      </p:sp>
      <p:pic>
        <p:nvPicPr>
          <p:cNvPr id="3" name="Picture 2">
            <a:extLst>
              <a:ext uri="{FF2B5EF4-FFF2-40B4-BE49-F238E27FC236}">
                <a16:creationId xmlns:a16="http://schemas.microsoft.com/office/drawing/2014/main" id="{E5A81C43-A5B9-D933-9CA0-B9EBBA5B629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pic>
        <p:nvPicPr>
          <p:cNvPr id="31" name="Picture 30">
            <a:extLst>
              <a:ext uri="{FF2B5EF4-FFF2-40B4-BE49-F238E27FC236}">
                <a16:creationId xmlns:a16="http://schemas.microsoft.com/office/drawing/2014/main" id="{F6BAEEDA-B6C4-7DDA-6A83-26F20E08F28B}"/>
              </a:ext>
            </a:extLst>
          </p:cNvPr>
          <p:cNvPicPr>
            <a:picLocks noChangeAspect="1"/>
          </p:cNvPicPr>
          <p:nvPr userDrawn="1"/>
        </p:nvPicPr>
        <p:blipFill>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sp>
        <p:nvSpPr>
          <p:cNvPr id="8" name="TextBox 7">
            <a:extLst>
              <a:ext uri="{FF2B5EF4-FFF2-40B4-BE49-F238E27FC236}">
                <a16:creationId xmlns:a16="http://schemas.microsoft.com/office/drawing/2014/main" id="{FE645C1D-4C52-817A-47F8-6DA62582B7E8}"/>
              </a:ext>
            </a:extLst>
          </p:cNvPr>
          <p:cNvSpPr txBox="1"/>
          <p:nvPr userDrawn="1"/>
        </p:nvSpPr>
        <p:spPr>
          <a:xfrm>
            <a:off x="901538" y="1454246"/>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12" name="TextBox 11">
            <a:extLst>
              <a:ext uri="{FF2B5EF4-FFF2-40B4-BE49-F238E27FC236}">
                <a16:creationId xmlns:a16="http://schemas.microsoft.com/office/drawing/2014/main" id="{9B06F1CD-A1FA-1280-9F6B-F5ACF60BC4E2}"/>
              </a:ext>
            </a:extLst>
          </p:cNvPr>
          <p:cNvSpPr txBox="1"/>
          <p:nvPr userDrawn="1"/>
        </p:nvSpPr>
        <p:spPr>
          <a:xfrm>
            <a:off x="948025" y="2646131"/>
            <a:ext cx="1051185" cy="350865"/>
          </a:xfrm>
          <a:prstGeom prst="rect">
            <a:avLst/>
          </a:prstGeom>
          <a:noFill/>
        </p:spPr>
        <p:txBody>
          <a:bodyPr wrap="none" lIns="118872" tIns="91440" rIns="118872" bIns="91440" rtlCol="0" anchor="ctr" anchorCtr="0">
            <a:spAutoFit/>
          </a:bodyPr>
          <a:lstStyle/>
          <a:p>
            <a:pPr algn="l">
              <a:lnSpc>
                <a:spcPct val="90000"/>
              </a:lnSpc>
            </a:pPr>
            <a:r>
              <a:rPr lang="en-US" sz="1200" i="1" dirty="0"/>
              <a:t>Members of</a:t>
            </a:r>
          </a:p>
        </p:txBody>
      </p:sp>
      <p:sp>
        <p:nvSpPr>
          <p:cNvPr id="15" name="TextBox 14">
            <a:extLst>
              <a:ext uri="{FF2B5EF4-FFF2-40B4-BE49-F238E27FC236}">
                <a16:creationId xmlns:a16="http://schemas.microsoft.com/office/drawing/2014/main" id="{9212A437-16E5-FC5C-8886-A4AA3D8ED984}"/>
              </a:ext>
            </a:extLst>
          </p:cNvPr>
          <p:cNvSpPr txBox="1"/>
          <p:nvPr userDrawn="1"/>
        </p:nvSpPr>
        <p:spPr>
          <a:xfrm>
            <a:off x="572120" y="4624321"/>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16" name="Group 15">
            <a:extLst>
              <a:ext uri="{FF2B5EF4-FFF2-40B4-BE49-F238E27FC236}">
                <a16:creationId xmlns:a16="http://schemas.microsoft.com/office/drawing/2014/main" id="{31BE3FC6-E205-A059-A017-977A3D59F9CB}"/>
              </a:ext>
            </a:extLst>
          </p:cNvPr>
          <p:cNvGrpSpPr/>
          <p:nvPr userDrawn="1"/>
        </p:nvGrpSpPr>
        <p:grpSpPr>
          <a:xfrm>
            <a:off x="355043" y="5027111"/>
            <a:ext cx="2237149" cy="457200"/>
            <a:chOff x="343050" y="5128711"/>
            <a:chExt cx="2237149" cy="457200"/>
          </a:xfrm>
        </p:grpSpPr>
        <p:pic>
          <p:nvPicPr>
            <p:cNvPr id="17" name="Picture 16">
              <a:extLst>
                <a:ext uri="{FF2B5EF4-FFF2-40B4-BE49-F238E27FC236}">
                  <a16:creationId xmlns:a16="http://schemas.microsoft.com/office/drawing/2014/main" id="{5A2AF8C2-FACD-A130-A6F2-733D80D49B04}"/>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30" name="Picture 29" descr="A picture containing shape&#10;&#10;Description automatically generated">
              <a:extLst>
                <a:ext uri="{FF2B5EF4-FFF2-40B4-BE49-F238E27FC236}">
                  <a16:creationId xmlns:a16="http://schemas.microsoft.com/office/drawing/2014/main" id="{372667A6-6AA8-90F0-D0FA-20DD69F49457}"/>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grpSp>
        <p:nvGrpSpPr>
          <p:cNvPr id="32" name="Group 31">
            <a:extLst>
              <a:ext uri="{FF2B5EF4-FFF2-40B4-BE49-F238E27FC236}">
                <a16:creationId xmlns:a16="http://schemas.microsoft.com/office/drawing/2014/main" id="{26EFCC9D-B578-9D47-C35B-6CCF59F06F50}"/>
              </a:ext>
            </a:extLst>
          </p:cNvPr>
          <p:cNvGrpSpPr/>
          <p:nvPr userDrawn="1"/>
        </p:nvGrpSpPr>
        <p:grpSpPr>
          <a:xfrm>
            <a:off x="-69503" y="1892144"/>
            <a:ext cx="2985270" cy="790169"/>
            <a:chOff x="-69503" y="2214872"/>
            <a:chExt cx="2985270" cy="790169"/>
          </a:xfrm>
        </p:grpSpPr>
        <p:pic>
          <p:nvPicPr>
            <p:cNvPr id="33" name="Picture 4">
              <a:extLst>
                <a:ext uri="{FF2B5EF4-FFF2-40B4-BE49-F238E27FC236}">
                  <a16:creationId xmlns:a16="http://schemas.microsoft.com/office/drawing/2014/main" id="{364EC5DA-DBFC-AAAE-BCB4-80CDB79B6D75}"/>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484438" y="2317122"/>
              <a:ext cx="1371600" cy="31887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A picture containing graphics, logo, font, symbol&#10;&#10;Description automatically generated">
              <a:extLst>
                <a:ext uri="{FF2B5EF4-FFF2-40B4-BE49-F238E27FC236}">
                  <a16:creationId xmlns:a16="http://schemas.microsoft.com/office/drawing/2014/main" id="{2E024599-EB74-E46B-ACD1-3DE30E5DF74B}"/>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321595" y="2214872"/>
              <a:ext cx="841248" cy="523372"/>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36C8CF83-197C-D87B-F38D-19D8D2DF37B7}"/>
                </a:ext>
              </a:extLst>
            </p:cNvPr>
            <p:cNvSpPr txBox="1"/>
            <p:nvPr userDrawn="1"/>
          </p:nvSpPr>
          <p:spPr>
            <a:xfrm>
              <a:off x="-69503" y="2668026"/>
              <a:ext cx="163147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10"/>
                </a:rPr>
                <a:t>https://pesoproject.org</a:t>
              </a:r>
              <a:endParaRPr lang="en-US" sz="1050" i="1" dirty="0"/>
            </a:p>
          </p:txBody>
        </p:sp>
        <p:sp>
          <p:nvSpPr>
            <p:cNvPr id="36" name="TextBox 35">
              <a:extLst>
                <a:ext uri="{FF2B5EF4-FFF2-40B4-BE49-F238E27FC236}">
                  <a16:creationId xmlns:a16="http://schemas.microsoft.com/office/drawing/2014/main" id="{F35E1622-47D7-D6EC-4D9C-B6CB0C273E55}"/>
                </a:ext>
              </a:extLst>
            </p:cNvPr>
            <p:cNvSpPr txBox="1"/>
            <p:nvPr userDrawn="1"/>
          </p:nvSpPr>
          <p:spPr>
            <a:xfrm>
              <a:off x="1423755" y="2668026"/>
              <a:ext cx="149201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11"/>
                </a:rPr>
                <a:t>https://rapids.lbl.gov</a:t>
              </a:r>
              <a:endParaRPr lang="en-US" sz="1050" i="1" dirty="0"/>
            </a:p>
          </p:txBody>
        </p:sp>
      </p:grpSp>
      <p:sp>
        <p:nvSpPr>
          <p:cNvPr id="37" name="TextBox 36">
            <a:extLst>
              <a:ext uri="{FF2B5EF4-FFF2-40B4-BE49-F238E27FC236}">
                <a16:creationId xmlns:a16="http://schemas.microsoft.com/office/drawing/2014/main" id="{4F860197-91B8-F6CD-1F1D-EF2CC69F8BAE}"/>
              </a:ext>
            </a:extLst>
          </p:cNvPr>
          <p:cNvSpPr txBox="1"/>
          <p:nvPr userDrawn="1"/>
        </p:nvSpPr>
        <p:spPr>
          <a:xfrm>
            <a:off x="166031" y="4011401"/>
            <a:ext cx="2605511" cy="655564"/>
          </a:xfrm>
          <a:prstGeom prst="rect">
            <a:avLst/>
          </a:prstGeom>
          <a:noFill/>
        </p:spPr>
        <p:txBody>
          <a:bodyPr wrap="square" lIns="118872" tIns="91440" rIns="118872" bIns="91440" rtlCol="0" anchor="ctr" anchorCtr="0">
            <a:spAutoFit/>
          </a:bodyPr>
          <a:lstStyle/>
          <a:p>
            <a:pPr algn="ctr">
              <a:lnSpc>
                <a:spcPct val="90000"/>
              </a:lnSpc>
            </a:pPr>
            <a:r>
              <a:rPr lang="en-US" sz="1200" i="1" dirty="0"/>
              <a:t>Consortium for the Advancement of Scientific Software</a:t>
            </a:r>
            <a:br>
              <a:rPr lang="en-US" sz="1200" i="1" dirty="0"/>
            </a:br>
            <a:r>
              <a:rPr lang="en-US" sz="1000" i="1" dirty="0">
                <a:hlinkClick r:id="rId12"/>
              </a:rPr>
              <a:t>https://cass.community</a:t>
            </a:r>
            <a:endParaRPr lang="en-US" sz="1200" i="1" dirty="0"/>
          </a:p>
        </p:txBody>
      </p:sp>
      <p:pic>
        <p:nvPicPr>
          <p:cNvPr id="38" name="Picture 37" descr="A picture containing arrow&#10;&#10;AI-generated content may be incorrect.">
            <a:extLst>
              <a:ext uri="{FF2B5EF4-FFF2-40B4-BE49-F238E27FC236}">
                <a16:creationId xmlns:a16="http://schemas.microsoft.com/office/drawing/2014/main" id="{7A65628F-D7F1-6539-95D7-C78C8703E9B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9769" y="2974535"/>
            <a:ext cx="1238034" cy="1128739"/>
          </a:xfrm>
          <a:prstGeom prst="rect">
            <a:avLst/>
          </a:prstGeom>
        </p:spPr>
      </p:pic>
    </p:spTree>
    <p:extLst>
      <p:ext uri="{BB962C8B-B14F-4D97-AF65-F5344CB8AC3E}">
        <p14:creationId xmlns:p14="http://schemas.microsoft.com/office/powerpoint/2010/main" val="3066306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0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6" name="Picture 15"/>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pic>
        <p:nvPicPr>
          <p:cNvPr id="5" name="Picture 4">
            <a:extLst>
              <a:ext uri="{FF2B5EF4-FFF2-40B4-BE49-F238E27FC236}">
                <a16:creationId xmlns:a16="http://schemas.microsoft.com/office/drawing/2014/main" id="{39A0B7EC-D4C0-0A37-EF93-54309C1E7E8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sp>
        <p:nvSpPr>
          <p:cNvPr id="12" name="TextBox 11">
            <a:extLst>
              <a:ext uri="{FF2B5EF4-FFF2-40B4-BE49-F238E27FC236}">
                <a16:creationId xmlns:a16="http://schemas.microsoft.com/office/drawing/2014/main" id="{35EB04FB-D2DE-BCD4-EC3B-12F69CB5936A}"/>
              </a:ext>
            </a:extLst>
          </p:cNvPr>
          <p:cNvSpPr txBox="1"/>
          <p:nvPr userDrawn="1"/>
        </p:nvSpPr>
        <p:spPr>
          <a:xfrm>
            <a:off x="901538" y="1454246"/>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19" name="TextBox 18">
            <a:extLst>
              <a:ext uri="{FF2B5EF4-FFF2-40B4-BE49-F238E27FC236}">
                <a16:creationId xmlns:a16="http://schemas.microsoft.com/office/drawing/2014/main" id="{9FD2F06B-A6D1-67C9-6A99-D18D41111701}"/>
              </a:ext>
            </a:extLst>
          </p:cNvPr>
          <p:cNvSpPr txBox="1"/>
          <p:nvPr userDrawn="1"/>
        </p:nvSpPr>
        <p:spPr>
          <a:xfrm>
            <a:off x="948025" y="2646131"/>
            <a:ext cx="1051185" cy="350865"/>
          </a:xfrm>
          <a:prstGeom prst="rect">
            <a:avLst/>
          </a:prstGeom>
          <a:noFill/>
        </p:spPr>
        <p:txBody>
          <a:bodyPr wrap="none" lIns="118872" tIns="91440" rIns="118872" bIns="91440" rtlCol="0" anchor="ctr" anchorCtr="0">
            <a:spAutoFit/>
          </a:bodyPr>
          <a:lstStyle/>
          <a:p>
            <a:pPr algn="l">
              <a:lnSpc>
                <a:spcPct val="90000"/>
              </a:lnSpc>
            </a:pPr>
            <a:r>
              <a:rPr lang="en-US" sz="1200" i="1" dirty="0"/>
              <a:t>Members of</a:t>
            </a:r>
          </a:p>
        </p:txBody>
      </p:sp>
      <p:sp>
        <p:nvSpPr>
          <p:cNvPr id="23" name="TextBox 22">
            <a:extLst>
              <a:ext uri="{FF2B5EF4-FFF2-40B4-BE49-F238E27FC236}">
                <a16:creationId xmlns:a16="http://schemas.microsoft.com/office/drawing/2014/main" id="{EDAC8230-26D0-4E0F-C00A-59FE97DFDD3D}"/>
              </a:ext>
            </a:extLst>
          </p:cNvPr>
          <p:cNvSpPr txBox="1"/>
          <p:nvPr userDrawn="1"/>
        </p:nvSpPr>
        <p:spPr>
          <a:xfrm>
            <a:off x="572120" y="4624321"/>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24" name="Group 23">
            <a:extLst>
              <a:ext uri="{FF2B5EF4-FFF2-40B4-BE49-F238E27FC236}">
                <a16:creationId xmlns:a16="http://schemas.microsoft.com/office/drawing/2014/main" id="{B59B7A45-440A-3F58-987B-B1E7FBECB7EF}"/>
              </a:ext>
            </a:extLst>
          </p:cNvPr>
          <p:cNvGrpSpPr/>
          <p:nvPr userDrawn="1"/>
        </p:nvGrpSpPr>
        <p:grpSpPr>
          <a:xfrm>
            <a:off x="355043" y="5027111"/>
            <a:ext cx="2237149" cy="457200"/>
            <a:chOff x="343050" y="5128711"/>
            <a:chExt cx="2237149" cy="457200"/>
          </a:xfrm>
        </p:grpSpPr>
        <p:pic>
          <p:nvPicPr>
            <p:cNvPr id="25" name="Picture 24">
              <a:extLst>
                <a:ext uri="{FF2B5EF4-FFF2-40B4-BE49-F238E27FC236}">
                  <a16:creationId xmlns:a16="http://schemas.microsoft.com/office/drawing/2014/main" id="{1A484DE9-27ED-CB4B-B7C8-A911FA22762B}"/>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26" name="Picture 25" descr="A picture containing shape&#10;&#10;Description automatically generated">
              <a:extLst>
                <a:ext uri="{FF2B5EF4-FFF2-40B4-BE49-F238E27FC236}">
                  <a16:creationId xmlns:a16="http://schemas.microsoft.com/office/drawing/2014/main" id="{E763EC1B-0EFF-BAB9-A30D-5C1DF77DF56B}"/>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grpSp>
        <p:nvGrpSpPr>
          <p:cNvPr id="27" name="Group 26">
            <a:extLst>
              <a:ext uri="{FF2B5EF4-FFF2-40B4-BE49-F238E27FC236}">
                <a16:creationId xmlns:a16="http://schemas.microsoft.com/office/drawing/2014/main" id="{FD2192E6-EE68-8D35-365B-27601BCA6FC6}"/>
              </a:ext>
            </a:extLst>
          </p:cNvPr>
          <p:cNvGrpSpPr/>
          <p:nvPr userDrawn="1"/>
        </p:nvGrpSpPr>
        <p:grpSpPr>
          <a:xfrm>
            <a:off x="-69503" y="1892144"/>
            <a:ext cx="2985270" cy="790169"/>
            <a:chOff x="-69503" y="2214872"/>
            <a:chExt cx="2985270" cy="790169"/>
          </a:xfrm>
        </p:grpSpPr>
        <p:pic>
          <p:nvPicPr>
            <p:cNvPr id="28" name="Picture 4">
              <a:extLst>
                <a:ext uri="{FF2B5EF4-FFF2-40B4-BE49-F238E27FC236}">
                  <a16:creationId xmlns:a16="http://schemas.microsoft.com/office/drawing/2014/main" id="{256C3094-CD1C-D1B1-FF76-43731844769C}"/>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484438" y="2317122"/>
              <a:ext cx="1371600" cy="31887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A picture containing graphics, logo, font, symbol&#10;&#10;Description automatically generated">
              <a:extLst>
                <a:ext uri="{FF2B5EF4-FFF2-40B4-BE49-F238E27FC236}">
                  <a16:creationId xmlns:a16="http://schemas.microsoft.com/office/drawing/2014/main" id="{61AAD4D4-B36D-0A2C-6C98-9BEF4A4779D3}"/>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321595" y="2214872"/>
              <a:ext cx="841248" cy="523372"/>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D8A210E4-CF0A-BFC1-ADD7-5F00F82038C5}"/>
                </a:ext>
              </a:extLst>
            </p:cNvPr>
            <p:cNvSpPr txBox="1"/>
            <p:nvPr userDrawn="1"/>
          </p:nvSpPr>
          <p:spPr>
            <a:xfrm>
              <a:off x="-69503" y="2668026"/>
              <a:ext cx="163147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10"/>
                </a:rPr>
                <a:t>https://pesoproject.org</a:t>
              </a:r>
              <a:endParaRPr lang="en-US" sz="1050" i="1" dirty="0"/>
            </a:p>
          </p:txBody>
        </p:sp>
        <p:sp>
          <p:nvSpPr>
            <p:cNvPr id="31" name="TextBox 30">
              <a:extLst>
                <a:ext uri="{FF2B5EF4-FFF2-40B4-BE49-F238E27FC236}">
                  <a16:creationId xmlns:a16="http://schemas.microsoft.com/office/drawing/2014/main" id="{6C27AEC9-CA9B-30D2-D064-3FE2AA615081}"/>
                </a:ext>
              </a:extLst>
            </p:cNvPr>
            <p:cNvSpPr txBox="1"/>
            <p:nvPr userDrawn="1"/>
          </p:nvSpPr>
          <p:spPr>
            <a:xfrm>
              <a:off x="1423755" y="2668026"/>
              <a:ext cx="149201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11"/>
                </a:rPr>
                <a:t>https://rapids.lbl.gov</a:t>
              </a:r>
              <a:endParaRPr lang="en-US" sz="1050" i="1" dirty="0"/>
            </a:p>
          </p:txBody>
        </p:sp>
      </p:grpSp>
      <p:sp>
        <p:nvSpPr>
          <p:cNvPr id="32" name="TextBox 31">
            <a:extLst>
              <a:ext uri="{FF2B5EF4-FFF2-40B4-BE49-F238E27FC236}">
                <a16:creationId xmlns:a16="http://schemas.microsoft.com/office/drawing/2014/main" id="{E0C0A7BB-4820-2C0B-2019-5799BD1831A2}"/>
              </a:ext>
            </a:extLst>
          </p:cNvPr>
          <p:cNvSpPr txBox="1"/>
          <p:nvPr userDrawn="1"/>
        </p:nvSpPr>
        <p:spPr>
          <a:xfrm>
            <a:off x="166031" y="4011401"/>
            <a:ext cx="2605511" cy="655564"/>
          </a:xfrm>
          <a:prstGeom prst="rect">
            <a:avLst/>
          </a:prstGeom>
          <a:noFill/>
        </p:spPr>
        <p:txBody>
          <a:bodyPr wrap="square" lIns="118872" tIns="91440" rIns="118872" bIns="91440" rtlCol="0" anchor="ctr" anchorCtr="0">
            <a:spAutoFit/>
          </a:bodyPr>
          <a:lstStyle/>
          <a:p>
            <a:pPr algn="ctr">
              <a:lnSpc>
                <a:spcPct val="90000"/>
              </a:lnSpc>
            </a:pPr>
            <a:r>
              <a:rPr lang="en-US" sz="1200" i="1" dirty="0"/>
              <a:t>Consortium for the Advancement of Scientific Software</a:t>
            </a:r>
            <a:br>
              <a:rPr lang="en-US" sz="1200" i="1" dirty="0"/>
            </a:br>
            <a:r>
              <a:rPr lang="en-US" sz="1000" i="1" dirty="0">
                <a:hlinkClick r:id="rId12"/>
              </a:rPr>
              <a:t>https://cass.community</a:t>
            </a:r>
            <a:endParaRPr lang="en-US" sz="1200" i="1" dirty="0"/>
          </a:p>
        </p:txBody>
      </p:sp>
      <p:pic>
        <p:nvPicPr>
          <p:cNvPr id="33" name="Picture 32" descr="A picture containing arrow&#10;&#10;AI-generated content may be incorrect.">
            <a:extLst>
              <a:ext uri="{FF2B5EF4-FFF2-40B4-BE49-F238E27FC236}">
                <a16:creationId xmlns:a16="http://schemas.microsoft.com/office/drawing/2014/main" id="{B37D72CC-A3F7-3F8A-7DE7-ACF7148942C1}"/>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9769" y="2974535"/>
            <a:ext cx="1238034" cy="1128739"/>
          </a:xfrm>
          <a:prstGeom prst="rect">
            <a:avLst/>
          </a:prstGeom>
        </p:spPr>
      </p:pic>
    </p:spTree>
    <p:extLst>
      <p:ext uri="{BB962C8B-B14F-4D97-AF65-F5344CB8AC3E}">
        <p14:creationId xmlns:p14="http://schemas.microsoft.com/office/powerpoint/2010/main" val="1727176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2473" cy="914400"/>
          </a:xfrm>
        </p:spPr>
        <p:txBody>
          <a:bodyPr anchor="t" anchorCtr="0"/>
          <a:lstStyle/>
          <a:p>
            <a:r>
              <a:rPr lang="en-US"/>
              <a:t>Click to edit Master title style</a:t>
            </a:r>
            <a:endParaRPr lang="en-US" dirty="0"/>
          </a:p>
        </p:txBody>
      </p:sp>
      <p:sp>
        <p:nvSpPr>
          <p:cNvPr id="3" name="Content Placeholder 2"/>
          <p:cNvSpPr>
            <a:spLocks noGrp="1"/>
          </p:cNvSpPr>
          <p:nvPr>
            <p:ph idx="1" hasCustomPrompt="1"/>
          </p:nvPr>
        </p:nvSpPr>
        <p:spPr>
          <a:xfrm>
            <a:off x="365760" y="1737360"/>
            <a:ext cx="11369809" cy="404777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482725" indent="-22225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level0.4	</a:t>
            </a:r>
          </a:p>
        </p:txBody>
      </p:sp>
    </p:spTree>
    <p:extLst>
      <p:ext uri="{BB962C8B-B14F-4D97-AF65-F5344CB8AC3E}">
        <p14:creationId xmlns:p14="http://schemas.microsoft.com/office/powerpoint/2010/main" val="120922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457200" y="1737360"/>
            <a:ext cx="5588582"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558550"/>
            <a:ext cx="5588582"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buFont typeface="Arial" panose="020B0604020202020204" pitchFamily="34" charset="0"/>
              <a:buChar cha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914" y="1737360"/>
            <a:ext cx="5531934"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8914" y="2558550"/>
            <a:ext cx="5531934"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defRPr lang="en-US" sz="16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486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7465488" cy="810738"/>
          </a:xfrm>
        </p:spPr>
        <p:txBody>
          <a:bodyPr/>
          <a:lstStyle>
            <a:lvl1pPr>
              <a:defRPr sz="2400"/>
            </a:lvl1pPr>
          </a:lstStyle>
          <a:p>
            <a:r>
              <a:rPr lang="en-US"/>
              <a:t>Click to edit Master title style</a:t>
            </a:r>
            <a:endParaRPr lang="en-US" dirty="0"/>
          </a:p>
        </p:txBody>
      </p:sp>
      <p:sp>
        <p:nvSpPr>
          <p:cNvPr id="3" name="Text Placeholder 2"/>
          <p:cNvSpPr>
            <a:spLocks noGrp="1"/>
          </p:cNvSpPr>
          <p:nvPr>
            <p:ph type="body" idx="1" hasCustomPrompt="1"/>
          </p:nvPr>
        </p:nvSpPr>
        <p:spPr>
          <a:xfrm>
            <a:off x="448056"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448056"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buFont typeface="Arial" panose="020B0604020202020204" pitchFamily="34" charset="0"/>
              <a:buChar cha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53912"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6153912"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defRPr lang="en-US" sz="14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AC1494F-06BF-478E-BCF5-6FCC755EF91F}"/>
              </a:ext>
            </a:extLst>
          </p:cNvPr>
          <p:cNvSpPr>
            <a:spLocks noGrp="1"/>
          </p:cNvSpPr>
          <p:nvPr>
            <p:ph type="body" sz="quarter" idx="10" hasCustomPrompt="1"/>
          </p:nvPr>
        </p:nvSpPr>
        <p:spPr>
          <a:xfrm>
            <a:off x="447675"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2" name="Text Placeholder 11">
            <a:extLst>
              <a:ext uri="{FF2B5EF4-FFF2-40B4-BE49-F238E27FC236}">
                <a16:creationId xmlns:a16="http://schemas.microsoft.com/office/drawing/2014/main" id="{DE13F5F8-5DA4-4A7D-94FF-19BFEBF090FD}"/>
              </a:ext>
            </a:extLst>
          </p:cNvPr>
          <p:cNvSpPr>
            <a:spLocks noGrp="1"/>
          </p:cNvSpPr>
          <p:nvPr>
            <p:ph type="body" sz="quarter" idx="11" hasCustomPrompt="1"/>
          </p:nvPr>
        </p:nvSpPr>
        <p:spPr>
          <a:xfrm>
            <a:off x="6153150"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4" name="Text Placeholder 13">
            <a:extLst>
              <a:ext uri="{FF2B5EF4-FFF2-40B4-BE49-F238E27FC236}">
                <a16:creationId xmlns:a16="http://schemas.microsoft.com/office/drawing/2014/main" id="{11508C29-BEAF-4D1B-85C7-62D86B9A99F0}"/>
              </a:ext>
            </a:extLst>
          </p:cNvPr>
          <p:cNvSpPr>
            <a:spLocks noGrp="1"/>
          </p:cNvSpPr>
          <p:nvPr>
            <p:ph type="body" sz="quarter" idx="12"/>
          </p:nvPr>
        </p:nvSpPr>
        <p:spPr>
          <a:xfrm>
            <a:off x="447675"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DA42C277-CD07-4855-BE2B-F5804018ECD9}"/>
              </a:ext>
            </a:extLst>
          </p:cNvPr>
          <p:cNvSpPr>
            <a:spLocks noGrp="1"/>
          </p:cNvSpPr>
          <p:nvPr>
            <p:ph type="body" sz="quarter" idx="13"/>
          </p:nvPr>
        </p:nvSpPr>
        <p:spPr>
          <a:xfrm>
            <a:off x="6153150"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75463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61210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198867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65760" y="411480"/>
            <a:ext cx="11376442" cy="846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65760" y="1737360"/>
            <a:ext cx="11376442" cy="40409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256"/>
          <p:cNvSpPr txBox="1">
            <a:spLocks noChangeArrowheads="1"/>
          </p:cNvSpPr>
          <p:nvPr userDrawn="1"/>
        </p:nvSpPr>
        <p:spPr>
          <a:xfrm>
            <a:off x="363828" y="6477000"/>
            <a:ext cx="3315547" cy="182562"/>
          </a:xfrm>
          <a:prstGeom prst="rect">
            <a:avLst/>
          </a:prstGeom>
          <a:ln/>
        </p:spPr>
        <p:txBody>
          <a:bodyPr anchor="ctr"/>
          <a:lstStyle/>
          <a:p>
            <a:pPr algn="l"/>
            <a:r>
              <a:rPr lang="en-US" sz="1000" dirty="0">
                <a:solidFill>
                  <a:schemeClr val="tx1"/>
                </a:solidFill>
                <a:latin typeface="Arial" pitchFamily="34" charset="0"/>
                <a:cs typeface="Arial" pitchFamily="34" charset="0"/>
              </a:rPr>
              <a:t> </a:t>
            </a:r>
          </a:p>
        </p:txBody>
      </p:sp>
      <p:sp>
        <p:nvSpPr>
          <p:cNvPr id="9" name="Rectangle 6"/>
          <p:cNvSpPr>
            <a:spLocks noChangeArrowheads="1"/>
          </p:cNvSpPr>
          <p:nvPr userDrawn="1"/>
        </p:nvSpPr>
        <p:spPr bwMode="auto">
          <a:xfrm flipH="1">
            <a:off x="163374" y="6513051"/>
            <a:ext cx="515635" cy="146511"/>
          </a:xfrm>
          <a:prstGeom prst="rect">
            <a:avLst/>
          </a:prstGeom>
          <a:noFill/>
          <a:ln w="9525">
            <a:noFill/>
            <a:miter lim="800000"/>
            <a:headEnd/>
            <a:tailEnd/>
          </a:ln>
          <a:effectLst/>
        </p:spPr>
        <p:txBody>
          <a:bodyPr lIns="0" tIns="0" rIns="0" bIns="0"/>
          <a:lstStyle/>
          <a:p>
            <a:pPr algn="l" defTabSz="173038">
              <a:lnSpc>
                <a:spcPct val="90000"/>
              </a:lnSpc>
              <a:tabLst>
                <a:tab pos="230188" algn="l"/>
              </a:tabLst>
              <a:defRPr/>
            </a:pPr>
            <a:fld id="{040BB257-551A-4736-B50F-DCF1BA034C06}" type="slidenum">
              <a:rPr lang="en-US" sz="1000" smtClean="0">
                <a:solidFill>
                  <a:schemeClr val="tx1"/>
                </a:solidFill>
                <a:latin typeface="Arial" pitchFamily="34" charset="0"/>
                <a:cs typeface="Arial" pitchFamily="34" charset="0"/>
              </a:rPr>
              <a:pPr algn="l" defTabSz="173038">
                <a:lnSpc>
                  <a:spcPct val="90000"/>
                </a:lnSpc>
                <a:tabLst>
                  <a:tab pos="230188" algn="l"/>
                </a:tabLst>
                <a:defRPr/>
              </a:pPr>
              <a:t>‹#›</a:t>
            </a:fld>
            <a:endParaRPr lang="en-US" sz="10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081848127"/>
      </p:ext>
    </p:extLst>
  </p:cSld>
  <p:clrMap bg1="lt1" tx1="dk1" bg2="lt2" tx2="dk2" accent1="accent1" accent2="accent2" accent3="accent3" accent4="accent4" accent5="accent5" accent6="accent6" hlink="hlink" folHlink="folHlink"/>
  <p:sldLayoutIdLst>
    <p:sldLayoutId id="2147483952" r:id="rId1"/>
    <p:sldLayoutId id="2147483953" r:id="rId2"/>
    <p:sldLayoutId id="2147483937" r:id="rId3"/>
    <p:sldLayoutId id="2147483939" r:id="rId4"/>
    <p:sldLayoutId id="2147483950" r:id="rId5"/>
    <p:sldLayoutId id="2147483940" r:id="rId6"/>
    <p:sldLayoutId id="2147483941" r:id="rId7"/>
  </p:sldLayoutIdLst>
  <p:hf hdr="0" ftr="0" dt="0"/>
  <p:txStyles>
    <p:title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p:titleStyle>
    <p:body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hyperlink" Target="http://creativecommons.org/licenses/by/4.0/" TargetMode="Externa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hyperlink" Target="https://doi.org/10.6084/m9.figshare.29816981"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emf"/><Relationship Id="rId1" Type="http://schemas.openxmlformats.org/officeDocument/2006/relationships/slideLayout" Target="../slideLayouts/slideLayout4.xml"/><Relationship Id="rId5" Type="http://schemas.openxmlformats.org/officeDocument/2006/relationships/hyperlink" Target="https://doi.org/10.2172/1481626" TargetMode="External"/><Relationship Id="rId4" Type="http://schemas.openxmlformats.org/officeDocument/2006/relationships/hyperlink" Target="https://doi.org/10.17226/25303"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www.nytimes.com/2015/08/28/science/many-social-science-findings-not-as-strong-as-claimed-study-says.html" TargetMode="External"/><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hyperlink" Target="https://doi.org/10.1063/PT.6.1.20180822a"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arstechnica.com/information-technology/2019/10/chemists-discover-cross-platform-python-scripts-not-so-cross-platform/" TargetMode="External"/><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1038/s41597-022-01710-x" TargetMode="External"/><Relationship Id="rId2" Type="http://schemas.openxmlformats.org/officeDocument/2006/relationships/hyperlink" Target="https://www.nsf.gov/bfa/dias/policy/dmp.jsp" TargetMode="External"/><Relationship Id="rId1" Type="http://schemas.openxmlformats.org/officeDocument/2006/relationships/slideLayout" Target="../slideLayouts/slideLayout4.xml"/><Relationship Id="rId5" Type="http://schemas.openxmlformats.org/officeDocument/2006/relationships/hyperlink" Target="https://www.go-fair.org/fair-principles/" TargetMode="External"/><Relationship Id="rId4" Type="http://schemas.openxmlformats.org/officeDocument/2006/relationships/hyperlink" Target="https://doi.org/10.1038/sdata.2016.18"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acm.org/publications/policies/artifact-review-and-badging-current" TargetMode="External"/><Relationship Id="rId2" Type="http://schemas.openxmlformats.org/officeDocument/2006/relationships/hyperlink" Target="http://toms.acm.org/replicated-computational-results.cfm" TargetMode="External"/><Relationship Id="rId1" Type="http://schemas.openxmlformats.org/officeDocument/2006/relationships/slideLayout" Target="../slideLayouts/slideLayout3.xml"/><Relationship Id="rId5" Type="http://schemas.openxmlformats.org/officeDocument/2006/relationships/hyperlink" Target="https://www.niso.org/niso-io/2019/01/new-niso-project-badging-scheme-reproducibility-computational-and-computing" TargetMode="External"/><Relationship Id="rId4" Type="http://schemas.openxmlformats.org/officeDocument/2006/relationships/hyperlink" Target="http://fursin.net/reproducibility.html"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6" Type="http://schemas.microsoft.com/office/2007/relationships/hdphoto" Target="../media/hdphoto3.wdp"/><Relationship Id="rId5" Type="http://schemas.openxmlformats.org/officeDocument/2006/relationships/image" Target="../media/image17.png"/><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hyperlink" Target="https://bssw.io/blog_posts/hpc-and-the-lab-manager"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files.eric.ed.gov/fulltext/ED344734.pdf"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hyperlink" Target="https://commons.wikimedia.org/wiki/File:DIKW_Pyramid.svg" TargetMode="Externa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hyperlink" Target="https://codeocean.com/" TargetMode="External"/><Relationship Id="rId2" Type="http://schemas.openxmlformats.org/officeDocument/2006/relationships/hyperlink" Target="http://fpanalysistools.org/" TargetMode="External"/><Relationship Id="rId1" Type="http://schemas.openxmlformats.org/officeDocument/2006/relationships/slideLayout" Target="../slideLayouts/slideLayout3.xml"/><Relationship Id="rId5" Type="http://schemas.openxmlformats.org/officeDocument/2006/relationships/hyperlink" Target="https://figshare.com/" TargetMode="External"/><Relationship Id="rId4" Type="http://schemas.openxmlformats.org/officeDocument/2006/relationships/hyperlink" Target="https://zenodo.org/"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8" Type="http://schemas.openxmlformats.org/officeDocument/2006/relationships/hyperlink" Target="https://bssw.io/blog_posts/hpc-and-the-lab-manager" TargetMode="External"/><Relationship Id="rId3" Type="http://schemas.openxmlformats.org/officeDocument/2006/relationships/hyperlink" Target="https://www.rd-alliance.org/groups/fair-for-research-software-fair4rs-wg/forum/" TargetMode="External"/><Relationship Id="rId7" Type="http://schemas.openxmlformats.org/officeDocument/2006/relationships/hyperlink" Target="https://doi.org/10.1145/103162.103163" TargetMode="External"/><Relationship Id="rId2" Type="http://schemas.openxmlformats.org/officeDocument/2006/relationships/hyperlink" Target="https://doi.org/10.1038/sdata.2016.18" TargetMode="External"/><Relationship Id="rId1" Type="http://schemas.openxmlformats.org/officeDocument/2006/relationships/slideLayout" Target="../slideLayouts/slideLayout3.xml"/><Relationship Id="rId6" Type="http://schemas.openxmlformats.org/officeDocument/2006/relationships/hyperlink" Target="https://betterscientificsoftware.github.io/Trust-Tools/" TargetMode="External"/><Relationship Id="rId5" Type="http://schemas.openxmlformats.org/officeDocument/2006/relationships/hyperlink" Target="https://doi.org/10.1126/science.aah6168" TargetMode="External"/><Relationship Id="rId10" Type="http://schemas.openxmlformats.org/officeDocument/2006/relationships/hyperlink" Target="https://bssw.io/items/jupyter4science-better-practices-for-using-jupyter-notebooks-for-science" TargetMode="External"/><Relationship Id="rId4" Type="http://schemas.openxmlformats.org/officeDocument/2006/relationships/hyperlink" Target="http://dx.doi.org/10.1145/2743015" TargetMode="External"/><Relationship Id="rId9" Type="http://schemas.openxmlformats.org/officeDocument/2006/relationships/hyperlink" Target="https://files.eric.ed.gov/fulltext/ED344734.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1A77B7-F99D-49EA-A49F-D263718C48D7}"/>
              </a:ext>
            </a:extLst>
          </p:cNvPr>
          <p:cNvSpPr>
            <a:spLocks noGrp="1"/>
          </p:cNvSpPr>
          <p:nvPr>
            <p:ph type="ctrTitle"/>
          </p:nvPr>
        </p:nvSpPr>
        <p:spPr/>
        <p:txBody>
          <a:bodyPr/>
          <a:lstStyle/>
          <a:p>
            <a:r>
              <a:rPr lang="en-US" dirty="0"/>
              <a:t>Improving Reproducibility Through Better Software Practices</a:t>
            </a:r>
          </a:p>
        </p:txBody>
      </p:sp>
      <p:sp>
        <p:nvSpPr>
          <p:cNvPr id="5" name="Subtitle 4">
            <a:extLst>
              <a:ext uri="{FF2B5EF4-FFF2-40B4-BE49-F238E27FC236}">
                <a16:creationId xmlns:a16="http://schemas.microsoft.com/office/drawing/2014/main" id="{E9C36191-4CD4-4D95-BBB8-C25F2055F697}"/>
              </a:ext>
            </a:extLst>
          </p:cNvPr>
          <p:cNvSpPr>
            <a:spLocks noGrp="1"/>
          </p:cNvSpPr>
          <p:nvPr>
            <p:ph type="subTitle" idx="1"/>
          </p:nvPr>
        </p:nvSpPr>
        <p:spPr/>
        <p:txBody>
          <a:bodyPr/>
          <a:lstStyle/>
          <a:p>
            <a:r>
              <a:rPr lang="en-US" u="sng" dirty="0"/>
              <a:t>David E. Bernholdt</a:t>
            </a:r>
            <a:r>
              <a:rPr lang="en-US" dirty="0"/>
              <a:t> </a:t>
            </a:r>
            <a:r>
              <a:rPr lang="en-US" sz="2000" dirty="0"/>
              <a:t>(he/him)</a:t>
            </a:r>
            <a:br>
              <a:rPr lang="en-US" sz="2000" u="sng" dirty="0"/>
            </a:br>
            <a:r>
              <a:rPr lang="en-US" sz="2000" dirty="0"/>
              <a:t>Oak Ridge National Laboratory</a:t>
            </a:r>
            <a:endParaRPr lang="en-US" sz="2400" dirty="0"/>
          </a:p>
          <a:p>
            <a:pPr>
              <a:spcBef>
                <a:spcPts val="2800"/>
              </a:spcBef>
            </a:pPr>
            <a:r>
              <a:rPr lang="en-US" sz="2000" b="0" i="0" dirty="0">
                <a:solidFill>
                  <a:srgbClr val="111111"/>
                </a:solidFill>
                <a:effectLst/>
                <a:latin typeface="+mn-lt"/>
              </a:rPr>
              <a:t>Software Sustainability track @ Argonne Training Program on Extreme-Scale Computing summer school</a:t>
            </a:r>
          </a:p>
          <a:p>
            <a:pPr>
              <a:spcBef>
                <a:spcPts val="2800"/>
              </a:spcBef>
            </a:pPr>
            <a:r>
              <a:rPr lang="en-US" sz="2000" dirty="0"/>
              <a:t>Contributors: David E. Bernholdt (ORNL), Anshu Dubey (ANL), Patricia A. Grubel (LANL), Michael A. Heroux (SNL), Jared O’Neal (ANL), David M. Rogers (ORNL), Gregory R. Watson (ORNL)</a:t>
            </a:r>
          </a:p>
        </p:txBody>
      </p:sp>
      <p:sp>
        <p:nvSpPr>
          <p:cNvPr id="2" name="Text Placeholder 7">
            <a:extLst>
              <a:ext uri="{FF2B5EF4-FFF2-40B4-BE49-F238E27FC236}">
                <a16:creationId xmlns:a16="http://schemas.microsoft.com/office/drawing/2014/main" id="{9E20F390-C9F8-1D32-E7A1-196023642FF1}"/>
              </a:ext>
            </a:extLst>
          </p:cNvPr>
          <p:cNvSpPr txBox="1">
            <a:spLocks/>
          </p:cNvSpPr>
          <p:nvPr/>
        </p:nvSpPr>
        <p:spPr bwMode="auto">
          <a:xfrm>
            <a:off x="3176923" y="5133164"/>
            <a:ext cx="7923467" cy="646331"/>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0" indent="0" algn="l" rtl="0" eaLnBrk="1" fontAlgn="base" hangingPunct="1">
              <a:lnSpc>
                <a:spcPct val="90000"/>
              </a:lnSpc>
              <a:spcBef>
                <a:spcPts val="1400"/>
              </a:spcBef>
              <a:spcAft>
                <a:spcPct val="0"/>
              </a:spcAft>
              <a:buClr>
                <a:schemeClr val="tx1"/>
              </a:buClr>
              <a:buFont typeface="Arial" charset="0"/>
              <a:buNone/>
              <a:defRPr sz="20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Additional thanks to: Juan Pablo Haddad, Akash Dhruv, Steve </a:t>
            </a:r>
            <a:r>
              <a:rPr lang="en-US" dirty="0" err="1"/>
              <a:t>Fickas</a:t>
            </a:r>
            <a:r>
              <a:rPr lang="en-US" dirty="0"/>
              <a:t>, Carlo Graziani, </a:t>
            </a:r>
            <a:r>
              <a:rPr lang="en-US" dirty="0" err="1"/>
              <a:t>Boyana</a:t>
            </a:r>
            <a:r>
              <a:rPr lang="en-US" dirty="0"/>
              <a:t> Norris</a:t>
            </a:r>
          </a:p>
        </p:txBody>
      </p:sp>
    </p:spTree>
    <p:extLst>
      <p:ext uri="{BB962C8B-B14F-4D97-AF65-F5344CB8AC3E}">
        <p14:creationId xmlns:p14="http://schemas.microsoft.com/office/powerpoint/2010/main" val="1478374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C24D-D970-4D40-8F14-D70C10A96304}"/>
              </a:ext>
            </a:extLst>
          </p:cNvPr>
          <p:cNvSpPr>
            <a:spLocks noGrp="1"/>
          </p:cNvSpPr>
          <p:nvPr>
            <p:ph type="title"/>
          </p:nvPr>
        </p:nvSpPr>
        <p:spPr>
          <a:xfrm>
            <a:off x="363096" y="112911"/>
            <a:ext cx="11372473" cy="914400"/>
          </a:xfrm>
        </p:spPr>
        <p:txBody>
          <a:bodyPr/>
          <a:lstStyle/>
          <a:p>
            <a:r>
              <a:rPr lang="en-US" dirty="0"/>
              <a:t>License, Citation and Acknowledgements</a:t>
            </a:r>
          </a:p>
        </p:txBody>
      </p:sp>
      <p:sp>
        <p:nvSpPr>
          <p:cNvPr id="3" name="Content Placeholder 2">
            <a:extLst>
              <a:ext uri="{FF2B5EF4-FFF2-40B4-BE49-F238E27FC236}">
                <a16:creationId xmlns:a16="http://schemas.microsoft.com/office/drawing/2014/main" id="{0385A3AB-B258-4D59-B407-F7D57545A163}"/>
              </a:ext>
            </a:extLst>
          </p:cNvPr>
          <p:cNvSpPr>
            <a:spLocks noGrp="1"/>
          </p:cNvSpPr>
          <p:nvPr>
            <p:ph idx="1"/>
          </p:nvPr>
        </p:nvSpPr>
        <p:spPr>
          <a:xfrm>
            <a:off x="409507" y="570111"/>
            <a:ext cx="11369809" cy="4047778"/>
          </a:xfrm>
        </p:spPr>
        <p:txBody>
          <a:bodyPr/>
          <a:lstStyle/>
          <a:p>
            <a:pPr marL="0" indent="0">
              <a:buNone/>
            </a:pPr>
            <a:r>
              <a:rPr lang="en-US" sz="2000" b="1" dirty="0"/>
              <a:t>License and Citation</a:t>
            </a:r>
          </a:p>
          <a:p>
            <a:pPr>
              <a:spcBef>
                <a:spcPts val="400"/>
              </a:spcBef>
            </a:pPr>
            <a:r>
              <a:rPr lang="en-US" sz="1600" dirty="0"/>
              <a:t>This work is licensed under a </a:t>
            </a:r>
            <a:r>
              <a:rPr lang="en-US" sz="1600" dirty="0">
                <a:hlinkClick r:id="rId2"/>
              </a:rPr>
              <a:t>Creative</a:t>
            </a:r>
            <a:r>
              <a:rPr lang="en-US" sz="1600" dirty="0">
                <a:hlinkClick r:id="rId3"/>
              </a:rPr>
              <a:t> Commons Attribution 4.0 International License</a:t>
            </a:r>
            <a:r>
              <a:rPr lang="en-US" sz="1600" dirty="0"/>
              <a:t> (CC BY 4.0).</a:t>
            </a:r>
          </a:p>
          <a:p>
            <a:pPr>
              <a:spcBef>
                <a:spcPts val="400"/>
              </a:spcBef>
            </a:pPr>
            <a:r>
              <a:rPr lang="en-US" sz="1600" b="1" dirty="0"/>
              <a:t>The requested citation the overall tutorial is: </a:t>
            </a:r>
            <a:r>
              <a:rPr lang="en-US" sz="1600" dirty="0"/>
              <a:t>Anshu Dubey, David E. Bernholdt, and Todd Gamblin, Software Sustainability track, in Argonne Training Program on Extreme-Scale Computing, St. Charles, Illinois, 2025. DOI: </a:t>
            </a:r>
            <a:r>
              <a:rPr lang="en-US" sz="1600" dirty="0">
                <a:hlinkClick r:id="rId4"/>
              </a:rPr>
              <a:t>10.6084/m9.figshare.29816981</a:t>
            </a:r>
            <a:r>
              <a:rPr lang="en-US" sz="1600" dirty="0"/>
              <a:t>.</a:t>
            </a:r>
            <a:endParaRPr lang="en-US" sz="1600" b="0" i="0" dirty="0">
              <a:solidFill>
                <a:srgbClr val="111111"/>
              </a:solidFill>
              <a:effectLst/>
              <a:latin typeface="+mn-lt"/>
            </a:endParaRPr>
          </a:p>
          <a:p>
            <a:pPr>
              <a:spcBef>
                <a:spcPts val="400"/>
              </a:spcBef>
            </a:pPr>
            <a:r>
              <a:rPr lang="en-US" sz="1600" dirty="0"/>
              <a:t>Individual modules may be cited as </a:t>
            </a:r>
            <a:r>
              <a:rPr lang="en-US" sz="1600" i="1" dirty="0"/>
              <a:t>Speaker, Module Title</a:t>
            </a:r>
            <a:r>
              <a:rPr lang="en-US" sz="1600" dirty="0"/>
              <a:t>, in </a:t>
            </a:r>
            <a:r>
              <a:rPr lang="en-US" sz="1600" b="0" i="1" dirty="0">
                <a:solidFill>
                  <a:srgbClr val="111111"/>
                </a:solidFill>
                <a:effectLst/>
                <a:latin typeface="+mn-lt"/>
              </a:rPr>
              <a:t>Tutorial Title</a:t>
            </a:r>
            <a:r>
              <a:rPr lang="en-US" sz="1600" dirty="0"/>
              <a:t>, …</a:t>
            </a:r>
          </a:p>
          <a:p>
            <a:pPr marL="0" indent="0">
              <a:spcBef>
                <a:spcPts val="800"/>
              </a:spcBef>
              <a:buNone/>
            </a:pPr>
            <a:r>
              <a:rPr lang="en-US" sz="2000" b="1" dirty="0"/>
              <a:t>Acknowledgements</a:t>
            </a:r>
          </a:p>
          <a:p>
            <a:pPr>
              <a:spcBef>
                <a:spcPts val="400"/>
              </a:spcBef>
            </a:pPr>
            <a:r>
              <a:rPr lang="en-US" sz="1400" dirty="0"/>
              <a:t>This work was supported by the U.S. Department of Energy Office of Science, Office of Advanced Scientific Computing Research (ASCR), and by the Exascale Computing Project (17-SC-20-SC), a collaborative effort of the U.S. Department of Energy Office of Science and the National Nuclear Security Administration</a:t>
            </a:r>
            <a:r>
              <a:rPr lang="en-US" sz="1400" i="1" dirty="0"/>
              <a:t>.</a:t>
            </a:r>
          </a:p>
          <a:p>
            <a:pPr>
              <a:spcBef>
                <a:spcPts val="400"/>
              </a:spcBef>
            </a:pPr>
            <a:r>
              <a:rPr lang="en-US" sz="1400" b="0" i="0" dirty="0">
                <a:effectLst/>
                <a:latin typeface="+mn-lt"/>
              </a:rPr>
              <a:t>This work was supported by the U.S. Department of Energy, Office of Science, Office of Advanced Scientific Computing Research, Next-Generation Scientific Software Technologies (NGSST) program.</a:t>
            </a:r>
          </a:p>
          <a:p>
            <a:pPr>
              <a:spcBef>
                <a:spcPts val="400"/>
              </a:spcBef>
            </a:pPr>
            <a:r>
              <a:rPr lang="en-US" sz="1400" dirty="0"/>
              <a:t>This work was performed in part at the Argonne National Laboratory, which is managed by UChicago Argonne, LLC for the U.S. Department of Energy under Contract No. DE-AC02-06CH11357.</a:t>
            </a:r>
          </a:p>
          <a:p>
            <a:pPr>
              <a:spcBef>
                <a:spcPts val="400"/>
              </a:spcBef>
            </a:pPr>
            <a:r>
              <a:rPr lang="en-US" sz="1400" dirty="0"/>
              <a:t>This work was performed in part at the Lawrence Livermore National Laboratory, which is managed by Lawrence Livermore National Security, LLC for the U.S. Department of Energy under Contract No. DE-AC52-07NA27344.</a:t>
            </a:r>
          </a:p>
          <a:p>
            <a:pPr>
              <a:spcBef>
                <a:spcPts val="400"/>
              </a:spcBef>
            </a:pPr>
            <a:r>
              <a:rPr lang="en-US" sz="1400" dirty="0"/>
              <a:t>This work was performed in part at the Los Alamos National Laboratory, which is managed by Triad National Security, LLC for the U.S. Department of Energy under Contract No.89233218CNA000001</a:t>
            </a:r>
          </a:p>
          <a:p>
            <a:pPr>
              <a:spcBef>
                <a:spcPts val="400"/>
              </a:spcBef>
            </a:pPr>
            <a:r>
              <a:rPr lang="en-US" sz="1400" dirty="0"/>
              <a:t>This work was performed in part at the Oak Ridge National Laboratory, which is managed by UT-Battelle, LLC for the U.S. Department of Energy under Contract No. DE-AC05-00OR22725.</a:t>
            </a:r>
          </a:p>
          <a:p>
            <a:pPr>
              <a:spcBef>
                <a:spcPts val="400"/>
              </a:spcBef>
            </a:pPr>
            <a:r>
              <a:rPr lang="en-US" sz="1400" dirty="0"/>
              <a:t>This work was performed in part at Sandia National Laboratories. Sandia National Laboratories is a multi-mission laboratory managed and operated by National Technology and Engineering Solutions of Sandia, LLC., a wholly owned subsidiary of Honeywell International, Inc., for the U.S. Department of Energy’s National Nuclear Security Administration under contract DE-NA0003525.</a:t>
            </a:r>
          </a:p>
        </p:txBody>
      </p:sp>
      <p:pic>
        <p:nvPicPr>
          <p:cNvPr id="4" name="Picture 2" descr="https://licensebuttons.net/l/by/4.0/88x31.png">
            <a:extLst>
              <a:ext uri="{FF2B5EF4-FFF2-40B4-BE49-F238E27FC236}">
                <a16:creationId xmlns:a16="http://schemas.microsoft.com/office/drawing/2014/main" id="{61840015-22A0-4634-A2DE-AA05F998F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0336" y="879673"/>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9265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664BA-D81E-4F94-B7CB-32C2685F8871}"/>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05056AFC-EFC3-4FE5-A5A2-3B5BEBB80123}"/>
              </a:ext>
            </a:extLst>
          </p:cNvPr>
          <p:cNvSpPr>
            <a:spLocks noGrp="1"/>
          </p:cNvSpPr>
          <p:nvPr>
            <p:ph idx="1"/>
          </p:nvPr>
        </p:nvSpPr>
        <p:spPr>
          <a:xfrm>
            <a:off x="365760" y="1166599"/>
            <a:ext cx="11369809" cy="4047778"/>
          </a:xfrm>
        </p:spPr>
        <p:txBody>
          <a:bodyPr/>
          <a:lstStyle/>
          <a:p>
            <a:pPr marL="0" indent="0">
              <a:buNone/>
            </a:pPr>
            <a:r>
              <a:rPr lang="en-US" dirty="0"/>
              <a:t>A few of the terms used when talking about this topic…</a:t>
            </a:r>
          </a:p>
          <a:p>
            <a:pPr marL="0" indent="0" algn="ctr">
              <a:buNone/>
            </a:pPr>
            <a:r>
              <a:rPr lang="en-US" dirty="0">
                <a:solidFill>
                  <a:schemeClr val="tx2"/>
                </a:solidFill>
              </a:rPr>
              <a:t>Reproducibility</a:t>
            </a:r>
          </a:p>
          <a:p>
            <a:pPr marL="0" indent="0" algn="ctr">
              <a:buNone/>
            </a:pPr>
            <a:r>
              <a:rPr lang="en-US" dirty="0">
                <a:solidFill>
                  <a:schemeClr val="tx2"/>
                </a:solidFill>
              </a:rPr>
              <a:t>Replicability</a:t>
            </a:r>
          </a:p>
          <a:p>
            <a:pPr marL="0" indent="0" algn="ctr">
              <a:buNone/>
            </a:pPr>
            <a:r>
              <a:rPr lang="en-US" dirty="0">
                <a:solidFill>
                  <a:schemeClr val="tx2"/>
                </a:solidFill>
              </a:rPr>
              <a:t>Reliability</a:t>
            </a:r>
          </a:p>
          <a:p>
            <a:pPr marL="0" indent="0" algn="ctr">
              <a:buNone/>
            </a:pPr>
            <a:r>
              <a:rPr lang="en-US" dirty="0">
                <a:solidFill>
                  <a:schemeClr val="tx2"/>
                </a:solidFill>
              </a:rPr>
              <a:t>Correctness</a:t>
            </a:r>
          </a:p>
          <a:p>
            <a:pPr marL="0" indent="0" algn="ctr">
              <a:buNone/>
            </a:pPr>
            <a:r>
              <a:rPr lang="en-US" dirty="0">
                <a:solidFill>
                  <a:schemeClr val="tx2"/>
                </a:solidFill>
              </a:rPr>
              <a:t>Accuracy</a:t>
            </a:r>
          </a:p>
          <a:p>
            <a:pPr marL="0" indent="0" algn="ctr">
              <a:buNone/>
            </a:pPr>
            <a:r>
              <a:rPr lang="en-US" dirty="0">
                <a:solidFill>
                  <a:schemeClr val="tx2"/>
                </a:solidFill>
              </a:rPr>
              <a:t>Transparency</a:t>
            </a:r>
          </a:p>
          <a:p>
            <a:pPr marL="0" indent="0" algn="ctr">
              <a:buNone/>
            </a:pPr>
            <a:r>
              <a:rPr lang="en-US" dirty="0">
                <a:solidFill>
                  <a:schemeClr val="tx2"/>
                </a:solidFill>
              </a:rPr>
              <a:t>Credibility</a:t>
            </a:r>
          </a:p>
          <a:p>
            <a:pPr marL="0" indent="0">
              <a:buNone/>
            </a:pPr>
            <a:r>
              <a:rPr lang="en-US" dirty="0"/>
              <a:t>They don’t mean exactly the same thing…</a:t>
            </a:r>
          </a:p>
          <a:p>
            <a:pPr marL="0" indent="0">
              <a:buNone/>
            </a:pPr>
            <a:r>
              <a:rPr lang="en-US" dirty="0"/>
              <a:t>…but for the purposes of this presentation, the differences don’t really matter</a:t>
            </a:r>
          </a:p>
        </p:txBody>
      </p:sp>
    </p:spTree>
    <p:extLst>
      <p:ext uri="{BB962C8B-B14F-4D97-AF65-F5344CB8AC3E}">
        <p14:creationId xmlns:p14="http://schemas.microsoft.com/office/powerpoint/2010/main" val="3046513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D31E1-7739-4580-B75D-35E695F8F7D8}"/>
              </a:ext>
            </a:extLst>
          </p:cNvPr>
          <p:cNvSpPr>
            <a:spLocks noGrp="1"/>
          </p:cNvSpPr>
          <p:nvPr>
            <p:ph type="title"/>
          </p:nvPr>
        </p:nvSpPr>
        <p:spPr/>
        <p:txBody>
          <a:bodyPr/>
          <a:lstStyle/>
          <a:p>
            <a:r>
              <a:rPr lang="en-US" dirty="0"/>
              <a:t>Reproducible vs Replicable: A Special Note</a:t>
            </a:r>
          </a:p>
        </p:txBody>
      </p:sp>
      <p:sp>
        <p:nvSpPr>
          <p:cNvPr id="3" name="Content Placeholder 2">
            <a:extLst>
              <a:ext uri="{FF2B5EF4-FFF2-40B4-BE49-F238E27FC236}">
                <a16:creationId xmlns:a16="http://schemas.microsoft.com/office/drawing/2014/main" id="{44DFB262-D6EA-4699-8361-F6C29620B89C}"/>
              </a:ext>
            </a:extLst>
          </p:cNvPr>
          <p:cNvSpPr>
            <a:spLocks noGrp="1"/>
          </p:cNvSpPr>
          <p:nvPr>
            <p:ph sz="half" idx="2"/>
          </p:nvPr>
        </p:nvSpPr>
        <p:spPr>
          <a:xfrm>
            <a:off x="464746" y="1131384"/>
            <a:ext cx="5588582" cy="3373229"/>
          </a:xfrm>
        </p:spPr>
        <p:txBody>
          <a:bodyPr/>
          <a:lstStyle/>
          <a:p>
            <a:r>
              <a:rPr lang="en-US" dirty="0"/>
              <a:t>Historically different communities have defined these two differently</a:t>
            </a:r>
          </a:p>
          <a:p>
            <a:r>
              <a:rPr lang="en-US" dirty="0"/>
              <a:t>With the increased focus, there has also been an effort to unify the language</a:t>
            </a:r>
          </a:p>
          <a:p>
            <a:r>
              <a:rPr lang="en-US" dirty="0"/>
              <a:t>Consensus around the definitions of </a:t>
            </a:r>
            <a:r>
              <a:rPr lang="en-US" dirty="0" err="1"/>
              <a:t>Claerbout</a:t>
            </a:r>
            <a:r>
              <a:rPr lang="en-US" dirty="0"/>
              <a:t>, et al.</a:t>
            </a:r>
          </a:p>
          <a:p>
            <a:pPr lvl="1"/>
            <a:r>
              <a:rPr lang="en-US" dirty="0"/>
              <a:t>Others are in the process of switching their terminology to match, i.e., ACM</a:t>
            </a:r>
          </a:p>
          <a:p>
            <a:pPr>
              <a:spcBef>
                <a:spcPts val="2400"/>
              </a:spcBef>
            </a:pPr>
            <a:r>
              <a:rPr lang="en-US" b="1" u="sng" dirty="0"/>
              <a:t>Reproducible</a:t>
            </a:r>
            <a:r>
              <a:rPr lang="en-US" dirty="0"/>
              <a:t>: Another team is able to obtain the same result using the authors’ experimental environment</a:t>
            </a:r>
          </a:p>
          <a:p>
            <a:r>
              <a:rPr lang="en-US" b="1" u="sng" dirty="0"/>
              <a:t>Replicable</a:t>
            </a:r>
            <a:r>
              <a:rPr lang="en-US" dirty="0"/>
              <a:t>: Another team is able to obtain consistent results using a different experimental environment</a:t>
            </a:r>
          </a:p>
        </p:txBody>
      </p:sp>
      <p:pic>
        <p:nvPicPr>
          <p:cNvPr id="8" name="Content Placeholder 5">
            <a:extLst>
              <a:ext uri="{FF2B5EF4-FFF2-40B4-BE49-F238E27FC236}">
                <a16:creationId xmlns:a16="http://schemas.microsoft.com/office/drawing/2014/main" id="{408CDC59-2EF3-4A9A-A5C2-D3F009B8440F}"/>
              </a:ext>
            </a:extLst>
          </p:cNvPr>
          <p:cNvPicPr>
            <a:picLocks noChangeAspect="1"/>
          </p:cNvPicPr>
          <p:nvPr/>
        </p:nvPicPr>
        <p:blipFill rotWithShape="1">
          <a:blip r:embed="rId2">
            <a:extLst>
              <a:ext uri="{28A0092B-C50C-407E-A947-70E740481C1C}">
                <a14:useLocalDpi xmlns:a14="http://schemas.microsoft.com/office/drawing/2010/main" val="0"/>
              </a:ext>
            </a:extLst>
          </a:blip>
          <a:srcRect t="3929" b="39987"/>
          <a:stretch/>
        </p:blipFill>
        <p:spPr bwMode="auto">
          <a:xfrm>
            <a:off x="6320982" y="961550"/>
            <a:ext cx="4112322" cy="2984738"/>
          </a:xfrm>
          <a:prstGeom prst="rect">
            <a:avLst/>
          </a:prstGeom>
          <a:noFill/>
          <a:ln w="19050">
            <a:solidFill>
              <a:schemeClr val="tx2">
                <a:lumMod val="60000"/>
                <a:lumOff val="40000"/>
              </a:schemeClr>
            </a:solidFill>
            <a:miter lim="800000"/>
            <a:headEnd/>
            <a:tailEnd/>
          </a:ln>
        </p:spPr>
      </p:pic>
      <p:pic>
        <p:nvPicPr>
          <p:cNvPr id="1026" name="Picture 2">
            <a:extLst>
              <a:ext uri="{FF2B5EF4-FFF2-40B4-BE49-F238E27FC236}">
                <a16:creationId xmlns:a16="http://schemas.microsoft.com/office/drawing/2014/main" id="{16C4CA97-B2C5-4DB8-A6A0-E8A153578F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7878" y="2817999"/>
            <a:ext cx="2143126" cy="321468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95304E8D-8035-47E2-8E22-FCBE65C46D91}"/>
              </a:ext>
            </a:extLst>
          </p:cNvPr>
          <p:cNvSpPr/>
          <p:nvPr/>
        </p:nvSpPr>
        <p:spPr>
          <a:xfrm>
            <a:off x="7676132" y="4837269"/>
            <a:ext cx="2369754" cy="369332"/>
          </a:xfrm>
          <a:prstGeom prst="rect">
            <a:avLst/>
          </a:prstGeom>
        </p:spPr>
        <p:txBody>
          <a:bodyPr wrap="square">
            <a:spAutoFit/>
          </a:bodyPr>
          <a:lstStyle/>
          <a:p>
            <a:r>
              <a:rPr lang="en-US" u="sng" dirty="0">
                <a:solidFill>
                  <a:srgbClr val="0563C1"/>
                </a:solidFill>
                <a:latin typeface="+mn-lt"/>
                <a:ea typeface="Times New Roman" panose="02020603050405020304" pitchFamily="18" charset="0"/>
                <a:hlinkClick r:id="rId4"/>
              </a:rPr>
              <a:t>doi:10.17226/25303</a:t>
            </a:r>
            <a:endParaRPr lang="en-US" dirty="0">
              <a:latin typeface="+mn-lt"/>
            </a:endParaRPr>
          </a:p>
        </p:txBody>
      </p:sp>
      <p:sp>
        <p:nvSpPr>
          <p:cNvPr id="10" name="Rectangle 9">
            <a:extLst>
              <a:ext uri="{FF2B5EF4-FFF2-40B4-BE49-F238E27FC236}">
                <a16:creationId xmlns:a16="http://schemas.microsoft.com/office/drawing/2014/main" id="{257BAB2F-0E70-4BDE-BDC0-2BF8B91F881F}"/>
              </a:ext>
            </a:extLst>
          </p:cNvPr>
          <p:cNvSpPr/>
          <p:nvPr/>
        </p:nvSpPr>
        <p:spPr>
          <a:xfrm>
            <a:off x="6215063" y="3946288"/>
            <a:ext cx="3250406" cy="369332"/>
          </a:xfrm>
          <a:prstGeom prst="rect">
            <a:avLst/>
          </a:prstGeom>
        </p:spPr>
        <p:txBody>
          <a:bodyPr wrap="square">
            <a:spAutoFit/>
          </a:bodyPr>
          <a:lstStyle/>
          <a:p>
            <a:r>
              <a:rPr lang="en-US" dirty="0">
                <a:hlinkClick r:id="rId5"/>
              </a:rPr>
              <a:t>doi:10.2172/1481626</a:t>
            </a:r>
            <a:endParaRPr lang="en-US" dirty="0"/>
          </a:p>
        </p:txBody>
      </p:sp>
    </p:spTree>
    <p:extLst>
      <p:ext uri="{BB962C8B-B14F-4D97-AF65-F5344CB8AC3E}">
        <p14:creationId xmlns:p14="http://schemas.microsoft.com/office/powerpoint/2010/main" val="1294256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33C111-4821-459B-9750-5E5C4D6E7893}"/>
              </a:ext>
            </a:extLst>
          </p:cNvPr>
          <p:cNvSpPr>
            <a:spLocks noGrp="1"/>
          </p:cNvSpPr>
          <p:nvPr>
            <p:ph type="title"/>
          </p:nvPr>
        </p:nvSpPr>
        <p:spPr>
          <a:xfrm>
            <a:off x="365760" y="411480"/>
            <a:ext cx="11372473" cy="914400"/>
          </a:xfrm>
        </p:spPr>
        <p:txBody>
          <a:bodyPr wrap="square" anchor="t">
            <a:normAutofit/>
          </a:bodyPr>
          <a:lstStyle/>
          <a:p>
            <a:r>
              <a:rPr lang="en-US" dirty="0"/>
              <a:t>Why Reproducibility is Important</a:t>
            </a:r>
          </a:p>
        </p:txBody>
      </p:sp>
      <p:pic>
        <p:nvPicPr>
          <p:cNvPr id="6" name="Picture 5" descr="Magnifying glass and question mark">
            <a:extLst>
              <a:ext uri="{FF2B5EF4-FFF2-40B4-BE49-F238E27FC236}">
                <a16:creationId xmlns:a16="http://schemas.microsoft.com/office/drawing/2014/main" id="{24ED42B8-9E80-FA57-0681-7134CF432ED2}"/>
              </a:ext>
            </a:extLst>
          </p:cNvPr>
          <p:cNvPicPr>
            <a:picLocks noChangeAspect="1"/>
          </p:cNvPicPr>
          <p:nvPr/>
        </p:nvPicPr>
        <p:blipFill rotWithShape="1">
          <a:blip r:embed="rId3"/>
          <a:srcRect t="23117" r="2" b="13593"/>
          <a:stretch/>
        </p:blipFill>
        <p:spPr>
          <a:xfrm>
            <a:off x="365760" y="1737360"/>
            <a:ext cx="11369809" cy="4047778"/>
          </a:xfrm>
          <a:prstGeom prst="rect">
            <a:avLst/>
          </a:prstGeom>
          <a:noFill/>
        </p:spPr>
      </p:pic>
    </p:spTree>
    <p:extLst>
      <p:ext uri="{BB962C8B-B14F-4D97-AF65-F5344CB8AC3E}">
        <p14:creationId xmlns:p14="http://schemas.microsoft.com/office/powerpoint/2010/main" val="2798525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r="18524"/>
          <a:stretch/>
        </p:blipFill>
        <p:spPr>
          <a:xfrm>
            <a:off x="1295882" y="-4175"/>
            <a:ext cx="5568942" cy="5849163"/>
          </a:xfrm>
          <a:effectLst>
            <a:softEdge rad="50800"/>
          </a:effectLst>
        </p:spPr>
      </p:pic>
      <p:sp>
        <p:nvSpPr>
          <p:cNvPr id="2" name="Title 1"/>
          <p:cNvSpPr>
            <a:spLocks noGrp="1"/>
          </p:cNvSpPr>
          <p:nvPr>
            <p:ph type="title"/>
          </p:nvPr>
        </p:nvSpPr>
        <p:spPr>
          <a:xfrm>
            <a:off x="7564582" y="146694"/>
            <a:ext cx="3318530" cy="1348061"/>
          </a:xfrm>
        </p:spPr>
        <p:txBody>
          <a:bodyPr/>
          <a:lstStyle/>
          <a:p>
            <a:pPr algn="l"/>
            <a:r>
              <a:rPr lang="en-US" b="0" dirty="0"/>
              <a:t>Transparency &amp; Reproducibility</a:t>
            </a:r>
            <a:endParaRPr lang="en-US" sz="1600" b="0" dirty="0"/>
          </a:p>
        </p:txBody>
      </p:sp>
      <p:sp>
        <p:nvSpPr>
          <p:cNvPr id="5" name="Content Placeholder 2"/>
          <p:cNvSpPr txBox="1">
            <a:spLocks/>
          </p:cNvSpPr>
          <p:nvPr/>
        </p:nvSpPr>
        <p:spPr bwMode="auto">
          <a:xfrm>
            <a:off x="6864824" y="1494755"/>
            <a:ext cx="5063318" cy="3334171"/>
          </a:xfrm>
          <a:prstGeom prst="rect">
            <a:avLst/>
          </a:prstGeom>
          <a:noFill/>
          <a:ln w="12700">
            <a:noFill/>
            <a:miter lim="800000"/>
            <a:headEnd/>
            <a:tailEnd/>
          </a:ln>
          <a:effectLst/>
        </p:spPr>
        <p:txBody>
          <a:bodyPr vert="horz" wrap="square" lIns="90487" tIns="44450" rIns="90487" bIns="44450" numCol="1" anchor="t" anchorCtr="0" compatLnSpc="1">
            <a:prstTxWarp prst="textNoShape">
              <a:avLst/>
            </a:prstTxWarp>
          </a:bodyPr>
          <a:lstStyle>
            <a:lvl1pPr marL="342900" indent="-171450" algn="l" rtl="0" eaLnBrk="0" fontAlgn="base" hangingPunct="0">
              <a:spcBef>
                <a:spcPct val="20000"/>
              </a:spcBef>
              <a:spcAft>
                <a:spcPct val="0"/>
              </a:spcAft>
              <a:buSzPct val="100000"/>
              <a:buChar char="•"/>
              <a:defRPr sz="2400" b="1">
                <a:solidFill>
                  <a:srgbClr val="000000"/>
                </a:solidFill>
                <a:latin typeface="+mn-lt"/>
                <a:ea typeface="+mn-ea"/>
                <a:cs typeface="+mn-cs"/>
              </a:defRPr>
            </a:lvl1pPr>
            <a:lvl2pPr marL="685800" indent="-228600" algn="l" rtl="0" eaLnBrk="0" fontAlgn="base" hangingPunct="0">
              <a:spcBef>
                <a:spcPct val="20000"/>
              </a:spcBef>
              <a:spcAft>
                <a:spcPct val="0"/>
              </a:spcAft>
              <a:buSzPct val="100000"/>
              <a:buChar char="–"/>
              <a:defRPr sz="2200" b="1">
                <a:solidFill>
                  <a:srgbClr val="612900"/>
                </a:solidFill>
                <a:latin typeface="+mn-lt"/>
                <a:ea typeface="ＭＳ Ｐゴシック" charset="-128"/>
              </a:defRPr>
            </a:lvl2pPr>
            <a:lvl3pPr marL="1085850" indent="-171450" algn="l" rtl="0" eaLnBrk="0" fontAlgn="base" hangingPunct="0">
              <a:spcBef>
                <a:spcPct val="20000"/>
              </a:spcBef>
              <a:spcAft>
                <a:spcPct val="0"/>
              </a:spcAft>
              <a:buSzPct val="100000"/>
              <a:buChar char="•"/>
              <a:defRPr sz="2000" b="1">
                <a:solidFill>
                  <a:srgbClr val="612900"/>
                </a:solidFill>
                <a:latin typeface="+mn-lt"/>
                <a:ea typeface="ＭＳ Ｐゴシック" charset="-128"/>
              </a:defRPr>
            </a:lvl3pPr>
            <a:lvl4pPr marL="1543050" indent="-171450" algn="l" rtl="0" eaLnBrk="0" fontAlgn="base" hangingPunct="0">
              <a:spcBef>
                <a:spcPct val="20000"/>
              </a:spcBef>
              <a:spcAft>
                <a:spcPct val="0"/>
              </a:spcAft>
              <a:buSzPct val="100000"/>
              <a:buChar char="–"/>
              <a:defRPr b="1">
                <a:solidFill>
                  <a:srgbClr val="612900"/>
                </a:solidFill>
                <a:latin typeface="+mn-lt"/>
                <a:ea typeface="ＭＳ Ｐゴシック" charset="-128"/>
              </a:defRPr>
            </a:lvl4pPr>
            <a:lvl5pPr marL="1943100" indent="-114300" algn="l" rtl="0" eaLnBrk="0" fontAlgn="base" hangingPunct="0">
              <a:spcBef>
                <a:spcPct val="20000"/>
              </a:spcBef>
              <a:spcAft>
                <a:spcPct val="0"/>
              </a:spcAft>
              <a:buSzPct val="100000"/>
              <a:buChar char="•"/>
              <a:defRPr b="1">
                <a:solidFill>
                  <a:srgbClr val="612900"/>
                </a:solidFill>
                <a:latin typeface="+mn-lt"/>
                <a:ea typeface="ＭＳ Ｐゴシック" charset="-128"/>
              </a:defRPr>
            </a:lvl5pPr>
            <a:lvl6pPr marL="2400300" indent="-114300" algn="l" rtl="0" eaLnBrk="0" fontAlgn="base" hangingPunct="0">
              <a:spcBef>
                <a:spcPct val="20000"/>
              </a:spcBef>
              <a:spcAft>
                <a:spcPct val="0"/>
              </a:spcAft>
              <a:buSzPct val="100000"/>
              <a:buChar char="•"/>
              <a:defRPr b="1">
                <a:solidFill>
                  <a:srgbClr val="000000"/>
                </a:solidFill>
                <a:latin typeface="+mn-lt"/>
                <a:ea typeface="ＭＳ Ｐゴシック" charset="-128"/>
              </a:defRPr>
            </a:lvl6pPr>
            <a:lvl7pPr marL="2857500" indent="-114300" algn="l" rtl="0" eaLnBrk="0" fontAlgn="base" hangingPunct="0">
              <a:spcBef>
                <a:spcPct val="20000"/>
              </a:spcBef>
              <a:spcAft>
                <a:spcPct val="0"/>
              </a:spcAft>
              <a:buSzPct val="100000"/>
              <a:buChar char="•"/>
              <a:defRPr b="1">
                <a:solidFill>
                  <a:srgbClr val="000000"/>
                </a:solidFill>
                <a:latin typeface="+mn-lt"/>
                <a:ea typeface="ＭＳ Ｐゴシック" charset="-128"/>
              </a:defRPr>
            </a:lvl7pPr>
            <a:lvl8pPr marL="3314700" indent="-114300" algn="l" rtl="0" eaLnBrk="0" fontAlgn="base" hangingPunct="0">
              <a:spcBef>
                <a:spcPct val="20000"/>
              </a:spcBef>
              <a:spcAft>
                <a:spcPct val="0"/>
              </a:spcAft>
              <a:buSzPct val="100000"/>
              <a:buChar char="•"/>
              <a:defRPr b="1">
                <a:solidFill>
                  <a:srgbClr val="000000"/>
                </a:solidFill>
                <a:latin typeface="+mn-lt"/>
                <a:ea typeface="ＭＳ Ｐゴシック" charset="-128"/>
              </a:defRPr>
            </a:lvl8pPr>
            <a:lvl9pPr marL="3771900" indent="-114300" algn="l" rtl="0" eaLnBrk="0" fontAlgn="base" hangingPunct="0">
              <a:spcBef>
                <a:spcPct val="20000"/>
              </a:spcBef>
              <a:spcAft>
                <a:spcPct val="0"/>
              </a:spcAft>
              <a:buSzPct val="100000"/>
              <a:buChar char="•"/>
              <a:defRPr b="1">
                <a:solidFill>
                  <a:srgbClr val="000000"/>
                </a:solidFill>
                <a:latin typeface="+mn-lt"/>
                <a:ea typeface="ＭＳ Ｐゴシック" charset="-128"/>
              </a:defRPr>
            </a:lvl9pPr>
          </a:lstStyle>
          <a:p>
            <a:r>
              <a:rPr lang="en-US" b="0" kern="0" dirty="0"/>
              <a:t>NY Times highlights “problems”.</a:t>
            </a:r>
          </a:p>
          <a:p>
            <a:r>
              <a:rPr lang="en-US" b="0" kern="0" dirty="0"/>
              <a:t>Only one of many cited examples.</a:t>
            </a:r>
          </a:p>
          <a:p>
            <a:r>
              <a:rPr lang="en-US" b="0" kern="0" dirty="0"/>
              <a:t>Computational science </a:t>
            </a:r>
            <a:r>
              <a:rPr lang="en-US" i="1" kern="0" dirty="0"/>
              <a:t>had</a:t>
            </a:r>
            <a:r>
              <a:rPr lang="en-US" b="0" kern="0" dirty="0"/>
              <a:t> been spared this “spotlight”.</a:t>
            </a:r>
          </a:p>
          <a:p>
            <a:endParaRPr lang="en-US" b="0" kern="0" dirty="0"/>
          </a:p>
          <a:p>
            <a:pPr marL="171450" indent="0">
              <a:buNone/>
            </a:pPr>
            <a:endParaRPr lang="en-US" b="0" kern="0" dirty="0"/>
          </a:p>
        </p:txBody>
      </p:sp>
      <p:sp>
        <p:nvSpPr>
          <p:cNvPr id="8" name="TextBox 7"/>
          <p:cNvSpPr txBox="1"/>
          <p:nvPr/>
        </p:nvSpPr>
        <p:spPr>
          <a:xfrm>
            <a:off x="488780" y="5811690"/>
            <a:ext cx="8048550" cy="276999"/>
          </a:xfrm>
          <a:prstGeom prst="rect">
            <a:avLst/>
          </a:prstGeom>
          <a:noFill/>
        </p:spPr>
        <p:txBody>
          <a:bodyPr wrap="none" rtlCol="0">
            <a:spAutoFit/>
          </a:bodyPr>
          <a:lstStyle/>
          <a:p>
            <a:r>
              <a:rPr lang="en-US" sz="1200" dirty="0">
                <a:hlinkClick r:id="rId3"/>
              </a:rPr>
              <a:t>http://www.nytimes.com/2015/08/28/science/many-social-science-findings-not-as-strong-as-claimed-study-says.html</a:t>
            </a:r>
            <a:r>
              <a:rPr lang="en-US" sz="1200" dirty="0"/>
              <a:t> </a:t>
            </a:r>
          </a:p>
        </p:txBody>
      </p:sp>
    </p:spTree>
    <p:extLst>
      <p:ext uri="{BB962C8B-B14F-4D97-AF65-F5344CB8AC3E}">
        <p14:creationId xmlns:p14="http://schemas.microsoft.com/office/powerpoint/2010/main" val="3480597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F9E1B-8905-ED09-F1DE-29F083891B65}"/>
              </a:ext>
            </a:extLst>
          </p:cNvPr>
          <p:cNvSpPr>
            <a:spLocks noGrp="1"/>
          </p:cNvSpPr>
          <p:nvPr>
            <p:ph type="title"/>
          </p:nvPr>
        </p:nvSpPr>
        <p:spPr/>
        <p:txBody>
          <a:bodyPr/>
          <a:lstStyle/>
          <a:p>
            <a:r>
              <a:rPr lang="en-US" dirty="0"/>
              <a:t>Example: Behavior of pure water just above homogeneous </a:t>
            </a:r>
            <a:br>
              <a:rPr lang="en-US" dirty="0"/>
            </a:br>
            <a:r>
              <a:rPr lang="en-US" dirty="0"/>
              <a:t>nucleation temperature (~ - 40 </a:t>
            </a:r>
            <a:r>
              <a:rPr lang="en-US" dirty="0">
                <a:sym typeface="Symbol" panose="05050102010706020507" pitchFamily="18" charset="2"/>
              </a:rPr>
              <a:t></a:t>
            </a:r>
            <a:r>
              <a:rPr lang="en-US" dirty="0"/>
              <a:t>C/</a:t>
            </a:r>
            <a:r>
              <a:rPr lang="en-US" dirty="0">
                <a:sym typeface="Symbol" panose="05050102010706020507" pitchFamily="18" charset="2"/>
              </a:rPr>
              <a:t></a:t>
            </a:r>
            <a:r>
              <a:rPr lang="en-US" dirty="0"/>
              <a:t>F) </a:t>
            </a:r>
          </a:p>
        </p:txBody>
      </p:sp>
      <p:sp>
        <p:nvSpPr>
          <p:cNvPr id="3" name="Content Placeholder 2">
            <a:extLst>
              <a:ext uri="{FF2B5EF4-FFF2-40B4-BE49-F238E27FC236}">
                <a16:creationId xmlns:a16="http://schemas.microsoft.com/office/drawing/2014/main" id="{D30ABA71-BB18-9D1B-E4DC-9755D2943879}"/>
              </a:ext>
            </a:extLst>
          </p:cNvPr>
          <p:cNvSpPr>
            <a:spLocks noGrp="1"/>
          </p:cNvSpPr>
          <p:nvPr>
            <p:ph idx="1"/>
          </p:nvPr>
        </p:nvSpPr>
        <p:spPr>
          <a:xfrm>
            <a:off x="365761" y="1396399"/>
            <a:ext cx="7934784" cy="4047778"/>
          </a:xfrm>
        </p:spPr>
        <p:txBody>
          <a:bodyPr/>
          <a:lstStyle/>
          <a:p>
            <a:r>
              <a:rPr lang="en-US" sz="2000" dirty="0"/>
              <a:t>Debenedetti/Princeton (2009): 2 possible phases: High or low density</a:t>
            </a:r>
          </a:p>
          <a:p>
            <a:pPr>
              <a:spcBef>
                <a:spcPts val="800"/>
              </a:spcBef>
            </a:pPr>
            <a:r>
              <a:rPr lang="en-US" sz="2000" dirty="0"/>
              <a:t>Chandler/Berkeley (2011): Only 1 phase: High density</a:t>
            </a:r>
          </a:p>
          <a:p>
            <a:pPr lvl="1">
              <a:spcBef>
                <a:spcPts val="200"/>
              </a:spcBef>
            </a:pPr>
            <a:r>
              <a:rPr lang="en-US" sz="1800" dirty="0"/>
              <a:t>“LAMMPS codes used in refs 5 and 12 are standard and documented, with scripts freely available upon request.”</a:t>
            </a:r>
          </a:p>
          <a:p>
            <a:pPr>
              <a:spcBef>
                <a:spcPts val="800"/>
              </a:spcBef>
            </a:pPr>
            <a:r>
              <a:rPr lang="en-US" sz="2000" dirty="0"/>
              <a:t>Debenedetti tries to reproduce Chandler’s results, </a:t>
            </a:r>
            <a:r>
              <a:rPr lang="en-US" sz="2000" b="1" dirty="0"/>
              <a:t>unsuccessfully</a:t>
            </a:r>
          </a:p>
          <a:p>
            <a:pPr>
              <a:spcBef>
                <a:spcPts val="800"/>
              </a:spcBef>
            </a:pPr>
            <a:r>
              <a:rPr lang="en-US" sz="2000" dirty="0"/>
              <a:t>Debenedetti (with colleague Palmer) to Chandler: “Send us your code”</a:t>
            </a:r>
          </a:p>
          <a:p>
            <a:pPr lvl="1">
              <a:spcBef>
                <a:spcPts val="200"/>
              </a:spcBef>
            </a:pPr>
            <a:r>
              <a:rPr lang="en-US" sz="1800" dirty="0"/>
              <a:t>Chandler responded only after intervention by editor of Nature</a:t>
            </a:r>
          </a:p>
          <a:p>
            <a:pPr>
              <a:spcBef>
                <a:spcPts val="800"/>
              </a:spcBef>
            </a:pPr>
            <a:r>
              <a:rPr lang="en-US" sz="2000" dirty="0"/>
              <a:t>Palmer identified a bug/feature in Chandler’s code: a change intended merely to speed up the code gave </a:t>
            </a:r>
            <a:r>
              <a:rPr lang="en-US" sz="2000" b="1" dirty="0"/>
              <a:t>different results</a:t>
            </a:r>
          </a:p>
          <a:p>
            <a:pPr lvl="1">
              <a:spcBef>
                <a:spcPts val="200"/>
              </a:spcBef>
            </a:pPr>
            <a:r>
              <a:rPr lang="en-US" sz="1800" dirty="0"/>
              <a:t>Code was not actually “standard and documented”; </a:t>
            </a:r>
            <a:r>
              <a:rPr lang="en-US" sz="1800" b="1" dirty="0"/>
              <a:t>paper was not reproducible</a:t>
            </a:r>
          </a:p>
          <a:p>
            <a:pPr lvl="1">
              <a:spcBef>
                <a:spcPts val="200"/>
              </a:spcBef>
            </a:pPr>
            <a:r>
              <a:rPr lang="en-US" sz="1800" dirty="0"/>
              <a:t>When replaced with a more standard approach, results matched Debenedetti’s</a:t>
            </a:r>
          </a:p>
          <a:p>
            <a:pPr>
              <a:spcBef>
                <a:spcPts val="800"/>
              </a:spcBef>
            </a:pPr>
            <a:r>
              <a:rPr lang="en-US" sz="2000" dirty="0"/>
              <a:t>Took </a:t>
            </a:r>
            <a:r>
              <a:rPr lang="en-US" sz="2000" b="1" dirty="0"/>
              <a:t>seven years </a:t>
            </a:r>
            <a:r>
              <a:rPr lang="en-US" sz="2000" dirty="0"/>
              <a:t>to resolve!</a:t>
            </a:r>
          </a:p>
          <a:p>
            <a:pPr>
              <a:spcBef>
                <a:spcPts val="800"/>
              </a:spcBef>
            </a:pPr>
            <a:r>
              <a:rPr lang="en-US" sz="2000" i="1" dirty="0">
                <a:solidFill>
                  <a:schemeClr val="tx2"/>
                </a:solidFill>
              </a:rPr>
              <a:t>Would testing have caught this?</a:t>
            </a:r>
          </a:p>
        </p:txBody>
      </p:sp>
      <p:sp>
        <p:nvSpPr>
          <p:cNvPr id="4" name="TextBox 3">
            <a:extLst>
              <a:ext uri="{FF2B5EF4-FFF2-40B4-BE49-F238E27FC236}">
                <a16:creationId xmlns:a16="http://schemas.microsoft.com/office/drawing/2014/main" id="{2F3BC9A8-DE4E-6E50-ECC9-727AEEFAF902}"/>
              </a:ext>
            </a:extLst>
          </p:cNvPr>
          <p:cNvSpPr txBox="1"/>
          <p:nvPr/>
        </p:nvSpPr>
        <p:spPr>
          <a:xfrm>
            <a:off x="9270122" y="6571768"/>
            <a:ext cx="2603727" cy="286232"/>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90000"/>
              </a:lnSpc>
            </a:pPr>
            <a:r>
              <a:rPr lang="en-US" sz="1400" dirty="0">
                <a:hlinkClick r:id="rId2"/>
              </a:rPr>
              <a:t>doi:10.1063/PT.6.1.20180822a</a:t>
            </a:r>
            <a:endParaRPr lang="en-US" sz="1400" dirty="0"/>
          </a:p>
        </p:txBody>
      </p:sp>
      <p:pic>
        <p:nvPicPr>
          <p:cNvPr id="5" name="Picture 4">
            <a:extLst>
              <a:ext uri="{FF2B5EF4-FFF2-40B4-BE49-F238E27FC236}">
                <a16:creationId xmlns:a16="http://schemas.microsoft.com/office/drawing/2014/main" id="{6C7AE584-C7C3-CD3C-ED46-FADCF6E6F578}"/>
              </a:ext>
            </a:extLst>
          </p:cNvPr>
          <p:cNvPicPr>
            <a:picLocks noChangeAspect="1"/>
          </p:cNvPicPr>
          <p:nvPr/>
        </p:nvPicPr>
        <p:blipFill rotWithShape="1">
          <a:blip r:embed="rId3">
            <a:extLst>
              <a:ext uri="{28A0092B-C50C-407E-A947-70E740481C1C}">
                <a14:useLocalDpi xmlns:a14="http://schemas.microsoft.com/office/drawing/2010/main" val="0"/>
              </a:ext>
            </a:extLst>
          </a:blip>
          <a:srcRect t="15740" b="34631"/>
          <a:stretch/>
        </p:blipFill>
        <p:spPr>
          <a:xfrm rot="1622698">
            <a:off x="7977171" y="2005269"/>
            <a:ext cx="6196754" cy="3979963"/>
          </a:xfrm>
          <a:prstGeom prst="rect">
            <a:avLst/>
          </a:prstGeom>
        </p:spPr>
      </p:pic>
    </p:spTree>
    <p:extLst>
      <p:ext uri="{BB962C8B-B14F-4D97-AF65-F5344CB8AC3E}">
        <p14:creationId xmlns:p14="http://schemas.microsoft.com/office/powerpoint/2010/main" val="2486743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C924B-5B6D-0D48-84F3-4320D88EE221}"/>
              </a:ext>
            </a:extLst>
          </p:cNvPr>
          <p:cNvSpPr>
            <a:spLocks noGrp="1"/>
          </p:cNvSpPr>
          <p:nvPr>
            <p:ph type="title"/>
          </p:nvPr>
        </p:nvSpPr>
        <p:spPr/>
        <p:txBody>
          <a:bodyPr/>
          <a:lstStyle/>
          <a:p>
            <a:r>
              <a:rPr lang="en-US" dirty="0"/>
              <a:t>Example: Python Behaves Differently on Different Platforms</a:t>
            </a:r>
          </a:p>
        </p:txBody>
      </p:sp>
      <p:sp>
        <p:nvSpPr>
          <p:cNvPr id="3" name="Content Placeholder 2">
            <a:extLst>
              <a:ext uri="{FF2B5EF4-FFF2-40B4-BE49-F238E27FC236}">
                <a16:creationId xmlns:a16="http://schemas.microsoft.com/office/drawing/2014/main" id="{1E46A525-C218-8F40-A882-286AE2FD48FB}"/>
              </a:ext>
            </a:extLst>
          </p:cNvPr>
          <p:cNvSpPr>
            <a:spLocks noGrp="1"/>
          </p:cNvSpPr>
          <p:nvPr>
            <p:ph idx="1"/>
          </p:nvPr>
        </p:nvSpPr>
        <p:spPr>
          <a:xfrm>
            <a:off x="365760" y="1188721"/>
            <a:ext cx="11369809" cy="4047778"/>
          </a:xfrm>
        </p:spPr>
        <p:txBody>
          <a:bodyPr/>
          <a:lstStyle/>
          <a:p>
            <a:r>
              <a:rPr lang="en-US" dirty="0"/>
              <a:t>Scripts for analyzing experimental nuclear magnetic resonance (NMR) data</a:t>
            </a:r>
          </a:p>
          <a:p>
            <a:r>
              <a:rPr lang="en-US" dirty="0"/>
              <a:t>Scripts use Python's glob module (listing filenames matching a pattern)</a:t>
            </a:r>
          </a:p>
          <a:p>
            <a:r>
              <a:rPr lang="en-US" dirty="0"/>
              <a:t>Module ordered results differently in Linux and Mac Mojave</a:t>
            </a:r>
          </a:p>
          <a:p>
            <a:r>
              <a:rPr lang="en-US" dirty="0"/>
              <a:t>Results depended on the</a:t>
            </a:r>
            <a:br>
              <a:rPr lang="en-US" dirty="0"/>
            </a:br>
            <a:r>
              <a:rPr lang="en-US" dirty="0"/>
              <a:t>order in which files were</a:t>
            </a:r>
            <a:br>
              <a:rPr lang="en-US" dirty="0"/>
            </a:br>
            <a:r>
              <a:rPr lang="en-US" dirty="0"/>
              <a:t>processed</a:t>
            </a:r>
          </a:p>
          <a:p>
            <a:r>
              <a:rPr lang="en-US" b="1" dirty="0"/>
              <a:t>Casts doubt on results in</a:t>
            </a:r>
            <a:br>
              <a:rPr lang="en-US" b="1" dirty="0"/>
            </a:br>
            <a:r>
              <a:rPr lang="en-US" b="1" dirty="0"/>
              <a:t>150 papers</a:t>
            </a:r>
          </a:p>
          <a:p>
            <a:r>
              <a:rPr lang="en-US" i="1" dirty="0">
                <a:solidFill>
                  <a:schemeClr val="tx2"/>
                </a:solidFill>
              </a:rPr>
              <a:t>Would testing have </a:t>
            </a:r>
            <a:br>
              <a:rPr lang="en-US" i="1" dirty="0">
                <a:solidFill>
                  <a:schemeClr val="tx2"/>
                </a:solidFill>
              </a:rPr>
            </a:br>
            <a:r>
              <a:rPr lang="en-US" i="1" dirty="0">
                <a:solidFill>
                  <a:schemeClr val="tx2"/>
                </a:solidFill>
              </a:rPr>
              <a:t>caught this?</a:t>
            </a:r>
          </a:p>
        </p:txBody>
      </p:sp>
      <p:pic>
        <p:nvPicPr>
          <p:cNvPr id="4" name="Picture 3">
            <a:extLst>
              <a:ext uri="{FF2B5EF4-FFF2-40B4-BE49-F238E27FC236}">
                <a16:creationId xmlns:a16="http://schemas.microsoft.com/office/drawing/2014/main" id="{4543096B-3C9B-B743-955D-3DFE4F9562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5641" y="2648608"/>
            <a:ext cx="7092541" cy="2822902"/>
          </a:xfrm>
          <a:prstGeom prst="rect">
            <a:avLst/>
          </a:prstGeom>
        </p:spPr>
      </p:pic>
      <p:sp>
        <p:nvSpPr>
          <p:cNvPr id="5" name="TextBox 4">
            <a:extLst>
              <a:ext uri="{FF2B5EF4-FFF2-40B4-BE49-F238E27FC236}">
                <a16:creationId xmlns:a16="http://schemas.microsoft.com/office/drawing/2014/main" id="{36CF2F71-DEDB-F441-8D41-E2C0586ABB9A}"/>
              </a:ext>
            </a:extLst>
          </p:cNvPr>
          <p:cNvSpPr txBox="1"/>
          <p:nvPr/>
        </p:nvSpPr>
        <p:spPr>
          <a:xfrm>
            <a:off x="620111" y="5670692"/>
            <a:ext cx="10332572" cy="378565"/>
          </a:xfrm>
          <a:prstGeom prst="rect">
            <a:avLst/>
          </a:prstGeom>
        </p:spPr>
        <p:style>
          <a:lnRef idx="2">
            <a:schemeClr val="dk1"/>
          </a:lnRef>
          <a:fillRef idx="1">
            <a:schemeClr val="lt1"/>
          </a:fillRef>
          <a:effectRef idx="0">
            <a:schemeClr val="dk1"/>
          </a:effectRef>
          <a:fontRef idx="minor">
            <a:schemeClr val="dk1"/>
          </a:fontRef>
        </p:style>
        <p:txBody>
          <a:bodyPr wrap="none" lIns="118872" tIns="91440" rIns="118872" bIns="91440" rtlCol="0" anchor="ctr" anchorCtr="0">
            <a:spAutoFit/>
          </a:bodyPr>
          <a:lstStyle/>
          <a:p>
            <a:pPr>
              <a:lnSpc>
                <a:spcPct val="90000"/>
              </a:lnSpc>
            </a:pPr>
            <a:r>
              <a:rPr lang="en-US" sz="1400" dirty="0"/>
              <a:t> </a:t>
            </a:r>
            <a:r>
              <a:rPr lang="en-US" sz="1400" dirty="0">
                <a:hlinkClick r:id="rId3"/>
              </a:rPr>
              <a:t>https://</a:t>
            </a:r>
            <a:r>
              <a:rPr lang="en-US" sz="1400" dirty="0" err="1">
                <a:hlinkClick r:id="rId3"/>
              </a:rPr>
              <a:t>arstechnica.com</a:t>
            </a:r>
            <a:r>
              <a:rPr lang="en-US" sz="1400" dirty="0">
                <a:hlinkClick r:id="rId3"/>
              </a:rPr>
              <a:t>/information-technology/2019/10/chemists-discover-cross-platform-python-scripts-not-so-cross-platform/</a:t>
            </a:r>
            <a:endParaRPr lang="en-US" sz="1400" dirty="0"/>
          </a:p>
        </p:txBody>
      </p:sp>
    </p:spTree>
    <p:extLst>
      <p:ext uri="{BB962C8B-B14F-4D97-AF65-F5344CB8AC3E}">
        <p14:creationId xmlns:p14="http://schemas.microsoft.com/office/powerpoint/2010/main" val="1342845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733E54-E07F-40D0-AAF9-603545181CBC}"/>
              </a:ext>
            </a:extLst>
          </p:cNvPr>
          <p:cNvSpPr>
            <a:spLocks noGrp="1"/>
          </p:cNvSpPr>
          <p:nvPr>
            <p:ph idx="1"/>
          </p:nvPr>
        </p:nvSpPr>
        <p:spPr>
          <a:xfrm>
            <a:off x="365760" y="1405111"/>
            <a:ext cx="11369809" cy="4047778"/>
          </a:xfrm>
        </p:spPr>
        <p:txBody>
          <a:bodyPr anchor="ctr" anchorCtr="0"/>
          <a:lstStyle/>
          <a:p>
            <a:pPr marL="0" indent="0" algn="ctr">
              <a:buNone/>
            </a:pPr>
            <a:r>
              <a:rPr lang="en-US" sz="4400" dirty="0"/>
              <a:t>Science through computing is, </a:t>
            </a:r>
            <a:br>
              <a:rPr lang="en-US" sz="4400" dirty="0"/>
            </a:br>
            <a:r>
              <a:rPr lang="en-US" sz="4400" dirty="0"/>
              <a:t>at best, </a:t>
            </a:r>
            <a:br>
              <a:rPr lang="en-US" sz="4400" dirty="0"/>
            </a:br>
            <a:r>
              <a:rPr lang="en-US" sz="4400" dirty="0"/>
              <a:t>as credible as the software that produces it!</a:t>
            </a:r>
          </a:p>
        </p:txBody>
      </p:sp>
    </p:spTree>
    <p:extLst>
      <p:ext uri="{BB962C8B-B14F-4D97-AF65-F5344CB8AC3E}">
        <p14:creationId xmlns:p14="http://schemas.microsoft.com/office/powerpoint/2010/main" val="2966268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4CA9EB-43C1-42C5-96E8-92A150169E08}"/>
              </a:ext>
            </a:extLst>
          </p:cNvPr>
          <p:cNvSpPr>
            <a:spLocks noGrp="1"/>
          </p:cNvSpPr>
          <p:nvPr>
            <p:ph type="title"/>
          </p:nvPr>
        </p:nvSpPr>
        <p:spPr/>
        <p:txBody>
          <a:bodyPr/>
          <a:lstStyle/>
          <a:p>
            <a:r>
              <a:rPr lang="en-US" dirty="0"/>
              <a:t>Incentives for Paying Attention to Reproducibility</a:t>
            </a:r>
          </a:p>
        </p:txBody>
      </p:sp>
      <p:sp>
        <p:nvSpPr>
          <p:cNvPr id="2" name="Content Placeholder 1">
            <a:extLst>
              <a:ext uri="{FF2B5EF4-FFF2-40B4-BE49-F238E27FC236}">
                <a16:creationId xmlns:a16="http://schemas.microsoft.com/office/drawing/2014/main" id="{E9507A47-4449-4A96-A0BA-021FE928EE24}"/>
              </a:ext>
            </a:extLst>
          </p:cNvPr>
          <p:cNvSpPr>
            <a:spLocks noGrp="1"/>
          </p:cNvSpPr>
          <p:nvPr>
            <p:ph idx="1"/>
          </p:nvPr>
        </p:nvSpPr>
        <p:spPr/>
        <p:txBody>
          <a:bodyPr/>
          <a:lstStyle/>
          <a:p>
            <a:pPr marL="0" indent="0">
              <a:buNone/>
            </a:pPr>
            <a:r>
              <a:rPr lang="en-US" dirty="0"/>
              <a:t>Common statement: “I would love to do a better job on my software, but I need to:</a:t>
            </a:r>
          </a:p>
          <a:p>
            <a:pPr marL="342900" indent="-342900"/>
            <a:r>
              <a:rPr lang="en-US" dirty="0"/>
              <a:t>Get this paper submitted</a:t>
            </a:r>
          </a:p>
          <a:p>
            <a:pPr marL="342900" indent="-342900"/>
            <a:r>
              <a:rPr lang="en-US" dirty="0"/>
              <a:t>Complete this project task</a:t>
            </a:r>
          </a:p>
          <a:p>
            <a:pPr marL="342900" indent="-342900"/>
            <a:r>
              <a:rPr lang="en-US" dirty="0"/>
              <a:t>Do something my employer values more</a:t>
            </a:r>
          </a:p>
          <a:p>
            <a:pPr marL="0" indent="0">
              <a:buNone/>
            </a:pPr>
            <a:endParaRPr lang="en-US" dirty="0"/>
          </a:p>
          <a:p>
            <a:pPr marL="0" indent="0">
              <a:buNone/>
            </a:pPr>
            <a:r>
              <a:rPr lang="en-US" b="1" dirty="0"/>
              <a:t>Goal</a:t>
            </a:r>
            <a:r>
              <a:rPr lang="en-US" dirty="0"/>
              <a:t>: Change incentives to include valuing of better software, better science</a:t>
            </a:r>
          </a:p>
          <a:p>
            <a:pPr marL="0" indent="0">
              <a:buNone/>
            </a:pPr>
            <a:r>
              <a:rPr lang="en-US" dirty="0"/>
              <a:t>This is a long-term goal, requiring a culture change in (computational) science </a:t>
            </a:r>
            <a:r>
              <a:rPr lang="en-US"/>
              <a:t>which is in </a:t>
            </a:r>
            <a:r>
              <a:rPr lang="en-US" dirty="0"/>
              <a:t>the early stages</a:t>
            </a:r>
          </a:p>
          <a:p>
            <a:endParaRPr lang="en-US" dirty="0"/>
          </a:p>
        </p:txBody>
      </p:sp>
    </p:spTree>
    <p:extLst>
      <p:ext uri="{BB962C8B-B14F-4D97-AF65-F5344CB8AC3E}">
        <p14:creationId xmlns:p14="http://schemas.microsoft.com/office/powerpoint/2010/main" val="3889789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C43CE43-3F69-454F-91AA-79F31589C030}"/>
              </a:ext>
            </a:extLst>
          </p:cNvPr>
          <p:cNvSpPr>
            <a:spLocks noGrp="1"/>
          </p:cNvSpPr>
          <p:nvPr>
            <p:ph type="body" idx="1"/>
          </p:nvPr>
        </p:nvSpPr>
        <p:spPr>
          <a:xfrm>
            <a:off x="457200" y="1402594"/>
            <a:ext cx="5588582" cy="431496"/>
          </a:xfrm>
        </p:spPr>
        <p:txBody>
          <a:bodyPr/>
          <a:lstStyle/>
          <a:p>
            <a:r>
              <a:rPr lang="en-US" dirty="0"/>
              <a:t>Data Management Plans</a:t>
            </a:r>
          </a:p>
        </p:txBody>
      </p:sp>
      <p:sp>
        <p:nvSpPr>
          <p:cNvPr id="4" name="Title 3">
            <a:extLst>
              <a:ext uri="{FF2B5EF4-FFF2-40B4-BE49-F238E27FC236}">
                <a16:creationId xmlns:a16="http://schemas.microsoft.com/office/drawing/2014/main" id="{672F71E0-47A2-4020-9B2A-62C994864519}"/>
              </a:ext>
            </a:extLst>
          </p:cNvPr>
          <p:cNvSpPr>
            <a:spLocks noGrp="1"/>
          </p:cNvSpPr>
          <p:nvPr>
            <p:ph type="title"/>
          </p:nvPr>
        </p:nvSpPr>
        <p:spPr/>
        <p:txBody>
          <a:bodyPr/>
          <a:lstStyle/>
          <a:p>
            <a:r>
              <a:rPr lang="en-US" dirty="0"/>
              <a:t>Funders and the Community Setting Expectations for Your Data (Including Your Software)</a:t>
            </a:r>
          </a:p>
        </p:txBody>
      </p:sp>
      <p:sp>
        <p:nvSpPr>
          <p:cNvPr id="6" name="Content Placeholder 5">
            <a:extLst>
              <a:ext uri="{FF2B5EF4-FFF2-40B4-BE49-F238E27FC236}">
                <a16:creationId xmlns:a16="http://schemas.microsoft.com/office/drawing/2014/main" id="{D66E6D61-44C6-4432-83DF-8B05B0B813B2}"/>
              </a:ext>
            </a:extLst>
          </p:cNvPr>
          <p:cNvSpPr>
            <a:spLocks noGrp="1"/>
          </p:cNvSpPr>
          <p:nvPr>
            <p:ph sz="half" idx="2"/>
          </p:nvPr>
        </p:nvSpPr>
        <p:spPr>
          <a:xfrm>
            <a:off x="457200" y="1834090"/>
            <a:ext cx="5588582" cy="3373229"/>
          </a:xfrm>
        </p:spPr>
        <p:txBody>
          <a:bodyPr/>
          <a:lstStyle/>
          <a:p>
            <a:r>
              <a:rPr lang="en-US" dirty="0"/>
              <a:t>Most research sponsors require data management plans as part of proposals</a:t>
            </a:r>
          </a:p>
          <a:p>
            <a:r>
              <a:rPr lang="en-US" dirty="0"/>
              <a:t>“Data” includes software (increasingly called out explicitly)</a:t>
            </a:r>
          </a:p>
          <a:p>
            <a:pPr>
              <a:spcBef>
                <a:spcPts val="800"/>
              </a:spcBef>
            </a:pPr>
            <a:r>
              <a:rPr lang="en-US" dirty="0"/>
              <a:t>Example: NSF policy on </a:t>
            </a:r>
            <a:r>
              <a:rPr lang="en-US" dirty="0">
                <a:hlinkClick r:id="rId2"/>
              </a:rPr>
              <a:t>Dissemination and Sharing of Research Results</a:t>
            </a:r>
            <a:endParaRPr lang="en-US" dirty="0"/>
          </a:p>
          <a:p>
            <a:pPr lvl="1">
              <a:spcBef>
                <a:spcPts val="200"/>
              </a:spcBef>
            </a:pPr>
            <a:r>
              <a:rPr lang="en-US" dirty="0"/>
              <a:t>Investigators can keep their legal rights over their intellectual property, but they still have to make their results, data, and collections available to others</a:t>
            </a:r>
          </a:p>
          <a:p>
            <a:pPr lvl="1">
              <a:spcBef>
                <a:spcPts val="200"/>
              </a:spcBef>
            </a:pPr>
            <a:r>
              <a:rPr lang="en-US" dirty="0"/>
              <a:t>Policies will be implemented via</a:t>
            </a:r>
          </a:p>
          <a:p>
            <a:pPr lvl="2">
              <a:spcBef>
                <a:spcPts val="200"/>
              </a:spcBef>
            </a:pPr>
            <a:r>
              <a:rPr lang="en-US" dirty="0"/>
              <a:t>Proposal review</a:t>
            </a:r>
          </a:p>
          <a:p>
            <a:pPr lvl="2">
              <a:spcBef>
                <a:spcPts val="200"/>
              </a:spcBef>
            </a:pPr>
            <a:r>
              <a:rPr lang="en-US" dirty="0"/>
              <a:t>Award negotiations and conditions</a:t>
            </a:r>
          </a:p>
          <a:p>
            <a:pPr lvl="2">
              <a:spcBef>
                <a:spcPts val="200"/>
              </a:spcBef>
            </a:pPr>
            <a:r>
              <a:rPr lang="en-US" dirty="0"/>
              <a:t>Support/incentives</a:t>
            </a:r>
          </a:p>
        </p:txBody>
      </p:sp>
      <p:sp>
        <p:nvSpPr>
          <p:cNvPr id="7" name="Text Placeholder 6">
            <a:extLst>
              <a:ext uri="{FF2B5EF4-FFF2-40B4-BE49-F238E27FC236}">
                <a16:creationId xmlns:a16="http://schemas.microsoft.com/office/drawing/2014/main" id="{7FA9370A-7387-4D95-8D73-35942A83C120}"/>
              </a:ext>
            </a:extLst>
          </p:cNvPr>
          <p:cNvSpPr>
            <a:spLocks noGrp="1"/>
          </p:cNvSpPr>
          <p:nvPr>
            <p:ph type="body" sz="quarter" idx="3"/>
          </p:nvPr>
        </p:nvSpPr>
        <p:spPr>
          <a:xfrm>
            <a:off x="6218914" y="1402594"/>
            <a:ext cx="5531934" cy="431496"/>
          </a:xfrm>
        </p:spPr>
        <p:txBody>
          <a:bodyPr/>
          <a:lstStyle/>
          <a:p>
            <a:r>
              <a:rPr lang="en-US" dirty="0">
                <a:hlinkClick r:id="rId3"/>
              </a:rPr>
              <a:t>FAIR Principles for Research Software</a:t>
            </a:r>
            <a:endParaRPr lang="en-US" dirty="0">
              <a:hlinkClick r:id="rId4"/>
            </a:endParaRPr>
          </a:p>
        </p:txBody>
      </p:sp>
      <p:sp>
        <p:nvSpPr>
          <p:cNvPr id="8" name="Content Placeholder 7">
            <a:extLst>
              <a:ext uri="{FF2B5EF4-FFF2-40B4-BE49-F238E27FC236}">
                <a16:creationId xmlns:a16="http://schemas.microsoft.com/office/drawing/2014/main" id="{78928391-B382-4CEF-AAAA-6902053F38C2}"/>
              </a:ext>
            </a:extLst>
          </p:cNvPr>
          <p:cNvSpPr>
            <a:spLocks noGrp="1"/>
          </p:cNvSpPr>
          <p:nvPr>
            <p:ph sz="quarter" idx="4"/>
          </p:nvPr>
        </p:nvSpPr>
        <p:spPr>
          <a:xfrm>
            <a:off x="6218914" y="1834090"/>
            <a:ext cx="5531934" cy="3373229"/>
          </a:xfrm>
        </p:spPr>
        <p:txBody>
          <a:bodyPr/>
          <a:lstStyle/>
          <a:p>
            <a:r>
              <a:rPr lang="en-US" dirty="0"/>
              <a:t>How to make all research outcomes, including software, optimally reusable by humans and machines?</a:t>
            </a:r>
          </a:p>
          <a:p>
            <a:r>
              <a:rPr lang="en-US" dirty="0"/>
              <a:t>Findability</a:t>
            </a:r>
          </a:p>
          <a:p>
            <a:pPr lvl="1">
              <a:spcBef>
                <a:spcPts val="200"/>
              </a:spcBef>
            </a:pPr>
            <a:r>
              <a:rPr lang="en-US" sz="1600" dirty="0"/>
              <a:t>Software is described with rich metadata and a unique and assigned a persistent identifier</a:t>
            </a:r>
          </a:p>
          <a:p>
            <a:pPr>
              <a:spcBef>
                <a:spcPts val="800"/>
              </a:spcBef>
            </a:pPr>
            <a:r>
              <a:rPr lang="en-US" dirty="0"/>
              <a:t>Accessibility</a:t>
            </a:r>
          </a:p>
          <a:p>
            <a:pPr lvl="1">
              <a:spcBef>
                <a:spcPts val="200"/>
              </a:spcBef>
            </a:pPr>
            <a:r>
              <a:rPr lang="en-US" sz="1600" dirty="0"/>
              <a:t>Metadata are retrievable by their identifier, even when the software is no longer available</a:t>
            </a:r>
            <a:endParaRPr lang="en-US" dirty="0"/>
          </a:p>
          <a:p>
            <a:pPr>
              <a:spcBef>
                <a:spcPts val="800"/>
              </a:spcBef>
            </a:pPr>
            <a:r>
              <a:rPr lang="en-US" dirty="0"/>
              <a:t>Interoperability</a:t>
            </a:r>
          </a:p>
          <a:p>
            <a:pPr lvl="1">
              <a:spcBef>
                <a:spcPts val="200"/>
              </a:spcBef>
            </a:pPr>
            <a:r>
              <a:rPr lang="en-US" sz="1600" dirty="0"/>
              <a:t>Software exchanges data in a way that meets domain-relevant community standards</a:t>
            </a:r>
          </a:p>
          <a:p>
            <a:pPr>
              <a:spcBef>
                <a:spcPts val="800"/>
              </a:spcBef>
            </a:pPr>
            <a:r>
              <a:rPr lang="en-US" dirty="0"/>
              <a:t>Reusability</a:t>
            </a:r>
          </a:p>
          <a:p>
            <a:pPr lvl="1">
              <a:spcBef>
                <a:spcPts val="200"/>
              </a:spcBef>
            </a:pPr>
            <a:r>
              <a:rPr lang="en-US" sz="1600" dirty="0"/>
              <a:t>Software has a clear license, detailed provenance, and meets domain-relevant community standards</a:t>
            </a:r>
          </a:p>
          <a:p>
            <a:pPr>
              <a:spcBef>
                <a:spcPts val="800"/>
              </a:spcBef>
            </a:pPr>
            <a:r>
              <a:rPr lang="en-US" sz="1800" dirty="0"/>
              <a:t>Also </a:t>
            </a:r>
            <a:r>
              <a:rPr lang="en-US" sz="1800" dirty="0">
                <a:hlinkClick r:id="rId5"/>
              </a:rPr>
              <a:t>FAIR Principles for Data </a:t>
            </a:r>
            <a:endParaRPr lang="en-US" sz="1800" dirty="0"/>
          </a:p>
        </p:txBody>
      </p:sp>
    </p:spTree>
    <p:extLst>
      <p:ext uri="{BB962C8B-B14F-4D97-AF65-F5344CB8AC3E}">
        <p14:creationId xmlns:p14="http://schemas.microsoft.com/office/powerpoint/2010/main" val="4114747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8135" y="192378"/>
            <a:ext cx="11269682" cy="532017"/>
          </a:xfrm>
        </p:spPr>
        <p:txBody>
          <a:bodyPr>
            <a:normAutofit/>
          </a:bodyPr>
          <a:lstStyle/>
          <a:p>
            <a:r>
              <a:rPr lang="en-US" sz="2800" dirty="0"/>
              <a:t>Increasing Attention on Reproducibility fro</a:t>
            </a:r>
            <a:r>
              <a:rPr lang="en-US" dirty="0"/>
              <a:t>m Publishers</a:t>
            </a:r>
            <a:endParaRPr lang="en-US" sz="2800" dirty="0"/>
          </a:p>
        </p:txBody>
      </p:sp>
      <p:sp>
        <p:nvSpPr>
          <p:cNvPr id="4" name="Content Placeholder 3"/>
          <p:cNvSpPr>
            <a:spLocks noGrp="1"/>
          </p:cNvSpPr>
          <p:nvPr>
            <p:ph sz="quarter" idx="1"/>
          </p:nvPr>
        </p:nvSpPr>
        <p:spPr>
          <a:xfrm>
            <a:off x="245815" y="868048"/>
            <a:ext cx="11697194" cy="5449160"/>
          </a:xfrm>
        </p:spPr>
        <p:txBody>
          <a:bodyPr>
            <a:normAutofit fontScale="92500" lnSpcReduction="10000"/>
          </a:bodyPr>
          <a:lstStyle/>
          <a:p>
            <a:r>
              <a:rPr lang="en-US" dirty="0"/>
              <a:t>More publication venues are adding reproducibility </a:t>
            </a:r>
            <a:r>
              <a:rPr lang="en-US" b="1" dirty="0"/>
              <a:t>recognition</a:t>
            </a:r>
            <a:r>
              <a:rPr lang="en-US" dirty="0"/>
              <a:t> or </a:t>
            </a:r>
            <a:r>
              <a:rPr lang="en-US" b="1" dirty="0"/>
              <a:t>requirements</a:t>
            </a:r>
            <a:endParaRPr lang="en-US" dirty="0"/>
          </a:p>
          <a:p>
            <a:r>
              <a:rPr lang="en-US" dirty="0"/>
              <a:t>ACM </a:t>
            </a:r>
            <a:r>
              <a:rPr lang="en-US" strike="sngStrike" dirty="0"/>
              <a:t>Replicated</a:t>
            </a:r>
            <a:r>
              <a:rPr lang="en-US" dirty="0"/>
              <a:t> Reproducible Computational Results (RCR)</a:t>
            </a:r>
          </a:p>
          <a:p>
            <a:pPr lvl="1"/>
            <a:r>
              <a:rPr lang="en-US" dirty="0"/>
              <a:t>ACM TOMS, TOMACS</a:t>
            </a:r>
          </a:p>
          <a:p>
            <a:pPr lvl="1"/>
            <a:r>
              <a:rPr lang="en-US" dirty="0">
                <a:hlinkClick r:id="rId2"/>
              </a:rPr>
              <a:t>http://toms.acm.org/replicated-computational-results.cfm</a:t>
            </a:r>
            <a:r>
              <a:rPr lang="en-US" dirty="0"/>
              <a:t> </a:t>
            </a:r>
          </a:p>
          <a:p>
            <a:r>
              <a:rPr lang="en-US" dirty="0"/>
              <a:t>ACM Badging</a:t>
            </a:r>
          </a:p>
          <a:p>
            <a:pPr lvl="1"/>
            <a:r>
              <a:rPr lang="en-US" dirty="0"/>
              <a:t>Functional, reusable, available, replicated, reproduced</a:t>
            </a:r>
          </a:p>
          <a:p>
            <a:pPr lvl="1"/>
            <a:r>
              <a:rPr lang="en-US" dirty="0">
                <a:hlinkClick r:id="rId3"/>
              </a:rPr>
              <a:t>https://www.acm.org/publications/policies/artifact-review-and-badging-current</a:t>
            </a:r>
            <a:endParaRPr lang="en-US" dirty="0"/>
          </a:p>
          <a:p>
            <a:r>
              <a:rPr lang="en-US" dirty="0"/>
              <a:t>These conferences have artifact evaluation appendices:</a:t>
            </a:r>
          </a:p>
          <a:p>
            <a:pPr lvl="1"/>
            <a:r>
              <a:rPr lang="en-US" dirty="0"/>
              <a:t>CGO, </a:t>
            </a:r>
            <a:r>
              <a:rPr lang="en-US" dirty="0" err="1"/>
              <a:t>PPoPP</a:t>
            </a:r>
            <a:r>
              <a:rPr lang="en-US" dirty="0"/>
              <a:t>, PACT, RTSS and SC</a:t>
            </a:r>
          </a:p>
          <a:p>
            <a:pPr lvl="1"/>
            <a:r>
              <a:rPr lang="en-US" dirty="0">
                <a:hlinkClick r:id="rId4"/>
              </a:rPr>
              <a:t>http://fursin.net/reproducibility.html</a:t>
            </a:r>
            <a:endParaRPr lang="en-US" dirty="0"/>
          </a:p>
          <a:p>
            <a:r>
              <a:rPr lang="en-US" dirty="0"/>
              <a:t>NISO Committee on Reproducibility and Badging</a:t>
            </a:r>
          </a:p>
          <a:p>
            <a:pPr lvl="1"/>
            <a:r>
              <a:rPr lang="en-US" dirty="0">
                <a:hlinkClick r:id="rId5"/>
              </a:rPr>
              <a:t>https://www.niso.org/niso-io/2019/01/new-niso-project-badging-scheme-reproducibility-computational-and-computing</a:t>
            </a:r>
            <a:r>
              <a:rPr lang="en-US" dirty="0"/>
              <a:t> </a:t>
            </a:r>
          </a:p>
          <a:p>
            <a:pPr lvl="1"/>
            <a:r>
              <a:rPr lang="en-US" dirty="0"/>
              <a:t>Publishers: ACM, IEEE, </a:t>
            </a:r>
            <a:r>
              <a:rPr lang="en-US" dirty="0" err="1"/>
              <a:t>figshare</a:t>
            </a:r>
            <a:r>
              <a:rPr lang="en-US" dirty="0"/>
              <a:t>, STM, Reed Elsevier, Springer Nature</a:t>
            </a:r>
          </a:p>
        </p:txBody>
      </p:sp>
    </p:spTree>
    <p:extLst>
      <p:ext uri="{BB962C8B-B14F-4D97-AF65-F5344CB8AC3E}">
        <p14:creationId xmlns:p14="http://schemas.microsoft.com/office/powerpoint/2010/main" val="2582928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E8855-A57F-4215-A768-115A3708E346}"/>
              </a:ext>
            </a:extLst>
          </p:cNvPr>
          <p:cNvSpPr>
            <a:spLocks noGrp="1"/>
          </p:cNvSpPr>
          <p:nvPr>
            <p:ph type="title"/>
          </p:nvPr>
        </p:nvSpPr>
        <p:spPr>
          <a:xfrm>
            <a:off x="365760" y="411480"/>
            <a:ext cx="7437637" cy="914400"/>
          </a:xfrm>
        </p:spPr>
        <p:txBody>
          <a:bodyPr/>
          <a:lstStyle/>
          <a:p>
            <a:r>
              <a:rPr lang="en-US" dirty="0"/>
              <a:t>Increasing Attention on Reproducibility for Your Own Sake</a:t>
            </a:r>
          </a:p>
        </p:txBody>
      </p:sp>
      <p:sp>
        <p:nvSpPr>
          <p:cNvPr id="3" name="Content Placeholder 2">
            <a:extLst>
              <a:ext uri="{FF2B5EF4-FFF2-40B4-BE49-F238E27FC236}">
                <a16:creationId xmlns:a16="http://schemas.microsoft.com/office/drawing/2014/main" id="{14DD3804-D1BC-40B2-8D0D-D96BD5828410}"/>
              </a:ext>
            </a:extLst>
          </p:cNvPr>
          <p:cNvSpPr>
            <a:spLocks noGrp="1"/>
          </p:cNvSpPr>
          <p:nvPr>
            <p:ph idx="1"/>
          </p:nvPr>
        </p:nvSpPr>
        <p:spPr>
          <a:xfrm>
            <a:off x="365760" y="1272640"/>
            <a:ext cx="8120149" cy="4047778"/>
          </a:xfrm>
        </p:spPr>
        <p:txBody>
          <a:bodyPr/>
          <a:lstStyle/>
          <a:p>
            <a:r>
              <a:rPr lang="en-US" dirty="0"/>
              <a:t>Supercomputer cycles are scarce resources</a:t>
            </a:r>
          </a:p>
          <a:p>
            <a:r>
              <a:rPr lang="en-US" dirty="0"/>
              <a:t>No one wants to spend their precious allocation running simulations two or three times to be confident of the results</a:t>
            </a:r>
          </a:p>
          <a:p>
            <a:pPr lvl="1">
              <a:spcBef>
                <a:spcPts val="200"/>
              </a:spcBef>
            </a:pPr>
            <a:r>
              <a:rPr lang="en-US" dirty="0"/>
              <a:t>Though this ends up happening more than most people admit</a:t>
            </a:r>
          </a:p>
          <a:p>
            <a:pPr lvl="1">
              <a:spcBef>
                <a:spcPts val="200"/>
              </a:spcBef>
            </a:pPr>
            <a:r>
              <a:rPr lang="en-US" dirty="0"/>
              <a:t>And it could still be wrong!</a:t>
            </a:r>
          </a:p>
          <a:p>
            <a:r>
              <a:rPr lang="en-US" dirty="0"/>
              <a:t>But lots of people need to have confidence in your results</a:t>
            </a:r>
          </a:p>
          <a:p>
            <a:pPr lvl="1">
              <a:spcBef>
                <a:spcPts val="200"/>
              </a:spcBef>
            </a:pPr>
            <a:r>
              <a:rPr lang="en-US" dirty="0"/>
              <a:t>You</a:t>
            </a:r>
          </a:p>
          <a:p>
            <a:pPr lvl="1">
              <a:spcBef>
                <a:spcPts val="200"/>
              </a:spcBef>
            </a:pPr>
            <a:r>
              <a:rPr lang="en-US" dirty="0"/>
              <a:t>Your project lead or boss</a:t>
            </a:r>
          </a:p>
          <a:p>
            <a:pPr lvl="1">
              <a:spcBef>
                <a:spcPts val="200"/>
              </a:spcBef>
            </a:pPr>
            <a:r>
              <a:rPr lang="en-US" dirty="0"/>
              <a:t>Your sponsor</a:t>
            </a:r>
          </a:p>
          <a:p>
            <a:pPr lvl="1">
              <a:spcBef>
                <a:spcPts val="200"/>
              </a:spcBef>
            </a:pPr>
            <a:r>
              <a:rPr lang="en-US" dirty="0"/>
              <a:t>Your reviewers or referees</a:t>
            </a:r>
          </a:p>
          <a:p>
            <a:pPr lvl="1">
              <a:spcBef>
                <a:spcPts val="200"/>
              </a:spcBef>
            </a:pPr>
            <a:r>
              <a:rPr lang="en-US" dirty="0"/>
              <a:t>Your readers</a:t>
            </a:r>
          </a:p>
          <a:p>
            <a:r>
              <a:rPr lang="en-US" dirty="0"/>
              <a:t>Need to think about how to build credibility </a:t>
            </a:r>
            <a:r>
              <a:rPr lang="en-US" i="1" dirty="0"/>
              <a:t>without</a:t>
            </a:r>
            <a:r>
              <a:rPr lang="en-US" dirty="0"/>
              <a:t> repeating runs</a:t>
            </a:r>
          </a:p>
        </p:txBody>
      </p:sp>
      <p:pic>
        <p:nvPicPr>
          <p:cNvPr id="4" name="Picture 4" descr="Image result for olcf frontier images">
            <a:extLst>
              <a:ext uri="{FF2B5EF4-FFF2-40B4-BE49-F238E27FC236}">
                <a16:creationId xmlns:a16="http://schemas.microsoft.com/office/drawing/2014/main" id="{99122304-45CB-4B98-BF7B-424A418D269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8312" y="544297"/>
            <a:ext cx="3707315" cy="16113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246831D-1821-B341-A5F6-08DB7D69F54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738" b="89888" l="3789" r="94737">
                        <a14:foregroundMark x1="92211" y1="45693" x2="92211" y2="45693"/>
                        <a14:foregroundMark x1="93053" y1="57303" x2="93053" y2="57303"/>
                        <a14:foregroundMark x1="94737" y1="46067" x2="94737" y2="46067"/>
                        <a14:foregroundMark x1="8632" y1="41948" x2="8632" y2="41948"/>
                        <a14:foregroundMark x1="3789" y1="45318" x2="3789" y2="45318"/>
                        <a14:backgroundMark x1="1053" y1="26966" x2="1053" y2="26966"/>
                      </a14:backgroundRemoval>
                    </a14:imgEffect>
                  </a14:imgLayer>
                </a14:imgProps>
              </a:ext>
            </a:extLst>
          </a:blip>
          <a:stretch>
            <a:fillRect/>
          </a:stretch>
        </p:blipFill>
        <p:spPr>
          <a:xfrm>
            <a:off x="8295114" y="2087803"/>
            <a:ext cx="3893711" cy="2187478"/>
          </a:xfrm>
          <a:prstGeom prst="rect">
            <a:avLst/>
          </a:prstGeom>
          <a:ln w="25400" cap="sq">
            <a:noFill/>
            <a:prstDash val="solid"/>
            <a:miter lim="800000"/>
          </a:ln>
          <a:effectLst/>
        </p:spPr>
      </p:pic>
      <p:pic>
        <p:nvPicPr>
          <p:cNvPr id="8" name="Google Shape;533;p12">
            <a:extLst>
              <a:ext uri="{FF2B5EF4-FFF2-40B4-BE49-F238E27FC236}">
                <a16:creationId xmlns:a16="http://schemas.microsoft.com/office/drawing/2014/main" id="{2B4AEA49-ED44-C44E-A328-743CC74885E4}"/>
              </a:ext>
            </a:extLst>
          </p:cNvPr>
          <p:cNvPicPr preferRelativeResize="0"/>
          <p:nvPr/>
        </p:nvPicPr>
        <p:blipFill rotWithShape="1">
          <a:blip r:embed="rId5">
            <a:alphaModFix/>
            <a:extLst>
              <a:ext uri="{BEBA8EAE-BF5A-486C-A8C5-ECC9F3942E4B}">
                <a14:imgProps xmlns:a14="http://schemas.microsoft.com/office/drawing/2010/main">
                  <a14:imgLayer r:embed="rId6">
                    <a14:imgEffect>
                      <a14:backgroundRemoval t="297" b="98665" l="4092" r="91162">
                        <a14:foregroundMark x1="20458" y1="5490" x2="20458" y2="5490"/>
                        <a14:foregroundMark x1="14566" y1="4599" x2="14566" y2="4599"/>
                        <a14:foregroundMark x1="80360" y1="3561" x2="80360" y2="3561"/>
                        <a14:foregroundMark x1="79869" y1="4154" x2="79869" y2="4154"/>
                        <a14:foregroundMark x1="82488" y1="4154" x2="25696" y2="2671"/>
                        <a14:foregroundMark x1="25696" y1="2671" x2="11293" y2="297"/>
                        <a14:foregroundMark x1="86907" y1="12315" x2="81997" y2="17211"/>
                        <a14:foregroundMark x1="87398" y1="13353" x2="90016" y2="15727"/>
                        <a14:foregroundMark x1="53355" y1="52522" x2="57610" y2="75816"/>
                        <a14:foregroundMark x1="57610" y1="75816" x2="56628" y2="51039"/>
                        <a14:foregroundMark x1="56628" y1="51039" x2="72340" y2="70772"/>
                        <a14:foregroundMark x1="72340" y1="70772" x2="74304" y2="42582"/>
                        <a14:foregroundMark x1="74304" y1="42582" x2="76105" y2="71365"/>
                        <a14:foregroundMark x1="65794" y1="48516" x2="73322" y2="41395"/>
                        <a14:foregroundMark x1="71686" y1="99852" x2="53355" y2="85163"/>
                        <a14:foregroundMark x1="53355" y1="85163" x2="45336" y2="98813"/>
                        <a14:foregroundMark x1="7740" y1="4424" x2="8020" y2="1632"/>
                        <a14:foregroundMark x1="7369" y1="8123" x2="7726" y2="4567"/>
                        <a14:foregroundMark x1="7038" y1="11424" x2="7222" y2="9589"/>
                        <a14:foregroundMark x1="4868" y1="6083" x2="5401" y2="3116"/>
                        <a14:foregroundMark x1="4601" y1="7567" x2="4868" y2="6083"/>
                        <a14:foregroundMark x1="4255" y1="9496" x2="4601" y2="7567"/>
                        <a14:foregroundMark x1="91162" y1="12760" x2="82488" y2="16617"/>
                        <a14:foregroundMark x1="91162" y1="12760" x2="90671" y2="742"/>
                        <a14:foregroundMark x1="4910" y1="12760" x2="4255" y2="6528"/>
                        <a14:backgroundMark x1="3273" y1="6083" x2="3273" y2="6083"/>
                        <a14:backgroundMark x1="3405" y1="4180" x2="5401" y2="3116"/>
                        <a14:backgroundMark x1="2619" y1="4599" x2="3393" y2="4186"/>
                        <a14:backgroundMark x1="5326" y1="10853" x2="7038" y2="9941"/>
                        <a14:backgroundMark x1="4255" y1="11424" x2="4399" y2="11347"/>
                        <a14:backgroundMark x1="4255" y1="7567" x2="4255" y2="7567"/>
                        <a14:backgroundMark x1="5892" y1="7567" x2="6547" y2="6973"/>
                      </a14:backgroundRemoval>
                    </a14:imgEffect>
                  </a14:imgLayer>
                </a14:imgProps>
              </a:ext>
            </a:extLst>
          </a:blip>
          <a:srcRect/>
          <a:stretch/>
        </p:blipFill>
        <p:spPr>
          <a:xfrm>
            <a:off x="9325656" y="4029739"/>
            <a:ext cx="1832627" cy="2023819"/>
          </a:xfrm>
          <a:prstGeom prst="rect">
            <a:avLst/>
          </a:prstGeom>
          <a:noFill/>
          <a:ln>
            <a:noFill/>
          </a:ln>
        </p:spPr>
      </p:pic>
    </p:spTree>
    <p:extLst>
      <p:ext uri="{BB962C8B-B14F-4D97-AF65-F5344CB8AC3E}">
        <p14:creationId xmlns:p14="http://schemas.microsoft.com/office/powerpoint/2010/main" val="3773718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013D42-1E32-4360-831C-476DFE27273F}"/>
              </a:ext>
            </a:extLst>
          </p:cNvPr>
          <p:cNvSpPr>
            <a:spLocks noGrp="1"/>
          </p:cNvSpPr>
          <p:nvPr>
            <p:ph type="title"/>
          </p:nvPr>
        </p:nvSpPr>
        <p:spPr/>
        <p:txBody>
          <a:bodyPr/>
          <a:lstStyle/>
          <a:p>
            <a:r>
              <a:rPr lang="en-US" dirty="0"/>
              <a:t>How to Improve Reproducibility</a:t>
            </a:r>
          </a:p>
        </p:txBody>
      </p:sp>
      <p:pic>
        <p:nvPicPr>
          <p:cNvPr id="7" name="Picture 6" descr="A digital balance scale using circles">
            <a:extLst>
              <a:ext uri="{FF2B5EF4-FFF2-40B4-BE49-F238E27FC236}">
                <a16:creationId xmlns:a16="http://schemas.microsoft.com/office/drawing/2014/main" id="{A0D14AA7-B582-622A-F3AA-5ECFFF1B52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08212" y="1195754"/>
            <a:ext cx="7772400" cy="4699456"/>
          </a:xfrm>
          <a:prstGeom prst="rect">
            <a:avLst/>
          </a:prstGeom>
        </p:spPr>
      </p:pic>
    </p:spTree>
    <p:extLst>
      <p:ext uri="{BB962C8B-B14F-4D97-AF65-F5344CB8AC3E}">
        <p14:creationId xmlns:p14="http://schemas.microsoft.com/office/powerpoint/2010/main" val="1565356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E5AE6-BAC5-4D3D-B274-228B336C1693}"/>
              </a:ext>
            </a:extLst>
          </p:cNvPr>
          <p:cNvSpPr>
            <a:spLocks noGrp="1"/>
          </p:cNvSpPr>
          <p:nvPr>
            <p:ph type="title"/>
          </p:nvPr>
        </p:nvSpPr>
        <p:spPr>
          <a:xfrm>
            <a:off x="365760" y="411480"/>
            <a:ext cx="11438994" cy="914400"/>
          </a:xfrm>
        </p:spPr>
        <p:txBody>
          <a:bodyPr/>
          <a:lstStyle/>
          <a:p>
            <a:r>
              <a:rPr lang="en-US" dirty="0"/>
              <a:t>Strategies for Improving Reproducibility </a:t>
            </a:r>
            <a:r>
              <a:rPr lang="en-US" i="1" u="sng" dirty="0"/>
              <a:t>During</a:t>
            </a:r>
            <a:r>
              <a:rPr lang="en-US" u="sng" dirty="0"/>
              <a:t> Development</a:t>
            </a:r>
            <a:r>
              <a:rPr lang="en-US" dirty="0"/>
              <a:t> (1/3)</a:t>
            </a:r>
          </a:p>
        </p:txBody>
      </p:sp>
      <p:sp>
        <p:nvSpPr>
          <p:cNvPr id="3" name="Content Placeholder 2">
            <a:extLst>
              <a:ext uri="{FF2B5EF4-FFF2-40B4-BE49-F238E27FC236}">
                <a16:creationId xmlns:a16="http://schemas.microsoft.com/office/drawing/2014/main" id="{7E3F8F1F-5081-4F6E-81DA-DC14088609D1}"/>
              </a:ext>
            </a:extLst>
          </p:cNvPr>
          <p:cNvSpPr>
            <a:spLocks noGrp="1"/>
          </p:cNvSpPr>
          <p:nvPr>
            <p:ph idx="1"/>
          </p:nvPr>
        </p:nvSpPr>
        <p:spPr>
          <a:xfrm>
            <a:off x="365760" y="1445055"/>
            <a:ext cx="11369809" cy="4047778"/>
          </a:xfrm>
        </p:spPr>
        <p:txBody>
          <a:bodyPr/>
          <a:lstStyle/>
          <a:p>
            <a:r>
              <a:rPr lang="en-US" b="1" dirty="0">
                <a:solidFill>
                  <a:schemeClr val="tx2"/>
                </a:solidFill>
              </a:rPr>
              <a:t>Solid versioning practices are fundamental to reproducibility</a:t>
            </a:r>
          </a:p>
          <a:p>
            <a:r>
              <a:rPr lang="en-US" dirty="0"/>
              <a:t>Version control of code, documentation, and other artifacts</a:t>
            </a:r>
          </a:p>
          <a:p>
            <a:pPr lvl="1"/>
            <a:r>
              <a:rPr lang="en-US" dirty="0"/>
              <a:t>Frequent commits (perhaps to a separate development branch) </a:t>
            </a:r>
          </a:p>
          <a:p>
            <a:r>
              <a:rPr lang="en-US" dirty="0"/>
              <a:t>Provide versioning information in key output(s)</a:t>
            </a:r>
          </a:p>
          <a:p>
            <a:pPr lvl="1"/>
            <a:r>
              <a:rPr lang="en-US" dirty="0"/>
              <a:t>Version numbers (i.e., semantic versioning) are useful, but when do you increment them?</a:t>
            </a:r>
          </a:p>
          <a:p>
            <a:pPr lvl="1"/>
            <a:r>
              <a:rPr lang="en-US" dirty="0"/>
              <a:t>Automatic identifiers (i.e., git commit hash) are less ambiguous, but may not be as meaningful</a:t>
            </a:r>
          </a:p>
          <a:p>
            <a:pPr lvl="1"/>
            <a:r>
              <a:rPr lang="en-US" dirty="0"/>
              <a:t>Is the code you’re building modified from the version in the repository? </a:t>
            </a:r>
            <a:r>
              <a:rPr lang="en-US" i="1" dirty="0"/>
              <a:t>(Not often done in practice)</a:t>
            </a:r>
          </a:p>
          <a:p>
            <a:r>
              <a:rPr lang="en-US" dirty="0"/>
              <a:t>Maintaining documentation (and other artifacts) in sync with code</a:t>
            </a:r>
          </a:p>
          <a:p>
            <a:pPr lvl="1"/>
            <a:r>
              <a:rPr lang="en-US" dirty="0"/>
              <a:t>You’ll forget</a:t>
            </a:r>
          </a:p>
          <a:p>
            <a:pPr lvl="1"/>
            <a:r>
              <a:rPr lang="en-US" dirty="0"/>
              <a:t>Or you won’t have (make) time to go back to it</a:t>
            </a:r>
          </a:p>
        </p:txBody>
      </p:sp>
    </p:spTree>
    <p:extLst>
      <p:ext uri="{BB962C8B-B14F-4D97-AF65-F5344CB8AC3E}">
        <p14:creationId xmlns:p14="http://schemas.microsoft.com/office/powerpoint/2010/main" val="3111611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E5AE6-BAC5-4D3D-B274-228B336C1693}"/>
              </a:ext>
            </a:extLst>
          </p:cNvPr>
          <p:cNvSpPr>
            <a:spLocks noGrp="1"/>
          </p:cNvSpPr>
          <p:nvPr>
            <p:ph type="title"/>
          </p:nvPr>
        </p:nvSpPr>
        <p:spPr>
          <a:xfrm>
            <a:off x="365760" y="411480"/>
            <a:ext cx="11457305" cy="914400"/>
          </a:xfrm>
        </p:spPr>
        <p:txBody>
          <a:bodyPr/>
          <a:lstStyle/>
          <a:p>
            <a:r>
              <a:rPr lang="en-US" dirty="0"/>
              <a:t>Strategies for Improving Reproducibility </a:t>
            </a:r>
            <a:r>
              <a:rPr lang="en-US" i="1" u="sng" dirty="0"/>
              <a:t>During</a:t>
            </a:r>
            <a:r>
              <a:rPr lang="en-US" u="sng" dirty="0"/>
              <a:t> Development</a:t>
            </a:r>
            <a:r>
              <a:rPr lang="en-US" dirty="0"/>
              <a:t> (2/3)</a:t>
            </a:r>
          </a:p>
        </p:txBody>
      </p:sp>
      <p:sp>
        <p:nvSpPr>
          <p:cNvPr id="3" name="Content Placeholder 2">
            <a:extLst>
              <a:ext uri="{FF2B5EF4-FFF2-40B4-BE49-F238E27FC236}">
                <a16:creationId xmlns:a16="http://schemas.microsoft.com/office/drawing/2014/main" id="{7E3F8F1F-5081-4F6E-81DA-DC14088609D1}"/>
              </a:ext>
            </a:extLst>
          </p:cNvPr>
          <p:cNvSpPr>
            <a:spLocks noGrp="1"/>
          </p:cNvSpPr>
          <p:nvPr>
            <p:ph idx="1"/>
          </p:nvPr>
        </p:nvSpPr>
        <p:spPr>
          <a:xfrm>
            <a:off x="365760" y="995355"/>
            <a:ext cx="11369809" cy="4047778"/>
          </a:xfrm>
        </p:spPr>
        <p:txBody>
          <a:bodyPr/>
          <a:lstStyle/>
          <a:p>
            <a:r>
              <a:rPr lang="en-US" b="1" dirty="0">
                <a:solidFill>
                  <a:schemeClr val="tx2"/>
                </a:solidFill>
              </a:rPr>
              <a:t>Build in quality from the start</a:t>
            </a:r>
          </a:p>
          <a:p>
            <a:r>
              <a:rPr lang="en-US" dirty="0"/>
              <a:t>Define and follow coding standards</a:t>
            </a:r>
          </a:p>
          <a:p>
            <a:pPr lvl="1">
              <a:spcBef>
                <a:spcPts val="200"/>
              </a:spcBef>
            </a:pPr>
            <a:r>
              <a:rPr lang="en-US" dirty="0"/>
              <a:t>Not just code style</a:t>
            </a:r>
          </a:p>
          <a:p>
            <a:pPr lvl="1">
              <a:spcBef>
                <a:spcPts val="200"/>
              </a:spcBef>
            </a:pPr>
            <a:r>
              <a:rPr lang="en-US" dirty="0"/>
              <a:t>Expectations for kinds and extent of documentation, types and rigor of tests</a:t>
            </a:r>
          </a:p>
          <a:p>
            <a:r>
              <a:rPr lang="en-US" dirty="0"/>
              <a:t>Develop tests as you code</a:t>
            </a:r>
          </a:p>
          <a:p>
            <a:pPr lvl="1">
              <a:spcBef>
                <a:spcPts val="200"/>
              </a:spcBef>
            </a:pPr>
            <a:r>
              <a:rPr lang="en-US" dirty="0"/>
              <a:t>Write tests while the code is fresh in your mind</a:t>
            </a:r>
          </a:p>
          <a:p>
            <a:pPr lvl="1">
              <a:spcBef>
                <a:spcPts val="200"/>
              </a:spcBef>
            </a:pPr>
            <a:r>
              <a:rPr lang="en-US" dirty="0"/>
              <a:t>Test Driven Development (TDD) means write tests before code, then code to pass the tests</a:t>
            </a:r>
          </a:p>
          <a:p>
            <a:r>
              <a:rPr lang="en-US" dirty="0"/>
              <a:t>Require increasingly rigorous testing as the code becomes more “public”</a:t>
            </a:r>
          </a:p>
          <a:p>
            <a:pPr lvl="1">
              <a:spcBef>
                <a:spcPts val="200"/>
              </a:spcBef>
            </a:pPr>
            <a:r>
              <a:rPr lang="en-US" dirty="0"/>
              <a:t>Testing has costs, need to balance level of risk against cost of creating and executing tests</a:t>
            </a:r>
          </a:p>
          <a:p>
            <a:pPr lvl="1">
              <a:spcBef>
                <a:spcPts val="200"/>
              </a:spcBef>
            </a:pPr>
            <a:r>
              <a:rPr lang="en-US" dirty="0"/>
              <a:t>Also think about frequency of tests at different levels of cost (c.f. continuous integration)</a:t>
            </a:r>
          </a:p>
          <a:p>
            <a:r>
              <a:rPr lang="en-US" dirty="0"/>
              <a:t>Practice peer code review</a:t>
            </a:r>
          </a:p>
          <a:p>
            <a:pPr lvl="1">
              <a:spcBef>
                <a:spcPts val="200"/>
              </a:spcBef>
            </a:pPr>
            <a:r>
              <a:rPr lang="en-US" dirty="0"/>
              <a:t>Per commit – should meet standards, </a:t>
            </a:r>
            <a:r>
              <a:rPr lang="en-US" i="1" dirty="0"/>
              <a:t>and</a:t>
            </a:r>
            <a:r>
              <a:rPr lang="en-US" dirty="0"/>
              <a:t> be understood and judged correct by reviewer</a:t>
            </a:r>
          </a:p>
          <a:p>
            <a:pPr lvl="1">
              <a:spcBef>
                <a:spcPts val="200"/>
              </a:spcBef>
            </a:pPr>
            <a:r>
              <a:rPr lang="en-US" dirty="0"/>
              <a:t>Pair experienced reviewers with less experienced coders to help ensure quality</a:t>
            </a:r>
          </a:p>
          <a:p>
            <a:pPr lvl="1">
              <a:spcBef>
                <a:spcPts val="200"/>
              </a:spcBef>
            </a:pPr>
            <a:r>
              <a:rPr lang="en-US" dirty="0"/>
              <a:t>Retrospective if you have a lot of existing unreviewed code</a:t>
            </a:r>
          </a:p>
        </p:txBody>
      </p:sp>
    </p:spTree>
    <p:extLst>
      <p:ext uri="{BB962C8B-B14F-4D97-AF65-F5344CB8AC3E}">
        <p14:creationId xmlns:p14="http://schemas.microsoft.com/office/powerpoint/2010/main" val="173528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E5AE6-BAC5-4D3D-B274-228B336C1693}"/>
              </a:ext>
            </a:extLst>
          </p:cNvPr>
          <p:cNvSpPr>
            <a:spLocks noGrp="1"/>
          </p:cNvSpPr>
          <p:nvPr>
            <p:ph type="title"/>
          </p:nvPr>
        </p:nvSpPr>
        <p:spPr>
          <a:xfrm>
            <a:off x="365760" y="411480"/>
            <a:ext cx="11457305" cy="914400"/>
          </a:xfrm>
        </p:spPr>
        <p:txBody>
          <a:bodyPr/>
          <a:lstStyle/>
          <a:p>
            <a:r>
              <a:rPr lang="en-US" dirty="0"/>
              <a:t>Strategies for Improving Reproducibility </a:t>
            </a:r>
            <a:r>
              <a:rPr lang="en-US" i="1" u="sng" dirty="0"/>
              <a:t>During</a:t>
            </a:r>
            <a:r>
              <a:rPr lang="en-US" u="sng" dirty="0"/>
              <a:t> Development</a:t>
            </a:r>
            <a:r>
              <a:rPr lang="en-US" dirty="0"/>
              <a:t> (3/3)</a:t>
            </a:r>
          </a:p>
        </p:txBody>
      </p:sp>
      <p:sp>
        <p:nvSpPr>
          <p:cNvPr id="3" name="Content Placeholder 2">
            <a:extLst>
              <a:ext uri="{FF2B5EF4-FFF2-40B4-BE49-F238E27FC236}">
                <a16:creationId xmlns:a16="http://schemas.microsoft.com/office/drawing/2014/main" id="{7E3F8F1F-5081-4F6E-81DA-DC14088609D1}"/>
              </a:ext>
            </a:extLst>
          </p:cNvPr>
          <p:cNvSpPr>
            <a:spLocks noGrp="1"/>
          </p:cNvSpPr>
          <p:nvPr>
            <p:ph idx="1"/>
          </p:nvPr>
        </p:nvSpPr>
        <p:spPr>
          <a:xfrm>
            <a:off x="365760" y="995355"/>
            <a:ext cx="11369809" cy="4047778"/>
          </a:xfrm>
        </p:spPr>
        <p:txBody>
          <a:bodyPr/>
          <a:lstStyle/>
          <a:p>
            <a:r>
              <a:rPr lang="en-US" b="1" dirty="0">
                <a:solidFill>
                  <a:schemeClr val="tx2"/>
                </a:solidFill>
              </a:rPr>
              <a:t>Understand the </a:t>
            </a:r>
            <a:r>
              <a:rPr lang="en-US" b="1" dirty="0" err="1">
                <a:solidFill>
                  <a:schemeClr val="tx2"/>
                </a:solidFill>
              </a:rPr>
              <a:t>numerics</a:t>
            </a:r>
            <a:r>
              <a:rPr lang="en-US" b="1" dirty="0">
                <a:solidFill>
                  <a:schemeClr val="tx2"/>
                </a:solidFill>
              </a:rPr>
              <a:t> of your code</a:t>
            </a:r>
          </a:p>
          <a:p>
            <a:pPr>
              <a:spcBef>
                <a:spcPts val="800"/>
              </a:spcBef>
            </a:pPr>
            <a:r>
              <a:rPr lang="en-US" dirty="0"/>
              <a:t>Floating point numbers are just approximations to real numbers</a:t>
            </a:r>
          </a:p>
          <a:p>
            <a:pPr lvl="1">
              <a:spcBef>
                <a:spcPts val="200"/>
              </a:spcBef>
            </a:pPr>
            <a:r>
              <a:rPr lang="en-US" dirty="0"/>
              <a:t>Many numerical methods have “quirks” too</a:t>
            </a:r>
          </a:p>
          <a:p>
            <a:pPr>
              <a:spcBef>
                <a:spcPts val="800"/>
              </a:spcBef>
            </a:pPr>
            <a:r>
              <a:rPr lang="en-US" dirty="0"/>
              <a:t>If you’re using reduced- or mixed-precision computations, carefully compare with full-precision versions</a:t>
            </a:r>
          </a:p>
          <a:p>
            <a:pPr lvl="1">
              <a:spcBef>
                <a:spcPts val="200"/>
              </a:spcBef>
            </a:pPr>
            <a:r>
              <a:rPr lang="en-US" dirty="0"/>
              <a:t>On paper during development of the algorithms</a:t>
            </a:r>
          </a:p>
          <a:p>
            <a:pPr lvl="1">
              <a:spcBef>
                <a:spcPts val="200"/>
              </a:spcBef>
            </a:pPr>
            <a:r>
              <a:rPr lang="en-US" dirty="0"/>
              <a:t>Maybe provide an alternative full-precision computational path </a:t>
            </a:r>
          </a:p>
          <a:p>
            <a:pPr>
              <a:spcBef>
                <a:spcPts val="800"/>
              </a:spcBef>
            </a:pPr>
            <a:r>
              <a:rPr lang="en-US" dirty="0"/>
              <a:t>Consider the possible effects of non-determinism due to concurrency</a:t>
            </a:r>
          </a:p>
          <a:p>
            <a:pPr lvl="1">
              <a:spcBef>
                <a:spcPts val="200"/>
              </a:spcBef>
            </a:pPr>
            <a:r>
              <a:rPr lang="en-US" dirty="0"/>
              <a:t>Floating point calculations done in different order may yield different results</a:t>
            </a:r>
          </a:p>
          <a:p>
            <a:pPr lvl="1">
              <a:spcBef>
                <a:spcPts val="200"/>
              </a:spcBef>
            </a:pPr>
            <a:r>
              <a:rPr lang="en-US" dirty="0"/>
              <a:t>Maybe useful to have an option to force deterministic computation</a:t>
            </a:r>
          </a:p>
          <a:p>
            <a:pPr lvl="1">
              <a:spcBef>
                <a:spcPts val="200"/>
              </a:spcBef>
            </a:pPr>
            <a:r>
              <a:rPr lang="en-US" dirty="0"/>
              <a:t>Look for testing/verification methods that don’t depend on bitwise reproducibility</a:t>
            </a:r>
          </a:p>
          <a:p>
            <a:pPr>
              <a:spcBef>
                <a:spcPts val="800"/>
              </a:spcBef>
            </a:pPr>
            <a:r>
              <a:rPr lang="en-US" dirty="0"/>
              <a:t>Know your error bounds and develop tests against them</a:t>
            </a:r>
          </a:p>
          <a:p>
            <a:pPr lvl="1">
              <a:spcBef>
                <a:spcPts val="200"/>
              </a:spcBef>
            </a:pPr>
            <a:r>
              <a:rPr lang="en-US" dirty="0"/>
              <a:t>E.g., conservation rules apply to many physical quantities</a:t>
            </a:r>
          </a:p>
          <a:p>
            <a:pPr>
              <a:spcBef>
                <a:spcPts val="800"/>
              </a:spcBef>
            </a:pPr>
            <a:r>
              <a:rPr lang="en-US" dirty="0"/>
              <a:t>Consider consulting subject matter experts for help</a:t>
            </a:r>
          </a:p>
        </p:txBody>
      </p:sp>
    </p:spTree>
    <p:extLst>
      <p:ext uri="{BB962C8B-B14F-4D97-AF65-F5344CB8AC3E}">
        <p14:creationId xmlns:p14="http://schemas.microsoft.com/office/powerpoint/2010/main" val="1926442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E5AE6-BAC5-4D3D-B274-228B336C1693}"/>
              </a:ext>
            </a:extLst>
          </p:cNvPr>
          <p:cNvSpPr>
            <a:spLocks noGrp="1"/>
          </p:cNvSpPr>
          <p:nvPr>
            <p:ph type="title"/>
          </p:nvPr>
        </p:nvSpPr>
        <p:spPr/>
        <p:txBody>
          <a:bodyPr/>
          <a:lstStyle/>
          <a:p>
            <a:r>
              <a:rPr lang="en-US" dirty="0"/>
              <a:t>Strategies for Improving Reproducibility </a:t>
            </a:r>
            <a:r>
              <a:rPr lang="en-US" i="1" u="sng" dirty="0"/>
              <a:t>After</a:t>
            </a:r>
            <a:r>
              <a:rPr lang="en-US" u="sng" dirty="0"/>
              <a:t> Development</a:t>
            </a:r>
          </a:p>
        </p:txBody>
      </p:sp>
      <p:sp>
        <p:nvSpPr>
          <p:cNvPr id="3" name="Content Placeholder 2">
            <a:extLst>
              <a:ext uri="{FF2B5EF4-FFF2-40B4-BE49-F238E27FC236}">
                <a16:creationId xmlns:a16="http://schemas.microsoft.com/office/drawing/2014/main" id="{7E3F8F1F-5081-4F6E-81DA-DC14088609D1}"/>
              </a:ext>
            </a:extLst>
          </p:cNvPr>
          <p:cNvSpPr>
            <a:spLocks noGrp="1"/>
          </p:cNvSpPr>
          <p:nvPr>
            <p:ph sz="half" idx="2"/>
          </p:nvPr>
        </p:nvSpPr>
        <p:spPr>
          <a:xfrm>
            <a:off x="457200" y="1114436"/>
            <a:ext cx="5588582" cy="3373229"/>
          </a:xfrm>
          <a:ln>
            <a:noFill/>
          </a:ln>
        </p:spPr>
        <p:txBody>
          <a:bodyPr/>
          <a:lstStyle/>
          <a:p>
            <a:r>
              <a:rPr lang="en-US" sz="2000" b="1" dirty="0">
                <a:solidFill>
                  <a:schemeClr val="tx2"/>
                </a:solidFill>
              </a:rPr>
              <a:t>Testing, testing, and more testing!</a:t>
            </a:r>
          </a:p>
          <a:p>
            <a:r>
              <a:rPr lang="en-US" sz="2000" dirty="0"/>
              <a:t>Add “regression tests”</a:t>
            </a:r>
          </a:p>
          <a:p>
            <a:pPr lvl="1">
              <a:spcBef>
                <a:spcPts val="200"/>
              </a:spcBef>
            </a:pPr>
            <a:r>
              <a:rPr lang="en-US" sz="1800" dirty="0"/>
              <a:t>If you fix a bug, add a test to make sure that bug doesn’t creep back in</a:t>
            </a:r>
          </a:p>
          <a:p>
            <a:r>
              <a:rPr lang="en-US" sz="2000" dirty="0"/>
              <a:t>Add more tests</a:t>
            </a:r>
          </a:p>
          <a:p>
            <a:pPr lvl="1">
              <a:spcBef>
                <a:spcPts val="200"/>
              </a:spcBef>
            </a:pPr>
            <a:r>
              <a:rPr lang="en-US" sz="1800" dirty="0"/>
              <a:t>Be creative</a:t>
            </a:r>
          </a:p>
          <a:p>
            <a:pPr lvl="1">
              <a:spcBef>
                <a:spcPts val="200"/>
              </a:spcBef>
            </a:pPr>
            <a:r>
              <a:rPr lang="en-US" sz="1800" dirty="0"/>
              <a:t>Think about common cases, then corner cases</a:t>
            </a:r>
          </a:p>
          <a:p>
            <a:pPr lvl="1">
              <a:spcBef>
                <a:spcPts val="200"/>
              </a:spcBef>
            </a:pPr>
            <a:r>
              <a:rPr lang="en-US" sz="1800" dirty="0"/>
              <a:t>Think about misuse (unintentional or intentional)</a:t>
            </a:r>
          </a:p>
          <a:p>
            <a:pPr lvl="1">
              <a:spcBef>
                <a:spcPts val="200"/>
              </a:spcBef>
            </a:pPr>
            <a:r>
              <a:rPr lang="en-US" sz="1800" dirty="0"/>
              <a:t>Think about synthetic tests with synthetic data</a:t>
            </a:r>
          </a:p>
          <a:p>
            <a:pPr lvl="1">
              <a:spcBef>
                <a:spcPts val="200"/>
              </a:spcBef>
            </a:pPr>
            <a:r>
              <a:rPr lang="en-US" sz="1800" dirty="0"/>
              <a:t>Think about low-cost tests that can be “always on” (even if they’re not so stringent)</a:t>
            </a:r>
          </a:p>
          <a:p>
            <a:pPr lvl="1">
              <a:spcBef>
                <a:spcPts val="200"/>
              </a:spcBef>
            </a:pPr>
            <a:r>
              <a:rPr lang="en-US" sz="1800" dirty="0"/>
              <a:t>Can you detect silent data corruption?</a:t>
            </a:r>
          </a:p>
        </p:txBody>
      </p:sp>
      <p:sp>
        <p:nvSpPr>
          <p:cNvPr id="6" name="Content Placeholder 5">
            <a:extLst>
              <a:ext uri="{FF2B5EF4-FFF2-40B4-BE49-F238E27FC236}">
                <a16:creationId xmlns:a16="http://schemas.microsoft.com/office/drawing/2014/main" id="{A6E0D8FD-9F37-4AB6-A176-A8A84426CC7A}"/>
              </a:ext>
            </a:extLst>
          </p:cNvPr>
          <p:cNvSpPr>
            <a:spLocks noGrp="1"/>
          </p:cNvSpPr>
          <p:nvPr>
            <p:ph sz="quarter" idx="4"/>
          </p:nvPr>
        </p:nvSpPr>
        <p:spPr>
          <a:xfrm>
            <a:off x="6218914" y="1114436"/>
            <a:ext cx="5531934" cy="3373229"/>
          </a:xfrm>
          <a:ln>
            <a:noFill/>
          </a:ln>
        </p:spPr>
        <p:txBody>
          <a:bodyPr/>
          <a:lstStyle/>
          <a:p>
            <a:r>
              <a:rPr lang="en-US" sz="2000" dirty="0"/>
              <a:t>Test your third-party dependencies</a:t>
            </a:r>
          </a:p>
          <a:p>
            <a:pPr lvl="1">
              <a:spcBef>
                <a:spcPts val="200"/>
              </a:spcBef>
            </a:pPr>
            <a:r>
              <a:rPr lang="en-US" dirty="0"/>
              <a:t>Are your tools doing what you think they’re doing?</a:t>
            </a:r>
          </a:p>
          <a:p>
            <a:pPr lvl="1">
              <a:spcBef>
                <a:spcPts val="200"/>
              </a:spcBef>
            </a:pPr>
            <a:r>
              <a:rPr lang="en-US" dirty="0"/>
              <a:t>What if you’re using a new version?</a:t>
            </a:r>
          </a:p>
          <a:p>
            <a:pPr lvl="1">
              <a:spcBef>
                <a:spcPts val="200"/>
              </a:spcBef>
            </a:pPr>
            <a:r>
              <a:rPr lang="en-US" dirty="0"/>
              <a:t>How do you decide if it is okay to upgrade to a new version?</a:t>
            </a:r>
          </a:p>
          <a:p>
            <a:r>
              <a:rPr lang="en-US" sz="2000" dirty="0"/>
              <a:t>Test your tests!</a:t>
            </a:r>
          </a:p>
          <a:p>
            <a:pPr lvl="1">
              <a:spcBef>
                <a:spcPts val="200"/>
              </a:spcBef>
            </a:pPr>
            <a:r>
              <a:rPr lang="en-US" sz="1800" dirty="0"/>
              <a:t>Make sure tests fail when they’re supposed to!</a:t>
            </a:r>
          </a:p>
          <a:p>
            <a:r>
              <a:rPr lang="en-US" sz="2000" dirty="0"/>
              <a:t>Thoroughly verify the code</a:t>
            </a:r>
          </a:p>
          <a:p>
            <a:pPr lvl="1">
              <a:spcBef>
                <a:spcPts val="200"/>
              </a:spcBef>
            </a:pPr>
            <a:r>
              <a:rPr lang="en-US" sz="1800" dirty="0"/>
              <a:t>Does the code do what you intended it to do?</a:t>
            </a:r>
          </a:p>
          <a:p>
            <a:pPr lvl="1">
              <a:spcBef>
                <a:spcPts val="200"/>
              </a:spcBef>
            </a:pPr>
            <a:r>
              <a:rPr lang="en-US" sz="1800" dirty="0"/>
              <a:t>On all relevant platforms (compilers, hardware, etc.)</a:t>
            </a:r>
          </a:p>
          <a:p>
            <a:r>
              <a:rPr lang="en-US" sz="2000" dirty="0"/>
              <a:t>Test regularly</a:t>
            </a:r>
          </a:p>
          <a:p>
            <a:pPr lvl="1">
              <a:spcBef>
                <a:spcPts val="200"/>
              </a:spcBef>
            </a:pPr>
            <a:r>
              <a:rPr lang="en-US" sz="1800" dirty="0"/>
              <a:t>To identify and document where changes to the underlying platform change code behavior/results</a:t>
            </a:r>
          </a:p>
        </p:txBody>
      </p:sp>
    </p:spTree>
    <p:extLst>
      <p:ext uri="{BB962C8B-B14F-4D97-AF65-F5344CB8AC3E}">
        <p14:creationId xmlns:p14="http://schemas.microsoft.com/office/powerpoint/2010/main" val="1426970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B7E71-12B3-4F18-9845-F2C5400A7D80}"/>
              </a:ext>
            </a:extLst>
          </p:cNvPr>
          <p:cNvSpPr>
            <a:spLocks noGrp="1"/>
          </p:cNvSpPr>
          <p:nvPr>
            <p:ph type="title"/>
          </p:nvPr>
        </p:nvSpPr>
        <p:spPr/>
        <p:txBody>
          <a:bodyPr/>
          <a:lstStyle/>
          <a:p>
            <a:r>
              <a:rPr lang="en-US" dirty="0"/>
              <a:t>Digression – “Physics” (or Math)-Based Testing Strategies</a:t>
            </a:r>
          </a:p>
        </p:txBody>
      </p:sp>
      <p:sp>
        <p:nvSpPr>
          <p:cNvPr id="3" name="Content Placeholder 2">
            <a:extLst>
              <a:ext uri="{FF2B5EF4-FFF2-40B4-BE49-F238E27FC236}">
                <a16:creationId xmlns:a16="http://schemas.microsoft.com/office/drawing/2014/main" id="{A5DD7266-4F2C-433C-9206-C4C7FDCEE701}"/>
              </a:ext>
            </a:extLst>
          </p:cNvPr>
          <p:cNvSpPr>
            <a:spLocks noGrp="1"/>
          </p:cNvSpPr>
          <p:nvPr>
            <p:ph idx="1"/>
          </p:nvPr>
        </p:nvSpPr>
        <p:spPr>
          <a:xfrm>
            <a:off x="365760" y="1340125"/>
            <a:ext cx="11369809" cy="4047778"/>
          </a:xfrm>
        </p:spPr>
        <p:txBody>
          <a:bodyPr/>
          <a:lstStyle/>
          <a:p>
            <a:r>
              <a:rPr lang="en-US" b="1" dirty="0">
                <a:solidFill>
                  <a:schemeClr val="tx2"/>
                </a:solidFill>
              </a:rPr>
              <a:t>Use what you know (or can construct) about the model you’re studying to test its implementation</a:t>
            </a:r>
          </a:p>
          <a:p>
            <a:r>
              <a:rPr lang="en-US" dirty="0"/>
              <a:t>Synthetic operators with known properties</a:t>
            </a:r>
          </a:p>
          <a:p>
            <a:pPr lvl="1"/>
            <a:r>
              <a:rPr lang="en-US" dirty="0"/>
              <a:t>Spectrum (huge diagonals)</a:t>
            </a:r>
          </a:p>
          <a:p>
            <a:pPr lvl="1"/>
            <a:r>
              <a:rPr lang="en-US" dirty="0"/>
              <a:t>Rank (by construction)</a:t>
            </a:r>
          </a:p>
          <a:p>
            <a:r>
              <a:rPr lang="en-US" dirty="0"/>
              <a:t>Invariance principles</a:t>
            </a:r>
          </a:p>
          <a:p>
            <a:pPr lvl="1"/>
            <a:r>
              <a:rPr lang="en-US" dirty="0"/>
              <a:t>Translational, rotational, etc.</a:t>
            </a:r>
          </a:p>
          <a:p>
            <a:pPr lvl="1"/>
            <a:r>
              <a:rPr lang="en-US" dirty="0"/>
              <a:t>Physical symmetries</a:t>
            </a:r>
          </a:p>
          <a:p>
            <a:pPr lvl="1"/>
            <a:r>
              <a:rPr lang="en-US" dirty="0"/>
              <a:t>Mathematical symmetries</a:t>
            </a:r>
          </a:p>
          <a:p>
            <a:r>
              <a:rPr lang="en-US" dirty="0"/>
              <a:t>Conservation rules</a:t>
            </a:r>
          </a:p>
          <a:p>
            <a:pPr lvl="1"/>
            <a:r>
              <a:rPr lang="en-US" dirty="0"/>
              <a:t>Fluxes, energy, mass, etc.</a:t>
            </a:r>
          </a:p>
          <a:p>
            <a:r>
              <a:rPr lang="en-US" dirty="0"/>
              <a:t>…</a:t>
            </a:r>
          </a:p>
        </p:txBody>
      </p:sp>
    </p:spTree>
    <p:extLst>
      <p:ext uri="{BB962C8B-B14F-4D97-AF65-F5344CB8AC3E}">
        <p14:creationId xmlns:p14="http://schemas.microsoft.com/office/powerpoint/2010/main" val="507995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B740C-7926-4693-996F-58F53886A80C}"/>
              </a:ext>
            </a:extLst>
          </p:cNvPr>
          <p:cNvSpPr>
            <a:spLocks noGrp="1"/>
          </p:cNvSpPr>
          <p:nvPr>
            <p:ph type="title"/>
          </p:nvPr>
        </p:nvSpPr>
        <p:spPr/>
        <p:txBody>
          <a:bodyPr/>
          <a:lstStyle/>
          <a:p>
            <a:r>
              <a:rPr lang="en-US" dirty="0"/>
              <a:t>Digression – Design by Contract Programming</a:t>
            </a:r>
          </a:p>
        </p:txBody>
      </p:sp>
      <p:sp>
        <p:nvSpPr>
          <p:cNvPr id="3" name="Content Placeholder 2">
            <a:extLst>
              <a:ext uri="{FF2B5EF4-FFF2-40B4-BE49-F238E27FC236}">
                <a16:creationId xmlns:a16="http://schemas.microsoft.com/office/drawing/2014/main" id="{86DB796C-B083-44C4-8467-DE5160CD2C5D}"/>
              </a:ext>
            </a:extLst>
          </p:cNvPr>
          <p:cNvSpPr>
            <a:spLocks noGrp="1"/>
          </p:cNvSpPr>
          <p:nvPr>
            <p:ph idx="1"/>
          </p:nvPr>
        </p:nvSpPr>
        <p:spPr>
          <a:xfrm>
            <a:off x="365760" y="1079194"/>
            <a:ext cx="11369809" cy="4047778"/>
          </a:xfrm>
        </p:spPr>
        <p:txBody>
          <a:bodyPr/>
          <a:lstStyle/>
          <a:p>
            <a:r>
              <a:rPr lang="en-US" b="1" dirty="0">
                <a:solidFill>
                  <a:schemeClr val="tx2"/>
                </a:solidFill>
              </a:rPr>
              <a:t>Building testing into your routines </a:t>
            </a:r>
          </a:p>
          <a:p>
            <a:pPr lvl="1">
              <a:spcBef>
                <a:spcPts val="200"/>
              </a:spcBef>
            </a:pPr>
            <a:r>
              <a:rPr lang="en-US" b="1" dirty="0">
                <a:solidFill>
                  <a:schemeClr val="tx2"/>
                </a:solidFill>
              </a:rPr>
              <a:t>To complement, </a:t>
            </a:r>
            <a:r>
              <a:rPr lang="en-US" b="1" i="1" dirty="0">
                <a:solidFill>
                  <a:schemeClr val="tx2"/>
                </a:solidFill>
              </a:rPr>
              <a:t>not replace</a:t>
            </a:r>
            <a:r>
              <a:rPr lang="en-US" b="1" dirty="0">
                <a:solidFill>
                  <a:schemeClr val="tx2"/>
                </a:solidFill>
              </a:rPr>
              <a:t>, other testing</a:t>
            </a:r>
          </a:p>
          <a:p>
            <a:r>
              <a:rPr lang="en-US" dirty="0"/>
              <a:t>The interface to a routine can be thought of as a contract between </a:t>
            </a:r>
            <a:r>
              <a:rPr lang="en-US" i="1" dirty="0"/>
              <a:t>caller</a:t>
            </a:r>
            <a:r>
              <a:rPr lang="en-US" dirty="0"/>
              <a:t> and the </a:t>
            </a:r>
            <a:r>
              <a:rPr lang="en-US" i="1" dirty="0" err="1"/>
              <a:t>callee</a:t>
            </a:r>
            <a:r>
              <a:rPr lang="en-US" i="1" dirty="0"/>
              <a:t> </a:t>
            </a:r>
            <a:r>
              <a:rPr lang="en-US" dirty="0"/>
              <a:t>(the routine)</a:t>
            </a:r>
          </a:p>
          <a:p>
            <a:pPr lvl="1">
              <a:spcBef>
                <a:spcPts val="200"/>
              </a:spcBef>
            </a:pPr>
            <a:r>
              <a:rPr lang="en-US" dirty="0"/>
              <a:t>What does the routine expect on input?		</a:t>
            </a:r>
            <a:r>
              <a:rPr lang="en-US" b="1" dirty="0"/>
              <a:t>preconditions</a:t>
            </a:r>
          </a:p>
          <a:p>
            <a:pPr lvl="1">
              <a:spcBef>
                <a:spcPts val="200"/>
              </a:spcBef>
            </a:pPr>
            <a:r>
              <a:rPr lang="en-US" dirty="0"/>
              <a:t>What does the routine guarantee at completion?	</a:t>
            </a:r>
            <a:r>
              <a:rPr lang="en-US" b="1" dirty="0"/>
              <a:t>postconditions</a:t>
            </a:r>
          </a:p>
          <a:p>
            <a:pPr lvl="1">
              <a:spcBef>
                <a:spcPts val="200"/>
              </a:spcBef>
            </a:pPr>
            <a:r>
              <a:rPr lang="en-US" dirty="0"/>
              <a:t>What does the routine leave unchanged?		</a:t>
            </a:r>
            <a:r>
              <a:rPr lang="en-US" b="1" dirty="0"/>
              <a:t>invariants</a:t>
            </a:r>
          </a:p>
          <a:p>
            <a:r>
              <a:rPr lang="en-US" dirty="0"/>
              <a:t>Given valid inputs (preconditions satisfied) a routine should guarantee valid outputs (postconditions satisfied, invariants maintained)</a:t>
            </a:r>
          </a:p>
          <a:p>
            <a:pPr lvl="1">
              <a:spcBef>
                <a:spcPts val="200"/>
              </a:spcBef>
            </a:pPr>
            <a:r>
              <a:rPr lang="en-US" dirty="0"/>
              <a:t>If the preconditions are not satisfied, the routine should return an error</a:t>
            </a:r>
          </a:p>
          <a:p>
            <a:pPr lvl="1">
              <a:spcBef>
                <a:spcPts val="200"/>
              </a:spcBef>
            </a:pPr>
            <a:r>
              <a:rPr lang="en-US" dirty="0"/>
              <a:t>Emphasize low-costs tests that can be always-on</a:t>
            </a:r>
          </a:p>
          <a:p>
            <a:pPr lvl="1">
              <a:spcBef>
                <a:spcPts val="200"/>
              </a:spcBef>
            </a:pPr>
            <a:r>
              <a:rPr lang="en-US" dirty="0"/>
              <a:t>May need to be able to switch enforcement of expensive tests on/off (but try not to!)</a:t>
            </a:r>
          </a:p>
          <a:p>
            <a:r>
              <a:rPr lang="en-US" dirty="0"/>
              <a:t>Making the contract explicit facilitates correct use of routines</a:t>
            </a:r>
          </a:p>
          <a:p>
            <a:pPr lvl="1">
              <a:spcBef>
                <a:spcPts val="200"/>
              </a:spcBef>
            </a:pPr>
            <a:r>
              <a:rPr lang="en-US" dirty="0"/>
              <a:t>Especially when routine is reused in another context</a:t>
            </a:r>
          </a:p>
          <a:p>
            <a:pPr lvl="1">
              <a:spcBef>
                <a:spcPts val="200"/>
              </a:spcBef>
            </a:pPr>
            <a:r>
              <a:rPr lang="en-US" dirty="0"/>
              <a:t>Especially by those not intimately familiar with them</a:t>
            </a:r>
          </a:p>
        </p:txBody>
      </p:sp>
    </p:spTree>
    <p:extLst>
      <p:ext uri="{BB962C8B-B14F-4D97-AF65-F5344CB8AC3E}">
        <p14:creationId xmlns:p14="http://schemas.microsoft.com/office/powerpoint/2010/main" val="466741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E5AE6-BAC5-4D3D-B274-228B336C1693}"/>
              </a:ext>
            </a:extLst>
          </p:cNvPr>
          <p:cNvSpPr>
            <a:spLocks noGrp="1"/>
          </p:cNvSpPr>
          <p:nvPr>
            <p:ph type="title"/>
          </p:nvPr>
        </p:nvSpPr>
        <p:spPr/>
        <p:txBody>
          <a:bodyPr/>
          <a:lstStyle/>
          <a:p>
            <a:r>
              <a:rPr lang="en-US" dirty="0"/>
              <a:t>Strategies for Improving Reproducibility by </a:t>
            </a:r>
            <a:r>
              <a:rPr lang="en-US" i="1" u="sng" dirty="0"/>
              <a:t>Planning </a:t>
            </a:r>
            <a:r>
              <a:rPr lang="en-US" u="sng" dirty="0"/>
              <a:t>Experiments</a:t>
            </a:r>
            <a:endParaRPr lang="en-US" dirty="0"/>
          </a:p>
        </p:txBody>
      </p:sp>
      <p:sp>
        <p:nvSpPr>
          <p:cNvPr id="3" name="Content Placeholder 2">
            <a:extLst>
              <a:ext uri="{FF2B5EF4-FFF2-40B4-BE49-F238E27FC236}">
                <a16:creationId xmlns:a16="http://schemas.microsoft.com/office/drawing/2014/main" id="{7E3F8F1F-5081-4F6E-81DA-DC14088609D1}"/>
              </a:ext>
            </a:extLst>
          </p:cNvPr>
          <p:cNvSpPr>
            <a:spLocks noGrp="1"/>
          </p:cNvSpPr>
          <p:nvPr>
            <p:ph idx="1"/>
          </p:nvPr>
        </p:nvSpPr>
        <p:spPr>
          <a:xfrm>
            <a:off x="365760" y="1054305"/>
            <a:ext cx="5264075" cy="5167199"/>
          </a:xfrm>
        </p:spPr>
        <p:txBody>
          <a:bodyPr>
            <a:normAutofit lnSpcReduction="10000"/>
          </a:bodyPr>
          <a:lstStyle/>
          <a:p>
            <a:r>
              <a:rPr lang="en-US" dirty="0"/>
              <a:t>Plan your experiments thoroughly</a:t>
            </a:r>
          </a:p>
          <a:p>
            <a:pPr lvl="1"/>
            <a:r>
              <a:rPr lang="en-US" dirty="0"/>
              <a:t>If you’re in a team, designate </a:t>
            </a:r>
            <a:r>
              <a:rPr lang="en-US" i="1" dirty="0"/>
              <a:t>one</a:t>
            </a:r>
            <a:r>
              <a:rPr lang="en-US" dirty="0"/>
              <a:t> person to coordinate the experimental campaign</a:t>
            </a:r>
          </a:p>
          <a:p>
            <a:pPr lvl="1"/>
            <a:r>
              <a:rPr lang="en-US" dirty="0"/>
              <a:t>Know what you need (in the code, as inputs, as outputs to capture/analyze, etc.)</a:t>
            </a:r>
          </a:p>
          <a:p>
            <a:pPr lvl="1"/>
            <a:r>
              <a:rPr lang="en-US" dirty="0"/>
              <a:t>Know what to expect (in results, performance/cost, etc.)</a:t>
            </a:r>
          </a:p>
          <a:p>
            <a:pPr lvl="1"/>
            <a:r>
              <a:rPr lang="en-US" dirty="0"/>
              <a:t>How will you convince yourself that your results are trustworthy? </a:t>
            </a:r>
          </a:p>
          <a:p>
            <a:r>
              <a:rPr lang="en-US" dirty="0"/>
              <a:t>Develop helpful diagnostics</a:t>
            </a:r>
          </a:p>
          <a:p>
            <a:pPr lvl="1"/>
            <a:r>
              <a:rPr lang="en-US" dirty="0"/>
              <a:t>Low overhead ways of confirming the health of the run</a:t>
            </a:r>
          </a:p>
          <a:p>
            <a:pPr lvl="2"/>
            <a:r>
              <a:rPr lang="en-US" dirty="0"/>
              <a:t>Are conserved quantities conserved?</a:t>
            </a:r>
          </a:p>
          <a:p>
            <a:pPr lvl="2"/>
            <a:r>
              <a:rPr lang="en-US" dirty="0"/>
              <a:t>Has any quantity become unphysical?</a:t>
            </a:r>
          </a:p>
          <a:p>
            <a:endParaRPr lang="en-US" dirty="0"/>
          </a:p>
        </p:txBody>
      </p:sp>
      <p:sp>
        <p:nvSpPr>
          <p:cNvPr id="4" name="Content Placeholder 2">
            <a:extLst>
              <a:ext uri="{FF2B5EF4-FFF2-40B4-BE49-F238E27FC236}">
                <a16:creationId xmlns:a16="http://schemas.microsoft.com/office/drawing/2014/main" id="{1BA6B439-E2F8-DEC8-CB21-73DB184655B1}"/>
              </a:ext>
            </a:extLst>
          </p:cNvPr>
          <p:cNvSpPr txBox="1">
            <a:spLocks/>
          </p:cNvSpPr>
          <p:nvPr/>
        </p:nvSpPr>
        <p:spPr bwMode="auto">
          <a:xfrm>
            <a:off x="5814920" y="670140"/>
            <a:ext cx="6257364" cy="51671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92500" lnSpcReduction="100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chemeClr val="tx1"/>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dirty="0"/>
          </a:p>
          <a:p>
            <a:r>
              <a:rPr lang="en-US" dirty="0"/>
              <a:t>Develop hierarchy of analysis</a:t>
            </a:r>
          </a:p>
          <a:p>
            <a:pPr lvl="1"/>
            <a:r>
              <a:rPr lang="en-US" dirty="0"/>
              <a:t>Full analysis of runs is often not feasible while simulations are running</a:t>
            </a:r>
          </a:p>
          <a:p>
            <a:pPr lvl="1"/>
            <a:r>
              <a:rPr lang="en-US" dirty="0"/>
              <a:t>Intermediate level analysis can give further insight into health of the simulation</a:t>
            </a:r>
          </a:p>
          <a:p>
            <a:r>
              <a:rPr lang="en-US" dirty="0"/>
              <a:t>Perform pilot/test runs to build confidence in correctness, performance, scaling</a:t>
            </a:r>
          </a:p>
          <a:p>
            <a:pPr lvl="1"/>
            <a:r>
              <a:rPr lang="en-US" dirty="0"/>
              <a:t>Often useful to pursue an incremental/layered strategy</a:t>
            </a:r>
          </a:p>
          <a:p>
            <a:r>
              <a:rPr lang="en-US" dirty="0"/>
              <a:t>Ensure that you have the resources to store and/or analyze the outputs</a:t>
            </a:r>
          </a:p>
          <a:p>
            <a:pPr lvl="1"/>
            <a:r>
              <a:rPr lang="en-US" dirty="0"/>
              <a:t>What can you afford to archive?</a:t>
            </a:r>
          </a:p>
          <a:p>
            <a:pPr lvl="1"/>
            <a:r>
              <a:rPr lang="en-US" dirty="0"/>
              <a:t>What will you need to process and delete?</a:t>
            </a:r>
          </a:p>
          <a:p>
            <a:pPr lvl="1"/>
            <a:r>
              <a:rPr lang="en-US" dirty="0"/>
              <a:t>What will you need to process during execution or stream?</a:t>
            </a:r>
          </a:p>
        </p:txBody>
      </p:sp>
      <p:sp>
        <p:nvSpPr>
          <p:cNvPr id="6" name="TextBox 5">
            <a:extLst>
              <a:ext uri="{FF2B5EF4-FFF2-40B4-BE49-F238E27FC236}">
                <a16:creationId xmlns:a16="http://schemas.microsoft.com/office/drawing/2014/main" id="{B1DB468B-E655-CC40-E5D7-48510DDFFAD1}"/>
              </a:ext>
            </a:extLst>
          </p:cNvPr>
          <p:cNvSpPr txBox="1"/>
          <p:nvPr/>
        </p:nvSpPr>
        <p:spPr>
          <a:xfrm>
            <a:off x="2538521" y="6157326"/>
            <a:ext cx="7111783" cy="646331"/>
          </a:xfrm>
          <a:prstGeom prst="rect">
            <a:avLst/>
          </a:prstGeom>
          <a:noFill/>
        </p:spPr>
        <p:txBody>
          <a:bodyPr wrap="square">
            <a:spAutoFit/>
          </a:bodyPr>
          <a:lstStyle/>
          <a:p>
            <a:pPr>
              <a:spcBef>
                <a:spcPts val="800"/>
              </a:spcBef>
            </a:pPr>
            <a:r>
              <a:rPr lang="en-US" sz="1800" i="1" dirty="0">
                <a:solidFill>
                  <a:schemeClr val="tx2"/>
                </a:solidFill>
              </a:rPr>
              <a:t>Consider: use a lab notebook to keep track of all this planning: motivation, reasoning and decisions, consequences (more to follow)</a:t>
            </a:r>
          </a:p>
        </p:txBody>
      </p:sp>
    </p:spTree>
    <p:extLst>
      <p:ext uri="{BB962C8B-B14F-4D97-AF65-F5344CB8AC3E}">
        <p14:creationId xmlns:p14="http://schemas.microsoft.com/office/powerpoint/2010/main" val="1657610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E5AE6-BAC5-4D3D-B274-228B336C1693}"/>
              </a:ext>
            </a:extLst>
          </p:cNvPr>
          <p:cNvSpPr>
            <a:spLocks noGrp="1"/>
          </p:cNvSpPr>
          <p:nvPr>
            <p:ph type="title"/>
          </p:nvPr>
        </p:nvSpPr>
        <p:spPr/>
        <p:txBody>
          <a:bodyPr/>
          <a:lstStyle/>
          <a:p>
            <a:r>
              <a:rPr lang="en-US" dirty="0"/>
              <a:t>Strategies for Improving Reproducibility </a:t>
            </a:r>
            <a:r>
              <a:rPr lang="en-US" i="1" u="sng" dirty="0"/>
              <a:t>During</a:t>
            </a:r>
            <a:r>
              <a:rPr lang="en-US" u="sng" dirty="0"/>
              <a:t> Experiments</a:t>
            </a:r>
          </a:p>
        </p:txBody>
      </p:sp>
      <p:sp>
        <p:nvSpPr>
          <p:cNvPr id="3" name="Content Placeholder 2">
            <a:extLst>
              <a:ext uri="{FF2B5EF4-FFF2-40B4-BE49-F238E27FC236}">
                <a16:creationId xmlns:a16="http://schemas.microsoft.com/office/drawing/2014/main" id="{7E3F8F1F-5081-4F6E-81DA-DC14088609D1}"/>
              </a:ext>
            </a:extLst>
          </p:cNvPr>
          <p:cNvSpPr>
            <a:spLocks noGrp="1"/>
          </p:cNvSpPr>
          <p:nvPr>
            <p:ph idx="1"/>
          </p:nvPr>
        </p:nvSpPr>
        <p:spPr>
          <a:xfrm>
            <a:off x="365760" y="993451"/>
            <a:ext cx="11534052" cy="4047778"/>
          </a:xfrm>
        </p:spPr>
        <p:txBody>
          <a:bodyPr/>
          <a:lstStyle/>
          <a:p>
            <a:r>
              <a:rPr lang="en-US" sz="2000" b="1" dirty="0">
                <a:solidFill>
                  <a:schemeClr val="tx2"/>
                </a:solidFill>
              </a:rPr>
              <a:t>Can you reproduce the code used for each and every experiment?</a:t>
            </a:r>
          </a:p>
          <a:p>
            <a:pPr lvl="1">
              <a:spcBef>
                <a:spcPts val="200"/>
              </a:spcBef>
            </a:pPr>
            <a:r>
              <a:rPr lang="en-US" sz="1800" b="1" dirty="0">
                <a:solidFill>
                  <a:schemeClr val="tx2"/>
                </a:solidFill>
              </a:rPr>
              <a:t>Three years later?</a:t>
            </a:r>
          </a:p>
          <a:p>
            <a:pPr>
              <a:spcBef>
                <a:spcPts val="800"/>
              </a:spcBef>
            </a:pPr>
            <a:r>
              <a:rPr lang="en-US" sz="2000" dirty="0"/>
              <a:t>Use only well-defined versions of code (i.e., official “releases”, tags, etc.)</a:t>
            </a:r>
          </a:p>
          <a:p>
            <a:pPr lvl="1">
              <a:spcBef>
                <a:spcPts val="200"/>
              </a:spcBef>
            </a:pPr>
            <a:r>
              <a:rPr lang="en-US" sz="1800" dirty="0"/>
              <a:t>Separate ongoing development from science campaigns using separate branches</a:t>
            </a:r>
          </a:p>
          <a:p>
            <a:pPr lvl="2">
              <a:spcBef>
                <a:spcPts val="200"/>
              </a:spcBef>
            </a:pPr>
            <a:r>
              <a:rPr lang="en-US" sz="1600" dirty="0"/>
              <a:t>Main or development branches are often moving targets</a:t>
            </a:r>
          </a:p>
          <a:p>
            <a:pPr lvl="1">
              <a:spcBef>
                <a:spcPts val="200"/>
              </a:spcBef>
            </a:pPr>
            <a:r>
              <a:rPr lang="en-US" sz="1800" dirty="0"/>
              <a:t>Capture the exact version of the code used for each experiment</a:t>
            </a:r>
          </a:p>
          <a:p>
            <a:pPr lvl="2">
              <a:spcBef>
                <a:spcPts val="200"/>
              </a:spcBef>
            </a:pPr>
            <a:r>
              <a:rPr lang="en-US" sz="1600" dirty="0"/>
              <a:t>Is the code you’re building exactly what’s in the version control repo?</a:t>
            </a:r>
          </a:p>
          <a:p>
            <a:pPr lvl="1">
              <a:spcBef>
                <a:spcPts val="200"/>
              </a:spcBef>
            </a:pPr>
            <a:r>
              <a:rPr lang="en-US" sz="1800" dirty="0"/>
              <a:t>Don’t change versions during a related series of experiments (unless you have to)</a:t>
            </a:r>
          </a:p>
          <a:p>
            <a:pPr lvl="2">
              <a:spcBef>
                <a:spcPts val="200"/>
              </a:spcBef>
            </a:pPr>
            <a:r>
              <a:rPr lang="en-US" sz="1600" dirty="0"/>
              <a:t>Make changes only to the science branch</a:t>
            </a:r>
          </a:p>
          <a:p>
            <a:pPr lvl="2">
              <a:spcBef>
                <a:spcPts val="200"/>
              </a:spcBef>
            </a:pPr>
            <a:r>
              <a:rPr lang="en-US" sz="1600" dirty="0"/>
              <a:t>Reconcile the science branch changes with the development branch only </a:t>
            </a:r>
            <a:r>
              <a:rPr lang="en-US" sz="1600" i="1" dirty="0"/>
              <a:t>after</a:t>
            </a:r>
            <a:r>
              <a:rPr lang="en-US" sz="1600" dirty="0"/>
              <a:t> the science is done</a:t>
            </a:r>
          </a:p>
          <a:p>
            <a:pPr lvl="1">
              <a:spcBef>
                <a:spcPts val="200"/>
              </a:spcBef>
            </a:pPr>
            <a:r>
              <a:rPr lang="en-US" sz="1800" dirty="0"/>
              <a:t>If you have to change versions, know exactly what changed</a:t>
            </a:r>
          </a:p>
          <a:p>
            <a:pPr lvl="2">
              <a:spcBef>
                <a:spcPts val="200"/>
              </a:spcBef>
            </a:pPr>
            <a:r>
              <a:rPr lang="en-US" sz="1600" dirty="0"/>
              <a:t>Capture the exact version of the code used for </a:t>
            </a:r>
            <a:r>
              <a:rPr lang="en-US" sz="1600" i="1" dirty="0"/>
              <a:t>each experiment</a:t>
            </a:r>
          </a:p>
          <a:p>
            <a:pPr>
              <a:spcBef>
                <a:spcPts val="800"/>
              </a:spcBef>
            </a:pPr>
            <a:r>
              <a:rPr lang="en-US" sz="2000" dirty="0"/>
              <a:t>Use only versions of code that have been thoroughly verified</a:t>
            </a:r>
          </a:p>
          <a:p>
            <a:pPr>
              <a:spcBef>
                <a:spcPts val="800"/>
              </a:spcBef>
            </a:pPr>
            <a:r>
              <a:rPr lang="en-US" sz="2000" dirty="0"/>
              <a:t>Continue to use regular testing to identify changes due to the underlying platform</a:t>
            </a:r>
          </a:p>
          <a:p>
            <a:pPr lvl="1">
              <a:spcBef>
                <a:spcPts val="200"/>
              </a:spcBef>
            </a:pPr>
            <a:r>
              <a:rPr lang="en-US" sz="1800" dirty="0"/>
              <a:t>E.g., compiler release introduces a new optimization that changes numerical results</a:t>
            </a:r>
          </a:p>
          <a:p>
            <a:pPr>
              <a:spcBef>
                <a:spcPts val="800"/>
              </a:spcBef>
            </a:pPr>
            <a:r>
              <a:rPr lang="en-US" sz="2000" dirty="0"/>
              <a:t>Consider capturing version information of key libraries, compilers, and other dependencies used to build code</a:t>
            </a:r>
          </a:p>
          <a:p>
            <a:pPr lvl="1">
              <a:spcBef>
                <a:spcPts val="200"/>
              </a:spcBef>
            </a:pPr>
            <a:r>
              <a:rPr lang="en-US" sz="1800" i="1" dirty="0"/>
              <a:t>Not often done, in practice</a:t>
            </a:r>
          </a:p>
          <a:p>
            <a:pPr>
              <a:spcBef>
                <a:spcPts val="800"/>
              </a:spcBef>
            </a:pPr>
            <a:r>
              <a:rPr lang="en-US" sz="2000" i="1" dirty="0">
                <a:solidFill>
                  <a:schemeClr val="tx2"/>
                </a:solidFill>
              </a:rPr>
              <a:t>Put this info into your lab notebook too!</a:t>
            </a:r>
          </a:p>
        </p:txBody>
      </p:sp>
    </p:spTree>
    <p:extLst>
      <p:ext uri="{BB962C8B-B14F-4D97-AF65-F5344CB8AC3E}">
        <p14:creationId xmlns:p14="http://schemas.microsoft.com/office/powerpoint/2010/main" val="250100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28D69-26F6-5C57-6CEC-39DA8CBA68BD}"/>
              </a:ext>
            </a:extLst>
          </p:cNvPr>
          <p:cNvSpPr>
            <a:spLocks noGrp="1"/>
          </p:cNvSpPr>
          <p:nvPr>
            <p:ph type="title"/>
          </p:nvPr>
        </p:nvSpPr>
        <p:spPr/>
        <p:txBody>
          <a:bodyPr/>
          <a:lstStyle/>
          <a:p>
            <a:r>
              <a:rPr lang="en-US" dirty="0"/>
              <a:t>Conversations with Carlo</a:t>
            </a:r>
          </a:p>
        </p:txBody>
      </p:sp>
      <p:sp>
        <p:nvSpPr>
          <p:cNvPr id="3" name="Content Placeholder 2">
            <a:extLst>
              <a:ext uri="{FF2B5EF4-FFF2-40B4-BE49-F238E27FC236}">
                <a16:creationId xmlns:a16="http://schemas.microsoft.com/office/drawing/2014/main" id="{39208A49-46C7-B1E2-E1D1-963759133B99}"/>
              </a:ext>
            </a:extLst>
          </p:cNvPr>
          <p:cNvSpPr>
            <a:spLocks noGrp="1"/>
          </p:cNvSpPr>
          <p:nvPr>
            <p:ph idx="1"/>
          </p:nvPr>
        </p:nvSpPr>
        <p:spPr>
          <a:xfrm>
            <a:off x="365760" y="1809356"/>
            <a:ext cx="7885105" cy="4047778"/>
          </a:xfrm>
        </p:spPr>
        <p:txBody>
          <a:bodyPr/>
          <a:lstStyle/>
          <a:p>
            <a:pPr marL="0" indent="0">
              <a:buNone/>
            </a:pPr>
            <a:endParaRPr lang="en-US" dirty="0"/>
          </a:p>
          <a:p>
            <a:r>
              <a:rPr lang="en-US" dirty="0"/>
              <a:t>As researchers’ careers progress</a:t>
            </a:r>
          </a:p>
          <a:p>
            <a:pPr lvl="1"/>
            <a:r>
              <a:rPr lang="en-US" dirty="0"/>
              <a:t>The problems become more complex and larger</a:t>
            </a:r>
          </a:p>
          <a:p>
            <a:pPr lvl="1"/>
            <a:r>
              <a:rPr lang="en-US" dirty="0"/>
              <a:t>Previous informal techniques for executing a study start to fail</a:t>
            </a:r>
          </a:p>
          <a:p>
            <a:pPr lvl="1"/>
            <a:r>
              <a:rPr lang="en-US" dirty="0"/>
              <a:t>The researchers sense that something is missing</a:t>
            </a:r>
          </a:p>
          <a:p>
            <a:pPr lvl="1"/>
            <a:r>
              <a:rPr lang="en-US" dirty="0"/>
              <a:t>They invent processes and tools to compensate</a:t>
            </a:r>
          </a:p>
          <a:p>
            <a:pPr lvl="1"/>
            <a:endParaRPr lang="en-US" dirty="0"/>
          </a:p>
          <a:p>
            <a:pPr lvl="1"/>
            <a:endParaRPr lang="en-US" dirty="0"/>
          </a:p>
          <a:p>
            <a:pPr marL="346075" lvl="1" indent="0" algn="ctr">
              <a:buNone/>
            </a:pPr>
            <a:r>
              <a:rPr lang="en-US" dirty="0"/>
              <a:t>This happened to Carlo and at some point, he realized that</a:t>
            </a:r>
          </a:p>
          <a:p>
            <a:pPr marL="346075" lvl="1" indent="0" algn="ctr">
              <a:buNone/>
            </a:pPr>
            <a:r>
              <a:rPr lang="en-US" b="1" dirty="0"/>
              <a:t>“I had re-invented the lab notebook!”</a:t>
            </a:r>
          </a:p>
        </p:txBody>
      </p:sp>
      <p:pic>
        <p:nvPicPr>
          <p:cNvPr id="1026" name="Picture 2">
            <a:extLst>
              <a:ext uri="{FF2B5EF4-FFF2-40B4-BE49-F238E27FC236}">
                <a16:creationId xmlns:a16="http://schemas.microsoft.com/office/drawing/2014/main" id="{1E549EE4-28B2-D26E-39A2-B404B46A21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2318" y="2445142"/>
            <a:ext cx="3107997" cy="310799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6D525C9-54D1-8271-CFDE-574DC890627E}"/>
              </a:ext>
            </a:extLst>
          </p:cNvPr>
          <p:cNvSpPr txBox="1"/>
          <p:nvPr/>
        </p:nvSpPr>
        <p:spPr>
          <a:xfrm>
            <a:off x="2578457" y="1215441"/>
            <a:ext cx="7031910" cy="987963"/>
          </a:xfrm>
          <a:prstGeom prst="rect">
            <a:avLst/>
          </a:prstGeom>
          <a:noFill/>
        </p:spPr>
        <p:txBody>
          <a:bodyPr wrap="square" lIns="118872" tIns="91440" rIns="118872" bIns="91440" rtlCol="0" anchor="ctr" anchorCtr="0">
            <a:spAutoFit/>
          </a:bodyPr>
          <a:lstStyle/>
          <a:p>
            <a:pPr algn="ctr">
              <a:lnSpc>
                <a:spcPct val="90000"/>
              </a:lnSpc>
            </a:pPr>
            <a:r>
              <a:rPr lang="en-US" sz="2000" dirty="0"/>
              <a:t>Carlo Graziani is a Computational Scientist at ANL</a:t>
            </a:r>
          </a:p>
          <a:p>
            <a:pPr algn="ctr">
              <a:lnSpc>
                <a:spcPct val="90000"/>
              </a:lnSpc>
            </a:pPr>
            <a:r>
              <a:rPr lang="en-US" sz="2000" dirty="0" err="1"/>
              <a:t>BSSw</a:t>
            </a:r>
            <a:r>
              <a:rPr lang="en-US" sz="2000" dirty="0"/>
              <a:t> blog article </a:t>
            </a:r>
            <a:r>
              <a:rPr lang="en-US" sz="2000" i="1" dirty="0">
                <a:hlinkClick r:id="rId4"/>
              </a:rPr>
              <a:t>HPC and the Lab Manager</a:t>
            </a:r>
            <a:endParaRPr lang="en-US" sz="2000" i="1" dirty="0"/>
          </a:p>
          <a:p>
            <a:pPr algn="l">
              <a:lnSpc>
                <a:spcPct val="90000"/>
              </a:lnSpc>
            </a:pPr>
            <a:endParaRPr lang="en-US" dirty="0"/>
          </a:p>
        </p:txBody>
      </p:sp>
    </p:spTree>
    <p:extLst>
      <p:ext uri="{BB962C8B-B14F-4D97-AF65-F5344CB8AC3E}">
        <p14:creationId xmlns:p14="http://schemas.microsoft.com/office/powerpoint/2010/main" val="3269410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627EA-0A9D-2FF7-2CBF-461CD73F1D60}"/>
              </a:ext>
            </a:extLst>
          </p:cNvPr>
          <p:cNvSpPr>
            <a:spLocks noGrp="1"/>
          </p:cNvSpPr>
          <p:nvPr>
            <p:ph type="title"/>
          </p:nvPr>
        </p:nvSpPr>
        <p:spPr/>
        <p:txBody>
          <a:bodyPr/>
          <a:lstStyle/>
          <a:p>
            <a:r>
              <a:rPr lang="en-US" dirty="0"/>
              <a:t>A minimal definition of a lab notebook</a:t>
            </a:r>
          </a:p>
        </p:txBody>
      </p:sp>
      <p:sp>
        <p:nvSpPr>
          <p:cNvPr id="4" name="Content Placeholder 2">
            <a:extLst>
              <a:ext uri="{FF2B5EF4-FFF2-40B4-BE49-F238E27FC236}">
                <a16:creationId xmlns:a16="http://schemas.microsoft.com/office/drawing/2014/main" id="{5A1F561D-C93C-67C0-49AE-92C353A04E25}"/>
              </a:ext>
            </a:extLst>
          </p:cNvPr>
          <p:cNvSpPr>
            <a:spLocks noGrp="1"/>
          </p:cNvSpPr>
          <p:nvPr>
            <p:ph idx="1"/>
          </p:nvPr>
        </p:nvSpPr>
        <p:spPr/>
        <p:txBody>
          <a:bodyPr/>
          <a:lstStyle/>
          <a:p>
            <a:pPr marL="0" indent="0">
              <a:buNone/>
            </a:pPr>
            <a:r>
              <a:rPr lang="en-US" dirty="0"/>
              <a:t>A goal of keeping a lab notebook is "...to write with enough detail and clarity that another scientist could pick up the notebook at some time in the future, </a:t>
            </a:r>
            <a:r>
              <a:rPr lang="en-US" u="sng" dirty="0"/>
              <a:t>repeat the work based on the written descriptions, and make the same observations that were originally recorded</a:t>
            </a:r>
            <a:r>
              <a:rPr lang="en-US" dirty="0"/>
              <a:t>. If this guideline is followed, even the original author will be able to understand the notes when looking back on them after considerable time has passed!”</a:t>
            </a:r>
          </a:p>
          <a:p>
            <a:pPr marL="0" indent="0">
              <a:buNone/>
            </a:pPr>
            <a:r>
              <a:rPr lang="en-US" dirty="0"/>
              <a:t>	- Howard </a:t>
            </a:r>
            <a:r>
              <a:rPr lang="en-US" dirty="0" err="1"/>
              <a:t>Kanare</a:t>
            </a:r>
            <a:r>
              <a:rPr lang="en-US" dirty="0"/>
              <a:t>, </a:t>
            </a:r>
            <a:r>
              <a:rPr lang="en-US" i="1" dirty="0">
                <a:hlinkClick r:id="rId3"/>
              </a:rPr>
              <a:t>Writing the Laboratory Notebook</a:t>
            </a:r>
            <a:r>
              <a:rPr lang="en-US" i="1" dirty="0"/>
              <a:t> (emphasis added)</a:t>
            </a:r>
            <a:endParaRPr lang="en-US" dirty="0"/>
          </a:p>
        </p:txBody>
      </p:sp>
    </p:spTree>
    <p:extLst>
      <p:ext uri="{BB962C8B-B14F-4D97-AF65-F5344CB8AC3E}">
        <p14:creationId xmlns:p14="http://schemas.microsoft.com/office/powerpoint/2010/main" val="30361653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A5DAC-D638-AA10-5E70-A77E5B69D79E}"/>
              </a:ext>
            </a:extLst>
          </p:cNvPr>
          <p:cNvSpPr>
            <a:spLocks noGrp="1"/>
          </p:cNvSpPr>
          <p:nvPr>
            <p:ph type="title"/>
          </p:nvPr>
        </p:nvSpPr>
        <p:spPr/>
        <p:txBody>
          <a:bodyPr/>
          <a:lstStyle/>
          <a:p>
            <a:r>
              <a:rPr lang="en-US" dirty="0"/>
              <a:t>Lab notebooks are…</a:t>
            </a:r>
          </a:p>
        </p:txBody>
      </p:sp>
      <p:sp>
        <p:nvSpPr>
          <p:cNvPr id="4" name="Rectangle 3">
            <a:extLst>
              <a:ext uri="{FF2B5EF4-FFF2-40B4-BE49-F238E27FC236}">
                <a16:creationId xmlns:a16="http://schemas.microsoft.com/office/drawing/2014/main" id="{ABF114B4-557E-6985-4AE3-A655B0543BBC}"/>
              </a:ext>
            </a:extLst>
          </p:cNvPr>
          <p:cNvSpPr/>
          <p:nvPr/>
        </p:nvSpPr>
        <p:spPr>
          <a:xfrm>
            <a:off x="365760" y="1142720"/>
            <a:ext cx="10536470" cy="5109091"/>
          </a:xfrm>
          <a:prstGeom prst="rect">
            <a:avLst/>
          </a:prstGeom>
        </p:spPr>
        <p:txBody>
          <a:bodyPr wrap="square">
            <a:spAutoFit/>
          </a:bodyPr>
          <a:lstStyle/>
          <a:p>
            <a:pPr marL="285750" indent="-285750">
              <a:buFont typeface="Arial" panose="020B0604020202020204" pitchFamily="34" charset="0"/>
              <a:buChar char="•"/>
            </a:pPr>
            <a:r>
              <a:rPr lang="en-US" sz="2000" dirty="0"/>
              <a:t>A fundamental part of communication as well as rigorous, reproducible science in a lab,</a:t>
            </a:r>
          </a:p>
          <a:p>
            <a:pPr marL="285750" indent="-285750">
              <a:buFont typeface="Arial" panose="020B0604020202020204" pitchFamily="34" charset="0"/>
              <a:buChar char="•"/>
            </a:pPr>
            <a:r>
              <a:rPr lang="en-US" sz="2000" dirty="0"/>
              <a:t>A common-place or required part of an experimental laboratory,</a:t>
            </a:r>
          </a:p>
          <a:p>
            <a:pPr marL="285750" indent="-285750">
              <a:spcBef>
                <a:spcPts val="0"/>
              </a:spcBef>
              <a:buFont typeface="Arial" panose="020B0604020202020204" pitchFamily="34" charset="0"/>
              <a:buChar char="•"/>
            </a:pPr>
            <a:r>
              <a:rPr lang="en-US" sz="2000" dirty="0"/>
              <a:t>Populating a scientific “lab notebook” was an “automated” process at the observatory,</a:t>
            </a:r>
          </a:p>
          <a:p>
            <a:pPr marL="285750" indent="-285750">
              <a:buFont typeface="Arial" panose="020B0604020202020204" pitchFamily="34" charset="0"/>
              <a:buChar char="•"/>
            </a:pPr>
            <a:r>
              <a:rPr lang="en-US" sz="2000" dirty="0"/>
              <a:t>A tool for preventing scientific fraud, and</a:t>
            </a:r>
          </a:p>
          <a:p>
            <a:pPr marL="285750" indent="-285750">
              <a:buFont typeface="Arial" panose="020B0604020202020204" pitchFamily="34" charset="0"/>
              <a:buChar char="•"/>
            </a:pPr>
            <a:r>
              <a:rPr lang="en-US" sz="2000" dirty="0"/>
              <a:t>Record of invention and defending against allegations of fraud.</a:t>
            </a:r>
          </a:p>
          <a:p>
            <a:endParaRPr lang="en-US" sz="2000" dirty="0"/>
          </a:p>
          <a:p>
            <a:pPr marL="0" indent="0">
              <a:buNone/>
            </a:pPr>
            <a:r>
              <a:rPr lang="en-US" sz="2000" dirty="0"/>
              <a:t>Lab notebooks</a:t>
            </a:r>
          </a:p>
          <a:p>
            <a:pPr marL="342900" indent="-342900">
              <a:buFont typeface="Arial" panose="020B0604020202020204" pitchFamily="34" charset="0"/>
              <a:buChar char="•"/>
            </a:pPr>
            <a:r>
              <a:rPr lang="en-US" sz="2000" dirty="0"/>
              <a:t>Should be used regularly,</a:t>
            </a:r>
          </a:p>
          <a:p>
            <a:pPr marL="342900" indent="-342900">
              <a:buFont typeface="Arial" panose="020B0604020202020204" pitchFamily="34" charset="0"/>
              <a:buChar char="•"/>
            </a:pPr>
            <a:r>
              <a:rPr lang="en-US" sz="2000" dirty="0"/>
              <a:t>Should be comprehensive and never filtered,</a:t>
            </a:r>
          </a:p>
          <a:p>
            <a:pPr marL="342900" indent="-342900">
              <a:buFont typeface="Arial" panose="020B0604020202020204" pitchFamily="34" charset="0"/>
              <a:buChar char="•"/>
            </a:pPr>
            <a:r>
              <a:rPr lang="en-US" sz="2000" dirty="0"/>
              <a:t>Don’t need perfect grammar and full sentences,</a:t>
            </a:r>
          </a:p>
          <a:p>
            <a:pPr marL="342900" indent="-342900">
              <a:buFont typeface="Arial" panose="020B0604020202020204" pitchFamily="34" charset="0"/>
              <a:buChar char="•"/>
            </a:pPr>
            <a:r>
              <a:rPr lang="en-US" sz="2000" dirty="0"/>
              <a:t>Content is frozen at creation, and</a:t>
            </a:r>
          </a:p>
          <a:p>
            <a:pPr marL="342900" indent="-342900">
              <a:buFont typeface="Arial" panose="020B0604020202020204" pitchFamily="34" charset="0"/>
              <a:buChar char="•"/>
            </a:pPr>
            <a:r>
              <a:rPr lang="en-US" sz="2000" dirty="0"/>
              <a:t>Hopefully contains more than just data (</a:t>
            </a:r>
            <a:r>
              <a:rPr lang="en-US" sz="2000" i="1" dirty="0"/>
              <a:t>e.g.</a:t>
            </a:r>
            <a:r>
              <a:rPr lang="en-US" sz="2000" dirty="0"/>
              <a:t>, motivation, reasoning, conclusions).</a:t>
            </a:r>
          </a:p>
          <a:p>
            <a:pPr marL="342900" indent="-342900">
              <a:buFont typeface="Arial" panose="020B0604020202020204" pitchFamily="34" charset="0"/>
              <a:buChar char="•"/>
            </a:pPr>
            <a:endParaRPr lang="en-US" sz="2000" dirty="0"/>
          </a:p>
          <a:p>
            <a:pPr algn="ctr">
              <a:lnSpc>
                <a:spcPct val="90000"/>
              </a:lnSpc>
              <a:spcBef>
                <a:spcPts val="1200"/>
              </a:spcBef>
            </a:pPr>
            <a:r>
              <a:rPr lang="en-US" sz="2000" dirty="0"/>
              <a:t>They focus on data and information more than knowledge and understanding, </a:t>
            </a:r>
            <a:r>
              <a:rPr lang="en-US" sz="2000" b="1" dirty="0"/>
              <a:t>but</a:t>
            </a:r>
          </a:p>
          <a:p>
            <a:pPr algn="ctr">
              <a:lnSpc>
                <a:spcPct val="90000"/>
              </a:lnSpc>
            </a:pPr>
            <a:r>
              <a:rPr lang="en-US" sz="2000" dirty="0"/>
              <a:t>people interact, evolve, and grow by collaborating through the notebook.</a:t>
            </a:r>
          </a:p>
          <a:p>
            <a:endParaRPr lang="en-US" sz="2000" dirty="0"/>
          </a:p>
        </p:txBody>
      </p:sp>
    </p:spTree>
    <p:extLst>
      <p:ext uri="{BB962C8B-B14F-4D97-AF65-F5344CB8AC3E}">
        <p14:creationId xmlns:p14="http://schemas.microsoft.com/office/powerpoint/2010/main" val="1526375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D1871-6578-CE2C-CEDE-6D61809C72C6}"/>
              </a:ext>
            </a:extLst>
          </p:cNvPr>
          <p:cNvSpPr>
            <a:spLocks noGrp="1"/>
          </p:cNvSpPr>
          <p:nvPr>
            <p:ph type="title"/>
          </p:nvPr>
        </p:nvSpPr>
        <p:spPr/>
        <p:txBody>
          <a:bodyPr/>
          <a:lstStyle/>
          <a:p>
            <a:r>
              <a:rPr lang="en-US" dirty="0"/>
              <a:t>Example notebook entries</a:t>
            </a:r>
          </a:p>
        </p:txBody>
      </p:sp>
      <p:sp>
        <p:nvSpPr>
          <p:cNvPr id="8" name="TextBox 7">
            <a:extLst>
              <a:ext uri="{FF2B5EF4-FFF2-40B4-BE49-F238E27FC236}">
                <a16:creationId xmlns:a16="http://schemas.microsoft.com/office/drawing/2014/main" id="{42B00271-B090-7E98-2613-C5ACE15A4551}"/>
              </a:ext>
            </a:extLst>
          </p:cNvPr>
          <p:cNvSpPr txBox="1"/>
          <p:nvPr/>
        </p:nvSpPr>
        <p:spPr>
          <a:xfrm>
            <a:off x="365760" y="2081969"/>
            <a:ext cx="3724033" cy="2179058"/>
          </a:xfrm>
          <a:prstGeom prst="rect">
            <a:avLst/>
          </a:prstGeom>
          <a:noFill/>
        </p:spPr>
        <p:txBody>
          <a:bodyPr wrap="none" lIns="118872" tIns="91440" rIns="118872" bIns="91440" rtlCol="0" anchor="ctr" anchorCtr="0">
            <a:spAutoFit/>
          </a:bodyPr>
          <a:lstStyle/>
          <a:p>
            <a:pPr algn="l">
              <a:lnSpc>
                <a:spcPct val="90000"/>
              </a:lnSpc>
            </a:pPr>
            <a:r>
              <a:rPr lang="en-US" b="1" dirty="0">
                <a:solidFill>
                  <a:schemeClr val="tx2"/>
                </a:solidFill>
              </a:rPr>
              <a:t>A bad example</a:t>
            </a:r>
          </a:p>
          <a:p>
            <a:pPr algn="l">
              <a:lnSpc>
                <a:spcPct val="90000"/>
              </a:lnSpc>
            </a:pPr>
            <a:endParaRPr lang="en-US" dirty="0"/>
          </a:p>
          <a:p>
            <a:pPr algn="l">
              <a:lnSpc>
                <a:spcPct val="90000"/>
              </a:lnSpc>
            </a:pPr>
            <a:r>
              <a:rPr lang="en-US" b="1" u="sng" dirty="0"/>
              <a:t>Monday July 25, 2022</a:t>
            </a:r>
          </a:p>
          <a:p>
            <a:pPr algn="l">
              <a:lnSpc>
                <a:spcPct val="90000"/>
              </a:lnSpc>
            </a:pPr>
            <a:r>
              <a:rPr lang="en-US" dirty="0"/>
              <a:t>9:05 am - Do study ABC</a:t>
            </a:r>
          </a:p>
          <a:p>
            <a:pPr algn="l">
              <a:lnSpc>
                <a:spcPct val="90000"/>
              </a:lnSpc>
            </a:pPr>
            <a:r>
              <a:rPr lang="en-US" dirty="0"/>
              <a:t>8:47 pm - Lot’s of interesting data!</a:t>
            </a:r>
          </a:p>
          <a:p>
            <a:pPr algn="l">
              <a:lnSpc>
                <a:spcPct val="90000"/>
              </a:lnSpc>
            </a:pPr>
            <a:r>
              <a:rPr lang="en-US" dirty="0"/>
              <a:t>              - Results are in GCE</a:t>
            </a:r>
          </a:p>
          <a:p>
            <a:pPr algn="l">
              <a:lnSpc>
                <a:spcPct val="90000"/>
              </a:lnSpc>
            </a:pPr>
            <a:endParaRPr lang="en-US" dirty="0"/>
          </a:p>
          <a:p>
            <a:pPr algn="l">
              <a:lnSpc>
                <a:spcPct val="90000"/>
              </a:lnSpc>
            </a:pPr>
            <a:endParaRPr lang="en-US" dirty="0"/>
          </a:p>
        </p:txBody>
      </p:sp>
      <p:sp>
        <p:nvSpPr>
          <p:cNvPr id="9" name="TextBox 8">
            <a:extLst>
              <a:ext uri="{FF2B5EF4-FFF2-40B4-BE49-F238E27FC236}">
                <a16:creationId xmlns:a16="http://schemas.microsoft.com/office/drawing/2014/main" id="{EA4853CD-8614-95AA-C341-E49641DA6302}"/>
              </a:ext>
            </a:extLst>
          </p:cNvPr>
          <p:cNvSpPr txBox="1"/>
          <p:nvPr/>
        </p:nvSpPr>
        <p:spPr>
          <a:xfrm>
            <a:off x="5935980" y="158887"/>
            <a:ext cx="5887085" cy="5918543"/>
          </a:xfrm>
          <a:prstGeom prst="rect">
            <a:avLst/>
          </a:prstGeom>
          <a:noFill/>
        </p:spPr>
        <p:txBody>
          <a:bodyPr wrap="square" lIns="118872" tIns="91440" rIns="118872" bIns="91440" rtlCol="0" anchor="ctr" anchorCtr="0">
            <a:spAutoFit/>
          </a:bodyPr>
          <a:lstStyle/>
          <a:p>
            <a:pPr algn="l">
              <a:lnSpc>
                <a:spcPct val="90000"/>
              </a:lnSpc>
            </a:pPr>
            <a:r>
              <a:rPr lang="en-US" b="1" dirty="0">
                <a:solidFill>
                  <a:schemeClr val="tx2"/>
                </a:solidFill>
              </a:rPr>
              <a:t>A better example</a:t>
            </a:r>
          </a:p>
          <a:p>
            <a:pPr algn="l">
              <a:lnSpc>
                <a:spcPct val="90000"/>
              </a:lnSpc>
            </a:pPr>
            <a:endParaRPr lang="en-US" b="1" u="sng" dirty="0"/>
          </a:p>
          <a:p>
            <a:pPr algn="l">
              <a:lnSpc>
                <a:spcPct val="90000"/>
              </a:lnSpc>
            </a:pPr>
            <a:r>
              <a:rPr lang="en-US" b="1" u="sng" dirty="0"/>
              <a:t>Monday July 25, 2022</a:t>
            </a:r>
            <a:r>
              <a:rPr lang="en-US" dirty="0"/>
              <a:t> (Jared)</a:t>
            </a:r>
          </a:p>
          <a:p>
            <a:pPr algn="l">
              <a:lnSpc>
                <a:spcPct val="90000"/>
              </a:lnSpc>
            </a:pPr>
            <a:r>
              <a:rPr lang="en-US" b="1" dirty="0"/>
              <a:t>9:05 am </a:t>
            </a:r>
            <a:r>
              <a:rPr lang="en-US" dirty="0"/>
              <a:t>- Continuing work for study ABC.  (See July 7)</a:t>
            </a:r>
          </a:p>
          <a:p>
            <a:pPr algn="l">
              <a:lnSpc>
                <a:spcPct val="90000"/>
              </a:lnSpc>
            </a:pPr>
            <a:r>
              <a:rPr lang="en-US" dirty="0"/>
              <a:t>- I presently believe that if A happens, then B must also happen.</a:t>
            </a:r>
          </a:p>
          <a:p>
            <a:pPr algn="l">
              <a:lnSpc>
                <a:spcPct val="90000"/>
              </a:lnSpc>
            </a:pPr>
            <a:r>
              <a:rPr lang="en-US" dirty="0"/>
              <a:t>- To verify this, I intend to</a:t>
            </a:r>
          </a:p>
          <a:p>
            <a:pPr marL="742950" lvl="1" indent="-285750">
              <a:lnSpc>
                <a:spcPct val="90000"/>
              </a:lnSpc>
              <a:buFont typeface="Arial" panose="020B0604020202020204" pitchFamily="34" charset="0"/>
              <a:buChar char="•"/>
            </a:pPr>
            <a:r>
              <a:rPr lang="en-US" dirty="0"/>
              <a:t>…</a:t>
            </a:r>
          </a:p>
          <a:p>
            <a:pPr marL="742950" lvl="1" indent="-285750">
              <a:lnSpc>
                <a:spcPct val="90000"/>
              </a:lnSpc>
              <a:buFont typeface="Arial" panose="020B0604020202020204" pitchFamily="34" charset="0"/>
              <a:buChar char="•"/>
            </a:pPr>
            <a:r>
              <a:rPr lang="en-US" dirty="0"/>
              <a:t>***</a:t>
            </a:r>
          </a:p>
          <a:p>
            <a:pPr>
              <a:lnSpc>
                <a:spcPct val="90000"/>
              </a:lnSpc>
            </a:pPr>
            <a:r>
              <a:rPr lang="en-US" b="1" dirty="0"/>
              <a:t>9:30 am </a:t>
            </a:r>
            <a:r>
              <a:rPr lang="en-US" dirty="0"/>
              <a:t>- Started executing this experiment on Bebop.</a:t>
            </a:r>
          </a:p>
          <a:p>
            <a:pPr marL="742950" lvl="1" indent="-285750">
              <a:lnSpc>
                <a:spcPct val="90000"/>
              </a:lnSpc>
              <a:buFont typeface="Arial" panose="020B0604020202020204" pitchFamily="34" charset="0"/>
              <a:buChar char="•"/>
            </a:pPr>
            <a:r>
              <a:rPr lang="en-US" dirty="0"/>
              <a:t>Built debug version of binary with Intel 20.4</a:t>
            </a:r>
          </a:p>
          <a:p>
            <a:pPr marL="742950" lvl="1" indent="-285750">
              <a:lnSpc>
                <a:spcPct val="90000"/>
              </a:lnSpc>
              <a:buFont typeface="Arial" panose="020B0604020202020204" pitchFamily="34" charset="0"/>
              <a:buChar char="•"/>
            </a:pPr>
            <a:r>
              <a:rPr lang="en-US" dirty="0"/>
              <a:t>Based on </a:t>
            </a:r>
            <a:r>
              <a:rPr lang="en-US" u="sng" dirty="0"/>
              <a:t>clean</a:t>
            </a:r>
            <a:r>
              <a:rPr lang="en-US" dirty="0"/>
              <a:t> commit 5a43b21c</a:t>
            </a:r>
          </a:p>
          <a:p>
            <a:pPr marL="742950" lvl="1" indent="-285750">
              <a:lnSpc>
                <a:spcPct val="90000"/>
              </a:lnSpc>
              <a:buFont typeface="Arial" panose="020B0604020202020204" pitchFamily="34" charset="0"/>
              <a:buChar char="•"/>
            </a:pPr>
            <a:r>
              <a:rPr lang="en-US" dirty="0"/>
              <a:t>Build log saved to </a:t>
            </a:r>
            <a:r>
              <a:rPr lang="en-US" dirty="0">
                <a:latin typeface="American Typewriter" panose="02090604020004020304" pitchFamily="18" charset="77"/>
              </a:rPr>
              <a:t>my_test_2022.log</a:t>
            </a:r>
          </a:p>
          <a:p>
            <a:pPr marL="742950" lvl="1" indent="-285750">
              <a:lnSpc>
                <a:spcPct val="90000"/>
              </a:lnSpc>
              <a:buFont typeface="Arial" panose="020B0604020202020204" pitchFamily="34" charset="0"/>
              <a:buChar char="•"/>
            </a:pPr>
            <a:r>
              <a:rPr lang="en-US" dirty="0"/>
              <a:t>No errors or warnings emitted</a:t>
            </a:r>
          </a:p>
          <a:p>
            <a:pPr marL="742950" lvl="1" indent="-285750">
              <a:lnSpc>
                <a:spcPct val="90000"/>
              </a:lnSpc>
              <a:buFont typeface="Arial" panose="020B0604020202020204" pitchFamily="34" charset="0"/>
              <a:buChar char="•"/>
            </a:pPr>
            <a:r>
              <a:rPr lang="en-US" dirty="0"/>
              <a:t>Used job script </a:t>
            </a:r>
            <a:r>
              <a:rPr lang="en-US" dirty="0" err="1">
                <a:latin typeface="American Typewriter" panose="02090604020004020304" pitchFamily="18" charset="77"/>
              </a:rPr>
              <a:t>run_my_test</a:t>
            </a:r>
            <a:r>
              <a:rPr lang="en-US" dirty="0">
                <a:latin typeface="American Typewriter" panose="02090604020004020304" pitchFamily="18" charset="77"/>
              </a:rPr>
              <a:t> </a:t>
            </a:r>
            <a:r>
              <a:rPr lang="en-US" dirty="0"/>
              <a:t>with configuration 24 (Job ID 123456)</a:t>
            </a:r>
          </a:p>
          <a:p>
            <a:pPr marL="742950" lvl="1" indent="-285750">
              <a:lnSpc>
                <a:spcPct val="90000"/>
              </a:lnSpc>
              <a:buFont typeface="Arial" panose="020B0604020202020204" pitchFamily="34" charset="0"/>
              <a:buChar char="•"/>
            </a:pPr>
            <a:r>
              <a:rPr lang="en-US" dirty="0" err="1"/>
              <a:t>Stdout</a:t>
            </a:r>
            <a:r>
              <a:rPr lang="en-US" dirty="0"/>
              <a:t>/err &amp; results saved in folder ABC</a:t>
            </a:r>
          </a:p>
          <a:p>
            <a:pPr>
              <a:lnSpc>
                <a:spcPct val="90000"/>
              </a:lnSpc>
            </a:pPr>
            <a:r>
              <a:rPr lang="en-US" b="1" dirty="0"/>
              <a:t>10:07 am </a:t>
            </a:r>
            <a:r>
              <a:rPr lang="en-US" dirty="0"/>
              <a:t>- Analysis run with script </a:t>
            </a:r>
            <a:r>
              <a:rPr lang="en-US" dirty="0" err="1">
                <a:latin typeface="American Typewriter" panose="02090604020004020304" pitchFamily="18" charset="77"/>
              </a:rPr>
              <a:t>analyze_my_test.py</a:t>
            </a:r>
            <a:r>
              <a:rPr lang="en-US" dirty="0">
                <a:latin typeface="American Typewriter" panose="02090604020004020304" pitchFamily="18" charset="77"/>
              </a:rPr>
              <a:t> </a:t>
            </a:r>
            <a:r>
              <a:rPr lang="en-US" dirty="0"/>
              <a:t>and results saved in same folder.</a:t>
            </a:r>
          </a:p>
          <a:p>
            <a:pPr>
              <a:lnSpc>
                <a:spcPct val="90000"/>
              </a:lnSpc>
            </a:pPr>
            <a:r>
              <a:rPr lang="en-US" dirty="0"/>
              <a:t>- Since no peak seen around 1.5 MeV, I was wrong.  But based on this, I now </a:t>
            </a:r>
            <a:r>
              <a:rPr lang="en-US" i="1" dirty="0"/>
              <a:t>believe</a:t>
            </a:r>
            <a:r>
              <a:rPr lang="en-US" dirty="0"/>
              <a:t> that if A happens, then C must also happen.</a:t>
            </a:r>
          </a:p>
        </p:txBody>
      </p:sp>
    </p:spTree>
    <p:extLst>
      <p:ext uri="{BB962C8B-B14F-4D97-AF65-F5344CB8AC3E}">
        <p14:creationId xmlns:p14="http://schemas.microsoft.com/office/powerpoint/2010/main" val="3878095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DDF3B-E98A-D5CA-A59B-85FA8971B392}"/>
              </a:ext>
            </a:extLst>
          </p:cNvPr>
          <p:cNvSpPr>
            <a:spLocks noGrp="1"/>
          </p:cNvSpPr>
          <p:nvPr>
            <p:ph type="title"/>
          </p:nvPr>
        </p:nvSpPr>
        <p:spPr/>
        <p:txBody>
          <a:bodyPr/>
          <a:lstStyle/>
          <a:p>
            <a:r>
              <a:rPr lang="en-US" dirty="0"/>
              <a:t>No one likes writing lab notes</a:t>
            </a:r>
          </a:p>
        </p:txBody>
      </p:sp>
      <p:sp>
        <p:nvSpPr>
          <p:cNvPr id="6" name="Content Placeholder 2">
            <a:extLst>
              <a:ext uri="{FF2B5EF4-FFF2-40B4-BE49-F238E27FC236}">
                <a16:creationId xmlns:a16="http://schemas.microsoft.com/office/drawing/2014/main" id="{0886154B-3FDF-98B1-DE0A-7ECA10358CE8}"/>
              </a:ext>
            </a:extLst>
          </p:cNvPr>
          <p:cNvSpPr>
            <a:spLocks noGrp="1"/>
          </p:cNvSpPr>
          <p:nvPr>
            <p:ph idx="1"/>
          </p:nvPr>
        </p:nvSpPr>
        <p:spPr>
          <a:xfrm>
            <a:off x="365760" y="2426904"/>
            <a:ext cx="11369809" cy="4047778"/>
          </a:xfrm>
        </p:spPr>
        <p:txBody>
          <a:bodyPr/>
          <a:lstStyle/>
          <a:p>
            <a:r>
              <a:rPr lang="en-US" dirty="0"/>
              <a:t>This attitude comes from lack of experience &amp; awareness</a:t>
            </a:r>
          </a:p>
          <a:p>
            <a:pPr lvl="1"/>
            <a:r>
              <a:rPr lang="en-US" dirty="0"/>
              <a:t>Good notes are implicit communication &amp; sharing</a:t>
            </a:r>
          </a:p>
          <a:p>
            <a:pPr lvl="1"/>
            <a:r>
              <a:rPr lang="en-US" dirty="0"/>
              <a:t>Good notes can be turned into procedures</a:t>
            </a:r>
          </a:p>
          <a:p>
            <a:r>
              <a:rPr lang="en-US" dirty="0"/>
              <a:t>Lab notes become more useful as time passes</a:t>
            </a:r>
          </a:p>
          <a:p>
            <a:pPr lvl="1"/>
            <a:r>
              <a:rPr lang="en-US" dirty="0"/>
              <a:t>Our memory fades</a:t>
            </a:r>
          </a:p>
          <a:p>
            <a:pPr lvl="1"/>
            <a:r>
              <a:rPr lang="en-US" dirty="0"/>
              <a:t>It can take years before we see the benefit</a:t>
            </a:r>
          </a:p>
          <a:p>
            <a:pPr lvl="1"/>
            <a:r>
              <a:rPr lang="en-US" dirty="0"/>
              <a:t>The beneficiary is often our “future self”</a:t>
            </a:r>
          </a:p>
          <a:p>
            <a:r>
              <a:rPr lang="en-US" dirty="0"/>
              <a:t>Writing but not reading lab notes is a good thing</a:t>
            </a:r>
          </a:p>
          <a:p>
            <a:pPr lvl="1"/>
            <a:r>
              <a:rPr lang="en-US" dirty="0"/>
              <a:t>Lab notes are most useful when something has gone wrong</a:t>
            </a:r>
          </a:p>
          <a:p>
            <a:pPr lvl="1"/>
            <a:endParaRPr lang="en-US" dirty="0"/>
          </a:p>
        </p:txBody>
      </p:sp>
      <p:sp>
        <p:nvSpPr>
          <p:cNvPr id="8" name="TextBox 7">
            <a:extLst>
              <a:ext uri="{FF2B5EF4-FFF2-40B4-BE49-F238E27FC236}">
                <a16:creationId xmlns:a16="http://schemas.microsoft.com/office/drawing/2014/main" id="{C9881524-C838-C412-4A57-905FB327196F}"/>
              </a:ext>
            </a:extLst>
          </p:cNvPr>
          <p:cNvSpPr txBox="1"/>
          <p:nvPr/>
        </p:nvSpPr>
        <p:spPr>
          <a:xfrm>
            <a:off x="450592" y="1088815"/>
            <a:ext cx="11444357" cy="1107931"/>
          </a:xfrm>
          <a:prstGeom prst="rect">
            <a:avLst/>
          </a:prstGeom>
          <a:noFill/>
        </p:spPr>
        <p:txBody>
          <a:bodyPr wrap="square" lIns="158455" tIns="121888" rIns="158455" bIns="121888" rtlCol="0" anchor="ctr" anchorCtr="0">
            <a:spAutoFit/>
          </a:bodyPr>
          <a:lstStyle/>
          <a:p>
            <a:pPr marL="53975" lvl="1" algn="ctr"/>
            <a:r>
              <a:rPr lang="en-US" sz="2800" b="1" dirty="0">
                <a:solidFill>
                  <a:schemeClr val="tx2"/>
                </a:solidFill>
              </a:rPr>
              <a:t>“Lab notes are a waste of time. I write notes but never use them.”</a:t>
            </a:r>
          </a:p>
          <a:p>
            <a:pPr marL="0" lvl="1"/>
            <a:r>
              <a:rPr lang="en-US" sz="2800" b="1" dirty="0">
                <a:solidFill>
                  <a:schemeClr val="tx2"/>
                </a:solidFill>
              </a:rPr>
              <a:t>        - </a:t>
            </a:r>
            <a:r>
              <a:rPr lang="en-US" sz="2400" b="1" dirty="0">
                <a:solidFill>
                  <a:schemeClr val="tx2"/>
                </a:solidFill>
              </a:rPr>
              <a:t>Almost all newcomers to lab notebooks</a:t>
            </a:r>
            <a:endParaRPr lang="en-US" sz="2800" b="1" dirty="0">
              <a:solidFill>
                <a:schemeClr val="tx2"/>
              </a:solidFill>
            </a:endParaRPr>
          </a:p>
        </p:txBody>
      </p:sp>
    </p:spTree>
    <p:extLst>
      <p:ext uri="{BB962C8B-B14F-4D97-AF65-F5344CB8AC3E}">
        <p14:creationId xmlns:p14="http://schemas.microsoft.com/office/powerpoint/2010/main" val="36848151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8D88C-7B28-1754-36A6-873750233694}"/>
              </a:ext>
            </a:extLst>
          </p:cNvPr>
          <p:cNvSpPr>
            <a:spLocks noGrp="1"/>
          </p:cNvSpPr>
          <p:nvPr>
            <p:ph type="title"/>
          </p:nvPr>
        </p:nvSpPr>
        <p:spPr/>
        <p:txBody>
          <a:bodyPr/>
          <a:lstStyle/>
          <a:p>
            <a:r>
              <a:rPr lang="en-US" dirty="0"/>
              <a:t>Criteria for lab notebooks for computing?</a:t>
            </a:r>
          </a:p>
        </p:txBody>
      </p:sp>
      <p:sp>
        <p:nvSpPr>
          <p:cNvPr id="3" name="Content Placeholder 2">
            <a:extLst>
              <a:ext uri="{FF2B5EF4-FFF2-40B4-BE49-F238E27FC236}">
                <a16:creationId xmlns:a16="http://schemas.microsoft.com/office/drawing/2014/main" id="{F77746CD-E501-0512-A2E3-3EA3A7A9AF56}"/>
              </a:ext>
            </a:extLst>
          </p:cNvPr>
          <p:cNvSpPr>
            <a:spLocks noGrp="1"/>
          </p:cNvSpPr>
          <p:nvPr>
            <p:ph idx="1"/>
          </p:nvPr>
        </p:nvSpPr>
        <p:spPr/>
        <p:txBody>
          <a:bodyPr/>
          <a:lstStyle/>
          <a:p>
            <a:r>
              <a:rPr lang="en-US" b="1" dirty="0"/>
              <a:t>Paper won’t work.  </a:t>
            </a:r>
            <a:r>
              <a:rPr lang="en-US" dirty="0"/>
              <a:t>We work anywhere and sometimes in distributed way.</a:t>
            </a:r>
          </a:p>
          <a:p>
            <a:r>
              <a:rPr lang="en-US" dirty="0"/>
              <a:t>Should notebooks be public and how to do that?</a:t>
            </a:r>
          </a:p>
          <a:p>
            <a:r>
              <a:rPr lang="en-US" dirty="0"/>
              <a:t>How many different types of notebooks do we need?</a:t>
            </a:r>
          </a:p>
          <a:p>
            <a:r>
              <a:rPr lang="en-US" dirty="0"/>
              <a:t>Do we use a single electronic lab notebook (ELN) or distribute notes across a suite of tools?</a:t>
            </a:r>
          </a:p>
          <a:p>
            <a:r>
              <a:rPr lang="en-US" dirty="0"/>
              <a:t>How can we use automation appropriately to overcome difficulties and increase productivity?</a:t>
            </a:r>
          </a:p>
          <a:p>
            <a:pPr marL="0" indent="0">
              <a:buNone/>
            </a:pPr>
            <a:endParaRPr lang="en-US" dirty="0"/>
          </a:p>
        </p:txBody>
      </p:sp>
      <p:sp>
        <p:nvSpPr>
          <p:cNvPr id="6" name="TextBox 5">
            <a:extLst>
              <a:ext uri="{FF2B5EF4-FFF2-40B4-BE49-F238E27FC236}">
                <a16:creationId xmlns:a16="http://schemas.microsoft.com/office/drawing/2014/main" id="{C44A63BE-444C-487D-FF8C-6D5A3E79CAEE}"/>
              </a:ext>
            </a:extLst>
          </p:cNvPr>
          <p:cNvSpPr txBox="1"/>
          <p:nvPr/>
        </p:nvSpPr>
        <p:spPr>
          <a:xfrm>
            <a:off x="3000842" y="5108463"/>
            <a:ext cx="6187143" cy="461665"/>
          </a:xfrm>
          <a:prstGeom prst="rect">
            <a:avLst/>
          </a:prstGeom>
          <a:noFill/>
        </p:spPr>
        <p:txBody>
          <a:bodyPr wrap="none" rtlCol="0">
            <a:spAutoFit/>
          </a:bodyPr>
          <a:lstStyle/>
          <a:p>
            <a:pPr algn="ctr"/>
            <a:r>
              <a:rPr lang="en-US" sz="2400" dirty="0"/>
              <a:t>We likely need multiple streams of lab notes</a:t>
            </a:r>
          </a:p>
        </p:txBody>
      </p:sp>
    </p:spTree>
    <p:extLst>
      <p:ext uri="{BB962C8B-B14F-4D97-AF65-F5344CB8AC3E}">
        <p14:creationId xmlns:p14="http://schemas.microsoft.com/office/powerpoint/2010/main" val="2241001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33D66-35AF-AF0C-8EA4-C60E0843DE20}"/>
              </a:ext>
            </a:extLst>
          </p:cNvPr>
          <p:cNvSpPr>
            <a:spLocks noGrp="1"/>
          </p:cNvSpPr>
          <p:nvPr>
            <p:ph type="title"/>
          </p:nvPr>
        </p:nvSpPr>
        <p:spPr/>
        <p:txBody>
          <a:bodyPr/>
          <a:lstStyle/>
          <a:p>
            <a:r>
              <a:rPr lang="en-US" dirty="0"/>
              <a:t>Different streams of lab notes</a:t>
            </a:r>
          </a:p>
        </p:txBody>
      </p:sp>
      <p:sp>
        <p:nvSpPr>
          <p:cNvPr id="3" name="Content Placeholder 2">
            <a:extLst>
              <a:ext uri="{FF2B5EF4-FFF2-40B4-BE49-F238E27FC236}">
                <a16:creationId xmlns:a16="http://schemas.microsoft.com/office/drawing/2014/main" id="{D98AB940-836C-ED7C-839C-E277B4205C49}"/>
              </a:ext>
            </a:extLst>
          </p:cNvPr>
          <p:cNvSpPr>
            <a:spLocks noGrp="1"/>
          </p:cNvSpPr>
          <p:nvPr>
            <p:ph idx="1"/>
          </p:nvPr>
        </p:nvSpPr>
        <p:spPr/>
        <p:txBody>
          <a:bodyPr/>
          <a:lstStyle/>
          <a:p>
            <a:r>
              <a:rPr lang="en-US" dirty="0"/>
              <a:t>Lab notebook for changes to scientific instrument</a:t>
            </a:r>
          </a:p>
          <a:p>
            <a:pPr lvl="1"/>
            <a:r>
              <a:rPr lang="en-US" dirty="0"/>
              <a:t>Changes in code repo necessary for study</a:t>
            </a:r>
          </a:p>
          <a:p>
            <a:pPr lvl="1"/>
            <a:r>
              <a:rPr lang="en-US" dirty="0"/>
              <a:t>Changes to SW environments</a:t>
            </a:r>
          </a:p>
          <a:p>
            <a:pPr lvl="1"/>
            <a:r>
              <a:rPr lang="en-US" dirty="0"/>
              <a:t>Changes to build/job files and build systems</a:t>
            </a:r>
          </a:p>
          <a:p>
            <a:r>
              <a:rPr lang="en-US" dirty="0"/>
              <a:t>Lab notebook to detail how experiment was designed and executed</a:t>
            </a:r>
          </a:p>
          <a:p>
            <a:r>
              <a:rPr lang="en-US" dirty="0"/>
              <a:t>Lab notebook for data analysis tools</a:t>
            </a:r>
          </a:p>
          <a:p>
            <a:r>
              <a:rPr lang="en-US" dirty="0"/>
              <a:t>Right tool for the job</a:t>
            </a:r>
          </a:p>
          <a:p>
            <a:pPr lvl="1"/>
            <a:r>
              <a:rPr lang="en-US" dirty="0"/>
              <a:t>We don’t want a single 10,000-line README</a:t>
            </a:r>
          </a:p>
          <a:p>
            <a:endParaRPr lang="en-US" dirty="0"/>
          </a:p>
        </p:txBody>
      </p:sp>
    </p:spTree>
    <p:extLst>
      <p:ext uri="{BB962C8B-B14F-4D97-AF65-F5344CB8AC3E}">
        <p14:creationId xmlns:p14="http://schemas.microsoft.com/office/powerpoint/2010/main" val="10030052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90B39-A834-D719-6F55-65D8713FAC45}"/>
              </a:ext>
            </a:extLst>
          </p:cNvPr>
          <p:cNvSpPr>
            <a:spLocks noGrp="1"/>
          </p:cNvSpPr>
          <p:nvPr>
            <p:ph type="title"/>
          </p:nvPr>
        </p:nvSpPr>
        <p:spPr/>
        <p:txBody>
          <a:bodyPr/>
          <a:lstStyle/>
          <a:p>
            <a:r>
              <a:rPr lang="en-US" dirty="0"/>
              <a:t>Which leads us to documentation</a:t>
            </a:r>
          </a:p>
        </p:txBody>
      </p:sp>
      <p:sp>
        <p:nvSpPr>
          <p:cNvPr id="3" name="Content Placeholder 2">
            <a:extLst>
              <a:ext uri="{FF2B5EF4-FFF2-40B4-BE49-F238E27FC236}">
                <a16:creationId xmlns:a16="http://schemas.microsoft.com/office/drawing/2014/main" id="{A484D605-965D-02D6-7E0D-950ACA53C4F9}"/>
              </a:ext>
            </a:extLst>
          </p:cNvPr>
          <p:cNvSpPr>
            <a:spLocks noGrp="1"/>
          </p:cNvSpPr>
          <p:nvPr>
            <p:ph idx="1"/>
          </p:nvPr>
        </p:nvSpPr>
        <p:spPr>
          <a:xfrm>
            <a:off x="365760" y="1159297"/>
            <a:ext cx="11369809" cy="4047778"/>
          </a:xfrm>
        </p:spPr>
        <p:txBody>
          <a:bodyPr/>
          <a:lstStyle/>
          <a:p>
            <a:pPr marL="0" indent="0" algn="ctr">
              <a:buNone/>
            </a:pPr>
            <a:r>
              <a:rPr lang="en-US" dirty="0"/>
              <a:t>Documentation is knowledge communication &amp; can build understanding</a:t>
            </a:r>
          </a:p>
        </p:txBody>
      </p:sp>
      <p:pic>
        <p:nvPicPr>
          <p:cNvPr id="4" name="Picture 3">
            <a:extLst>
              <a:ext uri="{FF2B5EF4-FFF2-40B4-BE49-F238E27FC236}">
                <a16:creationId xmlns:a16="http://schemas.microsoft.com/office/drawing/2014/main" id="{2806206A-CDD0-AC37-139B-D8CCA944AA6B}"/>
              </a:ext>
            </a:extLst>
          </p:cNvPr>
          <p:cNvPicPr>
            <a:picLocks noChangeAspect="1"/>
          </p:cNvPicPr>
          <p:nvPr/>
        </p:nvPicPr>
        <p:blipFill>
          <a:blip r:embed="rId3"/>
          <a:stretch>
            <a:fillRect/>
          </a:stretch>
        </p:blipFill>
        <p:spPr>
          <a:xfrm>
            <a:off x="1853448" y="1716242"/>
            <a:ext cx="7874583" cy="2574158"/>
          </a:xfrm>
          <a:prstGeom prst="rect">
            <a:avLst/>
          </a:prstGeom>
        </p:spPr>
      </p:pic>
      <p:sp>
        <p:nvSpPr>
          <p:cNvPr id="5" name="Content Placeholder 2">
            <a:extLst>
              <a:ext uri="{FF2B5EF4-FFF2-40B4-BE49-F238E27FC236}">
                <a16:creationId xmlns:a16="http://schemas.microsoft.com/office/drawing/2014/main" id="{656F91B9-4DFC-6521-8532-ACAE057615CC}"/>
              </a:ext>
            </a:extLst>
          </p:cNvPr>
          <p:cNvSpPr txBox="1">
            <a:spLocks/>
          </p:cNvSpPr>
          <p:nvPr/>
        </p:nvSpPr>
        <p:spPr bwMode="auto">
          <a:xfrm>
            <a:off x="1242838" y="4571230"/>
            <a:ext cx="9753209" cy="18752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chemeClr val="tx1"/>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Data at the bottom.  Knowledge as we move up?</a:t>
            </a:r>
          </a:p>
          <a:p>
            <a:r>
              <a:rPr lang="en-US" sz="2000" dirty="0"/>
              <a:t>Some documents frozen at creation.  Others are living.</a:t>
            </a:r>
          </a:p>
          <a:p>
            <a:r>
              <a:rPr lang="en-US" sz="2000" dirty="0"/>
              <a:t>Does this capture how hard it is to do documentation in a distributed, digital world?</a:t>
            </a:r>
          </a:p>
        </p:txBody>
      </p:sp>
      <p:pic>
        <p:nvPicPr>
          <p:cNvPr id="6" name="Picture 6">
            <a:extLst>
              <a:ext uri="{FF2B5EF4-FFF2-40B4-BE49-F238E27FC236}">
                <a16:creationId xmlns:a16="http://schemas.microsoft.com/office/drawing/2014/main" id="{0A7E857A-543D-6FD4-F555-D91D48611E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02972" y="1988519"/>
            <a:ext cx="2657657" cy="20657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CAD3B99-84DF-E6B4-3812-80E8678551BD}"/>
              </a:ext>
            </a:extLst>
          </p:cNvPr>
          <p:cNvSpPr txBox="1"/>
          <p:nvPr/>
        </p:nvSpPr>
        <p:spPr>
          <a:xfrm>
            <a:off x="9818462" y="4043461"/>
            <a:ext cx="1826676" cy="461665"/>
          </a:xfrm>
          <a:prstGeom prst="rect">
            <a:avLst/>
          </a:prstGeom>
          <a:noFill/>
        </p:spPr>
        <p:txBody>
          <a:bodyPr wrap="square" lIns="118872" tIns="91440" rIns="118872" bIns="91440" rtlCol="0" anchor="ctr" anchorCtr="0">
            <a:spAutoFit/>
          </a:bodyPr>
          <a:lstStyle/>
          <a:p>
            <a:pPr>
              <a:lnSpc>
                <a:spcPct val="90000"/>
              </a:lnSpc>
            </a:pPr>
            <a:r>
              <a:rPr lang="en-US" sz="1000" dirty="0">
                <a:hlinkClick r:id="rId5"/>
              </a:rPr>
              <a:t>DIKW pyramid</a:t>
            </a:r>
            <a:r>
              <a:rPr lang="en-US" sz="1000" dirty="0"/>
              <a:t> (unaltered) – Wikipedia/</a:t>
            </a:r>
            <a:r>
              <a:rPr lang="en-US" sz="1000" dirty="0" err="1"/>
              <a:t>Longlivetheux</a:t>
            </a:r>
            <a:endParaRPr lang="en-US" sz="1000" dirty="0"/>
          </a:p>
        </p:txBody>
      </p:sp>
    </p:spTree>
    <p:extLst>
      <p:ext uri="{BB962C8B-B14F-4D97-AF65-F5344CB8AC3E}">
        <p14:creationId xmlns:p14="http://schemas.microsoft.com/office/powerpoint/2010/main" val="30426530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2E499-1C3F-BF05-6826-EA41875043AF}"/>
              </a:ext>
            </a:extLst>
          </p:cNvPr>
          <p:cNvSpPr>
            <a:spLocks noGrp="1"/>
          </p:cNvSpPr>
          <p:nvPr>
            <p:ph type="title"/>
          </p:nvPr>
        </p:nvSpPr>
        <p:spPr/>
        <p:txBody>
          <a:bodyPr/>
          <a:lstStyle/>
          <a:p>
            <a:r>
              <a:rPr lang="en-US" dirty="0"/>
              <a:t>Git lab notes stream</a:t>
            </a:r>
          </a:p>
        </p:txBody>
      </p:sp>
      <p:sp>
        <p:nvSpPr>
          <p:cNvPr id="4" name="Text Placeholder 3">
            <a:extLst>
              <a:ext uri="{FF2B5EF4-FFF2-40B4-BE49-F238E27FC236}">
                <a16:creationId xmlns:a16="http://schemas.microsoft.com/office/drawing/2014/main" id="{07227A27-5F3E-7988-EF2E-E23834C09336}"/>
              </a:ext>
            </a:extLst>
          </p:cNvPr>
          <p:cNvSpPr>
            <a:spLocks noGrp="1"/>
          </p:cNvSpPr>
          <p:nvPr>
            <p:ph idx="1"/>
          </p:nvPr>
        </p:nvSpPr>
        <p:spPr>
          <a:xfrm>
            <a:off x="365760" y="1349903"/>
            <a:ext cx="11369809" cy="4047778"/>
          </a:xfrm>
        </p:spPr>
        <p:txBody>
          <a:bodyPr/>
          <a:lstStyle/>
          <a:p>
            <a:pPr marL="0" indent="0">
              <a:buNone/>
            </a:pPr>
            <a:r>
              <a:rPr lang="en-US" dirty="0">
                <a:solidFill>
                  <a:schemeClr val="tx2"/>
                </a:solidFill>
              </a:rPr>
              <a:t>Keep lab notes for your software as close to the “instrument” as possible</a:t>
            </a:r>
          </a:p>
        </p:txBody>
      </p:sp>
      <p:pic>
        <p:nvPicPr>
          <p:cNvPr id="6" name="Picture 5">
            <a:extLst>
              <a:ext uri="{FF2B5EF4-FFF2-40B4-BE49-F238E27FC236}">
                <a16:creationId xmlns:a16="http://schemas.microsoft.com/office/drawing/2014/main" id="{6761C1E8-DA24-1844-B0E3-CC7DF7671F26}"/>
              </a:ext>
            </a:extLst>
          </p:cNvPr>
          <p:cNvPicPr>
            <a:picLocks noChangeAspect="1"/>
          </p:cNvPicPr>
          <p:nvPr/>
        </p:nvPicPr>
        <p:blipFill>
          <a:blip r:embed="rId2"/>
          <a:stretch>
            <a:fillRect/>
          </a:stretch>
        </p:blipFill>
        <p:spPr>
          <a:xfrm>
            <a:off x="609443" y="2067111"/>
            <a:ext cx="7144004" cy="2415747"/>
          </a:xfrm>
          <a:prstGeom prst="rect">
            <a:avLst/>
          </a:prstGeom>
        </p:spPr>
      </p:pic>
      <p:sp>
        <p:nvSpPr>
          <p:cNvPr id="7" name="TextBox 6">
            <a:extLst>
              <a:ext uri="{FF2B5EF4-FFF2-40B4-BE49-F238E27FC236}">
                <a16:creationId xmlns:a16="http://schemas.microsoft.com/office/drawing/2014/main" id="{60E896B1-244F-EE2C-31BB-0AFFB63A9E19}"/>
              </a:ext>
            </a:extLst>
          </p:cNvPr>
          <p:cNvSpPr txBox="1"/>
          <p:nvPr/>
        </p:nvSpPr>
        <p:spPr>
          <a:xfrm>
            <a:off x="7745530" y="2459506"/>
            <a:ext cx="4551933" cy="800154"/>
          </a:xfrm>
          <a:prstGeom prst="rect">
            <a:avLst/>
          </a:prstGeom>
          <a:noFill/>
        </p:spPr>
        <p:txBody>
          <a:bodyPr wrap="none" lIns="158455" tIns="121888" rIns="158455" bIns="121888" rtlCol="0" anchor="ctr" anchorCtr="0">
            <a:spAutoFit/>
          </a:bodyPr>
          <a:lstStyle/>
          <a:p>
            <a:pPr algn="l">
              <a:lnSpc>
                <a:spcPct val="90000"/>
              </a:lnSpc>
            </a:pPr>
            <a:r>
              <a:rPr lang="en-US" sz="2000" dirty="0">
                <a:solidFill>
                  <a:schemeClr val="tx2"/>
                </a:solidFill>
              </a:rPr>
              <a:t>Details not obvious from commit diff:</a:t>
            </a:r>
          </a:p>
          <a:p>
            <a:pPr algn="l">
              <a:lnSpc>
                <a:spcPct val="90000"/>
              </a:lnSpc>
            </a:pPr>
            <a:r>
              <a:rPr lang="en-US" sz="2000" dirty="0">
                <a:solidFill>
                  <a:schemeClr val="tx2"/>
                </a:solidFill>
              </a:rPr>
              <a:t>Motivation, reasoning, consequences</a:t>
            </a:r>
          </a:p>
        </p:txBody>
      </p:sp>
      <p:sp>
        <p:nvSpPr>
          <p:cNvPr id="9" name="TextBox 8">
            <a:extLst>
              <a:ext uri="{FF2B5EF4-FFF2-40B4-BE49-F238E27FC236}">
                <a16:creationId xmlns:a16="http://schemas.microsoft.com/office/drawing/2014/main" id="{68B70498-A0C5-59CB-57DA-920DF432411D}"/>
              </a:ext>
            </a:extLst>
          </p:cNvPr>
          <p:cNvSpPr txBox="1"/>
          <p:nvPr/>
        </p:nvSpPr>
        <p:spPr>
          <a:xfrm>
            <a:off x="7745530" y="3711406"/>
            <a:ext cx="1830483" cy="523156"/>
          </a:xfrm>
          <a:prstGeom prst="rect">
            <a:avLst/>
          </a:prstGeom>
          <a:noFill/>
        </p:spPr>
        <p:txBody>
          <a:bodyPr wrap="none" lIns="158455" tIns="121888" rIns="158455" bIns="121888" rtlCol="0" anchor="ctr" anchorCtr="0">
            <a:spAutoFit/>
          </a:bodyPr>
          <a:lstStyle/>
          <a:p>
            <a:pPr algn="l">
              <a:lnSpc>
                <a:spcPct val="90000"/>
              </a:lnSpc>
            </a:pPr>
            <a:r>
              <a:rPr lang="en-US" sz="2000" dirty="0">
                <a:solidFill>
                  <a:schemeClr val="tx2"/>
                </a:solidFill>
              </a:rPr>
              <a:t>Testing notes</a:t>
            </a:r>
          </a:p>
        </p:txBody>
      </p:sp>
      <p:sp>
        <p:nvSpPr>
          <p:cNvPr id="10" name="TextBox 9">
            <a:extLst>
              <a:ext uri="{FF2B5EF4-FFF2-40B4-BE49-F238E27FC236}">
                <a16:creationId xmlns:a16="http://schemas.microsoft.com/office/drawing/2014/main" id="{1593B09E-9231-51A2-B64E-296F74875893}"/>
              </a:ext>
            </a:extLst>
          </p:cNvPr>
          <p:cNvSpPr txBox="1"/>
          <p:nvPr/>
        </p:nvSpPr>
        <p:spPr>
          <a:xfrm>
            <a:off x="2739944" y="5264751"/>
            <a:ext cx="6708936" cy="830997"/>
          </a:xfrm>
          <a:prstGeom prst="rect">
            <a:avLst/>
          </a:prstGeom>
          <a:noFill/>
        </p:spPr>
        <p:txBody>
          <a:bodyPr wrap="square" rtlCol="0">
            <a:spAutoFit/>
          </a:bodyPr>
          <a:lstStyle/>
          <a:p>
            <a:pPr algn="ctr"/>
            <a:r>
              <a:rPr lang="en-US" sz="2400" dirty="0"/>
              <a:t>This is only one component of the lab notebook for software – combine with pull requests</a:t>
            </a:r>
          </a:p>
        </p:txBody>
      </p:sp>
      <p:sp>
        <p:nvSpPr>
          <p:cNvPr id="3" name="TextBox 2">
            <a:extLst>
              <a:ext uri="{FF2B5EF4-FFF2-40B4-BE49-F238E27FC236}">
                <a16:creationId xmlns:a16="http://schemas.microsoft.com/office/drawing/2014/main" id="{E94AB6A2-7EE4-6C85-EB1E-B4A6BBFCE505}"/>
              </a:ext>
            </a:extLst>
          </p:cNvPr>
          <p:cNvSpPr txBox="1"/>
          <p:nvPr/>
        </p:nvSpPr>
        <p:spPr>
          <a:xfrm>
            <a:off x="1913038" y="4471546"/>
            <a:ext cx="5019323" cy="369332"/>
          </a:xfrm>
          <a:prstGeom prst="rect">
            <a:avLst/>
          </a:prstGeom>
          <a:noFill/>
        </p:spPr>
        <p:txBody>
          <a:bodyPr wrap="none" rtlCol="0">
            <a:spAutoFit/>
          </a:bodyPr>
          <a:lstStyle/>
          <a:p>
            <a:r>
              <a:rPr lang="en-US" dirty="0"/>
              <a:t>*This message is missing a title as the first line.</a:t>
            </a:r>
          </a:p>
        </p:txBody>
      </p:sp>
    </p:spTree>
    <p:extLst>
      <p:ext uri="{BB962C8B-B14F-4D97-AF65-F5344CB8AC3E}">
        <p14:creationId xmlns:p14="http://schemas.microsoft.com/office/powerpoint/2010/main" val="28648583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65790-4FFF-A93D-2B74-AAFA4028C68D}"/>
              </a:ext>
            </a:extLst>
          </p:cNvPr>
          <p:cNvSpPr>
            <a:spLocks noGrp="1"/>
          </p:cNvSpPr>
          <p:nvPr>
            <p:ph type="title"/>
          </p:nvPr>
        </p:nvSpPr>
        <p:spPr/>
        <p:txBody>
          <a:bodyPr/>
          <a:lstStyle/>
          <a:p>
            <a:r>
              <a:rPr lang="en-US" dirty="0"/>
              <a:t>Pull request as a “filtered” notebook entry</a:t>
            </a:r>
          </a:p>
        </p:txBody>
      </p:sp>
      <p:sp>
        <p:nvSpPr>
          <p:cNvPr id="3" name="Content Placeholder 2">
            <a:extLst>
              <a:ext uri="{FF2B5EF4-FFF2-40B4-BE49-F238E27FC236}">
                <a16:creationId xmlns:a16="http://schemas.microsoft.com/office/drawing/2014/main" id="{16752DD2-A8C1-142A-ADF4-A061E5E58937}"/>
              </a:ext>
            </a:extLst>
          </p:cNvPr>
          <p:cNvSpPr>
            <a:spLocks noGrp="1"/>
          </p:cNvSpPr>
          <p:nvPr>
            <p:ph idx="1"/>
          </p:nvPr>
        </p:nvSpPr>
        <p:spPr>
          <a:xfrm>
            <a:off x="365760" y="1079469"/>
            <a:ext cx="11369809" cy="4047778"/>
          </a:xfrm>
        </p:spPr>
        <p:txBody>
          <a:bodyPr/>
          <a:lstStyle/>
          <a:p>
            <a:r>
              <a:rPr lang="en-US" dirty="0"/>
              <a:t>A pull request is an aggregation of commits to a git repo</a:t>
            </a:r>
          </a:p>
          <a:p>
            <a:pPr lvl="1"/>
            <a:r>
              <a:rPr lang="en-US" dirty="0"/>
              <a:t>Individual commits are linked to the pull request</a:t>
            </a:r>
          </a:p>
          <a:p>
            <a:r>
              <a:rPr lang="en-US" dirty="0">
                <a:solidFill>
                  <a:schemeClr val="tx2"/>
                </a:solidFill>
              </a:rPr>
              <a:t>The PR allows for additional content that’s distinct from the individual commits</a:t>
            </a:r>
          </a:p>
          <a:p>
            <a:r>
              <a:rPr lang="en-US" dirty="0"/>
              <a:t>Use PR description to record process to verify correctness of changes</a:t>
            </a:r>
          </a:p>
          <a:p>
            <a:pPr lvl="1"/>
            <a:r>
              <a:rPr lang="en-US" dirty="0"/>
              <a:t>2-2.5 days effort carried out over a week</a:t>
            </a:r>
          </a:p>
          <a:p>
            <a:pPr lvl="1"/>
            <a:r>
              <a:rPr lang="en-US" dirty="0"/>
              <a:t>Copy/pasted from previous PR and adapted first (designed process)</a:t>
            </a:r>
          </a:p>
          <a:p>
            <a:pPr lvl="1"/>
            <a:r>
              <a:rPr lang="en-US" dirty="0"/>
              <a:t>Improved as carried out process – converging on a quasi-procedure</a:t>
            </a:r>
          </a:p>
          <a:p>
            <a:pPr lvl="1"/>
            <a:r>
              <a:rPr lang="en-US" dirty="0"/>
              <a:t>Filtered so that reviewers aren’t overwhelmed</a:t>
            </a:r>
          </a:p>
          <a:p>
            <a:pPr lvl="1"/>
            <a:r>
              <a:rPr lang="en-US" dirty="0"/>
              <a:t>Helped organize effort &amp; design good tests</a:t>
            </a:r>
          </a:p>
          <a:p>
            <a:r>
              <a:rPr lang="en-US" dirty="0"/>
              <a:t>Additional benefits</a:t>
            </a:r>
          </a:p>
          <a:p>
            <a:pPr lvl="1"/>
            <a:r>
              <a:rPr lang="en-US" dirty="0"/>
              <a:t>Senior reviewers provide feedback &amp; suggest improvements</a:t>
            </a:r>
          </a:p>
          <a:p>
            <a:pPr lvl="1"/>
            <a:r>
              <a:rPr lang="en-US" dirty="0"/>
              <a:t>Junior reviewers exposed to work habits of other people</a:t>
            </a:r>
          </a:p>
          <a:p>
            <a:r>
              <a:rPr lang="en-US" dirty="0"/>
              <a:t>Example: Flash-X PR #247 on next slide</a:t>
            </a:r>
          </a:p>
        </p:txBody>
      </p:sp>
    </p:spTree>
    <p:extLst>
      <p:ext uri="{BB962C8B-B14F-4D97-AF65-F5344CB8AC3E}">
        <p14:creationId xmlns:p14="http://schemas.microsoft.com/office/powerpoint/2010/main" val="6269642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1913058-559F-714A-DFD9-37BACE442572}"/>
              </a:ext>
            </a:extLst>
          </p:cNvPr>
          <p:cNvSpPr>
            <a:spLocks noGrp="1"/>
          </p:cNvSpPr>
          <p:nvPr>
            <p:ph type="sldNum" sz="quarter" idx="4294967295"/>
          </p:nvPr>
        </p:nvSpPr>
        <p:spPr>
          <a:xfrm>
            <a:off x="0" y="0"/>
            <a:ext cx="0" cy="0"/>
          </a:xfrm>
        </p:spPr>
        <p:txBody>
          <a:bodyPr/>
          <a:lstStyle/>
          <a:p>
            <a:endParaRPr lang="en-US" dirty="0"/>
          </a:p>
          <a:p>
            <a:endParaRPr lang="en-US" dirty="0"/>
          </a:p>
        </p:txBody>
      </p:sp>
      <p:pic>
        <p:nvPicPr>
          <p:cNvPr id="6" name="Picture 5">
            <a:extLst>
              <a:ext uri="{FF2B5EF4-FFF2-40B4-BE49-F238E27FC236}">
                <a16:creationId xmlns:a16="http://schemas.microsoft.com/office/drawing/2014/main" id="{383BE8A3-5C00-AD84-445D-A10220053C82}"/>
              </a:ext>
            </a:extLst>
          </p:cNvPr>
          <p:cNvPicPr>
            <a:picLocks noChangeAspect="1"/>
          </p:cNvPicPr>
          <p:nvPr/>
        </p:nvPicPr>
        <p:blipFill rotWithShape="1">
          <a:blip r:embed="rId2"/>
          <a:srcRect b="10715"/>
          <a:stretch/>
        </p:blipFill>
        <p:spPr>
          <a:xfrm>
            <a:off x="2505815" y="164160"/>
            <a:ext cx="9569678" cy="6693839"/>
          </a:xfrm>
          <a:prstGeom prst="rect">
            <a:avLst/>
          </a:prstGeom>
        </p:spPr>
      </p:pic>
      <p:sp>
        <p:nvSpPr>
          <p:cNvPr id="7" name="TextBox 6">
            <a:extLst>
              <a:ext uri="{FF2B5EF4-FFF2-40B4-BE49-F238E27FC236}">
                <a16:creationId xmlns:a16="http://schemas.microsoft.com/office/drawing/2014/main" id="{B64E9ACB-0E43-DF6C-DB6A-7D3B96707729}"/>
              </a:ext>
            </a:extLst>
          </p:cNvPr>
          <p:cNvSpPr txBox="1"/>
          <p:nvPr/>
        </p:nvSpPr>
        <p:spPr>
          <a:xfrm>
            <a:off x="634214" y="2967335"/>
            <a:ext cx="1694544" cy="923330"/>
          </a:xfrm>
          <a:prstGeom prst="rect">
            <a:avLst/>
          </a:prstGeom>
          <a:noFill/>
        </p:spPr>
        <p:txBody>
          <a:bodyPr wrap="square" rtlCol="0">
            <a:spAutoFit/>
          </a:bodyPr>
          <a:lstStyle/>
          <a:p>
            <a:r>
              <a:rPr lang="en-US" b="1" dirty="0"/>
              <a:t>Example: Flash-X</a:t>
            </a:r>
          </a:p>
          <a:p>
            <a:r>
              <a:rPr lang="en-US" b="1" dirty="0"/>
              <a:t>PR #247</a:t>
            </a:r>
          </a:p>
        </p:txBody>
      </p:sp>
    </p:spTree>
    <p:extLst>
      <p:ext uri="{BB962C8B-B14F-4D97-AF65-F5344CB8AC3E}">
        <p14:creationId xmlns:p14="http://schemas.microsoft.com/office/powerpoint/2010/main" val="30279733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4D68C-51DF-DA67-4540-49447D382649}"/>
              </a:ext>
            </a:extLst>
          </p:cNvPr>
          <p:cNvSpPr>
            <a:spLocks noGrp="1"/>
          </p:cNvSpPr>
          <p:nvPr>
            <p:ph type="title"/>
          </p:nvPr>
        </p:nvSpPr>
        <p:spPr/>
        <p:txBody>
          <a:bodyPr/>
          <a:lstStyle/>
          <a:p>
            <a:r>
              <a:rPr lang="en-US" dirty="0"/>
              <a:t>README lab notes streams</a:t>
            </a:r>
          </a:p>
        </p:txBody>
      </p:sp>
      <p:sp>
        <p:nvSpPr>
          <p:cNvPr id="3" name="Content Placeholder 2">
            <a:extLst>
              <a:ext uri="{FF2B5EF4-FFF2-40B4-BE49-F238E27FC236}">
                <a16:creationId xmlns:a16="http://schemas.microsoft.com/office/drawing/2014/main" id="{6CA789C4-7606-F9C1-CC47-F08121DE2381}"/>
              </a:ext>
            </a:extLst>
          </p:cNvPr>
          <p:cNvSpPr>
            <a:spLocks noGrp="1"/>
          </p:cNvSpPr>
          <p:nvPr>
            <p:ph idx="1"/>
          </p:nvPr>
        </p:nvSpPr>
        <p:spPr/>
        <p:txBody>
          <a:bodyPr/>
          <a:lstStyle/>
          <a:p>
            <a:r>
              <a:rPr lang="en-US" dirty="0"/>
              <a:t>High-level road maps with motivation, documented decisions, and conclusions</a:t>
            </a:r>
          </a:p>
          <a:p>
            <a:pPr lvl="1"/>
            <a:r>
              <a:rPr lang="en-US" dirty="0"/>
              <a:t>Concise living docs that function as executive summaries</a:t>
            </a:r>
          </a:p>
          <a:p>
            <a:pPr lvl="1"/>
            <a:r>
              <a:rPr lang="en-US" dirty="0"/>
              <a:t>Higher up in documentation hierarchy</a:t>
            </a:r>
          </a:p>
          <a:p>
            <a:r>
              <a:rPr lang="en-US" dirty="0"/>
              <a:t>Low-level notes such as managing software stack</a:t>
            </a:r>
          </a:p>
          <a:p>
            <a:pPr lvl="1"/>
            <a:r>
              <a:rPr lang="en-US" dirty="0"/>
              <a:t>Traceability of SW environment &amp; therefore verification</a:t>
            </a:r>
          </a:p>
          <a:p>
            <a:pPr lvl="1"/>
            <a:r>
              <a:rPr lang="en-US" dirty="0"/>
              <a:t>Can be turned into procedures</a:t>
            </a:r>
          </a:p>
        </p:txBody>
      </p:sp>
    </p:spTree>
    <p:extLst>
      <p:ext uri="{BB962C8B-B14F-4D97-AF65-F5344CB8AC3E}">
        <p14:creationId xmlns:p14="http://schemas.microsoft.com/office/powerpoint/2010/main" val="29875853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5F2A-4458-E5EC-B271-2B67B5E6027C}"/>
              </a:ext>
            </a:extLst>
          </p:cNvPr>
          <p:cNvSpPr>
            <a:spLocks noGrp="1"/>
          </p:cNvSpPr>
          <p:nvPr>
            <p:ph type="title"/>
          </p:nvPr>
        </p:nvSpPr>
        <p:spPr>
          <a:xfrm>
            <a:off x="272933" y="2971800"/>
            <a:ext cx="2178305" cy="914400"/>
          </a:xfrm>
        </p:spPr>
        <p:txBody>
          <a:bodyPr/>
          <a:lstStyle/>
          <a:p>
            <a:pPr algn="ctr"/>
            <a:r>
              <a:rPr lang="en-US" dirty="0"/>
              <a:t>High-level README</a:t>
            </a:r>
          </a:p>
        </p:txBody>
      </p:sp>
      <p:pic>
        <p:nvPicPr>
          <p:cNvPr id="6" name="Picture 5">
            <a:extLst>
              <a:ext uri="{FF2B5EF4-FFF2-40B4-BE49-F238E27FC236}">
                <a16:creationId xmlns:a16="http://schemas.microsoft.com/office/drawing/2014/main" id="{9385CEA7-E653-1B9A-9CB5-18142F9F82E2}"/>
              </a:ext>
            </a:extLst>
          </p:cNvPr>
          <p:cNvPicPr>
            <a:picLocks noChangeAspect="1"/>
          </p:cNvPicPr>
          <p:nvPr/>
        </p:nvPicPr>
        <p:blipFill rotWithShape="1">
          <a:blip r:embed="rId2"/>
          <a:srcRect b="11007"/>
          <a:stretch/>
        </p:blipFill>
        <p:spPr>
          <a:xfrm>
            <a:off x="2730544" y="154984"/>
            <a:ext cx="8970676" cy="6608366"/>
          </a:xfrm>
          <a:prstGeom prst="rect">
            <a:avLst/>
          </a:prstGeom>
        </p:spPr>
      </p:pic>
    </p:spTree>
    <p:extLst>
      <p:ext uri="{BB962C8B-B14F-4D97-AF65-F5344CB8AC3E}">
        <p14:creationId xmlns:p14="http://schemas.microsoft.com/office/powerpoint/2010/main" val="4520995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BE98A-F7F5-86A9-4897-E9C77258E5CE}"/>
              </a:ext>
            </a:extLst>
          </p:cNvPr>
          <p:cNvSpPr>
            <a:spLocks noGrp="1"/>
          </p:cNvSpPr>
          <p:nvPr>
            <p:ph type="title"/>
          </p:nvPr>
        </p:nvSpPr>
        <p:spPr>
          <a:xfrm>
            <a:off x="310541" y="2971800"/>
            <a:ext cx="2113969" cy="914400"/>
          </a:xfrm>
        </p:spPr>
        <p:txBody>
          <a:bodyPr/>
          <a:lstStyle/>
          <a:p>
            <a:pPr algn="ctr"/>
            <a:r>
              <a:rPr lang="en-US" dirty="0"/>
              <a:t>Low-level README</a:t>
            </a:r>
          </a:p>
        </p:txBody>
      </p:sp>
      <p:pic>
        <p:nvPicPr>
          <p:cNvPr id="6" name="Picture 5">
            <a:extLst>
              <a:ext uri="{FF2B5EF4-FFF2-40B4-BE49-F238E27FC236}">
                <a16:creationId xmlns:a16="http://schemas.microsoft.com/office/drawing/2014/main" id="{F6F207BA-EFF5-E734-45C2-20C71A08193C}"/>
              </a:ext>
            </a:extLst>
          </p:cNvPr>
          <p:cNvPicPr>
            <a:picLocks noChangeAspect="1"/>
          </p:cNvPicPr>
          <p:nvPr/>
        </p:nvPicPr>
        <p:blipFill rotWithShape="1">
          <a:blip r:embed="rId2"/>
          <a:srcRect b="25346"/>
          <a:stretch/>
        </p:blipFill>
        <p:spPr>
          <a:xfrm>
            <a:off x="2526732" y="278970"/>
            <a:ext cx="9653413" cy="6509284"/>
          </a:xfrm>
          <a:prstGeom prst="rect">
            <a:avLst/>
          </a:prstGeom>
        </p:spPr>
      </p:pic>
    </p:spTree>
    <p:extLst>
      <p:ext uri="{BB962C8B-B14F-4D97-AF65-F5344CB8AC3E}">
        <p14:creationId xmlns:p14="http://schemas.microsoft.com/office/powerpoint/2010/main" val="7058253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E1852-3656-C951-2EBF-E42F0C05DC1E}"/>
              </a:ext>
            </a:extLst>
          </p:cNvPr>
          <p:cNvSpPr>
            <a:spLocks noGrp="1"/>
          </p:cNvSpPr>
          <p:nvPr>
            <p:ph type="title"/>
          </p:nvPr>
        </p:nvSpPr>
        <p:spPr/>
        <p:txBody>
          <a:bodyPr/>
          <a:lstStyle/>
          <a:p>
            <a:r>
              <a:rPr lang="en-US" dirty="0"/>
              <a:t>Capturing data context &amp; metadata (distinct from the data)</a:t>
            </a:r>
          </a:p>
        </p:txBody>
      </p:sp>
      <p:sp>
        <p:nvSpPr>
          <p:cNvPr id="3" name="Content Placeholder 2">
            <a:extLst>
              <a:ext uri="{FF2B5EF4-FFF2-40B4-BE49-F238E27FC236}">
                <a16:creationId xmlns:a16="http://schemas.microsoft.com/office/drawing/2014/main" id="{E77B46AA-44D3-F27C-F535-2F68FAE575D0}"/>
              </a:ext>
            </a:extLst>
          </p:cNvPr>
          <p:cNvSpPr>
            <a:spLocks noGrp="1"/>
          </p:cNvSpPr>
          <p:nvPr>
            <p:ph idx="1"/>
          </p:nvPr>
        </p:nvSpPr>
        <p:spPr/>
        <p:txBody>
          <a:bodyPr/>
          <a:lstStyle/>
          <a:p>
            <a:r>
              <a:rPr lang="en-US" dirty="0"/>
              <a:t>Build dates, user, system name, git hashes, configuration data in file headers</a:t>
            </a:r>
          </a:p>
          <a:p>
            <a:pPr lvl="1"/>
            <a:r>
              <a:rPr lang="en-US" dirty="0"/>
              <a:t>Self-documenting files</a:t>
            </a:r>
          </a:p>
          <a:p>
            <a:r>
              <a:rPr lang="en-US" dirty="0"/>
              <a:t>Build &amp; job logs</a:t>
            </a:r>
          </a:p>
          <a:p>
            <a:pPr lvl="1"/>
            <a:r>
              <a:rPr lang="en-US" dirty="0"/>
              <a:t>Software environment info (e.g., modules, </a:t>
            </a:r>
            <a:r>
              <a:rPr lang="en-US" dirty="0" err="1">
                <a:latin typeface="American Typewriter" panose="02090604020004020304"/>
              </a:rPr>
              <a:t>ldd</a:t>
            </a:r>
            <a:r>
              <a:rPr lang="en-US" dirty="0"/>
              <a:t> output)</a:t>
            </a:r>
          </a:p>
          <a:p>
            <a:pPr lvl="1"/>
            <a:r>
              <a:rPr lang="en-US" dirty="0"/>
              <a:t>git diffs</a:t>
            </a:r>
          </a:p>
          <a:p>
            <a:pPr lvl="1"/>
            <a:r>
              <a:rPr lang="en-US" dirty="0"/>
              <a:t>Environment variables</a:t>
            </a:r>
          </a:p>
          <a:p>
            <a:r>
              <a:rPr lang="en-US" dirty="0"/>
              <a:t>Automate as much as possible</a:t>
            </a:r>
          </a:p>
        </p:txBody>
      </p:sp>
    </p:spTree>
    <p:extLst>
      <p:ext uri="{BB962C8B-B14F-4D97-AF65-F5344CB8AC3E}">
        <p14:creationId xmlns:p14="http://schemas.microsoft.com/office/powerpoint/2010/main" val="30239135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A7D5F-8954-D467-6CF2-B5D266517268}"/>
              </a:ext>
            </a:extLst>
          </p:cNvPr>
          <p:cNvSpPr>
            <a:spLocks noGrp="1"/>
          </p:cNvSpPr>
          <p:nvPr>
            <p:ph type="title"/>
          </p:nvPr>
        </p:nvSpPr>
        <p:spPr/>
        <p:txBody>
          <a:bodyPr/>
          <a:lstStyle/>
          <a:p>
            <a:r>
              <a:rPr lang="en-US" dirty="0" err="1"/>
              <a:t>Jupyter</a:t>
            </a:r>
            <a:r>
              <a:rPr lang="en-US" dirty="0"/>
              <a:t> notebooks</a:t>
            </a:r>
          </a:p>
        </p:txBody>
      </p:sp>
      <p:sp>
        <p:nvSpPr>
          <p:cNvPr id="3" name="Content Placeholder 2">
            <a:extLst>
              <a:ext uri="{FF2B5EF4-FFF2-40B4-BE49-F238E27FC236}">
                <a16:creationId xmlns:a16="http://schemas.microsoft.com/office/drawing/2014/main" id="{E1076D7A-4C21-B8C1-0B36-BC5C121B7E20}"/>
              </a:ext>
            </a:extLst>
          </p:cNvPr>
          <p:cNvSpPr>
            <a:spLocks noGrp="1"/>
          </p:cNvSpPr>
          <p:nvPr>
            <p:ph idx="1"/>
          </p:nvPr>
        </p:nvSpPr>
        <p:spPr/>
        <p:txBody>
          <a:bodyPr/>
          <a:lstStyle/>
          <a:p>
            <a:r>
              <a:rPr lang="en-US" dirty="0" err="1"/>
              <a:t>Jupyter</a:t>
            </a:r>
            <a:r>
              <a:rPr lang="en-US" dirty="0"/>
              <a:t> notebook can put context &amp; metadata next to data</a:t>
            </a:r>
          </a:p>
          <a:p>
            <a:pPr lvl="1"/>
            <a:r>
              <a:rPr lang="en-US" dirty="0"/>
              <a:t>High-level design &amp; motivation up top</a:t>
            </a:r>
          </a:p>
          <a:p>
            <a:pPr lvl="1"/>
            <a:r>
              <a:rPr lang="en-US" dirty="0"/>
              <a:t>Low-level lab notes for acquiring data</a:t>
            </a:r>
          </a:p>
          <a:p>
            <a:pPr lvl="1"/>
            <a:r>
              <a:rPr lang="en-US" dirty="0"/>
              <a:t>Load &amp; use data</a:t>
            </a:r>
          </a:p>
          <a:p>
            <a:pPr lvl="1"/>
            <a:r>
              <a:rPr lang="en-US" dirty="0"/>
              <a:t>Generate visualizations in place</a:t>
            </a:r>
          </a:p>
          <a:p>
            <a:pPr lvl="1"/>
            <a:r>
              <a:rPr lang="en-US" dirty="0"/>
              <a:t>Comment on results</a:t>
            </a:r>
          </a:p>
          <a:p>
            <a:r>
              <a:rPr lang="en-US" dirty="0"/>
              <a:t>Where do notebooks fit into the documentation hierarchy?</a:t>
            </a:r>
          </a:p>
          <a:p>
            <a:r>
              <a:rPr lang="en-US" dirty="0"/>
              <a:t>Repetitive use of notebook?</a:t>
            </a:r>
          </a:p>
          <a:p>
            <a:pPr lvl="1"/>
            <a:r>
              <a:rPr lang="en-US" dirty="0"/>
              <a:t>Limit amount of code in notebook</a:t>
            </a:r>
          </a:p>
          <a:p>
            <a:pPr marL="0" indent="0">
              <a:buNone/>
            </a:pPr>
            <a:endParaRPr lang="en-US" dirty="0"/>
          </a:p>
        </p:txBody>
      </p:sp>
    </p:spTree>
    <p:extLst>
      <p:ext uri="{BB962C8B-B14F-4D97-AF65-F5344CB8AC3E}">
        <p14:creationId xmlns:p14="http://schemas.microsoft.com/office/powerpoint/2010/main" val="8749582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A5748-338E-6BEC-6A08-75FF57B258D4}"/>
              </a:ext>
            </a:extLst>
          </p:cNvPr>
          <p:cNvSpPr>
            <a:spLocks noGrp="1"/>
          </p:cNvSpPr>
          <p:nvPr>
            <p:ph type="title"/>
          </p:nvPr>
        </p:nvSpPr>
        <p:spPr/>
        <p:txBody>
          <a:bodyPr/>
          <a:lstStyle/>
          <a:p>
            <a:r>
              <a:rPr lang="en-US" dirty="0"/>
              <a:t>How to organize your “virtual” (multi-stream) lab notebook?</a:t>
            </a:r>
          </a:p>
        </p:txBody>
      </p:sp>
      <p:sp>
        <p:nvSpPr>
          <p:cNvPr id="3" name="Content Placeholder 2">
            <a:extLst>
              <a:ext uri="{FF2B5EF4-FFF2-40B4-BE49-F238E27FC236}">
                <a16:creationId xmlns:a16="http://schemas.microsoft.com/office/drawing/2014/main" id="{97FF6560-002E-5313-38E2-48F067135E52}"/>
              </a:ext>
            </a:extLst>
          </p:cNvPr>
          <p:cNvSpPr>
            <a:spLocks noGrp="1"/>
          </p:cNvSpPr>
          <p:nvPr>
            <p:ph idx="1"/>
          </p:nvPr>
        </p:nvSpPr>
        <p:spPr>
          <a:xfrm>
            <a:off x="365760" y="1233504"/>
            <a:ext cx="11369809" cy="4047778"/>
          </a:xfrm>
        </p:spPr>
        <p:txBody>
          <a:bodyPr/>
          <a:lstStyle/>
          <a:p>
            <a:r>
              <a:rPr lang="en-US" dirty="0"/>
              <a:t>It should be</a:t>
            </a:r>
          </a:p>
          <a:p>
            <a:pPr lvl="1"/>
            <a:r>
              <a:rPr lang="en-US" dirty="0"/>
              <a:t>Easy to create and maintain lab notes</a:t>
            </a:r>
          </a:p>
          <a:p>
            <a:pPr lvl="1"/>
            <a:r>
              <a:rPr lang="en-US" dirty="0"/>
              <a:t>Easy to concentrate more on executing work &amp; less on documenting it</a:t>
            </a:r>
          </a:p>
          <a:p>
            <a:pPr lvl="1"/>
            <a:r>
              <a:rPr lang="en-US" dirty="0"/>
              <a:t>Easy to find what you need</a:t>
            </a:r>
          </a:p>
          <a:p>
            <a:r>
              <a:rPr lang="en-US" dirty="0"/>
              <a:t>Each stream should</a:t>
            </a:r>
          </a:p>
          <a:p>
            <a:pPr lvl="1"/>
            <a:r>
              <a:rPr lang="en-US" dirty="0"/>
              <a:t>Have a clear identity for what it records</a:t>
            </a:r>
          </a:p>
          <a:p>
            <a:pPr lvl="1"/>
            <a:r>
              <a:rPr lang="en-US" dirty="0"/>
              <a:t>Not contain notes contained in other streams</a:t>
            </a:r>
          </a:p>
          <a:p>
            <a:pPr lvl="1"/>
            <a:r>
              <a:rPr lang="en-US" dirty="0"/>
              <a:t>Be recorded by using the right tool for the job</a:t>
            </a:r>
          </a:p>
        </p:txBody>
      </p:sp>
    </p:spTree>
    <p:extLst>
      <p:ext uri="{BB962C8B-B14F-4D97-AF65-F5344CB8AC3E}">
        <p14:creationId xmlns:p14="http://schemas.microsoft.com/office/powerpoint/2010/main" val="23979094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E5AE6-BAC5-4D3D-B274-228B336C1693}"/>
              </a:ext>
            </a:extLst>
          </p:cNvPr>
          <p:cNvSpPr>
            <a:spLocks noGrp="1"/>
          </p:cNvSpPr>
          <p:nvPr>
            <p:ph type="title"/>
          </p:nvPr>
        </p:nvSpPr>
        <p:spPr/>
        <p:txBody>
          <a:bodyPr/>
          <a:lstStyle/>
          <a:p>
            <a:r>
              <a:rPr lang="en-US" dirty="0"/>
              <a:t>Strategies for Improving Reproducibility </a:t>
            </a:r>
            <a:r>
              <a:rPr lang="en-US" i="1" u="sng" dirty="0"/>
              <a:t>with Lab Notebooks</a:t>
            </a:r>
            <a:endParaRPr lang="en-US" u="sng" dirty="0"/>
          </a:p>
        </p:txBody>
      </p:sp>
      <p:sp>
        <p:nvSpPr>
          <p:cNvPr id="3" name="Content Placeholder 2">
            <a:extLst>
              <a:ext uri="{FF2B5EF4-FFF2-40B4-BE49-F238E27FC236}">
                <a16:creationId xmlns:a16="http://schemas.microsoft.com/office/drawing/2014/main" id="{7E3F8F1F-5081-4F6E-81DA-DC14088609D1}"/>
              </a:ext>
            </a:extLst>
          </p:cNvPr>
          <p:cNvSpPr>
            <a:spLocks noGrp="1"/>
          </p:cNvSpPr>
          <p:nvPr>
            <p:ph idx="1"/>
          </p:nvPr>
        </p:nvSpPr>
        <p:spPr>
          <a:xfrm>
            <a:off x="365760" y="1310145"/>
            <a:ext cx="11369809" cy="4047778"/>
          </a:xfrm>
        </p:spPr>
        <p:txBody>
          <a:bodyPr/>
          <a:lstStyle/>
          <a:p>
            <a:r>
              <a:rPr lang="en-US" b="1" dirty="0">
                <a:solidFill>
                  <a:schemeClr val="tx2"/>
                </a:solidFill>
              </a:rPr>
              <a:t>Be thorough in capturing provenance</a:t>
            </a:r>
          </a:p>
          <a:p>
            <a:pPr lvl="1"/>
            <a:r>
              <a:rPr lang="en-US" b="1" dirty="0">
                <a:solidFill>
                  <a:schemeClr val="tx2"/>
                </a:solidFill>
              </a:rPr>
              <a:t> Agents (codes), entities (inputs, outputs, etc.), activities (the transformation)</a:t>
            </a:r>
          </a:p>
          <a:p>
            <a:r>
              <a:rPr lang="en-US" dirty="0"/>
              <a:t>Capture code version</a:t>
            </a:r>
          </a:p>
          <a:p>
            <a:r>
              <a:rPr lang="en-US" dirty="0"/>
              <a:t>Capture all inputs/configuration information for each experiment</a:t>
            </a:r>
          </a:p>
          <a:p>
            <a:r>
              <a:rPr lang="en-US" dirty="0"/>
              <a:t>Use multiple systems to ensure that you can correctly associate inputs, outputs, and code versions</a:t>
            </a:r>
          </a:p>
          <a:p>
            <a:pPr lvl="1"/>
            <a:r>
              <a:rPr lang="en-US" dirty="0"/>
              <a:t>Systematic directory and file naming conventions (document them!)</a:t>
            </a:r>
          </a:p>
          <a:p>
            <a:pPr lvl="1"/>
            <a:r>
              <a:rPr lang="en-US" dirty="0"/>
              <a:t>Separate written notes (paper notebook, electronic notebook)</a:t>
            </a:r>
          </a:p>
          <a:p>
            <a:pPr lvl="2"/>
            <a:r>
              <a:rPr lang="en-US" dirty="0"/>
              <a:t>Lab notebooks aren’t just for people who literally work in a laboratory!</a:t>
            </a:r>
          </a:p>
          <a:p>
            <a:pPr lvl="1"/>
            <a:r>
              <a:rPr lang="en-US" dirty="0"/>
              <a:t>Scripts to orchestrate experiments (versioned and captured)</a:t>
            </a:r>
          </a:p>
          <a:p>
            <a:pPr lvl="1"/>
            <a:r>
              <a:rPr lang="en-US" dirty="0"/>
              <a:t>Version control (if data is not too large)</a:t>
            </a:r>
          </a:p>
          <a:p>
            <a:r>
              <a:rPr lang="en-US" dirty="0"/>
              <a:t>Capture important outputs (as feasible)</a:t>
            </a:r>
          </a:p>
        </p:txBody>
      </p:sp>
    </p:spTree>
    <p:extLst>
      <p:ext uri="{BB962C8B-B14F-4D97-AF65-F5344CB8AC3E}">
        <p14:creationId xmlns:p14="http://schemas.microsoft.com/office/powerpoint/2010/main" val="1612443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E5AE6-BAC5-4D3D-B274-228B336C1693}"/>
              </a:ext>
            </a:extLst>
          </p:cNvPr>
          <p:cNvSpPr>
            <a:spLocks noGrp="1"/>
          </p:cNvSpPr>
          <p:nvPr>
            <p:ph type="title"/>
          </p:nvPr>
        </p:nvSpPr>
        <p:spPr/>
        <p:txBody>
          <a:bodyPr/>
          <a:lstStyle/>
          <a:p>
            <a:r>
              <a:rPr lang="en-US" dirty="0"/>
              <a:t>Strategies for Improving Reproducibility </a:t>
            </a:r>
            <a:r>
              <a:rPr lang="en-US" i="1" u="sng" dirty="0"/>
              <a:t>After</a:t>
            </a:r>
            <a:r>
              <a:rPr lang="en-US" u="sng" dirty="0"/>
              <a:t> Experiments</a:t>
            </a:r>
          </a:p>
        </p:txBody>
      </p:sp>
      <p:sp>
        <p:nvSpPr>
          <p:cNvPr id="3" name="Content Placeholder 2">
            <a:extLst>
              <a:ext uri="{FF2B5EF4-FFF2-40B4-BE49-F238E27FC236}">
                <a16:creationId xmlns:a16="http://schemas.microsoft.com/office/drawing/2014/main" id="{7E3F8F1F-5081-4F6E-81DA-DC14088609D1}"/>
              </a:ext>
            </a:extLst>
          </p:cNvPr>
          <p:cNvSpPr>
            <a:spLocks noGrp="1"/>
          </p:cNvSpPr>
          <p:nvPr>
            <p:ph idx="1"/>
          </p:nvPr>
        </p:nvSpPr>
        <p:spPr>
          <a:xfrm>
            <a:off x="365760" y="1115269"/>
            <a:ext cx="11369809" cy="4047778"/>
          </a:xfrm>
        </p:spPr>
        <p:txBody>
          <a:bodyPr/>
          <a:lstStyle/>
          <a:p>
            <a:r>
              <a:rPr lang="en-US" b="1" dirty="0">
                <a:solidFill>
                  <a:schemeClr val="tx2"/>
                </a:solidFill>
              </a:rPr>
              <a:t>Continue provenance capture through data analysis/reduction process</a:t>
            </a:r>
          </a:p>
          <a:p>
            <a:pPr lvl="1">
              <a:spcBef>
                <a:spcPts val="200"/>
              </a:spcBef>
            </a:pPr>
            <a:r>
              <a:rPr lang="en-US" b="1" dirty="0">
                <a:solidFill>
                  <a:schemeClr val="tx2"/>
                </a:solidFill>
              </a:rPr>
              <a:t>Agents (codes), entities (inputs, outputs, etc.), activities (the transformation)</a:t>
            </a:r>
          </a:p>
          <a:p>
            <a:r>
              <a:rPr lang="en-US" dirty="0"/>
              <a:t>Script as much of your analysis/reduction as possible</a:t>
            </a:r>
          </a:p>
          <a:p>
            <a:pPr lvl="1">
              <a:spcBef>
                <a:spcPts val="200"/>
              </a:spcBef>
            </a:pPr>
            <a:r>
              <a:rPr lang="en-US" dirty="0"/>
              <a:t>Prefer scriptable tools over those requiring human interaction</a:t>
            </a:r>
          </a:p>
          <a:p>
            <a:pPr lvl="1">
              <a:spcBef>
                <a:spcPts val="200"/>
              </a:spcBef>
            </a:pPr>
            <a:r>
              <a:rPr lang="en-US" dirty="0"/>
              <a:t>Keep the scripts under version control</a:t>
            </a:r>
          </a:p>
          <a:p>
            <a:r>
              <a:rPr lang="en-US" dirty="0"/>
              <a:t>Document your process thoroughly</a:t>
            </a:r>
          </a:p>
          <a:p>
            <a:pPr lvl="1">
              <a:spcBef>
                <a:spcPts val="200"/>
              </a:spcBef>
            </a:pPr>
            <a:r>
              <a:rPr lang="en-US" dirty="0"/>
              <a:t>Separately from scripts, etc.</a:t>
            </a:r>
          </a:p>
          <a:p>
            <a:pPr lvl="1">
              <a:spcBef>
                <a:spcPts val="200"/>
              </a:spcBef>
            </a:pPr>
            <a:r>
              <a:rPr lang="en-US" dirty="0"/>
              <a:t>E.g., in your lab notebook</a:t>
            </a:r>
          </a:p>
          <a:p>
            <a:pPr lvl="1">
              <a:spcBef>
                <a:spcPts val="200"/>
              </a:spcBef>
            </a:pPr>
            <a:r>
              <a:rPr lang="en-US" dirty="0"/>
              <a:t>Especially where human interaction is required</a:t>
            </a:r>
          </a:p>
          <a:p>
            <a:r>
              <a:rPr lang="en-US" dirty="0"/>
              <a:t>Capture key intermediates in the reduction process</a:t>
            </a:r>
          </a:p>
          <a:p>
            <a:pPr lvl="1">
              <a:spcBef>
                <a:spcPts val="200"/>
              </a:spcBef>
            </a:pPr>
            <a:r>
              <a:rPr lang="en-US" dirty="0"/>
              <a:t>The longer the processing pipelines, the more likely problems will creep in</a:t>
            </a:r>
          </a:p>
          <a:p>
            <a:pPr lvl="1">
              <a:spcBef>
                <a:spcPts val="200"/>
              </a:spcBef>
            </a:pPr>
            <a:r>
              <a:rPr lang="en-US" dirty="0"/>
              <a:t>The more you capture, the more you will have for verification (and to find problems) later</a:t>
            </a:r>
          </a:p>
          <a:p>
            <a:r>
              <a:rPr lang="en-US" dirty="0"/>
              <a:t>Capture the data (in machine-readable form) used to produce graphs and tables</a:t>
            </a:r>
          </a:p>
          <a:p>
            <a:pPr lvl="1">
              <a:spcBef>
                <a:spcPts val="200"/>
              </a:spcBef>
            </a:pPr>
            <a:r>
              <a:rPr lang="en-US" dirty="0"/>
              <a:t>Expected by basic data management plans</a:t>
            </a:r>
          </a:p>
          <a:p>
            <a:pPr lvl="1">
              <a:spcBef>
                <a:spcPts val="200"/>
              </a:spcBef>
            </a:pPr>
            <a:r>
              <a:rPr lang="en-US" dirty="0"/>
              <a:t>And an increasing number of publishers</a:t>
            </a:r>
          </a:p>
        </p:txBody>
      </p:sp>
    </p:spTree>
    <p:extLst>
      <p:ext uri="{BB962C8B-B14F-4D97-AF65-F5344CB8AC3E}">
        <p14:creationId xmlns:p14="http://schemas.microsoft.com/office/powerpoint/2010/main" val="9782565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332E9-2FA0-40C4-8D47-26B41016D037}"/>
              </a:ext>
            </a:extLst>
          </p:cNvPr>
          <p:cNvSpPr>
            <a:spLocks noGrp="1"/>
          </p:cNvSpPr>
          <p:nvPr>
            <p:ph type="title"/>
          </p:nvPr>
        </p:nvSpPr>
        <p:spPr/>
        <p:txBody>
          <a:bodyPr/>
          <a:lstStyle/>
          <a:p>
            <a:r>
              <a:rPr lang="en-US" dirty="0"/>
              <a:t>Tools May Help with Reproducibility</a:t>
            </a:r>
          </a:p>
        </p:txBody>
      </p:sp>
      <p:sp>
        <p:nvSpPr>
          <p:cNvPr id="3" name="Content Placeholder 2">
            <a:extLst>
              <a:ext uri="{FF2B5EF4-FFF2-40B4-BE49-F238E27FC236}">
                <a16:creationId xmlns:a16="http://schemas.microsoft.com/office/drawing/2014/main" id="{735D30F0-B0A3-467E-9909-18B09F1F526A}"/>
              </a:ext>
            </a:extLst>
          </p:cNvPr>
          <p:cNvSpPr>
            <a:spLocks noGrp="1"/>
          </p:cNvSpPr>
          <p:nvPr>
            <p:ph idx="1"/>
          </p:nvPr>
        </p:nvSpPr>
        <p:spPr>
          <a:xfrm>
            <a:off x="365760" y="1207641"/>
            <a:ext cx="11369809" cy="4047778"/>
          </a:xfrm>
        </p:spPr>
        <p:txBody>
          <a:bodyPr/>
          <a:lstStyle/>
          <a:p>
            <a:pPr marL="0" indent="0">
              <a:buNone/>
            </a:pPr>
            <a:r>
              <a:rPr lang="en-US" dirty="0"/>
              <a:t>Just a small sampling…</a:t>
            </a:r>
          </a:p>
          <a:p>
            <a:r>
              <a:rPr lang="en-US" dirty="0"/>
              <a:t>Containers to capture the software</a:t>
            </a:r>
          </a:p>
          <a:p>
            <a:r>
              <a:rPr lang="en-US" dirty="0"/>
              <a:t>Resources for finding, understanding, and debugging floating point math problems: </a:t>
            </a:r>
            <a:r>
              <a:rPr lang="en-US" dirty="0">
                <a:hlinkClick r:id="rId2"/>
              </a:rPr>
              <a:t>http://fpanalysistools.org/</a:t>
            </a:r>
            <a:endParaRPr lang="en-US" dirty="0"/>
          </a:p>
          <a:p>
            <a:r>
              <a:rPr lang="en-US" dirty="0"/>
              <a:t>Cloud platforms to publish and reproduce research code and data</a:t>
            </a:r>
          </a:p>
          <a:p>
            <a:pPr lvl="1"/>
            <a:r>
              <a:rPr lang="en-US" dirty="0"/>
              <a:t>E.g., </a:t>
            </a:r>
            <a:r>
              <a:rPr lang="en-US" dirty="0">
                <a:hlinkClick r:id="rId3"/>
              </a:rPr>
              <a:t>https://CodeOcean.com</a:t>
            </a:r>
            <a:endParaRPr lang="en-US" dirty="0"/>
          </a:p>
          <a:p>
            <a:r>
              <a:rPr lang="en-US" dirty="0"/>
              <a:t>DOIs and hosting of data, code, documents, etc.</a:t>
            </a:r>
          </a:p>
          <a:p>
            <a:pPr lvl="1"/>
            <a:r>
              <a:rPr lang="en-US" dirty="0"/>
              <a:t>E.g., </a:t>
            </a:r>
            <a:r>
              <a:rPr lang="en-US" dirty="0">
                <a:hlinkClick r:id="rId4"/>
              </a:rPr>
              <a:t>https://zenodo.org/</a:t>
            </a:r>
            <a:r>
              <a:rPr lang="en-US" dirty="0"/>
              <a:t>, </a:t>
            </a:r>
            <a:r>
              <a:rPr lang="en-US" dirty="0">
                <a:hlinkClick r:id="rId5"/>
              </a:rPr>
              <a:t>https://FigShare.com</a:t>
            </a:r>
            <a:endParaRPr lang="en-US" dirty="0"/>
          </a:p>
          <a:p>
            <a:pPr marL="0" indent="0">
              <a:spcBef>
                <a:spcPts val="2800"/>
              </a:spcBef>
              <a:buNone/>
            </a:pPr>
            <a:r>
              <a:rPr lang="en-US" b="1" dirty="0">
                <a:solidFill>
                  <a:schemeClr val="tx2"/>
                </a:solidFill>
              </a:rPr>
              <a:t>Make sure to test and understand your tools thoroughly </a:t>
            </a:r>
            <a:r>
              <a:rPr lang="en-US" b="1" i="1" dirty="0">
                <a:solidFill>
                  <a:schemeClr val="tx2"/>
                </a:solidFill>
              </a:rPr>
              <a:t>before</a:t>
            </a:r>
            <a:r>
              <a:rPr lang="en-US" b="1" dirty="0">
                <a:solidFill>
                  <a:schemeClr val="tx2"/>
                </a:solidFill>
              </a:rPr>
              <a:t> using them for something important!</a:t>
            </a:r>
          </a:p>
          <a:p>
            <a:endParaRPr lang="en-US" dirty="0"/>
          </a:p>
        </p:txBody>
      </p:sp>
    </p:spTree>
    <p:extLst>
      <p:ext uri="{BB962C8B-B14F-4D97-AF65-F5344CB8AC3E}">
        <p14:creationId xmlns:p14="http://schemas.microsoft.com/office/powerpoint/2010/main" val="11898714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6E6A3-96EC-4523-A436-014C2E270151}"/>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BD1F1B50-97F3-4784-88FE-6A4FC215ACCF}"/>
              </a:ext>
            </a:extLst>
          </p:cNvPr>
          <p:cNvSpPr>
            <a:spLocks noGrp="1"/>
          </p:cNvSpPr>
          <p:nvPr>
            <p:ph idx="1"/>
          </p:nvPr>
        </p:nvSpPr>
        <p:spPr>
          <a:xfrm>
            <a:off x="365760" y="910201"/>
            <a:ext cx="11369809" cy="4047778"/>
          </a:xfrm>
        </p:spPr>
        <p:txBody>
          <a:bodyPr/>
          <a:lstStyle/>
          <a:p>
            <a:r>
              <a:rPr lang="en-US" dirty="0"/>
              <a:t>The credibility of your science derives from the credibility of your code (and process)</a:t>
            </a:r>
          </a:p>
          <a:p>
            <a:pPr>
              <a:spcBef>
                <a:spcPts val="800"/>
              </a:spcBef>
            </a:pPr>
            <a:r>
              <a:rPr lang="en-US" dirty="0"/>
              <a:t>Science stakeholders are ratcheting up expectations for reproducibility</a:t>
            </a:r>
          </a:p>
          <a:p>
            <a:pPr>
              <a:spcBef>
                <a:spcPts val="800"/>
              </a:spcBef>
            </a:pPr>
            <a:r>
              <a:rPr lang="en-US" dirty="0"/>
              <a:t>Reproducible results are a necessity, not a luxury</a:t>
            </a:r>
          </a:p>
          <a:p>
            <a:pPr lvl="1">
              <a:spcBef>
                <a:spcPts val="200"/>
              </a:spcBef>
            </a:pPr>
            <a:r>
              <a:rPr lang="en-US" dirty="0"/>
              <a:t>There is no credible science without full provenance</a:t>
            </a:r>
          </a:p>
          <a:p>
            <a:pPr>
              <a:spcBef>
                <a:spcPts val="800"/>
              </a:spcBef>
            </a:pPr>
            <a:r>
              <a:rPr lang="en-US" dirty="0"/>
              <a:t>Computational science campaigns can be expensive in time and resources</a:t>
            </a:r>
          </a:p>
          <a:p>
            <a:pPr lvl="1">
              <a:spcBef>
                <a:spcPts val="200"/>
              </a:spcBef>
            </a:pPr>
            <a:r>
              <a:rPr lang="en-US" dirty="0"/>
              <a:t>Care and planning is vital to ensure that outcomes meet expectations</a:t>
            </a:r>
          </a:p>
          <a:p>
            <a:pPr>
              <a:spcBef>
                <a:spcPts val="800"/>
              </a:spcBef>
            </a:pPr>
            <a:r>
              <a:rPr lang="en-US" dirty="0"/>
              <a:t>There are strategies to improve reproducibility in all phases of the scientific process</a:t>
            </a:r>
          </a:p>
          <a:p>
            <a:pPr lvl="1">
              <a:spcBef>
                <a:spcPts val="200"/>
              </a:spcBef>
            </a:pPr>
            <a:r>
              <a:rPr lang="en-US" dirty="0"/>
              <a:t>During development</a:t>
            </a:r>
          </a:p>
          <a:p>
            <a:pPr lvl="1">
              <a:spcBef>
                <a:spcPts val="200"/>
              </a:spcBef>
            </a:pPr>
            <a:r>
              <a:rPr lang="en-US" dirty="0"/>
              <a:t>After development</a:t>
            </a:r>
          </a:p>
          <a:p>
            <a:pPr lvl="1">
              <a:spcBef>
                <a:spcPts val="200"/>
              </a:spcBef>
            </a:pPr>
            <a:r>
              <a:rPr lang="en-US" dirty="0"/>
              <a:t>During experiments</a:t>
            </a:r>
          </a:p>
          <a:p>
            <a:pPr lvl="1">
              <a:spcBef>
                <a:spcPts val="200"/>
              </a:spcBef>
            </a:pPr>
            <a:r>
              <a:rPr lang="en-US" dirty="0"/>
              <a:t>After experiments</a:t>
            </a:r>
          </a:p>
          <a:p>
            <a:pPr>
              <a:spcBef>
                <a:spcPts val="800"/>
              </a:spcBef>
            </a:pPr>
            <a:r>
              <a:rPr lang="en-US" dirty="0"/>
              <a:t>They amount to better software development practices</a:t>
            </a:r>
          </a:p>
          <a:p>
            <a:pPr lvl="1">
              <a:spcBef>
                <a:spcPts val="200"/>
              </a:spcBef>
            </a:pPr>
            <a:r>
              <a:rPr lang="en-US" dirty="0"/>
              <a:t>The same kinds of practices advocated for reasons of productivity, sustainability, maintainability, etc.</a:t>
            </a:r>
          </a:p>
        </p:txBody>
      </p:sp>
    </p:spTree>
    <p:extLst>
      <p:ext uri="{BB962C8B-B14F-4D97-AF65-F5344CB8AC3E}">
        <p14:creationId xmlns:p14="http://schemas.microsoft.com/office/powerpoint/2010/main" val="20135782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resources</a:t>
            </a:r>
          </a:p>
        </p:txBody>
      </p:sp>
      <p:sp>
        <p:nvSpPr>
          <p:cNvPr id="5" name="Content Placeholder 4"/>
          <p:cNvSpPr>
            <a:spLocks noGrp="1"/>
          </p:cNvSpPr>
          <p:nvPr>
            <p:ph idx="1"/>
          </p:nvPr>
        </p:nvSpPr>
        <p:spPr>
          <a:xfrm>
            <a:off x="365760" y="1023259"/>
            <a:ext cx="11369809" cy="4047778"/>
          </a:xfrm>
        </p:spPr>
        <p:txBody>
          <a:bodyPr>
            <a:noAutofit/>
          </a:bodyPr>
          <a:lstStyle/>
          <a:p>
            <a:pPr>
              <a:spcBef>
                <a:spcPts val="600"/>
              </a:spcBef>
            </a:pPr>
            <a:r>
              <a:rPr lang="en-US" sz="1800" dirty="0"/>
              <a:t>The FAIR Guiding Principles for Scientific Data Management and Stewardship. Mark D. Wilkinson, et al. </a:t>
            </a:r>
            <a:r>
              <a:rPr lang="en-US" sz="1800" dirty="0">
                <a:hlinkClick r:id="rId2"/>
              </a:rPr>
              <a:t>https://doi.org/10.1038/sdata.2016.18</a:t>
            </a:r>
            <a:endParaRPr lang="en-US" sz="1800" dirty="0"/>
          </a:p>
          <a:p>
            <a:pPr>
              <a:spcBef>
                <a:spcPts val="600"/>
              </a:spcBef>
            </a:pPr>
            <a:r>
              <a:rPr lang="en-US" sz="1800" dirty="0"/>
              <a:t>FAIR for Research Software (FAIR4RS) Working Group: </a:t>
            </a:r>
            <a:r>
              <a:rPr lang="en-US" sz="1800" dirty="0">
                <a:hlinkClick r:id="rId3"/>
              </a:rPr>
              <a:t>https://www.rd-alliance.org/groups/fair-for-research-software-fair4rs-wg/forum/</a:t>
            </a:r>
            <a:endParaRPr lang="en-US" sz="1800" dirty="0"/>
          </a:p>
          <a:p>
            <a:pPr>
              <a:spcBef>
                <a:spcPts val="600"/>
              </a:spcBef>
            </a:pPr>
            <a:r>
              <a:rPr lang="en-US" sz="1800" dirty="0"/>
              <a:t>Editorial: ACM TOMS Replicated Computational Results Initiative. Michael A. Heroux. 2015.  </a:t>
            </a:r>
            <a:r>
              <a:rPr lang="en-US" sz="1800" i="1" dirty="0"/>
              <a:t>ACM Trans. Math. </a:t>
            </a:r>
            <a:r>
              <a:rPr lang="en-US" sz="1800" i="1" dirty="0" err="1"/>
              <a:t>Softw</a:t>
            </a:r>
            <a:r>
              <a:rPr lang="en-US" sz="1800" i="1" dirty="0"/>
              <a:t>.</a:t>
            </a:r>
            <a:r>
              <a:rPr lang="en-US" sz="1800" dirty="0"/>
              <a:t> 41, 3, Article 13 (June 2015), 5 pages. DOI: </a:t>
            </a:r>
            <a:r>
              <a:rPr lang="en-US" sz="1800" dirty="0">
                <a:hlinkClick r:id="rId4"/>
              </a:rPr>
              <a:t>http://dx.doi.org/10.1145/2743015</a:t>
            </a:r>
            <a:endParaRPr lang="en-US" sz="1800" dirty="0"/>
          </a:p>
          <a:p>
            <a:pPr>
              <a:spcBef>
                <a:spcPts val="600"/>
              </a:spcBef>
            </a:pPr>
            <a:r>
              <a:rPr lang="en-US" sz="1800" dirty="0"/>
              <a:t>Enhancing Reproducibility for Computational Methods. Victoria </a:t>
            </a:r>
            <a:r>
              <a:rPr lang="en-US" sz="1800" dirty="0" err="1"/>
              <a:t>Stodden</a:t>
            </a:r>
            <a:r>
              <a:rPr lang="en-US" sz="1800" dirty="0"/>
              <a:t>, Marcia McNutt, David H. Bailey, </a:t>
            </a:r>
            <a:r>
              <a:rPr lang="en-US" sz="1800" dirty="0" err="1"/>
              <a:t>Ewa</a:t>
            </a:r>
            <a:r>
              <a:rPr lang="en-US" sz="1800" dirty="0"/>
              <a:t> </a:t>
            </a:r>
            <a:r>
              <a:rPr lang="en-US" sz="1800" dirty="0" err="1"/>
              <a:t>Deelman</a:t>
            </a:r>
            <a:r>
              <a:rPr lang="en-US" sz="1800" dirty="0"/>
              <a:t>, Yolanda Gil, Brooks Hanson, Michael A. Heroux, John P.A. Ioannidis, Michela </a:t>
            </a:r>
            <a:r>
              <a:rPr lang="en-US" sz="1800" dirty="0" err="1"/>
              <a:t>Taufer</a:t>
            </a:r>
            <a:r>
              <a:rPr lang="en-US" sz="1800" dirty="0"/>
              <a:t> Science (09 Dec 2016), pp. 1240-1241. </a:t>
            </a:r>
            <a:r>
              <a:rPr lang="en-US" sz="1800" b="0" dirty="0">
                <a:effectLst/>
              </a:rPr>
              <a:t>DOI: </a:t>
            </a:r>
            <a:r>
              <a:rPr lang="en-US" sz="1800" b="0" u="sng" dirty="0">
                <a:solidFill>
                  <a:srgbClr val="595959"/>
                </a:solidFill>
                <a:effectLst/>
                <a:hlinkClick r:id="rId5"/>
              </a:rPr>
              <a:t>10.1126/science.aah6168</a:t>
            </a:r>
            <a:endParaRPr lang="en-US" sz="1800" dirty="0"/>
          </a:p>
          <a:p>
            <a:pPr>
              <a:spcBef>
                <a:spcPts val="600"/>
              </a:spcBef>
            </a:pPr>
            <a:r>
              <a:rPr lang="en-US" sz="1800" dirty="0"/>
              <a:t>Simple experiments in reproducibility and technical trust by Mike Heroux and students (work in progress),</a:t>
            </a:r>
            <a:r>
              <a:rPr lang="en-US" sz="1800" dirty="0">
                <a:hlinkClick r:id="rId6"/>
              </a:rPr>
              <a:t> </a:t>
            </a:r>
            <a:r>
              <a:rPr lang="en-US" sz="1800" u="sng" dirty="0">
                <a:hlinkClick r:id="rId6"/>
              </a:rPr>
              <a:t>https://betterscientificsoftware.github.io/Trust-Tools/</a:t>
            </a:r>
            <a:endParaRPr lang="en-US" sz="1800" u="sng" dirty="0"/>
          </a:p>
          <a:p>
            <a:pPr>
              <a:spcBef>
                <a:spcPts val="600"/>
              </a:spcBef>
            </a:pPr>
            <a:r>
              <a:rPr lang="en-US" sz="1800" dirty="0"/>
              <a:t>What every scientist should know about floating-point arithmetic. David Goldberg. </a:t>
            </a:r>
            <a:r>
              <a:rPr lang="en-US" sz="1800" dirty="0">
                <a:hlinkClick r:id="rId7"/>
              </a:rPr>
              <a:t>https://doi.org/10.1145/103162.103163</a:t>
            </a:r>
            <a:endParaRPr lang="en-US" sz="1800" dirty="0"/>
          </a:p>
          <a:p>
            <a:pPr>
              <a:spcBef>
                <a:spcPts val="600"/>
              </a:spcBef>
            </a:pPr>
            <a:r>
              <a:rPr lang="en-US" sz="1800" dirty="0"/>
              <a:t>Carlo Graziani, </a:t>
            </a:r>
            <a:r>
              <a:rPr lang="en-US" sz="1800" i="1" dirty="0"/>
              <a:t>HPC and the Lab Manager</a:t>
            </a:r>
            <a:r>
              <a:rPr lang="en-US" sz="1800" dirty="0"/>
              <a:t>.  </a:t>
            </a:r>
            <a:r>
              <a:rPr lang="en-US" sz="1800" b="1" dirty="0"/>
              <a:t>Better Scientific Software</a:t>
            </a:r>
            <a:r>
              <a:rPr lang="en-US" sz="1800" dirty="0"/>
              <a:t>. </a:t>
            </a:r>
            <a:r>
              <a:rPr lang="en-US" sz="1800" dirty="0">
                <a:hlinkClick r:id="rId8"/>
              </a:rPr>
              <a:t>https://bssw.io/blog_posts/hpc-and-the-lab-manager</a:t>
            </a:r>
            <a:r>
              <a:rPr lang="en-US" sz="1800" dirty="0"/>
              <a:t>. Nov 17, 2021.</a:t>
            </a:r>
          </a:p>
          <a:p>
            <a:pPr>
              <a:spcBef>
                <a:spcPts val="600"/>
              </a:spcBef>
            </a:pPr>
            <a:r>
              <a:rPr lang="en-US" sz="1800" dirty="0"/>
              <a:t>Howard M. </a:t>
            </a:r>
            <a:r>
              <a:rPr lang="en-US" sz="1800" dirty="0" err="1"/>
              <a:t>Kanare</a:t>
            </a:r>
            <a:r>
              <a:rPr lang="en-US" sz="1800" dirty="0"/>
              <a:t>, </a:t>
            </a:r>
            <a:r>
              <a:rPr lang="en-US" sz="1800" i="1" dirty="0">
                <a:hlinkClick r:id="rId9"/>
              </a:rPr>
              <a:t>Writing the Laboratory Notebook</a:t>
            </a:r>
            <a:r>
              <a:rPr lang="en-US" sz="1800" i="1" dirty="0"/>
              <a:t>. </a:t>
            </a:r>
            <a:r>
              <a:rPr lang="en-US" sz="1800" dirty="0"/>
              <a:t>American Chemical Society, Washington, D.C., 1985.</a:t>
            </a:r>
          </a:p>
          <a:p>
            <a:pPr>
              <a:spcBef>
                <a:spcPts val="600"/>
              </a:spcBef>
            </a:pPr>
            <a:r>
              <a:rPr lang="en-US" sz="1800" dirty="0"/>
              <a:t>Nicole Brewer, </a:t>
            </a:r>
            <a:r>
              <a:rPr lang="en-US" sz="1800" i="1" dirty="0">
                <a:solidFill>
                  <a:srgbClr val="3C3C3E"/>
                </a:solidFill>
              </a:rPr>
              <a:t>Jupyter4Science: Better Practices for Using </a:t>
            </a:r>
            <a:r>
              <a:rPr lang="en-US" sz="1800" i="1" dirty="0" err="1">
                <a:solidFill>
                  <a:srgbClr val="3C3C3E"/>
                </a:solidFill>
              </a:rPr>
              <a:t>Jupyter</a:t>
            </a:r>
            <a:r>
              <a:rPr lang="en-US" sz="1800" i="1" dirty="0">
                <a:solidFill>
                  <a:srgbClr val="3C3C3E"/>
                </a:solidFill>
              </a:rPr>
              <a:t> Notebooks for Science</a:t>
            </a:r>
            <a:r>
              <a:rPr lang="en-US" sz="1800" dirty="0"/>
              <a:t>.  </a:t>
            </a:r>
            <a:r>
              <a:rPr lang="en-US" sz="1800" b="1" dirty="0"/>
              <a:t>Better Scientific Software</a:t>
            </a:r>
            <a:r>
              <a:rPr lang="en-US" sz="1800" dirty="0"/>
              <a:t>. </a:t>
            </a:r>
            <a:r>
              <a:rPr lang="en-US" sz="1800" dirty="0">
                <a:hlinkClick r:id="rId10"/>
              </a:rPr>
              <a:t>https://bssw.io/items/jupyter4science-better-practices-for-using-jupyter-notebooks-for-science</a:t>
            </a:r>
            <a:r>
              <a:rPr lang="en-US" sz="1800" dirty="0"/>
              <a:t>. March 17, 2024.</a:t>
            </a:r>
            <a:endParaRPr lang="en-US" sz="1800" i="1" dirty="0"/>
          </a:p>
        </p:txBody>
      </p:sp>
    </p:spTree>
    <p:extLst>
      <p:ext uri="{BB962C8B-B14F-4D97-AF65-F5344CB8AC3E}">
        <p14:creationId xmlns:p14="http://schemas.microsoft.com/office/powerpoint/2010/main" val="2809162217"/>
      </p:ext>
    </p:extLst>
  </p:cSld>
  <p:clrMapOvr>
    <a:masterClrMapping/>
  </p:clrMapOvr>
</p:sld>
</file>

<file path=ppt/theme/theme1.xml><?xml version="1.0" encoding="utf-8"?>
<a:theme xmlns:a="http://schemas.openxmlformats.org/drawingml/2006/main" name="Presentations (Wide Screen)">
  <a:themeElements>
    <a:clrScheme name="ECP 171103 final">
      <a:dk1>
        <a:sysClr val="windowText" lastClr="000000"/>
      </a:dk1>
      <a:lt1>
        <a:sysClr val="window" lastClr="FFFFFF"/>
      </a:lt1>
      <a:dk2>
        <a:srgbClr val="266093"/>
      </a:dk2>
      <a:lt2>
        <a:srgbClr val="FFFFFF"/>
      </a:lt2>
      <a:accent1>
        <a:srgbClr val="2A75BB"/>
      </a:accent1>
      <a:accent2>
        <a:srgbClr val="84B641"/>
      </a:accent2>
      <a:accent3>
        <a:srgbClr val="43B1E5"/>
      </a:accent3>
      <a:accent4>
        <a:srgbClr val="D13940"/>
      </a:accent4>
      <a:accent5>
        <a:srgbClr val="C39C2F"/>
      </a:accent5>
      <a:accent6>
        <a:srgbClr val="7F7F7F"/>
      </a:accent6>
      <a:hlink>
        <a:srgbClr val="A03123"/>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outerShdw blurRad="44450" dist="27940" dir="5400000" algn="ctr">
            <a:srgbClr val="000000">
              <a:alpha val="32000"/>
            </a:srgbClr>
          </a:outerShdw>
        </a:effectLst>
      </a:spPr>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defPPr algn="ctr">
          <a:lnSpc>
            <a:spcPct val="90000"/>
          </a:lnSpc>
          <a:defRPr sz="2000" dirty="0">
            <a:solidFill>
              <a:schemeClr val="bg1"/>
            </a:solidFill>
          </a:defRPr>
        </a:defPPr>
      </a:lstStyle>
    </a:spDef>
    <a:txDef>
      <a:spPr>
        <a:noFill/>
      </a:spPr>
      <a:bodyPr wrap="square" lIns="118872" tIns="91440" rIns="118872" bIns="91440" rtlCol="0" anchor="ctr" anchorCtr="0">
        <a:spAutoFit/>
      </a:bodyPr>
      <a:lstStyle>
        <a:defPPr algn="l">
          <a:lnSpc>
            <a:spcPct val="90000"/>
          </a:lnSpc>
          <a:defRPr dirty="0" smtClean="0"/>
        </a:defPPr>
      </a:lstStyle>
    </a:txDef>
  </a:objectDefaults>
  <a:extraClrSchemeLst/>
  <a:extLst>
    <a:ext uri="{05A4C25C-085E-4340-85A3-A5531E510DB2}">
      <thm15:themeFamily xmlns:thm15="http://schemas.microsoft.com/office/thememl/2012/main" name="ECP_PowerPointTemplate-v1.0_20171106" id="{82BFD86B-8FF4-4B2C-AD68-5655622D7E2C}" vid="{C92328A0-5FA1-40E2-AE72-E588ED49AD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65464437F680748A68B85EB6594EA7D" ma:contentTypeVersion="0" ma:contentTypeDescription="Create a new document." ma:contentTypeScope="" ma:versionID="fe3f4dd58d5914c51cfc6deaa8ad845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A50EC660-24D0-43A0-AE5E-E274115E726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s>
</ds:datastoreItem>
</file>

<file path=customXml/itemProps2.xml><?xml version="1.0" encoding="utf-8"?>
<ds:datastoreItem xmlns:ds="http://schemas.openxmlformats.org/officeDocument/2006/customXml" ds:itemID="{19E20559-B232-4371-8690-E3D8007EDB82}">
  <ds:schemaRefs>
    <ds:schemaRef ds:uri="http://schemas.microsoft.com/sharepoint/v3/contenttype/forms"/>
  </ds:schemaRefs>
</ds:datastoreItem>
</file>

<file path=customXml/itemProps3.xml><?xml version="1.0" encoding="utf-8"?>
<ds:datastoreItem xmlns:ds="http://schemas.openxmlformats.org/officeDocument/2006/customXml" ds:itemID="{E8DB7DEB-074E-4EE8-9B6E-FD2773231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ECP_PowerPoint_Template-v1.0_20171106</Template>
  <TotalTime>3316</TotalTime>
  <Words>5146</Words>
  <Application>Microsoft Office PowerPoint</Application>
  <PresentationFormat>Custom</PresentationFormat>
  <Paragraphs>505</Paragraphs>
  <Slides>44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American Typewriter</vt:lpstr>
      <vt:lpstr>Arial</vt:lpstr>
      <vt:lpstr>Arial Black</vt:lpstr>
      <vt:lpstr>Calibri</vt:lpstr>
      <vt:lpstr>Symbol</vt:lpstr>
      <vt:lpstr>Presentations (Wide Screen)</vt:lpstr>
      <vt:lpstr>Improving Reproducibility Through Better Software Practices</vt:lpstr>
      <vt:lpstr>License, Citation and Acknowledgements</vt:lpstr>
      <vt:lpstr>Terminology</vt:lpstr>
      <vt:lpstr>Reproducible vs Replicable: A Special Note</vt:lpstr>
      <vt:lpstr>Why Reproducibility is Important</vt:lpstr>
      <vt:lpstr>Transparency &amp; Reproducibility</vt:lpstr>
      <vt:lpstr>Example: Behavior of pure water just above homogeneous  nucleation temperature (~ - 40 C/F) </vt:lpstr>
      <vt:lpstr>Example: Python Behaves Differently on Different Platforms</vt:lpstr>
      <vt:lpstr>PowerPoint Presentation</vt:lpstr>
      <vt:lpstr>Incentives for Paying Attention to Reproducibility</vt:lpstr>
      <vt:lpstr>Funders and the Community Setting Expectations for Your Data (Including Your Software)</vt:lpstr>
      <vt:lpstr>Increasing Attention on Reproducibility from Publishers</vt:lpstr>
      <vt:lpstr>Increasing Attention on Reproducibility for Your Own Sake</vt:lpstr>
      <vt:lpstr>How to Improve Reproducibility</vt:lpstr>
      <vt:lpstr>Strategies for Improving Reproducibility During Development (1/3)</vt:lpstr>
      <vt:lpstr>Strategies for Improving Reproducibility During Development (2/3)</vt:lpstr>
      <vt:lpstr>Strategies for Improving Reproducibility During Development (3/3)</vt:lpstr>
      <vt:lpstr>Strategies for Improving Reproducibility After Development</vt:lpstr>
      <vt:lpstr>Digression – “Physics” (or Math)-Based Testing Strategies</vt:lpstr>
      <vt:lpstr>Digression – Design by Contract Programming</vt:lpstr>
      <vt:lpstr>Strategies for Improving Reproducibility by Planning Experiments</vt:lpstr>
      <vt:lpstr>Strategies for Improving Reproducibility During Experiments</vt:lpstr>
      <vt:lpstr>Conversations with Carlo</vt:lpstr>
      <vt:lpstr>A minimal definition of a lab notebook</vt:lpstr>
      <vt:lpstr>Lab notebooks are…</vt:lpstr>
      <vt:lpstr>Example notebook entries</vt:lpstr>
      <vt:lpstr>No one likes writing lab notes</vt:lpstr>
      <vt:lpstr>Criteria for lab notebooks for computing?</vt:lpstr>
      <vt:lpstr>Different streams of lab notes</vt:lpstr>
      <vt:lpstr>Which leads us to documentation</vt:lpstr>
      <vt:lpstr>Git lab notes stream</vt:lpstr>
      <vt:lpstr>Pull request as a “filtered” notebook entry</vt:lpstr>
      <vt:lpstr>PowerPoint Presentation</vt:lpstr>
      <vt:lpstr>README lab notes streams</vt:lpstr>
      <vt:lpstr>High-level README</vt:lpstr>
      <vt:lpstr>Low-level README</vt:lpstr>
      <vt:lpstr>Capturing data context &amp; metadata (distinct from the data)</vt:lpstr>
      <vt:lpstr>Jupyter notebooks</vt:lpstr>
      <vt:lpstr>How to organize your “virtual” (multi-stream) lab notebook?</vt:lpstr>
      <vt:lpstr>Strategies for Improving Reproducibility with Lab Notebooks</vt:lpstr>
      <vt:lpstr>Strategies for Improving Reproducibility After Experiments</vt:lpstr>
      <vt:lpstr>Tools May Help with Reproducibility</vt:lpstr>
      <vt:lpstr>Summary</vt:lpstr>
      <vt:lpstr>Other resources</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of Exascale Computing</dc:title>
  <dc:creator>Bernholdt, David E.</dc:creator>
  <cp:lastModifiedBy>Bernholdt, David</cp:lastModifiedBy>
  <cp:revision>488</cp:revision>
  <cp:lastPrinted>2017-11-02T18:35:01Z</cp:lastPrinted>
  <dcterms:created xsi:type="dcterms:W3CDTF">2018-11-06T17:28:56Z</dcterms:created>
  <dcterms:modified xsi:type="dcterms:W3CDTF">2025-08-06T00:58:10Z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0x010100565464437F680748A68B85EB6594EA7D</vt:lpwstr>
  </property>
</Properties>
</file>