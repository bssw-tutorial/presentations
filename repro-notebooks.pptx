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52"/>
  </p:notesMasterIdLst>
  <p:handoutMasterIdLst>
    <p:handoutMasterId r:id="rId53"/>
  </p:handoutMasterIdLst>
  <p:sldIdLst>
    <p:sldId id="318" r:id="rId5"/>
    <p:sldId id="1858"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1859" r:id="rId42"/>
    <p:sldId id="1861" r:id="rId43"/>
    <p:sldId id="1860" r:id="rId44"/>
    <p:sldId id="282" r:id="rId45"/>
    <p:sldId id="283" r:id="rId46"/>
    <p:sldId id="1833" r:id="rId47"/>
    <p:sldId id="1831" r:id="rId48"/>
    <p:sldId id="1842" r:id="rId49"/>
    <p:sldId id="1830" r:id="rId50"/>
    <p:sldId id="313" r:id="rId51"/>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796" autoAdjust="0"/>
    <p:restoredTop sz="96571" autoAdjust="0"/>
  </p:normalViewPr>
  <p:slideViewPr>
    <p:cSldViewPr snapToGrid="0" showGuides="1">
      <p:cViewPr varScale="1">
        <p:scale>
          <a:sx n="70" d="100"/>
          <a:sy n="70" d="100"/>
        </p:scale>
        <p:origin x="1320" y="48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1/18/26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1/18/26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44</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FE645C1D-4C52-817A-47F8-6DA62582B7E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9B06F1CD-A1FA-1280-9F6B-F5ACF60BC4E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9212A437-16E5-FC5C-8886-A4AA3D8ED98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31BE3FC6-E205-A059-A017-977A3D59F9CB}"/>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5A2AF8C2-FACD-A130-A6F2-733D80D49B04}"/>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372667A6-6AA8-90F0-D0FA-20DD69F49457}"/>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6EFCC9D-B578-9D47-C35B-6CCF59F06F50}"/>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364EC5DA-DBFC-AAAE-BCB4-80CDB79B6D7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2E024599-EB74-E46B-ACD1-3DE30E5DF74B}"/>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36C8CF83-197C-D87B-F38D-19D8D2DF37B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35E1622-47D7-D6EC-4D9C-B6CB0C273E55}"/>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4F860197-91B8-F6CD-1F1D-EF2CC69F8BAE}"/>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7A65628F-D7F1-6539-95D7-C78C8703E9B8}"/>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35EB04FB-D2DE-BCD4-EC3B-12F69CB5936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9FD2F06B-A6D1-67C9-6A99-D18D41111701}"/>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EDAC8230-26D0-4E0F-C00A-59FE97DFDD3D}"/>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B59B7A45-440A-3F58-987B-B1E7FBECB7E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1A484DE9-27ED-CB4B-B7C8-A911FA22762B}"/>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E763EC1B-0EFF-BAB9-A30D-5C1DF77DF56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FD2192E6-EE68-8D35-365B-27601BCA6FC6}"/>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256C3094-CD1C-D1B1-FF76-43731844769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61AAD4D4-B36D-0A2C-6C98-9BEF4A4779D3}"/>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8A210E4-CF0A-BFC1-ADD7-5F00F82038C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6C27AEC9-CA9B-30D2-D064-3FE2AA615081}"/>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0C0A7BB-4820-2C0B-2019-5799BD1831A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37D72CC-A3F7-3F8A-7DE7-ACF7148942C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7.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a:xfrm>
            <a:off x="3177632" y="1979282"/>
            <a:ext cx="8292317" cy="2855300"/>
          </a:xfrm>
        </p:spPr>
        <p:txBody>
          <a:bodyPr/>
          <a:lstStyle/>
          <a:p>
            <a:r>
              <a:rPr lang="en-US" u="sng" dirty="0"/>
              <a:t>Akash Dhruv </a:t>
            </a:r>
            <a:r>
              <a:rPr lang="en-US" sz="2000" dirty="0"/>
              <a:t>(he/him)</a:t>
            </a:r>
            <a:br>
              <a:rPr lang="en-US" sz="2000" u="sng" dirty="0"/>
            </a:br>
            <a:r>
              <a:rPr lang="en-US" sz="2000" dirty="0"/>
              <a:t>Argonne National Laboratory</a:t>
            </a:r>
            <a:endParaRPr lang="en-US" sz="2400" dirty="0"/>
          </a:p>
          <a:p>
            <a:pPr>
              <a:spcBef>
                <a:spcPts val="2800"/>
              </a:spcBef>
            </a:pPr>
            <a:r>
              <a:rPr lang="en-US" sz="2000" b="0" i="0" dirty="0">
                <a:solidFill>
                  <a:srgbClr val="111111"/>
                </a:solidFill>
                <a:effectLst/>
                <a:latin typeface="+mn-lt"/>
              </a:rPr>
              <a:t>Better Software for Science with High-Performance Computing @ The International Conference for High-Performance Computing in Asia-Pacific Region 2026 (HPC Asia 2026)</a:t>
            </a:r>
          </a:p>
          <a:p>
            <a:pPr>
              <a:spcBef>
                <a:spcPts val="2800"/>
              </a:spcBef>
            </a:pPr>
            <a:r>
              <a:rPr lang="en-US" sz="2000" dirty="0"/>
              <a:t>Contributors: Akash Dhruv (ANL), David E. </a:t>
            </a:r>
            <a:r>
              <a:rPr lang="en-US" sz="2000" dirty="0" err="1"/>
              <a:t>Bernholdt</a:t>
            </a:r>
            <a:r>
              <a:rPr lang="en-US" sz="2000" dirty="0"/>
              <a: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39224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Steve Fickas, Carlo Graziani, Boyana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1"/>
            <a:ext cx="11369809" cy="5109845"/>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a:t>
            </a:r>
            <a:r>
              <a:rPr lang="en-US" sz="1600" dirty="0">
                <a:solidFill>
                  <a:srgbClr val="111111"/>
                </a:solidFill>
              </a:rPr>
              <a:t>Better Software for Science with High-Performance Computing @ The International Conference for High-Performance Computing in Asia-Pacific Region 2026 (HPC Asia 2026)</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36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pPr marL="346075" lvl="1" indent="0">
              <a:buNone/>
            </a:pPr>
            <a:endParaRPr lang="en-US" dirty="0"/>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8707A-5A2B-6C2E-B017-D2B79B1369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9C1D6-073E-EADD-0151-C912C7E5D627}"/>
              </a:ext>
            </a:extLst>
          </p:cNvPr>
          <p:cNvSpPr>
            <a:spLocks noGrp="1"/>
          </p:cNvSpPr>
          <p:nvPr>
            <p:ph type="title"/>
          </p:nvPr>
        </p:nvSpPr>
        <p:spPr>
          <a:xfrm>
            <a:off x="365760" y="283464"/>
            <a:ext cx="11372473" cy="914400"/>
          </a:xfrm>
        </p:spPr>
        <p:txBody>
          <a:bodyPr/>
          <a:lstStyle/>
          <a:p>
            <a:r>
              <a:rPr lang="en-US" dirty="0" err="1"/>
              <a:t>Jobrunner</a:t>
            </a:r>
            <a:r>
              <a:rPr lang="en-US" dirty="0"/>
              <a:t>: A command line tool for managing computational lab notebooks</a:t>
            </a:r>
          </a:p>
        </p:txBody>
      </p:sp>
      <p:pic>
        <p:nvPicPr>
          <p:cNvPr id="6" name="Picture 5" descr="A diagram of a scientific experiment&#10;&#10;Description automatically generated">
            <a:extLst>
              <a:ext uri="{FF2B5EF4-FFF2-40B4-BE49-F238E27FC236}">
                <a16:creationId xmlns:a16="http://schemas.microsoft.com/office/drawing/2014/main" id="{E7F7DD4F-10B4-0FCA-303C-11BAEE8EE764}"/>
              </a:ext>
            </a:extLst>
          </p:cNvPr>
          <p:cNvPicPr>
            <a:picLocks noChangeAspect="1"/>
          </p:cNvPicPr>
          <p:nvPr/>
        </p:nvPicPr>
        <p:blipFill>
          <a:blip r:embed="rId2"/>
          <a:stretch>
            <a:fillRect/>
          </a:stretch>
        </p:blipFill>
        <p:spPr>
          <a:xfrm>
            <a:off x="1128398" y="1216027"/>
            <a:ext cx="4229985" cy="5115091"/>
          </a:xfrm>
          <a:prstGeom prst="rect">
            <a:avLst/>
          </a:prstGeom>
        </p:spPr>
      </p:pic>
      <p:pic>
        <p:nvPicPr>
          <p:cNvPr id="7" name="Picture 6" descr="A blue rectangular sign with white text&#10;&#10;Description automatically generated">
            <a:extLst>
              <a:ext uri="{FF2B5EF4-FFF2-40B4-BE49-F238E27FC236}">
                <a16:creationId xmlns:a16="http://schemas.microsoft.com/office/drawing/2014/main" id="{077993EA-CBED-0909-3026-FA390A33C636}"/>
              </a:ext>
            </a:extLst>
          </p:cNvPr>
          <p:cNvPicPr>
            <a:picLocks noChangeAspect="1"/>
          </p:cNvPicPr>
          <p:nvPr/>
        </p:nvPicPr>
        <p:blipFill>
          <a:blip r:embed="rId3"/>
          <a:stretch>
            <a:fillRect/>
          </a:stretch>
        </p:blipFill>
        <p:spPr>
          <a:xfrm>
            <a:off x="6830443" y="1527064"/>
            <a:ext cx="4583769" cy="1646432"/>
          </a:xfrm>
          <a:prstGeom prst="rect">
            <a:avLst/>
          </a:prstGeom>
        </p:spPr>
      </p:pic>
      <p:pic>
        <p:nvPicPr>
          <p:cNvPr id="8" name="Picture 7" descr="A black text on a white background&#10;&#10;Description automatically generated">
            <a:extLst>
              <a:ext uri="{FF2B5EF4-FFF2-40B4-BE49-F238E27FC236}">
                <a16:creationId xmlns:a16="http://schemas.microsoft.com/office/drawing/2014/main" id="{93280DC9-E499-DF63-0EA0-E78690D725D6}"/>
              </a:ext>
            </a:extLst>
          </p:cNvPr>
          <p:cNvPicPr>
            <a:picLocks noChangeAspect="1"/>
          </p:cNvPicPr>
          <p:nvPr/>
        </p:nvPicPr>
        <p:blipFill>
          <a:blip r:embed="rId4"/>
          <a:stretch>
            <a:fillRect/>
          </a:stretch>
        </p:blipFill>
        <p:spPr>
          <a:xfrm>
            <a:off x="6605636" y="3886137"/>
            <a:ext cx="1713056" cy="511828"/>
          </a:xfrm>
          <a:prstGeom prst="rect">
            <a:avLst/>
          </a:prstGeom>
        </p:spPr>
      </p:pic>
      <p:sp>
        <p:nvSpPr>
          <p:cNvPr id="9" name="Content Placeholder 2">
            <a:extLst>
              <a:ext uri="{FF2B5EF4-FFF2-40B4-BE49-F238E27FC236}">
                <a16:creationId xmlns:a16="http://schemas.microsoft.com/office/drawing/2014/main" id="{B0CD6EBE-D7CE-53BA-AA3C-1CE028843952}"/>
              </a:ext>
            </a:extLst>
          </p:cNvPr>
          <p:cNvSpPr txBox="1">
            <a:spLocks/>
          </p:cNvSpPr>
          <p:nvPr/>
        </p:nvSpPr>
        <p:spPr>
          <a:xfrm>
            <a:off x="6403184" y="4475567"/>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Execution Environment	</a:t>
            </a:r>
          </a:p>
        </p:txBody>
      </p:sp>
      <p:pic>
        <p:nvPicPr>
          <p:cNvPr id="10" name="Picture 9" descr="A blue text with black background&#10;&#10;Description automatically generated">
            <a:extLst>
              <a:ext uri="{FF2B5EF4-FFF2-40B4-BE49-F238E27FC236}">
                <a16:creationId xmlns:a16="http://schemas.microsoft.com/office/drawing/2014/main" id="{8BEF2CB1-EB97-5AD5-F23D-07C59915453D}"/>
              </a:ext>
            </a:extLst>
          </p:cNvPr>
          <p:cNvPicPr>
            <a:picLocks noChangeAspect="1"/>
          </p:cNvPicPr>
          <p:nvPr/>
        </p:nvPicPr>
        <p:blipFill>
          <a:blip r:embed="rId5"/>
          <a:stretch>
            <a:fillRect/>
          </a:stretch>
        </p:blipFill>
        <p:spPr>
          <a:xfrm>
            <a:off x="10038396" y="3562833"/>
            <a:ext cx="641023" cy="343548"/>
          </a:xfrm>
          <a:prstGeom prst="rect">
            <a:avLst/>
          </a:prstGeom>
        </p:spPr>
      </p:pic>
      <p:pic>
        <p:nvPicPr>
          <p:cNvPr id="11" name="Picture 10" descr="A blue and black logo&#10;&#10;Description automatically generated">
            <a:extLst>
              <a:ext uri="{FF2B5EF4-FFF2-40B4-BE49-F238E27FC236}">
                <a16:creationId xmlns:a16="http://schemas.microsoft.com/office/drawing/2014/main" id="{6B71EDEE-A859-AD77-8CC5-805E6B37DBE3}"/>
              </a:ext>
            </a:extLst>
          </p:cNvPr>
          <p:cNvPicPr>
            <a:picLocks noChangeAspect="1"/>
          </p:cNvPicPr>
          <p:nvPr/>
        </p:nvPicPr>
        <p:blipFill>
          <a:blip r:embed="rId6"/>
          <a:stretch>
            <a:fillRect/>
          </a:stretch>
        </p:blipFill>
        <p:spPr>
          <a:xfrm>
            <a:off x="10038396" y="4226568"/>
            <a:ext cx="783815" cy="783815"/>
          </a:xfrm>
          <a:prstGeom prst="rect">
            <a:avLst/>
          </a:prstGeom>
        </p:spPr>
      </p:pic>
      <p:sp>
        <p:nvSpPr>
          <p:cNvPr id="12" name="Content Placeholder 2">
            <a:extLst>
              <a:ext uri="{FF2B5EF4-FFF2-40B4-BE49-F238E27FC236}">
                <a16:creationId xmlns:a16="http://schemas.microsoft.com/office/drawing/2014/main" id="{0B28307A-08D2-55B9-7A7C-DBE3472301A3}"/>
              </a:ext>
            </a:extLst>
          </p:cNvPr>
          <p:cNvSpPr txBox="1">
            <a:spLocks/>
          </p:cNvSpPr>
          <p:nvPr/>
        </p:nvSpPr>
        <p:spPr>
          <a:xfrm>
            <a:off x="10679419" y="367698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sp>
        <p:nvSpPr>
          <p:cNvPr id="13" name="Content Placeholder 2">
            <a:extLst>
              <a:ext uri="{FF2B5EF4-FFF2-40B4-BE49-F238E27FC236}">
                <a16:creationId xmlns:a16="http://schemas.microsoft.com/office/drawing/2014/main" id="{76019ECC-5A49-425F-E401-993630B21724}"/>
              </a:ext>
            </a:extLst>
          </p:cNvPr>
          <p:cNvSpPr txBox="1">
            <a:spLocks/>
          </p:cNvSpPr>
          <p:nvPr/>
        </p:nvSpPr>
        <p:spPr>
          <a:xfrm>
            <a:off x="10694020" y="447556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cxnSp>
        <p:nvCxnSpPr>
          <p:cNvPr id="14" name="Straight Arrow Connector 13">
            <a:extLst>
              <a:ext uri="{FF2B5EF4-FFF2-40B4-BE49-F238E27FC236}">
                <a16:creationId xmlns:a16="http://schemas.microsoft.com/office/drawing/2014/main" id="{C6549AC2-7625-D6FA-1406-F709B08C7236}"/>
              </a:ext>
            </a:extLst>
          </p:cNvPr>
          <p:cNvCxnSpPr>
            <a:cxnSpLocks/>
          </p:cNvCxnSpPr>
          <p:nvPr/>
        </p:nvCxnSpPr>
        <p:spPr>
          <a:xfrm>
            <a:off x="8582650" y="4160905"/>
            <a:ext cx="1183074" cy="0"/>
          </a:xfrm>
          <a:prstGeom prst="straightConnector1">
            <a:avLst/>
          </a:prstGeom>
          <a:ln w="25400">
            <a:solidFill>
              <a:schemeClr val="tx1">
                <a:lumMod val="50000"/>
              </a:schemeClr>
            </a:solidFill>
            <a:headEnd type="triangl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3470A13-8F43-8D0B-BAA5-D8B223137C56}"/>
              </a:ext>
            </a:extLst>
          </p:cNvPr>
          <p:cNvSpPr txBox="1">
            <a:spLocks/>
          </p:cNvSpPr>
          <p:nvPr/>
        </p:nvSpPr>
        <p:spPr>
          <a:xfrm>
            <a:off x="8257449" y="3884443"/>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i="1" dirty="0" err="1"/>
              <a:t>rsync</a:t>
            </a:r>
            <a:r>
              <a:rPr lang="en-US" i="1" dirty="0"/>
              <a:t>	</a:t>
            </a:r>
          </a:p>
        </p:txBody>
      </p:sp>
      <p:sp>
        <p:nvSpPr>
          <p:cNvPr id="16" name="Rectangle 15">
            <a:extLst>
              <a:ext uri="{FF2B5EF4-FFF2-40B4-BE49-F238E27FC236}">
                <a16:creationId xmlns:a16="http://schemas.microsoft.com/office/drawing/2014/main" id="{AB788B1C-22AB-478F-7450-9A92DC334479}"/>
              </a:ext>
            </a:extLst>
          </p:cNvPr>
          <p:cNvSpPr/>
          <p:nvPr/>
        </p:nvSpPr>
        <p:spPr>
          <a:xfrm>
            <a:off x="6830444" y="1526923"/>
            <a:ext cx="4583768" cy="1646432"/>
          </a:xfrm>
          <a:prstGeom prst="rect">
            <a:avLst/>
          </a:prstGeom>
          <a:noFill/>
          <a:ln w="38100">
            <a:solidFill>
              <a:schemeClr val="tx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0" name="Picture 19" descr="A qr code on a white background&#10;&#10;AI-generated content may be incorrect.">
            <a:extLst>
              <a:ext uri="{FF2B5EF4-FFF2-40B4-BE49-F238E27FC236}">
                <a16:creationId xmlns:a16="http://schemas.microsoft.com/office/drawing/2014/main" id="{E28B8C3C-30C6-D148-883C-9EEF24BB2EE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385349" y="5066691"/>
            <a:ext cx="1577675" cy="1564152"/>
          </a:xfrm>
          <a:prstGeom prst="rect">
            <a:avLst/>
          </a:prstGeom>
        </p:spPr>
      </p:pic>
    </p:spTree>
    <p:extLst>
      <p:ext uri="{BB962C8B-B14F-4D97-AF65-F5344CB8AC3E}">
        <p14:creationId xmlns:p14="http://schemas.microsoft.com/office/powerpoint/2010/main" val="2864883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D6529-6609-A846-4990-C22E86AF2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903FA-2658-D5A1-3EDD-3FDC60743DB3}"/>
              </a:ext>
            </a:extLst>
          </p:cNvPr>
          <p:cNvSpPr>
            <a:spLocks noGrp="1"/>
          </p:cNvSpPr>
          <p:nvPr>
            <p:ph type="title"/>
          </p:nvPr>
        </p:nvSpPr>
        <p:spPr/>
        <p:txBody>
          <a:bodyPr/>
          <a:lstStyle/>
          <a:p>
            <a:r>
              <a:rPr lang="en-US" dirty="0"/>
              <a:t>How to organize your </a:t>
            </a:r>
            <a:r>
              <a:rPr lang="en-US" dirty="0" err="1"/>
              <a:t>Jobrunner</a:t>
            </a:r>
            <a:r>
              <a:rPr lang="en-US" dirty="0"/>
              <a:t> lab notebook?</a:t>
            </a:r>
          </a:p>
        </p:txBody>
      </p:sp>
      <p:sp>
        <p:nvSpPr>
          <p:cNvPr id="3" name="Content Placeholder 2">
            <a:extLst>
              <a:ext uri="{FF2B5EF4-FFF2-40B4-BE49-F238E27FC236}">
                <a16:creationId xmlns:a16="http://schemas.microsoft.com/office/drawing/2014/main" id="{33CDE4E3-BEF1-ADF1-F12B-9453CA1D1205}"/>
              </a:ext>
            </a:extLst>
          </p:cNvPr>
          <p:cNvSpPr>
            <a:spLocks noGrp="1"/>
          </p:cNvSpPr>
          <p:nvPr>
            <p:ph idx="1"/>
          </p:nvPr>
        </p:nvSpPr>
        <p:spPr>
          <a:xfrm>
            <a:off x="365761" y="1233504"/>
            <a:ext cx="8759952"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p:txBody>
      </p:sp>
    </p:spTree>
    <p:extLst>
      <p:ext uri="{BB962C8B-B14F-4D97-AF65-F5344CB8AC3E}">
        <p14:creationId xmlns:p14="http://schemas.microsoft.com/office/powerpoint/2010/main" val="19921022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4BD3-5B57-8E20-7056-6BE36E439298}"/>
            </a:ext>
          </a:extLst>
        </p:cNvPr>
        <p:cNvGrpSpPr/>
        <p:nvPr/>
      </p:nvGrpSpPr>
      <p:grpSpPr>
        <a:xfrm>
          <a:off x="0" y="0"/>
          <a:ext cx="0" cy="0"/>
          <a:chOff x="0" y="0"/>
          <a:chExt cx="0" cy="0"/>
        </a:xfrm>
      </p:grpSpPr>
      <p:pic>
        <p:nvPicPr>
          <p:cNvPr id="4" name="Picture 3" descr="A screenshot of a computer code&#10;&#10;AI-generated content may be incorrect.">
            <a:extLst>
              <a:ext uri="{FF2B5EF4-FFF2-40B4-BE49-F238E27FC236}">
                <a16:creationId xmlns:a16="http://schemas.microsoft.com/office/drawing/2014/main" id="{8EBD69C1-9364-5C69-ED52-927CCACF9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760" y="969264"/>
            <a:ext cx="3877056" cy="5266944"/>
          </a:xfrm>
          <a:prstGeom prst="rect">
            <a:avLst/>
          </a:prstGeom>
        </p:spPr>
      </p:pic>
      <p:sp>
        <p:nvSpPr>
          <p:cNvPr id="18" name="Title 1">
            <a:extLst>
              <a:ext uri="{FF2B5EF4-FFF2-40B4-BE49-F238E27FC236}">
                <a16:creationId xmlns:a16="http://schemas.microsoft.com/office/drawing/2014/main" id="{56E1BDB3-CD70-4A20-17DC-CB82BB71DD72}"/>
              </a:ext>
            </a:extLst>
          </p:cNvPr>
          <p:cNvSpPr>
            <a:spLocks noGrp="1"/>
          </p:cNvSpPr>
          <p:nvPr>
            <p:ph type="title"/>
          </p:nvPr>
        </p:nvSpPr>
        <p:spPr>
          <a:xfrm>
            <a:off x="365760" y="411480"/>
            <a:ext cx="11372473" cy="914400"/>
          </a:xfrm>
        </p:spPr>
        <p:txBody>
          <a:bodyPr/>
          <a:lstStyle/>
          <a:p>
            <a:r>
              <a:rPr lang="en-US" dirty="0"/>
              <a:t>How to organize your </a:t>
            </a:r>
            <a:r>
              <a:rPr lang="en-US" dirty="0" err="1"/>
              <a:t>Jobrunner</a:t>
            </a:r>
            <a:r>
              <a:rPr lang="en-US" dirty="0"/>
              <a:t> lab notebook?</a:t>
            </a:r>
          </a:p>
        </p:txBody>
      </p:sp>
      <p:pic>
        <p:nvPicPr>
          <p:cNvPr id="20" name="Picture 19" descr="A screen shot of a computer program&#10;&#10;AI-generated content may be incorrect.">
            <a:extLst>
              <a:ext uri="{FF2B5EF4-FFF2-40B4-BE49-F238E27FC236}">
                <a16:creationId xmlns:a16="http://schemas.microsoft.com/office/drawing/2014/main" id="{4B0BC09F-3C99-6F4E-B5B7-050BA014E5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9041" y="1150109"/>
            <a:ext cx="3610742" cy="5086099"/>
          </a:xfrm>
          <a:prstGeom prst="rect">
            <a:avLst/>
          </a:prstGeom>
        </p:spPr>
      </p:pic>
      <p:pic>
        <p:nvPicPr>
          <p:cNvPr id="23" name="Picture 22" descr="A screenshot of a computer&#10;&#10;AI-generated content may be incorrect.">
            <a:extLst>
              <a:ext uri="{FF2B5EF4-FFF2-40B4-BE49-F238E27FC236}">
                <a16:creationId xmlns:a16="http://schemas.microsoft.com/office/drawing/2014/main" id="{2A581E80-2F2F-060F-3D94-0688A5AB3B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2324" y="1549380"/>
            <a:ext cx="3769567" cy="3759240"/>
          </a:xfrm>
          <a:prstGeom prst="rect">
            <a:avLst/>
          </a:prstGeom>
        </p:spPr>
      </p:pic>
    </p:spTree>
    <p:extLst>
      <p:ext uri="{BB962C8B-B14F-4D97-AF65-F5344CB8AC3E}">
        <p14:creationId xmlns:p14="http://schemas.microsoft.com/office/powerpoint/2010/main" val="33634642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3467</TotalTime>
  <Words>5218</Words>
  <Application>Microsoft Macintosh PowerPoint</Application>
  <PresentationFormat>Custom</PresentationFormat>
  <Paragraphs>518</Paragraphs>
  <Slides>47</Slides>
  <Notes>13</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Jobrunner: A command line tool for managing computational lab notebooks</vt:lpstr>
      <vt:lpstr>How to organize your Jobrunner lab notebook?</vt:lpstr>
      <vt:lpstr>How to organize your Jobrunner lab notebook?</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Akash Dhruv</cp:lastModifiedBy>
  <cp:revision>497</cp:revision>
  <cp:lastPrinted>2017-11-02T18:35:01Z</cp:lastPrinted>
  <dcterms:created xsi:type="dcterms:W3CDTF">2018-11-06T17:28:56Z</dcterms:created>
  <dcterms:modified xsi:type="dcterms:W3CDTF">2026-01-19T07:08:52Z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