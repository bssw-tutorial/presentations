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935" r:id="rId4"/>
  </p:sldMasterIdLst>
  <p:notesMasterIdLst>
    <p:notesMasterId r:id="rId36"/>
  </p:notesMasterIdLst>
  <p:handoutMasterIdLst>
    <p:handoutMasterId r:id="rId37"/>
  </p:handoutMasterIdLst>
  <p:sldIdLst>
    <p:sldId id="256" r:id="rId5"/>
    <p:sldId id="668" r:id="rId6"/>
    <p:sldId id="610" r:id="rId7"/>
    <p:sldId id="625" r:id="rId8"/>
    <p:sldId id="495" r:id="rId9"/>
    <p:sldId id="636" r:id="rId10"/>
    <p:sldId id="639" r:id="rId11"/>
    <p:sldId id="640" r:id="rId12"/>
    <p:sldId id="603" r:id="rId13"/>
    <p:sldId id="665" r:id="rId14"/>
    <p:sldId id="667" r:id="rId15"/>
    <p:sldId id="666" r:id="rId16"/>
    <p:sldId id="652" r:id="rId17"/>
    <p:sldId id="644" r:id="rId18"/>
    <p:sldId id="653" r:id="rId19"/>
    <p:sldId id="643" r:id="rId20"/>
    <p:sldId id="658" r:id="rId21"/>
    <p:sldId id="659" r:id="rId22"/>
    <p:sldId id="654" r:id="rId23"/>
    <p:sldId id="655" r:id="rId24"/>
    <p:sldId id="656" r:id="rId25"/>
    <p:sldId id="266" r:id="rId26"/>
    <p:sldId id="660" r:id="rId27"/>
    <p:sldId id="629" r:id="rId28"/>
    <p:sldId id="647" r:id="rId29"/>
    <p:sldId id="648" r:id="rId30"/>
    <p:sldId id="630" r:id="rId31"/>
    <p:sldId id="631" r:id="rId32"/>
    <p:sldId id="649" r:id="rId33"/>
    <p:sldId id="632" r:id="rId34"/>
    <p:sldId id="634" r:id="rId35"/>
  </p:sldIdLst>
  <p:sldSz cx="12188825" cy="6858000"/>
  <p:notesSz cx="7010400" cy="9296400"/>
  <p:defaultTextStyle>
    <a:defPPr>
      <a:defRPr lang="en-US"/>
    </a:defPPr>
    <a:lvl1pPr algn="l" rtl="0" fontAlgn="base">
      <a:spcBef>
        <a:spcPct val="0"/>
      </a:spcBef>
      <a:spcAft>
        <a:spcPct val="0"/>
      </a:spcAft>
      <a:defRPr kern="1200">
        <a:solidFill>
          <a:schemeClr val="tx1"/>
        </a:solidFill>
        <a:latin typeface="Arial" charset="0"/>
        <a:ea typeface="+mn-ea"/>
        <a:cs typeface="Arial" charset="0"/>
      </a:defRPr>
    </a:lvl1pPr>
    <a:lvl2pPr marL="457200" algn="l" rtl="0" fontAlgn="base">
      <a:spcBef>
        <a:spcPct val="0"/>
      </a:spcBef>
      <a:spcAft>
        <a:spcPct val="0"/>
      </a:spcAft>
      <a:defRPr kern="1200">
        <a:solidFill>
          <a:schemeClr val="tx1"/>
        </a:solidFill>
        <a:latin typeface="Arial" charset="0"/>
        <a:ea typeface="+mn-ea"/>
        <a:cs typeface="Arial" charset="0"/>
      </a:defRPr>
    </a:lvl2pPr>
    <a:lvl3pPr marL="914400" algn="l" rtl="0" fontAlgn="base">
      <a:spcBef>
        <a:spcPct val="0"/>
      </a:spcBef>
      <a:spcAft>
        <a:spcPct val="0"/>
      </a:spcAft>
      <a:defRPr kern="1200">
        <a:solidFill>
          <a:schemeClr val="tx1"/>
        </a:solidFill>
        <a:latin typeface="Arial" charset="0"/>
        <a:ea typeface="+mn-ea"/>
        <a:cs typeface="Arial" charset="0"/>
      </a:defRPr>
    </a:lvl3pPr>
    <a:lvl4pPr marL="1371600" algn="l" rtl="0" fontAlgn="base">
      <a:spcBef>
        <a:spcPct val="0"/>
      </a:spcBef>
      <a:spcAft>
        <a:spcPct val="0"/>
      </a:spcAft>
      <a:defRPr kern="1200">
        <a:solidFill>
          <a:schemeClr val="tx1"/>
        </a:solidFill>
        <a:latin typeface="Arial" charset="0"/>
        <a:ea typeface="+mn-ea"/>
        <a:cs typeface="Arial" charset="0"/>
      </a:defRPr>
    </a:lvl4pPr>
    <a:lvl5pPr marL="1828800" algn="l" rtl="0" fontAlgn="base">
      <a:spcBef>
        <a:spcPct val="0"/>
      </a:spcBef>
      <a:spcAft>
        <a:spcPct val="0"/>
      </a:spcAft>
      <a:defRPr kern="1200">
        <a:solidFill>
          <a:schemeClr val="tx1"/>
        </a:solidFill>
        <a:latin typeface="Arial" charset="0"/>
        <a:ea typeface="+mn-ea"/>
        <a:cs typeface="Arial" charset="0"/>
      </a:defRPr>
    </a:lvl5pPr>
    <a:lvl6pPr marL="2286000" algn="l" defTabSz="914400" rtl="0" eaLnBrk="1" latinLnBrk="0" hangingPunct="1">
      <a:defRPr kern="1200">
        <a:solidFill>
          <a:schemeClr val="tx1"/>
        </a:solidFill>
        <a:latin typeface="Arial" charset="0"/>
        <a:ea typeface="+mn-ea"/>
        <a:cs typeface="Arial" charset="0"/>
      </a:defRPr>
    </a:lvl6pPr>
    <a:lvl7pPr marL="2743200" algn="l" defTabSz="914400" rtl="0" eaLnBrk="1" latinLnBrk="0" hangingPunct="1">
      <a:defRPr kern="1200">
        <a:solidFill>
          <a:schemeClr val="tx1"/>
        </a:solidFill>
        <a:latin typeface="Arial" charset="0"/>
        <a:ea typeface="+mn-ea"/>
        <a:cs typeface="Arial" charset="0"/>
      </a:defRPr>
    </a:lvl7pPr>
    <a:lvl8pPr marL="3200400" algn="l" defTabSz="914400" rtl="0" eaLnBrk="1" latinLnBrk="0" hangingPunct="1">
      <a:defRPr kern="1200">
        <a:solidFill>
          <a:schemeClr val="tx1"/>
        </a:solidFill>
        <a:latin typeface="Arial" charset="0"/>
        <a:ea typeface="+mn-ea"/>
        <a:cs typeface="Arial" charset="0"/>
      </a:defRPr>
    </a:lvl8pPr>
    <a:lvl9pPr marL="3657600" algn="l" defTabSz="914400" rtl="0" eaLnBrk="1" latinLnBrk="0" hangingPunct="1">
      <a:defRPr kern="1200">
        <a:solidFill>
          <a:schemeClr val="tx1"/>
        </a:solidFill>
        <a:latin typeface="Arial" charset="0"/>
        <a:ea typeface="+mn-ea"/>
        <a:cs typeface="Arial" charset="0"/>
      </a:defRPr>
    </a:lvl9pPr>
  </p:defaultTextStyle>
  <p:extLst>
    <p:ext uri="{EFAFB233-063F-42B5-8137-9DF3F51BA10A}">
      <p15:sldGuideLst xmlns:p15="http://schemas.microsoft.com/office/powerpoint/2012/main">
        <p15:guide id="1" orient="horz" pos="888" userDrawn="1">
          <p15:clr>
            <a:srgbClr val="A4A3A4"/>
          </p15:clr>
        </p15:guide>
        <p15:guide id="2" pos="3839" userDrawn="1">
          <p15:clr>
            <a:srgbClr val="A4A3A4"/>
          </p15:clr>
        </p15:guide>
      </p15:sldGuideLst>
    </p:ext>
    <p:ext uri="{2D200454-40CA-4A62-9FC3-DE9A4176ACB9}">
      <p15:notesGuideLst xmlns:p15="http://schemas.microsoft.com/office/powerpoint/2012/main">
        <p15:guide id="1" orient="horz" pos="2928">
          <p15:clr>
            <a:srgbClr val="A4A3A4"/>
          </p15:clr>
        </p15:guide>
        <p15:guide id="2" pos="2208">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39C2F"/>
    <a:srgbClr val="C59C27"/>
    <a:srgbClr val="D13940"/>
    <a:srgbClr val="EF9A1A"/>
    <a:srgbClr val="907262"/>
    <a:srgbClr val="B3CD1F"/>
    <a:srgbClr val="43B1E5"/>
    <a:srgbClr val="00B8BB"/>
    <a:srgbClr val="426FB6"/>
    <a:srgbClr val="13AAB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164" autoAdjust="0"/>
    <p:restoredTop sz="96571" autoAdjust="0"/>
  </p:normalViewPr>
  <p:slideViewPr>
    <p:cSldViewPr snapToGrid="0" showGuides="1">
      <p:cViewPr varScale="1">
        <p:scale>
          <a:sx n="112" d="100"/>
          <a:sy n="112" d="100"/>
        </p:scale>
        <p:origin x="944" y="192"/>
      </p:cViewPr>
      <p:guideLst>
        <p:guide orient="horz" pos="888"/>
        <p:guide pos="3839"/>
      </p:guideLst>
    </p:cSldViewPr>
  </p:slideViewPr>
  <p:notesTextViewPr>
    <p:cViewPr>
      <p:scale>
        <a:sx n="1" d="1"/>
        <a:sy n="1" d="1"/>
      </p:scale>
      <p:origin x="0" y="0"/>
    </p:cViewPr>
  </p:notesTextViewPr>
  <p:sorterViewPr>
    <p:cViewPr varScale="1">
      <p:scale>
        <a:sx n="1" d="1"/>
        <a:sy n="1" d="1"/>
      </p:scale>
      <p:origin x="0" y="0"/>
    </p:cViewPr>
  </p:sorterViewPr>
  <p:notesViewPr>
    <p:cSldViewPr snapToGrid="0" showGuides="1">
      <p:cViewPr varScale="1">
        <p:scale>
          <a:sx n="55" d="100"/>
          <a:sy n="55" d="100"/>
        </p:scale>
        <p:origin x="-1472" y="-64"/>
      </p:cViewPr>
      <p:guideLst>
        <p:guide orient="horz" pos="2928"/>
        <p:guide pos="2208"/>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viewProps" Target="viewProps.xml"/><Relationship Id="rId21" Type="http://schemas.openxmlformats.org/officeDocument/2006/relationships/slide" Target="slides/slide17.xml"/><Relationship Id="rId34" Type="http://schemas.openxmlformats.org/officeDocument/2006/relationships/slide" Target="slides/slide30.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41"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handoutMaster" Target="handoutMasters/handoutMaster1.xml"/><Relationship Id="rId40"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notesMaster" Target="notesMasters/notesMaster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8" Type="http://schemas.openxmlformats.org/officeDocument/2006/relationships/slide" Target="slides/slide4.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513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970338" y="0"/>
            <a:ext cx="3038475" cy="465138"/>
          </a:xfrm>
          <a:prstGeom prst="rect">
            <a:avLst/>
          </a:prstGeom>
        </p:spPr>
        <p:txBody>
          <a:bodyPr vert="horz" lIns="91440" tIns="45720" rIns="91440" bIns="45720" rtlCol="0"/>
          <a:lstStyle>
            <a:lvl1pPr algn="r">
              <a:defRPr sz="1200"/>
            </a:lvl1pPr>
          </a:lstStyle>
          <a:p>
            <a:fld id="{0B842F42-2CE9-4E35-95C1-410DC08A50B1}" type="datetimeFigureOut">
              <a:rPr lang="en-US" smtClean="0"/>
              <a:t>1/16/26</a:t>
            </a:fld>
            <a:endParaRPr lang="en-US"/>
          </a:p>
        </p:txBody>
      </p:sp>
      <p:sp>
        <p:nvSpPr>
          <p:cNvPr id="4" name="Footer Placeholder 3"/>
          <p:cNvSpPr>
            <a:spLocks noGrp="1"/>
          </p:cNvSpPr>
          <p:nvPr>
            <p:ph type="ftr" sz="quarter" idx="2"/>
          </p:nvPr>
        </p:nvSpPr>
        <p:spPr>
          <a:xfrm>
            <a:off x="0" y="8829675"/>
            <a:ext cx="3038475" cy="465138"/>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970338" y="8829675"/>
            <a:ext cx="3038475" cy="465138"/>
          </a:xfrm>
          <a:prstGeom prst="rect">
            <a:avLst/>
          </a:prstGeom>
        </p:spPr>
        <p:txBody>
          <a:bodyPr vert="horz" lIns="91440" tIns="45720" rIns="91440" bIns="45720" rtlCol="0" anchor="b"/>
          <a:lstStyle>
            <a:lvl1pPr algn="r">
              <a:defRPr sz="1200"/>
            </a:lvl1pPr>
          </a:lstStyle>
          <a:p>
            <a:fld id="{26F2E89A-4FDF-4617-8DDF-BE2769EE821E}" type="slidenum">
              <a:rPr lang="en-US" smtClean="0"/>
              <a:t>‹#›</a:t>
            </a:fld>
            <a:endParaRPr lang="en-US"/>
          </a:p>
        </p:txBody>
      </p:sp>
    </p:spTree>
    <p:extLst>
      <p:ext uri="{BB962C8B-B14F-4D97-AF65-F5344CB8AC3E}">
        <p14:creationId xmlns:p14="http://schemas.microsoft.com/office/powerpoint/2010/main" val="257926193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513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970338" y="0"/>
            <a:ext cx="3038475" cy="465138"/>
          </a:xfrm>
          <a:prstGeom prst="rect">
            <a:avLst/>
          </a:prstGeom>
        </p:spPr>
        <p:txBody>
          <a:bodyPr vert="horz" lIns="91440" tIns="45720" rIns="91440" bIns="45720" rtlCol="0"/>
          <a:lstStyle>
            <a:lvl1pPr algn="r">
              <a:defRPr sz="1200"/>
            </a:lvl1pPr>
          </a:lstStyle>
          <a:p>
            <a:fld id="{6F282904-F315-4730-8D91-37D99E141A6F}" type="datetimeFigureOut">
              <a:rPr lang="en-US" smtClean="0"/>
              <a:t>1/16/26</a:t>
            </a:fld>
            <a:endParaRPr lang="en-US"/>
          </a:p>
        </p:txBody>
      </p:sp>
      <p:sp>
        <p:nvSpPr>
          <p:cNvPr id="4" name="Slide Image Placeholder 3"/>
          <p:cNvSpPr>
            <a:spLocks noGrp="1" noRot="1" noChangeAspect="1"/>
          </p:cNvSpPr>
          <p:nvPr>
            <p:ph type="sldImg" idx="2"/>
          </p:nvPr>
        </p:nvSpPr>
        <p:spPr>
          <a:xfrm>
            <a:off x="407988" y="696913"/>
            <a:ext cx="6194425" cy="348615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701675" y="4416425"/>
            <a:ext cx="5607050" cy="4183063"/>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675"/>
            <a:ext cx="3038475" cy="465138"/>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970338" y="8829675"/>
            <a:ext cx="3038475" cy="465138"/>
          </a:xfrm>
          <a:prstGeom prst="rect">
            <a:avLst/>
          </a:prstGeom>
        </p:spPr>
        <p:txBody>
          <a:bodyPr vert="horz" lIns="91440" tIns="45720" rIns="91440" bIns="45720" rtlCol="0" anchor="b"/>
          <a:lstStyle>
            <a:lvl1pPr algn="r">
              <a:defRPr sz="1200"/>
            </a:lvl1pPr>
          </a:lstStyle>
          <a:p>
            <a:fld id="{54E672D7-8E2D-4611-973D-F4591A707C34}" type="slidenum">
              <a:rPr lang="en-US" smtClean="0"/>
              <a:t>‹#›</a:t>
            </a:fld>
            <a:endParaRPr lang="en-US"/>
          </a:p>
        </p:txBody>
      </p:sp>
    </p:spTree>
    <p:extLst>
      <p:ext uri="{BB962C8B-B14F-4D97-AF65-F5344CB8AC3E}">
        <p14:creationId xmlns:p14="http://schemas.microsoft.com/office/powerpoint/2010/main" val="17013578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5" name="Shape 185"/>
          <p:cNvSpPr>
            <a:spLocks noGrp="1" noRot="1" noChangeAspect="1"/>
          </p:cNvSpPr>
          <p:nvPr>
            <p:ph type="sldImg"/>
          </p:nvPr>
        </p:nvSpPr>
        <p:spPr>
          <a:prstGeom prst="rect">
            <a:avLst/>
          </a:prstGeom>
        </p:spPr>
        <p:txBody>
          <a:bodyPr/>
          <a:lstStyle/>
          <a:p>
            <a:endParaRPr/>
          </a:p>
        </p:txBody>
      </p:sp>
      <p:sp>
        <p:nvSpPr>
          <p:cNvPr id="186" name="Shape 186"/>
          <p:cNvSpPr>
            <a:spLocks noGrp="1"/>
          </p:cNvSpPr>
          <p:nvPr>
            <p:ph type="body" sz="quarter" idx="1"/>
          </p:nvPr>
        </p:nvSpPr>
        <p:spPr>
          <a:prstGeom prst="rect">
            <a:avLst/>
          </a:prstGeom>
        </p:spPr>
        <p:txBody>
          <a:bodyPr/>
          <a:lstStyle/>
          <a:p>
            <a:r>
              <a:rPr dirty="0"/>
              <a:t>Tests written before refactoring encapsulate and enforce a contract made at design time.  Having them available easily allows us to maintain that any small change does not alter behavior of code being refactored.</a:t>
            </a:r>
          </a:p>
          <a:p>
            <a:endParaRPr dirty="0"/>
          </a:p>
          <a:p>
            <a:r>
              <a:rPr dirty="0"/>
              <a:t>Fowler (1999) via Code Complete:</a:t>
            </a:r>
          </a:p>
          <a:p>
            <a:r>
              <a:rPr dirty="0"/>
              <a:t>Refactoring is “a change made to the internal structure of the software to make it easier to understand and cheaper to modify without changing its behavior”.</a:t>
            </a:r>
          </a:p>
        </p:txBody>
      </p:sp>
    </p:spTree>
    <p:extLst>
      <p:ext uri="{BB962C8B-B14F-4D97-AF65-F5344CB8AC3E}">
        <p14:creationId xmlns:p14="http://schemas.microsoft.com/office/powerpoint/2010/main" val="48864120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5" name="Shape 185"/>
          <p:cNvSpPr>
            <a:spLocks noGrp="1" noRot="1" noChangeAspect="1"/>
          </p:cNvSpPr>
          <p:nvPr>
            <p:ph type="sldImg"/>
          </p:nvPr>
        </p:nvSpPr>
        <p:spPr>
          <a:prstGeom prst="rect">
            <a:avLst/>
          </a:prstGeom>
        </p:spPr>
        <p:txBody>
          <a:bodyPr/>
          <a:lstStyle/>
          <a:p>
            <a:endParaRPr/>
          </a:p>
        </p:txBody>
      </p:sp>
      <p:sp>
        <p:nvSpPr>
          <p:cNvPr id="186" name="Shape 186"/>
          <p:cNvSpPr>
            <a:spLocks noGrp="1"/>
          </p:cNvSpPr>
          <p:nvPr>
            <p:ph type="body" sz="quarter" idx="1"/>
          </p:nvPr>
        </p:nvSpPr>
        <p:spPr>
          <a:prstGeom prst="rect">
            <a:avLst/>
          </a:prstGeom>
        </p:spPr>
        <p:txBody>
          <a:bodyPr/>
          <a:lstStyle/>
          <a:p>
            <a:r>
              <a:rPr dirty="0"/>
              <a:t>Tests written before refactoring encapsulate and enforce a contract made at design time.  Having them available easily allows us to maintain that any small change does not alter behavior of code being refactored.</a:t>
            </a:r>
          </a:p>
          <a:p>
            <a:endParaRPr dirty="0"/>
          </a:p>
          <a:p>
            <a:r>
              <a:rPr dirty="0"/>
              <a:t>Fowler (1999) via Code Complete:</a:t>
            </a:r>
          </a:p>
          <a:p>
            <a:r>
              <a:rPr dirty="0"/>
              <a:t>Refactoring is “a change made to the internal structure of the software to make it easier to understand and cheaper to modify without changing its behavior”.</a:t>
            </a:r>
          </a:p>
        </p:txBody>
      </p:sp>
    </p:spTree>
    <p:extLst>
      <p:ext uri="{BB962C8B-B14F-4D97-AF65-F5344CB8AC3E}">
        <p14:creationId xmlns:p14="http://schemas.microsoft.com/office/powerpoint/2010/main" val="315337072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5" name="Shape 185"/>
          <p:cNvSpPr>
            <a:spLocks noGrp="1" noRot="1" noChangeAspect="1"/>
          </p:cNvSpPr>
          <p:nvPr>
            <p:ph type="sldImg"/>
          </p:nvPr>
        </p:nvSpPr>
        <p:spPr>
          <a:prstGeom prst="rect">
            <a:avLst/>
          </a:prstGeom>
        </p:spPr>
        <p:txBody>
          <a:bodyPr/>
          <a:lstStyle/>
          <a:p>
            <a:endParaRPr/>
          </a:p>
        </p:txBody>
      </p:sp>
      <p:sp>
        <p:nvSpPr>
          <p:cNvPr id="186" name="Shape 186"/>
          <p:cNvSpPr>
            <a:spLocks noGrp="1"/>
          </p:cNvSpPr>
          <p:nvPr>
            <p:ph type="body" sz="quarter" idx="1"/>
          </p:nvPr>
        </p:nvSpPr>
        <p:spPr>
          <a:prstGeom prst="rect">
            <a:avLst/>
          </a:prstGeom>
        </p:spPr>
        <p:txBody>
          <a:bodyPr/>
          <a:lstStyle/>
          <a:p>
            <a:r>
              <a:rPr dirty="0"/>
              <a:t>Tests written before refactoring encapsulate and enforce a contract made at design time.  Having them available easily allows us to maintain that any small change does not alter behavior of code being refactored.</a:t>
            </a:r>
          </a:p>
          <a:p>
            <a:endParaRPr dirty="0"/>
          </a:p>
          <a:p>
            <a:r>
              <a:rPr dirty="0"/>
              <a:t>Fowler (1999) via Code Complete:</a:t>
            </a:r>
          </a:p>
          <a:p>
            <a:r>
              <a:rPr dirty="0"/>
              <a:t>Refactoring is “a change made to the internal structure of the software to make it easier to understand and cheaper to modify without changing its behavior”.</a:t>
            </a:r>
          </a:p>
        </p:txBody>
      </p:sp>
    </p:spTree>
    <p:extLst>
      <p:ext uri="{BB962C8B-B14F-4D97-AF65-F5344CB8AC3E}">
        <p14:creationId xmlns:p14="http://schemas.microsoft.com/office/powerpoint/2010/main" val="378414987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5" name="Shape 185"/>
          <p:cNvSpPr>
            <a:spLocks noGrp="1" noRot="1" noChangeAspect="1"/>
          </p:cNvSpPr>
          <p:nvPr>
            <p:ph type="sldImg"/>
          </p:nvPr>
        </p:nvSpPr>
        <p:spPr>
          <a:prstGeom prst="rect">
            <a:avLst/>
          </a:prstGeom>
        </p:spPr>
        <p:txBody>
          <a:bodyPr/>
          <a:lstStyle/>
          <a:p>
            <a:endParaRPr/>
          </a:p>
        </p:txBody>
      </p:sp>
      <p:sp>
        <p:nvSpPr>
          <p:cNvPr id="186" name="Shape 186"/>
          <p:cNvSpPr>
            <a:spLocks noGrp="1"/>
          </p:cNvSpPr>
          <p:nvPr>
            <p:ph type="body" sz="quarter" idx="1"/>
          </p:nvPr>
        </p:nvSpPr>
        <p:spPr>
          <a:prstGeom prst="rect">
            <a:avLst/>
          </a:prstGeom>
        </p:spPr>
        <p:txBody>
          <a:bodyPr/>
          <a:lstStyle/>
          <a:p>
            <a:r>
              <a:rPr dirty="0"/>
              <a:t>Tests written before refactoring encapsulate and enforce a contract made at design time.  Having them available easily allows us to maintain that any small change does not alter behavior of code being refactored.</a:t>
            </a:r>
          </a:p>
          <a:p>
            <a:endParaRPr dirty="0"/>
          </a:p>
          <a:p>
            <a:r>
              <a:rPr dirty="0"/>
              <a:t>Fowler (1999) via Code Complete:</a:t>
            </a:r>
          </a:p>
          <a:p>
            <a:r>
              <a:rPr dirty="0"/>
              <a:t>Refactoring is “a change made to the internal structure of the software to make it easier to understand and cheaper to modify without changing its behavior”.</a:t>
            </a:r>
          </a:p>
        </p:txBody>
      </p:sp>
    </p:spTree>
    <p:extLst>
      <p:ext uri="{BB962C8B-B14F-4D97-AF65-F5344CB8AC3E}">
        <p14:creationId xmlns:p14="http://schemas.microsoft.com/office/powerpoint/2010/main" val="97484929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 point out that this graphic show the need to update the tree - two AMR implementations required a new AMR subfolder.</a:t>
            </a:r>
          </a:p>
        </p:txBody>
      </p:sp>
      <p:sp>
        <p:nvSpPr>
          <p:cNvPr id="4" name="Slide Number Placeholder 3"/>
          <p:cNvSpPr>
            <a:spLocks noGrp="1"/>
          </p:cNvSpPr>
          <p:nvPr>
            <p:ph type="sldNum" sz="quarter" idx="5"/>
          </p:nvPr>
        </p:nvSpPr>
        <p:spPr/>
        <p:txBody>
          <a:bodyPr/>
          <a:lstStyle/>
          <a:p>
            <a:fld id="{3EAA7A1A-8011-3A42-91B8-EE1BD44E4455}" type="slidenum">
              <a:rPr lang="en-US" smtClean="0"/>
              <a:t>22</a:t>
            </a:fld>
            <a:endParaRPr lang="en-US"/>
          </a:p>
        </p:txBody>
      </p:sp>
    </p:spTree>
    <p:extLst>
      <p:ext uri="{BB962C8B-B14F-4D97-AF65-F5344CB8AC3E}">
        <p14:creationId xmlns:p14="http://schemas.microsoft.com/office/powerpoint/2010/main" val="394097034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 point out that this graphic show the need to update the tree - two AMR implementations required a new AMR subfolder.</a:t>
            </a:r>
          </a:p>
        </p:txBody>
      </p:sp>
      <p:sp>
        <p:nvSpPr>
          <p:cNvPr id="4" name="Slide Number Placeholder 3"/>
          <p:cNvSpPr>
            <a:spLocks noGrp="1"/>
          </p:cNvSpPr>
          <p:nvPr>
            <p:ph type="sldNum" sz="quarter" idx="5"/>
          </p:nvPr>
        </p:nvSpPr>
        <p:spPr/>
        <p:txBody>
          <a:bodyPr/>
          <a:lstStyle/>
          <a:p>
            <a:fld id="{3EAA7A1A-8011-3A42-91B8-EE1BD44E4455}" type="slidenum">
              <a:rPr lang="en-US" smtClean="0"/>
              <a:t>23</a:t>
            </a:fld>
            <a:endParaRPr lang="en-US"/>
          </a:p>
        </p:txBody>
      </p:sp>
    </p:spTree>
    <p:extLst>
      <p:ext uri="{BB962C8B-B14F-4D97-AF65-F5344CB8AC3E}">
        <p14:creationId xmlns:p14="http://schemas.microsoft.com/office/powerpoint/2010/main" val="2027609467"/>
      </p:ext>
    </p:extLst>
  </p:cSld>
  <p:clrMapOvr>
    <a:masterClrMapping/>
  </p:clrMapOvr>
</p:notes>
</file>

<file path=ppt/slideLayouts/_rels/slideLayout1.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8.png"/><Relationship Id="rId3" Type="http://schemas.openxmlformats.org/officeDocument/2006/relationships/image" Target="../media/image2.png"/><Relationship Id="rId7" Type="http://schemas.openxmlformats.org/officeDocument/2006/relationships/image" Target="../media/image5.png"/><Relationship Id="rId12" Type="http://schemas.openxmlformats.org/officeDocument/2006/relationships/hyperlink" Target="https://cass.community/" TargetMode="External"/><Relationship Id="rId2" Type="http://schemas.openxmlformats.org/officeDocument/2006/relationships/image" Target="../media/image1.png"/><Relationship Id="rId1" Type="http://schemas.openxmlformats.org/officeDocument/2006/relationships/slideMaster" Target="../slideMasters/slideMaster1.xml"/><Relationship Id="rId6" Type="http://schemas.openxmlformats.org/officeDocument/2006/relationships/image" Target="../media/image4.png"/><Relationship Id="rId11" Type="http://schemas.openxmlformats.org/officeDocument/2006/relationships/hyperlink" Target="https://rapids.lbl.gov/" TargetMode="External"/><Relationship Id="rId5" Type="http://schemas.microsoft.com/office/2007/relationships/hdphoto" Target="../media/hdphoto1.wdp"/><Relationship Id="rId10" Type="http://schemas.openxmlformats.org/officeDocument/2006/relationships/hyperlink" Target="https://pesoproject.org/" TargetMode="External"/><Relationship Id="rId4" Type="http://schemas.openxmlformats.org/officeDocument/2006/relationships/image" Target="../media/image3.png"/><Relationship Id="rId9" Type="http://schemas.openxmlformats.org/officeDocument/2006/relationships/image" Target="../media/image7.png"/></Relationships>
</file>

<file path=ppt/slideLayouts/_rels/slideLayout2.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8.png"/><Relationship Id="rId3" Type="http://schemas.microsoft.com/office/2007/relationships/hdphoto" Target="../media/hdphoto1.wdp"/><Relationship Id="rId7" Type="http://schemas.openxmlformats.org/officeDocument/2006/relationships/image" Target="../media/image5.png"/><Relationship Id="rId12" Type="http://schemas.openxmlformats.org/officeDocument/2006/relationships/hyperlink" Target="https://cass.community/" TargetMode="External"/><Relationship Id="rId2" Type="http://schemas.openxmlformats.org/officeDocument/2006/relationships/image" Target="../media/image3.png"/><Relationship Id="rId1" Type="http://schemas.openxmlformats.org/officeDocument/2006/relationships/slideMaster" Target="../slideMasters/slideMaster1.xml"/><Relationship Id="rId6" Type="http://schemas.openxmlformats.org/officeDocument/2006/relationships/image" Target="../media/image4.png"/><Relationship Id="rId11" Type="http://schemas.openxmlformats.org/officeDocument/2006/relationships/hyperlink" Target="https://rapids.lbl.gov/" TargetMode="External"/><Relationship Id="rId5" Type="http://schemas.openxmlformats.org/officeDocument/2006/relationships/image" Target="../media/image2.png"/><Relationship Id="rId10" Type="http://schemas.openxmlformats.org/officeDocument/2006/relationships/hyperlink" Target="https://pesoproject.org/" TargetMode="External"/><Relationship Id="rId4" Type="http://schemas.openxmlformats.org/officeDocument/2006/relationships/image" Target="../media/image1.png"/><Relationship Id="rId9" Type="http://schemas.openxmlformats.org/officeDocument/2006/relationships/image" Target="../media/image7.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9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E2177C6-060C-4445-8C10-ADA6D3CE5F74}"/>
              </a:ext>
            </a:extLst>
          </p:cNvPr>
          <p:cNvSpPr/>
          <p:nvPr userDrawn="1"/>
        </p:nvSpPr>
        <p:spPr>
          <a:xfrm>
            <a:off x="0" y="6186396"/>
            <a:ext cx="12188825" cy="671604"/>
          </a:xfrm>
          <a:prstGeom prst="rect">
            <a:avLst/>
          </a:prstGeom>
          <a:solidFill>
            <a:schemeClr val="accent1">
              <a:lumMod val="75000"/>
            </a:schemeClr>
          </a:solid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548640" tIns="45720" rIns="45720" bIns="45720" numCol="1" spcCol="0" rtlCol="0" fromWordArt="0" anchor="ctr" anchorCtr="0" forceAA="0" compatLnSpc="1">
            <a:prstTxWarp prst="textNoShape">
              <a:avLst/>
            </a:prstTxWarp>
            <a:noAutofit/>
          </a:bodyPr>
          <a:lstStyle/>
          <a:p>
            <a:pPr algn="l">
              <a:lnSpc>
                <a:spcPct val="90000"/>
              </a:lnSpc>
            </a:pPr>
            <a:endParaRPr lang="en-US" sz="1600" dirty="0">
              <a:ln>
                <a:noFill/>
              </a:ln>
              <a:solidFill>
                <a:schemeClr val="bg1"/>
              </a:solidFill>
            </a:endParaRPr>
          </a:p>
        </p:txBody>
      </p:sp>
      <p:sp>
        <p:nvSpPr>
          <p:cNvPr id="22" name="Rectangle 21"/>
          <p:cNvSpPr/>
          <p:nvPr userDrawn="1"/>
        </p:nvSpPr>
        <p:spPr>
          <a:xfrm>
            <a:off x="8305800" y="5921829"/>
            <a:ext cx="3883025" cy="936171"/>
          </a:xfrm>
          <a:prstGeom prst="rect">
            <a:avLst/>
          </a:prstGeom>
          <a:no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endParaRPr lang="en-US" dirty="0">
              <a:solidFill>
                <a:schemeClr val="tx1"/>
              </a:solidFill>
            </a:endParaRPr>
          </a:p>
        </p:txBody>
      </p:sp>
      <p:sp>
        <p:nvSpPr>
          <p:cNvPr id="2" name="Title 1"/>
          <p:cNvSpPr>
            <a:spLocks noGrp="1"/>
          </p:cNvSpPr>
          <p:nvPr userDrawn="1">
            <p:ph type="ctrTitle"/>
          </p:nvPr>
        </p:nvSpPr>
        <p:spPr>
          <a:xfrm>
            <a:off x="3177633" y="503144"/>
            <a:ext cx="8292316" cy="1030930"/>
          </a:xfrm>
        </p:spPr>
        <p:txBody>
          <a:bodyPr anchor="b"/>
          <a:lstStyle>
            <a:lvl1pPr algn="l">
              <a:defRPr sz="3200" b="1">
                <a:solidFill>
                  <a:schemeClr val="tx1"/>
                </a:solidFill>
                <a:latin typeface="+mn-lt"/>
              </a:defRPr>
            </a:lvl1pPr>
          </a:lstStyle>
          <a:p>
            <a:r>
              <a:rPr lang="en-US" dirty="0"/>
              <a:t>Click to edit Master title style</a:t>
            </a:r>
          </a:p>
        </p:txBody>
      </p:sp>
      <p:pic>
        <p:nvPicPr>
          <p:cNvPr id="13" name="Picture 2" descr="https://licensebuttons.net/l/by/4.0/88x31.png">
            <a:extLst>
              <a:ext uri="{FF2B5EF4-FFF2-40B4-BE49-F238E27FC236}">
                <a16:creationId xmlns:a16="http://schemas.microsoft.com/office/drawing/2014/main" id="{FAFD7D99-41CA-4FD0-9396-9C5659F22045}"/>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969069" y="5841262"/>
            <a:ext cx="838200" cy="295275"/>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D022D1C-99FF-490C-8690-D8081D33C0AF}"/>
              </a:ext>
            </a:extLst>
          </p:cNvPr>
          <p:cNvSpPr txBox="1"/>
          <p:nvPr userDrawn="1"/>
        </p:nvSpPr>
        <p:spPr>
          <a:xfrm>
            <a:off x="1810964" y="5776533"/>
            <a:ext cx="1171114" cy="424732"/>
          </a:xfrm>
          <a:prstGeom prst="rect">
            <a:avLst/>
          </a:prstGeom>
          <a:noFill/>
        </p:spPr>
        <p:txBody>
          <a:bodyPr wrap="square" rtlCol="0">
            <a:spAutoFit/>
          </a:bodyPr>
          <a:lstStyle/>
          <a:p>
            <a:pPr algn="ctr">
              <a:lnSpc>
                <a:spcPct val="90000"/>
              </a:lnSpc>
            </a:pPr>
            <a:r>
              <a:rPr lang="en-US" sz="1200" dirty="0"/>
              <a:t>See slide 2 for license details</a:t>
            </a:r>
          </a:p>
        </p:txBody>
      </p:sp>
      <p:sp>
        <p:nvSpPr>
          <p:cNvPr id="6" name="Text Placeholder 5">
            <a:extLst>
              <a:ext uri="{FF2B5EF4-FFF2-40B4-BE49-F238E27FC236}">
                <a16:creationId xmlns:a16="http://schemas.microsoft.com/office/drawing/2014/main" id="{516372F2-F09E-4139-B638-4F1B290B77B9}"/>
              </a:ext>
            </a:extLst>
          </p:cNvPr>
          <p:cNvSpPr>
            <a:spLocks noGrp="1"/>
          </p:cNvSpPr>
          <p:nvPr>
            <p:ph type="body" sz="quarter" idx="10" hasCustomPrompt="1"/>
          </p:nvPr>
        </p:nvSpPr>
        <p:spPr>
          <a:xfrm>
            <a:off x="9335896" y="5913283"/>
            <a:ext cx="2852929" cy="262814"/>
          </a:xfrm>
        </p:spPr>
        <p:txBody>
          <a:bodyPr/>
          <a:lstStyle>
            <a:lvl1pPr marL="0" indent="0" algn="r">
              <a:buNone/>
              <a:defRPr sz="1200"/>
            </a:lvl1pPr>
          </a:lstStyle>
          <a:p>
            <a:pPr lvl="0"/>
            <a:r>
              <a:rPr lang="en-US" dirty="0"/>
              <a:t>R&amp;R number (if required)</a:t>
            </a:r>
          </a:p>
        </p:txBody>
      </p:sp>
      <p:sp>
        <p:nvSpPr>
          <p:cNvPr id="9" name="Text Placeholder 8">
            <a:extLst>
              <a:ext uri="{FF2B5EF4-FFF2-40B4-BE49-F238E27FC236}">
                <a16:creationId xmlns:a16="http://schemas.microsoft.com/office/drawing/2014/main" id="{7A08ED72-5D36-44C1-A3D6-C72E158E1FA6}"/>
              </a:ext>
            </a:extLst>
          </p:cNvPr>
          <p:cNvSpPr>
            <a:spLocks noGrp="1"/>
          </p:cNvSpPr>
          <p:nvPr>
            <p:ph type="body" sz="quarter" idx="11" hasCustomPrompt="1"/>
          </p:nvPr>
        </p:nvSpPr>
        <p:spPr>
          <a:xfrm>
            <a:off x="3176924" y="2085870"/>
            <a:ext cx="2427268" cy="424732"/>
          </a:xfrm>
        </p:spPr>
        <p:txBody>
          <a:bodyPr wrap="none">
            <a:spAutoFit/>
          </a:bodyPr>
          <a:lstStyle>
            <a:lvl1pPr marL="0" indent="0">
              <a:buNone/>
              <a:defRPr u="sng"/>
            </a:lvl1pPr>
          </a:lstStyle>
          <a:p>
            <a:pPr lvl="0"/>
            <a:r>
              <a:rPr lang="en-US" dirty="0"/>
              <a:t>Presenter Name</a:t>
            </a:r>
          </a:p>
        </p:txBody>
      </p:sp>
      <p:sp>
        <p:nvSpPr>
          <p:cNvPr id="11" name="Text Placeholder 10">
            <a:extLst>
              <a:ext uri="{FF2B5EF4-FFF2-40B4-BE49-F238E27FC236}">
                <a16:creationId xmlns:a16="http://schemas.microsoft.com/office/drawing/2014/main" id="{07C2C5E0-3F9A-4B6C-82C6-FEE7176DA8DC}"/>
              </a:ext>
            </a:extLst>
          </p:cNvPr>
          <p:cNvSpPr>
            <a:spLocks noGrp="1"/>
          </p:cNvSpPr>
          <p:nvPr>
            <p:ph type="body" sz="quarter" idx="12" hasCustomPrompt="1"/>
          </p:nvPr>
        </p:nvSpPr>
        <p:spPr>
          <a:xfrm>
            <a:off x="5667411" y="2134517"/>
            <a:ext cx="1690167" cy="376085"/>
          </a:xfrm>
        </p:spPr>
        <p:txBody>
          <a:bodyPr>
            <a:spAutoFit/>
          </a:bodyPr>
          <a:lstStyle>
            <a:lvl1pPr marL="0" indent="0">
              <a:buNone/>
              <a:defRPr sz="2000"/>
            </a:lvl1pPr>
          </a:lstStyle>
          <a:p>
            <a:pPr lvl="0"/>
            <a:r>
              <a:rPr lang="en-US" dirty="0"/>
              <a:t>(pronouns)</a:t>
            </a:r>
          </a:p>
        </p:txBody>
      </p:sp>
      <p:sp>
        <p:nvSpPr>
          <p:cNvPr id="20" name="Text Placeholder 10">
            <a:extLst>
              <a:ext uri="{FF2B5EF4-FFF2-40B4-BE49-F238E27FC236}">
                <a16:creationId xmlns:a16="http://schemas.microsoft.com/office/drawing/2014/main" id="{6EE16D41-009C-4DB1-A6DF-FEBADC8C343B}"/>
              </a:ext>
            </a:extLst>
          </p:cNvPr>
          <p:cNvSpPr>
            <a:spLocks noGrp="1"/>
          </p:cNvSpPr>
          <p:nvPr>
            <p:ph type="body" sz="quarter" idx="13" hasCustomPrompt="1"/>
          </p:nvPr>
        </p:nvSpPr>
        <p:spPr>
          <a:xfrm>
            <a:off x="3176924" y="2459716"/>
            <a:ext cx="8292315" cy="369332"/>
          </a:xfrm>
        </p:spPr>
        <p:txBody>
          <a:bodyPr wrap="square">
            <a:spAutoFit/>
          </a:bodyPr>
          <a:lstStyle>
            <a:lvl1pPr marL="0" indent="0">
              <a:buNone/>
              <a:defRPr sz="2000"/>
            </a:lvl1pPr>
          </a:lstStyle>
          <a:p>
            <a:pPr lvl="0"/>
            <a:r>
              <a:rPr lang="en-US" dirty="0"/>
              <a:t>Long affiliation</a:t>
            </a:r>
          </a:p>
        </p:txBody>
      </p:sp>
      <p:sp>
        <p:nvSpPr>
          <p:cNvPr id="21" name="Text Placeholder 10">
            <a:extLst>
              <a:ext uri="{FF2B5EF4-FFF2-40B4-BE49-F238E27FC236}">
                <a16:creationId xmlns:a16="http://schemas.microsoft.com/office/drawing/2014/main" id="{8E791C6E-DB06-44D1-AB4E-AA0EF8215FBB}"/>
              </a:ext>
            </a:extLst>
          </p:cNvPr>
          <p:cNvSpPr>
            <a:spLocks noGrp="1"/>
          </p:cNvSpPr>
          <p:nvPr>
            <p:ph type="body" sz="quarter" idx="14" hasCustomPrompt="1"/>
          </p:nvPr>
        </p:nvSpPr>
        <p:spPr>
          <a:xfrm>
            <a:off x="3176925" y="3161813"/>
            <a:ext cx="8292316" cy="369332"/>
          </a:xfrm>
        </p:spPr>
        <p:txBody>
          <a:bodyPr wrap="square">
            <a:spAutoFit/>
          </a:bodyPr>
          <a:lstStyle>
            <a:lvl1pPr marL="0" indent="0">
              <a:buNone/>
              <a:defRPr sz="2000"/>
            </a:lvl1pPr>
          </a:lstStyle>
          <a:p>
            <a:pPr lvl="0"/>
            <a:r>
              <a:rPr lang="en-US" dirty="0"/>
              <a:t>Tutorial title @ Venue</a:t>
            </a:r>
          </a:p>
        </p:txBody>
      </p:sp>
      <p:sp>
        <p:nvSpPr>
          <p:cNvPr id="23" name="Text Placeholder 10">
            <a:extLst>
              <a:ext uri="{FF2B5EF4-FFF2-40B4-BE49-F238E27FC236}">
                <a16:creationId xmlns:a16="http://schemas.microsoft.com/office/drawing/2014/main" id="{AA4CD3CE-55B5-4132-9AC3-B94506768C36}"/>
              </a:ext>
            </a:extLst>
          </p:cNvPr>
          <p:cNvSpPr>
            <a:spLocks noGrp="1"/>
          </p:cNvSpPr>
          <p:nvPr>
            <p:ph type="body" sz="quarter" idx="15" hasCustomPrompt="1"/>
          </p:nvPr>
        </p:nvSpPr>
        <p:spPr>
          <a:xfrm>
            <a:off x="3176924" y="3792588"/>
            <a:ext cx="8292316" cy="646331"/>
          </a:xfrm>
        </p:spPr>
        <p:txBody>
          <a:bodyPr wrap="square">
            <a:spAutoFit/>
          </a:bodyPr>
          <a:lstStyle>
            <a:lvl1pPr marL="0" indent="0">
              <a:buNone/>
              <a:defRPr sz="2000"/>
            </a:lvl1pPr>
          </a:lstStyle>
          <a:p>
            <a:pPr>
              <a:spcBef>
                <a:spcPts val="2800"/>
              </a:spcBef>
            </a:pPr>
            <a:r>
              <a:rPr lang="en-US" sz="2000" dirty="0"/>
              <a:t>Contributors: Contributor Name (short affiliation), … in alphabetical order</a:t>
            </a:r>
          </a:p>
        </p:txBody>
      </p:sp>
      <p:pic>
        <p:nvPicPr>
          <p:cNvPr id="3" name="Picture 2">
            <a:extLst>
              <a:ext uri="{FF2B5EF4-FFF2-40B4-BE49-F238E27FC236}">
                <a16:creationId xmlns:a16="http://schemas.microsoft.com/office/drawing/2014/main" id="{E5A81C43-A5B9-D933-9CA0-B9EBBA5B6295}"/>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418659" y="158509"/>
            <a:ext cx="2109916" cy="905256"/>
          </a:xfrm>
          <a:prstGeom prst="rect">
            <a:avLst/>
          </a:prstGeom>
        </p:spPr>
      </p:pic>
      <p:pic>
        <p:nvPicPr>
          <p:cNvPr id="31" name="Picture 30">
            <a:extLst>
              <a:ext uri="{FF2B5EF4-FFF2-40B4-BE49-F238E27FC236}">
                <a16:creationId xmlns:a16="http://schemas.microsoft.com/office/drawing/2014/main" id="{F6BAEEDA-B6C4-7DDA-6A83-26F20E08F28B}"/>
              </a:ext>
            </a:extLst>
          </p:cNvPr>
          <p:cNvPicPr>
            <a:picLocks noChangeAspect="1"/>
          </p:cNvPicPr>
          <p:nvPr userDrawn="1"/>
        </p:nvPicPr>
        <p:blipFill>
          <a:blip r:embed="rId4" cstate="print">
            <a:extLst>
              <a:ext uri="{BEBA8EAE-BF5A-486C-A8C5-ECC9F3942E4B}">
                <a14:imgProps xmlns:a14="http://schemas.microsoft.com/office/drawing/2010/main">
                  <a14:imgLayer r:embed="rId5">
                    <a14:imgEffect>
                      <a14:brightnessContrast bright="100000"/>
                    </a14:imgEffect>
                  </a14:imgLayer>
                </a14:imgProps>
              </a:ext>
              <a:ext uri="{28A0092B-C50C-407E-A947-70E740481C1C}">
                <a14:useLocalDpi xmlns:a14="http://schemas.microsoft.com/office/drawing/2010/main" val="0"/>
              </a:ext>
            </a:extLst>
          </a:blip>
          <a:stretch>
            <a:fillRect/>
          </a:stretch>
        </p:blipFill>
        <p:spPr>
          <a:xfrm>
            <a:off x="9536165" y="6321694"/>
            <a:ext cx="2409477" cy="401008"/>
          </a:xfrm>
          <a:prstGeom prst="rect">
            <a:avLst/>
          </a:prstGeom>
        </p:spPr>
      </p:pic>
      <p:sp>
        <p:nvSpPr>
          <p:cNvPr id="8" name="TextBox 7">
            <a:extLst>
              <a:ext uri="{FF2B5EF4-FFF2-40B4-BE49-F238E27FC236}">
                <a16:creationId xmlns:a16="http://schemas.microsoft.com/office/drawing/2014/main" id="{C5F5D814-D023-0C77-62AF-7101AD3419A6}"/>
              </a:ext>
            </a:extLst>
          </p:cNvPr>
          <p:cNvSpPr txBox="1"/>
          <p:nvPr userDrawn="1"/>
        </p:nvSpPr>
        <p:spPr>
          <a:xfrm>
            <a:off x="901538" y="1454246"/>
            <a:ext cx="1144159" cy="350865"/>
          </a:xfrm>
          <a:prstGeom prst="rect">
            <a:avLst/>
          </a:prstGeom>
          <a:noFill/>
        </p:spPr>
        <p:txBody>
          <a:bodyPr wrap="none" lIns="118872" tIns="91440" rIns="118872" bIns="91440" rtlCol="0" anchor="ctr" anchorCtr="0">
            <a:spAutoFit/>
          </a:bodyPr>
          <a:lstStyle/>
          <a:p>
            <a:pPr algn="l">
              <a:lnSpc>
                <a:spcPct val="90000"/>
              </a:lnSpc>
            </a:pPr>
            <a:r>
              <a:rPr lang="en-US" sz="1200" i="1" dirty="0"/>
              <a:t>Presented by</a:t>
            </a:r>
          </a:p>
        </p:txBody>
      </p:sp>
      <p:sp>
        <p:nvSpPr>
          <p:cNvPr id="12" name="TextBox 11">
            <a:extLst>
              <a:ext uri="{FF2B5EF4-FFF2-40B4-BE49-F238E27FC236}">
                <a16:creationId xmlns:a16="http://schemas.microsoft.com/office/drawing/2014/main" id="{B5D8D9CE-072B-C278-A349-03A28D3CA873}"/>
              </a:ext>
            </a:extLst>
          </p:cNvPr>
          <p:cNvSpPr txBox="1"/>
          <p:nvPr userDrawn="1"/>
        </p:nvSpPr>
        <p:spPr>
          <a:xfrm>
            <a:off x="948025" y="2646131"/>
            <a:ext cx="1051185" cy="350865"/>
          </a:xfrm>
          <a:prstGeom prst="rect">
            <a:avLst/>
          </a:prstGeom>
          <a:noFill/>
        </p:spPr>
        <p:txBody>
          <a:bodyPr wrap="none" lIns="118872" tIns="91440" rIns="118872" bIns="91440" rtlCol="0" anchor="ctr" anchorCtr="0">
            <a:spAutoFit/>
          </a:bodyPr>
          <a:lstStyle/>
          <a:p>
            <a:pPr algn="l">
              <a:lnSpc>
                <a:spcPct val="90000"/>
              </a:lnSpc>
            </a:pPr>
            <a:r>
              <a:rPr lang="en-US" sz="1200" i="1" dirty="0"/>
              <a:t>Members of</a:t>
            </a:r>
          </a:p>
        </p:txBody>
      </p:sp>
      <p:sp>
        <p:nvSpPr>
          <p:cNvPr id="15" name="TextBox 14">
            <a:extLst>
              <a:ext uri="{FF2B5EF4-FFF2-40B4-BE49-F238E27FC236}">
                <a16:creationId xmlns:a16="http://schemas.microsoft.com/office/drawing/2014/main" id="{85E13C4D-0FCB-AD8A-F919-219CD45F5E4E}"/>
              </a:ext>
            </a:extLst>
          </p:cNvPr>
          <p:cNvSpPr txBox="1"/>
          <p:nvPr userDrawn="1"/>
        </p:nvSpPr>
        <p:spPr>
          <a:xfrm>
            <a:off x="572120" y="4624321"/>
            <a:ext cx="1802994" cy="350865"/>
          </a:xfrm>
          <a:prstGeom prst="rect">
            <a:avLst/>
          </a:prstGeom>
          <a:noFill/>
        </p:spPr>
        <p:txBody>
          <a:bodyPr wrap="none" lIns="118872" tIns="91440" rIns="118872" bIns="91440" rtlCol="0" anchor="ctr" anchorCtr="0">
            <a:spAutoFit/>
          </a:bodyPr>
          <a:lstStyle/>
          <a:p>
            <a:pPr algn="l">
              <a:lnSpc>
                <a:spcPct val="90000"/>
              </a:lnSpc>
            </a:pPr>
            <a:r>
              <a:rPr lang="en-US" sz="1200" i="1" dirty="0"/>
              <a:t>With prior support from</a:t>
            </a:r>
          </a:p>
        </p:txBody>
      </p:sp>
      <p:grpSp>
        <p:nvGrpSpPr>
          <p:cNvPr id="16" name="Group 15">
            <a:extLst>
              <a:ext uri="{FF2B5EF4-FFF2-40B4-BE49-F238E27FC236}">
                <a16:creationId xmlns:a16="http://schemas.microsoft.com/office/drawing/2014/main" id="{7289C683-CE7C-A99C-90B4-4FDEE2708869}"/>
              </a:ext>
            </a:extLst>
          </p:cNvPr>
          <p:cNvGrpSpPr/>
          <p:nvPr userDrawn="1"/>
        </p:nvGrpSpPr>
        <p:grpSpPr>
          <a:xfrm>
            <a:off x="355043" y="5027111"/>
            <a:ext cx="2237149" cy="457200"/>
            <a:chOff x="343050" y="5128711"/>
            <a:chExt cx="2237149" cy="457200"/>
          </a:xfrm>
        </p:grpSpPr>
        <p:pic>
          <p:nvPicPr>
            <p:cNvPr id="17" name="Picture 16">
              <a:extLst>
                <a:ext uri="{FF2B5EF4-FFF2-40B4-BE49-F238E27FC236}">
                  <a16:creationId xmlns:a16="http://schemas.microsoft.com/office/drawing/2014/main" id="{C37C7687-369C-B25A-E795-965CAC0F0430}"/>
                </a:ext>
              </a:extLst>
            </p:cNvPr>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343050" y="5128711"/>
              <a:ext cx="1002296" cy="457200"/>
            </a:xfrm>
            <a:prstGeom prst="rect">
              <a:avLst/>
            </a:prstGeom>
          </p:spPr>
        </p:pic>
        <p:pic>
          <p:nvPicPr>
            <p:cNvPr id="30" name="Picture 29" descr="A picture containing shape&#10;&#10;Description automatically generated">
              <a:extLst>
                <a:ext uri="{FF2B5EF4-FFF2-40B4-BE49-F238E27FC236}">
                  <a16:creationId xmlns:a16="http://schemas.microsoft.com/office/drawing/2014/main" id="{4B33E9E5-DA31-2040-6905-662BE26E895B}"/>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1525950" y="5128711"/>
              <a:ext cx="1054249" cy="457200"/>
            </a:xfrm>
            <a:prstGeom prst="rect">
              <a:avLst/>
            </a:prstGeom>
          </p:spPr>
        </p:pic>
      </p:grpSp>
      <p:grpSp>
        <p:nvGrpSpPr>
          <p:cNvPr id="32" name="Group 31">
            <a:extLst>
              <a:ext uri="{FF2B5EF4-FFF2-40B4-BE49-F238E27FC236}">
                <a16:creationId xmlns:a16="http://schemas.microsoft.com/office/drawing/2014/main" id="{207C4F59-640F-DF87-D6D1-98C999629E33}"/>
              </a:ext>
            </a:extLst>
          </p:cNvPr>
          <p:cNvGrpSpPr/>
          <p:nvPr userDrawn="1"/>
        </p:nvGrpSpPr>
        <p:grpSpPr>
          <a:xfrm>
            <a:off x="-69503" y="1892144"/>
            <a:ext cx="2985270" cy="790169"/>
            <a:chOff x="-69503" y="2214872"/>
            <a:chExt cx="2985270" cy="790169"/>
          </a:xfrm>
        </p:grpSpPr>
        <p:pic>
          <p:nvPicPr>
            <p:cNvPr id="33" name="Picture 4">
              <a:extLst>
                <a:ext uri="{FF2B5EF4-FFF2-40B4-BE49-F238E27FC236}">
                  <a16:creationId xmlns:a16="http://schemas.microsoft.com/office/drawing/2014/main" id="{FC66403F-CB60-0332-773E-4539ADA0C9F5}"/>
                </a:ext>
              </a:extLst>
            </p:cNvPr>
            <p:cNvPicPr>
              <a:picLocks noChangeAspect="1" noChangeArrowheads="1"/>
            </p:cNvPicPr>
            <p:nvPr userDrawn="1"/>
          </p:nvPicPr>
          <p:blipFill>
            <a:blip r:embed="rId8" cstate="print">
              <a:extLst>
                <a:ext uri="{28A0092B-C50C-407E-A947-70E740481C1C}">
                  <a14:useLocalDpi xmlns:a14="http://schemas.microsoft.com/office/drawing/2010/main" val="0"/>
                </a:ext>
              </a:extLst>
            </a:blip>
            <a:srcRect/>
            <a:stretch>
              <a:fillRect/>
            </a:stretch>
          </p:blipFill>
          <p:spPr bwMode="auto">
            <a:xfrm>
              <a:off x="1484438" y="2317122"/>
              <a:ext cx="1371600" cy="318873"/>
            </a:xfrm>
            <a:prstGeom prst="rect">
              <a:avLst/>
            </a:prstGeom>
            <a:noFill/>
            <a:extLst>
              <a:ext uri="{909E8E84-426E-40DD-AFC4-6F175D3DCCD1}">
                <a14:hiddenFill xmlns:a14="http://schemas.microsoft.com/office/drawing/2010/main">
                  <a:solidFill>
                    <a:srgbClr val="FFFFFF"/>
                  </a:solidFill>
                </a14:hiddenFill>
              </a:ext>
            </a:extLst>
          </p:spPr>
        </p:pic>
        <p:pic>
          <p:nvPicPr>
            <p:cNvPr id="34" name="Picture 2" descr="A picture containing graphics, logo, font, symbol&#10;&#10;Description automatically generated">
              <a:extLst>
                <a:ext uri="{FF2B5EF4-FFF2-40B4-BE49-F238E27FC236}">
                  <a16:creationId xmlns:a16="http://schemas.microsoft.com/office/drawing/2014/main" id="{3E2AFFBD-3575-2847-9AAF-6E6A96862D76}"/>
                </a:ext>
              </a:extLst>
            </p:cNvPr>
            <p:cNvPicPr>
              <a:picLocks noChangeAspect="1" noChangeArrowheads="1"/>
            </p:cNvPicPr>
            <p:nvPr userDrawn="1"/>
          </p:nvPicPr>
          <p:blipFill>
            <a:blip r:embed="rId9" cstate="print">
              <a:extLst>
                <a:ext uri="{28A0092B-C50C-407E-A947-70E740481C1C}">
                  <a14:useLocalDpi xmlns:a14="http://schemas.microsoft.com/office/drawing/2010/main" val="0"/>
                </a:ext>
              </a:extLst>
            </a:blip>
            <a:srcRect/>
            <a:stretch>
              <a:fillRect/>
            </a:stretch>
          </p:blipFill>
          <p:spPr bwMode="auto">
            <a:xfrm>
              <a:off x="321595" y="2214872"/>
              <a:ext cx="841248" cy="523372"/>
            </a:xfrm>
            <a:prstGeom prst="rect">
              <a:avLst/>
            </a:prstGeom>
            <a:noFill/>
            <a:extLst>
              <a:ext uri="{909E8E84-426E-40DD-AFC4-6F175D3DCCD1}">
                <a14:hiddenFill xmlns:a14="http://schemas.microsoft.com/office/drawing/2010/main">
                  <a:solidFill>
                    <a:srgbClr val="FFFFFF"/>
                  </a:solidFill>
                </a14:hiddenFill>
              </a:ext>
            </a:extLst>
          </p:spPr>
        </p:pic>
        <p:sp>
          <p:nvSpPr>
            <p:cNvPr id="35" name="TextBox 34">
              <a:extLst>
                <a:ext uri="{FF2B5EF4-FFF2-40B4-BE49-F238E27FC236}">
                  <a16:creationId xmlns:a16="http://schemas.microsoft.com/office/drawing/2014/main" id="{5E39CEC8-98B1-7568-653D-E9AE26511499}"/>
                </a:ext>
              </a:extLst>
            </p:cNvPr>
            <p:cNvSpPr txBox="1"/>
            <p:nvPr userDrawn="1"/>
          </p:nvSpPr>
          <p:spPr>
            <a:xfrm>
              <a:off x="-69503" y="2668026"/>
              <a:ext cx="1631472" cy="337015"/>
            </a:xfrm>
            <a:prstGeom prst="rect">
              <a:avLst/>
            </a:prstGeom>
            <a:noFill/>
          </p:spPr>
          <p:txBody>
            <a:bodyPr wrap="none" lIns="118872" tIns="91440" rIns="118872" bIns="91440" rtlCol="0" anchor="ctr" anchorCtr="0">
              <a:spAutoFit/>
            </a:bodyPr>
            <a:lstStyle/>
            <a:p>
              <a:pPr algn="l">
                <a:lnSpc>
                  <a:spcPct val="90000"/>
                </a:lnSpc>
              </a:pPr>
              <a:r>
                <a:rPr lang="en-US" sz="1050" i="1" dirty="0">
                  <a:hlinkClick r:id="rId10"/>
                </a:rPr>
                <a:t>https://pesoproject.org</a:t>
              </a:r>
              <a:endParaRPr lang="en-US" sz="1050" i="1" dirty="0"/>
            </a:p>
          </p:txBody>
        </p:sp>
        <p:sp>
          <p:nvSpPr>
            <p:cNvPr id="36" name="TextBox 35">
              <a:extLst>
                <a:ext uri="{FF2B5EF4-FFF2-40B4-BE49-F238E27FC236}">
                  <a16:creationId xmlns:a16="http://schemas.microsoft.com/office/drawing/2014/main" id="{212AE08A-8A6C-79CC-3F21-161F7C72E3FF}"/>
                </a:ext>
              </a:extLst>
            </p:cNvPr>
            <p:cNvSpPr txBox="1"/>
            <p:nvPr userDrawn="1"/>
          </p:nvSpPr>
          <p:spPr>
            <a:xfrm>
              <a:off x="1423755" y="2668026"/>
              <a:ext cx="1492012" cy="337015"/>
            </a:xfrm>
            <a:prstGeom prst="rect">
              <a:avLst/>
            </a:prstGeom>
            <a:noFill/>
          </p:spPr>
          <p:txBody>
            <a:bodyPr wrap="none" lIns="118872" tIns="91440" rIns="118872" bIns="91440" rtlCol="0" anchor="ctr" anchorCtr="0">
              <a:spAutoFit/>
            </a:bodyPr>
            <a:lstStyle/>
            <a:p>
              <a:pPr algn="l">
                <a:lnSpc>
                  <a:spcPct val="90000"/>
                </a:lnSpc>
              </a:pPr>
              <a:r>
                <a:rPr lang="en-US" sz="1050" i="1" dirty="0">
                  <a:hlinkClick r:id="rId11"/>
                </a:rPr>
                <a:t>https://rapids.lbl.gov</a:t>
              </a:r>
              <a:endParaRPr lang="en-US" sz="1050" i="1" dirty="0"/>
            </a:p>
          </p:txBody>
        </p:sp>
      </p:grpSp>
      <p:sp>
        <p:nvSpPr>
          <p:cNvPr id="37" name="TextBox 36">
            <a:extLst>
              <a:ext uri="{FF2B5EF4-FFF2-40B4-BE49-F238E27FC236}">
                <a16:creationId xmlns:a16="http://schemas.microsoft.com/office/drawing/2014/main" id="{158D4700-C4CE-C2F9-D0A7-06799F81F594}"/>
              </a:ext>
            </a:extLst>
          </p:cNvPr>
          <p:cNvSpPr txBox="1"/>
          <p:nvPr userDrawn="1"/>
        </p:nvSpPr>
        <p:spPr>
          <a:xfrm>
            <a:off x="166031" y="4011401"/>
            <a:ext cx="2605511" cy="655564"/>
          </a:xfrm>
          <a:prstGeom prst="rect">
            <a:avLst/>
          </a:prstGeom>
          <a:noFill/>
        </p:spPr>
        <p:txBody>
          <a:bodyPr wrap="square" lIns="118872" tIns="91440" rIns="118872" bIns="91440" rtlCol="0" anchor="ctr" anchorCtr="0">
            <a:spAutoFit/>
          </a:bodyPr>
          <a:lstStyle/>
          <a:p>
            <a:pPr algn="ctr">
              <a:lnSpc>
                <a:spcPct val="90000"/>
              </a:lnSpc>
            </a:pPr>
            <a:r>
              <a:rPr lang="en-US" sz="1200" i="1" dirty="0"/>
              <a:t>Consortium for the Advancement of Scientific Software</a:t>
            </a:r>
            <a:br>
              <a:rPr lang="en-US" sz="1200" i="1" dirty="0"/>
            </a:br>
            <a:r>
              <a:rPr lang="en-US" sz="1000" i="1" dirty="0">
                <a:hlinkClick r:id="rId12"/>
              </a:rPr>
              <a:t>https://cass.community</a:t>
            </a:r>
            <a:endParaRPr lang="en-US" sz="1200" i="1" dirty="0"/>
          </a:p>
        </p:txBody>
      </p:sp>
      <p:pic>
        <p:nvPicPr>
          <p:cNvPr id="38" name="Picture 37" descr="A picture containing arrow&#10;&#10;AI-generated content may be incorrect.">
            <a:extLst>
              <a:ext uri="{FF2B5EF4-FFF2-40B4-BE49-F238E27FC236}">
                <a16:creationId xmlns:a16="http://schemas.microsoft.com/office/drawing/2014/main" id="{C35E018A-A812-4862-A6E5-340C47A4832A}"/>
              </a:ext>
            </a:extLst>
          </p:cNvPr>
          <p:cNvPicPr>
            <a:picLocks noChangeAspect="1"/>
          </p:cNvPicPr>
          <p:nvPr userDrawn="1"/>
        </p:nvPicPr>
        <p:blipFill>
          <a:blip r:embed="rId13" cstate="print">
            <a:extLst>
              <a:ext uri="{28A0092B-C50C-407E-A947-70E740481C1C}">
                <a14:useLocalDpi xmlns:a14="http://schemas.microsoft.com/office/drawing/2010/main" val="0"/>
              </a:ext>
            </a:extLst>
          </a:blip>
          <a:stretch>
            <a:fillRect/>
          </a:stretch>
        </p:blipFill>
        <p:spPr>
          <a:xfrm>
            <a:off x="849769" y="2974535"/>
            <a:ext cx="1238034" cy="1128739"/>
          </a:xfrm>
          <a:prstGeom prst="rect">
            <a:avLst/>
          </a:prstGeom>
        </p:spPr>
      </p:pic>
    </p:spTree>
    <p:extLst>
      <p:ext uri="{BB962C8B-B14F-4D97-AF65-F5344CB8AC3E}">
        <p14:creationId xmlns:p14="http://schemas.microsoft.com/office/powerpoint/2010/main" val="398897822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10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E2177C6-060C-4445-8C10-ADA6D3CE5F74}"/>
              </a:ext>
            </a:extLst>
          </p:cNvPr>
          <p:cNvSpPr/>
          <p:nvPr userDrawn="1"/>
        </p:nvSpPr>
        <p:spPr>
          <a:xfrm>
            <a:off x="0" y="6186396"/>
            <a:ext cx="12188825" cy="671604"/>
          </a:xfrm>
          <a:prstGeom prst="rect">
            <a:avLst/>
          </a:prstGeom>
          <a:solidFill>
            <a:schemeClr val="accent1">
              <a:lumMod val="75000"/>
            </a:schemeClr>
          </a:solid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548640" tIns="45720" rIns="45720" bIns="45720" numCol="1" spcCol="0" rtlCol="0" fromWordArt="0" anchor="ctr" anchorCtr="0" forceAA="0" compatLnSpc="1">
            <a:prstTxWarp prst="textNoShape">
              <a:avLst/>
            </a:prstTxWarp>
            <a:noAutofit/>
          </a:bodyPr>
          <a:lstStyle/>
          <a:p>
            <a:pPr algn="l">
              <a:lnSpc>
                <a:spcPct val="90000"/>
              </a:lnSpc>
            </a:pPr>
            <a:endParaRPr lang="en-US" sz="1600" dirty="0">
              <a:ln>
                <a:noFill/>
              </a:ln>
              <a:solidFill>
                <a:schemeClr val="bg1"/>
              </a:solidFill>
            </a:endParaRPr>
          </a:p>
        </p:txBody>
      </p:sp>
      <p:sp>
        <p:nvSpPr>
          <p:cNvPr id="22" name="Rectangle 21"/>
          <p:cNvSpPr/>
          <p:nvPr userDrawn="1"/>
        </p:nvSpPr>
        <p:spPr>
          <a:xfrm>
            <a:off x="8305800" y="5921829"/>
            <a:ext cx="3883025" cy="936171"/>
          </a:xfrm>
          <a:prstGeom prst="rect">
            <a:avLst/>
          </a:prstGeom>
          <a:no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endParaRPr lang="en-US" dirty="0">
              <a:solidFill>
                <a:schemeClr val="tx1"/>
              </a:solidFill>
            </a:endParaRPr>
          </a:p>
        </p:txBody>
      </p:sp>
      <p:sp>
        <p:nvSpPr>
          <p:cNvPr id="2" name="Title 1"/>
          <p:cNvSpPr>
            <a:spLocks noGrp="1"/>
          </p:cNvSpPr>
          <p:nvPr userDrawn="1">
            <p:ph type="ctrTitle"/>
          </p:nvPr>
        </p:nvSpPr>
        <p:spPr>
          <a:xfrm>
            <a:off x="3177633" y="503144"/>
            <a:ext cx="8292316" cy="1030930"/>
          </a:xfrm>
        </p:spPr>
        <p:txBody>
          <a:bodyPr anchor="b"/>
          <a:lstStyle>
            <a:lvl1pPr algn="l">
              <a:defRPr sz="3200" b="1">
                <a:solidFill>
                  <a:schemeClr val="tx1"/>
                </a:solidFill>
                <a:latin typeface="+mn-lt"/>
              </a:defRPr>
            </a:lvl1pPr>
          </a:lstStyle>
          <a:p>
            <a:r>
              <a:rPr lang="en-US"/>
              <a:t>Click to edit Master title style</a:t>
            </a:r>
            <a:endParaRPr lang="en-US" dirty="0"/>
          </a:p>
        </p:txBody>
      </p:sp>
      <p:sp>
        <p:nvSpPr>
          <p:cNvPr id="3" name="Subtitle 2"/>
          <p:cNvSpPr>
            <a:spLocks noGrp="1"/>
          </p:cNvSpPr>
          <p:nvPr userDrawn="1">
            <p:ph type="subTitle" idx="1"/>
          </p:nvPr>
        </p:nvSpPr>
        <p:spPr>
          <a:xfrm>
            <a:off x="3177632" y="2085962"/>
            <a:ext cx="8292317" cy="2855300"/>
          </a:xfrm>
        </p:spPr>
        <p:txBody>
          <a:bodyPr lIns="109728"/>
          <a:lstStyle>
            <a:lvl1pPr marL="0" indent="0" algn="l">
              <a:buNone/>
              <a:defRPr sz="2400">
                <a:solidFill>
                  <a:schemeClr val="tx1"/>
                </a:solidFill>
                <a:latin typeface="Arial" panose="020B0604020202020204" pitchFamily="34" charset="0"/>
                <a:cs typeface="Arial" panose="020B0604020202020204" pitchFamily="34" charset="0"/>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pic>
        <p:nvPicPr>
          <p:cNvPr id="16" name="Picture 15"/>
          <p:cNvPicPr>
            <a:picLocks noChangeAspect="1"/>
          </p:cNvPicPr>
          <p:nvPr userDrawn="1"/>
        </p:nvPicPr>
        <p:blipFill>
          <a:blip r:embed="rId2" cstate="print">
            <a:extLst>
              <a:ext uri="{BEBA8EAE-BF5A-486C-A8C5-ECC9F3942E4B}">
                <a14:imgProps xmlns:a14="http://schemas.microsoft.com/office/drawing/2010/main">
                  <a14:imgLayer r:embed="rId3">
                    <a14:imgEffect>
                      <a14:brightnessContrast bright="100000"/>
                    </a14:imgEffect>
                  </a14:imgLayer>
                </a14:imgProps>
              </a:ext>
              <a:ext uri="{28A0092B-C50C-407E-A947-70E740481C1C}">
                <a14:useLocalDpi xmlns:a14="http://schemas.microsoft.com/office/drawing/2010/main" val="0"/>
              </a:ext>
            </a:extLst>
          </a:blip>
          <a:stretch>
            <a:fillRect/>
          </a:stretch>
        </p:blipFill>
        <p:spPr>
          <a:xfrm>
            <a:off x="9536165" y="6321694"/>
            <a:ext cx="2409477" cy="401008"/>
          </a:xfrm>
          <a:prstGeom prst="rect">
            <a:avLst/>
          </a:prstGeom>
        </p:spPr>
      </p:pic>
      <p:pic>
        <p:nvPicPr>
          <p:cNvPr id="13" name="Picture 2" descr="https://licensebuttons.net/l/by/4.0/88x31.png">
            <a:extLst>
              <a:ext uri="{FF2B5EF4-FFF2-40B4-BE49-F238E27FC236}">
                <a16:creationId xmlns:a16="http://schemas.microsoft.com/office/drawing/2014/main" id="{FAFD7D99-41CA-4FD0-9396-9C5659F22045}"/>
              </a:ext>
            </a:extLst>
          </p:cNvPr>
          <p:cNvPicPr>
            <a:picLocks noChangeAspect="1" noChangeArrowheads="1"/>
          </p:cNvPicPr>
          <p:nvPr userDrawn="1"/>
        </p:nvPicPr>
        <p:blipFill>
          <a:blip r:embed="rId4">
            <a:extLst>
              <a:ext uri="{28A0092B-C50C-407E-A947-70E740481C1C}">
                <a14:useLocalDpi xmlns:a14="http://schemas.microsoft.com/office/drawing/2010/main" val="0"/>
              </a:ext>
            </a:extLst>
          </a:blip>
          <a:srcRect/>
          <a:stretch>
            <a:fillRect/>
          </a:stretch>
        </p:blipFill>
        <p:spPr bwMode="auto">
          <a:xfrm>
            <a:off x="969069" y="5841262"/>
            <a:ext cx="838200" cy="295275"/>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D022D1C-99FF-490C-8690-D8081D33C0AF}"/>
              </a:ext>
            </a:extLst>
          </p:cNvPr>
          <p:cNvSpPr txBox="1"/>
          <p:nvPr userDrawn="1"/>
        </p:nvSpPr>
        <p:spPr>
          <a:xfrm>
            <a:off x="1810964" y="5776533"/>
            <a:ext cx="1171114" cy="424732"/>
          </a:xfrm>
          <a:prstGeom prst="rect">
            <a:avLst/>
          </a:prstGeom>
          <a:noFill/>
        </p:spPr>
        <p:txBody>
          <a:bodyPr wrap="square" rtlCol="0">
            <a:spAutoFit/>
          </a:bodyPr>
          <a:lstStyle/>
          <a:p>
            <a:pPr algn="ctr">
              <a:lnSpc>
                <a:spcPct val="90000"/>
              </a:lnSpc>
            </a:pPr>
            <a:r>
              <a:rPr lang="en-US" sz="1200" dirty="0"/>
              <a:t>See slide 2 for license details</a:t>
            </a:r>
          </a:p>
        </p:txBody>
      </p:sp>
      <p:pic>
        <p:nvPicPr>
          <p:cNvPr id="5" name="Picture 4">
            <a:extLst>
              <a:ext uri="{FF2B5EF4-FFF2-40B4-BE49-F238E27FC236}">
                <a16:creationId xmlns:a16="http://schemas.microsoft.com/office/drawing/2014/main" id="{39A0B7EC-D4C0-0A37-EF93-54309C1E7E8C}"/>
              </a:ext>
            </a:extLst>
          </p:cNvPr>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418659" y="158509"/>
            <a:ext cx="2109916" cy="905256"/>
          </a:xfrm>
          <a:prstGeom prst="rect">
            <a:avLst/>
          </a:prstGeom>
        </p:spPr>
      </p:pic>
      <p:sp>
        <p:nvSpPr>
          <p:cNvPr id="12" name="TextBox 11">
            <a:extLst>
              <a:ext uri="{FF2B5EF4-FFF2-40B4-BE49-F238E27FC236}">
                <a16:creationId xmlns:a16="http://schemas.microsoft.com/office/drawing/2014/main" id="{2FF8162C-FE3B-2F12-EFB5-7DF3B974D63A}"/>
              </a:ext>
            </a:extLst>
          </p:cNvPr>
          <p:cNvSpPr txBox="1"/>
          <p:nvPr userDrawn="1"/>
        </p:nvSpPr>
        <p:spPr>
          <a:xfrm>
            <a:off x="901538" y="1454246"/>
            <a:ext cx="1144159" cy="350865"/>
          </a:xfrm>
          <a:prstGeom prst="rect">
            <a:avLst/>
          </a:prstGeom>
          <a:noFill/>
        </p:spPr>
        <p:txBody>
          <a:bodyPr wrap="none" lIns="118872" tIns="91440" rIns="118872" bIns="91440" rtlCol="0" anchor="ctr" anchorCtr="0">
            <a:spAutoFit/>
          </a:bodyPr>
          <a:lstStyle/>
          <a:p>
            <a:pPr algn="l">
              <a:lnSpc>
                <a:spcPct val="90000"/>
              </a:lnSpc>
            </a:pPr>
            <a:r>
              <a:rPr lang="en-US" sz="1200" i="1" dirty="0"/>
              <a:t>Presented by</a:t>
            </a:r>
          </a:p>
        </p:txBody>
      </p:sp>
      <p:sp>
        <p:nvSpPr>
          <p:cNvPr id="19" name="TextBox 18">
            <a:extLst>
              <a:ext uri="{FF2B5EF4-FFF2-40B4-BE49-F238E27FC236}">
                <a16:creationId xmlns:a16="http://schemas.microsoft.com/office/drawing/2014/main" id="{D2820F98-3B22-7A7C-C5D3-A451E4190BE0}"/>
              </a:ext>
            </a:extLst>
          </p:cNvPr>
          <p:cNvSpPr txBox="1"/>
          <p:nvPr userDrawn="1"/>
        </p:nvSpPr>
        <p:spPr>
          <a:xfrm>
            <a:off x="948025" y="2646131"/>
            <a:ext cx="1051185" cy="350865"/>
          </a:xfrm>
          <a:prstGeom prst="rect">
            <a:avLst/>
          </a:prstGeom>
          <a:noFill/>
        </p:spPr>
        <p:txBody>
          <a:bodyPr wrap="none" lIns="118872" tIns="91440" rIns="118872" bIns="91440" rtlCol="0" anchor="ctr" anchorCtr="0">
            <a:spAutoFit/>
          </a:bodyPr>
          <a:lstStyle/>
          <a:p>
            <a:pPr algn="l">
              <a:lnSpc>
                <a:spcPct val="90000"/>
              </a:lnSpc>
            </a:pPr>
            <a:r>
              <a:rPr lang="en-US" sz="1200" i="1" dirty="0"/>
              <a:t>Members of</a:t>
            </a:r>
          </a:p>
        </p:txBody>
      </p:sp>
      <p:sp>
        <p:nvSpPr>
          <p:cNvPr id="23" name="TextBox 22">
            <a:extLst>
              <a:ext uri="{FF2B5EF4-FFF2-40B4-BE49-F238E27FC236}">
                <a16:creationId xmlns:a16="http://schemas.microsoft.com/office/drawing/2014/main" id="{C39CAFBB-B26F-D973-C4F5-75C0DBD17BC8}"/>
              </a:ext>
            </a:extLst>
          </p:cNvPr>
          <p:cNvSpPr txBox="1"/>
          <p:nvPr userDrawn="1"/>
        </p:nvSpPr>
        <p:spPr>
          <a:xfrm>
            <a:off x="572120" y="4624321"/>
            <a:ext cx="1802994" cy="350865"/>
          </a:xfrm>
          <a:prstGeom prst="rect">
            <a:avLst/>
          </a:prstGeom>
          <a:noFill/>
        </p:spPr>
        <p:txBody>
          <a:bodyPr wrap="none" lIns="118872" tIns="91440" rIns="118872" bIns="91440" rtlCol="0" anchor="ctr" anchorCtr="0">
            <a:spAutoFit/>
          </a:bodyPr>
          <a:lstStyle/>
          <a:p>
            <a:pPr algn="l">
              <a:lnSpc>
                <a:spcPct val="90000"/>
              </a:lnSpc>
            </a:pPr>
            <a:r>
              <a:rPr lang="en-US" sz="1200" i="1" dirty="0"/>
              <a:t>With prior support from</a:t>
            </a:r>
          </a:p>
        </p:txBody>
      </p:sp>
      <p:grpSp>
        <p:nvGrpSpPr>
          <p:cNvPr id="24" name="Group 23">
            <a:extLst>
              <a:ext uri="{FF2B5EF4-FFF2-40B4-BE49-F238E27FC236}">
                <a16:creationId xmlns:a16="http://schemas.microsoft.com/office/drawing/2014/main" id="{273B7CB2-1661-339F-C3CF-B7841A4249CF}"/>
              </a:ext>
            </a:extLst>
          </p:cNvPr>
          <p:cNvGrpSpPr/>
          <p:nvPr userDrawn="1"/>
        </p:nvGrpSpPr>
        <p:grpSpPr>
          <a:xfrm>
            <a:off x="355043" y="5027111"/>
            <a:ext cx="2237149" cy="457200"/>
            <a:chOff x="343050" y="5128711"/>
            <a:chExt cx="2237149" cy="457200"/>
          </a:xfrm>
        </p:grpSpPr>
        <p:pic>
          <p:nvPicPr>
            <p:cNvPr id="25" name="Picture 24">
              <a:extLst>
                <a:ext uri="{FF2B5EF4-FFF2-40B4-BE49-F238E27FC236}">
                  <a16:creationId xmlns:a16="http://schemas.microsoft.com/office/drawing/2014/main" id="{20E1B50D-7456-26E6-E71B-C2EFC86CD852}"/>
                </a:ext>
              </a:extLst>
            </p:cNvPr>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343050" y="5128711"/>
              <a:ext cx="1002296" cy="457200"/>
            </a:xfrm>
            <a:prstGeom prst="rect">
              <a:avLst/>
            </a:prstGeom>
          </p:spPr>
        </p:pic>
        <p:pic>
          <p:nvPicPr>
            <p:cNvPr id="26" name="Picture 25" descr="A picture containing shape&#10;&#10;Description automatically generated">
              <a:extLst>
                <a:ext uri="{FF2B5EF4-FFF2-40B4-BE49-F238E27FC236}">
                  <a16:creationId xmlns:a16="http://schemas.microsoft.com/office/drawing/2014/main" id="{CCF4F055-BFB5-5FA7-5DAE-B7C31519A851}"/>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1525950" y="5128711"/>
              <a:ext cx="1054249" cy="457200"/>
            </a:xfrm>
            <a:prstGeom prst="rect">
              <a:avLst/>
            </a:prstGeom>
          </p:spPr>
        </p:pic>
      </p:grpSp>
      <p:grpSp>
        <p:nvGrpSpPr>
          <p:cNvPr id="27" name="Group 26">
            <a:extLst>
              <a:ext uri="{FF2B5EF4-FFF2-40B4-BE49-F238E27FC236}">
                <a16:creationId xmlns:a16="http://schemas.microsoft.com/office/drawing/2014/main" id="{D346F560-6C4A-637B-95AE-00BA10A56548}"/>
              </a:ext>
            </a:extLst>
          </p:cNvPr>
          <p:cNvGrpSpPr/>
          <p:nvPr userDrawn="1"/>
        </p:nvGrpSpPr>
        <p:grpSpPr>
          <a:xfrm>
            <a:off x="-69503" y="1892144"/>
            <a:ext cx="2985270" cy="790169"/>
            <a:chOff x="-69503" y="2214872"/>
            <a:chExt cx="2985270" cy="790169"/>
          </a:xfrm>
        </p:grpSpPr>
        <p:pic>
          <p:nvPicPr>
            <p:cNvPr id="28" name="Picture 4">
              <a:extLst>
                <a:ext uri="{FF2B5EF4-FFF2-40B4-BE49-F238E27FC236}">
                  <a16:creationId xmlns:a16="http://schemas.microsoft.com/office/drawing/2014/main" id="{32D9E63D-4D7F-616E-6CFA-84EF3251CEDC}"/>
                </a:ext>
              </a:extLst>
            </p:cNvPr>
            <p:cNvPicPr>
              <a:picLocks noChangeAspect="1" noChangeArrowheads="1"/>
            </p:cNvPicPr>
            <p:nvPr userDrawn="1"/>
          </p:nvPicPr>
          <p:blipFill>
            <a:blip r:embed="rId8" cstate="print">
              <a:extLst>
                <a:ext uri="{28A0092B-C50C-407E-A947-70E740481C1C}">
                  <a14:useLocalDpi xmlns:a14="http://schemas.microsoft.com/office/drawing/2010/main" val="0"/>
                </a:ext>
              </a:extLst>
            </a:blip>
            <a:srcRect/>
            <a:stretch>
              <a:fillRect/>
            </a:stretch>
          </p:blipFill>
          <p:spPr bwMode="auto">
            <a:xfrm>
              <a:off x="1484438" y="2317122"/>
              <a:ext cx="1371600" cy="318873"/>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2" descr="A picture containing graphics, logo, font, symbol&#10;&#10;Description automatically generated">
              <a:extLst>
                <a:ext uri="{FF2B5EF4-FFF2-40B4-BE49-F238E27FC236}">
                  <a16:creationId xmlns:a16="http://schemas.microsoft.com/office/drawing/2014/main" id="{C3DD0F40-8227-1760-99FF-A46AF01BB816}"/>
                </a:ext>
              </a:extLst>
            </p:cNvPr>
            <p:cNvPicPr>
              <a:picLocks noChangeAspect="1" noChangeArrowheads="1"/>
            </p:cNvPicPr>
            <p:nvPr userDrawn="1"/>
          </p:nvPicPr>
          <p:blipFill>
            <a:blip r:embed="rId9" cstate="print">
              <a:extLst>
                <a:ext uri="{28A0092B-C50C-407E-A947-70E740481C1C}">
                  <a14:useLocalDpi xmlns:a14="http://schemas.microsoft.com/office/drawing/2010/main" val="0"/>
                </a:ext>
              </a:extLst>
            </a:blip>
            <a:srcRect/>
            <a:stretch>
              <a:fillRect/>
            </a:stretch>
          </p:blipFill>
          <p:spPr bwMode="auto">
            <a:xfrm>
              <a:off x="321595" y="2214872"/>
              <a:ext cx="841248" cy="523372"/>
            </a:xfrm>
            <a:prstGeom prst="rect">
              <a:avLst/>
            </a:prstGeom>
            <a:noFill/>
            <a:extLst>
              <a:ext uri="{909E8E84-426E-40DD-AFC4-6F175D3DCCD1}">
                <a14:hiddenFill xmlns:a14="http://schemas.microsoft.com/office/drawing/2010/main">
                  <a:solidFill>
                    <a:srgbClr val="FFFFFF"/>
                  </a:solidFill>
                </a14:hiddenFill>
              </a:ext>
            </a:extLst>
          </p:spPr>
        </p:pic>
        <p:sp>
          <p:nvSpPr>
            <p:cNvPr id="30" name="TextBox 29">
              <a:extLst>
                <a:ext uri="{FF2B5EF4-FFF2-40B4-BE49-F238E27FC236}">
                  <a16:creationId xmlns:a16="http://schemas.microsoft.com/office/drawing/2014/main" id="{CC397930-9AA6-7A6A-76AA-0832111D6B80}"/>
                </a:ext>
              </a:extLst>
            </p:cNvPr>
            <p:cNvSpPr txBox="1"/>
            <p:nvPr userDrawn="1"/>
          </p:nvSpPr>
          <p:spPr>
            <a:xfrm>
              <a:off x="-69503" y="2668026"/>
              <a:ext cx="1631472" cy="337015"/>
            </a:xfrm>
            <a:prstGeom prst="rect">
              <a:avLst/>
            </a:prstGeom>
            <a:noFill/>
          </p:spPr>
          <p:txBody>
            <a:bodyPr wrap="none" lIns="118872" tIns="91440" rIns="118872" bIns="91440" rtlCol="0" anchor="ctr" anchorCtr="0">
              <a:spAutoFit/>
            </a:bodyPr>
            <a:lstStyle/>
            <a:p>
              <a:pPr algn="l">
                <a:lnSpc>
                  <a:spcPct val="90000"/>
                </a:lnSpc>
              </a:pPr>
              <a:r>
                <a:rPr lang="en-US" sz="1050" i="1" dirty="0">
                  <a:hlinkClick r:id="rId10"/>
                </a:rPr>
                <a:t>https://pesoproject.org</a:t>
              </a:r>
              <a:endParaRPr lang="en-US" sz="1050" i="1" dirty="0"/>
            </a:p>
          </p:txBody>
        </p:sp>
        <p:sp>
          <p:nvSpPr>
            <p:cNvPr id="31" name="TextBox 30">
              <a:extLst>
                <a:ext uri="{FF2B5EF4-FFF2-40B4-BE49-F238E27FC236}">
                  <a16:creationId xmlns:a16="http://schemas.microsoft.com/office/drawing/2014/main" id="{3D9CC300-2021-70DB-ED4C-4241A2BFF3CD}"/>
                </a:ext>
              </a:extLst>
            </p:cNvPr>
            <p:cNvSpPr txBox="1"/>
            <p:nvPr userDrawn="1"/>
          </p:nvSpPr>
          <p:spPr>
            <a:xfrm>
              <a:off x="1423755" y="2668026"/>
              <a:ext cx="1492012" cy="337015"/>
            </a:xfrm>
            <a:prstGeom prst="rect">
              <a:avLst/>
            </a:prstGeom>
            <a:noFill/>
          </p:spPr>
          <p:txBody>
            <a:bodyPr wrap="none" lIns="118872" tIns="91440" rIns="118872" bIns="91440" rtlCol="0" anchor="ctr" anchorCtr="0">
              <a:spAutoFit/>
            </a:bodyPr>
            <a:lstStyle/>
            <a:p>
              <a:pPr algn="l">
                <a:lnSpc>
                  <a:spcPct val="90000"/>
                </a:lnSpc>
              </a:pPr>
              <a:r>
                <a:rPr lang="en-US" sz="1050" i="1" dirty="0">
                  <a:hlinkClick r:id="rId11"/>
                </a:rPr>
                <a:t>https://rapids.lbl.gov</a:t>
              </a:r>
              <a:endParaRPr lang="en-US" sz="1050" i="1" dirty="0"/>
            </a:p>
          </p:txBody>
        </p:sp>
      </p:grpSp>
      <p:sp>
        <p:nvSpPr>
          <p:cNvPr id="32" name="TextBox 31">
            <a:extLst>
              <a:ext uri="{FF2B5EF4-FFF2-40B4-BE49-F238E27FC236}">
                <a16:creationId xmlns:a16="http://schemas.microsoft.com/office/drawing/2014/main" id="{1913CA0B-B952-F608-0A2C-CCD7844E5E43}"/>
              </a:ext>
            </a:extLst>
          </p:cNvPr>
          <p:cNvSpPr txBox="1"/>
          <p:nvPr userDrawn="1"/>
        </p:nvSpPr>
        <p:spPr>
          <a:xfrm>
            <a:off x="166031" y="4011401"/>
            <a:ext cx="2605511" cy="655564"/>
          </a:xfrm>
          <a:prstGeom prst="rect">
            <a:avLst/>
          </a:prstGeom>
          <a:noFill/>
        </p:spPr>
        <p:txBody>
          <a:bodyPr wrap="square" lIns="118872" tIns="91440" rIns="118872" bIns="91440" rtlCol="0" anchor="ctr" anchorCtr="0">
            <a:spAutoFit/>
          </a:bodyPr>
          <a:lstStyle/>
          <a:p>
            <a:pPr algn="ctr">
              <a:lnSpc>
                <a:spcPct val="90000"/>
              </a:lnSpc>
            </a:pPr>
            <a:r>
              <a:rPr lang="en-US" sz="1200" i="1" dirty="0"/>
              <a:t>Consortium for the Advancement of Scientific Software</a:t>
            </a:r>
            <a:br>
              <a:rPr lang="en-US" sz="1200" i="1" dirty="0"/>
            </a:br>
            <a:r>
              <a:rPr lang="en-US" sz="1000" i="1" dirty="0">
                <a:hlinkClick r:id="rId12"/>
              </a:rPr>
              <a:t>https://cass.community</a:t>
            </a:r>
            <a:endParaRPr lang="en-US" sz="1200" i="1" dirty="0"/>
          </a:p>
        </p:txBody>
      </p:sp>
      <p:pic>
        <p:nvPicPr>
          <p:cNvPr id="33" name="Picture 32" descr="A picture containing arrow&#10;&#10;AI-generated content may be incorrect.">
            <a:extLst>
              <a:ext uri="{FF2B5EF4-FFF2-40B4-BE49-F238E27FC236}">
                <a16:creationId xmlns:a16="http://schemas.microsoft.com/office/drawing/2014/main" id="{B7F73F98-CA13-FB35-8581-26AFB4E15F1A}"/>
              </a:ext>
            </a:extLst>
          </p:cNvPr>
          <p:cNvPicPr>
            <a:picLocks noChangeAspect="1"/>
          </p:cNvPicPr>
          <p:nvPr userDrawn="1"/>
        </p:nvPicPr>
        <p:blipFill>
          <a:blip r:embed="rId13" cstate="print">
            <a:extLst>
              <a:ext uri="{28A0092B-C50C-407E-A947-70E740481C1C}">
                <a14:useLocalDpi xmlns:a14="http://schemas.microsoft.com/office/drawing/2010/main" val="0"/>
              </a:ext>
            </a:extLst>
          </a:blip>
          <a:stretch>
            <a:fillRect/>
          </a:stretch>
        </p:blipFill>
        <p:spPr>
          <a:xfrm>
            <a:off x="849769" y="2974535"/>
            <a:ext cx="1238034" cy="1128739"/>
          </a:xfrm>
          <a:prstGeom prst="rect">
            <a:avLst/>
          </a:prstGeom>
        </p:spPr>
      </p:pic>
    </p:spTree>
    <p:extLst>
      <p:ext uri="{BB962C8B-B14F-4D97-AF65-F5344CB8AC3E}">
        <p14:creationId xmlns:p14="http://schemas.microsoft.com/office/powerpoint/2010/main" val="26421845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2473" cy="914400"/>
          </a:xfrm>
        </p:spPr>
        <p:txBody>
          <a:bodyPr anchor="t" anchorCtr="0"/>
          <a:lstStyle/>
          <a:p>
            <a:r>
              <a:rPr lang="en-US"/>
              <a:t>Click to edit Master title style</a:t>
            </a:r>
            <a:endParaRPr lang="en-US" dirty="0"/>
          </a:p>
        </p:txBody>
      </p:sp>
      <p:sp>
        <p:nvSpPr>
          <p:cNvPr id="3" name="Content Placeholder 2"/>
          <p:cNvSpPr>
            <a:spLocks noGrp="1"/>
          </p:cNvSpPr>
          <p:nvPr>
            <p:ph idx="1" hasCustomPrompt="1"/>
          </p:nvPr>
        </p:nvSpPr>
        <p:spPr>
          <a:xfrm>
            <a:off x="365760" y="1737360"/>
            <a:ext cx="11369809" cy="404777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marL="1482725" indent="-222250">
              <a:buFont typeface="Arial" panose="020B0604020202020204" pitchFamily="34" charset="0"/>
              <a:buChar char="•"/>
              <a:defRPr>
                <a:latin typeface="Arial" panose="020B0604020202020204" pitchFamily="34" charset="0"/>
                <a:cs typeface="Arial" panose="020B060402020202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level0.4	</a:t>
            </a:r>
          </a:p>
        </p:txBody>
      </p:sp>
    </p:spTree>
    <p:extLst>
      <p:ext uri="{BB962C8B-B14F-4D97-AF65-F5344CB8AC3E}">
        <p14:creationId xmlns:p14="http://schemas.microsoft.com/office/powerpoint/2010/main" val="120922062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lvl1pPr>
              <a:defRPr/>
            </a:lvl1pPr>
          </a:lstStyle>
          <a:p>
            <a:r>
              <a:rPr lang="en-US"/>
              <a:t>Click to edit Master title style</a:t>
            </a:r>
            <a:endParaRPr lang="en-US" dirty="0"/>
          </a:p>
        </p:txBody>
      </p:sp>
      <p:sp>
        <p:nvSpPr>
          <p:cNvPr id="3" name="Text Placeholder 2"/>
          <p:cNvSpPr>
            <a:spLocks noGrp="1"/>
          </p:cNvSpPr>
          <p:nvPr>
            <p:ph type="body" idx="1" hasCustomPrompt="1"/>
          </p:nvPr>
        </p:nvSpPr>
        <p:spPr>
          <a:xfrm>
            <a:off x="457200" y="1737360"/>
            <a:ext cx="5588582" cy="821190"/>
          </a:xfrm>
          <a:solidFill>
            <a:schemeClr val="accent1">
              <a:lumMod val="40000"/>
              <a:lumOff val="60000"/>
            </a:schemeClr>
          </a:solidFill>
          <a:ln w="19050">
            <a:solidFill>
              <a:schemeClr val="tx2">
                <a:lumMod val="60000"/>
                <a:lumOff val="40000"/>
              </a:schemeClr>
            </a:solidFill>
          </a:ln>
        </p:spPr>
        <p:txBody>
          <a:bodyPr anchor="b"/>
          <a:lstStyle>
            <a:lvl1pPr marL="0" indent="0">
              <a:buNone/>
              <a:defRPr sz="2000" b="1">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457200" y="2558550"/>
            <a:ext cx="5588582" cy="3373229"/>
          </a:xfrm>
          <a:noFill/>
          <a:ln w="19050">
            <a:gradFill flip="none" rotWithShape="1">
              <a:gsLst>
                <a:gs pos="0">
                  <a:schemeClr val="bg1">
                    <a:alpha val="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p:spPr>
        <p:txBody>
          <a:bodyPr/>
          <a:lstStyle>
            <a:lvl1pPr>
              <a:defRPr sz="2000"/>
            </a:lvl1pPr>
            <a:lvl2pPr>
              <a:defRPr sz="1800"/>
            </a:lvl2pPr>
            <a:lvl3pPr>
              <a:defRPr sz="1600"/>
            </a:lvl3pPr>
            <a:lvl4pPr>
              <a:defRPr sz="1400"/>
            </a:lvl4pPr>
            <a:lvl5pPr marL="1482725" indent="-222250">
              <a:buFont typeface="Arial" panose="020B0604020202020204" pitchFamily="34" charset="0"/>
              <a:buChar cha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18914" y="1737360"/>
            <a:ext cx="5531934" cy="821190"/>
          </a:xfrm>
          <a:solidFill>
            <a:schemeClr val="accent1">
              <a:lumMod val="40000"/>
              <a:lumOff val="60000"/>
            </a:schemeClr>
          </a:solidFill>
          <a:ln w="19050">
            <a:solidFill>
              <a:schemeClr val="tx2">
                <a:lumMod val="60000"/>
                <a:lumOff val="40000"/>
              </a:schemeClr>
            </a:solidFill>
          </a:ln>
        </p:spPr>
        <p:txBody>
          <a:bodyPr anchor="b"/>
          <a:lstStyle>
            <a:lvl1pPr marL="0" indent="0">
              <a:buNone/>
              <a:defRPr sz="2000" b="1">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218914" y="2558550"/>
            <a:ext cx="5531934" cy="3373229"/>
          </a:xfrm>
          <a:noFill/>
          <a:ln w="19050">
            <a:gradFill flip="none" rotWithShape="1">
              <a:gsLst>
                <a:gs pos="0">
                  <a:schemeClr val="bg1">
                    <a:alpha val="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p:spPr>
        <p:txBody>
          <a:bodyPr/>
          <a:lstStyle>
            <a:lvl1pPr>
              <a:defRPr sz="2000"/>
            </a:lvl1pPr>
            <a:lvl2pPr>
              <a:defRPr sz="1800"/>
            </a:lvl2pPr>
            <a:lvl3pPr>
              <a:defRPr sz="1600"/>
            </a:lvl3pPr>
            <a:lvl4pPr>
              <a:defRPr sz="1400"/>
            </a:lvl4pPr>
            <a:lvl5pPr marL="1482725" indent="-222250">
              <a:defRPr lang="en-US" sz="1600" kern="1200" dirty="0">
                <a:solidFill>
                  <a:schemeClr val="tx1"/>
                </a:solidFill>
                <a:latin typeface="+mn-lt"/>
                <a:ea typeface="+mn-ea"/>
                <a:cs typeface="+mn-cs"/>
              </a:defRPr>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1748649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quad chart">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7465488" cy="810738"/>
          </a:xfrm>
        </p:spPr>
        <p:txBody>
          <a:bodyPr/>
          <a:lstStyle>
            <a:lvl1pPr>
              <a:defRPr sz="2400"/>
            </a:lvl1pPr>
          </a:lstStyle>
          <a:p>
            <a:r>
              <a:rPr lang="en-US"/>
              <a:t>Click to edit Master title style</a:t>
            </a:r>
            <a:endParaRPr lang="en-US" dirty="0"/>
          </a:p>
        </p:txBody>
      </p:sp>
      <p:sp>
        <p:nvSpPr>
          <p:cNvPr id="3" name="Text Placeholder 2"/>
          <p:cNvSpPr>
            <a:spLocks noGrp="1"/>
          </p:cNvSpPr>
          <p:nvPr>
            <p:ph type="body" idx="1" hasCustomPrompt="1"/>
          </p:nvPr>
        </p:nvSpPr>
        <p:spPr>
          <a:xfrm>
            <a:off x="448056" y="1316736"/>
            <a:ext cx="5605272" cy="347472"/>
          </a:xfrm>
          <a:solidFill>
            <a:schemeClr val="accent3"/>
          </a:solidFill>
          <a:ln w="19050">
            <a:solidFill>
              <a:schemeClr val="tx2">
                <a:lumMod val="60000"/>
                <a:lumOff val="40000"/>
              </a:schemeClr>
            </a:solidFill>
          </a:ln>
        </p:spPr>
        <p:txBody>
          <a:bodyPr anchor="ctr"/>
          <a:lstStyle>
            <a:lvl1pPr marL="0" indent="0">
              <a:buNone/>
              <a:defRPr sz="18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hasCustomPrompt="1"/>
          </p:nvPr>
        </p:nvSpPr>
        <p:spPr>
          <a:xfrm>
            <a:off x="448056" y="1655064"/>
            <a:ext cx="5605272" cy="1316736"/>
          </a:xfrm>
          <a:noFill/>
          <a:ln w="19050">
            <a:gradFill flip="none" rotWithShape="1">
              <a:gsLst>
                <a:gs pos="0">
                  <a:schemeClr val="bg1">
                    <a:alpha val="0"/>
                  </a:schemeClr>
                </a:gs>
                <a:gs pos="100000">
                  <a:schemeClr val="accent3"/>
                </a:gs>
              </a:gsLst>
              <a:lin ang="16200000" scaled="1"/>
              <a:tileRect/>
            </a:gradFill>
          </a:ln>
        </p:spPr>
        <p:txBody>
          <a:bodyPr/>
          <a:lstStyle>
            <a:lvl1pPr>
              <a:defRPr sz="1800"/>
            </a:lvl1pPr>
            <a:lvl2pPr>
              <a:defRPr sz="1600"/>
            </a:lvl2pPr>
            <a:lvl3pPr>
              <a:defRPr sz="1400"/>
            </a:lvl3pPr>
            <a:lvl4pPr>
              <a:defRPr sz="1200"/>
            </a:lvl4pPr>
            <a:lvl5pPr marL="1482725" indent="-222250">
              <a:buFont typeface="Arial" panose="020B0604020202020204" pitchFamily="34" charset="0"/>
              <a:buChar char="•"/>
              <a:defRPr sz="14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p:txBody>
      </p:sp>
      <p:sp>
        <p:nvSpPr>
          <p:cNvPr id="5" name="Text Placeholder 4"/>
          <p:cNvSpPr>
            <a:spLocks noGrp="1"/>
          </p:cNvSpPr>
          <p:nvPr>
            <p:ph type="body" sz="quarter" idx="3" hasCustomPrompt="1"/>
          </p:nvPr>
        </p:nvSpPr>
        <p:spPr>
          <a:xfrm>
            <a:off x="6153912" y="1316736"/>
            <a:ext cx="5605272" cy="347472"/>
          </a:xfrm>
          <a:solidFill>
            <a:schemeClr val="accent3"/>
          </a:solidFill>
          <a:ln w="19050">
            <a:solidFill>
              <a:schemeClr val="tx2">
                <a:lumMod val="60000"/>
                <a:lumOff val="40000"/>
              </a:schemeClr>
            </a:solidFill>
          </a:ln>
        </p:spPr>
        <p:txBody>
          <a:bodyPr anchor="ctr"/>
          <a:lstStyle>
            <a:lvl1pPr marL="0" indent="0">
              <a:buNone/>
              <a:defRPr sz="18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hasCustomPrompt="1"/>
          </p:nvPr>
        </p:nvSpPr>
        <p:spPr>
          <a:xfrm>
            <a:off x="6153912" y="1655064"/>
            <a:ext cx="5605272" cy="1316736"/>
          </a:xfrm>
          <a:noFill/>
          <a:ln w="19050">
            <a:gradFill flip="none" rotWithShape="1">
              <a:gsLst>
                <a:gs pos="0">
                  <a:schemeClr val="bg1">
                    <a:alpha val="0"/>
                  </a:schemeClr>
                </a:gs>
                <a:gs pos="100000">
                  <a:schemeClr val="accent3"/>
                </a:gs>
              </a:gsLst>
              <a:lin ang="16200000" scaled="1"/>
              <a:tileRect/>
            </a:gradFill>
          </a:ln>
        </p:spPr>
        <p:txBody>
          <a:bodyPr/>
          <a:lstStyle>
            <a:lvl1pPr>
              <a:defRPr sz="1800"/>
            </a:lvl1pPr>
            <a:lvl2pPr>
              <a:defRPr sz="1600"/>
            </a:lvl2pPr>
            <a:lvl3pPr>
              <a:defRPr sz="1400"/>
            </a:lvl3pPr>
            <a:lvl4pPr>
              <a:defRPr sz="1200"/>
            </a:lvl4pPr>
            <a:lvl5pPr marL="1482725" indent="-222250">
              <a:defRPr lang="en-US" sz="1400" kern="1200" dirty="0">
                <a:solidFill>
                  <a:schemeClr val="tx1"/>
                </a:solidFill>
                <a:latin typeface="+mn-lt"/>
                <a:ea typeface="+mn-ea"/>
                <a:cs typeface="+mn-cs"/>
              </a:defRPr>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p:txBody>
      </p:sp>
      <p:sp>
        <p:nvSpPr>
          <p:cNvPr id="10" name="Text Placeholder 9">
            <a:extLst>
              <a:ext uri="{FF2B5EF4-FFF2-40B4-BE49-F238E27FC236}">
                <a16:creationId xmlns:a16="http://schemas.microsoft.com/office/drawing/2014/main" id="{1AC1494F-06BF-478E-BCF5-6FCC755EF91F}"/>
              </a:ext>
            </a:extLst>
          </p:cNvPr>
          <p:cNvSpPr>
            <a:spLocks noGrp="1"/>
          </p:cNvSpPr>
          <p:nvPr>
            <p:ph type="body" sz="quarter" idx="10" hasCustomPrompt="1"/>
          </p:nvPr>
        </p:nvSpPr>
        <p:spPr>
          <a:xfrm>
            <a:off x="447675" y="3438144"/>
            <a:ext cx="5605463" cy="338138"/>
          </a:xfrm>
          <a:solidFill>
            <a:schemeClr val="accent3"/>
          </a:solidFill>
          <a:ln w="19050">
            <a:solidFill>
              <a:schemeClr val="tx2">
                <a:lumMod val="60000"/>
                <a:lumOff val="40000"/>
              </a:schemeClr>
            </a:solidFill>
            <a:miter lim="800000"/>
            <a:headEnd/>
            <a:tailEnd/>
          </a:ln>
        </p:spPr>
        <p:txBody>
          <a:bodyPr vert="horz" wrap="square" lIns="91440" tIns="45720" rIns="91440" bIns="45720" numCol="1" anchor="ctr" anchorCtr="0" compatLnSpc="1">
            <a:prstTxWarp prst="textNoShape">
              <a:avLst/>
            </a:prstTxWarp>
            <a:noAutofit/>
          </a:bodyPr>
          <a:lstStyle>
            <a:lvl1pPr marL="0" indent="0">
              <a:buNone/>
              <a:defRPr lang="en-US" sz="1800" b="0" smtClean="0">
                <a:solidFill>
                  <a:schemeClr val="bg1"/>
                </a:solidFill>
              </a:defRPr>
            </a:lvl1pPr>
            <a:lvl2pPr>
              <a:defRPr lang="en-US" b="1" smtClean="0">
                <a:solidFill>
                  <a:schemeClr val="bg1"/>
                </a:solidFill>
              </a:defRPr>
            </a:lvl2pPr>
            <a:lvl3pPr>
              <a:defRPr lang="en-US" b="1" smtClean="0">
                <a:solidFill>
                  <a:schemeClr val="bg1"/>
                </a:solidFill>
              </a:defRPr>
            </a:lvl3pPr>
            <a:lvl4pPr>
              <a:defRPr lang="en-US" b="1" smtClean="0">
                <a:solidFill>
                  <a:schemeClr val="bg1"/>
                </a:solidFill>
              </a:defRPr>
            </a:lvl4pPr>
            <a:lvl5pPr>
              <a:defRPr lang="en-US" b="1">
                <a:solidFill>
                  <a:schemeClr val="bg1"/>
                </a:solidFill>
              </a:defRPr>
            </a:lvl5pPr>
          </a:lstStyle>
          <a:p>
            <a:pPr marL="230188" lvl="0" indent="-230188"/>
            <a:r>
              <a:rPr lang="en-US" dirty="0"/>
              <a:t>Click to edit Master text styles</a:t>
            </a:r>
          </a:p>
        </p:txBody>
      </p:sp>
      <p:sp>
        <p:nvSpPr>
          <p:cNvPr id="12" name="Text Placeholder 11">
            <a:extLst>
              <a:ext uri="{FF2B5EF4-FFF2-40B4-BE49-F238E27FC236}">
                <a16:creationId xmlns:a16="http://schemas.microsoft.com/office/drawing/2014/main" id="{DE13F5F8-5DA4-4A7D-94FF-19BFEBF090FD}"/>
              </a:ext>
            </a:extLst>
          </p:cNvPr>
          <p:cNvSpPr>
            <a:spLocks noGrp="1"/>
          </p:cNvSpPr>
          <p:nvPr>
            <p:ph type="body" sz="quarter" idx="11" hasCustomPrompt="1"/>
          </p:nvPr>
        </p:nvSpPr>
        <p:spPr>
          <a:xfrm>
            <a:off x="6153150" y="3438144"/>
            <a:ext cx="5605463" cy="338138"/>
          </a:xfrm>
          <a:solidFill>
            <a:schemeClr val="accent3"/>
          </a:solidFill>
          <a:ln w="19050">
            <a:solidFill>
              <a:schemeClr val="tx2">
                <a:lumMod val="60000"/>
                <a:lumOff val="40000"/>
              </a:schemeClr>
            </a:solidFill>
            <a:miter lim="800000"/>
            <a:headEnd/>
            <a:tailEnd/>
          </a:ln>
        </p:spPr>
        <p:txBody>
          <a:bodyPr vert="horz" wrap="square" lIns="91440" tIns="45720" rIns="91440" bIns="45720" numCol="1" anchor="ctr" anchorCtr="0" compatLnSpc="1">
            <a:prstTxWarp prst="textNoShape">
              <a:avLst/>
            </a:prstTxWarp>
            <a:noAutofit/>
          </a:bodyPr>
          <a:lstStyle>
            <a:lvl1pPr marL="0" indent="0">
              <a:buNone/>
              <a:defRPr lang="en-US" sz="1800" b="0" smtClean="0">
                <a:solidFill>
                  <a:schemeClr val="bg1"/>
                </a:solidFill>
              </a:defRPr>
            </a:lvl1pPr>
            <a:lvl2pPr>
              <a:defRPr lang="en-US" b="1" smtClean="0">
                <a:solidFill>
                  <a:schemeClr val="bg1"/>
                </a:solidFill>
              </a:defRPr>
            </a:lvl2pPr>
            <a:lvl3pPr>
              <a:defRPr lang="en-US" b="1" smtClean="0">
                <a:solidFill>
                  <a:schemeClr val="bg1"/>
                </a:solidFill>
              </a:defRPr>
            </a:lvl3pPr>
            <a:lvl4pPr>
              <a:defRPr lang="en-US" b="1" smtClean="0">
                <a:solidFill>
                  <a:schemeClr val="bg1"/>
                </a:solidFill>
              </a:defRPr>
            </a:lvl4pPr>
            <a:lvl5pPr>
              <a:defRPr lang="en-US" b="1">
                <a:solidFill>
                  <a:schemeClr val="bg1"/>
                </a:solidFill>
              </a:defRPr>
            </a:lvl5pPr>
          </a:lstStyle>
          <a:p>
            <a:pPr marL="230188" lvl="0" indent="-230188"/>
            <a:r>
              <a:rPr lang="en-US" dirty="0"/>
              <a:t>Click to edit Master text styles</a:t>
            </a:r>
          </a:p>
        </p:txBody>
      </p:sp>
      <p:sp>
        <p:nvSpPr>
          <p:cNvPr id="14" name="Text Placeholder 13">
            <a:extLst>
              <a:ext uri="{FF2B5EF4-FFF2-40B4-BE49-F238E27FC236}">
                <a16:creationId xmlns:a16="http://schemas.microsoft.com/office/drawing/2014/main" id="{11508C29-BEAF-4D1B-85C7-62D86B9A99F0}"/>
              </a:ext>
            </a:extLst>
          </p:cNvPr>
          <p:cNvSpPr>
            <a:spLocks noGrp="1"/>
          </p:cNvSpPr>
          <p:nvPr>
            <p:ph type="body" sz="quarter" idx="12"/>
          </p:nvPr>
        </p:nvSpPr>
        <p:spPr>
          <a:xfrm>
            <a:off x="447675" y="3776472"/>
            <a:ext cx="5605463" cy="1316736"/>
          </a:xfrm>
          <a:noFill/>
          <a:ln w="19050">
            <a:gradFill flip="none" rotWithShape="1">
              <a:gsLst>
                <a:gs pos="0">
                  <a:schemeClr val="bg1">
                    <a:alpha val="0"/>
                  </a:schemeClr>
                </a:gs>
                <a:gs pos="100000">
                  <a:schemeClr val="accent3"/>
                </a:gs>
              </a:gsLst>
              <a:lin ang="16200000" scaled="1"/>
              <a:tileRect/>
            </a:gradFill>
            <a:miter lim="800000"/>
            <a:headEnd/>
            <a:tailEnd/>
          </a:ln>
        </p:spPr>
        <p:txBody>
          <a:bodyPr vert="horz" wrap="square" lIns="91440" tIns="45720" rIns="91440" bIns="45720" numCol="1" anchor="t" anchorCtr="0" compatLnSpc="1">
            <a:prstTxWarp prst="textNoShape">
              <a:avLst/>
            </a:prstTxWarp>
            <a:noAutofit/>
          </a:bodyPr>
          <a:lstStyle>
            <a:lvl1pPr>
              <a:defRPr lang="en-US" sz="1800" smtClean="0"/>
            </a:lvl1pPr>
            <a:lvl2pPr>
              <a:defRPr lang="en-US" sz="1600" smtClean="0"/>
            </a:lvl2pPr>
            <a:lvl3pPr>
              <a:defRPr lang="en-US" sz="1400" smtClean="0"/>
            </a:lvl3pPr>
            <a:lvl4pPr>
              <a:defRPr lang="en-US" sz="1200" smtClean="0"/>
            </a:lvl4pPr>
            <a:lvl5pPr>
              <a:defRPr lang="en-US" sz="1400"/>
            </a:lvl5pPr>
          </a:lstStyle>
          <a:p>
            <a:pPr lvl="0"/>
            <a:r>
              <a:rPr lang="en-US"/>
              <a:t>Edit Master text styles</a:t>
            </a:r>
          </a:p>
          <a:p>
            <a:pPr lvl="1"/>
            <a:r>
              <a:rPr lang="en-US"/>
              <a:t>Second level</a:t>
            </a:r>
          </a:p>
          <a:p>
            <a:pPr lvl="2"/>
            <a:r>
              <a:rPr lang="en-US"/>
              <a:t>Third level</a:t>
            </a:r>
          </a:p>
        </p:txBody>
      </p:sp>
      <p:sp>
        <p:nvSpPr>
          <p:cNvPr id="16" name="Text Placeholder 15">
            <a:extLst>
              <a:ext uri="{FF2B5EF4-FFF2-40B4-BE49-F238E27FC236}">
                <a16:creationId xmlns:a16="http://schemas.microsoft.com/office/drawing/2014/main" id="{DA42C277-CD07-4855-BE2B-F5804018ECD9}"/>
              </a:ext>
            </a:extLst>
          </p:cNvPr>
          <p:cNvSpPr>
            <a:spLocks noGrp="1"/>
          </p:cNvSpPr>
          <p:nvPr>
            <p:ph type="body" sz="quarter" idx="13"/>
          </p:nvPr>
        </p:nvSpPr>
        <p:spPr>
          <a:xfrm>
            <a:off x="6153150" y="3776472"/>
            <a:ext cx="5605463" cy="1316736"/>
          </a:xfrm>
          <a:noFill/>
          <a:ln w="19050">
            <a:gradFill flip="none" rotWithShape="1">
              <a:gsLst>
                <a:gs pos="0">
                  <a:schemeClr val="bg1">
                    <a:alpha val="0"/>
                  </a:schemeClr>
                </a:gs>
                <a:gs pos="100000">
                  <a:schemeClr val="accent3"/>
                </a:gs>
              </a:gsLst>
              <a:lin ang="16200000" scaled="1"/>
              <a:tileRect/>
            </a:gradFill>
            <a:miter lim="800000"/>
            <a:headEnd/>
            <a:tailEnd/>
          </a:ln>
        </p:spPr>
        <p:txBody>
          <a:bodyPr vert="horz" wrap="square" lIns="91440" tIns="45720" rIns="91440" bIns="45720" numCol="1" anchor="t" anchorCtr="0" compatLnSpc="1">
            <a:prstTxWarp prst="textNoShape">
              <a:avLst/>
            </a:prstTxWarp>
            <a:noAutofit/>
          </a:bodyPr>
          <a:lstStyle>
            <a:lvl1pPr>
              <a:defRPr lang="en-US" sz="1800" smtClean="0"/>
            </a:lvl1pPr>
            <a:lvl2pPr>
              <a:defRPr lang="en-US" sz="1600" smtClean="0"/>
            </a:lvl2pPr>
            <a:lvl3pPr>
              <a:defRPr lang="en-US" sz="1400" smtClean="0"/>
            </a:lvl3pPr>
            <a:lvl4pPr>
              <a:defRPr lang="en-US" sz="1200" smtClean="0"/>
            </a:lvl4pPr>
            <a:lvl5pPr>
              <a:defRPr lang="en-US" sz="1400"/>
            </a:lvl5pPr>
          </a:lstStyle>
          <a:p>
            <a:pPr lvl="0"/>
            <a:r>
              <a:rPr lang="en-US"/>
              <a:t>Edit Master text styles</a:t>
            </a:r>
          </a:p>
          <a:p>
            <a:pPr lvl="1"/>
            <a:r>
              <a:rPr lang="en-US"/>
              <a:t>Second level</a:t>
            </a:r>
          </a:p>
          <a:p>
            <a:pPr lvl="2"/>
            <a:r>
              <a:rPr lang="en-US"/>
              <a:t>Third level</a:t>
            </a:r>
          </a:p>
        </p:txBody>
      </p:sp>
    </p:spTree>
    <p:extLst>
      <p:ext uri="{BB962C8B-B14F-4D97-AF65-F5344CB8AC3E}">
        <p14:creationId xmlns:p14="http://schemas.microsoft.com/office/powerpoint/2010/main" val="47546371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ection divider">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p>
            <a:r>
              <a:rPr lang="en-US"/>
              <a:t>Click to edit Master title style</a:t>
            </a:r>
            <a:endParaRPr lang="en-US" dirty="0"/>
          </a:p>
        </p:txBody>
      </p:sp>
    </p:spTree>
    <p:extLst>
      <p:ext uri="{BB962C8B-B14F-4D97-AF65-F5344CB8AC3E}">
        <p14:creationId xmlns:p14="http://schemas.microsoft.com/office/powerpoint/2010/main" val="6121090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p>
            <a:r>
              <a:rPr lang="en-US"/>
              <a:t>Click to edit Master title style</a:t>
            </a:r>
            <a:endParaRPr lang="en-US" dirty="0"/>
          </a:p>
        </p:txBody>
      </p:sp>
    </p:spTree>
    <p:extLst>
      <p:ext uri="{BB962C8B-B14F-4D97-AF65-F5344CB8AC3E}">
        <p14:creationId xmlns:p14="http://schemas.microsoft.com/office/powerpoint/2010/main" val="21988677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userDrawn="1">
  <p:cSld name="*Title and Content">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a:xfrm>
            <a:off x="609442" y="1699995"/>
            <a:ext cx="11160961" cy="4422776"/>
          </a:xfrm>
        </p:spPr>
        <p:txBody>
          <a:bodyPr/>
          <a:lstStyle>
            <a:lvl1pPr>
              <a:defRPr baseline="0"/>
            </a:lvl1pPr>
          </a:lstStyle>
          <a:p>
            <a:pPr lvl="0"/>
            <a:r>
              <a:rPr lang="en-US" dirty="0"/>
              <a:t>Click to add 1st-level bullet. Click an icon below to add table, graph or other imagery.</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Text Placeholder 5"/>
          <p:cNvSpPr>
            <a:spLocks noGrp="1"/>
          </p:cNvSpPr>
          <p:nvPr>
            <p:ph type="body" sz="quarter" idx="12" hasCustomPrompt="1"/>
          </p:nvPr>
        </p:nvSpPr>
        <p:spPr>
          <a:xfrm>
            <a:off x="609442" y="1168749"/>
            <a:ext cx="11160961" cy="499715"/>
          </a:xfrm>
        </p:spPr>
        <p:txBody>
          <a:bodyPr bIns="0">
            <a:noAutofit/>
          </a:bodyPr>
          <a:lstStyle>
            <a:lvl1pPr marL="0" indent="0">
              <a:lnSpc>
                <a:spcPct val="90000"/>
              </a:lnSpc>
              <a:spcBef>
                <a:spcPts val="0"/>
              </a:spcBef>
              <a:buNone/>
              <a:defRPr sz="2000" b="1" baseline="0">
                <a:solidFill>
                  <a:schemeClr val="accent2"/>
                </a:solidFill>
              </a:defRPr>
            </a:lvl1pPr>
          </a:lstStyle>
          <a:p>
            <a:r>
              <a:rPr lang="en-US" dirty="0"/>
              <a:t>Slide subtitle optional -  delete as needed</a:t>
            </a:r>
          </a:p>
        </p:txBody>
      </p:sp>
      <p:sp>
        <p:nvSpPr>
          <p:cNvPr id="2" name="Title 1">
            <a:extLst>
              <a:ext uri="{FF2B5EF4-FFF2-40B4-BE49-F238E27FC236}">
                <a16:creationId xmlns:a16="http://schemas.microsoft.com/office/drawing/2014/main" id="{3578AEED-62FF-45A4-9B5A-29E8EB7AE3BC}"/>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402034913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365760" y="411480"/>
            <a:ext cx="11376442" cy="846953"/>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p>
            <a:pPr lvl="0"/>
            <a:r>
              <a:rPr lang="en-US"/>
              <a:t>Click to edit Master title style</a:t>
            </a:r>
            <a:endParaRPr lang="en-US" dirty="0"/>
          </a:p>
        </p:txBody>
      </p:sp>
      <p:sp>
        <p:nvSpPr>
          <p:cNvPr id="1027" name="Text Placeholder 2"/>
          <p:cNvSpPr>
            <a:spLocks noGrp="1"/>
          </p:cNvSpPr>
          <p:nvPr>
            <p:ph type="body" idx="1"/>
          </p:nvPr>
        </p:nvSpPr>
        <p:spPr bwMode="auto">
          <a:xfrm>
            <a:off x="365760" y="1737360"/>
            <a:ext cx="11376442" cy="4040923"/>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Rectangle 256"/>
          <p:cNvSpPr txBox="1">
            <a:spLocks noChangeArrowheads="1"/>
          </p:cNvSpPr>
          <p:nvPr userDrawn="1"/>
        </p:nvSpPr>
        <p:spPr>
          <a:xfrm>
            <a:off x="363828" y="6477000"/>
            <a:ext cx="3315547" cy="182562"/>
          </a:xfrm>
          <a:prstGeom prst="rect">
            <a:avLst/>
          </a:prstGeom>
          <a:ln/>
        </p:spPr>
        <p:txBody>
          <a:bodyPr anchor="ctr"/>
          <a:lstStyle/>
          <a:p>
            <a:pPr algn="l"/>
            <a:r>
              <a:rPr lang="en-US" sz="1000" dirty="0">
                <a:solidFill>
                  <a:schemeClr val="tx1"/>
                </a:solidFill>
                <a:latin typeface="Arial" pitchFamily="34" charset="0"/>
                <a:cs typeface="Arial" pitchFamily="34" charset="0"/>
              </a:rPr>
              <a:t> </a:t>
            </a:r>
          </a:p>
        </p:txBody>
      </p:sp>
      <p:sp>
        <p:nvSpPr>
          <p:cNvPr id="9" name="Rectangle 6"/>
          <p:cNvSpPr>
            <a:spLocks noChangeArrowheads="1"/>
          </p:cNvSpPr>
          <p:nvPr userDrawn="1"/>
        </p:nvSpPr>
        <p:spPr bwMode="auto">
          <a:xfrm flipH="1">
            <a:off x="163374" y="6513051"/>
            <a:ext cx="515635" cy="146511"/>
          </a:xfrm>
          <a:prstGeom prst="rect">
            <a:avLst/>
          </a:prstGeom>
          <a:noFill/>
          <a:ln w="9525">
            <a:noFill/>
            <a:miter lim="800000"/>
            <a:headEnd/>
            <a:tailEnd/>
          </a:ln>
          <a:effectLst/>
        </p:spPr>
        <p:txBody>
          <a:bodyPr lIns="0" tIns="0" rIns="0" bIns="0"/>
          <a:lstStyle/>
          <a:p>
            <a:pPr algn="l" defTabSz="173038">
              <a:lnSpc>
                <a:spcPct val="90000"/>
              </a:lnSpc>
              <a:tabLst>
                <a:tab pos="230188" algn="l"/>
              </a:tabLst>
              <a:defRPr/>
            </a:pPr>
            <a:fld id="{040BB257-551A-4736-B50F-DCF1BA034C06}" type="slidenum">
              <a:rPr lang="en-US" sz="1000" smtClean="0">
                <a:solidFill>
                  <a:schemeClr val="tx1"/>
                </a:solidFill>
                <a:latin typeface="Arial" pitchFamily="34" charset="0"/>
                <a:cs typeface="Arial" pitchFamily="34" charset="0"/>
              </a:rPr>
              <a:pPr algn="l" defTabSz="173038">
                <a:lnSpc>
                  <a:spcPct val="90000"/>
                </a:lnSpc>
                <a:tabLst>
                  <a:tab pos="230188" algn="l"/>
                </a:tabLst>
                <a:defRPr/>
              </a:pPr>
              <a:t>‹#›</a:t>
            </a:fld>
            <a:endParaRPr lang="en-US" sz="1000" dirty="0">
              <a:solidFill>
                <a:schemeClr val="tx1"/>
              </a:solidFill>
              <a:latin typeface="Arial" pitchFamily="34" charset="0"/>
              <a:cs typeface="Arial" pitchFamily="34" charset="0"/>
            </a:endParaRPr>
          </a:p>
        </p:txBody>
      </p:sp>
    </p:spTree>
    <p:extLst>
      <p:ext uri="{BB962C8B-B14F-4D97-AF65-F5344CB8AC3E}">
        <p14:creationId xmlns:p14="http://schemas.microsoft.com/office/powerpoint/2010/main" val="2081848127"/>
      </p:ext>
    </p:extLst>
  </p:cSld>
  <p:clrMap bg1="lt1" tx1="dk1" bg2="lt2" tx2="dk2" accent1="accent1" accent2="accent2" accent3="accent3" accent4="accent4" accent5="accent5" accent6="accent6" hlink="hlink" folHlink="folHlink"/>
  <p:sldLayoutIdLst>
    <p:sldLayoutId id="2147483953" r:id="rId1"/>
    <p:sldLayoutId id="2147483954" r:id="rId2"/>
    <p:sldLayoutId id="2147483937" r:id="rId3"/>
    <p:sldLayoutId id="2147483939" r:id="rId4"/>
    <p:sldLayoutId id="2147483950" r:id="rId5"/>
    <p:sldLayoutId id="2147483940" r:id="rId6"/>
    <p:sldLayoutId id="2147483941" r:id="rId7"/>
    <p:sldLayoutId id="2147483952" r:id="rId8"/>
  </p:sldLayoutIdLst>
  <p:hf hdr="0" ftr="0" dt="0"/>
  <p:txStyles>
    <p:titleStyle>
      <a:lvl1pPr marL="0" indent="0" algn="l" rtl="0" eaLnBrk="1" fontAlgn="base" hangingPunct="1">
        <a:lnSpc>
          <a:spcPct val="85000"/>
        </a:lnSpc>
        <a:spcBef>
          <a:spcPct val="0"/>
        </a:spcBef>
        <a:spcAft>
          <a:spcPct val="0"/>
        </a:spcAft>
        <a:defRPr sz="2800" b="1" kern="1200" baseline="0">
          <a:solidFill>
            <a:schemeClr val="tx1"/>
          </a:solidFill>
          <a:latin typeface="+mn-lt"/>
          <a:ea typeface="+mj-ea"/>
          <a:cs typeface="+mj-cs"/>
        </a:defRPr>
      </a:lvl1pPr>
      <a:lvl2pPr algn="l" rtl="0" eaLnBrk="1" fontAlgn="base" hangingPunct="1">
        <a:lnSpc>
          <a:spcPct val="85000"/>
        </a:lnSpc>
        <a:spcBef>
          <a:spcPct val="0"/>
        </a:spcBef>
        <a:spcAft>
          <a:spcPct val="0"/>
        </a:spcAft>
        <a:defRPr sz="3000">
          <a:solidFill>
            <a:srgbClr val="006C3A"/>
          </a:solidFill>
          <a:latin typeface="Arial Black" pitchFamily="34" charset="0"/>
        </a:defRPr>
      </a:lvl2pPr>
      <a:lvl3pPr algn="l" rtl="0" eaLnBrk="1" fontAlgn="base" hangingPunct="1">
        <a:lnSpc>
          <a:spcPct val="85000"/>
        </a:lnSpc>
        <a:spcBef>
          <a:spcPct val="0"/>
        </a:spcBef>
        <a:spcAft>
          <a:spcPct val="0"/>
        </a:spcAft>
        <a:defRPr sz="3000">
          <a:solidFill>
            <a:srgbClr val="006C3A"/>
          </a:solidFill>
          <a:latin typeface="Arial Black" pitchFamily="34" charset="0"/>
        </a:defRPr>
      </a:lvl3pPr>
      <a:lvl4pPr algn="l" rtl="0" eaLnBrk="1" fontAlgn="base" hangingPunct="1">
        <a:lnSpc>
          <a:spcPct val="85000"/>
        </a:lnSpc>
        <a:spcBef>
          <a:spcPct val="0"/>
        </a:spcBef>
        <a:spcAft>
          <a:spcPct val="0"/>
        </a:spcAft>
        <a:defRPr sz="3000">
          <a:solidFill>
            <a:srgbClr val="006C3A"/>
          </a:solidFill>
          <a:latin typeface="Arial Black" pitchFamily="34" charset="0"/>
        </a:defRPr>
      </a:lvl4pPr>
      <a:lvl5pPr algn="l" rtl="0" eaLnBrk="1" fontAlgn="base" hangingPunct="1">
        <a:lnSpc>
          <a:spcPct val="85000"/>
        </a:lnSpc>
        <a:spcBef>
          <a:spcPct val="0"/>
        </a:spcBef>
        <a:spcAft>
          <a:spcPct val="0"/>
        </a:spcAft>
        <a:defRPr sz="3000">
          <a:solidFill>
            <a:srgbClr val="006C3A"/>
          </a:solidFill>
          <a:latin typeface="Arial Black" pitchFamily="34" charset="0"/>
        </a:defRPr>
      </a:lvl5pPr>
      <a:lvl6pPr marL="457200" algn="l" rtl="0" eaLnBrk="1" fontAlgn="base" hangingPunct="1">
        <a:lnSpc>
          <a:spcPct val="85000"/>
        </a:lnSpc>
        <a:spcBef>
          <a:spcPct val="0"/>
        </a:spcBef>
        <a:spcAft>
          <a:spcPct val="0"/>
        </a:spcAft>
        <a:defRPr sz="3000">
          <a:solidFill>
            <a:srgbClr val="006C3A"/>
          </a:solidFill>
          <a:latin typeface="Arial Black" pitchFamily="34" charset="0"/>
        </a:defRPr>
      </a:lvl6pPr>
      <a:lvl7pPr marL="914400" algn="l" rtl="0" eaLnBrk="1" fontAlgn="base" hangingPunct="1">
        <a:lnSpc>
          <a:spcPct val="85000"/>
        </a:lnSpc>
        <a:spcBef>
          <a:spcPct val="0"/>
        </a:spcBef>
        <a:spcAft>
          <a:spcPct val="0"/>
        </a:spcAft>
        <a:defRPr sz="3000">
          <a:solidFill>
            <a:srgbClr val="006C3A"/>
          </a:solidFill>
          <a:latin typeface="Arial Black" pitchFamily="34" charset="0"/>
        </a:defRPr>
      </a:lvl7pPr>
      <a:lvl8pPr marL="1371600" algn="l" rtl="0" eaLnBrk="1" fontAlgn="base" hangingPunct="1">
        <a:lnSpc>
          <a:spcPct val="85000"/>
        </a:lnSpc>
        <a:spcBef>
          <a:spcPct val="0"/>
        </a:spcBef>
        <a:spcAft>
          <a:spcPct val="0"/>
        </a:spcAft>
        <a:defRPr sz="3000">
          <a:solidFill>
            <a:srgbClr val="006C3A"/>
          </a:solidFill>
          <a:latin typeface="Arial Black" pitchFamily="34" charset="0"/>
        </a:defRPr>
      </a:lvl8pPr>
      <a:lvl9pPr marL="1828800" algn="l" rtl="0" eaLnBrk="1" fontAlgn="base" hangingPunct="1">
        <a:lnSpc>
          <a:spcPct val="85000"/>
        </a:lnSpc>
        <a:spcBef>
          <a:spcPct val="0"/>
        </a:spcBef>
        <a:spcAft>
          <a:spcPct val="0"/>
        </a:spcAft>
        <a:defRPr sz="3000">
          <a:solidFill>
            <a:srgbClr val="006C3A"/>
          </a:solidFill>
          <a:latin typeface="Arial Black" pitchFamily="34" charset="0"/>
        </a:defRPr>
      </a:lvl9pPr>
    </p:titleStyle>
    <p:bodyStyle>
      <a:lvl1pPr marL="230188" indent="-230188" algn="l" rtl="0" eaLnBrk="1" fontAlgn="base" hangingPunct="1">
        <a:lnSpc>
          <a:spcPct val="90000"/>
        </a:lnSpc>
        <a:spcBef>
          <a:spcPts val="1400"/>
        </a:spcBef>
        <a:spcAft>
          <a:spcPct val="0"/>
        </a:spcAft>
        <a:buClr>
          <a:schemeClr val="tx1"/>
        </a:buClr>
        <a:buFont typeface="Arial" charset="0"/>
        <a:buChar char="•"/>
        <a:defRPr sz="2400" kern="120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creativecommons.org/licenses/by-sa/4.0/" TargetMode="External"/><Relationship Id="rId2" Type="http://schemas.openxmlformats.org/officeDocument/2006/relationships/hyperlink" Target="http://creativecommons.org/licenses/by/4.0/" TargetMode="External"/><Relationship Id="rId1" Type="http://schemas.openxmlformats.org/officeDocument/2006/relationships/slideLayout" Target="../slideLayouts/slideLayout3.xml"/><Relationship Id="rId5" Type="http://schemas.openxmlformats.org/officeDocument/2006/relationships/image" Target="../media/image1.png"/><Relationship Id="rId4" Type="http://schemas.openxmlformats.org/officeDocument/2006/relationships/hyperlink" Target="https://doi.org/10.6084/m9.figshare.29816981"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2.xml.rels><?xml version="1.0" encoding="UTF-8" standalone="yes"?>
<Relationships xmlns="http://schemas.openxmlformats.org/package/2006/relationships"><Relationship Id="rId3" Type="http://schemas.openxmlformats.org/officeDocument/2006/relationships/image" Target="../media/image10.emf"/><Relationship Id="rId2" Type="http://schemas.openxmlformats.org/officeDocument/2006/relationships/notesSlide" Target="../notesSlides/notesSlide5.xml"/><Relationship Id="rId1" Type="http://schemas.openxmlformats.org/officeDocument/2006/relationships/slideLayout" Target="../slideLayouts/slideLayout8.xml"/></Relationships>
</file>

<file path=ppt/slides/_rels/slide23.xml.rels><?xml version="1.0" encoding="UTF-8" standalone="yes"?>
<Relationships xmlns="http://schemas.openxmlformats.org/package/2006/relationships"><Relationship Id="rId3" Type="http://schemas.openxmlformats.org/officeDocument/2006/relationships/image" Target="../media/image10.emf"/><Relationship Id="rId2" Type="http://schemas.openxmlformats.org/officeDocument/2006/relationships/notesSlide" Target="../notesSlides/notesSlide6.xml"/><Relationship Id="rId1" Type="http://schemas.openxmlformats.org/officeDocument/2006/relationships/slideLayout" Target="../slideLayouts/slideLayout8.xml"/></Relationships>
</file>

<file path=ppt/slides/_rels/slide24.xml.rels><?xml version="1.0" encoding="UTF-8" standalone="yes"?>
<Relationships xmlns="http://schemas.openxmlformats.org/package/2006/relationships"><Relationship Id="rId2" Type="http://schemas.openxmlformats.org/officeDocument/2006/relationships/image" Target="../media/image11.emf"/><Relationship Id="rId1" Type="http://schemas.openxmlformats.org/officeDocument/2006/relationships/slideLayout" Target="../slideLayouts/slideLayout8.xml"/></Relationships>
</file>

<file path=ppt/slides/_rels/slide25.xml.rels><?xml version="1.0" encoding="UTF-8" standalone="yes"?>
<Relationships xmlns="http://schemas.openxmlformats.org/package/2006/relationships"><Relationship Id="rId2" Type="http://schemas.openxmlformats.org/officeDocument/2006/relationships/image" Target="../media/image11.emf"/><Relationship Id="rId1" Type="http://schemas.openxmlformats.org/officeDocument/2006/relationships/slideLayout" Target="../slideLayouts/slideLayout8.xml"/></Relationships>
</file>

<file path=ppt/slides/_rels/slide26.xml.rels><?xml version="1.0" encoding="UTF-8" standalone="yes"?>
<Relationships xmlns="http://schemas.openxmlformats.org/package/2006/relationships"><Relationship Id="rId2" Type="http://schemas.openxmlformats.org/officeDocument/2006/relationships/image" Target="../media/image11.emf"/><Relationship Id="rId1" Type="http://schemas.openxmlformats.org/officeDocument/2006/relationships/slideLayout" Target="../slideLayouts/slideLayout8.xml"/></Relationships>
</file>

<file path=ppt/slides/_rels/slide27.xml.rels><?xml version="1.0" encoding="UTF-8" standalone="yes"?>
<Relationships xmlns="http://schemas.openxmlformats.org/package/2006/relationships"><Relationship Id="rId2" Type="http://schemas.openxmlformats.org/officeDocument/2006/relationships/image" Target="../media/image11.emf"/><Relationship Id="rId1" Type="http://schemas.openxmlformats.org/officeDocument/2006/relationships/slideLayout" Target="../slideLayouts/slideLayout8.xml"/></Relationships>
</file>

<file path=ppt/slides/_rels/slide28.xml.rels><?xml version="1.0" encoding="UTF-8" standalone="yes"?>
<Relationships xmlns="http://schemas.openxmlformats.org/package/2006/relationships"><Relationship Id="rId2" Type="http://schemas.openxmlformats.org/officeDocument/2006/relationships/image" Target="../media/image11.emf"/><Relationship Id="rId1" Type="http://schemas.openxmlformats.org/officeDocument/2006/relationships/slideLayout" Target="../slideLayouts/slideLayout8.xml"/></Relationships>
</file>

<file path=ppt/slides/_rels/slide29.xml.rels><?xml version="1.0" encoding="UTF-8" standalone="yes"?>
<Relationships xmlns="http://schemas.openxmlformats.org/package/2006/relationships"><Relationship Id="rId2" Type="http://schemas.openxmlformats.org/officeDocument/2006/relationships/image" Target="../media/image11.emf"/><Relationship Id="rId1" Type="http://schemas.openxmlformats.org/officeDocument/2006/relationships/slideLayout" Target="../slideLayouts/slideLayout8.xml"/></Relationships>
</file>

<file path=ppt/slides/_rels/slide30.xml.rels><?xml version="1.0" encoding="UTF-8" standalone="yes"?>
<Relationships xmlns="http://schemas.openxmlformats.org/package/2006/relationships"><Relationship Id="rId2" Type="http://schemas.openxmlformats.org/officeDocument/2006/relationships/image" Target="../media/image11.emf"/><Relationship Id="rId1" Type="http://schemas.openxmlformats.org/officeDocument/2006/relationships/slideLayout" Target="../slideLayouts/slideLayout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99BF10E-A133-4BAB-A18B-C7563472A356}"/>
              </a:ext>
            </a:extLst>
          </p:cNvPr>
          <p:cNvSpPr>
            <a:spLocks noGrp="1"/>
          </p:cNvSpPr>
          <p:nvPr>
            <p:ph type="body" sz="quarter" idx="10"/>
          </p:nvPr>
        </p:nvSpPr>
        <p:spPr/>
        <p:txBody>
          <a:bodyPr/>
          <a:lstStyle/>
          <a:p>
            <a:endParaRPr lang="en-US" dirty="0"/>
          </a:p>
        </p:txBody>
      </p:sp>
      <p:sp>
        <p:nvSpPr>
          <p:cNvPr id="4" name="Text Placeholder 3">
            <a:extLst>
              <a:ext uri="{FF2B5EF4-FFF2-40B4-BE49-F238E27FC236}">
                <a16:creationId xmlns:a16="http://schemas.microsoft.com/office/drawing/2014/main" id="{CAA49102-FA8F-46A7-83A0-A9A05667E16E}"/>
              </a:ext>
            </a:extLst>
          </p:cNvPr>
          <p:cNvSpPr>
            <a:spLocks noGrp="1"/>
          </p:cNvSpPr>
          <p:nvPr>
            <p:ph type="body" sz="quarter" idx="11"/>
          </p:nvPr>
        </p:nvSpPr>
        <p:spPr>
          <a:xfrm>
            <a:off x="3176924" y="2085870"/>
            <a:ext cx="2034531" cy="424732"/>
          </a:xfrm>
        </p:spPr>
        <p:txBody>
          <a:bodyPr/>
          <a:lstStyle/>
          <a:p>
            <a:r>
              <a:rPr lang="en-US" dirty="0"/>
              <a:t>Anshu Dubey</a:t>
            </a:r>
          </a:p>
        </p:txBody>
      </p:sp>
      <p:sp>
        <p:nvSpPr>
          <p:cNvPr id="5" name="Text Placeholder 4">
            <a:extLst>
              <a:ext uri="{FF2B5EF4-FFF2-40B4-BE49-F238E27FC236}">
                <a16:creationId xmlns:a16="http://schemas.microsoft.com/office/drawing/2014/main" id="{65EE6617-5516-4E55-AE7E-7E31417CEDFF}"/>
              </a:ext>
            </a:extLst>
          </p:cNvPr>
          <p:cNvSpPr>
            <a:spLocks noGrp="1"/>
          </p:cNvSpPr>
          <p:nvPr>
            <p:ph type="body" sz="quarter" idx="12"/>
          </p:nvPr>
        </p:nvSpPr>
        <p:spPr>
          <a:xfrm>
            <a:off x="5176191" y="2140952"/>
            <a:ext cx="1690167" cy="376085"/>
          </a:xfrm>
        </p:spPr>
        <p:txBody>
          <a:bodyPr/>
          <a:lstStyle/>
          <a:p>
            <a:r>
              <a:rPr lang="en-US" dirty="0"/>
              <a:t>(she/her)</a:t>
            </a:r>
          </a:p>
        </p:txBody>
      </p:sp>
      <p:sp>
        <p:nvSpPr>
          <p:cNvPr id="6" name="Text Placeholder 5">
            <a:extLst>
              <a:ext uri="{FF2B5EF4-FFF2-40B4-BE49-F238E27FC236}">
                <a16:creationId xmlns:a16="http://schemas.microsoft.com/office/drawing/2014/main" id="{A2D55B71-8B0F-4FB0-8981-1394D64313AD}"/>
              </a:ext>
            </a:extLst>
          </p:cNvPr>
          <p:cNvSpPr>
            <a:spLocks noGrp="1"/>
          </p:cNvSpPr>
          <p:nvPr>
            <p:ph type="body" sz="quarter" idx="13"/>
          </p:nvPr>
        </p:nvSpPr>
        <p:spPr/>
        <p:txBody>
          <a:bodyPr/>
          <a:lstStyle/>
          <a:p>
            <a:r>
              <a:rPr lang="en-US" dirty="0"/>
              <a:t>Argonne National Laboratory</a:t>
            </a:r>
          </a:p>
        </p:txBody>
      </p:sp>
      <p:sp>
        <p:nvSpPr>
          <p:cNvPr id="9" name="Text Placeholder 9">
            <a:extLst>
              <a:ext uri="{FF2B5EF4-FFF2-40B4-BE49-F238E27FC236}">
                <a16:creationId xmlns:a16="http://schemas.microsoft.com/office/drawing/2014/main" id="{02248880-3C3D-A32A-998B-10044170EB4C}"/>
              </a:ext>
            </a:extLst>
          </p:cNvPr>
          <p:cNvSpPr>
            <a:spLocks noGrp="1"/>
          </p:cNvSpPr>
          <p:nvPr>
            <p:ph type="body" sz="quarter" idx="14"/>
          </p:nvPr>
        </p:nvSpPr>
        <p:spPr>
          <a:xfrm>
            <a:off x="3176925" y="3161813"/>
            <a:ext cx="8292316" cy="646331"/>
          </a:xfrm>
        </p:spPr>
        <p:txBody>
          <a:bodyPr/>
          <a:lstStyle/>
          <a:p>
            <a:pPr>
              <a:spcBef>
                <a:spcPts val="2800"/>
              </a:spcBef>
            </a:pPr>
            <a:r>
              <a:rPr lang="en-US" sz="2000" b="0" i="0" dirty="0">
                <a:solidFill>
                  <a:srgbClr val="111111"/>
                </a:solidFill>
                <a:effectLst/>
                <a:latin typeface="+mn-lt"/>
              </a:rPr>
              <a:t>Better Software for Reproducible Science tutorial @ SCA/HPC-Asia 2026 Conferenc</a:t>
            </a:r>
            <a:r>
              <a:rPr lang="en-US" dirty="0">
                <a:solidFill>
                  <a:srgbClr val="111111"/>
                </a:solidFill>
              </a:rPr>
              <a:t>e, Osaka, Japan</a:t>
            </a:r>
            <a:endParaRPr lang="en-US" sz="2000" b="0" i="0" dirty="0">
              <a:solidFill>
                <a:srgbClr val="111111"/>
              </a:solidFill>
              <a:effectLst/>
              <a:latin typeface="+mn-lt"/>
            </a:endParaRPr>
          </a:p>
        </p:txBody>
      </p:sp>
      <p:sp>
        <p:nvSpPr>
          <p:cNvPr id="8" name="Title 3">
            <a:extLst>
              <a:ext uri="{FF2B5EF4-FFF2-40B4-BE49-F238E27FC236}">
                <a16:creationId xmlns:a16="http://schemas.microsoft.com/office/drawing/2014/main" id="{E156347F-6BFC-BA41-31EF-E72B1756A7FF}"/>
              </a:ext>
            </a:extLst>
          </p:cNvPr>
          <p:cNvSpPr>
            <a:spLocks noGrp="1"/>
          </p:cNvSpPr>
          <p:nvPr>
            <p:ph type="ctrTitle"/>
          </p:nvPr>
        </p:nvSpPr>
        <p:spPr>
          <a:xfrm>
            <a:off x="3177633" y="503144"/>
            <a:ext cx="8292316" cy="1030930"/>
          </a:xfrm>
        </p:spPr>
        <p:txBody>
          <a:bodyPr/>
          <a:lstStyle/>
          <a:p>
            <a:r>
              <a:rPr lang="en-US" dirty="0"/>
              <a:t>Refactoring Scientific Software</a:t>
            </a:r>
          </a:p>
        </p:txBody>
      </p:sp>
      <p:sp>
        <p:nvSpPr>
          <p:cNvPr id="13" name="Text Placeholder 7">
            <a:extLst>
              <a:ext uri="{FF2B5EF4-FFF2-40B4-BE49-F238E27FC236}">
                <a16:creationId xmlns:a16="http://schemas.microsoft.com/office/drawing/2014/main" id="{2A58DA0F-7B1F-8A89-7A56-EA70AA2EB23A}"/>
              </a:ext>
            </a:extLst>
          </p:cNvPr>
          <p:cNvSpPr>
            <a:spLocks noGrp="1"/>
          </p:cNvSpPr>
          <p:nvPr>
            <p:ph type="body" sz="quarter" idx="15"/>
          </p:nvPr>
        </p:nvSpPr>
        <p:spPr>
          <a:xfrm>
            <a:off x="3176924" y="4242168"/>
            <a:ext cx="8292316" cy="369332"/>
          </a:xfrm>
        </p:spPr>
        <p:txBody>
          <a:bodyPr/>
          <a:lstStyle/>
          <a:p>
            <a:r>
              <a:rPr lang="en-US" sz="2000" dirty="0"/>
              <a:t>Contributors: Anshu Dubey (ANL), Jared O’Neal</a:t>
            </a:r>
          </a:p>
        </p:txBody>
      </p:sp>
    </p:spTree>
    <p:extLst>
      <p:ext uri="{BB962C8B-B14F-4D97-AF65-F5344CB8AC3E}">
        <p14:creationId xmlns:p14="http://schemas.microsoft.com/office/powerpoint/2010/main" val="276752582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42C24D-D970-4D40-8F14-D70C10A96304}"/>
              </a:ext>
            </a:extLst>
          </p:cNvPr>
          <p:cNvSpPr>
            <a:spLocks noGrp="1"/>
          </p:cNvSpPr>
          <p:nvPr>
            <p:ph type="title"/>
          </p:nvPr>
        </p:nvSpPr>
        <p:spPr>
          <a:xfrm>
            <a:off x="363096" y="112911"/>
            <a:ext cx="11372473" cy="914400"/>
          </a:xfrm>
        </p:spPr>
        <p:txBody>
          <a:bodyPr/>
          <a:lstStyle/>
          <a:p>
            <a:r>
              <a:rPr lang="en-US" dirty="0"/>
              <a:t>License, Citation and Acknowledgements</a:t>
            </a:r>
          </a:p>
        </p:txBody>
      </p:sp>
      <p:sp>
        <p:nvSpPr>
          <p:cNvPr id="3" name="Content Placeholder 2">
            <a:extLst>
              <a:ext uri="{FF2B5EF4-FFF2-40B4-BE49-F238E27FC236}">
                <a16:creationId xmlns:a16="http://schemas.microsoft.com/office/drawing/2014/main" id="{0385A3AB-B258-4D59-B407-F7D57545A163}"/>
              </a:ext>
            </a:extLst>
          </p:cNvPr>
          <p:cNvSpPr>
            <a:spLocks noGrp="1"/>
          </p:cNvSpPr>
          <p:nvPr>
            <p:ph idx="1"/>
          </p:nvPr>
        </p:nvSpPr>
        <p:spPr>
          <a:xfrm>
            <a:off x="409507" y="570111"/>
            <a:ext cx="11369809" cy="4047778"/>
          </a:xfrm>
        </p:spPr>
        <p:txBody>
          <a:bodyPr/>
          <a:lstStyle/>
          <a:p>
            <a:pPr marL="0" indent="0">
              <a:buNone/>
            </a:pPr>
            <a:r>
              <a:rPr lang="en-US" sz="2000" b="1" dirty="0"/>
              <a:t>License and Citation</a:t>
            </a:r>
          </a:p>
          <a:p>
            <a:pPr>
              <a:spcBef>
                <a:spcPts val="400"/>
              </a:spcBef>
            </a:pPr>
            <a:r>
              <a:rPr lang="en-US" sz="1600" dirty="0"/>
              <a:t>This work is licensed under a </a:t>
            </a:r>
            <a:r>
              <a:rPr lang="en-US" sz="1600" dirty="0">
                <a:hlinkClick r:id="rId2"/>
              </a:rPr>
              <a:t>Creative</a:t>
            </a:r>
            <a:r>
              <a:rPr lang="en-US" sz="1600" dirty="0">
                <a:hlinkClick r:id="rId3"/>
              </a:rPr>
              <a:t> Commons Attribution 4.0 International License</a:t>
            </a:r>
            <a:r>
              <a:rPr lang="en-US" sz="1600" dirty="0"/>
              <a:t> (CC BY 4.0).</a:t>
            </a:r>
          </a:p>
          <a:p>
            <a:pPr>
              <a:spcBef>
                <a:spcPts val="400"/>
              </a:spcBef>
            </a:pPr>
            <a:r>
              <a:rPr lang="en-US" sz="1600" b="1" dirty="0"/>
              <a:t>The requested citation the overall tutorial is: </a:t>
            </a:r>
            <a:r>
              <a:rPr lang="en-US" sz="1600" dirty="0"/>
              <a:t>Anshu Dubey, David E. Bernholdt, and Todd Gamblin, Software Sustainability track, in Argonne Training Program on Extreme-Scale Computing, St. Charles, Illinois, 2025. DOI: </a:t>
            </a:r>
            <a:r>
              <a:rPr lang="en-US" sz="1600" dirty="0">
                <a:hlinkClick r:id="rId4"/>
              </a:rPr>
              <a:t>10.6084/m9.figshare.29816981</a:t>
            </a:r>
            <a:r>
              <a:rPr lang="en-US" sz="1600" dirty="0"/>
              <a:t>.</a:t>
            </a:r>
            <a:endParaRPr lang="en-US" sz="1600" b="0" i="0" dirty="0">
              <a:solidFill>
                <a:srgbClr val="111111"/>
              </a:solidFill>
              <a:effectLst/>
              <a:latin typeface="+mn-lt"/>
            </a:endParaRPr>
          </a:p>
          <a:p>
            <a:pPr>
              <a:spcBef>
                <a:spcPts val="400"/>
              </a:spcBef>
            </a:pPr>
            <a:r>
              <a:rPr lang="en-US" sz="1600" dirty="0"/>
              <a:t>Individual modules may be cited as </a:t>
            </a:r>
            <a:r>
              <a:rPr lang="en-US" sz="1600" i="1" dirty="0"/>
              <a:t>Speaker, Module Title</a:t>
            </a:r>
            <a:r>
              <a:rPr lang="en-US" sz="1600" dirty="0"/>
              <a:t>, in </a:t>
            </a:r>
            <a:r>
              <a:rPr lang="en-US" sz="1600" b="0" i="1" dirty="0">
                <a:solidFill>
                  <a:srgbClr val="111111"/>
                </a:solidFill>
                <a:effectLst/>
                <a:latin typeface="+mn-lt"/>
              </a:rPr>
              <a:t>Tutorial Title</a:t>
            </a:r>
            <a:r>
              <a:rPr lang="en-US" sz="1600" dirty="0"/>
              <a:t>, …</a:t>
            </a:r>
          </a:p>
          <a:p>
            <a:pPr marL="0" indent="0">
              <a:spcBef>
                <a:spcPts val="800"/>
              </a:spcBef>
              <a:buNone/>
            </a:pPr>
            <a:r>
              <a:rPr lang="en-US" sz="2000" b="1" dirty="0"/>
              <a:t>Acknowledgements</a:t>
            </a:r>
          </a:p>
          <a:p>
            <a:pPr>
              <a:spcBef>
                <a:spcPts val="400"/>
              </a:spcBef>
            </a:pPr>
            <a:r>
              <a:rPr lang="en-US" sz="1400" dirty="0"/>
              <a:t>This work was supported by the U.S. Department of Energy Office of Science, Office of Advanced Scientific Computing Research (ASCR), and by the Exascale Computing Project (17-SC-20-SC), a collaborative effort of the U.S. Department of Energy Office of Science and the National Nuclear Security Administration</a:t>
            </a:r>
            <a:r>
              <a:rPr lang="en-US" sz="1400" i="1" dirty="0"/>
              <a:t>.</a:t>
            </a:r>
          </a:p>
          <a:p>
            <a:pPr>
              <a:spcBef>
                <a:spcPts val="400"/>
              </a:spcBef>
            </a:pPr>
            <a:r>
              <a:rPr lang="en-US" sz="1400" b="0" i="0" dirty="0">
                <a:effectLst/>
                <a:latin typeface="+mn-lt"/>
              </a:rPr>
              <a:t>This work was supported by the U.S. Department of Energy, Office of Science, Office of Advanced Scientific Computing Research, Next-Generation Scientific Software Technologies (NGSST) program.</a:t>
            </a:r>
          </a:p>
          <a:p>
            <a:pPr>
              <a:spcBef>
                <a:spcPts val="400"/>
              </a:spcBef>
            </a:pPr>
            <a:r>
              <a:rPr lang="en-US" sz="1400" dirty="0"/>
              <a:t>This work was performed in part at the Argonne National Laboratory, which is managed by UChicago Argonne, LLC for the U.S. Department of Energy under Contract No. DE-AC02-06CH11357.</a:t>
            </a:r>
          </a:p>
          <a:p>
            <a:pPr>
              <a:spcBef>
                <a:spcPts val="400"/>
              </a:spcBef>
            </a:pPr>
            <a:r>
              <a:rPr lang="en-US" sz="1400" dirty="0"/>
              <a:t>This work was performed in part at the Lawrence Livermore National Laboratory, which is managed by Lawrence Livermore National Security, LLC for the U.S. Department of Energy under Contract No. DE-AC52-07NA27344.</a:t>
            </a:r>
          </a:p>
          <a:p>
            <a:pPr>
              <a:spcBef>
                <a:spcPts val="400"/>
              </a:spcBef>
            </a:pPr>
            <a:r>
              <a:rPr lang="en-US" sz="1400" dirty="0"/>
              <a:t>This work was performed in part at the Los Alamos National Laboratory, which is managed by Triad National Security, LLC for the U.S. Department of Energy under Contract No.89233218CNA000001</a:t>
            </a:r>
          </a:p>
          <a:p>
            <a:pPr>
              <a:spcBef>
                <a:spcPts val="400"/>
              </a:spcBef>
            </a:pPr>
            <a:r>
              <a:rPr lang="en-US" sz="1400" dirty="0"/>
              <a:t>This work was performed in part at the Oak Ridge National Laboratory, which is managed by UT-Battelle, LLC for the U.S. Department of Energy under Contract No. DE-AC05-00OR22725.</a:t>
            </a:r>
          </a:p>
          <a:p>
            <a:pPr>
              <a:spcBef>
                <a:spcPts val="400"/>
              </a:spcBef>
            </a:pPr>
            <a:r>
              <a:rPr lang="en-US" sz="1400" dirty="0"/>
              <a:t>This work was performed in part at Sandia National Laboratories. Sandia National Laboratories is a multi-mission laboratory managed and operated by National Technology and Engineering Solutions of Sandia, LLC., a wholly owned subsidiary of Honeywell International, Inc., for the U.S. Department of Energy’s National Nuclear Security Administration under contract DE-NA0003525.</a:t>
            </a:r>
          </a:p>
        </p:txBody>
      </p:sp>
      <p:pic>
        <p:nvPicPr>
          <p:cNvPr id="4" name="Picture 2" descr="https://licensebuttons.net/l/by/4.0/88x31.png">
            <a:extLst>
              <a:ext uri="{FF2B5EF4-FFF2-40B4-BE49-F238E27FC236}">
                <a16:creationId xmlns:a16="http://schemas.microsoft.com/office/drawing/2014/main" id="{61840015-22A0-4634-A2DE-AA05F998FD3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230336" y="879673"/>
            <a:ext cx="838200" cy="2952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7872643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ontent Placeholder 2">
            <a:extLst>
              <a:ext uri="{FF2B5EF4-FFF2-40B4-BE49-F238E27FC236}">
                <a16:creationId xmlns:a16="http://schemas.microsoft.com/office/drawing/2014/main" id="{5D30512F-71BE-C842-A3D2-4229E91863BB}"/>
              </a:ext>
            </a:extLst>
          </p:cNvPr>
          <p:cNvSpPr>
            <a:spLocks noGrp="1"/>
          </p:cNvSpPr>
          <p:nvPr>
            <p:ph idx="1"/>
          </p:nvPr>
        </p:nvSpPr>
        <p:spPr>
          <a:xfrm>
            <a:off x="609443" y="1699995"/>
            <a:ext cx="5881298" cy="4422776"/>
          </a:xfrm>
        </p:spPr>
        <p:txBody>
          <a:bodyPr/>
          <a:lstStyle/>
          <a:p>
            <a:pPr marL="0" indent="0">
              <a:buNone/>
            </a:pPr>
            <a:r>
              <a:rPr lang="en-US" dirty="0">
                <a:solidFill>
                  <a:srgbClr val="FF0000"/>
                </a:solidFill>
              </a:rPr>
              <a:t>Definition: Refactoring is a disciplined technique for restructuring an existing body of code, altering its internal structure without changing its external behavior.</a:t>
            </a:r>
          </a:p>
          <a:p>
            <a:r>
              <a:rPr lang="en-US" dirty="0"/>
              <a:t>Different from development</a:t>
            </a:r>
          </a:p>
          <a:p>
            <a:pPr lvl="1"/>
            <a:r>
              <a:rPr lang="en-US" dirty="0"/>
              <a:t>You have a working code </a:t>
            </a:r>
          </a:p>
          <a:p>
            <a:pPr lvl="1"/>
            <a:r>
              <a:rPr lang="en-US" dirty="0"/>
              <a:t>You know and understand the behavior</a:t>
            </a:r>
          </a:p>
          <a:p>
            <a:pPr lvl="1"/>
            <a:r>
              <a:rPr lang="en-US" dirty="0"/>
              <a:t>You have a baseline that you can use for comparison</a:t>
            </a:r>
          </a:p>
          <a:p>
            <a:endParaRPr lang="en-US" dirty="0"/>
          </a:p>
          <a:p>
            <a:pPr lvl="1"/>
            <a:endParaRPr lang="en-US" dirty="0"/>
          </a:p>
          <a:p>
            <a:pPr lvl="2"/>
            <a:endParaRPr lang="en-US" dirty="0"/>
          </a:p>
        </p:txBody>
      </p:sp>
      <p:sp>
        <p:nvSpPr>
          <p:cNvPr id="2" name="Title 1"/>
          <p:cNvSpPr>
            <a:spLocks noGrp="1"/>
          </p:cNvSpPr>
          <p:nvPr>
            <p:ph type="title"/>
          </p:nvPr>
        </p:nvSpPr>
        <p:spPr/>
        <p:txBody>
          <a:bodyPr/>
          <a:lstStyle/>
          <a:p>
            <a:r>
              <a:rPr lang="en-US" dirty="0"/>
              <a:t>What is Refactoring </a:t>
            </a:r>
            <a:br>
              <a:rPr lang="en-US" dirty="0"/>
            </a:br>
            <a:endParaRPr lang="en-US" dirty="0"/>
          </a:p>
        </p:txBody>
      </p:sp>
    </p:spTree>
    <p:extLst>
      <p:ext uri="{BB962C8B-B14F-4D97-AF65-F5344CB8AC3E}">
        <p14:creationId xmlns:p14="http://schemas.microsoft.com/office/powerpoint/2010/main" val="1165708642"/>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ontent Placeholder 2">
            <a:extLst>
              <a:ext uri="{FF2B5EF4-FFF2-40B4-BE49-F238E27FC236}">
                <a16:creationId xmlns:a16="http://schemas.microsoft.com/office/drawing/2014/main" id="{5D30512F-71BE-C842-A3D2-4229E91863BB}"/>
              </a:ext>
            </a:extLst>
          </p:cNvPr>
          <p:cNvSpPr>
            <a:spLocks noGrp="1"/>
          </p:cNvSpPr>
          <p:nvPr>
            <p:ph idx="1"/>
          </p:nvPr>
        </p:nvSpPr>
        <p:spPr>
          <a:xfrm>
            <a:off x="609443" y="1699995"/>
            <a:ext cx="5881298" cy="4422776"/>
          </a:xfrm>
        </p:spPr>
        <p:txBody>
          <a:bodyPr/>
          <a:lstStyle/>
          <a:p>
            <a:pPr marL="0" indent="0">
              <a:buNone/>
            </a:pPr>
            <a:r>
              <a:rPr lang="en-US" dirty="0">
                <a:solidFill>
                  <a:srgbClr val="FF0000"/>
                </a:solidFill>
              </a:rPr>
              <a:t>Definition: Refactoring is a disciplined technique for restructuring an existing body of code, altering its internal structure without changing its external behavior.</a:t>
            </a:r>
          </a:p>
          <a:p>
            <a:r>
              <a:rPr lang="en-US" dirty="0"/>
              <a:t>Different from development</a:t>
            </a:r>
          </a:p>
          <a:p>
            <a:pPr lvl="1"/>
            <a:r>
              <a:rPr lang="en-US" dirty="0"/>
              <a:t>You have a working code </a:t>
            </a:r>
          </a:p>
          <a:p>
            <a:pPr lvl="1"/>
            <a:r>
              <a:rPr lang="en-US" dirty="0"/>
              <a:t>You know and understand the behavior</a:t>
            </a:r>
          </a:p>
          <a:p>
            <a:pPr lvl="1"/>
            <a:r>
              <a:rPr lang="en-US" dirty="0"/>
              <a:t>You have a baseline that you can use for comparison</a:t>
            </a:r>
          </a:p>
          <a:p>
            <a:endParaRPr lang="en-US" dirty="0"/>
          </a:p>
          <a:p>
            <a:pPr lvl="1"/>
            <a:endParaRPr lang="en-US" dirty="0"/>
          </a:p>
          <a:p>
            <a:pPr lvl="2"/>
            <a:endParaRPr lang="en-US" dirty="0"/>
          </a:p>
        </p:txBody>
      </p:sp>
      <p:sp>
        <p:nvSpPr>
          <p:cNvPr id="2" name="Title 1"/>
          <p:cNvSpPr>
            <a:spLocks noGrp="1"/>
          </p:cNvSpPr>
          <p:nvPr>
            <p:ph type="title"/>
          </p:nvPr>
        </p:nvSpPr>
        <p:spPr/>
        <p:txBody>
          <a:bodyPr/>
          <a:lstStyle/>
          <a:p>
            <a:r>
              <a:rPr lang="en-US" dirty="0"/>
              <a:t>What is Refactoring </a:t>
            </a:r>
            <a:br>
              <a:rPr lang="en-US" dirty="0"/>
            </a:br>
            <a:endParaRPr lang="en-US" dirty="0"/>
          </a:p>
        </p:txBody>
      </p:sp>
      <p:sp>
        <p:nvSpPr>
          <p:cNvPr id="6" name="Content Placeholder 2">
            <a:extLst>
              <a:ext uri="{FF2B5EF4-FFF2-40B4-BE49-F238E27FC236}">
                <a16:creationId xmlns:a16="http://schemas.microsoft.com/office/drawing/2014/main" id="{A3969DB6-AB62-0A43-A6B7-8B07C828C355}"/>
              </a:ext>
            </a:extLst>
          </p:cNvPr>
          <p:cNvSpPr txBox="1">
            <a:spLocks/>
          </p:cNvSpPr>
          <p:nvPr/>
        </p:nvSpPr>
        <p:spPr bwMode="auto">
          <a:xfrm>
            <a:off x="6607828" y="1258433"/>
            <a:ext cx="4971554" cy="4204252"/>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rmAutofit/>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baseline="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charset="0"/>
              <a:buNone/>
            </a:pPr>
            <a:endParaRPr lang="en-US" dirty="0"/>
          </a:p>
          <a:p>
            <a:r>
              <a:rPr lang="en-US" dirty="0"/>
              <a:t>General motivations</a:t>
            </a:r>
          </a:p>
          <a:p>
            <a:pPr lvl="1"/>
            <a:r>
              <a:rPr lang="en-US" dirty="0"/>
              <a:t>Modularity enhancement </a:t>
            </a:r>
          </a:p>
          <a:p>
            <a:pPr lvl="2"/>
            <a:r>
              <a:rPr lang="en-US" dirty="0"/>
              <a:t>Improve sustainability</a:t>
            </a:r>
          </a:p>
          <a:p>
            <a:pPr lvl="1"/>
            <a:r>
              <a:rPr lang="en-US" dirty="0"/>
              <a:t>Release to outside users</a:t>
            </a:r>
          </a:p>
          <a:p>
            <a:pPr lvl="2"/>
            <a:r>
              <a:rPr lang="en-US" dirty="0"/>
              <a:t>Easier to use and understand</a:t>
            </a:r>
          </a:p>
          <a:p>
            <a:pPr lvl="1"/>
            <a:r>
              <a:rPr lang="en-US" dirty="0"/>
              <a:t>Port to new platforms</a:t>
            </a:r>
          </a:p>
          <a:p>
            <a:pPr lvl="2"/>
            <a:r>
              <a:rPr lang="en-US" dirty="0"/>
              <a:t>Performance portability</a:t>
            </a:r>
          </a:p>
          <a:p>
            <a:pPr lvl="1"/>
            <a:r>
              <a:rPr lang="en-US" dirty="0"/>
              <a:t>Expand capabilities</a:t>
            </a:r>
          </a:p>
          <a:p>
            <a:pPr lvl="2"/>
            <a:r>
              <a:rPr lang="en-US" dirty="0"/>
              <a:t>Structural flexibility</a:t>
            </a:r>
          </a:p>
          <a:p>
            <a:pPr marL="0" indent="0">
              <a:buFont typeface="Arial" charset="0"/>
              <a:buNone/>
            </a:pPr>
            <a:endParaRPr lang="en-US" dirty="0"/>
          </a:p>
          <a:p>
            <a:pPr lvl="1"/>
            <a:endParaRPr lang="en-US" dirty="0"/>
          </a:p>
          <a:p>
            <a:pPr marL="684212" lvl="2" indent="0">
              <a:buFont typeface="Arial" charset="0"/>
              <a:buNone/>
            </a:pPr>
            <a:endParaRPr lang="en-US" dirty="0"/>
          </a:p>
        </p:txBody>
      </p:sp>
    </p:spTree>
    <p:extLst>
      <p:ext uri="{BB962C8B-B14F-4D97-AF65-F5344CB8AC3E}">
        <p14:creationId xmlns:p14="http://schemas.microsoft.com/office/powerpoint/2010/main" val="406788322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val 2">
            <a:extLst>
              <a:ext uri="{FF2B5EF4-FFF2-40B4-BE49-F238E27FC236}">
                <a16:creationId xmlns:a16="http://schemas.microsoft.com/office/drawing/2014/main" id="{690299EC-CCA2-6A44-A9C8-5B8C7D631B69}"/>
              </a:ext>
            </a:extLst>
          </p:cNvPr>
          <p:cNvSpPr/>
          <p:nvPr/>
        </p:nvSpPr>
        <p:spPr>
          <a:xfrm>
            <a:off x="1347118" y="2468188"/>
            <a:ext cx="1351722" cy="745435"/>
          </a:xfrm>
          <a:prstGeom prst="ellipse">
            <a:avLst/>
          </a:prstGeom>
          <a:solidFill>
            <a:schemeClr val="accent3"/>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START</a:t>
            </a:r>
          </a:p>
        </p:txBody>
      </p:sp>
      <p:sp>
        <p:nvSpPr>
          <p:cNvPr id="8" name="Rectangle 7">
            <a:extLst>
              <a:ext uri="{FF2B5EF4-FFF2-40B4-BE49-F238E27FC236}">
                <a16:creationId xmlns:a16="http://schemas.microsoft.com/office/drawing/2014/main" id="{9573A2D9-24AD-6C40-8C42-F23592225510}"/>
              </a:ext>
            </a:extLst>
          </p:cNvPr>
          <p:cNvSpPr/>
          <p:nvPr/>
        </p:nvSpPr>
        <p:spPr>
          <a:xfrm>
            <a:off x="3196086" y="3632433"/>
            <a:ext cx="1371600" cy="676089"/>
          </a:xfrm>
          <a:prstGeom prst="rect">
            <a:avLst/>
          </a:prstGeom>
          <a:solidFill>
            <a:schemeClr val="accent2"/>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REGRESSION/UNIT TEST</a:t>
            </a:r>
          </a:p>
        </p:txBody>
      </p:sp>
      <p:sp>
        <p:nvSpPr>
          <p:cNvPr id="9" name="Rectangle 8">
            <a:extLst>
              <a:ext uri="{FF2B5EF4-FFF2-40B4-BE49-F238E27FC236}">
                <a16:creationId xmlns:a16="http://schemas.microsoft.com/office/drawing/2014/main" id="{CE2108CE-6C3A-8A49-96F1-373668921B6B}"/>
              </a:ext>
            </a:extLst>
          </p:cNvPr>
          <p:cNvSpPr/>
          <p:nvPr/>
        </p:nvSpPr>
        <p:spPr>
          <a:xfrm>
            <a:off x="3196086" y="2525793"/>
            <a:ext cx="1371600" cy="676089"/>
          </a:xfrm>
          <a:prstGeom prst="rect">
            <a:avLst/>
          </a:prstGeom>
          <a:solidFill>
            <a:schemeClr val="bg2">
              <a:lumMod val="85000"/>
            </a:schemeClr>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FIX</a:t>
            </a:r>
          </a:p>
        </p:txBody>
      </p:sp>
      <p:sp>
        <p:nvSpPr>
          <p:cNvPr id="10" name="Rectangle 9">
            <a:extLst>
              <a:ext uri="{FF2B5EF4-FFF2-40B4-BE49-F238E27FC236}">
                <a16:creationId xmlns:a16="http://schemas.microsoft.com/office/drawing/2014/main" id="{7E017335-9C7D-FD4A-97F1-06E8AC064FC0}"/>
              </a:ext>
            </a:extLst>
          </p:cNvPr>
          <p:cNvSpPr/>
          <p:nvPr/>
        </p:nvSpPr>
        <p:spPr>
          <a:xfrm>
            <a:off x="1347118" y="3632434"/>
            <a:ext cx="1371600" cy="676089"/>
          </a:xfrm>
          <a:prstGeom prst="rect">
            <a:avLst/>
          </a:prstGeom>
          <a:solidFill>
            <a:schemeClr val="bg2">
              <a:lumMod val="85000"/>
            </a:schemeClr>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REFACTOR</a:t>
            </a:r>
          </a:p>
        </p:txBody>
      </p:sp>
      <p:sp>
        <p:nvSpPr>
          <p:cNvPr id="13" name="Diamond 12">
            <a:extLst>
              <a:ext uri="{FF2B5EF4-FFF2-40B4-BE49-F238E27FC236}">
                <a16:creationId xmlns:a16="http://schemas.microsoft.com/office/drawing/2014/main" id="{B927D061-CC43-9C4B-AC50-F67CA02BD96C}"/>
              </a:ext>
            </a:extLst>
          </p:cNvPr>
          <p:cNvSpPr/>
          <p:nvPr/>
        </p:nvSpPr>
        <p:spPr>
          <a:xfrm>
            <a:off x="4929868" y="3647191"/>
            <a:ext cx="1501692" cy="646572"/>
          </a:xfrm>
          <a:prstGeom prst="diamond">
            <a:avLst/>
          </a:prstGeom>
          <a:solidFill>
            <a:schemeClr val="accent5">
              <a:lumMod val="40000"/>
              <a:lumOff val="60000"/>
            </a:schemeClr>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PASS</a:t>
            </a:r>
          </a:p>
        </p:txBody>
      </p:sp>
      <p:cxnSp>
        <p:nvCxnSpPr>
          <p:cNvPr id="14" name="Straight Arrow Connector 13">
            <a:extLst>
              <a:ext uri="{FF2B5EF4-FFF2-40B4-BE49-F238E27FC236}">
                <a16:creationId xmlns:a16="http://schemas.microsoft.com/office/drawing/2014/main" id="{58E23F11-4C9A-7A46-99FF-0AFAB9BB6850}"/>
              </a:ext>
            </a:extLst>
          </p:cNvPr>
          <p:cNvCxnSpPr>
            <a:cxnSpLocks/>
            <a:stCxn id="3" idx="4"/>
            <a:endCxn id="10" idx="0"/>
          </p:cNvCxnSpPr>
          <p:nvPr/>
        </p:nvCxnSpPr>
        <p:spPr>
          <a:xfrm>
            <a:off x="2022979" y="3213623"/>
            <a:ext cx="9939" cy="41881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A864282F-50DD-104D-BB62-A2C061551EA0}"/>
              </a:ext>
            </a:extLst>
          </p:cNvPr>
          <p:cNvCxnSpPr>
            <a:cxnSpLocks/>
            <a:stCxn id="10" idx="3"/>
            <a:endCxn id="8" idx="1"/>
          </p:cNvCxnSpPr>
          <p:nvPr/>
        </p:nvCxnSpPr>
        <p:spPr>
          <a:xfrm flipV="1">
            <a:off x="2718718" y="3970478"/>
            <a:ext cx="477368" cy="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F6B07EC7-B9A0-B542-B0F5-0D8FD9936DBE}"/>
              </a:ext>
            </a:extLst>
          </p:cNvPr>
          <p:cNvCxnSpPr>
            <a:cxnSpLocks/>
            <a:stCxn id="8" idx="3"/>
            <a:endCxn id="13" idx="1"/>
          </p:cNvCxnSpPr>
          <p:nvPr/>
        </p:nvCxnSpPr>
        <p:spPr>
          <a:xfrm flipV="1">
            <a:off x="4567686" y="3970477"/>
            <a:ext cx="362182" cy="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8EF17202-42AB-D349-9287-7D4B3ABE246B}"/>
              </a:ext>
            </a:extLst>
          </p:cNvPr>
          <p:cNvCxnSpPr>
            <a:cxnSpLocks/>
          </p:cNvCxnSpPr>
          <p:nvPr/>
        </p:nvCxnSpPr>
        <p:spPr>
          <a:xfrm>
            <a:off x="6431560" y="3985236"/>
            <a:ext cx="362182"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8" name="Elbow Connector 27">
            <a:extLst>
              <a:ext uri="{FF2B5EF4-FFF2-40B4-BE49-F238E27FC236}">
                <a16:creationId xmlns:a16="http://schemas.microsoft.com/office/drawing/2014/main" id="{31EE7EC0-3201-9F4C-BF7C-2A977C79757E}"/>
              </a:ext>
            </a:extLst>
          </p:cNvPr>
          <p:cNvCxnSpPr>
            <a:cxnSpLocks/>
            <a:stCxn id="13" idx="0"/>
            <a:endCxn id="9" idx="3"/>
          </p:cNvCxnSpPr>
          <p:nvPr/>
        </p:nvCxnSpPr>
        <p:spPr>
          <a:xfrm rot="16200000" flipV="1">
            <a:off x="4732524" y="2699001"/>
            <a:ext cx="783353" cy="1113028"/>
          </a:xfrm>
          <a:prstGeom prst="bentConnector2">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9A965197-C037-5344-948D-0BE4A06D00CC}"/>
              </a:ext>
            </a:extLst>
          </p:cNvPr>
          <p:cNvCxnSpPr>
            <a:stCxn id="9" idx="2"/>
            <a:endCxn id="8" idx="0"/>
          </p:cNvCxnSpPr>
          <p:nvPr/>
        </p:nvCxnSpPr>
        <p:spPr>
          <a:xfrm>
            <a:off x="3881886" y="3201882"/>
            <a:ext cx="0" cy="43055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CD920185-A2F8-394F-8796-320ED51FBF46}"/>
              </a:ext>
            </a:extLst>
          </p:cNvPr>
          <p:cNvSpPr txBox="1"/>
          <p:nvPr/>
        </p:nvSpPr>
        <p:spPr>
          <a:xfrm>
            <a:off x="6258046" y="4025057"/>
            <a:ext cx="547842" cy="350865"/>
          </a:xfrm>
          <a:prstGeom prst="rect">
            <a:avLst/>
          </a:prstGeom>
          <a:noFill/>
        </p:spPr>
        <p:txBody>
          <a:bodyPr wrap="none" lIns="118872" tIns="91440" rIns="118872" bIns="91440" rtlCol="0" anchor="ctr" anchorCtr="0">
            <a:spAutoFit/>
          </a:bodyPr>
          <a:lstStyle/>
          <a:p>
            <a:pPr algn="l">
              <a:lnSpc>
                <a:spcPct val="90000"/>
              </a:lnSpc>
            </a:pPr>
            <a:r>
              <a:rPr lang="en-US" sz="1200" dirty="0">
                <a:latin typeface="+mj-lt"/>
              </a:rPr>
              <a:t>YES</a:t>
            </a:r>
          </a:p>
        </p:txBody>
      </p:sp>
      <p:sp>
        <p:nvSpPr>
          <p:cNvPr id="46" name="TextBox 45">
            <a:extLst>
              <a:ext uri="{FF2B5EF4-FFF2-40B4-BE49-F238E27FC236}">
                <a16:creationId xmlns:a16="http://schemas.microsoft.com/office/drawing/2014/main" id="{52EAAFBD-D859-E246-9C51-B5B05D65A9BC}"/>
              </a:ext>
            </a:extLst>
          </p:cNvPr>
          <p:cNvSpPr txBox="1"/>
          <p:nvPr/>
        </p:nvSpPr>
        <p:spPr>
          <a:xfrm>
            <a:off x="5719869" y="3308408"/>
            <a:ext cx="470898" cy="350865"/>
          </a:xfrm>
          <a:prstGeom prst="rect">
            <a:avLst/>
          </a:prstGeom>
          <a:noFill/>
        </p:spPr>
        <p:txBody>
          <a:bodyPr wrap="none" lIns="118872" tIns="91440" rIns="118872" bIns="91440" rtlCol="0" anchor="ctr" anchorCtr="0">
            <a:spAutoFit/>
          </a:bodyPr>
          <a:lstStyle/>
          <a:p>
            <a:pPr algn="l">
              <a:lnSpc>
                <a:spcPct val="90000"/>
              </a:lnSpc>
            </a:pPr>
            <a:r>
              <a:rPr lang="en-US" sz="1200" dirty="0">
                <a:latin typeface="+mj-lt"/>
              </a:rPr>
              <a:t>NO</a:t>
            </a:r>
          </a:p>
        </p:txBody>
      </p:sp>
      <p:sp>
        <p:nvSpPr>
          <p:cNvPr id="49" name="Title 48">
            <a:extLst>
              <a:ext uri="{FF2B5EF4-FFF2-40B4-BE49-F238E27FC236}">
                <a16:creationId xmlns:a16="http://schemas.microsoft.com/office/drawing/2014/main" id="{6AB9A130-9145-1146-AED7-9FA1F5FC4001}"/>
              </a:ext>
            </a:extLst>
          </p:cNvPr>
          <p:cNvSpPr>
            <a:spLocks noGrp="1"/>
          </p:cNvSpPr>
          <p:nvPr>
            <p:ph type="title"/>
          </p:nvPr>
        </p:nvSpPr>
        <p:spPr>
          <a:xfrm>
            <a:off x="269081" y="439134"/>
            <a:ext cx="11372473" cy="914400"/>
          </a:xfrm>
        </p:spPr>
        <p:txBody>
          <a:bodyPr/>
          <a:lstStyle/>
          <a:p>
            <a:r>
              <a:rPr lang="en-US" dirty="0"/>
              <a:t>An Example Workflow</a:t>
            </a:r>
          </a:p>
        </p:txBody>
      </p:sp>
    </p:spTree>
    <p:extLst>
      <p:ext uri="{BB962C8B-B14F-4D97-AF65-F5344CB8AC3E}">
        <p14:creationId xmlns:p14="http://schemas.microsoft.com/office/powerpoint/2010/main" val="3525866720"/>
      </p:ext>
    </p:extLst>
  </p:cSld>
  <p:clrMapOvr>
    <a:masterClrMapping/>
  </p:clrMapOvr>
  <mc:AlternateContent xmlns:mc="http://schemas.openxmlformats.org/markup-compatibility/2006" xmlns:p14="http://schemas.microsoft.com/office/powerpoint/2010/main">
    <mc:Choice Requires="p14">
      <p:transition spd="slow" p14:dur="2000" advTm="159994"/>
    </mc:Choice>
    <mc:Fallback xmlns="">
      <p:transition spd="slow" advTm="159994"/>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val 2">
            <a:extLst>
              <a:ext uri="{FF2B5EF4-FFF2-40B4-BE49-F238E27FC236}">
                <a16:creationId xmlns:a16="http://schemas.microsoft.com/office/drawing/2014/main" id="{690299EC-CCA2-6A44-A9C8-5B8C7D631B69}"/>
              </a:ext>
            </a:extLst>
          </p:cNvPr>
          <p:cNvSpPr/>
          <p:nvPr/>
        </p:nvSpPr>
        <p:spPr>
          <a:xfrm>
            <a:off x="1347118" y="2468188"/>
            <a:ext cx="1351722" cy="745435"/>
          </a:xfrm>
          <a:prstGeom prst="ellipse">
            <a:avLst/>
          </a:prstGeom>
          <a:solidFill>
            <a:schemeClr val="accent3"/>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START</a:t>
            </a:r>
          </a:p>
        </p:txBody>
      </p:sp>
      <p:sp>
        <p:nvSpPr>
          <p:cNvPr id="8" name="Rectangle 7">
            <a:extLst>
              <a:ext uri="{FF2B5EF4-FFF2-40B4-BE49-F238E27FC236}">
                <a16:creationId xmlns:a16="http://schemas.microsoft.com/office/drawing/2014/main" id="{9573A2D9-24AD-6C40-8C42-F23592225510}"/>
              </a:ext>
            </a:extLst>
          </p:cNvPr>
          <p:cNvSpPr/>
          <p:nvPr/>
        </p:nvSpPr>
        <p:spPr>
          <a:xfrm>
            <a:off x="3196086" y="3632433"/>
            <a:ext cx="1371600" cy="676089"/>
          </a:xfrm>
          <a:prstGeom prst="rect">
            <a:avLst/>
          </a:prstGeom>
          <a:solidFill>
            <a:schemeClr val="accent2"/>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REGRESSION/UNIT TEST</a:t>
            </a:r>
          </a:p>
        </p:txBody>
      </p:sp>
      <p:sp>
        <p:nvSpPr>
          <p:cNvPr id="9" name="Rectangle 8">
            <a:extLst>
              <a:ext uri="{FF2B5EF4-FFF2-40B4-BE49-F238E27FC236}">
                <a16:creationId xmlns:a16="http://schemas.microsoft.com/office/drawing/2014/main" id="{CE2108CE-6C3A-8A49-96F1-373668921B6B}"/>
              </a:ext>
            </a:extLst>
          </p:cNvPr>
          <p:cNvSpPr/>
          <p:nvPr/>
        </p:nvSpPr>
        <p:spPr>
          <a:xfrm>
            <a:off x="3196086" y="2525793"/>
            <a:ext cx="1371600" cy="676089"/>
          </a:xfrm>
          <a:prstGeom prst="rect">
            <a:avLst/>
          </a:prstGeom>
          <a:solidFill>
            <a:schemeClr val="bg2">
              <a:lumMod val="85000"/>
            </a:schemeClr>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FIX</a:t>
            </a:r>
          </a:p>
        </p:txBody>
      </p:sp>
      <p:sp>
        <p:nvSpPr>
          <p:cNvPr id="10" name="Rectangle 9">
            <a:extLst>
              <a:ext uri="{FF2B5EF4-FFF2-40B4-BE49-F238E27FC236}">
                <a16:creationId xmlns:a16="http://schemas.microsoft.com/office/drawing/2014/main" id="{7E017335-9C7D-FD4A-97F1-06E8AC064FC0}"/>
              </a:ext>
            </a:extLst>
          </p:cNvPr>
          <p:cNvSpPr/>
          <p:nvPr/>
        </p:nvSpPr>
        <p:spPr>
          <a:xfrm>
            <a:off x="1347118" y="3632434"/>
            <a:ext cx="1371600" cy="676089"/>
          </a:xfrm>
          <a:prstGeom prst="rect">
            <a:avLst/>
          </a:prstGeom>
          <a:solidFill>
            <a:schemeClr val="bg2">
              <a:lumMod val="85000"/>
            </a:schemeClr>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REFACTOR</a:t>
            </a:r>
          </a:p>
        </p:txBody>
      </p:sp>
      <p:sp>
        <p:nvSpPr>
          <p:cNvPr id="12" name="Diamond 11">
            <a:extLst>
              <a:ext uri="{FF2B5EF4-FFF2-40B4-BE49-F238E27FC236}">
                <a16:creationId xmlns:a16="http://schemas.microsoft.com/office/drawing/2014/main" id="{E25C2767-74CC-C348-A13C-4B2194358763}"/>
              </a:ext>
            </a:extLst>
          </p:cNvPr>
          <p:cNvSpPr/>
          <p:nvPr/>
        </p:nvSpPr>
        <p:spPr>
          <a:xfrm>
            <a:off x="6793742" y="3661950"/>
            <a:ext cx="1501692" cy="646572"/>
          </a:xfrm>
          <a:prstGeom prst="diamond">
            <a:avLst/>
          </a:prstGeom>
          <a:solidFill>
            <a:schemeClr val="accent5">
              <a:lumMod val="40000"/>
              <a:lumOff val="60000"/>
            </a:schemeClr>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DONE</a:t>
            </a:r>
          </a:p>
        </p:txBody>
      </p:sp>
      <p:sp>
        <p:nvSpPr>
          <p:cNvPr id="13" name="Diamond 12">
            <a:extLst>
              <a:ext uri="{FF2B5EF4-FFF2-40B4-BE49-F238E27FC236}">
                <a16:creationId xmlns:a16="http://schemas.microsoft.com/office/drawing/2014/main" id="{B927D061-CC43-9C4B-AC50-F67CA02BD96C}"/>
              </a:ext>
            </a:extLst>
          </p:cNvPr>
          <p:cNvSpPr/>
          <p:nvPr/>
        </p:nvSpPr>
        <p:spPr>
          <a:xfrm>
            <a:off x="4929868" y="3647191"/>
            <a:ext cx="1501692" cy="646572"/>
          </a:xfrm>
          <a:prstGeom prst="diamond">
            <a:avLst/>
          </a:prstGeom>
          <a:solidFill>
            <a:schemeClr val="accent5">
              <a:lumMod val="40000"/>
              <a:lumOff val="60000"/>
            </a:schemeClr>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PASS</a:t>
            </a:r>
          </a:p>
        </p:txBody>
      </p:sp>
      <p:cxnSp>
        <p:nvCxnSpPr>
          <p:cNvPr id="14" name="Straight Arrow Connector 13">
            <a:extLst>
              <a:ext uri="{FF2B5EF4-FFF2-40B4-BE49-F238E27FC236}">
                <a16:creationId xmlns:a16="http://schemas.microsoft.com/office/drawing/2014/main" id="{58E23F11-4C9A-7A46-99FF-0AFAB9BB6850}"/>
              </a:ext>
            </a:extLst>
          </p:cNvPr>
          <p:cNvCxnSpPr>
            <a:cxnSpLocks/>
            <a:stCxn id="3" idx="4"/>
            <a:endCxn id="10" idx="0"/>
          </p:cNvCxnSpPr>
          <p:nvPr/>
        </p:nvCxnSpPr>
        <p:spPr>
          <a:xfrm>
            <a:off x="2022979" y="3213623"/>
            <a:ext cx="9939" cy="41881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A864282F-50DD-104D-BB62-A2C061551EA0}"/>
              </a:ext>
            </a:extLst>
          </p:cNvPr>
          <p:cNvCxnSpPr>
            <a:cxnSpLocks/>
            <a:stCxn id="10" idx="3"/>
            <a:endCxn id="8" idx="1"/>
          </p:cNvCxnSpPr>
          <p:nvPr/>
        </p:nvCxnSpPr>
        <p:spPr>
          <a:xfrm flipV="1">
            <a:off x="2718718" y="3970478"/>
            <a:ext cx="477368" cy="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F6B07EC7-B9A0-B542-B0F5-0D8FD9936DBE}"/>
              </a:ext>
            </a:extLst>
          </p:cNvPr>
          <p:cNvCxnSpPr>
            <a:cxnSpLocks/>
            <a:stCxn id="8" idx="3"/>
            <a:endCxn id="13" idx="1"/>
          </p:cNvCxnSpPr>
          <p:nvPr/>
        </p:nvCxnSpPr>
        <p:spPr>
          <a:xfrm flipV="1">
            <a:off x="4567686" y="3970477"/>
            <a:ext cx="362182" cy="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8EF17202-42AB-D349-9287-7D4B3ABE246B}"/>
              </a:ext>
            </a:extLst>
          </p:cNvPr>
          <p:cNvCxnSpPr>
            <a:cxnSpLocks/>
            <a:endCxn id="12" idx="1"/>
          </p:cNvCxnSpPr>
          <p:nvPr/>
        </p:nvCxnSpPr>
        <p:spPr>
          <a:xfrm>
            <a:off x="6431560" y="3985236"/>
            <a:ext cx="362182"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64D098AD-ADC5-0E48-93DB-5AD4FF5478B0}"/>
              </a:ext>
            </a:extLst>
          </p:cNvPr>
          <p:cNvCxnSpPr>
            <a:cxnSpLocks/>
            <a:stCxn id="12" idx="0"/>
          </p:cNvCxnSpPr>
          <p:nvPr/>
        </p:nvCxnSpPr>
        <p:spPr>
          <a:xfrm flipV="1">
            <a:off x="7544588" y="3214877"/>
            <a:ext cx="0" cy="447073"/>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8" name="Elbow Connector 27">
            <a:extLst>
              <a:ext uri="{FF2B5EF4-FFF2-40B4-BE49-F238E27FC236}">
                <a16:creationId xmlns:a16="http://schemas.microsoft.com/office/drawing/2014/main" id="{31EE7EC0-3201-9F4C-BF7C-2A977C79757E}"/>
              </a:ext>
            </a:extLst>
          </p:cNvPr>
          <p:cNvCxnSpPr>
            <a:cxnSpLocks/>
            <a:stCxn id="13" idx="0"/>
            <a:endCxn id="9" idx="3"/>
          </p:cNvCxnSpPr>
          <p:nvPr/>
        </p:nvCxnSpPr>
        <p:spPr>
          <a:xfrm rot="16200000" flipV="1">
            <a:off x="4732524" y="2699001"/>
            <a:ext cx="783353" cy="1113028"/>
          </a:xfrm>
          <a:prstGeom prst="bentConnector2">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9A965197-C037-5344-948D-0BE4A06D00CC}"/>
              </a:ext>
            </a:extLst>
          </p:cNvPr>
          <p:cNvCxnSpPr>
            <a:stCxn id="9" idx="2"/>
            <a:endCxn id="8" idx="0"/>
          </p:cNvCxnSpPr>
          <p:nvPr/>
        </p:nvCxnSpPr>
        <p:spPr>
          <a:xfrm>
            <a:off x="3881886" y="3201882"/>
            <a:ext cx="0" cy="43055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CD920185-A2F8-394F-8796-320ED51FBF46}"/>
              </a:ext>
            </a:extLst>
          </p:cNvPr>
          <p:cNvSpPr txBox="1"/>
          <p:nvPr/>
        </p:nvSpPr>
        <p:spPr>
          <a:xfrm>
            <a:off x="6258046" y="4025057"/>
            <a:ext cx="547842" cy="350865"/>
          </a:xfrm>
          <a:prstGeom prst="rect">
            <a:avLst/>
          </a:prstGeom>
          <a:noFill/>
        </p:spPr>
        <p:txBody>
          <a:bodyPr wrap="none" lIns="118872" tIns="91440" rIns="118872" bIns="91440" rtlCol="0" anchor="ctr" anchorCtr="0">
            <a:spAutoFit/>
          </a:bodyPr>
          <a:lstStyle/>
          <a:p>
            <a:pPr algn="l">
              <a:lnSpc>
                <a:spcPct val="90000"/>
              </a:lnSpc>
            </a:pPr>
            <a:r>
              <a:rPr lang="en-US" sz="1200" dirty="0">
                <a:latin typeface="+mj-lt"/>
              </a:rPr>
              <a:t>YES</a:t>
            </a:r>
          </a:p>
        </p:txBody>
      </p:sp>
      <p:sp>
        <p:nvSpPr>
          <p:cNvPr id="41" name="TextBox 40">
            <a:extLst>
              <a:ext uri="{FF2B5EF4-FFF2-40B4-BE49-F238E27FC236}">
                <a16:creationId xmlns:a16="http://schemas.microsoft.com/office/drawing/2014/main" id="{CF4DFCD2-1382-F84C-9E2C-A16C34564670}"/>
              </a:ext>
            </a:extLst>
          </p:cNvPr>
          <p:cNvSpPr txBox="1"/>
          <p:nvPr/>
        </p:nvSpPr>
        <p:spPr>
          <a:xfrm>
            <a:off x="7485357" y="3303411"/>
            <a:ext cx="547842" cy="350865"/>
          </a:xfrm>
          <a:prstGeom prst="rect">
            <a:avLst/>
          </a:prstGeom>
          <a:noFill/>
        </p:spPr>
        <p:txBody>
          <a:bodyPr wrap="none" lIns="118872" tIns="91440" rIns="118872" bIns="91440" rtlCol="0" anchor="ctr" anchorCtr="0">
            <a:spAutoFit/>
          </a:bodyPr>
          <a:lstStyle/>
          <a:p>
            <a:pPr algn="l">
              <a:lnSpc>
                <a:spcPct val="90000"/>
              </a:lnSpc>
            </a:pPr>
            <a:r>
              <a:rPr lang="en-US" sz="1200" dirty="0">
                <a:latin typeface="+mj-lt"/>
              </a:rPr>
              <a:t>YES</a:t>
            </a:r>
          </a:p>
        </p:txBody>
      </p:sp>
      <p:sp>
        <p:nvSpPr>
          <p:cNvPr id="45" name="TextBox 44">
            <a:extLst>
              <a:ext uri="{FF2B5EF4-FFF2-40B4-BE49-F238E27FC236}">
                <a16:creationId xmlns:a16="http://schemas.microsoft.com/office/drawing/2014/main" id="{E93AD509-40DA-E84D-8CA3-156239135046}"/>
              </a:ext>
            </a:extLst>
          </p:cNvPr>
          <p:cNvSpPr txBox="1"/>
          <p:nvPr/>
        </p:nvSpPr>
        <p:spPr>
          <a:xfrm>
            <a:off x="7528808" y="4305367"/>
            <a:ext cx="470898" cy="350865"/>
          </a:xfrm>
          <a:prstGeom prst="rect">
            <a:avLst/>
          </a:prstGeom>
          <a:noFill/>
        </p:spPr>
        <p:txBody>
          <a:bodyPr wrap="none" lIns="118872" tIns="91440" rIns="118872" bIns="91440" rtlCol="0" anchor="ctr" anchorCtr="0">
            <a:spAutoFit/>
          </a:bodyPr>
          <a:lstStyle/>
          <a:p>
            <a:pPr algn="l">
              <a:lnSpc>
                <a:spcPct val="90000"/>
              </a:lnSpc>
            </a:pPr>
            <a:r>
              <a:rPr lang="en-US" sz="1200" dirty="0">
                <a:latin typeface="+mj-lt"/>
              </a:rPr>
              <a:t>NO</a:t>
            </a:r>
          </a:p>
        </p:txBody>
      </p:sp>
      <p:sp>
        <p:nvSpPr>
          <p:cNvPr id="46" name="TextBox 45">
            <a:extLst>
              <a:ext uri="{FF2B5EF4-FFF2-40B4-BE49-F238E27FC236}">
                <a16:creationId xmlns:a16="http://schemas.microsoft.com/office/drawing/2014/main" id="{52EAAFBD-D859-E246-9C51-B5B05D65A9BC}"/>
              </a:ext>
            </a:extLst>
          </p:cNvPr>
          <p:cNvSpPr txBox="1"/>
          <p:nvPr/>
        </p:nvSpPr>
        <p:spPr>
          <a:xfrm>
            <a:off x="5719869" y="3308408"/>
            <a:ext cx="470898" cy="350865"/>
          </a:xfrm>
          <a:prstGeom prst="rect">
            <a:avLst/>
          </a:prstGeom>
          <a:noFill/>
        </p:spPr>
        <p:txBody>
          <a:bodyPr wrap="none" lIns="118872" tIns="91440" rIns="118872" bIns="91440" rtlCol="0" anchor="ctr" anchorCtr="0">
            <a:spAutoFit/>
          </a:bodyPr>
          <a:lstStyle/>
          <a:p>
            <a:pPr algn="l">
              <a:lnSpc>
                <a:spcPct val="90000"/>
              </a:lnSpc>
            </a:pPr>
            <a:r>
              <a:rPr lang="en-US" sz="1200" dirty="0">
                <a:latin typeface="+mj-lt"/>
              </a:rPr>
              <a:t>NO</a:t>
            </a:r>
          </a:p>
        </p:txBody>
      </p:sp>
      <p:cxnSp>
        <p:nvCxnSpPr>
          <p:cNvPr id="44" name="Elbow Connector 43">
            <a:extLst>
              <a:ext uri="{FF2B5EF4-FFF2-40B4-BE49-F238E27FC236}">
                <a16:creationId xmlns:a16="http://schemas.microsoft.com/office/drawing/2014/main" id="{7FAB2AC6-7DA0-E741-A129-59695DBC13A3}"/>
              </a:ext>
            </a:extLst>
          </p:cNvPr>
          <p:cNvCxnSpPr>
            <a:stCxn id="12" idx="2"/>
            <a:endCxn id="10" idx="2"/>
          </p:cNvCxnSpPr>
          <p:nvPr/>
        </p:nvCxnSpPr>
        <p:spPr>
          <a:xfrm rot="5400000">
            <a:off x="4788753" y="1552687"/>
            <a:ext cx="1" cy="5511670"/>
          </a:xfrm>
          <a:prstGeom prst="bentConnector3">
            <a:avLst>
              <a:gd name="adj1" fmla="val 22860100000"/>
            </a:avLst>
          </a:prstGeom>
          <a:ln w="34925">
            <a:tailEnd type="triangle"/>
          </a:ln>
        </p:spPr>
        <p:style>
          <a:lnRef idx="1">
            <a:schemeClr val="accent1"/>
          </a:lnRef>
          <a:fillRef idx="0">
            <a:schemeClr val="accent1"/>
          </a:fillRef>
          <a:effectRef idx="0">
            <a:schemeClr val="accent1"/>
          </a:effectRef>
          <a:fontRef idx="minor">
            <a:schemeClr val="tx1"/>
          </a:fontRef>
        </p:style>
      </p:cxnSp>
      <p:sp>
        <p:nvSpPr>
          <p:cNvPr id="49" name="Title 48">
            <a:extLst>
              <a:ext uri="{FF2B5EF4-FFF2-40B4-BE49-F238E27FC236}">
                <a16:creationId xmlns:a16="http://schemas.microsoft.com/office/drawing/2014/main" id="{6AB9A130-9145-1146-AED7-9FA1F5FC4001}"/>
              </a:ext>
            </a:extLst>
          </p:cNvPr>
          <p:cNvSpPr>
            <a:spLocks noGrp="1"/>
          </p:cNvSpPr>
          <p:nvPr>
            <p:ph type="title"/>
          </p:nvPr>
        </p:nvSpPr>
        <p:spPr>
          <a:xfrm>
            <a:off x="269081" y="439134"/>
            <a:ext cx="11372473" cy="914400"/>
          </a:xfrm>
        </p:spPr>
        <p:txBody>
          <a:bodyPr/>
          <a:lstStyle/>
          <a:p>
            <a:r>
              <a:rPr lang="en-US" dirty="0"/>
              <a:t>An Example Workflow</a:t>
            </a:r>
          </a:p>
        </p:txBody>
      </p:sp>
    </p:spTree>
    <p:extLst>
      <p:ext uri="{BB962C8B-B14F-4D97-AF65-F5344CB8AC3E}">
        <p14:creationId xmlns:p14="http://schemas.microsoft.com/office/powerpoint/2010/main" val="1847003532"/>
      </p:ext>
    </p:extLst>
  </p:cSld>
  <p:clrMapOvr>
    <a:masterClrMapping/>
  </p:clrMapOvr>
  <mc:AlternateContent xmlns:mc="http://schemas.openxmlformats.org/markup-compatibility/2006" xmlns:p14="http://schemas.microsoft.com/office/powerpoint/2010/main">
    <mc:Choice Requires="p14">
      <p:transition spd="slow" p14:dur="2000" advTm="159994"/>
    </mc:Choice>
    <mc:Fallback xmlns="">
      <p:transition spd="slow" advTm="159994"/>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val 2">
            <a:extLst>
              <a:ext uri="{FF2B5EF4-FFF2-40B4-BE49-F238E27FC236}">
                <a16:creationId xmlns:a16="http://schemas.microsoft.com/office/drawing/2014/main" id="{690299EC-CCA2-6A44-A9C8-5B8C7D631B69}"/>
              </a:ext>
            </a:extLst>
          </p:cNvPr>
          <p:cNvSpPr/>
          <p:nvPr/>
        </p:nvSpPr>
        <p:spPr>
          <a:xfrm>
            <a:off x="1347118" y="2468188"/>
            <a:ext cx="1351722" cy="745435"/>
          </a:xfrm>
          <a:prstGeom prst="ellipse">
            <a:avLst/>
          </a:prstGeom>
          <a:solidFill>
            <a:schemeClr val="accent3"/>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START</a:t>
            </a:r>
          </a:p>
        </p:txBody>
      </p:sp>
      <p:sp>
        <p:nvSpPr>
          <p:cNvPr id="4" name="Rectangle 3">
            <a:extLst>
              <a:ext uri="{FF2B5EF4-FFF2-40B4-BE49-F238E27FC236}">
                <a16:creationId xmlns:a16="http://schemas.microsoft.com/office/drawing/2014/main" id="{73C94ABD-76B5-164E-804C-61A0F44E4F72}"/>
              </a:ext>
            </a:extLst>
          </p:cNvPr>
          <p:cNvSpPr/>
          <p:nvPr/>
        </p:nvSpPr>
        <p:spPr>
          <a:xfrm>
            <a:off x="6858788" y="2538788"/>
            <a:ext cx="1371600" cy="676089"/>
          </a:xfrm>
          <a:prstGeom prst="rect">
            <a:avLst/>
          </a:prstGeom>
          <a:solidFill>
            <a:schemeClr val="accent2"/>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INTEGRATION TEST</a:t>
            </a:r>
          </a:p>
        </p:txBody>
      </p:sp>
      <p:sp>
        <p:nvSpPr>
          <p:cNvPr id="8" name="Rectangle 7">
            <a:extLst>
              <a:ext uri="{FF2B5EF4-FFF2-40B4-BE49-F238E27FC236}">
                <a16:creationId xmlns:a16="http://schemas.microsoft.com/office/drawing/2014/main" id="{9573A2D9-24AD-6C40-8C42-F23592225510}"/>
              </a:ext>
            </a:extLst>
          </p:cNvPr>
          <p:cNvSpPr/>
          <p:nvPr/>
        </p:nvSpPr>
        <p:spPr>
          <a:xfrm>
            <a:off x="3196086" y="3632433"/>
            <a:ext cx="1371600" cy="676089"/>
          </a:xfrm>
          <a:prstGeom prst="rect">
            <a:avLst/>
          </a:prstGeom>
          <a:solidFill>
            <a:schemeClr val="accent2"/>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REGRESSION/UNIT TEST</a:t>
            </a:r>
          </a:p>
        </p:txBody>
      </p:sp>
      <p:sp>
        <p:nvSpPr>
          <p:cNvPr id="9" name="Rectangle 8">
            <a:extLst>
              <a:ext uri="{FF2B5EF4-FFF2-40B4-BE49-F238E27FC236}">
                <a16:creationId xmlns:a16="http://schemas.microsoft.com/office/drawing/2014/main" id="{CE2108CE-6C3A-8A49-96F1-373668921B6B}"/>
              </a:ext>
            </a:extLst>
          </p:cNvPr>
          <p:cNvSpPr/>
          <p:nvPr/>
        </p:nvSpPr>
        <p:spPr>
          <a:xfrm>
            <a:off x="3196086" y="2525793"/>
            <a:ext cx="1371600" cy="676089"/>
          </a:xfrm>
          <a:prstGeom prst="rect">
            <a:avLst/>
          </a:prstGeom>
          <a:solidFill>
            <a:schemeClr val="bg2">
              <a:lumMod val="85000"/>
            </a:schemeClr>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FIX</a:t>
            </a:r>
          </a:p>
        </p:txBody>
      </p:sp>
      <p:sp>
        <p:nvSpPr>
          <p:cNvPr id="10" name="Rectangle 9">
            <a:extLst>
              <a:ext uri="{FF2B5EF4-FFF2-40B4-BE49-F238E27FC236}">
                <a16:creationId xmlns:a16="http://schemas.microsoft.com/office/drawing/2014/main" id="{7E017335-9C7D-FD4A-97F1-06E8AC064FC0}"/>
              </a:ext>
            </a:extLst>
          </p:cNvPr>
          <p:cNvSpPr/>
          <p:nvPr/>
        </p:nvSpPr>
        <p:spPr>
          <a:xfrm>
            <a:off x="1347118" y="3632434"/>
            <a:ext cx="1371600" cy="676089"/>
          </a:xfrm>
          <a:prstGeom prst="rect">
            <a:avLst/>
          </a:prstGeom>
          <a:solidFill>
            <a:schemeClr val="bg2">
              <a:lumMod val="85000"/>
            </a:schemeClr>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REFACTOR</a:t>
            </a:r>
          </a:p>
        </p:txBody>
      </p:sp>
      <p:sp>
        <p:nvSpPr>
          <p:cNvPr id="5" name="Diamond 4">
            <a:extLst>
              <a:ext uri="{FF2B5EF4-FFF2-40B4-BE49-F238E27FC236}">
                <a16:creationId xmlns:a16="http://schemas.microsoft.com/office/drawing/2014/main" id="{61E16F02-70EF-E245-9409-FD346451B52B}"/>
              </a:ext>
            </a:extLst>
          </p:cNvPr>
          <p:cNvSpPr/>
          <p:nvPr/>
        </p:nvSpPr>
        <p:spPr>
          <a:xfrm>
            <a:off x="8833710" y="2555119"/>
            <a:ext cx="1501692" cy="646572"/>
          </a:xfrm>
          <a:prstGeom prst="diamond">
            <a:avLst/>
          </a:prstGeom>
          <a:solidFill>
            <a:schemeClr val="accent5">
              <a:lumMod val="40000"/>
              <a:lumOff val="60000"/>
            </a:schemeClr>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PASS</a:t>
            </a:r>
          </a:p>
        </p:txBody>
      </p:sp>
      <p:sp>
        <p:nvSpPr>
          <p:cNvPr id="12" name="Diamond 11">
            <a:extLst>
              <a:ext uri="{FF2B5EF4-FFF2-40B4-BE49-F238E27FC236}">
                <a16:creationId xmlns:a16="http://schemas.microsoft.com/office/drawing/2014/main" id="{E25C2767-74CC-C348-A13C-4B2194358763}"/>
              </a:ext>
            </a:extLst>
          </p:cNvPr>
          <p:cNvSpPr/>
          <p:nvPr/>
        </p:nvSpPr>
        <p:spPr>
          <a:xfrm>
            <a:off x="6793742" y="3661950"/>
            <a:ext cx="1501692" cy="646572"/>
          </a:xfrm>
          <a:prstGeom prst="diamond">
            <a:avLst/>
          </a:prstGeom>
          <a:solidFill>
            <a:schemeClr val="accent5">
              <a:lumMod val="40000"/>
              <a:lumOff val="60000"/>
            </a:schemeClr>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DONE</a:t>
            </a:r>
          </a:p>
        </p:txBody>
      </p:sp>
      <p:sp>
        <p:nvSpPr>
          <p:cNvPr id="13" name="Diamond 12">
            <a:extLst>
              <a:ext uri="{FF2B5EF4-FFF2-40B4-BE49-F238E27FC236}">
                <a16:creationId xmlns:a16="http://schemas.microsoft.com/office/drawing/2014/main" id="{B927D061-CC43-9C4B-AC50-F67CA02BD96C}"/>
              </a:ext>
            </a:extLst>
          </p:cNvPr>
          <p:cNvSpPr/>
          <p:nvPr/>
        </p:nvSpPr>
        <p:spPr>
          <a:xfrm>
            <a:off x="4929868" y="3647191"/>
            <a:ext cx="1501692" cy="646572"/>
          </a:xfrm>
          <a:prstGeom prst="diamond">
            <a:avLst/>
          </a:prstGeom>
          <a:solidFill>
            <a:schemeClr val="accent5">
              <a:lumMod val="40000"/>
              <a:lumOff val="60000"/>
            </a:schemeClr>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PASS</a:t>
            </a:r>
          </a:p>
        </p:txBody>
      </p:sp>
      <p:cxnSp>
        <p:nvCxnSpPr>
          <p:cNvPr id="14" name="Straight Arrow Connector 13">
            <a:extLst>
              <a:ext uri="{FF2B5EF4-FFF2-40B4-BE49-F238E27FC236}">
                <a16:creationId xmlns:a16="http://schemas.microsoft.com/office/drawing/2014/main" id="{58E23F11-4C9A-7A46-99FF-0AFAB9BB6850}"/>
              </a:ext>
            </a:extLst>
          </p:cNvPr>
          <p:cNvCxnSpPr>
            <a:cxnSpLocks/>
            <a:stCxn id="3" idx="4"/>
            <a:endCxn id="10" idx="0"/>
          </p:cNvCxnSpPr>
          <p:nvPr/>
        </p:nvCxnSpPr>
        <p:spPr>
          <a:xfrm>
            <a:off x="2022979" y="3213623"/>
            <a:ext cx="9939" cy="41881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A864282F-50DD-104D-BB62-A2C061551EA0}"/>
              </a:ext>
            </a:extLst>
          </p:cNvPr>
          <p:cNvCxnSpPr>
            <a:cxnSpLocks/>
            <a:stCxn id="10" idx="3"/>
            <a:endCxn id="8" idx="1"/>
          </p:cNvCxnSpPr>
          <p:nvPr/>
        </p:nvCxnSpPr>
        <p:spPr>
          <a:xfrm flipV="1">
            <a:off x="2718718" y="3970478"/>
            <a:ext cx="477368" cy="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F6B07EC7-B9A0-B542-B0F5-0D8FD9936DBE}"/>
              </a:ext>
            </a:extLst>
          </p:cNvPr>
          <p:cNvCxnSpPr>
            <a:cxnSpLocks/>
            <a:stCxn id="8" idx="3"/>
            <a:endCxn id="13" idx="1"/>
          </p:cNvCxnSpPr>
          <p:nvPr/>
        </p:nvCxnSpPr>
        <p:spPr>
          <a:xfrm flipV="1">
            <a:off x="4567686" y="3970477"/>
            <a:ext cx="362182" cy="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8EF17202-42AB-D349-9287-7D4B3ABE246B}"/>
              </a:ext>
            </a:extLst>
          </p:cNvPr>
          <p:cNvCxnSpPr>
            <a:cxnSpLocks/>
            <a:endCxn id="12" idx="1"/>
          </p:cNvCxnSpPr>
          <p:nvPr/>
        </p:nvCxnSpPr>
        <p:spPr>
          <a:xfrm>
            <a:off x="6431560" y="3985236"/>
            <a:ext cx="362182"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64D098AD-ADC5-0E48-93DB-5AD4FF5478B0}"/>
              </a:ext>
            </a:extLst>
          </p:cNvPr>
          <p:cNvCxnSpPr>
            <a:cxnSpLocks/>
            <a:stCxn id="12" idx="0"/>
            <a:endCxn id="4" idx="2"/>
          </p:cNvCxnSpPr>
          <p:nvPr/>
        </p:nvCxnSpPr>
        <p:spPr>
          <a:xfrm flipV="1">
            <a:off x="7544588" y="3214877"/>
            <a:ext cx="0" cy="447073"/>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66C6F285-74D6-2E49-B4E3-7036F6A1295D}"/>
              </a:ext>
            </a:extLst>
          </p:cNvPr>
          <p:cNvCxnSpPr>
            <a:cxnSpLocks/>
            <a:stCxn id="4" idx="3"/>
            <a:endCxn id="5" idx="1"/>
          </p:cNvCxnSpPr>
          <p:nvPr/>
        </p:nvCxnSpPr>
        <p:spPr>
          <a:xfrm>
            <a:off x="8230388" y="2876833"/>
            <a:ext cx="603322" cy="1572"/>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94DADAD6-9AC1-BD45-9260-F1BD0D198231}"/>
              </a:ext>
            </a:extLst>
          </p:cNvPr>
          <p:cNvCxnSpPr>
            <a:cxnSpLocks/>
            <a:stCxn id="5" idx="2"/>
          </p:cNvCxnSpPr>
          <p:nvPr/>
        </p:nvCxnSpPr>
        <p:spPr>
          <a:xfrm>
            <a:off x="9584556" y="3201691"/>
            <a:ext cx="2706" cy="436799"/>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8" name="Elbow Connector 27">
            <a:extLst>
              <a:ext uri="{FF2B5EF4-FFF2-40B4-BE49-F238E27FC236}">
                <a16:creationId xmlns:a16="http://schemas.microsoft.com/office/drawing/2014/main" id="{31EE7EC0-3201-9F4C-BF7C-2A977C79757E}"/>
              </a:ext>
            </a:extLst>
          </p:cNvPr>
          <p:cNvCxnSpPr>
            <a:cxnSpLocks/>
            <a:stCxn id="13" idx="0"/>
            <a:endCxn id="9" idx="3"/>
          </p:cNvCxnSpPr>
          <p:nvPr/>
        </p:nvCxnSpPr>
        <p:spPr>
          <a:xfrm rot="16200000" flipV="1">
            <a:off x="4732524" y="2699001"/>
            <a:ext cx="783353" cy="1113028"/>
          </a:xfrm>
          <a:prstGeom prst="bentConnector2">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30" name="Elbow Connector 29">
            <a:extLst>
              <a:ext uri="{FF2B5EF4-FFF2-40B4-BE49-F238E27FC236}">
                <a16:creationId xmlns:a16="http://schemas.microsoft.com/office/drawing/2014/main" id="{02581965-0743-CC47-A581-E6F09B1FA5F5}"/>
              </a:ext>
            </a:extLst>
          </p:cNvPr>
          <p:cNvCxnSpPr>
            <a:cxnSpLocks/>
            <a:stCxn id="5" idx="0"/>
            <a:endCxn id="9" idx="0"/>
          </p:cNvCxnSpPr>
          <p:nvPr/>
        </p:nvCxnSpPr>
        <p:spPr>
          <a:xfrm rot="16200000" flipV="1">
            <a:off x="6718558" y="-310879"/>
            <a:ext cx="29326" cy="5702670"/>
          </a:xfrm>
          <a:prstGeom prst="bentConnector3">
            <a:avLst>
              <a:gd name="adj1" fmla="val 879513"/>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9A965197-C037-5344-948D-0BE4A06D00CC}"/>
              </a:ext>
            </a:extLst>
          </p:cNvPr>
          <p:cNvCxnSpPr>
            <a:stCxn id="9" idx="2"/>
            <a:endCxn id="8" idx="0"/>
          </p:cNvCxnSpPr>
          <p:nvPr/>
        </p:nvCxnSpPr>
        <p:spPr>
          <a:xfrm>
            <a:off x="3881886" y="3201882"/>
            <a:ext cx="0" cy="43055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CD920185-A2F8-394F-8796-320ED51FBF46}"/>
              </a:ext>
            </a:extLst>
          </p:cNvPr>
          <p:cNvSpPr txBox="1"/>
          <p:nvPr/>
        </p:nvSpPr>
        <p:spPr>
          <a:xfrm>
            <a:off x="6258046" y="4025057"/>
            <a:ext cx="547842" cy="350865"/>
          </a:xfrm>
          <a:prstGeom prst="rect">
            <a:avLst/>
          </a:prstGeom>
          <a:noFill/>
        </p:spPr>
        <p:txBody>
          <a:bodyPr wrap="none" lIns="118872" tIns="91440" rIns="118872" bIns="91440" rtlCol="0" anchor="ctr" anchorCtr="0">
            <a:spAutoFit/>
          </a:bodyPr>
          <a:lstStyle/>
          <a:p>
            <a:pPr algn="l">
              <a:lnSpc>
                <a:spcPct val="90000"/>
              </a:lnSpc>
            </a:pPr>
            <a:r>
              <a:rPr lang="en-US" sz="1200" dirty="0">
                <a:latin typeface="+mj-lt"/>
              </a:rPr>
              <a:t>YES</a:t>
            </a:r>
          </a:p>
        </p:txBody>
      </p:sp>
      <p:sp>
        <p:nvSpPr>
          <p:cNvPr id="41" name="TextBox 40">
            <a:extLst>
              <a:ext uri="{FF2B5EF4-FFF2-40B4-BE49-F238E27FC236}">
                <a16:creationId xmlns:a16="http://schemas.microsoft.com/office/drawing/2014/main" id="{CF4DFCD2-1382-F84C-9E2C-A16C34564670}"/>
              </a:ext>
            </a:extLst>
          </p:cNvPr>
          <p:cNvSpPr txBox="1"/>
          <p:nvPr/>
        </p:nvSpPr>
        <p:spPr>
          <a:xfrm>
            <a:off x="7485357" y="3303411"/>
            <a:ext cx="547842" cy="350865"/>
          </a:xfrm>
          <a:prstGeom prst="rect">
            <a:avLst/>
          </a:prstGeom>
          <a:noFill/>
        </p:spPr>
        <p:txBody>
          <a:bodyPr wrap="none" lIns="118872" tIns="91440" rIns="118872" bIns="91440" rtlCol="0" anchor="ctr" anchorCtr="0">
            <a:spAutoFit/>
          </a:bodyPr>
          <a:lstStyle/>
          <a:p>
            <a:pPr algn="l">
              <a:lnSpc>
                <a:spcPct val="90000"/>
              </a:lnSpc>
            </a:pPr>
            <a:r>
              <a:rPr lang="en-US" sz="1200" dirty="0">
                <a:latin typeface="+mj-lt"/>
              </a:rPr>
              <a:t>YES</a:t>
            </a:r>
          </a:p>
        </p:txBody>
      </p:sp>
      <p:sp>
        <p:nvSpPr>
          <p:cNvPr id="43" name="TextBox 42">
            <a:extLst>
              <a:ext uri="{FF2B5EF4-FFF2-40B4-BE49-F238E27FC236}">
                <a16:creationId xmlns:a16="http://schemas.microsoft.com/office/drawing/2014/main" id="{7D8F6285-E2BE-724E-8A73-DF71CAE16A81}"/>
              </a:ext>
            </a:extLst>
          </p:cNvPr>
          <p:cNvSpPr txBox="1"/>
          <p:nvPr/>
        </p:nvSpPr>
        <p:spPr>
          <a:xfrm>
            <a:off x="9554664" y="3227473"/>
            <a:ext cx="547842" cy="350865"/>
          </a:xfrm>
          <a:prstGeom prst="rect">
            <a:avLst/>
          </a:prstGeom>
          <a:noFill/>
        </p:spPr>
        <p:txBody>
          <a:bodyPr wrap="none" lIns="118872" tIns="91440" rIns="118872" bIns="91440" rtlCol="0" anchor="ctr" anchorCtr="0">
            <a:spAutoFit/>
          </a:bodyPr>
          <a:lstStyle/>
          <a:p>
            <a:pPr algn="l">
              <a:lnSpc>
                <a:spcPct val="90000"/>
              </a:lnSpc>
            </a:pPr>
            <a:r>
              <a:rPr lang="en-US" sz="1200" dirty="0">
                <a:latin typeface="+mj-lt"/>
              </a:rPr>
              <a:t>YES</a:t>
            </a:r>
          </a:p>
        </p:txBody>
      </p:sp>
      <p:sp>
        <p:nvSpPr>
          <p:cNvPr id="45" name="TextBox 44">
            <a:extLst>
              <a:ext uri="{FF2B5EF4-FFF2-40B4-BE49-F238E27FC236}">
                <a16:creationId xmlns:a16="http://schemas.microsoft.com/office/drawing/2014/main" id="{E93AD509-40DA-E84D-8CA3-156239135046}"/>
              </a:ext>
            </a:extLst>
          </p:cNvPr>
          <p:cNvSpPr txBox="1"/>
          <p:nvPr/>
        </p:nvSpPr>
        <p:spPr>
          <a:xfrm>
            <a:off x="7528808" y="4305367"/>
            <a:ext cx="470898" cy="350865"/>
          </a:xfrm>
          <a:prstGeom prst="rect">
            <a:avLst/>
          </a:prstGeom>
          <a:noFill/>
        </p:spPr>
        <p:txBody>
          <a:bodyPr wrap="none" lIns="118872" tIns="91440" rIns="118872" bIns="91440" rtlCol="0" anchor="ctr" anchorCtr="0">
            <a:spAutoFit/>
          </a:bodyPr>
          <a:lstStyle/>
          <a:p>
            <a:pPr algn="l">
              <a:lnSpc>
                <a:spcPct val="90000"/>
              </a:lnSpc>
            </a:pPr>
            <a:r>
              <a:rPr lang="en-US" sz="1200" dirty="0">
                <a:latin typeface="+mj-lt"/>
              </a:rPr>
              <a:t>NO</a:t>
            </a:r>
          </a:p>
        </p:txBody>
      </p:sp>
      <p:sp>
        <p:nvSpPr>
          <p:cNvPr id="46" name="TextBox 45">
            <a:extLst>
              <a:ext uri="{FF2B5EF4-FFF2-40B4-BE49-F238E27FC236}">
                <a16:creationId xmlns:a16="http://schemas.microsoft.com/office/drawing/2014/main" id="{52EAAFBD-D859-E246-9C51-B5B05D65A9BC}"/>
              </a:ext>
            </a:extLst>
          </p:cNvPr>
          <p:cNvSpPr txBox="1"/>
          <p:nvPr/>
        </p:nvSpPr>
        <p:spPr>
          <a:xfrm>
            <a:off x="5719869" y="3308408"/>
            <a:ext cx="470898" cy="350865"/>
          </a:xfrm>
          <a:prstGeom prst="rect">
            <a:avLst/>
          </a:prstGeom>
          <a:noFill/>
        </p:spPr>
        <p:txBody>
          <a:bodyPr wrap="none" lIns="118872" tIns="91440" rIns="118872" bIns="91440" rtlCol="0" anchor="ctr" anchorCtr="0">
            <a:spAutoFit/>
          </a:bodyPr>
          <a:lstStyle/>
          <a:p>
            <a:pPr algn="l">
              <a:lnSpc>
                <a:spcPct val="90000"/>
              </a:lnSpc>
            </a:pPr>
            <a:r>
              <a:rPr lang="en-US" sz="1200" dirty="0">
                <a:latin typeface="+mj-lt"/>
              </a:rPr>
              <a:t>NO</a:t>
            </a:r>
          </a:p>
        </p:txBody>
      </p:sp>
      <p:sp>
        <p:nvSpPr>
          <p:cNvPr id="47" name="TextBox 46">
            <a:extLst>
              <a:ext uri="{FF2B5EF4-FFF2-40B4-BE49-F238E27FC236}">
                <a16:creationId xmlns:a16="http://schemas.microsoft.com/office/drawing/2014/main" id="{D72AEF35-9557-A64D-86F9-245E5D296A62}"/>
              </a:ext>
            </a:extLst>
          </p:cNvPr>
          <p:cNvSpPr txBox="1"/>
          <p:nvPr/>
        </p:nvSpPr>
        <p:spPr>
          <a:xfrm>
            <a:off x="9535059" y="2280823"/>
            <a:ext cx="470898" cy="350865"/>
          </a:xfrm>
          <a:prstGeom prst="rect">
            <a:avLst/>
          </a:prstGeom>
          <a:noFill/>
        </p:spPr>
        <p:txBody>
          <a:bodyPr wrap="none" lIns="118872" tIns="91440" rIns="118872" bIns="91440" rtlCol="0" anchor="ctr" anchorCtr="0">
            <a:spAutoFit/>
          </a:bodyPr>
          <a:lstStyle/>
          <a:p>
            <a:pPr algn="l">
              <a:lnSpc>
                <a:spcPct val="90000"/>
              </a:lnSpc>
            </a:pPr>
            <a:r>
              <a:rPr lang="en-US" sz="1200" dirty="0">
                <a:latin typeface="+mj-lt"/>
              </a:rPr>
              <a:t>NO</a:t>
            </a:r>
          </a:p>
        </p:txBody>
      </p:sp>
      <p:cxnSp>
        <p:nvCxnSpPr>
          <p:cNvPr id="44" name="Elbow Connector 43">
            <a:extLst>
              <a:ext uri="{FF2B5EF4-FFF2-40B4-BE49-F238E27FC236}">
                <a16:creationId xmlns:a16="http://schemas.microsoft.com/office/drawing/2014/main" id="{7FAB2AC6-7DA0-E741-A129-59695DBC13A3}"/>
              </a:ext>
            </a:extLst>
          </p:cNvPr>
          <p:cNvCxnSpPr>
            <a:stCxn id="12" idx="2"/>
            <a:endCxn id="10" idx="2"/>
          </p:cNvCxnSpPr>
          <p:nvPr/>
        </p:nvCxnSpPr>
        <p:spPr>
          <a:xfrm rot="5400000">
            <a:off x="4788753" y="1552687"/>
            <a:ext cx="1" cy="5511670"/>
          </a:xfrm>
          <a:prstGeom prst="bentConnector3">
            <a:avLst>
              <a:gd name="adj1" fmla="val 22860100000"/>
            </a:avLst>
          </a:prstGeom>
          <a:ln w="34925">
            <a:tailEnd type="triangle"/>
          </a:ln>
        </p:spPr>
        <p:style>
          <a:lnRef idx="1">
            <a:schemeClr val="accent1"/>
          </a:lnRef>
          <a:fillRef idx="0">
            <a:schemeClr val="accent1"/>
          </a:fillRef>
          <a:effectRef idx="0">
            <a:schemeClr val="accent1"/>
          </a:effectRef>
          <a:fontRef idx="minor">
            <a:schemeClr val="tx1"/>
          </a:fontRef>
        </p:style>
      </p:cxnSp>
      <p:sp>
        <p:nvSpPr>
          <p:cNvPr id="49" name="Title 48">
            <a:extLst>
              <a:ext uri="{FF2B5EF4-FFF2-40B4-BE49-F238E27FC236}">
                <a16:creationId xmlns:a16="http://schemas.microsoft.com/office/drawing/2014/main" id="{6AB9A130-9145-1146-AED7-9FA1F5FC4001}"/>
              </a:ext>
            </a:extLst>
          </p:cNvPr>
          <p:cNvSpPr>
            <a:spLocks noGrp="1"/>
          </p:cNvSpPr>
          <p:nvPr>
            <p:ph type="title"/>
          </p:nvPr>
        </p:nvSpPr>
        <p:spPr>
          <a:xfrm>
            <a:off x="269081" y="439134"/>
            <a:ext cx="11372473" cy="914400"/>
          </a:xfrm>
        </p:spPr>
        <p:txBody>
          <a:bodyPr/>
          <a:lstStyle/>
          <a:p>
            <a:r>
              <a:rPr lang="en-US" dirty="0"/>
              <a:t>An Example Workflow</a:t>
            </a:r>
          </a:p>
        </p:txBody>
      </p:sp>
    </p:spTree>
    <p:extLst>
      <p:ext uri="{BB962C8B-B14F-4D97-AF65-F5344CB8AC3E}">
        <p14:creationId xmlns:p14="http://schemas.microsoft.com/office/powerpoint/2010/main" val="1844700947"/>
      </p:ext>
    </p:extLst>
  </p:cSld>
  <p:clrMapOvr>
    <a:masterClrMapping/>
  </p:clrMapOvr>
  <mc:AlternateContent xmlns:mc="http://schemas.openxmlformats.org/markup-compatibility/2006" xmlns:p14="http://schemas.microsoft.com/office/powerpoint/2010/main">
    <mc:Choice Requires="p14">
      <p:transition spd="slow" p14:dur="2000" advTm="159994"/>
    </mc:Choice>
    <mc:Fallback xmlns="">
      <p:transition spd="slow" advTm="159994"/>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val 2">
            <a:extLst>
              <a:ext uri="{FF2B5EF4-FFF2-40B4-BE49-F238E27FC236}">
                <a16:creationId xmlns:a16="http://schemas.microsoft.com/office/drawing/2014/main" id="{690299EC-CCA2-6A44-A9C8-5B8C7D631B69}"/>
              </a:ext>
            </a:extLst>
          </p:cNvPr>
          <p:cNvSpPr/>
          <p:nvPr/>
        </p:nvSpPr>
        <p:spPr>
          <a:xfrm>
            <a:off x="1347118" y="2468188"/>
            <a:ext cx="1351722" cy="745435"/>
          </a:xfrm>
          <a:prstGeom prst="ellipse">
            <a:avLst/>
          </a:prstGeom>
          <a:solidFill>
            <a:schemeClr val="accent3"/>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START</a:t>
            </a:r>
          </a:p>
        </p:txBody>
      </p:sp>
      <p:sp>
        <p:nvSpPr>
          <p:cNvPr id="6" name="Oval 5">
            <a:extLst>
              <a:ext uri="{FF2B5EF4-FFF2-40B4-BE49-F238E27FC236}">
                <a16:creationId xmlns:a16="http://schemas.microsoft.com/office/drawing/2014/main" id="{3CC2B641-3BBD-3747-B143-E1FD0EBB301D}"/>
              </a:ext>
            </a:extLst>
          </p:cNvPr>
          <p:cNvSpPr/>
          <p:nvPr/>
        </p:nvSpPr>
        <p:spPr>
          <a:xfrm>
            <a:off x="8868939" y="3638490"/>
            <a:ext cx="1436646" cy="745435"/>
          </a:xfrm>
          <a:prstGeom prst="ellipse">
            <a:avLst/>
          </a:prstGeom>
          <a:solidFill>
            <a:schemeClr val="accent3"/>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SUCCESS</a:t>
            </a:r>
          </a:p>
        </p:txBody>
      </p:sp>
      <p:sp>
        <p:nvSpPr>
          <p:cNvPr id="4" name="Rectangle 3">
            <a:extLst>
              <a:ext uri="{FF2B5EF4-FFF2-40B4-BE49-F238E27FC236}">
                <a16:creationId xmlns:a16="http://schemas.microsoft.com/office/drawing/2014/main" id="{73C94ABD-76B5-164E-804C-61A0F44E4F72}"/>
              </a:ext>
            </a:extLst>
          </p:cNvPr>
          <p:cNvSpPr/>
          <p:nvPr/>
        </p:nvSpPr>
        <p:spPr>
          <a:xfrm>
            <a:off x="6858788" y="2538788"/>
            <a:ext cx="1371600" cy="676089"/>
          </a:xfrm>
          <a:prstGeom prst="rect">
            <a:avLst/>
          </a:prstGeom>
          <a:solidFill>
            <a:schemeClr val="accent2"/>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INTEGRATION TEST</a:t>
            </a:r>
          </a:p>
        </p:txBody>
      </p:sp>
      <p:sp>
        <p:nvSpPr>
          <p:cNvPr id="8" name="Rectangle 7">
            <a:extLst>
              <a:ext uri="{FF2B5EF4-FFF2-40B4-BE49-F238E27FC236}">
                <a16:creationId xmlns:a16="http://schemas.microsoft.com/office/drawing/2014/main" id="{9573A2D9-24AD-6C40-8C42-F23592225510}"/>
              </a:ext>
            </a:extLst>
          </p:cNvPr>
          <p:cNvSpPr/>
          <p:nvPr/>
        </p:nvSpPr>
        <p:spPr>
          <a:xfrm>
            <a:off x="3196086" y="3632433"/>
            <a:ext cx="1371600" cy="676089"/>
          </a:xfrm>
          <a:prstGeom prst="rect">
            <a:avLst/>
          </a:prstGeom>
          <a:solidFill>
            <a:schemeClr val="accent2"/>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REGRESSION/UNIT TEST</a:t>
            </a:r>
          </a:p>
        </p:txBody>
      </p:sp>
      <p:sp>
        <p:nvSpPr>
          <p:cNvPr id="9" name="Rectangle 8">
            <a:extLst>
              <a:ext uri="{FF2B5EF4-FFF2-40B4-BE49-F238E27FC236}">
                <a16:creationId xmlns:a16="http://schemas.microsoft.com/office/drawing/2014/main" id="{CE2108CE-6C3A-8A49-96F1-373668921B6B}"/>
              </a:ext>
            </a:extLst>
          </p:cNvPr>
          <p:cNvSpPr/>
          <p:nvPr/>
        </p:nvSpPr>
        <p:spPr>
          <a:xfrm>
            <a:off x="3196086" y="2525793"/>
            <a:ext cx="1371600" cy="676089"/>
          </a:xfrm>
          <a:prstGeom prst="rect">
            <a:avLst/>
          </a:prstGeom>
          <a:solidFill>
            <a:schemeClr val="bg2">
              <a:lumMod val="85000"/>
            </a:schemeClr>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FIX</a:t>
            </a:r>
          </a:p>
        </p:txBody>
      </p:sp>
      <p:sp>
        <p:nvSpPr>
          <p:cNvPr id="10" name="Rectangle 9">
            <a:extLst>
              <a:ext uri="{FF2B5EF4-FFF2-40B4-BE49-F238E27FC236}">
                <a16:creationId xmlns:a16="http://schemas.microsoft.com/office/drawing/2014/main" id="{7E017335-9C7D-FD4A-97F1-06E8AC064FC0}"/>
              </a:ext>
            </a:extLst>
          </p:cNvPr>
          <p:cNvSpPr/>
          <p:nvPr/>
        </p:nvSpPr>
        <p:spPr>
          <a:xfrm>
            <a:off x="1347118" y="3632434"/>
            <a:ext cx="1371600" cy="676089"/>
          </a:xfrm>
          <a:prstGeom prst="rect">
            <a:avLst/>
          </a:prstGeom>
          <a:solidFill>
            <a:schemeClr val="bg2">
              <a:lumMod val="85000"/>
            </a:schemeClr>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REFACTOR</a:t>
            </a:r>
          </a:p>
        </p:txBody>
      </p:sp>
      <p:sp>
        <p:nvSpPr>
          <p:cNvPr id="5" name="Diamond 4">
            <a:extLst>
              <a:ext uri="{FF2B5EF4-FFF2-40B4-BE49-F238E27FC236}">
                <a16:creationId xmlns:a16="http://schemas.microsoft.com/office/drawing/2014/main" id="{61E16F02-70EF-E245-9409-FD346451B52B}"/>
              </a:ext>
            </a:extLst>
          </p:cNvPr>
          <p:cNvSpPr/>
          <p:nvPr/>
        </p:nvSpPr>
        <p:spPr>
          <a:xfrm>
            <a:off x="8833710" y="2555119"/>
            <a:ext cx="1501692" cy="646572"/>
          </a:xfrm>
          <a:prstGeom prst="diamond">
            <a:avLst/>
          </a:prstGeom>
          <a:solidFill>
            <a:schemeClr val="accent5">
              <a:lumMod val="40000"/>
              <a:lumOff val="60000"/>
            </a:schemeClr>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PASS</a:t>
            </a:r>
          </a:p>
        </p:txBody>
      </p:sp>
      <p:sp>
        <p:nvSpPr>
          <p:cNvPr id="12" name="Diamond 11">
            <a:extLst>
              <a:ext uri="{FF2B5EF4-FFF2-40B4-BE49-F238E27FC236}">
                <a16:creationId xmlns:a16="http://schemas.microsoft.com/office/drawing/2014/main" id="{E25C2767-74CC-C348-A13C-4B2194358763}"/>
              </a:ext>
            </a:extLst>
          </p:cNvPr>
          <p:cNvSpPr/>
          <p:nvPr/>
        </p:nvSpPr>
        <p:spPr>
          <a:xfrm>
            <a:off x="6793742" y="3661950"/>
            <a:ext cx="1501692" cy="646572"/>
          </a:xfrm>
          <a:prstGeom prst="diamond">
            <a:avLst/>
          </a:prstGeom>
          <a:solidFill>
            <a:schemeClr val="accent5">
              <a:lumMod val="40000"/>
              <a:lumOff val="60000"/>
            </a:schemeClr>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DONE</a:t>
            </a:r>
          </a:p>
        </p:txBody>
      </p:sp>
      <p:sp>
        <p:nvSpPr>
          <p:cNvPr id="13" name="Diamond 12">
            <a:extLst>
              <a:ext uri="{FF2B5EF4-FFF2-40B4-BE49-F238E27FC236}">
                <a16:creationId xmlns:a16="http://schemas.microsoft.com/office/drawing/2014/main" id="{B927D061-CC43-9C4B-AC50-F67CA02BD96C}"/>
              </a:ext>
            </a:extLst>
          </p:cNvPr>
          <p:cNvSpPr/>
          <p:nvPr/>
        </p:nvSpPr>
        <p:spPr>
          <a:xfrm>
            <a:off x="4929868" y="3647191"/>
            <a:ext cx="1501692" cy="646572"/>
          </a:xfrm>
          <a:prstGeom prst="diamond">
            <a:avLst/>
          </a:prstGeom>
          <a:solidFill>
            <a:schemeClr val="accent5">
              <a:lumMod val="40000"/>
              <a:lumOff val="60000"/>
            </a:schemeClr>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PASS</a:t>
            </a:r>
          </a:p>
        </p:txBody>
      </p:sp>
      <p:cxnSp>
        <p:nvCxnSpPr>
          <p:cNvPr id="14" name="Straight Arrow Connector 13">
            <a:extLst>
              <a:ext uri="{FF2B5EF4-FFF2-40B4-BE49-F238E27FC236}">
                <a16:creationId xmlns:a16="http://schemas.microsoft.com/office/drawing/2014/main" id="{58E23F11-4C9A-7A46-99FF-0AFAB9BB6850}"/>
              </a:ext>
            </a:extLst>
          </p:cNvPr>
          <p:cNvCxnSpPr>
            <a:cxnSpLocks/>
            <a:stCxn id="3" idx="4"/>
            <a:endCxn id="10" idx="0"/>
          </p:cNvCxnSpPr>
          <p:nvPr/>
        </p:nvCxnSpPr>
        <p:spPr>
          <a:xfrm>
            <a:off x="2022979" y="3213623"/>
            <a:ext cx="9939" cy="41881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A864282F-50DD-104D-BB62-A2C061551EA0}"/>
              </a:ext>
            </a:extLst>
          </p:cNvPr>
          <p:cNvCxnSpPr>
            <a:cxnSpLocks/>
            <a:stCxn id="10" idx="3"/>
            <a:endCxn id="8" idx="1"/>
          </p:cNvCxnSpPr>
          <p:nvPr/>
        </p:nvCxnSpPr>
        <p:spPr>
          <a:xfrm flipV="1">
            <a:off x="2718718" y="3970478"/>
            <a:ext cx="477368" cy="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F6B07EC7-B9A0-B542-B0F5-0D8FD9936DBE}"/>
              </a:ext>
            </a:extLst>
          </p:cNvPr>
          <p:cNvCxnSpPr>
            <a:cxnSpLocks/>
            <a:stCxn id="8" idx="3"/>
            <a:endCxn id="13" idx="1"/>
          </p:cNvCxnSpPr>
          <p:nvPr/>
        </p:nvCxnSpPr>
        <p:spPr>
          <a:xfrm flipV="1">
            <a:off x="4567686" y="3970477"/>
            <a:ext cx="362182" cy="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8EF17202-42AB-D349-9287-7D4B3ABE246B}"/>
              </a:ext>
            </a:extLst>
          </p:cNvPr>
          <p:cNvCxnSpPr>
            <a:cxnSpLocks/>
            <a:endCxn id="12" idx="1"/>
          </p:cNvCxnSpPr>
          <p:nvPr/>
        </p:nvCxnSpPr>
        <p:spPr>
          <a:xfrm>
            <a:off x="6431560" y="3985236"/>
            <a:ext cx="362182"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64D098AD-ADC5-0E48-93DB-5AD4FF5478B0}"/>
              </a:ext>
            </a:extLst>
          </p:cNvPr>
          <p:cNvCxnSpPr>
            <a:cxnSpLocks/>
            <a:stCxn id="12" idx="0"/>
            <a:endCxn id="4" idx="2"/>
          </p:cNvCxnSpPr>
          <p:nvPr/>
        </p:nvCxnSpPr>
        <p:spPr>
          <a:xfrm flipV="1">
            <a:off x="7544588" y="3214877"/>
            <a:ext cx="0" cy="447073"/>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66C6F285-74D6-2E49-B4E3-7036F6A1295D}"/>
              </a:ext>
            </a:extLst>
          </p:cNvPr>
          <p:cNvCxnSpPr>
            <a:cxnSpLocks/>
            <a:stCxn id="4" idx="3"/>
            <a:endCxn id="5" idx="1"/>
          </p:cNvCxnSpPr>
          <p:nvPr/>
        </p:nvCxnSpPr>
        <p:spPr>
          <a:xfrm>
            <a:off x="8230388" y="2876833"/>
            <a:ext cx="603322" cy="1572"/>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94DADAD6-9AC1-BD45-9260-F1BD0D198231}"/>
              </a:ext>
            </a:extLst>
          </p:cNvPr>
          <p:cNvCxnSpPr>
            <a:cxnSpLocks/>
            <a:stCxn id="5" idx="2"/>
            <a:endCxn id="6" idx="0"/>
          </p:cNvCxnSpPr>
          <p:nvPr/>
        </p:nvCxnSpPr>
        <p:spPr>
          <a:xfrm>
            <a:off x="9584556" y="3201691"/>
            <a:ext cx="2706" cy="436799"/>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8" name="Elbow Connector 27">
            <a:extLst>
              <a:ext uri="{FF2B5EF4-FFF2-40B4-BE49-F238E27FC236}">
                <a16:creationId xmlns:a16="http://schemas.microsoft.com/office/drawing/2014/main" id="{31EE7EC0-3201-9F4C-BF7C-2A977C79757E}"/>
              </a:ext>
            </a:extLst>
          </p:cNvPr>
          <p:cNvCxnSpPr>
            <a:cxnSpLocks/>
            <a:stCxn id="13" idx="0"/>
            <a:endCxn id="9" idx="3"/>
          </p:cNvCxnSpPr>
          <p:nvPr/>
        </p:nvCxnSpPr>
        <p:spPr>
          <a:xfrm rot="16200000" flipV="1">
            <a:off x="4732524" y="2699001"/>
            <a:ext cx="783353" cy="1113028"/>
          </a:xfrm>
          <a:prstGeom prst="bentConnector2">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30" name="Elbow Connector 29">
            <a:extLst>
              <a:ext uri="{FF2B5EF4-FFF2-40B4-BE49-F238E27FC236}">
                <a16:creationId xmlns:a16="http://schemas.microsoft.com/office/drawing/2014/main" id="{02581965-0743-CC47-A581-E6F09B1FA5F5}"/>
              </a:ext>
            </a:extLst>
          </p:cNvPr>
          <p:cNvCxnSpPr>
            <a:cxnSpLocks/>
            <a:stCxn id="5" idx="0"/>
            <a:endCxn id="9" idx="0"/>
          </p:cNvCxnSpPr>
          <p:nvPr/>
        </p:nvCxnSpPr>
        <p:spPr>
          <a:xfrm rot="16200000" flipV="1">
            <a:off x="6718558" y="-310879"/>
            <a:ext cx="29326" cy="5702670"/>
          </a:xfrm>
          <a:prstGeom prst="bentConnector3">
            <a:avLst>
              <a:gd name="adj1" fmla="val 879513"/>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9A965197-C037-5344-948D-0BE4A06D00CC}"/>
              </a:ext>
            </a:extLst>
          </p:cNvPr>
          <p:cNvCxnSpPr>
            <a:stCxn id="9" idx="2"/>
            <a:endCxn id="8" idx="0"/>
          </p:cNvCxnSpPr>
          <p:nvPr/>
        </p:nvCxnSpPr>
        <p:spPr>
          <a:xfrm>
            <a:off x="3881886" y="3201882"/>
            <a:ext cx="0" cy="43055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CD920185-A2F8-394F-8796-320ED51FBF46}"/>
              </a:ext>
            </a:extLst>
          </p:cNvPr>
          <p:cNvSpPr txBox="1"/>
          <p:nvPr/>
        </p:nvSpPr>
        <p:spPr>
          <a:xfrm>
            <a:off x="6258046" y="4025057"/>
            <a:ext cx="547842" cy="350865"/>
          </a:xfrm>
          <a:prstGeom prst="rect">
            <a:avLst/>
          </a:prstGeom>
          <a:noFill/>
        </p:spPr>
        <p:txBody>
          <a:bodyPr wrap="none" lIns="118872" tIns="91440" rIns="118872" bIns="91440" rtlCol="0" anchor="ctr" anchorCtr="0">
            <a:spAutoFit/>
          </a:bodyPr>
          <a:lstStyle/>
          <a:p>
            <a:pPr algn="l">
              <a:lnSpc>
                <a:spcPct val="90000"/>
              </a:lnSpc>
            </a:pPr>
            <a:r>
              <a:rPr lang="en-US" sz="1200" dirty="0">
                <a:latin typeface="+mj-lt"/>
              </a:rPr>
              <a:t>YES</a:t>
            </a:r>
          </a:p>
        </p:txBody>
      </p:sp>
      <p:sp>
        <p:nvSpPr>
          <p:cNvPr id="41" name="TextBox 40">
            <a:extLst>
              <a:ext uri="{FF2B5EF4-FFF2-40B4-BE49-F238E27FC236}">
                <a16:creationId xmlns:a16="http://schemas.microsoft.com/office/drawing/2014/main" id="{CF4DFCD2-1382-F84C-9E2C-A16C34564670}"/>
              </a:ext>
            </a:extLst>
          </p:cNvPr>
          <p:cNvSpPr txBox="1"/>
          <p:nvPr/>
        </p:nvSpPr>
        <p:spPr>
          <a:xfrm>
            <a:off x="7485357" y="3303411"/>
            <a:ext cx="547842" cy="350865"/>
          </a:xfrm>
          <a:prstGeom prst="rect">
            <a:avLst/>
          </a:prstGeom>
          <a:noFill/>
        </p:spPr>
        <p:txBody>
          <a:bodyPr wrap="none" lIns="118872" tIns="91440" rIns="118872" bIns="91440" rtlCol="0" anchor="ctr" anchorCtr="0">
            <a:spAutoFit/>
          </a:bodyPr>
          <a:lstStyle/>
          <a:p>
            <a:pPr algn="l">
              <a:lnSpc>
                <a:spcPct val="90000"/>
              </a:lnSpc>
            </a:pPr>
            <a:r>
              <a:rPr lang="en-US" sz="1200" dirty="0">
                <a:latin typeface="+mj-lt"/>
              </a:rPr>
              <a:t>YES</a:t>
            </a:r>
          </a:p>
        </p:txBody>
      </p:sp>
      <p:sp>
        <p:nvSpPr>
          <p:cNvPr id="43" name="TextBox 42">
            <a:extLst>
              <a:ext uri="{FF2B5EF4-FFF2-40B4-BE49-F238E27FC236}">
                <a16:creationId xmlns:a16="http://schemas.microsoft.com/office/drawing/2014/main" id="{7D8F6285-E2BE-724E-8A73-DF71CAE16A81}"/>
              </a:ext>
            </a:extLst>
          </p:cNvPr>
          <p:cNvSpPr txBox="1"/>
          <p:nvPr/>
        </p:nvSpPr>
        <p:spPr>
          <a:xfrm>
            <a:off x="9554664" y="3227473"/>
            <a:ext cx="547842" cy="350865"/>
          </a:xfrm>
          <a:prstGeom prst="rect">
            <a:avLst/>
          </a:prstGeom>
          <a:noFill/>
        </p:spPr>
        <p:txBody>
          <a:bodyPr wrap="none" lIns="118872" tIns="91440" rIns="118872" bIns="91440" rtlCol="0" anchor="ctr" anchorCtr="0">
            <a:spAutoFit/>
          </a:bodyPr>
          <a:lstStyle/>
          <a:p>
            <a:pPr algn="l">
              <a:lnSpc>
                <a:spcPct val="90000"/>
              </a:lnSpc>
            </a:pPr>
            <a:r>
              <a:rPr lang="en-US" sz="1200" dirty="0">
                <a:latin typeface="+mj-lt"/>
              </a:rPr>
              <a:t>YES</a:t>
            </a:r>
          </a:p>
        </p:txBody>
      </p:sp>
      <p:sp>
        <p:nvSpPr>
          <p:cNvPr id="45" name="TextBox 44">
            <a:extLst>
              <a:ext uri="{FF2B5EF4-FFF2-40B4-BE49-F238E27FC236}">
                <a16:creationId xmlns:a16="http://schemas.microsoft.com/office/drawing/2014/main" id="{E93AD509-40DA-E84D-8CA3-156239135046}"/>
              </a:ext>
            </a:extLst>
          </p:cNvPr>
          <p:cNvSpPr txBox="1"/>
          <p:nvPr/>
        </p:nvSpPr>
        <p:spPr>
          <a:xfrm>
            <a:off x="7528808" y="4305367"/>
            <a:ext cx="470898" cy="350865"/>
          </a:xfrm>
          <a:prstGeom prst="rect">
            <a:avLst/>
          </a:prstGeom>
          <a:noFill/>
        </p:spPr>
        <p:txBody>
          <a:bodyPr wrap="none" lIns="118872" tIns="91440" rIns="118872" bIns="91440" rtlCol="0" anchor="ctr" anchorCtr="0">
            <a:spAutoFit/>
          </a:bodyPr>
          <a:lstStyle/>
          <a:p>
            <a:pPr algn="l">
              <a:lnSpc>
                <a:spcPct val="90000"/>
              </a:lnSpc>
            </a:pPr>
            <a:r>
              <a:rPr lang="en-US" sz="1200" dirty="0">
                <a:latin typeface="+mj-lt"/>
              </a:rPr>
              <a:t>NO</a:t>
            </a:r>
          </a:p>
        </p:txBody>
      </p:sp>
      <p:sp>
        <p:nvSpPr>
          <p:cNvPr id="46" name="TextBox 45">
            <a:extLst>
              <a:ext uri="{FF2B5EF4-FFF2-40B4-BE49-F238E27FC236}">
                <a16:creationId xmlns:a16="http://schemas.microsoft.com/office/drawing/2014/main" id="{52EAAFBD-D859-E246-9C51-B5B05D65A9BC}"/>
              </a:ext>
            </a:extLst>
          </p:cNvPr>
          <p:cNvSpPr txBox="1"/>
          <p:nvPr/>
        </p:nvSpPr>
        <p:spPr>
          <a:xfrm>
            <a:off x="5719869" y="3308408"/>
            <a:ext cx="470898" cy="350865"/>
          </a:xfrm>
          <a:prstGeom prst="rect">
            <a:avLst/>
          </a:prstGeom>
          <a:noFill/>
        </p:spPr>
        <p:txBody>
          <a:bodyPr wrap="none" lIns="118872" tIns="91440" rIns="118872" bIns="91440" rtlCol="0" anchor="ctr" anchorCtr="0">
            <a:spAutoFit/>
          </a:bodyPr>
          <a:lstStyle/>
          <a:p>
            <a:pPr algn="l">
              <a:lnSpc>
                <a:spcPct val="90000"/>
              </a:lnSpc>
            </a:pPr>
            <a:r>
              <a:rPr lang="en-US" sz="1200" dirty="0">
                <a:latin typeface="+mj-lt"/>
              </a:rPr>
              <a:t>NO</a:t>
            </a:r>
          </a:p>
        </p:txBody>
      </p:sp>
      <p:sp>
        <p:nvSpPr>
          <p:cNvPr id="47" name="TextBox 46">
            <a:extLst>
              <a:ext uri="{FF2B5EF4-FFF2-40B4-BE49-F238E27FC236}">
                <a16:creationId xmlns:a16="http://schemas.microsoft.com/office/drawing/2014/main" id="{D72AEF35-9557-A64D-86F9-245E5D296A62}"/>
              </a:ext>
            </a:extLst>
          </p:cNvPr>
          <p:cNvSpPr txBox="1"/>
          <p:nvPr/>
        </p:nvSpPr>
        <p:spPr>
          <a:xfrm>
            <a:off x="9535059" y="2280823"/>
            <a:ext cx="470898" cy="350865"/>
          </a:xfrm>
          <a:prstGeom prst="rect">
            <a:avLst/>
          </a:prstGeom>
          <a:noFill/>
        </p:spPr>
        <p:txBody>
          <a:bodyPr wrap="none" lIns="118872" tIns="91440" rIns="118872" bIns="91440" rtlCol="0" anchor="ctr" anchorCtr="0">
            <a:spAutoFit/>
          </a:bodyPr>
          <a:lstStyle/>
          <a:p>
            <a:pPr algn="l">
              <a:lnSpc>
                <a:spcPct val="90000"/>
              </a:lnSpc>
            </a:pPr>
            <a:r>
              <a:rPr lang="en-US" sz="1200" dirty="0">
                <a:latin typeface="+mj-lt"/>
              </a:rPr>
              <a:t>NO</a:t>
            </a:r>
          </a:p>
        </p:txBody>
      </p:sp>
      <p:cxnSp>
        <p:nvCxnSpPr>
          <p:cNvPr id="44" name="Elbow Connector 43">
            <a:extLst>
              <a:ext uri="{FF2B5EF4-FFF2-40B4-BE49-F238E27FC236}">
                <a16:creationId xmlns:a16="http://schemas.microsoft.com/office/drawing/2014/main" id="{7FAB2AC6-7DA0-E741-A129-59695DBC13A3}"/>
              </a:ext>
            </a:extLst>
          </p:cNvPr>
          <p:cNvCxnSpPr>
            <a:stCxn id="12" idx="2"/>
            <a:endCxn id="10" idx="2"/>
          </p:cNvCxnSpPr>
          <p:nvPr/>
        </p:nvCxnSpPr>
        <p:spPr>
          <a:xfrm rot="5400000">
            <a:off x="4788753" y="1552687"/>
            <a:ext cx="1" cy="5511670"/>
          </a:xfrm>
          <a:prstGeom prst="bentConnector3">
            <a:avLst>
              <a:gd name="adj1" fmla="val 22860100000"/>
            </a:avLst>
          </a:prstGeom>
          <a:ln w="34925">
            <a:tailEnd type="triangle"/>
          </a:ln>
        </p:spPr>
        <p:style>
          <a:lnRef idx="1">
            <a:schemeClr val="accent1"/>
          </a:lnRef>
          <a:fillRef idx="0">
            <a:schemeClr val="accent1"/>
          </a:fillRef>
          <a:effectRef idx="0">
            <a:schemeClr val="accent1"/>
          </a:effectRef>
          <a:fontRef idx="minor">
            <a:schemeClr val="tx1"/>
          </a:fontRef>
        </p:style>
      </p:cxnSp>
      <p:sp>
        <p:nvSpPr>
          <p:cNvPr id="49" name="Title 48">
            <a:extLst>
              <a:ext uri="{FF2B5EF4-FFF2-40B4-BE49-F238E27FC236}">
                <a16:creationId xmlns:a16="http://schemas.microsoft.com/office/drawing/2014/main" id="{6AB9A130-9145-1146-AED7-9FA1F5FC4001}"/>
              </a:ext>
            </a:extLst>
          </p:cNvPr>
          <p:cNvSpPr>
            <a:spLocks noGrp="1"/>
          </p:cNvSpPr>
          <p:nvPr>
            <p:ph type="title"/>
          </p:nvPr>
        </p:nvSpPr>
        <p:spPr>
          <a:xfrm>
            <a:off x="269081" y="439134"/>
            <a:ext cx="11372473" cy="914400"/>
          </a:xfrm>
        </p:spPr>
        <p:txBody>
          <a:bodyPr/>
          <a:lstStyle/>
          <a:p>
            <a:r>
              <a:rPr lang="en-US" dirty="0"/>
              <a:t>An Example Workflow</a:t>
            </a:r>
          </a:p>
        </p:txBody>
      </p:sp>
    </p:spTree>
    <p:extLst>
      <p:ext uri="{BB962C8B-B14F-4D97-AF65-F5344CB8AC3E}">
        <p14:creationId xmlns:p14="http://schemas.microsoft.com/office/powerpoint/2010/main" val="4291553796"/>
      </p:ext>
    </p:extLst>
  </p:cSld>
  <p:clrMapOvr>
    <a:masterClrMapping/>
  </p:clrMapOvr>
  <mc:AlternateContent xmlns:mc="http://schemas.openxmlformats.org/markup-compatibility/2006" xmlns:p14="http://schemas.microsoft.com/office/powerpoint/2010/main">
    <mc:Choice Requires="p14">
      <p:transition spd="slow" p14:dur="2000" advTm="159994"/>
    </mc:Choice>
    <mc:Fallback xmlns="">
      <p:transition spd="slow" advTm="159994"/>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751C3202-86CA-8A4F-9676-1D487D0263F1}"/>
              </a:ext>
            </a:extLst>
          </p:cNvPr>
          <p:cNvSpPr>
            <a:spLocks noGrp="1"/>
          </p:cNvSpPr>
          <p:nvPr>
            <p:ph type="title"/>
          </p:nvPr>
        </p:nvSpPr>
        <p:spPr>
          <a:xfrm>
            <a:off x="365760" y="411480"/>
            <a:ext cx="11376442" cy="510909"/>
          </a:xfrm>
        </p:spPr>
        <p:txBody>
          <a:bodyPr/>
          <a:lstStyle/>
          <a:p>
            <a:r>
              <a:rPr lang="en-US" dirty="0"/>
              <a:t>Look at the Running Example</a:t>
            </a:r>
          </a:p>
        </p:txBody>
      </p:sp>
      <p:sp>
        <p:nvSpPr>
          <p:cNvPr id="5" name="Content Placeholder 2">
            <a:extLst>
              <a:ext uri="{FF2B5EF4-FFF2-40B4-BE49-F238E27FC236}">
                <a16:creationId xmlns:a16="http://schemas.microsoft.com/office/drawing/2014/main" id="{A171101B-6E48-1348-B025-173671AB4A36}"/>
              </a:ext>
            </a:extLst>
          </p:cNvPr>
          <p:cNvSpPr txBox="1">
            <a:spLocks/>
          </p:cNvSpPr>
          <p:nvPr/>
        </p:nvSpPr>
        <p:spPr bwMode="auto">
          <a:xfrm>
            <a:off x="6949440" y="1006836"/>
            <a:ext cx="4415246" cy="5153934"/>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rmAutofit/>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baseline="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dirty="0"/>
              <a:t>We created a code that moves particles in a prescribed fashion and only handles periodic boundaries</a:t>
            </a:r>
          </a:p>
          <a:p>
            <a:pPr marL="342900" indent="-342900"/>
            <a:r>
              <a:rPr lang="en-US" dirty="0"/>
              <a:t>If we want to use other methods, we need to break that out into a function</a:t>
            </a:r>
          </a:p>
          <a:p>
            <a:pPr marL="342900" indent="-342900"/>
            <a:r>
              <a:rPr lang="en-US" dirty="0"/>
              <a:t>If we want to also handle outflow boundary condition, we need to allow for particles getting lost</a:t>
            </a:r>
          </a:p>
          <a:p>
            <a:pPr marL="0" indent="0">
              <a:buNone/>
            </a:pPr>
            <a:endParaRPr lang="en-US" dirty="0"/>
          </a:p>
        </p:txBody>
      </p:sp>
      <p:pic>
        <p:nvPicPr>
          <p:cNvPr id="2" name="Picture 1">
            <a:extLst>
              <a:ext uri="{FF2B5EF4-FFF2-40B4-BE49-F238E27FC236}">
                <a16:creationId xmlns:a16="http://schemas.microsoft.com/office/drawing/2014/main" id="{2FF625E1-46A9-A8D6-166B-605DF63373C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65760" y="1006836"/>
            <a:ext cx="6422975" cy="5636714"/>
          </a:xfrm>
          <a:prstGeom prst="rect">
            <a:avLst/>
          </a:prstGeom>
        </p:spPr>
      </p:pic>
    </p:spTree>
    <p:extLst>
      <p:ext uri="{BB962C8B-B14F-4D97-AF65-F5344CB8AC3E}">
        <p14:creationId xmlns:p14="http://schemas.microsoft.com/office/powerpoint/2010/main" val="296936230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Considerations for Refactoring</a:t>
            </a:r>
          </a:p>
        </p:txBody>
      </p:sp>
      <p:sp>
        <p:nvSpPr>
          <p:cNvPr id="16" name="Content Placeholder 2">
            <a:extLst>
              <a:ext uri="{FF2B5EF4-FFF2-40B4-BE49-F238E27FC236}">
                <a16:creationId xmlns:a16="http://schemas.microsoft.com/office/drawing/2014/main" id="{FFC7FCAD-8E94-314F-B0F0-99AD91CFCBE4}"/>
              </a:ext>
            </a:extLst>
          </p:cNvPr>
          <p:cNvSpPr txBox="1">
            <a:spLocks/>
          </p:cNvSpPr>
          <p:nvPr/>
        </p:nvSpPr>
        <p:spPr bwMode="auto">
          <a:xfrm>
            <a:off x="365760" y="1027954"/>
            <a:ext cx="5905658" cy="5241053"/>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rmAutofit/>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baseline="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t>Know why you are refactoring</a:t>
            </a:r>
          </a:p>
          <a:p>
            <a:pPr lvl="1"/>
            <a:r>
              <a:rPr lang="en-US" dirty="0"/>
              <a:t>Is it necessary?</a:t>
            </a:r>
          </a:p>
          <a:p>
            <a:pPr lvl="1"/>
            <a:r>
              <a:rPr lang="en-US" dirty="0"/>
              <a:t>Where should the code be after refactoring.</a:t>
            </a:r>
          </a:p>
          <a:p>
            <a:r>
              <a:rPr lang="en-US" dirty="0"/>
              <a:t>Here we have two reasons</a:t>
            </a:r>
          </a:p>
          <a:p>
            <a:pPr lvl="1"/>
            <a:r>
              <a:rPr lang="en-US" dirty="0"/>
              <a:t>One is enhancing flexibility</a:t>
            </a:r>
          </a:p>
          <a:p>
            <a:pPr lvl="1"/>
            <a:r>
              <a:rPr lang="en-US" dirty="0"/>
              <a:t>The other is adding capability</a:t>
            </a:r>
          </a:p>
          <a:p>
            <a:r>
              <a:rPr lang="en-US" dirty="0"/>
              <a:t>Know your cost estimates</a:t>
            </a:r>
          </a:p>
          <a:p>
            <a:r>
              <a:rPr lang="en-US" dirty="0"/>
              <a:t>Know your bounds</a:t>
            </a:r>
          </a:p>
          <a:p>
            <a:pPr lvl="1"/>
            <a:r>
              <a:rPr lang="en-US" dirty="0"/>
              <a:t>on acceptable behavior change</a:t>
            </a:r>
          </a:p>
          <a:p>
            <a:pPr lvl="1"/>
            <a:r>
              <a:rPr lang="en-US" dirty="0"/>
              <a:t>error bounds</a:t>
            </a:r>
          </a:p>
          <a:p>
            <a:pPr lvl="2"/>
            <a:r>
              <a:rPr lang="en-US" dirty="0"/>
              <a:t>bitwise reproduction of results unlikely after transition </a:t>
            </a:r>
          </a:p>
          <a:p>
            <a:endParaRPr lang="en-US" dirty="0"/>
          </a:p>
          <a:p>
            <a:endParaRPr lang="en-US" dirty="0"/>
          </a:p>
        </p:txBody>
      </p:sp>
      <p:sp>
        <p:nvSpPr>
          <p:cNvPr id="5" name="Content Placeholder 2">
            <a:extLst>
              <a:ext uri="{FF2B5EF4-FFF2-40B4-BE49-F238E27FC236}">
                <a16:creationId xmlns:a16="http://schemas.microsoft.com/office/drawing/2014/main" id="{F0225219-7EC1-12AC-4F1E-67B8209B977D}"/>
              </a:ext>
            </a:extLst>
          </p:cNvPr>
          <p:cNvSpPr txBox="1">
            <a:spLocks/>
          </p:cNvSpPr>
          <p:nvPr/>
        </p:nvSpPr>
        <p:spPr bwMode="auto">
          <a:xfrm>
            <a:off x="6453525" y="1118527"/>
            <a:ext cx="5106570" cy="4690271"/>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rmAutofit lnSpcReduction="10000"/>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baseline="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t>Verification</a:t>
            </a:r>
          </a:p>
          <a:p>
            <a:pPr lvl="1"/>
            <a:r>
              <a:rPr lang="en-US" dirty="0"/>
              <a:t>Check for coverage provided by existing tests</a:t>
            </a:r>
          </a:p>
          <a:p>
            <a:pPr lvl="1"/>
            <a:r>
              <a:rPr lang="en-US" dirty="0"/>
              <a:t>Develop new tests where there are gaps</a:t>
            </a:r>
          </a:p>
          <a:p>
            <a:pPr lvl="1"/>
            <a:r>
              <a:rPr lang="en-US" dirty="0"/>
              <a:t>Here we need two new tests. </a:t>
            </a:r>
          </a:p>
          <a:p>
            <a:pPr lvl="2"/>
            <a:r>
              <a:rPr lang="en-US" dirty="0"/>
              <a:t>One to ensure that behavior does not change when we put the method for moving particles into a new function</a:t>
            </a:r>
          </a:p>
          <a:p>
            <a:pPr lvl="2"/>
            <a:r>
              <a:rPr lang="en-US" dirty="0"/>
              <a:t>Another one to ensure that boundary conditions are applied correctly</a:t>
            </a:r>
          </a:p>
          <a:p>
            <a:pPr lvl="1"/>
            <a:r>
              <a:rPr lang="en-US" dirty="0"/>
              <a:t>Make sure tests exist at different granularities</a:t>
            </a:r>
          </a:p>
          <a:p>
            <a:pPr lvl="2"/>
            <a:r>
              <a:rPr lang="en-US" dirty="0"/>
              <a:t>There should be demanding integration and system level tests</a:t>
            </a:r>
          </a:p>
        </p:txBody>
      </p:sp>
    </p:spTree>
    <p:extLst>
      <p:ext uri="{BB962C8B-B14F-4D97-AF65-F5344CB8AC3E}">
        <p14:creationId xmlns:p14="http://schemas.microsoft.com/office/powerpoint/2010/main" val="252072032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Considerations for Refactoring</a:t>
            </a:r>
          </a:p>
        </p:txBody>
      </p:sp>
      <p:sp>
        <p:nvSpPr>
          <p:cNvPr id="16" name="Content Placeholder 2">
            <a:extLst>
              <a:ext uri="{FF2B5EF4-FFF2-40B4-BE49-F238E27FC236}">
                <a16:creationId xmlns:a16="http://schemas.microsoft.com/office/drawing/2014/main" id="{FFC7FCAD-8E94-314F-B0F0-99AD91CFCBE4}"/>
              </a:ext>
            </a:extLst>
          </p:cNvPr>
          <p:cNvSpPr txBox="1">
            <a:spLocks/>
          </p:cNvSpPr>
          <p:nvPr/>
        </p:nvSpPr>
        <p:spPr bwMode="auto">
          <a:xfrm>
            <a:off x="365760" y="1027954"/>
            <a:ext cx="5905658" cy="5241053"/>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rmAutofit/>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baseline="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t>Know why you are refactoring</a:t>
            </a:r>
          </a:p>
          <a:p>
            <a:pPr lvl="1"/>
            <a:r>
              <a:rPr lang="en-US" dirty="0"/>
              <a:t>Is it necessary?</a:t>
            </a:r>
          </a:p>
          <a:p>
            <a:pPr lvl="1"/>
            <a:r>
              <a:rPr lang="en-US" dirty="0"/>
              <a:t>Where should the code be after refactoring.</a:t>
            </a:r>
          </a:p>
          <a:p>
            <a:r>
              <a:rPr lang="en-US" dirty="0"/>
              <a:t>Here we have two reasons</a:t>
            </a:r>
          </a:p>
          <a:p>
            <a:pPr lvl="1"/>
            <a:r>
              <a:rPr lang="en-US" dirty="0"/>
              <a:t>One is enhancing flexibility</a:t>
            </a:r>
          </a:p>
          <a:p>
            <a:pPr lvl="1"/>
            <a:r>
              <a:rPr lang="en-US" dirty="0"/>
              <a:t>The other is adding capability</a:t>
            </a:r>
          </a:p>
          <a:p>
            <a:r>
              <a:rPr lang="en-US" dirty="0"/>
              <a:t>Know your cost estimates</a:t>
            </a:r>
          </a:p>
          <a:p>
            <a:r>
              <a:rPr lang="en-US" dirty="0"/>
              <a:t>Know your bounds</a:t>
            </a:r>
          </a:p>
          <a:p>
            <a:pPr lvl="1"/>
            <a:r>
              <a:rPr lang="en-US" dirty="0"/>
              <a:t>on acceptable behavior change</a:t>
            </a:r>
          </a:p>
          <a:p>
            <a:pPr lvl="1"/>
            <a:r>
              <a:rPr lang="en-US" dirty="0"/>
              <a:t>error bounds</a:t>
            </a:r>
          </a:p>
          <a:p>
            <a:pPr lvl="2"/>
            <a:r>
              <a:rPr lang="en-US" dirty="0"/>
              <a:t>bitwise reproduction of results unlikely after transition </a:t>
            </a:r>
          </a:p>
          <a:p>
            <a:endParaRPr lang="en-US" dirty="0"/>
          </a:p>
          <a:p>
            <a:endParaRPr lang="en-US" dirty="0"/>
          </a:p>
        </p:txBody>
      </p:sp>
      <p:sp>
        <p:nvSpPr>
          <p:cNvPr id="5" name="Content Placeholder 2">
            <a:extLst>
              <a:ext uri="{FF2B5EF4-FFF2-40B4-BE49-F238E27FC236}">
                <a16:creationId xmlns:a16="http://schemas.microsoft.com/office/drawing/2014/main" id="{F0225219-7EC1-12AC-4F1E-67B8209B977D}"/>
              </a:ext>
            </a:extLst>
          </p:cNvPr>
          <p:cNvSpPr txBox="1">
            <a:spLocks/>
          </p:cNvSpPr>
          <p:nvPr/>
        </p:nvSpPr>
        <p:spPr bwMode="auto">
          <a:xfrm>
            <a:off x="6453525" y="1118527"/>
            <a:ext cx="5106570" cy="4690271"/>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rmAutofit lnSpcReduction="10000"/>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baseline="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t>Verification</a:t>
            </a:r>
          </a:p>
          <a:p>
            <a:pPr lvl="1"/>
            <a:r>
              <a:rPr lang="en-US" dirty="0"/>
              <a:t>Check for coverage provided by existing tests</a:t>
            </a:r>
          </a:p>
          <a:p>
            <a:pPr lvl="1"/>
            <a:r>
              <a:rPr lang="en-US" dirty="0"/>
              <a:t>Develop new tests where there are gaps</a:t>
            </a:r>
          </a:p>
          <a:p>
            <a:pPr lvl="1"/>
            <a:r>
              <a:rPr lang="en-US" dirty="0"/>
              <a:t>Here we need two new tests. </a:t>
            </a:r>
          </a:p>
          <a:p>
            <a:pPr lvl="2"/>
            <a:r>
              <a:rPr lang="en-US" dirty="0"/>
              <a:t>One to ensure that behavior does not change when we put the method for moving particles into a new function</a:t>
            </a:r>
          </a:p>
          <a:p>
            <a:pPr lvl="2"/>
            <a:r>
              <a:rPr lang="en-US" dirty="0"/>
              <a:t>Another one to ensure that boundary conditions are applied correctly</a:t>
            </a:r>
          </a:p>
          <a:p>
            <a:pPr lvl="1"/>
            <a:r>
              <a:rPr lang="en-US" dirty="0"/>
              <a:t>Make sure tests exist at different granularities</a:t>
            </a:r>
          </a:p>
          <a:p>
            <a:pPr lvl="2"/>
            <a:r>
              <a:rPr lang="en-US" dirty="0"/>
              <a:t>There should be demanding integration and system level tests</a:t>
            </a:r>
          </a:p>
        </p:txBody>
      </p:sp>
      <p:sp>
        <p:nvSpPr>
          <p:cNvPr id="8" name="Content Placeholder 2">
            <a:extLst>
              <a:ext uri="{FF2B5EF4-FFF2-40B4-BE49-F238E27FC236}">
                <a16:creationId xmlns:a16="http://schemas.microsoft.com/office/drawing/2014/main" id="{A1DA427C-A026-392E-0256-4EE6BD32F460}"/>
              </a:ext>
            </a:extLst>
          </p:cNvPr>
          <p:cNvSpPr txBox="1">
            <a:spLocks/>
          </p:cNvSpPr>
          <p:nvPr/>
        </p:nvSpPr>
        <p:spPr bwMode="auto">
          <a:xfrm>
            <a:off x="6453525" y="5602311"/>
            <a:ext cx="4907835" cy="1120141"/>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rmAutofit lnSpcReduction="10000"/>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baseline="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346075" lvl="1" indent="0">
              <a:buNone/>
            </a:pPr>
            <a:endParaRPr lang="en-US" dirty="0"/>
          </a:p>
          <a:p>
            <a:pPr marL="0" indent="0" algn="ctr">
              <a:buFont typeface="Arial" charset="0"/>
              <a:buNone/>
            </a:pPr>
            <a:r>
              <a:rPr lang="en-US" dirty="0">
                <a:solidFill>
                  <a:srgbClr val="00B050"/>
                </a:solidFill>
              </a:rPr>
              <a:t>Incorporate verification overheads into refactoring cost estimates</a:t>
            </a:r>
          </a:p>
        </p:txBody>
      </p:sp>
    </p:spTree>
    <p:extLst>
      <p:ext uri="{BB962C8B-B14F-4D97-AF65-F5344CB8AC3E}">
        <p14:creationId xmlns:p14="http://schemas.microsoft.com/office/powerpoint/2010/main" val="1030485234"/>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Considerations for Refactoring</a:t>
            </a:r>
          </a:p>
        </p:txBody>
      </p:sp>
      <p:sp>
        <p:nvSpPr>
          <p:cNvPr id="16" name="Content Placeholder 2">
            <a:extLst>
              <a:ext uri="{FF2B5EF4-FFF2-40B4-BE49-F238E27FC236}">
                <a16:creationId xmlns:a16="http://schemas.microsoft.com/office/drawing/2014/main" id="{FFC7FCAD-8E94-314F-B0F0-99AD91CFCBE4}"/>
              </a:ext>
            </a:extLst>
          </p:cNvPr>
          <p:cNvSpPr txBox="1">
            <a:spLocks/>
          </p:cNvSpPr>
          <p:nvPr/>
        </p:nvSpPr>
        <p:spPr bwMode="auto">
          <a:xfrm>
            <a:off x="365760" y="1027954"/>
            <a:ext cx="5905658" cy="5241053"/>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rmAutofit/>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baseline="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t>Know why you are refactoring</a:t>
            </a:r>
          </a:p>
          <a:p>
            <a:pPr lvl="1"/>
            <a:r>
              <a:rPr lang="en-US" dirty="0"/>
              <a:t>Is it necessary?</a:t>
            </a:r>
          </a:p>
          <a:p>
            <a:pPr lvl="1"/>
            <a:r>
              <a:rPr lang="en-US" dirty="0"/>
              <a:t>Where should the code be after refactoring.</a:t>
            </a:r>
          </a:p>
          <a:p>
            <a:r>
              <a:rPr lang="en-US" dirty="0"/>
              <a:t>Here we have two reasons</a:t>
            </a:r>
          </a:p>
          <a:p>
            <a:pPr lvl="1"/>
            <a:r>
              <a:rPr lang="en-US" dirty="0"/>
              <a:t>One is enhancing flexibility</a:t>
            </a:r>
          </a:p>
          <a:p>
            <a:pPr lvl="1"/>
            <a:r>
              <a:rPr lang="en-US" dirty="0"/>
              <a:t>The other is adding capability</a:t>
            </a:r>
          </a:p>
          <a:p>
            <a:r>
              <a:rPr lang="en-US" dirty="0"/>
              <a:t>Know your cost estimates</a:t>
            </a:r>
          </a:p>
          <a:p>
            <a:r>
              <a:rPr lang="en-US" dirty="0"/>
              <a:t>Know your bounds</a:t>
            </a:r>
          </a:p>
          <a:p>
            <a:pPr lvl="1"/>
            <a:r>
              <a:rPr lang="en-US" dirty="0"/>
              <a:t>on acceptable behavior change</a:t>
            </a:r>
          </a:p>
          <a:p>
            <a:pPr lvl="1"/>
            <a:r>
              <a:rPr lang="en-US" dirty="0"/>
              <a:t>error bounds</a:t>
            </a:r>
          </a:p>
          <a:p>
            <a:pPr lvl="2"/>
            <a:r>
              <a:rPr lang="en-US" dirty="0"/>
              <a:t>bitwise reproduction of results unlikely after transition </a:t>
            </a:r>
          </a:p>
          <a:p>
            <a:endParaRPr lang="en-US" dirty="0"/>
          </a:p>
          <a:p>
            <a:endParaRPr lang="en-US" dirty="0"/>
          </a:p>
        </p:txBody>
      </p:sp>
      <p:sp>
        <p:nvSpPr>
          <p:cNvPr id="5" name="Content Placeholder 2">
            <a:extLst>
              <a:ext uri="{FF2B5EF4-FFF2-40B4-BE49-F238E27FC236}">
                <a16:creationId xmlns:a16="http://schemas.microsoft.com/office/drawing/2014/main" id="{F0225219-7EC1-12AC-4F1E-67B8209B977D}"/>
              </a:ext>
            </a:extLst>
          </p:cNvPr>
          <p:cNvSpPr txBox="1">
            <a:spLocks/>
          </p:cNvSpPr>
          <p:nvPr/>
        </p:nvSpPr>
        <p:spPr bwMode="auto">
          <a:xfrm>
            <a:off x="6453525" y="1118527"/>
            <a:ext cx="5106570" cy="4690271"/>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rmAutofit lnSpcReduction="10000"/>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baseline="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t>Verification</a:t>
            </a:r>
          </a:p>
          <a:p>
            <a:pPr lvl="1"/>
            <a:r>
              <a:rPr lang="en-US" dirty="0"/>
              <a:t>Check for coverage provided by existing tests</a:t>
            </a:r>
          </a:p>
          <a:p>
            <a:pPr lvl="1"/>
            <a:r>
              <a:rPr lang="en-US" dirty="0"/>
              <a:t>Develop new tests where there are gaps</a:t>
            </a:r>
          </a:p>
          <a:p>
            <a:pPr lvl="1"/>
            <a:r>
              <a:rPr lang="en-US" dirty="0"/>
              <a:t>Here we need two new tests. </a:t>
            </a:r>
          </a:p>
          <a:p>
            <a:pPr lvl="2"/>
            <a:r>
              <a:rPr lang="en-US" dirty="0"/>
              <a:t>One to ensure that behavior does not change when we put the method for moving particles into a new function</a:t>
            </a:r>
          </a:p>
          <a:p>
            <a:pPr lvl="2"/>
            <a:r>
              <a:rPr lang="en-US" dirty="0"/>
              <a:t>Another one to ensure that boundary conditions are applied correctly</a:t>
            </a:r>
          </a:p>
          <a:p>
            <a:pPr lvl="1"/>
            <a:r>
              <a:rPr lang="en-US" dirty="0"/>
              <a:t>Make sure tests exist at different granularities</a:t>
            </a:r>
          </a:p>
          <a:p>
            <a:pPr lvl="2"/>
            <a:r>
              <a:rPr lang="en-US" dirty="0"/>
              <a:t>There should be demanding integration and system level tests</a:t>
            </a:r>
          </a:p>
        </p:txBody>
      </p:sp>
      <p:sp>
        <p:nvSpPr>
          <p:cNvPr id="8" name="Content Placeholder 2">
            <a:extLst>
              <a:ext uri="{FF2B5EF4-FFF2-40B4-BE49-F238E27FC236}">
                <a16:creationId xmlns:a16="http://schemas.microsoft.com/office/drawing/2014/main" id="{A1DA427C-A026-392E-0256-4EE6BD32F460}"/>
              </a:ext>
            </a:extLst>
          </p:cNvPr>
          <p:cNvSpPr txBox="1">
            <a:spLocks/>
          </p:cNvSpPr>
          <p:nvPr/>
        </p:nvSpPr>
        <p:spPr bwMode="auto">
          <a:xfrm>
            <a:off x="6453525" y="5602311"/>
            <a:ext cx="4907835" cy="1120141"/>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rmAutofit lnSpcReduction="10000"/>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baseline="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346075" lvl="1" indent="0">
              <a:buNone/>
            </a:pPr>
            <a:endParaRPr lang="en-US" dirty="0"/>
          </a:p>
          <a:p>
            <a:pPr marL="0" indent="0" algn="ctr">
              <a:buFont typeface="Arial" charset="0"/>
              <a:buNone/>
            </a:pPr>
            <a:r>
              <a:rPr lang="en-US" dirty="0">
                <a:solidFill>
                  <a:srgbClr val="00B050"/>
                </a:solidFill>
              </a:rPr>
              <a:t>Incorporate verification overheads into refactoring cost estimates</a:t>
            </a:r>
          </a:p>
        </p:txBody>
      </p:sp>
      <p:sp>
        <p:nvSpPr>
          <p:cNvPr id="11" name="Rounded Rectangle 10">
            <a:extLst>
              <a:ext uri="{FF2B5EF4-FFF2-40B4-BE49-F238E27FC236}">
                <a16:creationId xmlns:a16="http://schemas.microsoft.com/office/drawing/2014/main" id="{D4055A57-C6B7-B1D2-5C5B-4B5CAD3A88A3}"/>
              </a:ext>
            </a:extLst>
          </p:cNvPr>
          <p:cNvSpPr/>
          <p:nvPr/>
        </p:nvSpPr>
        <p:spPr>
          <a:xfrm>
            <a:off x="1051559" y="5808798"/>
            <a:ext cx="4103371" cy="913654"/>
          </a:xfrm>
          <a:prstGeom prst="roundRect">
            <a:avLst/>
          </a:prstGeom>
          <a:solidFill>
            <a:schemeClr val="accent3"/>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t>We go back to AI and look at the next set of prompts</a:t>
            </a:r>
          </a:p>
          <a:p>
            <a:pPr algn="ctr">
              <a:lnSpc>
                <a:spcPct val="90000"/>
              </a:lnSpc>
            </a:pPr>
            <a:r>
              <a:rPr lang="en-US" sz="2000" dirty="0"/>
              <a:t>https://</a:t>
            </a:r>
            <a:r>
              <a:rPr lang="en-US" sz="2000" dirty="0" err="1"/>
              <a:t>tinyurl.com</a:t>
            </a:r>
            <a:r>
              <a:rPr lang="en-US" sz="2000" dirty="0"/>
              <a:t>/yfxtf89t</a:t>
            </a:r>
          </a:p>
        </p:txBody>
      </p:sp>
    </p:spTree>
    <p:extLst>
      <p:ext uri="{BB962C8B-B14F-4D97-AF65-F5344CB8AC3E}">
        <p14:creationId xmlns:p14="http://schemas.microsoft.com/office/powerpoint/2010/main" val="39708448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type="body" sz="quarter" idx="12"/>
          </p:nvPr>
        </p:nvSpPr>
        <p:spPr>
          <a:xfrm>
            <a:off x="609442" y="1056324"/>
            <a:ext cx="11160961" cy="499715"/>
          </a:xfrm>
        </p:spPr>
        <p:txBody>
          <a:bodyPr/>
          <a:lstStyle/>
          <a:p>
            <a:r>
              <a:rPr lang="en-US" dirty="0"/>
              <a:t>Proportionate to the scope</a:t>
            </a:r>
          </a:p>
        </p:txBody>
      </p:sp>
      <p:sp>
        <p:nvSpPr>
          <p:cNvPr id="2" name="Title 1"/>
          <p:cNvSpPr>
            <a:spLocks noGrp="1"/>
          </p:cNvSpPr>
          <p:nvPr>
            <p:ph type="title"/>
          </p:nvPr>
        </p:nvSpPr>
        <p:spPr/>
        <p:txBody>
          <a:bodyPr/>
          <a:lstStyle/>
          <a:p>
            <a:r>
              <a:rPr lang="en-US" dirty="0"/>
              <a:t>Map from Here to There: On ramp plan</a:t>
            </a:r>
          </a:p>
        </p:txBody>
      </p:sp>
      <p:sp>
        <p:nvSpPr>
          <p:cNvPr id="11" name="TextBox 10"/>
          <p:cNvSpPr txBox="1"/>
          <p:nvPr/>
        </p:nvSpPr>
        <p:spPr>
          <a:xfrm>
            <a:off x="7569649" y="4056979"/>
            <a:ext cx="3432967" cy="1200330"/>
          </a:xfrm>
          <a:prstGeom prst="rect">
            <a:avLst/>
          </a:prstGeom>
          <a:noFill/>
        </p:spPr>
        <p:txBody>
          <a:bodyPr wrap="square" rtlCol="0">
            <a:spAutoFit/>
          </a:bodyPr>
          <a:lstStyle/>
          <a:p>
            <a:r>
              <a:rPr lang="en-US" sz="2400" b="1" dirty="0"/>
              <a:t>Invasive large-scale change in the code - Bad idea</a:t>
            </a:r>
          </a:p>
        </p:txBody>
      </p:sp>
      <p:grpSp>
        <p:nvGrpSpPr>
          <p:cNvPr id="19" name="Group 18"/>
          <p:cNvGrpSpPr/>
          <p:nvPr/>
        </p:nvGrpSpPr>
        <p:grpSpPr>
          <a:xfrm>
            <a:off x="2881234" y="1906597"/>
            <a:ext cx="1546191" cy="938906"/>
            <a:chOff x="3333750" y="2238375"/>
            <a:chExt cx="1275347" cy="877332"/>
          </a:xfrm>
        </p:grpSpPr>
        <p:sp>
          <p:nvSpPr>
            <p:cNvPr id="20" name="Right Arrow 19"/>
            <p:cNvSpPr/>
            <p:nvPr/>
          </p:nvSpPr>
          <p:spPr>
            <a:xfrm>
              <a:off x="3429000" y="2238375"/>
              <a:ext cx="793750" cy="238125"/>
            </a:xfrm>
            <a:prstGeom prst="rightArrow">
              <a:avLst/>
            </a:prstGeom>
            <a:solidFill>
              <a:schemeClr val="tx1"/>
            </a:solidFill>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 name="TextBox 20"/>
            <p:cNvSpPr txBox="1"/>
            <p:nvPr/>
          </p:nvSpPr>
          <p:spPr>
            <a:xfrm>
              <a:off x="3333750" y="2746375"/>
              <a:ext cx="1275347" cy="369332"/>
            </a:xfrm>
            <a:prstGeom prst="rect">
              <a:avLst/>
            </a:prstGeom>
            <a:noFill/>
          </p:spPr>
          <p:txBody>
            <a:bodyPr wrap="none" rtlCol="0">
              <a:spAutoFit/>
            </a:bodyPr>
            <a:lstStyle/>
            <a:p>
              <a:r>
                <a:rPr lang="en-US" dirty="0"/>
                <a:t>All at once</a:t>
              </a:r>
            </a:p>
          </p:txBody>
        </p:sp>
      </p:grpSp>
      <p:sp>
        <p:nvSpPr>
          <p:cNvPr id="23" name="TextBox 22"/>
          <p:cNvSpPr txBox="1"/>
          <p:nvPr/>
        </p:nvSpPr>
        <p:spPr>
          <a:xfrm>
            <a:off x="7461867" y="1838641"/>
            <a:ext cx="3709715" cy="830997"/>
          </a:xfrm>
          <a:prstGeom prst="rect">
            <a:avLst/>
          </a:prstGeom>
          <a:noFill/>
        </p:spPr>
        <p:txBody>
          <a:bodyPr wrap="square" rtlCol="0">
            <a:spAutoFit/>
          </a:bodyPr>
          <a:lstStyle/>
          <a:p>
            <a:r>
              <a:rPr lang="en-US" sz="2400" b="1" dirty="0"/>
              <a:t>Scattered independent changes - May be OK</a:t>
            </a:r>
          </a:p>
        </p:txBody>
      </p:sp>
      <p:grpSp>
        <p:nvGrpSpPr>
          <p:cNvPr id="18" name="Group 17"/>
          <p:cNvGrpSpPr/>
          <p:nvPr/>
        </p:nvGrpSpPr>
        <p:grpSpPr>
          <a:xfrm>
            <a:off x="3119890" y="4529724"/>
            <a:ext cx="1546192" cy="938906"/>
            <a:chOff x="3333750" y="2238375"/>
            <a:chExt cx="1275347" cy="877332"/>
          </a:xfrm>
        </p:grpSpPr>
        <p:sp>
          <p:nvSpPr>
            <p:cNvPr id="9" name="Right Arrow 8"/>
            <p:cNvSpPr/>
            <p:nvPr/>
          </p:nvSpPr>
          <p:spPr>
            <a:xfrm>
              <a:off x="3429000" y="2238375"/>
              <a:ext cx="793750" cy="238125"/>
            </a:xfrm>
            <a:prstGeom prst="rightArrow">
              <a:avLst/>
            </a:prstGeom>
            <a:solidFill>
              <a:schemeClr val="tx1"/>
            </a:solidFill>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0" name="TextBox 9"/>
            <p:cNvSpPr txBox="1"/>
            <p:nvPr/>
          </p:nvSpPr>
          <p:spPr>
            <a:xfrm>
              <a:off x="3333750" y="2746375"/>
              <a:ext cx="1275347" cy="369332"/>
            </a:xfrm>
            <a:prstGeom prst="rect">
              <a:avLst/>
            </a:prstGeom>
            <a:noFill/>
          </p:spPr>
          <p:txBody>
            <a:bodyPr wrap="none" rtlCol="0">
              <a:spAutoFit/>
            </a:bodyPr>
            <a:lstStyle/>
            <a:p>
              <a:r>
                <a:rPr lang="en-US" dirty="0"/>
                <a:t>All at once</a:t>
              </a:r>
            </a:p>
          </p:txBody>
        </p:sp>
      </p:grpSp>
      <p:grpSp>
        <p:nvGrpSpPr>
          <p:cNvPr id="14" name="Group 13">
            <a:extLst>
              <a:ext uri="{FF2B5EF4-FFF2-40B4-BE49-F238E27FC236}">
                <a16:creationId xmlns:a16="http://schemas.microsoft.com/office/drawing/2014/main" id="{51A96BEA-6603-1F42-B37D-AE1F06F5649A}"/>
              </a:ext>
            </a:extLst>
          </p:cNvPr>
          <p:cNvGrpSpPr/>
          <p:nvPr/>
        </p:nvGrpSpPr>
        <p:grpSpPr>
          <a:xfrm>
            <a:off x="4624954" y="1510293"/>
            <a:ext cx="2232578" cy="1546014"/>
            <a:chOff x="4624954" y="1510293"/>
            <a:chExt cx="2232578" cy="1546014"/>
          </a:xfrm>
        </p:grpSpPr>
        <p:sp>
          <p:nvSpPr>
            <p:cNvPr id="24" name="Rectangle 23">
              <a:extLst>
                <a:ext uri="{FF2B5EF4-FFF2-40B4-BE49-F238E27FC236}">
                  <a16:creationId xmlns:a16="http://schemas.microsoft.com/office/drawing/2014/main" id="{EA7F5CDB-1DF2-6040-88DC-817DEA6FB94D}"/>
                </a:ext>
              </a:extLst>
            </p:cNvPr>
            <p:cNvSpPr/>
            <p:nvPr/>
          </p:nvSpPr>
          <p:spPr>
            <a:xfrm>
              <a:off x="4624954" y="1510293"/>
              <a:ext cx="2232578" cy="1546014"/>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5" name="Oval 4">
              <a:extLst>
                <a:ext uri="{FF2B5EF4-FFF2-40B4-BE49-F238E27FC236}">
                  <a16:creationId xmlns:a16="http://schemas.microsoft.com/office/drawing/2014/main" id="{AC09F784-2801-2441-92AD-9FCF6B82C681}"/>
                </a:ext>
              </a:extLst>
            </p:cNvPr>
            <p:cNvSpPr/>
            <p:nvPr/>
          </p:nvSpPr>
          <p:spPr>
            <a:xfrm>
              <a:off x="5018657" y="2309597"/>
              <a:ext cx="489097" cy="471022"/>
            </a:xfrm>
            <a:prstGeom prst="ellipse">
              <a:avLst/>
            </a:prstGeom>
            <a:solidFill>
              <a:schemeClr val="accent3"/>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30" name="Oval 29">
              <a:extLst>
                <a:ext uri="{FF2B5EF4-FFF2-40B4-BE49-F238E27FC236}">
                  <a16:creationId xmlns:a16="http://schemas.microsoft.com/office/drawing/2014/main" id="{39E01F56-318B-D04D-A189-87231547BD93}"/>
                </a:ext>
              </a:extLst>
            </p:cNvPr>
            <p:cNvSpPr/>
            <p:nvPr/>
          </p:nvSpPr>
          <p:spPr>
            <a:xfrm>
              <a:off x="5676456" y="1729861"/>
              <a:ext cx="489097" cy="471022"/>
            </a:xfrm>
            <a:prstGeom prst="ellipse">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8" name="Group 7">
            <a:extLst>
              <a:ext uri="{FF2B5EF4-FFF2-40B4-BE49-F238E27FC236}">
                <a16:creationId xmlns:a16="http://schemas.microsoft.com/office/drawing/2014/main" id="{4904E5F7-A5DA-874B-9B07-FDC4ED4738CC}"/>
              </a:ext>
            </a:extLst>
          </p:cNvPr>
          <p:cNvGrpSpPr/>
          <p:nvPr/>
        </p:nvGrpSpPr>
        <p:grpSpPr>
          <a:xfrm>
            <a:off x="4767377" y="4052661"/>
            <a:ext cx="2232578" cy="1546013"/>
            <a:chOff x="4767377" y="4052661"/>
            <a:chExt cx="2232578" cy="1546013"/>
          </a:xfrm>
        </p:grpSpPr>
        <p:sp>
          <p:nvSpPr>
            <p:cNvPr id="27" name="Rectangle 26">
              <a:extLst>
                <a:ext uri="{FF2B5EF4-FFF2-40B4-BE49-F238E27FC236}">
                  <a16:creationId xmlns:a16="http://schemas.microsoft.com/office/drawing/2014/main" id="{DB42A299-947A-B449-9092-6282EEEE4B5B}"/>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1EE53242-0474-F947-A3F6-F8229F9EA0B4}"/>
                </a:ext>
              </a:extLst>
            </p:cNvPr>
            <p:cNvSpPr/>
            <p:nvPr/>
          </p:nvSpPr>
          <p:spPr>
            <a:xfrm>
              <a:off x="5405201" y="4573101"/>
              <a:ext cx="956930" cy="894701"/>
            </a:xfrm>
            <a:prstGeom prst="ellipse">
              <a:avLst/>
            </a:prstGeom>
            <a:solidFill>
              <a:schemeClr val="tx2">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31" name="Oval 30">
              <a:extLst>
                <a:ext uri="{FF2B5EF4-FFF2-40B4-BE49-F238E27FC236}">
                  <a16:creationId xmlns:a16="http://schemas.microsoft.com/office/drawing/2014/main" id="{A3E6977D-83B6-AD45-B651-0625DB1BB7E9}"/>
                </a:ext>
              </a:extLst>
            </p:cNvPr>
            <p:cNvSpPr/>
            <p:nvPr/>
          </p:nvSpPr>
          <p:spPr>
            <a:xfrm>
              <a:off x="5651736" y="4071017"/>
              <a:ext cx="956930" cy="894701"/>
            </a:xfrm>
            <a:prstGeom prst="ellipse">
              <a:avLst/>
            </a:prstGeom>
            <a:solidFill>
              <a:schemeClr val="accent3"/>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32" name="Oval 31">
              <a:extLst>
                <a:ext uri="{FF2B5EF4-FFF2-40B4-BE49-F238E27FC236}">
                  <a16:creationId xmlns:a16="http://schemas.microsoft.com/office/drawing/2014/main" id="{01CB49B5-CDCD-E149-BE7D-4D7650C48A47}"/>
                </a:ext>
              </a:extLst>
            </p:cNvPr>
            <p:cNvSpPr/>
            <p:nvPr/>
          </p:nvSpPr>
          <p:spPr>
            <a:xfrm>
              <a:off x="4888424" y="4178676"/>
              <a:ext cx="956930" cy="894701"/>
            </a:xfrm>
            <a:prstGeom prst="ellipse">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51" name="Group 50">
            <a:extLst>
              <a:ext uri="{FF2B5EF4-FFF2-40B4-BE49-F238E27FC236}">
                <a16:creationId xmlns:a16="http://schemas.microsoft.com/office/drawing/2014/main" id="{1E041940-7B13-FC43-8B18-2E02BDEA80DE}"/>
              </a:ext>
            </a:extLst>
          </p:cNvPr>
          <p:cNvGrpSpPr/>
          <p:nvPr/>
        </p:nvGrpSpPr>
        <p:grpSpPr>
          <a:xfrm>
            <a:off x="584950" y="1510293"/>
            <a:ext cx="2232578" cy="1546014"/>
            <a:chOff x="4624954" y="1510293"/>
            <a:chExt cx="2232578" cy="1546014"/>
          </a:xfrm>
        </p:grpSpPr>
        <p:sp>
          <p:nvSpPr>
            <p:cNvPr id="52" name="Rectangle 51">
              <a:extLst>
                <a:ext uri="{FF2B5EF4-FFF2-40B4-BE49-F238E27FC236}">
                  <a16:creationId xmlns:a16="http://schemas.microsoft.com/office/drawing/2014/main" id="{FF08583C-ACF4-1446-B2C8-0FE1380BB8CF}"/>
                </a:ext>
              </a:extLst>
            </p:cNvPr>
            <p:cNvSpPr/>
            <p:nvPr/>
          </p:nvSpPr>
          <p:spPr>
            <a:xfrm>
              <a:off x="4624954" y="1510293"/>
              <a:ext cx="2232578" cy="1546014"/>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53" name="Oval 52">
              <a:extLst>
                <a:ext uri="{FF2B5EF4-FFF2-40B4-BE49-F238E27FC236}">
                  <a16:creationId xmlns:a16="http://schemas.microsoft.com/office/drawing/2014/main" id="{D0C05DAE-1B71-A84E-914E-FAF400737D75}"/>
                </a:ext>
              </a:extLst>
            </p:cNvPr>
            <p:cNvSpPr/>
            <p:nvPr/>
          </p:nvSpPr>
          <p:spPr>
            <a:xfrm>
              <a:off x="5018657" y="2309597"/>
              <a:ext cx="489097" cy="471022"/>
            </a:xfrm>
            <a:prstGeom prst="ellipse">
              <a:avLst/>
            </a:prstGeom>
            <a:solidFill>
              <a:schemeClr val="accent5">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54" name="Oval 53">
              <a:extLst>
                <a:ext uri="{FF2B5EF4-FFF2-40B4-BE49-F238E27FC236}">
                  <a16:creationId xmlns:a16="http://schemas.microsoft.com/office/drawing/2014/main" id="{AB46AF1D-4F37-A24F-B85F-DBD4C63FD04D}"/>
                </a:ext>
              </a:extLst>
            </p:cNvPr>
            <p:cNvSpPr/>
            <p:nvPr/>
          </p:nvSpPr>
          <p:spPr>
            <a:xfrm>
              <a:off x="5676456" y="1729861"/>
              <a:ext cx="489097" cy="471022"/>
            </a:xfrm>
            <a:prstGeom prst="ellipse">
              <a:avLst/>
            </a:prstGeom>
            <a:solidFill>
              <a:schemeClr val="accent5">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55" name="Group 54">
            <a:extLst>
              <a:ext uri="{FF2B5EF4-FFF2-40B4-BE49-F238E27FC236}">
                <a16:creationId xmlns:a16="http://schemas.microsoft.com/office/drawing/2014/main" id="{FA6D909D-72D8-C147-9192-2B889083FC47}"/>
              </a:ext>
            </a:extLst>
          </p:cNvPr>
          <p:cNvGrpSpPr/>
          <p:nvPr/>
        </p:nvGrpSpPr>
        <p:grpSpPr>
          <a:xfrm>
            <a:off x="590325" y="4052661"/>
            <a:ext cx="2232578" cy="1546013"/>
            <a:chOff x="4767377" y="4052661"/>
            <a:chExt cx="2232578" cy="1546013"/>
          </a:xfrm>
        </p:grpSpPr>
        <p:sp>
          <p:nvSpPr>
            <p:cNvPr id="56" name="Rectangle 55">
              <a:extLst>
                <a:ext uri="{FF2B5EF4-FFF2-40B4-BE49-F238E27FC236}">
                  <a16:creationId xmlns:a16="http://schemas.microsoft.com/office/drawing/2014/main" id="{4B06C4EF-BF41-1945-A384-3FA5DF837FBE}"/>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 name="Oval 56">
              <a:extLst>
                <a:ext uri="{FF2B5EF4-FFF2-40B4-BE49-F238E27FC236}">
                  <a16:creationId xmlns:a16="http://schemas.microsoft.com/office/drawing/2014/main" id="{D80FC8D1-EC4D-DA4E-9A79-2598FDDAAF23}"/>
                </a:ext>
              </a:extLst>
            </p:cNvPr>
            <p:cNvSpPr/>
            <p:nvPr/>
          </p:nvSpPr>
          <p:spPr>
            <a:xfrm>
              <a:off x="5405201" y="4573101"/>
              <a:ext cx="956930" cy="894701"/>
            </a:xfrm>
            <a:prstGeom prst="ellipse">
              <a:avLst/>
            </a:prstGeom>
            <a:solidFill>
              <a:schemeClr val="accent5">
                <a:lumMod val="20000"/>
                <a:lumOff val="8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58" name="Oval 57">
              <a:extLst>
                <a:ext uri="{FF2B5EF4-FFF2-40B4-BE49-F238E27FC236}">
                  <a16:creationId xmlns:a16="http://schemas.microsoft.com/office/drawing/2014/main" id="{D5D13BE0-0A7B-0A41-9236-A0A69797554E}"/>
                </a:ext>
              </a:extLst>
            </p:cNvPr>
            <p:cNvSpPr/>
            <p:nvPr/>
          </p:nvSpPr>
          <p:spPr>
            <a:xfrm>
              <a:off x="5651736" y="4071017"/>
              <a:ext cx="956930" cy="894701"/>
            </a:xfrm>
            <a:prstGeom prst="ellipse">
              <a:avLst/>
            </a:prstGeom>
            <a:solidFill>
              <a:schemeClr val="accent5">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59" name="Oval 58">
              <a:extLst>
                <a:ext uri="{FF2B5EF4-FFF2-40B4-BE49-F238E27FC236}">
                  <a16:creationId xmlns:a16="http://schemas.microsoft.com/office/drawing/2014/main" id="{1AC44ADC-F2C7-5E4F-9BF5-BFC512F633D2}"/>
                </a:ext>
              </a:extLst>
            </p:cNvPr>
            <p:cNvSpPr/>
            <p:nvPr/>
          </p:nvSpPr>
          <p:spPr>
            <a:xfrm>
              <a:off x="4888424" y="4178676"/>
              <a:ext cx="956930" cy="894701"/>
            </a:xfrm>
            <a:prstGeom prst="ellipse">
              <a:avLst/>
            </a:prstGeom>
            <a:solidFill>
              <a:schemeClr val="accent5">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spTree>
    <p:extLst>
      <p:ext uri="{BB962C8B-B14F-4D97-AF65-F5344CB8AC3E}">
        <p14:creationId xmlns:p14="http://schemas.microsoft.com/office/powerpoint/2010/main" val="317827630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Map from Here to There: On ramp plan1</a:t>
            </a:r>
          </a:p>
        </p:txBody>
      </p:sp>
      <p:sp>
        <p:nvSpPr>
          <p:cNvPr id="8" name="TextBox 7">
            <a:extLst>
              <a:ext uri="{FF2B5EF4-FFF2-40B4-BE49-F238E27FC236}">
                <a16:creationId xmlns:a16="http://schemas.microsoft.com/office/drawing/2014/main" id="{51CEFC24-E33C-F24E-8A4D-D2F5EE22B1CC}"/>
              </a:ext>
            </a:extLst>
          </p:cNvPr>
          <p:cNvSpPr txBox="1"/>
          <p:nvPr/>
        </p:nvSpPr>
        <p:spPr>
          <a:xfrm>
            <a:off x="7697757" y="4341143"/>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54" name="TextBox 53">
            <a:extLst>
              <a:ext uri="{FF2B5EF4-FFF2-40B4-BE49-F238E27FC236}">
                <a16:creationId xmlns:a16="http://schemas.microsoft.com/office/drawing/2014/main" id="{CD1D1D53-3272-DF47-B110-6A3A31F286F5}"/>
              </a:ext>
            </a:extLst>
          </p:cNvPr>
          <p:cNvSpPr txBox="1"/>
          <p:nvPr/>
        </p:nvSpPr>
        <p:spPr>
          <a:xfrm>
            <a:off x="6884388" y="2412952"/>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21" name="Content Placeholder 2">
            <a:extLst>
              <a:ext uri="{FF2B5EF4-FFF2-40B4-BE49-F238E27FC236}">
                <a16:creationId xmlns:a16="http://schemas.microsoft.com/office/drawing/2014/main" id="{40678E0D-0250-3B4B-A625-79D2A2CDEDE5}"/>
              </a:ext>
            </a:extLst>
          </p:cNvPr>
          <p:cNvSpPr txBox="1">
            <a:spLocks/>
          </p:cNvSpPr>
          <p:nvPr/>
        </p:nvSpPr>
        <p:spPr bwMode="auto">
          <a:xfrm>
            <a:off x="5250143" y="1085902"/>
            <a:ext cx="2846884" cy="4247575"/>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rmAutofit lnSpcReduction="10000"/>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baseline="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t>Turn off all modules except for the one being refactored.</a:t>
            </a:r>
          </a:p>
          <a:p>
            <a:r>
              <a:rPr lang="en-US" dirty="0"/>
              <a:t>Have a way of testing in intermediate stages</a:t>
            </a:r>
          </a:p>
          <a:p>
            <a:r>
              <a:rPr lang="en-US" dirty="0"/>
              <a:t>Do this for all modules that need refactoring independently</a:t>
            </a:r>
          </a:p>
          <a:p>
            <a:endParaRPr lang="en-US" dirty="0"/>
          </a:p>
          <a:p>
            <a:pPr lvl="1"/>
            <a:endParaRPr lang="en-US" dirty="0"/>
          </a:p>
          <a:p>
            <a:pPr lvl="1"/>
            <a:endParaRPr lang="en-US" dirty="0"/>
          </a:p>
          <a:p>
            <a:pPr lvl="1"/>
            <a:endParaRPr lang="en-US" dirty="0"/>
          </a:p>
          <a:p>
            <a:pPr lvl="1"/>
            <a:endParaRPr lang="en-US" dirty="0"/>
          </a:p>
          <a:p>
            <a:pPr lvl="1"/>
            <a:endParaRPr lang="en-US" dirty="0"/>
          </a:p>
          <a:p>
            <a:pPr lvl="1"/>
            <a:endParaRPr lang="en-US" b="1" dirty="0">
              <a:solidFill>
                <a:schemeClr val="accent6">
                  <a:lumMod val="75000"/>
                </a:schemeClr>
              </a:solidFill>
            </a:endParaRPr>
          </a:p>
        </p:txBody>
      </p:sp>
      <p:grpSp>
        <p:nvGrpSpPr>
          <p:cNvPr id="5" name="Group 4">
            <a:extLst>
              <a:ext uri="{FF2B5EF4-FFF2-40B4-BE49-F238E27FC236}">
                <a16:creationId xmlns:a16="http://schemas.microsoft.com/office/drawing/2014/main" id="{E99FEBBA-E527-F74C-A601-B3D599C0FE73}"/>
              </a:ext>
            </a:extLst>
          </p:cNvPr>
          <p:cNvGrpSpPr/>
          <p:nvPr/>
        </p:nvGrpSpPr>
        <p:grpSpPr>
          <a:xfrm>
            <a:off x="330872" y="1011799"/>
            <a:ext cx="4861598" cy="4875357"/>
            <a:chOff x="330872" y="1011799"/>
            <a:chExt cx="4861598" cy="4875357"/>
          </a:xfrm>
        </p:grpSpPr>
        <p:sp>
          <p:nvSpPr>
            <p:cNvPr id="44" name="TextBox 43">
              <a:extLst>
                <a:ext uri="{FF2B5EF4-FFF2-40B4-BE49-F238E27FC236}">
                  <a16:creationId xmlns:a16="http://schemas.microsoft.com/office/drawing/2014/main" id="{3CCAD567-96F6-E14C-BC53-5BB7D951BB5F}"/>
                </a:ext>
              </a:extLst>
            </p:cNvPr>
            <p:cNvSpPr txBox="1"/>
            <p:nvPr/>
          </p:nvSpPr>
          <p:spPr>
            <a:xfrm>
              <a:off x="2426947" y="2237843"/>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grpSp>
          <p:nvGrpSpPr>
            <p:cNvPr id="34" name="Group 33">
              <a:extLst>
                <a:ext uri="{FF2B5EF4-FFF2-40B4-BE49-F238E27FC236}">
                  <a16:creationId xmlns:a16="http://schemas.microsoft.com/office/drawing/2014/main" id="{2575A895-781C-784E-A42C-2232CE2EAEDF}"/>
                </a:ext>
              </a:extLst>
            </p:cNvPr>
            <p:cNvGrpSpPr/>
            <p:nvPr/>
          </p:nvGrpSpPr>
          <p:grpSpPr>
            <a:xfrm>
              <a:off x="330872" y="1014434"/>
              <a:ext cx="2232578" cy="1546013"/>
              <a:chOff x="4767377" y="4052661"/>
              <a:chExt cx="2232578" cy="1546013"/>
            </a:xfrm>
          </p:grpSpPr>
          <p:sp>
            <p:nvSpPr>
              <p:cNvPr id="36" name="Rectangle 35">
                <a:extLst>
                  <a:ext uri="{FF2B5EF4-FFF2-40B4-BE49-F238E27FC236}">
                    <a16:creationId xmlns:a16="http://schemas.microsoft.com/office/drawing/2014/main" id="{A1300D8A-1248-9C4A-A09A-39EB4A41B1DC}"/>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0" name="Oval 39">
                <a:extLst>
                  <a:ext uri="{FF2B5EF4-FFF2-40B4-BE49-F238E27FC236}">
                    <a16:creationId xmlns:a16="http://schemas.microsoft.com/office/drawing/2014/main" id="{1F36A626-DB75-1C4F-94BF-DA4E29E4BB9D}"/>
                  </a:ext>
                </a:extLst>
              </p:cNvPr>
              <p:cNvSpPr/>
              <p:nvPr/>
            </p:nvSpPr>
            <p:spPr>
              <a:xfrm>
                <a:off x="4888424" y="4178676"/>
                <a:ext cx="956930" cy="894701"/>
              </a:xfrm>
              <a:prstGeom prst="ellipse">
                <a:avLst/>
              </a:prstGeom>
              <a:solidFill>
                <a:schemeClr val="accent5">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sp>
          <p:nvSpPr>
            <p:cNvPr id="85" name="TextBox 84">
              <a:extLst>
                <a:ext uri="{FF2B5EF4-FFF2-40B4-BE49-F238E27FC236}">
                  <a16:creationId xmlns:a16="http://schemas.microsoft.com/office/drawing/2014/main" id="{44175779-B94B-5B41-A337-3E1F9C29F177}"/>
                </a:ext>
              </a:extLst>
            </p:cNvPr>
            <p:cNvSpPr txBox="1"/>
            <p:nvPr/>
          </p:nvSpPr>
          <p:spPr>
            <a:xfrm>
              <a:off x="4952340" y="2263449"/>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86" name="TextBox 85">
              <a:extLst>
                <a:ext uri="{FF2B5EF4-FFF2-40B4-BE49-F238E27FC236}">
                  <a16:creationId xmlns:a16="http://schemas.microsoft.com/office/drawing/2014/main" id="{EEF65665-6394-BE44-90BC-E3954CD445BD}"/>
                </a:ext>
              </a:extLst>
            </p:cNvPr>
            <p:cNvSpPr txBox="1"/>
            <p:nvPr/>
          </p:nvSpPr>
          <p:spPr>
            <a:xfrm>
              <a:off x="4848713" y="4227612"/>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grpSp>
          <p:nvGrpSpPr>
            <p:cNvPr id="87" name="Group 86">
              <a:extLst>
                <a:ext uri="{FF2B5EF4-FFF2-40B4-BE49-F238E27FC236}">
                  <a16:creationId xmlns:a16="http://schemas.microsoft.com/office/drawing/2014/main" id="{0F6444A8-C0CB-204F-9793-95E921A1CA20}"/>
                </a:ext>
              </a:extLst>
            </p:cNvPr>
            <p:cNvGrpSpPr/>
            <p:nvPr/>
          </p:nvGrpSpPr>
          <p:grpSpPr>
            <a:xfrm>
              <a:off x="2704289" y="1011799"/>
              <a:ext cx="2232578" cy="1546013"/>
              <a:chOff x="4767377" y="4052661"/>
              <a:chExt cx="2232578" cy="1546013"/>
            </a:xfrm>
          </p:grpSpPr>
          <p:sp>
            <p:nvSpPr>
              <p:cNvPr id="94" name="Rectangle 93">
                <a:extLst>
                  <a:ext uri="{FF2B5EF4-FFF2-40B4-BE49-F238E27FC236}">
                    <a16:creationId xmlns:a16="http://schemas.microsoft.com/office/drawing/2014/main" id="{D2FAB04C-C503-624C-A6B5-D5BA2AE4B856}"/>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95" name="Oval 94">
                <a:extLst>
                  <a:ext uri="{FF2B5EF4-FFF2-40B4-BE49-F238E27FC236}">
                    <a16:creationId xmlns:a16="http://schemas.microsoft.com/office/drawing/2014/main" id="{4BF8B8AD-D9D5-F649-A6E4-52E6EDBD1CF0}"/>
                  </a:ext>
                </a:extLst>
              </p:cNvPr>
              <p:cNvSpPr/>
              <p:nvPr/>
            </p:nvSpPr>
            <p:spPr>
              <a:xfrm>
                <a:off x="4888424" y="4178676"/>
                <a:ext cx="956930" cy="894701"/>
              </a:xfrm>
              <a:prstGeom prst="ellipse">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106" name="Group 105">
              <a:extLst>
                <a:ext uri="{FF2B5EF4-FFF2-40B4-BE49-F238E27FC236}">
                  <a16:creationId xmlns:a16="http://schemas.microsoft.com/office/drawing/2014/main" id="{06FFA82E-F68A-8B4E-A243-62C8B6AFBFEB}"/>
                </a:ext>
              </a:extLst>
            </p:cNvPr>
            <p:cNvGrpSpPr/>
            <p:nvPr/>
          </p:nvGrpSpPr>
          <p:grpSpPr>
            <a:xfrm>
              <a:off x="330872" y="2658451"/>
              <a:ext cx="2232578" cy="1546013"/>
              <a:chOff x="4767377" y="4052661"/>
              <a:chExt cx="2232578" cy="1546013"/>
            </a:xfrm>
          </p:grpSpPr>
          <p:sp>
            <p:nvSpPr>
              <p:cNvPr id="107" name="Rectangle 106">
                <a:extLst>
                  <a:ext uri="{FF2B5EF4-FFF2-40B4-BE49-F238E27FC236}">
                    <a16:creationId xmlns:a16="http://schemas.microsoft.com/office/drawing/2014/main" id="{FE1AEE75-28F6-9F42-BBBE-39429D6D0878}"/>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09" name="Oval 108">
                <a:extLst>
                  <a:ext uri="{FF2B5EF4-FFF2-40B4-BE49-F238E27FC236}">
                    <a16:creationId xmlns:a16="http://schemas.microsoft.com/office/drawing/2014/main" id="{2F929B1F-C7D9-F743-86C7-CC75408B5C43}"/>
                  </a:ext>
                </a:extLst>
              </p:cNvPr>
              <p:cNvSpPr/>
              <p:nvPr/>
            </p:nvSpPr>
            <p:spPr>
              <a:xfrm>
                <a:off x="5651736" y="4071017"/>
                <a:ext cx="956930" cy="894701"/>
              </a:xfrm>
              <a:prstGeom prst="ellipse">
                <a:avLst/>
              </a:prstGeom>
              <a:solidFill>
                <a:schemeClr val="accent5">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111" name="Group 110">
              <a:extLst>
                <a:ext uri="{FF2B5EF4-FFF2-40B4-BE49-F238E27FC236}">
                  <a16:creationId xmlns:a16="http://schemas.microsoft.com/office/drawing/2014/main" id="{B41EEB45-A66F-3D4E-A03D-B25701673110}"/>
                </a:ext>
              </a:extLst>
            </p:cNvPr>
            <p:cNvGrpSpPr/>
            <p:nvPr/>
          </p:nvGrpSpPr>
          <p:grpSpPr>
            <a:xfrm>
              <a:off x="2704289" y="2693096"/>
              <a:ext cx="2232578" cy="1546013"/>
              <a:chOff x="4767377" y="4052661"/>
              <a:chExt cx="2232578" cy="1546013"/>
            </a:xfrm>
          </p:grpSpPr>
          <p:sp>
            <p:nvSpPr>
              <p:cNvPr id="112" name="Rectangle 111">
                <a:extLst>
                  <a:ext uri="{FF2B5EF4-FFF2-40B4-BE49-F238E27FC236}">
                    <a16:creationId xmlns:a16="http://schemas.microsoft.com/office/drawing/2014/main" id="{5D6E4FE2-6ED5-714C-9859-24E98751D13F}"/>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13" name="Oval 112">
                <a:extLst>
                  <a:ext uri="{FF2B5EF4-FFF2-40B4-BE49-F238E27FC236}">
                    <a16:creationId xmlns:a16="http://schemas.microsoft.com/office/drawing/2014/main" id="{E9BCBF99-D35D-0143-841B-C3447C662BF5}"/>
                  </a:ext>
                </a:extLst>
              </p:cNvPr>
              <p:cNvSpPr/>
              <p:nvPr/>
            </p:nvSpPr>
            <p:spPr>
              <a:xfrm>
                <a:off x="5651736" y="4071017"/>
                <a:ext cx="956930" cy="894701"/>
              </a:xfrm>
              <a:prstGeom prst="ellipse">
                <a:avLst/>
              </a:prstGeom>
              <a:solidFill>
                <a:srgbClr val="00B0F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119" name="Group 118">
              <a:extLst>
                <a:ext uri="{FF2B5EF4-FFF2-40B4-BE49-F238E27FC236}">
                  <a16:creationId xmlns:a16="http://schemas.microsoft.com/office/drawing/2014/main" id="{17035DD1-A510-3C40-B2B1-9552D68550B8}"/>
                </a:ext>
              </a:extLst>
            </p:cNvPr>
            <p:cNvGrpSpPr/>
            <p:nvPr/>
          </p:nvGrpSpPr>
          <p:grpSpPr>
            <a:xfrm>
              <a:off x="330872" y="4341143"/>
              <a:ext cx="2232578" cy="1546013"/>
              <a:chOff x="4767377" y="4052661"/>
              <a:chExt cx="2232578" cy="1546013"/>
            </a:xfrm>
          </p:grpSpPr>
          <p:sp>
            <p:nvSpPr>
              <p:cNvPr id="120" name="Rectangle 119">
                <a:extLst>
                  <a:ext uri="{FF2B5EF4-FFF2-40B4-BE49-F238E27FC236}">
                    <a16:creationId xmlns:a16="http://schemas.microsoft.com/office/drawing/2014/main" id="{00D4BBAB-741D-584C-A1BB-5C35EABE21C1}"/>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21" name="Oval 120">
                <a:extLst>
                  <a:ext uri="{FF2B5EF4-FFF2-40B4-BE49-F238E27FC236}">
                    <a16:creationId xmlns:a16="http://schemas.microsoft.com/office/drawing/2014/main" id="{FB370AA6-EAF1-E747-BD71-4404904C6C40}"/>
                  </a:ext>
                </a:extLst>
              </p:cNvPr>
              <p:cNvSpPr/>
              <p:nvPr/>
            </p:nvSpPr>
            <p:spPr>
              <a:xfrm>
                <a:off x="5405201" y="4573101"/>
                <a:ext cx="956930" cy="894701"/>
              </a:xfrm>
              <a:prstGeom prst="ellipse">
                <a:avLst/>
              </a:prstGeom>
              <a:solidFill>
                <a:schemeClr val="accent5">
                  <a:lumMod val="20000"/>
                  <a:lumOff val="8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122" name="Group 121">
              <a:extLst>
                <a:ext uri="{FF2B5EF4-FFF2-40B4-BE49-F238E27FC236}">
                  <a16:creationId xmlns:a16="http://schemas.microsoft.com/office/drawing/2014/main" id="{8677C9D3-E045-E248-A59F-BE4200FCB55D}"/>
                </a:ext>
              </a:extLst>
            </p:cNvPr>
            <p:cNvGrpSpPr/>
            <p:nvPr/>
          </p:nvGrpSpPr>
          <p:grpSpPr>
            <a:xfrm>
              <a:off x="2711997" y="4341143"/>
              <a:ext cx="2232578" cy="1546013"/>
              <a:chOff x="4767377" y="4052661"/>
              <a:chExt cx="2232578" cy="1546013"/>
            </a:xfrm>
          </p:grpSpPr>
          <p:sp>
            <p:nvSpPr>
              <p:cNvPr id="123" name="Rectangle 122">
                <a:extLst>
                  <a:ext uri="{FF2B5EF4-FFF2-40B4-BE49-F238E27FC236}">
                    <a16:creationId xmlns:a16="http://schemas.microsoft.com/office/drawing/2014/main" id="{D55A04F1-E4B3-D548-81D1-E318B92EF237}"/>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24" name="Oval 123">
                <a:extLst>
                  <a:ext uri="{FF2B5EF4-FFF2-40B4-BE49-F238E27FC236}">
                    <a16:creationId xmlns:a16="http://schemas.microsoft.com/office/drawing/2014/main" id="{BCD37C5B-20C1-3446-85FE-689B5FC859BB}"/>
                  </a:ext>
                </a:extLst>
              </p:cNvPr>
              <p:cNvSpPr/>
              <p:nvPr/>
            </p:nvSpPr>
            <p:spPr>
              <a:xfrm>
                <a:off x="5405201" y="4573101"/>
                <a:ext cx="956930" cy="894701"/>
              </a:xfrm>
              <a:prstGeom prst="ellipse">
                <a:avLst/>
              </a:prstGeom>
              <a:solidFill>
                <a:schemeClr val="tx2">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spTree>
    <p:extLst>
      <p:ext uri="{BB962C8B-B14F-4D97-AF65-F5344CB8AC3E}">
        <p14:creationId xmlns:p14="http://schemas.microsoft.com/office/powerpoint/2010/main" val="157547485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Map from Here to There: On ramp plan1</a:t>
            </a:r>
          </a:p>
        </p:txBody>
      </p:sp>
      <p:sp>
        <p:nvSpPr>
          <p:cNvPr id="8" name="TextBox 7">
            <a:extLst>
              <a:ext uri="{FF2B5EF4-FFF2-40B4-BE49-F238E27FC236}">
                <a16:creationId xmlns:a16="http://schemas.microsoft.com/office/drawing/2014/main" id="{51CEFC24-E33C-F24E-8A4D-D2F5EE22B1CC}"/>
              </a:ext>
            </a:extLst>
          </p:cNvPr>
          <p:cNvSpPr txBox="1"/>
          <p:nvPr/>
        </p:nvSpPr>
        <p:spPr>
          <a:xfrm>
            <a:off x="7697757" y="4341143"/>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54" name="TextBox 53">
            <a:extLst>
              <a:ext uri="{FF2B5EF4-FFF2-40B4-BE49-F238E27FC236}">
                <a16:creationId xmlns:a16="http://schemas.microsoft.com/office/drawing/2014/main" id="{CD1D1D53-3272-DF47-B110-6A3A31F286F5}"/>
              </a:ext>
            </a:extLst>
          </p:cNvPr>
          <p:cNvSpPr txBox="1"/>
          <p:nvPr/>
        </p:nvSpPr>
        <p:spPr>
          <a:xfrm>
            <a:off x="6884388" y="2412952"/>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64" name="TextBox 63">
            <a:extLst>
              <a:ext uri="{FF2B5EF4-FFF2-40B4-BE49-F238E27FC236}">
                <a16:creationId xmlns:a16="http://schemas.microsoft.com/office/drawing/2014/main" id="{A2B5188C-8EF9-E942-BB17-36AF56B62E7E}"/>
              </a:ext>
            </a:extLst>
          </p:cNvPr>
          <p:cNvSpPr txBox="1"/>
          <p:nvPr/>
        </p:nvSpPr>
        <p:spPr>
          <a:xfrm>
            <a:off x="9930335" y="2407266"/>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21" name="Content Placeholder 2">
            <a:extLst>
              <a:ext uri="{FF2B5EF4-FFF2-40B4-BE49-F238E27FC236}">
                <a16:creationId xmlns:a16="http://schemas.microsoft.com/office/drawing/2014/main" id="{40678E0D-0250-3B4B-A625-79D2A2CDEDE5}"/>
              </a:ext>
            </a:extLst>
          </p:cNvPr>
          <p:cNvSpPr txBox="1">
            <a:spLocks/>
          </p:cNvSpPr>
          <p:nvPr/>
        </p:nvSpPr>
        <p:spPr bwMode="auto">
          <a:xfrm>
            <a:off x="5250143" y="1085902"/>
            <a:ext cx="2846884" cy="4247575"/>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rmAutofit lnSpcReduction="10000"/>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baseline="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t>Turn off all modules except for the one being refactored.</a:t>
            </a:r>
          </a:p>
          <a:p>
            <a:r>
              <a:rPr lang="en-US" dirty="0"/>
              <a:t>Have a way of testing in intermediate stages</a:t>
            </a:r>
          </a:p>
          <a:p>
            <a:r>
              <a:rPr lang="en-US" dirty="0"/>
              <a:t>Do this for all modules that need refactoring independently</a:t>
            </a:r>
          </a:p>
          <a:p>
            <a:endParaRPr lang="en-US" dirty="0"/>
          </a:p>
          <a:p>
            <a:pPr lvl="1"/>
            <a:endParaRPr lang="en-US" dirty="0"/>
          </a:p>
          <a:p>
            <a:pPr lvl="1"/>
            <a:endParaRPr lang="en-US" dirty="0"/>
          </a:p>
          <a:p>
            <a:pPr lvl="1"/>
            <a:endParaRPr lang="en-US" dirty="0"/>
          </a:p>
          <a:p>
            <a:pPr lvl="1"/>
            <a:endParaRPr lang="en-US" dirty="0"/>
          </a:p>
          <a:p>
            <a:pPr lvl="1"/>
            <a:endParaRPr lang="en-US" dirty="0"/>
          </a:p>
          <a:p>
            <a:pPr lvl="1"/>
            <a:endParaRPr lang="en-US" b="1" dirty="0">
              <a:solidFill>
                <a:schemeClr val="accent6">
                  <a:lumMod val="75000"/>
                </a:schemeClr>
              </a:solidFill>
            </a:endParaRPr>
          </a:p>
        </p:txBody>
      </p:sp>
      <p:grpSp>
        <p:nvGrpSpPr>
          <p:cNvPr id="96" name="Group 95">
            <a:extLst>
              <a:ext uri="{FF2B5EF4-FFF2-40B4-BE49-F238E27FC236}">
                <a16:creationId xmlns:a16="http://schemas.microsoft.com/office/drawing/2014/main" id="{3FFFCBD3-6BD9-C94D-8DF6-7925903B29E1}"/>
              </a:ext>
            </a:extLst>
          </p:cNvPr>
          <p:cNvGrpSpPr/>
          <p:nvPr/>
        </p:nvGrpSpPr>
        <p:grpSpPr>
          <a:xfrm>
            <a:off x="8401554" y="1178283"/>
            <a:ext cx="2232578" cy="1546013"/>
            <a:chOff x="4767377" y="4052661"/>
            <a:chExt cx="2232578" cy="1546013"/>
          </a:xfrm>
        </p:grpSpPr>
        <p:sp>
          <p:nvSpPr>
            <p:cNvPr id="97" name="Rectangle 96">
              <a:extLst>
                <a:ext uri="{FF2B5EF4-FFF2-40B4-BE49-F238E27FC236}">
                  <a16:creationId xmlns:a16="http://schemas.microsoft.com/office/drawing/2014/main" id="{23C12D5B-C197-1148-BAC6-5F437EBF6E8A}"/>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98" name="Oval 97">
              <a:extLst>
                <a:ext uri="{FF2B5EF4-FFF2-40B4-BE49-F238E27FC236}">
                  <a16:creationId xmlns:a16="http://schemas.microsoft.com/office/drawing/2014/main" id="{D57669A2-261F-A046-9F8A-3DDB47376138}"/>
                </a:ext>
              </a:extLst>
            </p:cNvPr>
            <p:cNvSpPr/>
            <p:nvPr/>
          </p:nvSpPr>
          <p:spPr>
            <a:xfrm>
              <a:off x="5651736" y="4071017"/>
              <a:ext cx="956930" cy="894701"/>
            </a:xfrm>
            <a:prstGeom prst="ellipse">
              <a:avLst/>
            </a:prstGeom>
            <a:solidFill>
              <a:schemeClr val="accent3"/>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99" name="Oval 98">
              <a:extLst>
                <a:ext uri="{FF2B5EF4-FFF2-40B4-BE49-F238E27FC236}">
                  <a16:creationId xmlns:a16="http://schemas.microsoft.com/office/drawing/2014/main" id="{7E5532A7-3881-3D43-A58B-0EB3C96899EC}"/>
                </a:ext>
              </a:extLst>
            </p:cNvPr>
            <p:cNvSpPr/>
            <p:nvPr/>
          </p:nvSpPr>
          <p:spPr>
            <a:xfrm>
              <a:off x="4888424" y="4178676"/>
              <a:ext cx="956930" cy="894701"/>
            </a:xfrm>
            <a:prstGeom prst="ellipse">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100" name="Group 99">
            <a:extLst>
              <a:ext uri="{FF2B5EF4-FFF2-40B4-BE49-F238E27FC236}">
                <a16:creationId xmlns:a16="http://schemas.microsoft.com/office/drawing/2014/main" id="{E4953E90-1472-7F4D-8556-650F956B07B6}"/>
              </a:ext>
            </a:extLst>
          </p:cNvPr>
          <p:cNvGrpSpPr/>
          <p:nvPr/>
        </p:nvGrpSpPr>
        <p:grpSpPr>
          <a:xfrm>
            <a:off x="8363242" y="2916937"/>
            <a:ext cx="2232578" cy="1546013"/>
            <a:chOff x="4767377" y="4052661"/>
            <a:chExt cx="2232578" cy="1546013"/>
          </a:xfrm>
        </p:grpSpPr>
        <p:sp>
          <p:nvSpPr>
            <p:cNvPr id="101" name="Rectangle 100">
              <a:extLst>
                <a:ext uri="{FF2B5EF4-FFF2-40B4-BE49-F238E27FC236}">
                  <a16:creationId xmlns:a16="http://schemas.microsoft.com/office/drawing/2014/main" id="{48FA496E-B055-DD49-BA99-16914DA1ED89}"/>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02" name="Oval 101">
              <a:extLst>
                <a:ext uri="{FF2B5EF4-FFF2-40B4-BE49-F238E27FC236}">
                  <a16:creationId xmlns:a16="http://schemas.microsoft.com/office/drawing/2014/main" id="{6BF1F265-ACA9-8B45-911D-0A474DDF8F16}"/>
                </a:ext>
              </a:extLst>
            </p:cNvPr>
            <p:cNvSpPr/>
            <p:nvPr/>
          </p:nvSpPr>
          <p:spPr>
            <a:xfrm>
              <a:off x="5405201" y="4573101"/>
              <a:ext cx="956930" cy="894701"/>
            </a:xfrm>
            <a:prstGeom prst="ellipse">
              <a:avLst/>
            </a:prstGeom>
            <a:solidFill>
              <a:schemeClr val="tx2">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103" name="Oval 102">
              <a:extLst>
                <a:ext uri="{FF2B5EF4-FFF2-40B4-BE49-F238E27FC236}">
                  <a16:creationId xmlns:a16="http://schemas.microsoft.com/office/drawing/2014/main" id="{81BBC1FA-FEE8-8346-8BA8-00753F89C210}"/>
                </a:ext>
              </a:extLst>
            </p:cNvPr>
            <p:cNvSpPr/>
            <p:nvPr/>
          </p:nvSpPr>
          <p:spPr>
            <a:xfrm>
              <a:off x="5651736" y="4071017"/>
              <a:ext cx="956930" cy="894701"/>
            </a:xfrm>
            <a:prstGeom prst="ellipse">
              <a:avLst/>
            </a:prstGeom>
            <a:solidFill>
              <a:schemeClr val="accent3"/>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104" name="Oval 103">
              <a:extLst>
                <a:ext uri="{FF2B5EF4-FFF2-40B4-BE49-F238E27FC236}">
                  <a16:creationId xmlns:a16="http://schemas.microsoft.com/office/drawing/2014/main" id="{E56C2C09-F9C5-8E47-9070-7F08E90DBFD1}"/>
                </a:ext>
              </a:extLst>
            </p:cNvPr>
            <p:cNvSpPr/>
            <p:nvPr/>
          </p:nvSpPr>
          <p:spPr>
            <a:xfrm>
              <a:off x="4888424" y="4178676"/>
              <a:ext cx="956930" cy="894701"/>
            </a:xfrm>
            <a:prstGeom prst="ellipse">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sp>
        <p:nvSpPr>
          <p:cNvPr id="105" name="Content Placeholder 2">
            <a:extLst>
              <a:ext uri="{FF2B5EF4-FFF2-40B4-BE49-F238E27FC236}">
                <a16:creationId xmlns:a16="http://schemas.microsoft.com/office/drawing/2014/main" id="{FE46BDAE-EEBC-AD4D-AE63-4306F660D45D}"/>
              </a:ext>
            </a:extLst>
          </p:cNvPr>
          <p:cNvSpPr txBox="1">
            <a:spLocks/>
          </p:cNvSpPr>
          <p:nvPr/>
        </p:nvSpPr>
        <p:spPr bwMode="auto">
          <a:xfrm>
            <a:off x="8144927" y="4538656"/>
            <a:ext cx="3285073" cy="1304909"/>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rmAutofit/>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baseline="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t>One by one turn on more than one refactored module</a:t>
            </a:r>
          </a:p>
          <a:p>
            <a:endParaRPr lang="en-US" dirty="0"/>
          </a:p>
          <a:p>
            <a:pPr lvl="1"/>
            <a:endParaRPr lang="en-US" dirty="0"/>
          </a:p>
          <a:p>
            <a:pPr lvl="1"/>
            <a:endParaRPr lang="en-US" dirty="0"/>
          </a:p>
          <a:p>
            <a:pPr lvl="1"/>
            <a:endParaRPr lang="en-US" dirty="0"/>
          </a:p>
          <a:p>
            <a:pPr lvl="1"/>
            <a:endParaRPr lang="en-US" dirty="0"/>
          </a:p>
          <a:p>
            <a:pPr lvl="1"/>
            <a:endParaRPr lang="en-US" dirty="0"/>
          </a:p>
          <a:p>
            <a:pPr lvl="1"/>
            <a:endParaRPr lang="en-US" b="1" dirty="0">
              <a:solidFill>
                <a:schemeClr val="accent6">
                  <a:lumMod val="75000"/>
                </a:schemeClr>
              </a:solidFill>
            </a:endParaRPr>
          </a:p>
        </p:txBody>
      </p:sp>
      <p:grpSp>
        <p:nvGrpSpPr>
          <p:cNvPr id="43" name="Group 42">
            <a:extLst>
              <a:ext uri="{FF2B5EF4-FFF2-40B4-BE49-F238E27FC236}">
                <a16:creationId xmlns:a16="http://schemas.microsoft.com/office/drawing/2014/main" id="{54003A27-DDDF-E548-8A53-E7B0D95E74EF}"/>
              </a:ext>
            </a:extLst>
          </p:cNvPr>
          <p:cNvGrpSpPr/>
          <p:nvPr/>
        </p:nvGrpSpPr>
        <p:grpSpPr>
          <a:xfrm>
            <a:off x="330872" y="1011799"/>
            <a:ext cx="4861598" cy="4875357"/>
            <a:chOff x="330872" y="1011799"/>
            <a:chExt cx="4861598" cy="4875357"/>
          </a:xfrm>
        </p:grpSpPr>
        <p:sp>
          <p:nvSpPr>
            <p:cNvPr id="46" name="TextBox 45">
              <a:extLst>
                <a:ext uri="{FF2B5EF4-FFF2-40B4-BE49-F238E27FC236}">
                  <a16:creationId xmlns:a16="http://schemas.microsoft.com/office/drawing/2014/main" id="{D97A63E4-6057-2A48-8789-EC5E025F3FB5}"/>
                </a:ext>
              </a:extLst>
            </p:cNvPr>
            <p:cNvSpPr txBox="1"/>
            <p:nvPr/>
          </p:nvSpPr>
          <p:spPr>
            <a:xfrm>
              <a:off x="2426947" y="2237843"/>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grpSp>
          <p:nvGrpSpPr>
            <p:cNvPr id="50" name="Group 49">
              <a:extLst>
                <a:ext uri="{FF2B5EF4-FFF2-40B4-BE49-F238E27FC236}">
                  <a16:creationId xmlns:a16="http://schemas.microsoft.com/office/drawing/2014/main" id="{1C8477BC-9C0C-2A40-919F-DD93C31D146F}"/>
                </a:ext>
              </a:extLst>
            </p:cNvPr>
            <p:cNvGrpSpPr/>
            <p:nvPr/>
          </p:nvGrpSpPr>
          <p:grpSpPr>
            <a:xfrm>
              <a:off x="330872" y="1014434"/>
              <a:ext cx="2232578" cy="1546013"/>
              <a:chOff x="4767377" y="4052661"/>
              <a:chExt cx="2232578" cy="1546013"/>
            </a:xfrm>
          </p:grpSpPr>
          <p:sp>
            <p:nvSpPr>
              <p:cNvPr id="71" name="Rectangle 70">
                <a:extLst>
                  <a:ext uri="{FF2B5EF4-FFF2-40B4-BE49-F238E27FC236}">
                    <a16:creationId xmlns:a16="http://schemas.microsoft.com/office/drawing/2014/main" id="{2BE4E0C1-853C-A34A-9CBF-4193C72EDA97}"/>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72" name="Oval 71">
                <a:extLst>
                  <a:ext uri="{FF2B5EF4-FFF2-40B4-BE49-F238E27FC236}">
                    <a16:creationId xmlns:a16="http://schemas.microsoft.com/office/drawing/2014/main" id="{BC203B07-8331-5646-B851-516E939E8DFB}"/>
                  </a:ext>
                </a:extLst>
              </p:cNvPr>
              <p:cNvSpPr/>
              <p:nvPr/>
            </p:nvSpPr>
            <p:spPr>
              <a:xfrm>
                <a:off x="4888424" y="4178676"/>
                <a:ext cx="956930" cy="894701"/>
              </a:xfrm>
              <a:prstGeom prst="ellipse">
                <a:avLst/>
              </a:prstGeom>
              <a:solidFill>
                <a:schemeClr val="accent5">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sp>
          <p:nvSpPr>
            <p:cNvPr id="51" name="TextBox 50">
              <a:extLst>
                <a:ext uri="{FF2B5EF4-FFF2-40B4-BE49-F238E27FC236}">
                  <a16:creationId xmlns:a16="http://schemas.microsoft.com/office/drawing/2014/main" id="{5BF905EE-E613-1F42-B059-9D980E9CB5EC}"/>
                </a:ext>
              </a:extLst>
            </p:cNvPr>
            <p:cNvSpPr txBox="1"/>
            <p:nvPr/>
          </p:nvSpPr>
          <p:spPr>
            <a:xfrm>
              <a:off x="4952340" y="2263449"/>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52" name="TextBox 51">
              <a:extLst>
                <a:ext uri="{FF2B5EF4-FFF2-40B4-BE49-F238E27FC236}">
                  <a16:creationId xmlns:a16="http://schemas.microsoft.com/office/drawing/2014/main" id="{93A9F5C7-B1D4-AD45-AD27-CF364B227834}"/>
                </a:ext>
              </a:extLst>
            </p:cNvPr>
            <p:cNvSpPr txBox="1"/>
            <p:nvPr/>
          </p:nvSpPr>
          <p:spPr>
            <a:xfrm>
              <a:off x="4848713" y="4227612"/>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grpSp>
          <p:nvGrpSpPr>
            <p:cNvPr id="53" name="Group 52">
              <a:extLst>
                <a:ext uri="{FF2B5EF4-FFF2-40B4-BE49-F238E27FC236}">
                  <a16:creationId xmlns:a16="http://schemas.microsoft.com/office/drawing/2014/main" id="{01C646EF-E8F6-1F4B-B754-867819238F38}"/>
                </a:ext>
              </a:extLst>
            </p:cNvPr>
            <p:cNvGrpSpPr/>
            <p:nvPr/>
          </p:nvGrpSpPr>
          <p:grpSpPr>
            <a:xfrm>
              <a:off x="2704289" y="1011799"/>
              <a:ext cx="2232578" cy="1546013"/>
              <a:chOff x="4767377" y="4052661"/>
              <a:chExt cx="2232578" cy="1546013"/>
            </a:xfrm>
          </p:grpSpPr>
          <p:sp>
            <p:nvSpPr>
              <p:cNvPr id="69" name="Rectangle 68">
                <a:extLst>
                  <a:ext uri="{FF2B5EF4-FFF2-40B4-BE49-F238E27FC236}">
                    <a16:creationId xmlns:a16="http://schemas.microsoft.com/office/drawing/2014/main" id="{7CC9A3BE-F3A7-2448-A3EE-5AD3BB78F5AA}"/>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70" name="Oval 69">
                <a:extLst>
                  <a:ext uri="{FF2B5EF4-FFF2-40B4-BE49-F238E27FC236}">
                    <a16:creationId xmlns:a16="http://schemas.microsoft.com/office/drawing/2014/main" id="{46C6CA3A-9CC6-F142-B100-154221D323D2}"/>
                  </a:ext>
                </a:extLst>
              </p:cNvPr>
              <p:cNvSpPr/>
              <p:nvPr/>
            </p:nvSpPr>
            <p:spPr>
              <a:xfrm>
                <a:off x="4888424" y="4178676"/>
                <a:ext cx="956930" cy="894701"/>
              </a:xfrm>
              <a:prstGeom prst="ellipse">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55" name="Group 54">
              <a:extLst>
                <a:ext uri="{FF2B5EF4-FFF2-40B4-BE49-F238E27FC236}">
                  <a16:creationId xmlns:a16="http://schemas.microsoft.com/office/drawing/2014/main" id="{4791B321-79CA-9343-B1A4-37A21EA8D4F0}"/>
                </a:ext>
              </a:extLst>
            </p:cNvPr>
            <p:cNvGrpSpPr/>
            <p:nvPr/>
          </p:nvGrpSpPr>
          <p:grpSpPr>
            <a:xfrm>
              <a:off x="330872" y="2658451"/>
              <a:ext cx="2232578" cy="1546013"/>
              <a:chOff x="4767377" y="4052661"/>
              <a:chExt cx="2232578" cy="1546013"/>
            </a:xfrm>
          </p:grpSpPr>
          <p:sp>
            <p:nvSpPr>
              <p:cNvPr id="67" name="Rectangle 66">
                <a:extLst>
                  <a:ext uri="{FF2B5EF4-FFF2-40B4-BE49-F238E27FC236}">
                    <a16:creationId xmlns:a16="http://schemas.microsoft.com/office/drawing/2014/main" id="{0674EF68-04C4-C741-A82E-EAA14F5128AD}"/>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8" name="Oval 67">
                <a:extLst>
                  <a:ext uri="{FF2B5EF4-FFF2-40B4-BE49-F238E27FC236}">
                    <a16:creationId xmlns:a16="http://schemas.microsoft.com/office/drawing/2014/main" id="{81D6E716-83A9-F74C-BBE5-D259C724C80A}"/>
                  </a:ext>
                </a:extLst>
              </p:cNvPr>
              <p:cNvSpPr/>
              <p:nvPr/>
            </p:nvSpPr>
            <p:spPr>
              <a:xfrm>
                <a:off x="5651736" y="4071017"/>
                <a:ext cx="956930" cy="894701"/>
              </a:xfrm>
              <a:prstGeom prst="ellipse">
                <a:avLst/>
              </a:prstGeom>
              <a:solidFill>
                <a:schemeClr val="accent5">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56" name="Group 55">
              <a:extLst>
                <a:ext uri="{FF2B5EF4-FFF2-40B4-BE49-F238E27FC236}">
                  <a16:creationId xmlns:a16="http://schemas.microsoft.com/office/drawing/2014/main" id="{C1DBD27E-C54E-6C48-BB99-6AEC4BEE41E3}"/>
                </a:ext>
              </a:extLst>
            </p:cNvPr>
            <p:cNvGrpSpPr/>
            <p:nvPr/>
          </p:nvGrpSpPr>
          <p:grpSpPr>
            <a:xfrm>
              <a:off x="2704289" y="2693096"/>
              <a:ext cx="2232578" cy="1546013"/>
              <a:chOff x="4767377" y="4052661"/>
              <a:chExt cx="2232578" cy="1546013"/>
            </a:xfrm>
          </p:grpSpPr>
          <p:sp>
            <p:nvSpPr>
              <p:cNvPr id="65" name="Rectangle 64">
                <a:extLst>
                  <a:ext uri="{FF2B5EF4-FFF2-40B4-BE49-F238E27FC236}">
                    <a16:creationId xmlns:a16="http://schemas.microsoft.com/office/drawing/2014/main" id="{A19339BB-B5F5-E541-9DB0-EB73CB8778B2}"/>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 name="Oval 65">
                <a:extLst>
                  <a:ext uri="{FF2B5EF4-FFF2-40B4-BE49-F238E27FC236}">
                    <a16:creationId xmlns:a16="http://schemas.microsoft.com/office/drawing/2014/main" id="{176D9A16-2585-2742-8286-F221E06A3ABA}"/>
                  </a:ext>
                </a:extLst>
              </p:cNvPr>
              <p:cNvSpPr/>
              <p:nvPr/>
            </p:nvSpPr>
            <p:spPr>
              <a:xfrm>
                <a:off x="5651736" y="4071017"/>
                <a:ext cx="956930" cy="894701"/>
              </a:xfrm>
              <a:prstGeom prst="ellipse">
                <a:avLst/>
              </a:prstGeom>
              <a:solidFill>
                <a:srgbClr val="00B0F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57" name="Group 56">
              <a:extLst>
                <a:ext uri="{FF2B5EF4-FFF2-40B4-BE49-F238E27FC236}">
                  <a16:creationId xmlns:a16="http://schemas.microsoft.com/office/drawing/2014/main" id="{F79416F0-A9CE-EC4D-A066-8C1C9641E8BF}"/>
                </a:ext>
              </a:extLst>
            </p:cNvPr>
            <p:cNvGrpSpPr/>
            <p:nvPr/>
          </p:nvGrpSpPr>
          <p:grpSpPr>
            <a:xfrm>
              <a:off x="330872" y="4341143"/>
              <a:ext cx="2232578" cy="1546013"/>
              <a:chOff x="4767377" y="4052661"/>
              <a:chExt cx="2232578" cy="1546013"/>
            </a:xfrm>
          </p:grpSpPr>
          <p:sp>
            <p:nvSpPr>
              <p:cNvPr id="62" name="Rectangle 61">
                <a:extLst>
                  <a:ext uri="{FF2B5EF4-FFF2-40B4-BE49-F238E27FC236}">
                    <a16:creationId xmlns:a16="http://schemas.microsoft.com/office/drawing/2014/main" id="{52D4B449-664D-8248-88BA-24F140335C72}"/>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 name="Oval 62">
                <a:extLst>
                  <a:ext uri="{FF2B5EF4-FFF2-40B4-BE49-F238E27FC236}">
                    <a16:creationId xmlns:a16="http://schemas.microsoft.com/office/drawing/2014/main" id="{8CD13903-8A0A-8348-AD18-041DAB1D7D5A}"/>
                  </a:ext>
                </a:extLst>
              </p:cNvPr>
              <p:cNvSpPr/>
              <p:nvPr/>
            </p:nvSpPr>
            <p:spPr>
              <a:xfrm>
                <a:off x="5405201" y="4573101"/>
                <a:ext cx="956930" cy="894701"/>
              </a:xfrm>
              <a:prstGeom prst="ellipse">
                <a:avLst/>
              </a:prstGeom>
              <a:solidFill>
                <a:schemeClr val="accent5">
                  <a:lumMod val="20000"/>
                  <a:lumOff val="8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58" name="Group 57">
              <a:extLst>
                <a:ext uri="{FF2B5EF4-FFF2-40B4-BE49-F238E27FC236}">
                  <a16:creationId xmlns:a16="http://schemas.microsoft.com/office/drawing/2014/main" id="{4B3A3E0D-8948-C14B-8F42-628672D29487}"/>
                </a:ext>
              </a:extLst>
            </p:cNvPr>
            <p:cNvGrpSpPr/>
            <p:nvPr/>
          </p:nvGrpSpPr>
          <p:grpSpPr>
            <a:xfrm>
              <a:off x="2711997" y="4341143"/>
              <a:ext cx="2232578" cy="1546013"/>
              <a:chOff x="4767377" y="4052661"/>
              <a:chExt cx="2232578" cy="1546013"/>
            </a:xfrm>
          </p:grpSpPr>
          <p:sp>
            <p:nvSpPr>
              <p:cNvPr id="60" name="Rectangle 59">
                <a:extLst>
                  <a:ext uri="{FF2B5EF4-FFF2-40B4-BE49-F238E27FC236}">
                    <a16:creationId xmlns:a16="http://schemas.microsoft.com/office/drawing/2014/main" id="{2052369E-D5F3-F748-B8E0-A1A53D84FF24}"/>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1" name="Oval 60">
                <a:extLst>
                  <a:ext uri="{FF2B5EF4-FFF2-40B4-BE49-F238E27FC236}">
                    <a16:creationId xmlns:a16="http://schemas.microsoft.com/office/drawing/2014/main" id="{AFB5AC9B-EC3E-0A48-AC6A-D495E98B5EBE}"/>
                  </a:ext>
                </a:extLst>
              </p:cNvPr>
              <p:cNvSpPr/>
              <p:nvPr/>
            </p:nvSpPr>
            <p:spPr>
              <a:xfrm>
                <a:off x="5405201" y="4573101"/>
                <a:ext cx="956930" cy="894701"/>
              </a:xfrm>
              <a:prstGeom prst="ellipse">
                <a:avLst/>
              </a:prstGeom>
              <a:solidFill>
                <a:schemeClr val="tx2">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spTree>
    <p:extLst>
      <p:ext uri="{BB962C8B-B14F-4D97-AF65-F5344CB8AC3E}">
        <p14:creationId xmlns:p14="http://schemas.microsoft.com/office/powerpoint/2010/main" val="306072822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Map from Here to There: On ramp plan2</a:t>
            </a:r>
          </a:p>
        </p:txBody>
      </p:sp>
      <p:sp>
        <p:nvSpPr>
          <p:cNvPr id="44" name="TextBox 43">
            <a:extLst>
              <a:ext uri="{FF2B5EF4-FFF2-40B4-BE49-F238E27FC236}">
                <a16:creationId xmlns:a16="http://schemas.microsoft.com/office/drawing/2014/main" id="{3CCAD567-96F6-E14C-BC53-5BB7D951BB5F}"/>
              </a:ext>
            </a:extLst>
          </p:cNvPr>
          <p:cNvSpPr txBox="1"/>
          <p:nvPr/>
        </p:nvSpPr>
        <p:spPr>
          <a:xfrm>
            <a:off x="2684376" y="2600784"/>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54" name="TextBox 53">
            <a:extLst>
              <a:ext uri="{FF2B5EF4-FFF2-40B4-BE49-F238E27FC236}">
                <a16:creationId xmlns:a16="http://schemas.microsoft.com/office/drawing/2014/main" id="{CD1D1D53-3272-DF47-B110-6A3A31F286F5}"/>
              </a:ext>
            </a:extLst>
          </p:cNvPr>
          <p:cNvSpPr txBox="1"/>
          <p:nvPr/>
        </p:nvSpPr>
        <p:spPr>
          <a:xfrm>
            <a:off x="5635161" y="2741351"/>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59" name="TextBox 58">
            <a:extLst>
              <a:ext uri="{FF2B5EF4-FFF2-40B4-BE49-F238E27FC236}">
                <a16:creationId xmlns:a16="http://schemas.microsoft.com/office/drawing/2014/main" id="{5DADEF1B-BB22-6E46-A026-20BF92281A68}"/>
              </a:ext>
            </a:extLst>
          </p:cNvPr>
          <p:cNvSpPr txBox="1"/>
          <p:nvPr/>
        </p:nvSpPr>
        <p:spPr>
          <a:xfrm>
            <a:off x="6889544" y="2450812"/>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64" name="TextBox 63">
            <a:extLst>
              <a:ext uri="{FF2B5EF4-FFF2-40B4-BE49-F238E27FC236}">
                <a16:creationId xmlns:a16="http://schemas.microsoft.com/office/drawing/2014/main" id="{A2B5188C-8EF9-E942-BB17-36AF56B62E7E}"/>
              </a:ext>
            </a:extLst>
          </p:cNvPr>
          <p:cNvSpPr txBox="1"/>
          <p:nvPr/>
        </p:nvSpPr>
        <p:spPr>
          <a:xfrm>
            <a:off x="11786505" y="2927051"/>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33" name="TextBox 32">
            <a:extLst>
              <a:ext uri="{FF2B5EF4-FFF2-40B4-BE49-F238E27FC236}">
                <a16:creationId xmlns:a16="http://schemas.microsoft.com/office/drawing/2014/main" id="{A7765D86-B73C-9449-B0DC-4097F6C82E93}"/>
              </a:ext>
            </a:extLst>
          </p:cNvPr>
          <p:cNvSpPr txBox="1"/>
          <p:nvPr/>
        </p:nvSpPr>
        <p:spPr>
          <a:xfrm>
            <a:off x="2571365" y="2444379"/>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grpSp>
        <p:nvGrpSpPr>
          <p:cNvPr id="19" name="Group 18">
            <a:extLst>
              <a:ext uri="{FF2B5EF4-FFF2-40B4-BE49-F238E27FC236}">
                <a16:creationId xmlns:a16="http://schemas.microsoft.com/office/drawing/2014/main" id="{A6BD3173-2F50-1C4C-8237-FAE3C5360FF4}"/>
              </a:ext>
            </a:extLst>
          </p:cNvPr>
          <p:cNvGrpSpPr/>
          <p:nvPr/>
        </p:nvGrpSpPr>
        <p:grpSpPr>
          <a:xfrm>
            <a:off x="394324" y="947077"/>
            <a:ext cx="2232578" cy="1546013"/>
            <a:chOff x="4767377" y="4052661"/>
            <a:chExt cx="2232578" cy="1546013"/>
          </a:xfrm>
        </p:grpSpPr>
        <p:sp>
          <p:nvSpPr>
            <p:cNvPr id="20" name="Rectangle 19">
              <a:extLst>
                <a:ext uri="{FF2B5EF4-FFF2-40B4-BE49-F238E27FC236}">
                  <a16:creationId xmlns:a16="http://schemas.microsoft.com/office/drawing/2014/main" id="{D42CC6A6-EADD-834A-A1DB-9FC60EB6D2D3}"/>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9D3411E0-9923-FC4D-AF90-C0EB18B9E823}"/>
                </a:ext>
              </a:extLst>
            </p:cNvPr>
            <p:cNvSpPr/>
            <p:nvPr/>
          </p:nvSpPr>
          <p:spPr>
            <a:xfrm>
              <a:off x="5405201" y="4573101"/>
              <a:ext cx="956930" cy="894701"/>
            </a:xfrm>
            <a:prstGeom prst="ellipse">
              <a:avLst/>
            </a:prstGeom>
            <a:solidFill>
              <a:schemeClr val="accent5">
                <a:lumMod val="20000"/>
                <a:lumOff val="8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22" name="Oval 21">
              <a:extLst>
                <a:ext uri="{FF2B5EF4-FFF2-40B4-BE49-F238E27FC236}">
                  <a16:creationId xmlns:a16="http://schemas.microsoft.com/office/drawing/2014/main" id="{A4403CDB-875C-ED41-BF72-0D24B9372C04}"/>
                </a:ext>
              </a:extLst>
            </p:cNvPr>
            <p:cNvSpPr/>
            <p:nvPr/>
          </p:nvSpPr>
          <p:spPr>
            <a:xfrm>
              <a:off x="5651736" y="4071017"/>
              <a:ext cx="956930" cy="894701"/>
            </a:xfrm>
            <a:prstGeom prst="ellipse">
              <a:avLst/>
            </a:prstGeom>
            <a:solidFill>
              <a:schemeClr val="accent5">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23" name="Oval 22">
              <a:extLst>
                <a:ext uri="{FF2B5EF4-FFF2-40B4-BE49-F238E27FC236}">
                  <a16:creationId xmlns:a16="http://schemas.microsoft.com/office/drawing/2014/main" id="{F95CBDE7-AC4B-7840-ABC8-6E6BF41EF2D8}"/>
                </a:ext>
              </a:extLst>
            </p:cNvPr>
            <p:cNvSpPr/>
            <p:nvPr/>
          </p:nvSpPr>
          <p:spPr>
            <a:xfrm>
              <a:off x="4888424" y="4178676"/>
              <a:ext cx="956930" cy="894701"/>
            </a:xfrm>
            <a:prstGeom prst="ellipse">
              <a:avLst/>
            </a:prstGeom>
            <a:solidFill>
              <a:schemeClr val="accent5">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spTree>
    <p:extLst>
      <p:ext uri="{BB962C8B-B14F-4D97-AF65-F5344CB8AC3E}">
        <p14:creationId xmlns:p14="http://schemas.microsoft.com/office/powerpoint/2010/main" val="428874036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Map from Here to There: On ramp plan2</a:t>
            </a:r>
          </a:p>
        </p:txBody>
      </p:sp>
      <p:sp>
        <p:nvSpPr>
          <p:cNvPr id="44" name="TextBox 43">
            <a:extLst>
              <a:ext uri="{FF2B5EF4-FFF2-40B4-BE49-F238E27FC236}">
                <a16:creationId xmlns:a16="http://schemas.microsoft.com/office/drawing/2014/main" id="{3CCAD567-96F6-E14C-BC53-5BB7D951BB5F}"/>
              </a:ext>
            </a:extLst>
          </p:cNvPr>
          <p:cNvSpPr txBox="1"/>
          <p:nvPr/>
        </p:nvSpPr>
        <p:spPr>
          <a:xfrm>
            <a:off x="2684376" y="2600784"/>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54" name="TextBox 53">
            <a:extLst>
              <a:ext uri="{FF2B5EF4-FFF2-40B4-BE49-F238E27FC236}">
                <a16:creationId xmlns:a16="http://schemas.microsoft.com/office/drawing/2014/main" id="{CD1D1D53-3272-DF47-B110-6A3A31F286F5}"/>
              </a:ext>
            </a:extLst>
          </p:cNvPr>
          <p:cNvSpPr txBox="1"/>
          <p:nvPr/>
        </p:nvSpPr>
        <p:spPr>
          <a:xfrm>
            <a:off x="5635161" y="2741351"/>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59" name="TextBox 58">
            <a:extLst>
              <a:ext uri="{FF2B5EF4-FFF2-40B4-BE49-F238E27FC236}">
                <a16:creationId xmlns:a16="http://schemas.microsoft.com/office/drawing/2014/main" id="{5DADEF1B-BB22-6E46-A026-20BF92281A68}"/>
              </a:ext>
            </a:extLst>
          </p:cNvPr>
          <p:cNvSpPr txBox="1"/>
          <p:nvPr/>
        </p:nvSpPr>
        <p:spPr>
          <a:xfrm>
            <a:off x="6889544" y="2450812"/>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64" name="TextBox 63">
            <a:extLst>
              <a:ext uri="{FF2B5EF4-FFF2-40B4-BE49-F238E27FC236}">
                <a16:creationId xmlns:a16="http://schemas.microsoft.com/office/drawing/2014/main" id="{A2B5188C-8EF9-E942-BB17-36AF56B62E7E}"/>
              </a:ext>
            </a:extLst>
          </p:cNvPr>
          <p:cNvSpPr txBox="1"/>
          <p:nvPr/>
        </p:nvSpPr>
        <p:spPr>
          <a:xfrm>
            <a:off x="11786505" y="2927051"/>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33" name="TextBox 32">
            <a:extLst>
              <a:ext uri="{FF2B5EF4-FFF2-40B4-BE49-F238E27FC236}">
                <a16:creationId xmlns:a16="http://schemas.microsoft.com/office/drawing/2014/main" id="{A7765D86-B73C-9449-B0DC-4097F6C82E93}"/>
              </a:ext>
            </a:extLst>
          </p:cNvPr>
          <p:cNvSpPr txBox="1"/>
          <p:nvPr/>
        </p:nvSpPr>
        <p:spPr>
          <a:xfrm>
            <a:off x="2571365" y="2444379"/>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83" name="Content Placeholder 2">
            <a:extLst>
              <a:ext uri="{FF2B5EF4-FFF2-40B4-BE49-F238E27FC236}">
                <a16:creationId xmlns:a16="http://schemas.microsoft.com/office/drawing/2014/main" id="{27276B1D-3724-E242-B77E-0C1E387B32EB}"/>
              </a:ext>
            </a:extLst>
          </p:cNvPr>
          <p:cNvSpPr txBox="1">
            <a:spLocks/>
          </p:cNvSpPr>
          <p:nvPr/>
        </p:nvSpPr>
        <p:spPr bwMode="auto">
          <a:xfrm>
            <a:off x="10103279" y="1034858"/>
            <a:ext cx="1983802" cy="4652316"/>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baseline="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sz="2200" dirty="0"/>
              <a:t>Build a separate environment for testing refactored module</a:t>
            </a:r>
          </a:p>
          <a:p>
            <a:endParaRPr lang="en-US" dirty="0"/>
          </a:p>
          <a:p>
            <a:pPr lvl="1"/>
            <a:endParaRPr lang="en-US" dirty="0"/>
          </a:p>
          <a:p>
            <a:pPr lvl="1"/>
            <a:endParaRPr lang="en-US" dirty="0"/>
          </a:p>
          <a:p>
            <a:pPr lvl="1"/>
            <a:endParaRPr lang="en-US" dirty="0"/>
          </a:p>
          <a:p>
            <a:pPr lvl="1"/>
            <a:endParaRPr lang="en-US" dirty="0"/>
          </a:p>
          <a:p>
            <a:pPr lvl="1"/>
            <a:endParaRPr lang="en-US" dirty="0"/>
          </a:p>
          <a:p>
            <a:pPr lvl="1"/>
            <a:endParaRPr lang="en-US" b="1" dirty="0">
              <a:solidFill>
                <a:schemeClr val="accent6">
                  <a:lumMod val="75000"/>
                </a:schemeClr>
              </a:solidFill>
            </a:endParaRPr>
          </a:p>
        </p:txBody>
      </p:sp>
      <p:grpSp>
        <p:nvGrpSpPr>
          <p:cNvPr id="19" name="Group 18">
            <a:extLst>
              <a:ext uri="{FF2B5EF4-FFF2-40B4-BE49-F238E27FC236}">
                <a16:creationId xmlns:a16="http://schemas.microsoft.com/office/drawing/2014/main" id="{A6BD3173-2F50-1C4C-8237-FAE3C5360FF4}"/>
              </a:ext>
            </a:extLst>
          </p:cNvPr>
          <p:cNvGrpSpPr/>
          <p:nvPr/>
        </p:nvGrpSpPr>
        <p:grpSpPr>
          <a:xfrm>
            <a:off x="394324" y="947077"/>
            <a:ext cx="2232578" cy="1546013"/>
            <a:chOff x="4767377" y="4052661"/>
            <a:chExt cx="2232578" cy="1546013"/>
          </a:xfrm>
        </p:grpSpPr>
        <p:sp>
          <p:nvSpPr>
            <p:cNvPr id="20" name="Rectangle 19">
              <a:extLst>
                <a:ext uri="{FF2B5EF4-FFF2-40B4-BE49-F238E27FC236}">
                  <a16:creationId xmlns:a16="http://schemas.microsoft.com/office/drawing/2014/main" id="{D42CC6A6-EADD-834A-A1DB-9FC60EB6D2D3}"/>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9D3411E0-9923-FC4D-AF90-C0EB18B9E823}"/>
                </a:ext>
              </a:extLst>
            </p:cNvPr>
            <p:cNvSpPr/>
            <p:nvPr/>
          </p:nvSpPr>
          <p:spPr>
            <a:xfrm>
              <a:off x="5405201" y="4573101"/>
              <a:ext cx="956930" cy="894701"/>
            </a:xfrm>
            <a:prstGeom prst="ellipse">
              <a:avLst/>
            </a:prstGeom>
            <a:solidFill>
              <a:schemeClr val="accent5">
                <a:lumMod val="20000"/>
                <a:lumOff val="8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22" name="Oval 21">
              <a:extLst>
                <a:ext uri="{FF2B5EF4-FFF2-40B4-BE49-F238E27FC236}">
                  <a16:creationId xmlns:a16="http://schemas.microsoft.com/office/drawing/2014/main" id="{A4403CDB-875C-ED41-BF72-0D24B9372C04}"/>
                </a:ext>
              </a:extLst>
            </p:cNvPr>
            <p:cNvSpPr/>
            <p:nvPr/>
          </p:nvSpPr>
          <p:spPr>
            <a:xfrm>
              <a:off x="5651736" y="4071017"/>
              <a:ext cx="956930" cy="894701"/>
            </a:xfrm>
            <a:prstGeom prst="ellipse">
              <a:avLst/>
            </a:prstGeom>
            <a:solidFill>
              <a:schemeClr val="accent5">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23" name="Oval 22">
              <a:extLst>
                <a:ext uri="{FF2B5EF4-FFF2-40B4-BE49-F238E27FC236}">
                  <a16:creationId xmlns:a16="http://schemas.microsoft.com/office/drawing/2014/main" id="{F95CBDE7-AC4B-7840-ABC8-6E6BF41EF2D8}"/>
                </a:ext>
              </a:extLst>
            </p:cNvPr>
            <p:cNvSpPr/>
            <p:nvPr/>
          </p:nvSpPr>
          <p:spPr>
            <a:xfrm>
              <a:off x="4888424" y="4178676"/>
              <a:ext cx="956930" cy="894701"/>
            </a:xfrm>
            <a:prstGeom prst="ellipse">
              <a:avLst/>
            </a:prstGeom>
            <a:solidFill>
              <a:schemeClr val="accent5">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sp>
        <p:nvSpPr>
          <p:cNvPr id="39" name="Rectangle 38">
            <a:extLst>
              <a:ext uri="{FF2B5EF4-FFF2-40B4-BE49-F238E27FC236}">
                <a16:creationId xmlns:a16="http://schemas.microsoft.com/office/drawing/2014/main" id="{1A0684AF-2511-514C-91BA-BD8A46356612}"/>
              </a:ext>
            </a:extLst>
          </p:cNvPr>
          <p:cNvSpPr/>
          <p:nvPr/>
        </p:nvSpPr>
        <p:spPr>
          <a:xfrm>
            <a:off x="2840161" y="946345"/>
            <a:ext cx="2232578" cy="1546013"/>
          </a:xfrm>
          <a:prstGeom prst="rect">
            <a:avLst/>
          </a:prstGeom>
          <a:solidFill>
            <a:schemeClr val="accent2">
              <a:lumMod val="20000"/>
              <a:lumOff val="8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8326116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Map from Here to There: On ramp plan2</a:t>
            </a:r>
          </a:p>
        </p:txBody>
      </p:sp>
      <p:sp>
        <p:nvSpPr>
          <p:cNvPr id="44" name="TextBox 43">
            <a:extLst>
              <a:ext uri="{FF2B5EF4-FFF2-40B4-BE49-F238E27FC236}">
                <a16:creationId xmlns:a16="http://schemas.microsoft.com/office/drawing/2014/main" id="{3CCAD567-96F6-E14C-BC53-5BB7D951BB5F}"/>
              </a:ext>
            </a:extLst>
          </p:cNvPr>
          <p:cNvSpPr txBox="1"/>
          <p:nvPr/>
        </p:nvSpPr>
        <p:spPr>
          <a:xfrm>
            <a:off x="2684376" y="2600784"/>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54" name="TextBox 53">
            <a:extLst>
              <a:ext uri="{FF2B5EF4-FFF2-40B4-BE49-F238E27FC236}">
                <a16:creationId xmlns:a16="http://schemas.microsoft.com/office/drawing/2014/main" id="{CD1D1D53-3272-DF47-B110-6A3A31F286F5}"/>
              </a:ext>
            </a:extLst>
          </p:cNvPr>
          <p:cNvSpPr txBox="1"/>
          <p:nvPr/>
        </p:nvSpPr>
        <p:spPr>
          <a:xfrm>
            <a:off x="5635161" y="2741351"/>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59" name="TextBox 58">
            <a:extLst>
              <a:ext uri="{FF2B5EF4-FFF2-40B4-BE49-F238E27FC236}">
                <a16:creationId xmlns:a16="http://schemas.microsoft.com/office/drawing/2014/main" id="{5DADEF1B-BB22-6E46-A026-20BF92281A68}"/>
              </a:ext>
            </a:extLst>
          </p:cNvPr>
          <p:cNvSpPr txBox="1"/>
          <p:nvPr/>
        </p:nvSpPr>
        <p:spPr>
          <a:xfrm>
            <a:off x="6889544" y="2450812"/>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64" name="TextBox 63">
            <a:extLst>
              <a:ext uri="{FF2B5EF4-FFF2-40B4-BE49-F238E27FC236}">
                <a16:creationId xmlns:a16="http://schemas.microsoft.com/office/drawing/2014/main" id="{A2B5188C-8EF9-E942-BB17-36AF56B62E7E}"/>
              </a:ext>
            </a:extLst>
          </p:cNvPr>
          <p:cNvSpPr txBox="1"/>
          <p:nvPr/>
        </p:nvSpPr>
        <p:spPr>
          <a:xfrm>
            <a:off x="11786505" y="2927051"/>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33" name="TextBox 32">
            <a:extLst>
              <a:ext uri="{FF2B5EF4-FFF2-40B4-BE49-F238E27FC236}">
                <a16:creationId xmlns:a16="http://schemas.microsoft.com/office/drawing/2014/main" id="{A7765D86-B73C-9449-B0DC-4097F6C82E93}"/>
              </a:ext>
            </a:extLst>
          </p:cNvPr>
          <p:cNvSpPr txBox="1"/>
          <p:nvPr/>
        </p:nvSpPr>
        <p:spPr>
          <a:xfrm>
            <a:off x="2571365" y="2444379"/>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83" name="Content Placeholder 2">
            <a:extLst>
              <a:ext uri="{FF2B5EF4-FFF2-40B4-BE49-F238E27FC236}">
                <a16:creationId xmlns:a16="http://schemas.microsoft.com/office/drawing/2014/main" id="{27276B1D-3724-E242-B77E-0C1E387B32EB}"/>
              </a:ext>
            </a:extLst>
          </p:cNvPr>
          <p:cNvSpPr txBox="1">
            <a:spLocks/>
          </p:cNvSpPr>
          <p:nvPr/>
        </p:nvSpPr>
        <p:spPr bwMode="auto">
          <a:xfrm>
            <a:off x="10103279" y="1034858"/>
            <a:ext cx="1983802" cy="4652316"/>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baseline="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sz="2200" dirty="0"/>
              <a:t>Build a separate environment for testing refactored module</a:t>
            </a:r>
          </a:p>
          <a:p>
            <a:r>
              <a:rPr lang="en-US" sz="2200" dirty="0"/>
              <a:t>Copy over the module in this isolated environment</a:t>
            </a:r>
          </a:p>
          <a:p>
            <a:pPr marL="0" indent="0">
              <a:buNone/>
            </a:pPr>
            <a:endParaRPr lang="en-US" dirty="0"/>
          </a:p>
          <a:p>
            <a:pPr lvl="1"/>
            <a:endParaRPr lang="en-US" dirty="0"/>
          </a:p>
          <a:p>
            <a:pPr lvl="1"/>
            <a:endParaRPr lang="en-US" dirty="0"/>
          </a:p>
          <a:p>
            <a:pPr lvl="1"/>
            <a:endParaRPr lang="en-US" dirty="0"/>
          </a:p>
          <a:p>
            <a:pPr lvl="1"/>
            <a:endParaRPr lang="en-US" dirty="0"/>
          </a:p>
          <a:p>
            <a:pPr lvl="1"/>
            <a:endParaRPr lang="en-US" dirty="0"/>
          </a:p>
          <a:p>
            <a:pPr lvl="1"/>
            <a:endParaRPr lang="en-US" b="1" dirty="0">
              <a:solidFill>
                <a:schemeClr val="accent6">
                  <a:lumMod val="75000"/>
                </a:schemeClr>
              </a:solidFill>
            </a:endParaRPr>
          </a:p>
        </p:txBody>
      </p:sp>
      <p:grpSp>
        <p:nvGrpSpPr>
          <p:cNvPr id="19" name="Group 18">
            <a:extLst>
              <a:ext uri="{FF2B5EF4-FFF2-40B4-BE49-F238E27FC236}">
                <a16:creationId xmlns:a16="http://schemas.microsoft.com/office/drawing/2014/main" id="{A6BD3173-2F50-1C4C-8237-FAE3C5360FF4}"/>
              </a:ext>
            </a:extLst>
          </p:cNvPr>
          <p:cNvGrpSpPr/>
          <p:nvPr/>
        </p:nvGrpSpPr>
        <p:grpSpPr>
          <a:xfrm>
            <a:off x="394324" y="947077"/>
            <a:ext cx="2232578" cy="1546013"/>
            <a:chOff x="4767377" y="4052661"/>
            <a:chExt cx="2232578" cy="1546013"/>
          </a:xfrm>
        </p:grpSpPr>
        <p:sp>
          <p:nvSpPr>
            <p:cNvPr id="20" name="Rectangle 19">
              <a:extLst>
                <a:ext uri="{FF2B5EF4-FFF2-40B4-BE49-F238E27FC236}">
                  <a16:creationId xmlns:a16="http://schemas.microsoft.com/office/drawing/2014/main" id="{D42CC6A6-EADD-834A-A1DB-9FC60EB6D2D3}"/>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9D3411E0-9923-FC4D-AF90-C0EB18B9E823}"/>
                </a:ext>
              </a:extLst>
            </p:cNvPr>
            <p:cNvSpPr/>
            <p:nvPr/>
          </p:nvSpPr>
          <p:spPr>
            <a:xfrm>
              <a:off x="5405201" y="4573101"/>
              <a:ext cx="956930" cy="894701"/>
            </a:xfrm>
            <a:prstGeom prst="ellipse">
              <a:avLst/>
            </a:prstGeom>
            <a:solidFill>
              <a:schemeClr val="accent5">
                <a:lumMod val="20000"/>
                <a:lumOff val="8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22" name="Oval 21">
              <a:extLst>
                <a:ext uri="{FF2B5EF4-FFF2-40B4-BE49-F238E27FC236}">
                  <a16:creationId xmlns:a16="http://schemas.microsoft.com/office/drawing/2014/main" id="{A4403CDB-875C-ED41-BF72-0D24B9372C04}"/>
                </a:ext>
              </a:extLst>
            </p:cNvPr>
            <p:cNvSpPr/>
            <p:nvPr/>
          </p:nvSpPr>
          <p:spPr>
            <a:xfrm>
              <a:off x="5651736" y="4071017"/>
              <a:ext cx="956930" cy="894701"/>
            </a:xfrm>
            <a:prstGeom prst="ellipse">
              <a:avLst/>
            </a:prstGeom>
            <a:solidFill>
              <a:schemeClr val="accent5">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23" name="Oval 22">
              <a:extLst>
                <a:ext uri="{FF2B5EF4-FFF2-40B4-BE49-F238E27FC236}">
                  <a16:creationId xmlns:a16="http://schemas.microsoft.com/office/drawing/2014/main" id="{F95CBDE7-AC4B-7840-ABC8-6E6BF41EF2D8}"/>
                </a:ext>
              </a:extLst>
            </p:cNvPr>
            <p:cNvSpPr/>
            <p:nvPr/>
          </p:nvSpPr>
          <p:spPr>
            <a:xfrm>
              <a:off x="4888424" y="4178676"/>
              <a:ext cx="956930" cy="894701"/>
            </a:xfrm>
            <a:prstGeom prst="ellipse">
              <a:avLst/>
            </a:prstGeom>
            <a:solidFill>
              <a:schemeClr val="accent5">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37" name="Group 36">
            <a:extLst>
              <a:ext uri="{FF2B5EF4-FFF2-40B4-BE49-F238E27FC236}">
                <a16:creationId xmlns:a16="http://schemas.microsoft.com/office/drawing/2014/main" id="{B4C6C081-2C6E-1E43-B9F6-A82C83F1ED0E}"/>
              </a:ext>
            </a:extLst>
          </p:cNvPr>
          <p:cNvGrpSpPr/>
          <p:nvPr/>
        </p:nvGrpSpPr>
        <p:grpSpPr>
          <a:xfrm>
            <a:off x="2840161" y="946345"/>
            <a:ext cx="2232578" cy="1546013"/>
            <a:chOff x="4767377" y="4052661"/>
            <a:chExt cx="2232578" cy="1546013"/>
          </a:xfrm>
        </p:grpSpPr>
        <p:sp>
          <p:nvSpPr>
            <p:cNvPr id="39" name="Rectangle 38">
              <a:extLst>
                <a:ext uri="{FF2B5EF4-FFF2-40B4-BE49-F238E27FC236}">
                  <a16:creationId xmlns:a16="http://schemas.microsoft.com/office/drawing/2014/main" id="{1A0684AF-2511-514C-91BA-BD8A46356612}"/>
                </a:ext>
              </a:extLst>
            </p:cNvPr>
            <p:cNvSpPr/>
            <p:nvPr/>
          </p:nvSpPr>
          <p:spPr>
            <a:xfrm>
              <a:off x="4767377" y="4052661"/>
              <a:ext cx="2232578" cy="1546013"/>
            </a:xfrm>
            <a:prstGeom prst="rect">
              <a:avLst/>
            </a:prstGeom>
            <a:solidFill>
              <a:schemeClr val="accent2">
                <a:lumMod val="20000"/>
                <a:lumOff val="8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2" name="Oval 41">
              <a:extLst>
                <a:ext uri="{FF2B5EF4-FFF2-40B4-BE49-F238E27FC236}">
                  <a16:creationId xmlns:a16="http://schemas.microsoft.com/office/drawing/2014/main" id="{A4CD347B-1249-3747-A32C-4791B7A9A54B}"/>
                </a:ext>
              </a:extLst>
            </p:cNvPr>
            <p:cNvSpPr/>
            <p:nvPr/>
          </p:nvSpPr>
          <p:spPr>
            <a:xfrm>
              <a:off x="4888424" y="4178676"/>
              <a:ext cx="956930" cy="894701"/>
            </a:xfrm>
            <a:prstGeom prst="ellipse">
              <a:avLst/>
            </a:prstGeom>
            <a:solidFill>
              <a:schemeClr val="accent5">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spTree>
    <p:extLst>
      <p:ext uri="{BB962C8B-B14F-4D97-AF65-F5344CB8AC3E}">
        <p14:creationId xmlns:p14="http://schemas.microsoft.com/office/powerpoint/2010/main" val="3261261194"/>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Map from Here to There: On ramp plan2</a:t>
            </a:r>
          </a:p>
        </p:txBody>
      </p:sp>
      <p:sp>
        <p:nvSpPr>
          <p:cNvPr id="44" name="TextBox 43">
            <a:extLst>
              <a:ext uri="{FF2B5EF4-FFF2-40B4-BE49-F238E27FC236}">
                <a16:creationId xmlns:a16="http://schemas.microsoft.com/office/drawing/2014/main" id="{3CCAD567-96F6-E14C-BC53-5BB7D951BB5F}"/>
              </a:ext>
            </a:extLst>
          </p:cNvPr>
          <p:cNvSpPr txBox="1"/>
          <p:nvPr/>
        </p:nvSpPr>
        <p:spPr>
          <a:xfrm>
            <a:off x="2684376" y="2600784"/>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54" name="TextBox 53">
            <a:extLst>
              <a:ext uri="{FF2B5EF4-FFF2-40B4-BE49-F238E27FC236}">
                <a16:creationId xmlns:a16="http://schemas.microsoft.com/office/drawing/2014/main" id="{CD1D1D53-3272-DF47-B110-6A3A31F286F5}"/>
              </a:ext>
            </a:extLst>
          </p:cNvPr>
          <p:cNvSpPr txBox="1"/>
          <p:nvPr/>
        </p:nvSpPr>
        <p:spPr>
          <a:xfrm>
            <a:off x="5635161" y="2741351"/>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59" name="TextBox 58">
            <a:extLst>
              <a:ext uri="{FF2B5EF4-FFF2-40B4-BE49-F238E27FC236}">
                <a16:creationId xmlns:a16="http://schemas.microsoft.com/office/drawing/2014/main" id="{5DADEF1B-BB22-6E46-A026-20BF92281A68}"/>
              </a:ext>
            </a:extLst>
          </p:cNvPr>
          <p:cNvSpPr txBox="1"/>
          <p:nvPr/>
        </p:nvSpPr>
        <p:spPr>
          <a:xfrm>
            <a:off x="6889544" y="2450812"/>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64" name="TextBox 63">
            <a:extLst>
              <a:ext uri="{FF2B5EF4-FFF2-40B4-BE49-F238E27FC236}">
                <a16:creationId xmlns:a16="http://schemas.microsoft.com/office/drawing/2014/main" id="{A2B5188C-8EF9-E942-BB17-36AF56B62E7E}"/>
              </a:ext>
            </a:extLst>
          </p:cNvPr>
          <p:cNvSpPr txBox="1"/>
          <p:nvPr/>
        </p:nvSpPr>
        <p:spPr>
          <a:xfrm>
            <a:off x="11786505" y="2927051"/>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33" name="TextBox 32">
            <a:extLst>
              <a:ext uri="{FF2B5EF4-FFF2-40B4-BE49-F238E27FC236}">
                <a16:creationId xmlns:a16="http://schemas.microsoft.com/office/drawing/2014/main" id="{A7765D86-B73C-9449-B0DC-4097F6C82E93}"/>
              </a:ext>
            </a:extLst>
          </p:cNvPr>
          <p:cNvSpPr txBox="1"/>
          <p:nvPr/>
        </p:nvSpPr>
        <p:spPr>
          <a:xfrm>
            <a:off x="2571365" y="2444379"/>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83" name="Content Placeholder 2">
            <a:extLst>
              <a:ext uri="{FF2B5EF4-FFF2-40B4-BE49-F238E27FC236}">
                <a16:creationId xmlns:a16="http://schemas.microsoft.com/office/drawing/2014/main" id="{27276B1D-3724-E242-B77E-0C1E387B32EB}"/>
              </a:ext>
            </a:extLst>
          </p:cNvPr>
          <p:cNvSpPr txBox="1">
            <a:spLocks/>
          </p:cNvSpPr>
          <p:nvPr/>
        </p:nvSpPr>
        <p:spPr bwMode="auto">
          <a:xfrm>
            <a:off x="10103279" y="1034858"/>
            <a:ext cx="1983802" cy="4652316"/>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baseline="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sz="2200" dirty="0"/>
              <a:t>Build a separate environment for testing refactored module</a:t>
            </a:r>
          </a:p>
          <a:p>
            <a:r>
              <a:rPr lang="en-US" sz="2200" dirty="0"/>
              <a:t>Copy over the module in this isolated environment</a:t>
            </a:r>
          </a:p>
          <a:p>
            <a:r>
              <a:rPr lang="en-US" sz="2200" dirty="0"/>
              <a:t>Put back refactored module</a:t>
            </a:r>
          </a:p>
          <a:p>
            <a:endParaRPr lang="en-US" dirty="0"/>
          </a:p>
          <a:p>
            <a:pPr lvl="1"/>
            <a:endParaRPr lang="en-US" dirty="0"/>
          </a:p>
          <a:p>
            <a:pPr lvl="1"/>
            <a:endParaRPr lang="en-US" dirty="0"/>
          </a:p>
          <a:p>
            <a:pPr lvl="1"/>
            <a:endParaRPr lang="en-US" dirty="0"/>
          </a:p>
          <a:p>
            <a:pPr lvl="1"/>
            <a:endParaRPr lang="en-US" dirty="0"/>
          </a:p>
          <a:p>
            <a:pPr lvl="1"/>
            <a:endParaRPr lang="en-US" dirty="0"/>
          </a:p>
          <a:p>
            <a:pPr lvl="1"/>
            <a:endParaRPr lang="en-US" b="1" dirty="0">
              <a:solidFill>
                <a:schemeClr val="accent6">
                  <a:lumMod val="75000"/>
                </a:schemeClr>
              </a:solidFill>
            </a:endParaRPr>
          </a:p>
        </p:txBody>
      </p:sp>
      <p:grpSp>
        <p:nvGrpSpPr>
          <p:cNvPr id="19" name="Group 18">
            <a:extLst>
              <a:ext uri="{FF2B5EF4-FFF2-40B4-BE49-F238E27FC236}">
                <a16:creationId xmlns:a16="http://schemas.microsoft.com/office/drawing/2014/main" id="{A6BD3173-2F50-1C4C-8237-FAE3C5360FF4}"/>
              </a:ext>
            </a:extLst>
          </p:cNvPr>
          <p:cNvGrpSpPr/>
          <p:nvPr/>
        </p:nvGrpSpPr>
        <p:grpSpPr>
          <a:xfrm>
            <a:off x="394324" y="947077"/>
            <a:ext cx="2232578" cy="1546013"/>
            <a:chOff x="4767377" y="4052661"/>
            <a:chExt cx="2232578" cy="1546013"/>
          </a:xfrm>
        </p:grpSpPr>
        <p:sp>
          <p:nvSpPr>
            <p:cNvPr id="20" name="Rectangle 19">
              <a:extLst>
                <a:ext uri="{FF2B5EF4-FFF2-40B4-BE49-F238E27FC236}">
                  <a16:creationId xmlns:a16="http://schemas.microsoft.com/office/drawing/2014/main" id="{D42CC6A6-EADD-834A-A1DB-9FC60EB6D2D3}"/>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9D3411E0-9923-FC4D-AF90-C0EB18B9E823}"/>
                </a:ext>
              </a:extLst>
            </p:cNvPr>
            <p:cNvSpPr/>
            <p:nvPr/>
          </p:nvSpPr>
          <p:spPr>
            <a:xfrm>
              <a:off x="5405201" y="4573101"/>
              <a:ext cx="956930" cy="894701"/>
            </a:xfrm>
            <a:prstGeom prst="ellipse">
              <a:avLst/>
            </a:prstGeom>
            <a:solidFill>
              <a:schemeClr val="accent5">
                <a:lumMod val="20000"/>
                <a:lumOff val="8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22" name="Oval 21">
              <a:extLst>
                <a:ext uri="{FF2B5EF4-FFF2-40B4-BE49-F238E27FC236}">
                  <a16:creationId xmlns:a16="http://schemas.microsoft.com/office/drawing/2014/main" id="{A4403CDB-875C-ED41-BF72-0D24B9372C04}"/>
                </a:ext>
              </a:extLst>
            </p:cNvPr>
            <p:cNvSpPr/>
            <p:nvPr/>
          </p:nvSpPr>
          <p:spPr>
            <a:xfrm>
              <a:off x="5651736" y="4071017"/>
              <a:ext cx="956930" cy="894701"/>
            </a:xfrm>
            <a:prstGeom prst="ellipse">
              <a:avLst/>
            </a:prstGeom>
            <a:solidFill>
              <a:schemeClr val="accent5">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23" name="Oval 22">
              <a:extLst>
                <a:ext uri="{FF2B5EF4-FFF2-40B4-BE49-F238E27FC236}">
                  <a16:creationId xmlns:a16="http://schemas.microsoft.com/office/drawing/2014/main" id="{F95CBDE7-AC4B-7840-ABC8-6E6BF41EF2D8}"/>
                </a:ext>
              </a:extLst>
            </p:cNvPr>
            <p:cNvSpPr/>
            <p:nvPr/>
          </p:nvSpPr>
          <p:spPr>
            <a:xfrm>
              <a:off x="4888424" y="4178676"/>
              <a:ext cx="956930" cy="894701"/>
            </a:xfrm>
            <a:prstGeom prst="ellipse">
              <a:avLst/>
            </a:prstGeom>
            <a:solidFill>
              <a:schemeClr val="accent5">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37" name="Group 36">
            <a:extLst>
              <a:ext uri="{FF2B5EF4-FFF2-40B4-BE49-F238E27FC236}">
                <a16:creationId xmlns:a16="http://schemas.microsoft.com/office/drawing/2014/main" id="{B4C6C081-2C6E-1E43-B9F6-A82C83F1ED0E}"/>
              </a:ext>
            </a:extLst>
          </p:cNvPr>
          <p:cNvGrpSpPr/>
          <p:nvPr/>
        </p:nvGrpSpPr>
        <p:grpSpPr>
          <a:xfrm>
            <a:off x="2840161" y="946345"/>
            <a:ext cx="2232578" cy="1546013"/>
            <a:chOff x="4767377" y="4052661"/>
            <a:chExt cx="2232578" cy="1546013"/>
          </a:xfrm>
        </p:grpSpPr>
        <p:sp>
          <p:nvSpPr>
            <p:cNvPr id="39" name="Rectangle 38">
              <a:extLst>
                <a:ext uri="{FF2B5EF4-FFF2-40B4-BE49-F238E27FC236}">
                  <a16:creationId xmlns:a16="http://schemas.microsoft.com/office/drawing/2014/main" id="{1A0684AF-2511-514C-91BA-BD8A46356612}"/>
                </a:ext>
              </a:extLst>
            </p:cNvPr>
            <p:cNvSpPr/>
            <p:nvPr/>
          </p:nvSpPr>
          <p:spPr>
            <a:xfrm>
              <a:off x="4767377" y="4052661"/>
              <a:ext cx="2232578" cy="1546013"/>
            </a:xfrm>
            <a:prstGeom prst="rect">
              <a:avLst/>
            </a:prstGeom>
            <a:solidFill>
              <a:schemeClr val="accent2">
                <a:lumMod val="20000"/>
                <a:lumOff val="8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2" name="Oval 41">
              <a:extLst>
                <a:ext uri="{FF2B5EF4-FFF2-40B4-BE49-F238E27FC236}">
                  <a16:creationId xmlns:a16="http://schemas.microsoft.com/office/drawing/2014/main" id="{A4CD347B-1249-3747-A32C-4791B7A9A54B}"/>
                </a:ext>
              </a:extLst>
            </p:cNvPr>
            <p:cNvSpPr/>
            <p:nvPr/>
          </p:nvSpPr>
          <p:spPr>
            <a:xfrm>
              <a:off x="4888424" y="4178676"/>
              <a:ext cx="956930" cy="894701"/>
            </a:xfrm>
            <a:prstGeom prst="ellipse">
              <a:avLst/>
            </a:prstGeom>
            <a:solidFill>
              <a:schemeClr val="accent5">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43" name="Group 42">
            <a:extLst>
              <a:ext uri="{FF2B5EF4-FFF2-40B4-BE49-F238E27FC236}">
                <a16:creationId xmlns:a16="http://schemas.microsoft.com/office/drawing/2014/main" id="{FD400D72-BB55-DA42-A849-2679F4F881B8}"/>
              </a:ext>
            </a:extLst>
          </p:cNvPr>
          <p:cNvGrpSpPr/>
          <p:nvPr/>
        </p:nvGrpSpPr>
        <p:grpSpPr>
          <a:xfrm>
            <a:off x="5285998" y="951794"/>
            <a:ext cx="2232578" cy="1546013"/>
            <a:chOff x="4767377" y="4052661"/>
            <a:chExt cx="2232578" cy="1546013"/>
          </a:xfrm>
        </p:grpSpPr>
        <p:sp>
          <p:nvSpPr>
            <p:cNvPr id="45" name="Rectangle 44">
              <a:extLst>
                <a:ext uri="{FF2B5EF4-FFF2-40B4-BE49-F238E27FC236}">
                  <a16:creationId xmlns:a16="http://schemas.microsoft.com/office/drawing/2014/main" id="{665AB2DC-1884-1A4F-9D27-A75E231E2555}"/>
                </a:ext>
              </a:extLst>
            </p:cNvPr>
            <p:cNvSpPr/>
            <p:nvPr/>
          </p:nvSpPr>
          <p:spPr>
            <a:xfrm>
              <a:off x="4767377" y="4052661"/>
              <a:ext cx="2232578" cy="1546013"/>
            </a:xfrm>
            <a:prstGeom prst="rect">
              <a:avLst/>
            </a:prstGeom>
            <a:solidFill>
              <a:schemeClr val="accent2">
                <a:lumMod val="20000"/>
                <a:lumOff val="8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6" name="Oval 45">
              <a:extLst>
                <a:ext uri="{FF2B5EF4-FFF2-40B4-BE49-F238E27FC236}">
                  <a16:creationId xmlns:a16="http://schemas.microsoft.com/office/drawing/2014/main" id="{571910C9-E85C-F34E-821C-505E005A877E}"/>
                </a:ext>
              </a:extLst>
            </p:cNvPr>
            <p:cNvSpPr/>
            <p:nvPr/>
          </p:nvSpPr>
          <p:spPr>
            <a:xfrm>
              <a:off x="4888424" y="4178676"/>
              <a:ext cx="956930" cy="894701"/>
            </a:xfrm>
            <a:prstGeom prst="ellipse">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47" name="Group 46">
            <a:extLst>
              <a:ext uri="{FF2B5EF4-FFF2-40B4-BE49-F238E27FC236}">
                <a16:creationId xmlns:a16="http://schemas.microsoft.com/office/drawing/2014/main" id="{09EDCD50-7F99-844C-8766-60D6F9D51D9F}"/>
              </a:ext>
            </a:extLst>
          </p:cNvPr>
          <p:cNvGrpSpPr/>
          <p:nvPr/>
        </p:nvGrpSpPr>
        <p:grpSpPr>
          <a:xfrm>
            <a:off x="7735582" y="944862"/>
            <a:ext cx="2232578" cy="1546013"/>
            <a:chOff x="4767377" y="4052661"/>
            <a:chExt cx="2232578" cy="1546013"/>
          </a:xfrm>
        </p:grpSpPr>
        <p:sp>
          <p:nvSpPr>
            <p:cNvPr id="48" name="Rectangle 47">
              <a:extLst>
                <a:ext uri="{FF2B5EF4-FFF2-40B4-BE49-F238E27FC236}">
                  <a16:creationId xmlns:a16="http://schemas.microsoft.com/office/drawing/2014/main" id="{E368DA67-2AFE-0E43-80EA-66F03FB4F3E3}"/>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9" name="Oval 48">
              <a:extLst>
                <a:ext uri="{FF2B5EF4-FFF2-40B4-BE49-F238E27FC236}">
                  <a16:creationId xmlns:a16="http://schemas.microsoft.com/office/drawing/2014/main" id="{B6CBC9C4-4DEB-C64A-BD85-C7DF666460CF}"/>
                </a:ext>
              </a:extLst>
            </p:cNvPr>
            <p:cNvSpPr/>
            <p:nvPr/>
          </p:nvSpPr>
          <p:spPr>
            <a:xfrm>
              <a:off x="5405201" y="4573101"/>
              <a:ext cx="956930" cy="894701"/>
            </a:xfrm>
            <a:prstGeom prst="ellipse">
              <a:avLst/>
            </a:prstGeom>
            <a:solidFill>
              <a:schemeClr val="accent5">
                <a:lumMod val="20000"/>
                <a:lumOff val="8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50" name="Oval 49">
              <a:extLst>
                <a:ext uri="{FF2B5EF4-FFF2-40B4-BE49-F238E27FC236}">
                  <a16:creationId xmlns:a16="http://schemas.microsoft.com/office/drawing/2014/main" id="{CEE4A95F-75A8-CB44-9F15-22500210E001}"/>
                </a:ext>
              </a:extLst>
            </p:cNvPr>
            <p:cNvSpPr/>
            <p:nvPr/>
          </p:nvSpPr>
          <p:spPr>
            <a:xfrm>
              <a:off x="5651736" y="4071017"/>
              <a:ext cx="956930" cy="894701"/>
            </a:xfrm>
            <a:prstGeom prst="ellipse">
              <a:avLst/>
            </a:prstGeom>
            <a:solidFill>
              <a:schemeClr val="accent5">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51" name="Oval 50">
              <a:extLst>
                <a:ext uri="{FF2B5EF4-FFF2-40B4-BE49-F238E27FC236}">
                  <a16:creationId xmlns:a16="http://schemas.microsoft.com/office/drawing/2014/main" id="{E875A031-B991-5247-A959-A9BFB7F4D44C}"/>
                </a:ext>
              </a:extLst>
            </p:cNvPr>
            <p:cNvSpPr/>
            <p:nvPr/>
          </p:nvSpPr>
          <p:spPr>
            <a:xfrm>
              <a:off x="4888424" y="4178676"/>
              <a:ext cx="956930" cy="894701"/>
            </a:xfrm>
            <a:prstGeom prst="ellipse">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spTree>
    <p:extLst>
      <p:ext uri="{BB962C8B-B14F-4D97-AF65-F5344CB8AC3E}">
        <p14:creationId xmlns:p14="http://schemas.microsoft.com/office/powerpoint/2010/main" val="368997463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Map from Here to There: On ramp plan2</a:t>
            </a:r>
          </a:p>
        </p:txBody>
      </p:sp>
      <p:sp>
        <p:nvSpPr>
          <p:cNvPr id="44" name="TextBox 43">
            <a:extLst>
              <a:ext uri="{FF2B5EF4-FFF2-40B4-BE49-F238E27FC236}">
                <a16:creationId xmlns:a16="http://schemas.microsoft.com/office/drawing/2014/main" id="{3CCAD567-96F6-E14C-BC53-5BB7D951BB5F}"/>
              </a:ext>
            </a:extLst>
          </p:cNvPr>
          <p:cNvSpPr txBox="1"/>
          <p:nvPr/>
        </p:nvSpPr>
        <p:spPr>
          <a:xfrm>
            <a:off x="2684376" y="2600784"/>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54" name="TextBox 53">
            <a:extLst>
              <a:ext uri="{FF2B5EF4-FFF2-40B4-BE49-F238E27FC236}">
                <a16:creationId xmlns:a16="http://schemas.microsoft.com/office/drawing/2014/main" id="{CD1D1D53-3272-DF47-B110-6A3A31F286F5}"/>
              </a:ext>
            </a:extLst>
          </p:cNvPr>
          <p:cNvSpPr txBox="1"/>
          <p:nvPr/>
        </p:nvSpPr>
        <p:spPr>
          <a:xfrm>
            <a:off x="5635161" y="2741351"/>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59" name="TextBox 58">
            <a:extLst>
              <a:ext uri="{FF2B5EF4-FFF2-40B4-BE49-F238E27FC236}">
                <a16:creationId xmlns:a16="http://schemas.microsoft.com/office/drawing/2014/main" id="{5DADEF1B-BB22-6E46-A026-20BF92281A68}"/>
              </a:ext>
            </a:extLst>
          </p:cNvPr>
          <p:cNvSpPr txBox="1"/>
          <p:nvPr/>
        </p:nvSpPr>
        <p:spPr>
          <a:xfrm>
            <a:off x="6889544" y="2450812"/>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64" name="TextBox 63">
            <a:extLst>
              <a:ext uri="{FF2B5EF4-FFF2-40B4-BE49-F238E27FC236}">
                <a16:creationId xmlns:a16="http://schemas.microsoft.com/office/drawing/2014/main" id="{A2B5188C-8EF9-E942-BB17-36AF56B62E7E}"/>
              </a:ext>
            </a:extLst>
          </p:cNvPr>
          <p:cNvSpPr txBox="1"/>
          <p:nvPr/>
        </p:nvSpPr>
        <p:spPr>
          <a:xfrm>
            <a:off x="11786505" y="2927051"/>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33" name="TextBox 32">
            <a:extLst>
              <a:ext uri="{FF2B5EF4-FFF2-40B4-BE49-F238E27FC236}">
                <a16:creationId xmlns:a16="http://schemas.microsoft.com/office/drawing/2014/main" id="{A7765D86-B73C-9449-B0DC-4097F6C82E93}"/>
              </a:ext>
            </a:extLst>
          </p:cNvPr>
          <p:cNvSpPr txBox="1"/>
          <p:nvPr/>
        </p:nvSpPr>
        <p:spPr>
          <a:xfrm>
            <a:off x="2571365" y="2444379"/>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83" name="Content Placeholder 2">
            <a:extLst>
              <a:ext uri="{FF2B5EF4-FFF2-40B4-BE49-F238E27FC236}">
                <a16:creationId xmlns:a16="http://schemas.microsoft.com/office/drawing/2014/main" id="{27276B1D-3724-E242-B77E-0C1E387B32EB}"/>
              </a:ext>
            </a:extLst>
          </p:cNvPr>
          <p:cNvSpPr txBox="1">
            <a:spLocks/>
          </p:cNvSpPr>
          <p:nvPr/>
        </p:nvSpPr>
        <p:spPr bwMode="auto">
          <a:xfrm>
            <a:off x="10103279" y="1034858"/>
            <a:ext cx="1983802" cy="4652316"/>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baseline="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sz="2200" dirty="0"/>
              <a:t>Build a separate environment for testing refactored module</a:t>
            </a:r>
          </a:p>
          <a:p>
            <a:r>
              <a:rPr lang="en-US" sz="2200" dirty="0"/>
              <a:t>Copy over the module in this isolated environment</a:t>
            </a:r>
          </a:p>
          <a:p>
            <a:r>
              <a:rPr lang="en-US" sz="2200" dirty="0"/>
              <a:t>Put back refactored module</a:t>
            </a:r>
          </a:p>
          <a:p>
            <a:endParaRPr lang="en-US" dirty="0"/>
          </a:p>
          <a:p>
            <a:pPr lvl="1"/>
            <a:endParaRPr lang="en-US" dirty="0"/>
          </a:p>
          <a:p>
            <a:pPr lvl="1"/>
            <a:endParaRPr lang="en-US" dirty="0"/>
          </a:p>
          <a:p>
            <a:pPr lvl="1"/>
            <a:endParaRPr lang="en-US" dirty="0"/>
          </a:p>
          <a:p>
            <a:pPr lvl="1"/>
            <a:endParaRPr lang="en-US" dirty="0"/>
          </a:p>
          <a:p>
            <a:pPr lvl="1"/>
            <a:endParaRPr lang="en-US" dirty="0"/>
          </a:p>
          <a:p>
            <a:pPr lvl="1"/>
            <a:endParaRPr lang="en-US" b="1" dirty="0">
              <a:solidFill>
                <a:schemeClr val="accent6">
                  <a:lumMod val="75000"/>
                </a:schemeClr>
              </a:solidFill>
            </a:endParaRPr>
          </a:p>
        </p:txBody>
      </p:sp>
      <p:grpSp>
        <p:nvGrpSpPr>
          <p:cNvPr id="19" name="Group 18">
            <a:extLst>
              <a:ext uri="{FF2B5EF4-FFF2-40B4-BE49-F238E27FC236}">
                <a16:creationId xmlns:a16="http://schemas.microsoft.com/office/drawing/2014/main" id="{A6BD3173-2F50-1C4C-8237-FAE3C5360FF4}"/>
              </a:ext>
            </a:extLst>
          </p:cNvPr>
          <p:cNvGrpSpPr/>
          <p:nvPr/>
        </p:nvGrpSpPr>
        <p:grpSpPr>
          <a:xfrm>
            <a:off x="394324" y="947077"/>
            <a:ext cx="2232578" cy="1546013"/>
            <a:chOff x="4767377" y="4052661"/>
            <a:chExt cx="2232578" cy="1546013"/>
          </a:xfrm>
        </p:grpSpPr>
        <p:sp>
          <p:nvSpPr>
            <p:cNvPr id="20" name="Rectangle 19">
              <a:extLst>
                <a:ext uri="{FF2B5EF4-FFF2-40B4-BE49-F238E27FC236}">
                  <a16:creationId xmlns:a16="http://schemas.microsoft.com/office/drawing/2014/main" id="{D42CC6A6-EADD-834A-A1DB-9FC60EB6D2D3}"/>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9D3411E0-9923-FC4D-AF90-C0EB18B9E823}"/>
                </a:ext>
              </a:extLst>
            </p:cNvPr>
            <p:cNvSpPr/>
            <p:nvPr/>
          </p:nvSpPr>
          <p:spPr>
            <a:xfrm>
              <a:off x="5405201" y="4573101"/>
              <a:ext cx="956930" cy="894701"/>
            </a:xfrm>
            <a:prstGeom prst="ellipse">
              <a:avLst/>
            </a:prstGeom>
            <a:solidFill>
              <a:schemeClr val="accent5">
                <a:lumMod val="20000"/>
                <a:lumOff val="8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22" name="Oval 21">
              <a:extLst>
                <a:ext uri="{FF2B5EF4-FFF2-40B4-BE49-F238E27FC236}">
                  <a16:creationId xmlns:a16="http://schemas.microsoft.com/office/drawing/2014/main" id="{A4403CDB-875C-ED41-BF72-0D24B9372C04}"/>
                </a:ext>
              </a:extLst>
            </p:cNvPr>
            <p:cNvSpPr/>
            <p:nvPr/>
          </p:nvSpPr>
          <p:spPr>
            <a:xfrm>
              <a:off x="5651736" y="4071017"/>
              <a:ext cx="956930" cy="894701"/>
            </a:xfrm>
            <a:prstGeom prst="ellipse">
              <a:avLst/>
            </a:prstGeom>
            <a:solidFill>
              <a:schemeClr val="accent5">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23" name="Oval 22">
              <a:extLst>
                <a:ext uri="{FF2B5EF4-FFF2-40B4-BE49-F238E27FC236}">
                  <a16:creationId xmlns:a16="http://schemas.microsoft.com/office/drawing/2014/main" id="{F95CBDE7-AC4B-7840-ABC8-6E6BF41EF2D8}"/>
                </a:ext>
              </a:extLst>
            </p:cNvPr>
            <p:cNvSpPr/>
            <p:nvPr/>
          </p:nvSpPr>
          <p:spPr>
            <a:xfrm>
              <a:off x="4888424" y="4178676"/>
              <a:ext cx="956930" cy="894701"/>
            </a:xfrm>
            <a:prstGeom prst="ellipse">
              <a:avLst/>
            </a:prstGeom>
            <a:solidFill>
              <a:schemeClr val="accent5">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24" name="Group 23">
            <a:extLst>
              <a:ext uri="{FF2B5EF4-FFF2-40B4-BE49-F238E27FC236}">
                <a16:creationId xmlns:a16="http://schemas.microsoft.com/office/drawing/2014/main" id="{1D1DBC3A-C1EF-604E-9B29-C2DCE04EBF1A}"/>
              </a:ext>
            </a:extLst>
          </p:cNvPr>
          <p:cNvGrpSpPr/>
          <p:nvPr/>
        </p:nvGrpSpPr>
        <p:grpSpPr>
          <a:xfrm>
            <a:off x="7735582" y="2655993"/>
            <a:ext cx="2232578" cy="1546013"/>
            <a:chOff x="4767377" y="4052661"/>
            <a:chExt cx="2232578" cy="1546013"/>
          </a:xfrm>
        </p:grpSpPr>
        <p:sp>
          <p:nvSpPr>
            <p:cNvPr id="25" name="Rectangle 24">
              <a:extLst>
                <a:ext uri="{FF2B5EF4-FFF2-40B4-BE49-F238E27FC236}">
                  <a16:creationId xmlns:a16="http://schemas.microsoft.com/office/drawing/2014/main" id="{3E5762A7-7F38-1246-A793-026941A09827}"/>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 name="Oval 26">
              <a:extLst>
                <a:ext uri="{FF2B5EF4-FFF2-40B4-BE49-F238E27FC236}">
                  <a16:creationId xmlns:a16="http://schemas.microsoft.com/office/drawing/2014/main" id="{E4DD257F-04AC-A24D-88FF-854FA5C23F73}"/>
                </a:ext>
              </a:extLst>
            </p:cNvPr>
            <p:cNvSpPr/>
            <p:nvPr/>
          </p:nvSpPr>
          <p:spPr>
            <a:xfrm>
              <a:off x="5405201" y="4573101"/>
              <a:ext cx="956930" cy="894701"/>
            </a:xfrm>
            <a:prstGeom prst="ellipse">
              <a:avLst/>
            </a:prstGeom>
            <a:solidFill>
              <a:schemeClr val="accent5">
                <a:lumMod val="20000"/>
                <a:lumOff val="8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28" name="Oval 27">
              <a:extLst>
                <a:ext uri="{FF2B5EF4-FFF2-40B4-BE49-F238E27FC236}">
                  <a16:creationId xmlns:a16="http://schemas.microsoft.com/office/drawing/2014/main" id="{5213C9E2-C074-8E41-9E2C-446108A88941}"/>
                </a:ext>
              </a:extLst>
            </p:cNvPr>
            <p:cNvSpPr/>
            <p:nvPr/>
          </p:nvSpPr>
          <p:spPr>
            <a:xfrm>
              <a:off x="5651736" y="4071017"/>
              <a:ext cx="956930" cy="894701"/>
            </a:xfrm>
            <a:prstGeom prst="ellipse">
              <a:avLst/>
            </a:prstGeom>
            <a:solidFill>
              <a:schemeClr val="accent3"/>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29" name="Oval 28">
              <a:extLst>
                <a:ext uri="{FF2B5EF4-FFF2-40B4-BE49-F238E27FC236}">
                  <a16:creationId xmlns:a16="http://schemas.microsoft.com/office/drawing/2014/main" id="{913FD273-2574-C542-9F35-9CFE224A851C}"/>
                </a:ext>
              </a:extLst>
            </p:cNvPr>
            <p:cNvSpPr/>
            <p:nvPr/>
          </p:nvSpPr>
          <p:spPr>
            <a:xfrm>
              <a:off x="4888424" y="4178676"/>
              <a:ext cx="956930" cy="894701"/>
            </a:xfrm>
            <a:prstGeom prst="ellipse">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37" name="Group 36">
            <a:extLst>
              <a:ext uri="{FF2B5EF4-FFF2-40B4-BE49-F238E27FC236}">
                <a16:creationId xmlns:a16="http://schemas.microsoft.com/office/drawing/2014/main" id="{B4C6C081-2C6E-1E43-B9F6-A82C83F1ED0E}"/>
              </a:ext>
            </a:extLst>
          </p:cNvPr>
          <p:cNvGrpSpPr/>
          <p:nvPr/>
        </p:nvGrpSpPr>
        <p:grpSpPr>
          <a:xfrm>
            <a:off x="2840161" y="946345"/>
            <a:ext cx="2232578" cy="1546013"/>
            <a:chOff x="4767377" y="4052661"/>
            <a:chExt cx="2232578" cy="1546013"/>
          </a:xfrm>
        </p:grpSpPr>
        <p:sp>
          <p:nvSpPr>
            <p:cNvPr id="39" name="Rectangle 38">
              <a:extLst>
                <a:ext uri="{FF2B5EF4-FFF2-40B4-BE49-F238E27FC236}">
                  <a16:creationId xmlns:a16="http://schemas.microsoft.com/office/drawing/2014/main" id="{1A0684AF-2511-514C-91BA-BD8A46356612}"/>
                </a:ext>
              </a:extLst>
            </p:cNvPr>
            <p:cNvSpPr/>
            <p:nvPr/>
          </p:nvSpPr>
          <p:spPr>
            <a:xfrm>
              <a:off x="4767377" y="4052661"/>
              <a:ext cx="2232578" cy="1546013"/>
            </a:xfrm>
            <a:prstGeom prst="rect">
              <a:avLst/>
            </a:prstGeom>
            <a:solidFill>
              <a:schemeClr val="accent2">
                <a:lumMod val="20000"/>
                <a:lumOff val="8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2" name="Oval 41">
              <a:extLst>
                <a:ext uri="{FF2B5EF4-FFF2-40B4-BE49-F238E27FC236}">
                  <a16:creationId xmlns:a16="http://schemas.microsoft.com/office/drawing/2014/main" id="{A4CD347B-1249-3747-A32C-4791B7A9A54B}"/>
                </a:ext>
              </a:extLst>
            </p:cNvPr>
            <p:cNvSpPr/>
            <p:nvPr/>
          </p:nvSpPr>
          <p:spPr>
            <a:xfrm>
              <a:off x="4888424" y="4178676"/>
              <a:ext cx="956930" cy="894701"/>
            </a:xfrm>
            <a:prstGeom prst="ellipse">
              <a:avLst/>
            </a:prstGeom>
            <a:solidFill>
              <a:schemeClr val="accent5">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43" name="Group 42">
            <a:extLst>
              <a:ext uri="{FF2B5EF4-FFF2-40B4-BE49-F238E27FC236}">
                <a16:creationId xmlns:a16="http://schemas.microsoft.com/office/drawing/2014/main" id="{FD400D72-BB55-DA42-A849-2679F4F881B8}"/>
              </a:ext>
            </a:extLst>
          </p:cNvPr>
          <p:cNvGrpSpPr/>
          <p:nvPr/>
        </p:nvGrpSpPr>
        <p:grpSpPr>
          <a:xfrm>
            <a:off x="5285998" y="951794"/>
            <a:ext cx="2232578" cy="1546013"/>
            <a:chOff x="4767377" y="4052661"/>
            <a:chExt cx="2232578" cy="1546013"/>
          </a:xfrm>
        </p:grpSpPr>
        <p:sp>
          <p:nvSpPr>
            <p:cNvPr id="45" name="Rectangle 44">
              <a:extLst>
                <a:ext uri="{FF2B5EF4-FFF2-40B4-BE49-F238E27FC236}">
                  <a16:creationId xmlns:a16="http://schemas.microsoft.com/office/drawing/2014/main" id="{665AB2DC-1884-1A4F-9D27-A75E231E2555}"/>
                </a:ext>
              </a:extLst>
            </p:cNvPr>
            <p:cNvSpPr/>
            <p:nvPr/>
          </p:nvSpPr>
          <p:spPr>
            <a:xfrm>
              <a:off x="4767377" y="4052661"/>
              <a:ext cx="2232578" cy="1546013"/>
            </a:xfrm>
            <a:prstGeom prst="rect">
              <a:avLst/>
            </a:prstGeom>
            <a:solidFill>
              <a:schemeClr val="accent2">
                <a:lumMod val="20000"/>
                <a:lumOff val="8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6" name="Oval 45">
              <a:extLst>
                <a:ext uri="{FF2B5EF4-FFF2-40B4-BE49-F238E27FC236}">
                  <a16:creationId xmlns:a16="http://schemas.microsoft.com/office/drawing/2014/main" id="{571910C9-E85C-F34E-821C-505E005A877E}"/>
                </a:ext>
              </a:extLst>
            </p:cNvPr>
            <p:cNvSpPr/>
            <p:nvPr/>
          </p:nvSpPr>
          <p:spPr>
            <a:xfrm>
              <a:off x="4888424" y="4178676"/>
              <a:ext cx="956930" cy="894701"/>
            </a:xfrm>
            <a:prstGeom prst="ellipse">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47" name="Group 46">
            <a:extLst>
              <a:ext uri="{FF2B5EF4-FFF2-40B4-BE49-F238E27FC236}">
                <a16:creationId xmlns:a16="http://schemas.microsoft.com/office/drawing/2014/main" id="{09EDCD50-7F99-844C-8766-60D6F9D51D9F}"/>
              </a:ext>
            </a:extLst>
          </p:cNvPr>
          <p:cNvGrpSpPr/>
          <p:nvPr/>
        </p:nvGrpSpPr>
        <p:grpSpPr>
          <a:xfrm>
            <a:off x="7735582" y="944862"/>
            <a:ext cx="2232578" cy="1546013"/>
            <a:chOff x="4767377" y="4052661"/>
            <a:chExt cx="2232578" cy="1546013"/>
          </a:xfrm>
        </p:grpSpPr>
        <p:sp>
          <p:nvSpPr>
            <p:cNvPr id="48" name="Rectangle 47">
              <a:extLst>
                <a:ext uri="{FF2B5EF4-FFF2-40B4-BE49-F238E27FC236}">
                  <a16:creationId xmlns:a16="http://schemas.microsoft.com/office/drawing/2014/main" id="{E368DA67-2AFE-0E43-80EA-66F03FB4F3E3}"/>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9" name="Oval 48">
              <a:extLst>
                <a:ext uri="{FF2B5EF4-FFF2-40B4-BE49-F238E27FC236}">
                  <a16:creationId xmlns:a16="http://schemas.microsoft.com/office/drawing/2014/main" id="{B6CBC9C4-4DEB-C64A-BD85-C7DF666460CF}"/>
                </a:ext>
              </a:extLst>
            </p:cNvPr>
            <p:cNvSpPr/>
            <p:nvPr/>
          </p:nvSpPr>
          <p:spPr>
            <a:xfrm>
              <a:off x="5405201" y="4573101"/>
              <a:ext cx="956930" cy="894701"/>
            </a:xfrm>
            <a:prstGeom prst="ellipse">
              <a:avLst/>
            </a:prstGeom>
            <a:solidFill>
              <a:schemeClr val="accent5">
                <a:lumMod val="20000"/>
                <a:lumOff val="8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50" name="Oval 49">
              <a:extLst>
                <a:ext uri="{FF2B5EF4-FFF2-40B4-BE49-F238E27FC236}">
                  <a16:creationId xmlns:a16="http://schemas.microsoft.com/office/drawing/2014/main" id="{CEE4A95F-75A8-CB44-9F15-22500210E001}"/>
                </a:ext>
              </a:extLst>
            </p:cNvPr>
            <p:cNvSpPr/>
            <p:nvPr/>
          </p:nvSpPr>
          <p:spPr>
            <a:xfrm>
              <a:off x="5651736" y="4071017"/>
              <a:ext cx="956930" cy="894701"/>
            </a:xfrm>
            <a:prstGeom prst="ellipse">
              <a:avLst/>
            </a:prstGeom>
            <a:solidFill>
              <a:schemeClr val="accent5">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51" name="Oval 50">
              <a:extLst>
                <a:ext uri="{FF2B5EF4-FFF2-40B4-BE49-F238E27FC236}">
                  <a16:creationId xmlns:a16="http://schemas.microsoft.com/office/drawing/2014/main" id="{E875A031-B991-5247-A959-A9BFB7F4D44C}"/>
                </a:ext>
              </a:extLst>
            </p:cNvPr>
            <p:cNvSpPr/>
            <p:nvPr/>
          </p:nvSpPr>
          <p:spPr>
            <a:xfrm>
              <a:off x="4888424" y="4178676"/>
              <a:ext cx="956930" cy="894701"/>
            </a:xfrm>
            <a:prstGeom prst="ellipse">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52" name="Group 51">
            <a:extLst>
              <a:ext uri="{FF2B5EF4-FFF2-40B4-BE49-F238E27FC236}">
                <a16:creationId xmlns:a16="http://schemas.microsoft.com/office/drawing/2014/main" id="{5BB835E0-E918-4B47-8FF3-0E90E73033EC}"/>
              </a:ext>
            </a:extLst>
          </p:cNvPr>
          <p:cNvGrpSpPr/>
          <p:nvPr/>
        </p:nvGrpSpPr>
        <p:grpSpPr>
          <a:xfrm>
            <a:off x="2814266" y="2681151"/>
            <a:ext cx="2232578" cy="1546013"/>
            <a:chOff x="4767377" y="4052661"/>
            <a:chExt cx="2232578" cy="1546013"/>
          </a:xfrm>
          <a:solidFill>
            <a:schemeClr val="bg2">
              <a:lumMod val="75000"/>
            </a:schemeClr>
          </a:solidFill>
        </p:grpSpPr>
        <p:sp>
          <p:nvSpPr>
            <p:cNvPr id="53" name="Rectangle 52">
              <a:extLst>
                <a:ext uri="{FF2B5EF4-FFF2-40B4-BE49-F238E27FC236}">
                  <a16:creationId xmlns:a16="http://schemas.microsoft.com/office/drawing/2014/main" id="{1CD35338-02B7-4444-AE73-0BB9408F39C5}"/>
                </a:ext>
              </a:extLst>
            </p:cNvPr>
            <p:cNvSpPr/>
            <p:nvPr/>
          </p:nvSpPr>
          <p:spPr>
            <a:xfrm>
              <a:off x="4767377" y="4052661"/>
              <a:ext cx="2232578" cy="1546013"/>
            </a:xfrm>
            <a:prstGeom prst="rect">
              <a:avLst/>
            </a:prstGeom>
            <a:solidFill>
              <a:schemeClr val="accent2">
                <a:lumMod val="20000"/>
                <a:lumOff val="8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58" name="Oval 57">
              <a:extLst>
                <a:ext uri="{FF2B5EF4-FFF2-40B4-BE49-F238E27FC236}">
                  <a16:creationId xmlns:a16="http://schemas.microsoft.com/office/drawing/2014/main" id="{85546894-4B91-8C4D-AEC3-33A020D59A1B}"/>
                </a:ext>
              </a:extLst>
            </p:cNvPr>
            <p:cNvSpPr/>
            <p:nvPr/>
          </p:nvSpPr>
          <p:spPr>
            <a:xfrm>
              <a:off x="5651736" y="4071017"/>
              <a:ext cx="956930" cy="894701"/>
            </a:xfrm>
            <a:prstGeom prst="ellipse">
              <a:avLst/>
            </a:prstGeom>
            <a:solidFill>
              <a:schemeClr val="accent5">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61" name="Group 60">
            <a:extLst>
              <a:ext uri="{FF2B5EF4-FFF2-40B4-BE49-F238E27FC236}">
                <a16:creationId xmlns:a16="http://schemas.microsoft.com/office/drawing/2014/main" id="{D93D9072-B6CA-6644-AA28-2A9098C1461F}"/>
              </a:ext>
            </a:extLst>
          </p:cNvPr>
          <p:cNvGrpSpPr/>
          <p:nvPr/>
        </p:nvGrpSpPr>
        <p:grpSpPr>
          <a:xfrm>
            <a:off x="5290282" y="2661361"/>
            <a:ext cx="2232578" cy="1546013"/>
            <a:chOff x="4767377" y="4052661"/>
            <a:chExt cx="2232578" cy="1546013"/>
          </a:xfrm>
          <a:solidFill>
            <a:schemeClr val="bg2">
              <a:lumMod val="75000"/>
            </a:schemeClr>
          </a:solidFill>
        </p:grpSpPr>
        <p:sp>
          <p:nvSpPr>
            <p:cNvPr id="62" name="Rectangle 61">
              <a:extLst>
                <a:ext uri="{FF2B5EF4-FFF2-40B4-BE49-F238E27FC236}">
                  <a16:creationId xmlns:a16="http://schemas.microsoft.com/office/drawing/2014/main" id="{9DCEE113-2696-0145-8348-7FE168D534CB}"/>
                </a:ext>
              </a:extLst>
            </p:cNvPr>
            <p:cNvSpPr/>
            <p:nvPr/>
          </p:nvSpPr>
          <p:spPr>
            <a:xfrm>
              <a:off x="4767377" y="4052661"/>
              <a:ext cx="2232578" cy="1546013"/>
            </a:xfrm>
            <a:prstGeom prst="rect">
              <a:avLst/>
            </a:prstGeom>
            <a:solidFill>
              <a:schemeClr val="accent2">
                <a:lumMod val="20000"/>
                <a:lumOff val="8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63" name="Oval 62">
              <a:extLst>
                <a:ext uri="{FF2B5EF4-FFF2-40B4-BE49-F238E27FC236}">
                  <a16:creationId xmlns:a16="http://schemas.microsoft.com/office/drawing/2014/main" id="{B7ECB756-F51A-1145-AAC8-519557DD4A95}"/>
                </a:ext>
              </a:extLst>
            </p:cNvPr>
            <p:cNvSpPr/>
            <p:nvPr/>
          </p:nvSpPr>
          <p:spPr>
            <a:xfrm>
              <a:off x="5651736" y="4071017"/>
              <a:ext cx="956930" cy="894701"/>
            </a:xfrm>
            <a:prstGeom prst="ellipse">
              <a:avLst/>
            </a:prstGeom>
            <a:solidFill>
              <a:srgbClr val="43B1E5"/>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68" name="Group 67">
            <a:extLst>
              <a:ext uri="{FF2B5EF4-FFF2-40B4-BE49-F238E27FC236}">
                <a16:creationId xmlns:a16="http://schemas.microsoft.com/office/drawing/2014/main" id="{9CFA805F-DB59-0B4A-8A78-4A9543CE4BB7}"/>
              </a:ext>
            </a:extLst>
          </p:cNvPr>
          <p:cNvGrpSpPr/>
          <p:nvPr/>
        </p:nvGrpSpPr>
        <p:grpSpPr>
          <a:xfrm>
            <a:off x="392551" y="2660024"/>
            <a:ext cx="2232578" cy="1546013"/>
            <a:chOff x="4767377" y="4052661"/>
            <a:chExt cx="2232578" cy="1546013"/>
          </a:xfrm>
        </p:grpSpPr>
        <p:sp>
          <p:nvSpPr>
            <p:cNvPr id="69" name="Rectangle 68">
              <a:extLst>
                <a:ext uri="{FF2B5EF4-FFF2-40B4-BE49-F238E27FC236}">
                  <a16:creationId xmlns:a16="http://schemas.microsoft.com/office/drawing/2014/main" id="{4DD4FD44-B8D1-F24D-9799-46F6019D2806}"/>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70" name="Oval 69">
              <a:extLst>
                <a:ext uri="{FF2B5EF4-FFF2-40B4-BE49-F238E27FC236}">
                  <a16:creationId xmlns:a16="http://schemas.microsoft.com/office/drawing/2014/main" id="{0D01D16E-E2A8-C547-846B-97101C634B38}"/>
                </a:ext>
              </a:extLst>
            </p:cNvPr>
            <p:cNvSpPr/>
            <p:nvPr/>
          </p:nvSpPr>
          <p:spPr>
            <a:xfrm>
              <a:off x="5405201" y="4573101"/>
              <a:ext cx="956930" cy="894701"/>
            </a:xfrm>
            <a:prstGeom prst="ellipse">
              <a:avLst/>
            </a:prstGeom>
            <a:solidFill>
              <a:schemeClr val="accent5">
                <a:lumMod val="20000"/>
                <a:lumOff val="8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71" name="Oval 70">
              <a:extLst>
                <a:ext uri="{FF2B5EF4-FFF2-40B4-BE49-F238E27FC236}">
                  <a16:creationId xmlns:a16="http://schemas.microsoft.com/office/drawing/2014/main" id="{2ABBB2E2-0959-0E47-A041-AFA5092FFD2D}"/>
                </a:ext>
              </a:extLst>
            </p:cNvPr>
            <p:cNvSpPr/>
            <p:nvPr/>
          </p:nvSpPr>
          <p:spPr>
            <a:xfrm>
              <a:off x="5651736" y="4071017"/>
              <a:ext cx="956930" cy="894701"/>
            </a:xfrm>
            <a:prstGeom prst="ellipse">
              <a:avLst/>
            </a:prstGeom>
            <a:solidFill>
              <a:schemeClr val="accent5">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72" name="Oval 71">
              <a:extLst>
                <a:ext uri="{FF2B5EF4-FFF2-40B4-BE49-F238E27FC236}">
                  <a16:creationId xmlns:a16="http://schemas.microsoft.com/office/drawing/2014/main" id="{64764BD2-6A38-8F41-9FBD-20B2E4773A10}"/>
                </a:ext>
              </a:extLst>
            </p:cNvPr>
            <p:cNvSpPr/>
            <p:nvPr/>
          </p:nvSpPr>
          <p:spPr>
            <a:xfrm>
              <a:off x="4888424" y="4178676"/>
              <a:ext cx="956930" cy="894701"/>
            </a:xfrm>
            <a:prstGeom prst="ellipse">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spTree>
    <p:extLst>
      <p:ext uri="{BB962C8B-B14F-4D97-AF65-F5344CB8AC3E}">
        <p14:creationId xmlns:p14="http://schemas.microsoft.com/office/powerpoint/2010/main" val="401336304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Map from Here to There: On ramp plan2</a:t>
            </a:r>
          </a:p>
        </p:txBody>
      </p:sp>
      <p:sp>
        <p:nvSpPr>
          <p:cNvPr id="44" name="TextBox 43">
            <a:extLst>
              <a:ext uri="{FF2B5EF4-FFF2-40B4-BE49-F238E27FC236}">
                <a16:creationId xmlns:a16="http://schemas.microsoft.com/office/drawing/2014/main" id="{3CCAD567-96F6-E14C-BC53-5BB7D951BB5F}"/>
              </a:ext>
            </a:extLst>
          </p:cNvPr>
          <p:cNvSpPr txBox="1"/>
          <p:nvPr/>
        </p:nvSpPr>
        <p:spPr>
          <a:xfrm>
            <a:off x="2684376" y="2600784"/>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54" name="TextBox 53">
            <a:extLst>
              <a:ext uri="{FF2B5EF4-FFF2-40B4-BE49-F238E27FC236}">
                <a16:creationId xmlns:a16="http://schemas.microsoft.com/office/drawing/2014/main" id="{CD1D1D53-3272-DF47-B110-6A3A31F286F5}"/>
              </a:ext>
            </a:extLst>
          </p:cNvPr>
          <p:cNvSpPr txBox="1"/>
          <p:nvPr/>
        </p:nvSpPr>
        <p:spPr>
          <a:xfrm>
            <a:off x="5635161" y="2741351"/>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59" name="TextBox 58">
            <a:extLst>
              <a:ext uri="{FF2B5EF4-FFF2-40B4-BE49-F238E27FC236}">
                <a16:creationId xmlns:a16="http://schemas.microsoft.com/office/drawing/2014/main" id="{5DADEF1B-BB22-6E46-A026-20BF92281A68}"/>
              </a:ext>
            </a:extLst>
          </p:cNvPr>
          <p:cNvSpPr txBox="1"/>
          <p:nvPr/>
        </p:nvSpPr>
        <p:spPr>
          <a:xfrm>
            <a:off x="6889544" y="2450812"/>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64" name="TextBox 63">
            <a:extLst>
              <a:ext uri="{FF2B5EF4-FFF2-40B4-BE49-F238E27FC236}">
                <a16:creationId xmlns:a16="http://schemas.microsoft.com/office/drawing/2014/main" id="{A2B5188C-8EF9-E942-BB17-36AF56B62E7E}"/>
              </a:ext>
            </a:extLst>
          </p:cNvPr>
          <p:cNvSpPr txBox="1"/>
          <p:nvPr/>
        </p:nvSpPr>
        <p:spPr>
          <a:xfrm>
            <a:off x="11786505" y="2927051"/>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33" name="TextBox 32">
            <a:extLst>
              <a:ext uri="{FF2B5EF4-FFF2-40B4-BE49-F238E27FC236}">
                <a16:creationId xmlns:a16="http://schemas.microsoft.com/office/drawing/2014/main" id="{A7765D86-B73C-9449-B0DC-4097F6C82E93}"/>
              </a:ext>
            </a:extLst>
          </p:cNvPr>
          <p:cNvSpPr txBox="1"/>
          <p:nvPr/>
        </p:nvSpPr>
        <p:spPr>
          <a:xfrm>
            <a:off x="2571365" y="2444379"/>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83" name="Content Placeholder 2">
            <a:extLst>
              <a:ext uri="{FF2B5EF4-FFF2-40B4-BE49-F238E27FC236}">
                <a16:creationId xmlns:a16="http://schemas.microsoft.com/office/drawing/2014/main" id="{27276B1D-3724-E242-B77E-0C1E387B32EB}"/>
              </a:ext>
            </a:extLst>
          </p:cNvPr>
          <p:cNvSpPr txBox="1">
            <a:spLocks/>
          </p:cNvSpPr>
          <p:nvPr/>
        </p:nvSpPr>
        <p:spPr bwMode="auto">
          <a:xfrm>
            <a:off x="10103279" y="1034858"/>
            <a:ext cx="1983802" cy="4652316"/>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baseline="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sz="2200" dirty="0"/>
              <a:t>Build a separate environment for testing refactored module</a:t>
            </a:r>
          </a:p>
          <a:p>
            <a:r>
              <a:rPr lang="en-US" sz="2200" dirty="0"/>
              <a:t>Copy over the module in this isolated environment</a:t>
            </a:r>
          </a:p>
          <a:p>
            <a:r>
              <a:rPr lang="en-US" sz="2200" dirty="0"/>
              <a:t>Put back refactored module</a:t>
            </a:r>
          </a:p>
          <a:p>
            <a:endParaRPr lang="en-US" dirty="0"/>
          </a:p>
          <a:p>
            <a:pPr lvl="1"/>
            <a:endParaRPr lang="en-US" dirty="0"/>
          </a:p>
          <a:p>
            <a:pPr lvl="1"/>
            <a:endParaRPr lang="en-US" dirty="0"/>
          </a:p>
          <a:p>
            <a:pPr lvl="1"/>
            <a:endParaRPr lang="en-US" dirty="0"/>
          </a:p>
          <a:p>
            <a:pPr lvl="1"/>
            <a:endParaRPr lang="en-US" dirty="0"/>
          </a:p>
          <a:p>
            <a:pPr lvl="1"/>
            <a:endParaRPr lang="en-US" dirty="0"/>
          </a:p>
          <a:p>
            <a:pPr lvl="1"/>
            <a:endParaRPr lang="en-US" b="1" dirty="0">
              <a:solidFill>
                <a:schemeClr val="accent6">
                  <a:lumMod val="75000"/>
                </a:schemeClr>
              </a:solidFill>
            </a:endParaRPr>
          </a:p>
        </p:txBody>
      </p:sp>
      <p:grpSp>
        <p:nvGrpSpPr>
          <p:cNvPr id="19" name="Group 18">
            <a:extLst>
              <a:ext uri="{FF2B5EF4-FFF2-40B4-BE49-F238E27FC236}">
                <a16:creationId xmlns:a16="http://schemas.microsoft.com/office/drawing/2014/main" id="{A6BD3173-2F50-1C4C-8237-FAE3C5360FF4}"/>
              </a:ext>
            </a:extLst>
          </p:cNvPr>
          <p:cNvGrpSpPr/>
          <p:nvPr/>
        </p:nvGrpSpPr>
        <p:grpSpPr>
          <a:xfrm>
            <a:off x="394324" y="947077"/>
            <a:ext cx="2232578" cy="1546013"/>
            <a:chOff x="4767377" y="4052661"/>
            <a:chExt cx="2232578" cy="1546013"/>
          </a:xfrm>
        </p:grpSpPr>
        <p:sp>
          <p:nvSpPr>
            <p:cNvPr id="20" name="Rectangle 19">
              <a:extLst>
                <a:ext uri="{FF2B5EF4-FFF2-40B4-BE49-F238E27FC236}">
                  <a16:creationId xmlns:a16="http://schemas.microsoft.com/office/drawing/2014/main" id="{D42CC6A6-EADD-834A-A1DB-9FC60EB6D2D3}"/>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9D3411E0-9923-FC4D-AF90-C0EB18B9E823}"/>
                </a:ext>
              </a:extLst>
            </p:cNvPr>
            <p:cNvSpPr/>
            <p:nvPr/>
          </p:nvSpPr>
          <p:spPr>
            <a:xfrm>
              <a:off x="5405201" y="4573101"/>
              <a:ext cx="956930" cy="894701"/>
            </a:xfrm>
            <a:prstGeom prst="ellipse">
              <a:avLst/>
            </a:prstGeom>
            <a:solidFill>
              <a:schemeClr val="accent5">
                <a:lumMod val="20000"/>
                <a:lumOff val="8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22" name="Oval 21">
              <a:extLst>
                <a:ext uri="{FF2B5EF4-FFF2-40B4-BE49-F238E27FC236}">
                  <a16:creationId xmlns:a16="http://schemas.microsoft.com/office/drawing/2014/main" id="{A4403CDB-875C-ED41-BF72-0D24B9372C04}"/>
                </a:ext>
              </a:extLst>
            </p:cNvPr>
            <p:cNvSpPr/>
            <p:nvPr/>
          </p:nvSpPr>
          <p:spPr>
            <a:xfrm>
              <a:off x="5651736" y="4071017"/>
              <a:ext cx="956930" cy="894701"/>
            </a:xfrm>
            <a:prstGeom prst="ellipse">
              <a:avLst/>
            </a:prstGeom>
            <a:solidFill>
              <a:schemeClr val="accent5">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23" name="Oval 22">
              <a:extLst>
                <a:ext uri="{FF2B5EF4-FFF2-40B4-BE49-F238E27FC236}">
                  <a16:creationId xmlns:a16="http://schemas.microsoft.com/office/drawing/2014/main" id="{F95CBDE7-AC4B-7840-ABC8-6E6BF41EF2D8}"/>
                </a:ext>
              </a:extLst>
            </p:cNvPr>
            <p:cNvSpPr/>
            <p:nvPr/>
          </p:nvSpPr>
          <p:spPr>
            <a:xfrm>
              <a:off x="4888424" y="4178676"/>
              <a:ext cx="956930" cy="894701"/>
            </a:xfrm>
            <a:prstGeom prst="ellipse">
              <a:avLst/>
            </a:prstGeom>
            <a:solidFill>
              <a:schemeClr val="accent5">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24" name="Group 23">
            <a:extLst>
              <a:ext uri="{FF2B5EF4-FFF2-40B4-BE49-F238E27FC236}">
                <a16:creationId xmlns:a16="http://schemas.microsoft.com/office/drawing/2014/main" id="{1D1DBC3A-C1EF-604E-9B29-C2DCE04EBF1A}"/>
              </a:ext>
            </a:extLst>
          </p:cNvPr>
          <p:cNvGrpSpPr/>
          <p:nvPr/>
        </p:nvGrpSpPr>
        <p:grpSpPr>
          <a:xfrm>
            <a:off x="7735582" y="2655993"/>
            <a:ext cx="2232578" cy="1546013"/>
            <a:chOff x="4767377" y="4052661"/>
            <a:chExt cx="2232578" cy="1546013"/>
          </a:xfrm>
        </p:grpSpPr>
        <p:sp>
          <p:nvSpPr>
            <p:cNvPr id="25" name="Rectangle 24">
              <a:extLst>
                <a:ext uri="{FF2B5EF4-FFF2-40B4-BE49-F238E27FC236}">
                  <a16:creationId xmlns:a16="http://schemas.microsoft.com/office/drawing/2014/main" id="{3E5762A7-7F38-1246-A793-026941A09827}"/>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 name="Oval 26">
              <a:extLst>
                <a:ext uri="{FF2B5EF4-FFF2-40B4-BE49-F238E27FC236}">
                  <a16:creationId xmlns:a16="http://schemas.microsoft.com/office/drawing/2014/main" id="{E4DD257F-04AC-A24D-88FF-854FA5C23F73}"/>
                </a:ext>
              </a:extLst>
            </p:cNvPr>
            <p:cNvSpPr/>
            <p:nvPr/>
          </p:nvSpPr>
          <p:spPr>
            <a:xfrm>
              <a:off x="5405201" y="4573101"/>
              <a:ext cx="956930" cy="894701"/>
            </a:xfrm>
            <a:prstGeom prst="ellipse">
              <a:avLst/>
            </a:prstGeom>
            <a:solidFill>
              <a:schemeClr val="accent5">
                <a:lumMod val="20000"/>
                <a:lumOff val="8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28" name="Oval 27">
              <a:extLst>
                <a:ext uri="{FF2B5EF4-FFF2-40B4-BE49-F238E27FC236}">
                  <a16:creationId xmlns:a16="http://schemas.microsoft.com/office/drawing/2014/main" id="{5213C9E2-C074-8E41-9E2C-446108A88941}"/>
                </a:ext>
              </a:extLst>
            </p:cNvPr>
            <p:cNvSpPr/>
            <p:nvPr/>
          </p:nvSpPr>
          <p:spPr>
            <a:xfrm>
              <a:off x="5651736" y="4071017"/>
              <a:ext cx="956930" cy="894701"/>
            </a:xfrm>
            <a:prstGeom prst="ellipse">
              <a:avLst/>
            </a:prstGeom>
            <a:solidFill>
              <a:schemeClr val="accent3"/>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29" name="Oval 28">
              <a:extLst>
                <a:ext uri="{FF2B5EF4-FFF2-40B4-BE49-F238E27FC236}">
                  <a16:creationId xmlns:a16="http://schemas.microsoft.com/office/drawing/2014/main" id="{913FD273-2574-C542-9F35-9CFE224A851C}"/>
                </a:ext>
              </a:extLst>
            </p:cNvPr>
            <p:cNvSpPr/>
            <p:nvPr/>
          </p:nvSpPr>
          <p:spPr>
            <a:xfrm>
              <a:off x="4888424" y="4178676"/>
              <a:ext cx="956930" cy="894701"/>
            </a:xfrm>
            <a:prstGeom prst="ellipse">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37" name="Group 36">
            <a:extLst>
              <a:ext uri="{FF2B5EF4-FFF2-40B4-BE49-F238E27FC236}">
                <a16:creationId xmlns:a16="http://schemas.microsoft.com/office/drawing/2014/main" id="{B4C6C081-2C6E-1E43-B9F6-A82C83F1ED0E}"/>
              </a:ext>
            </a:extLst>
          </p:cNvPr>
          <p:cNvGrpSpPr/>
          <p:nvPr/>
        </p:nvGrpSpPr>
        <p:grpSpPr>
          <a:xfrm>
            <a:off x="2840161" y="946345"/>
            <a:ext cx="2232578" cy="1546013"/>
            <a:chOff x="4767377" y="4052661"/>
            <a:chExt cx="2232578" cy="1546013"/>
          </a:xfrm>
        </p:grpSpPr>
        <p:sp>
          <p:nvSpPr>
            <p:cNvPr id="39" name="Rectangle 38">
              <a:extLst>
                <a:ext uri="{FF2B5EF4-FFF2-40B4-BE49-F238E27FC236}">
                  <a16:creationId xmlns:a16="http://schemas.microsoft.com/office/drawing/2014/main" id="{1A0684AF-2511-514C-91BA-BD8A46356612}"/>
                </a:ext>
              </a:extLst>
            </p:cNvPr>
            <p:cNvSpPr/>
            <p:nvPr/>
          </p:nvSpPr>
          <p:spPr>
            <a:xfrm>
              <a:off x="4767377" y="4052661"/>
              <a:ext cx="2232578" cy="1546013"/>
            </a:xfrm>
            <a:prstGeom prst="rect">
              <a:avLst/>
            </a:prstGeom>
            <a:solidFill>
              <a:schemeClr val="accent2">
                <a:lumMod val="20000"/>
                <a:lumOff val="8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2" name="Oval 41">
              <a:extLst>
                <a:ext uri="{FF2B5EF4-FFF2-40B4-BE49-F238E27FC236}">
                  <a16:creationId xmlns:a16="http://schemas.microsoft.com/office/drawing/2014/main" id="{A4CD347B-1249-3747-A32C-4791B7A9A54B}"/>
                </a:ext>
              </a:extLst>
            </p:cNvPr>
            <p:cNvSpPr/>
            <p:nvPr/>
          </p:nvSpPr>
          <p:spPr>
            <a:xfrm>
              <a:off x="4888424" y="4178676"/>
              <a:ext cx="956930" cy="894701"/>
            </a:xfrm>
            <a:prstGeom prst="ellipse">
              <a:avLst/>
            </a:prstGeom>
            <a:solidFill>
              <a:schemeClr val="accent5">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43" name="Group 42">
            <a:extLst>
              <a:ext uri="{FF2B5EF4-FFF2-40B4-BE49-F238E27FC236}">
                <a16:creationId xmlns:a16="http://schemas.microsoft.com/office/drawing/2014/main" id="{FD400D72-BB55-DA42-A849-2679F4F881B8}"/>
              </a:ext>
            </a:extLst>
          </p:cNvPr>
          <p:cNvGrpSpPr/>
          <p:nvPr/>
        </p:nvGrpSpPr>
        <p:grpSpPr>
          <a:xfrm>
            <a:off x="5285998" y="951794"/>
            <a:ext cx="2232578" cy="1546013"/>
            <a:chOff x="4767377" y="4052661"/>
            <a:chExt cx="2232578" cy="1546013"/>
          </a:xfrm>
        </p:grpSpPr>
        <p:sp>
          <p:nvSpPr>
            <p:cNvPr id="45" name="Rectangle 44">
              <a:extLst>
                <a:ext uri="{FF2B5EF4-FFF2-40B4-BE49-F238E27FC236}">
                  <a16:creationId xmlns:a16="http://schemas.microsoft.com/office/drawing/2014/main" id="{665AB2DC-1884-1A4F-9D27-A75E231E2555}"/>
                </a:ext>
              </a:extLst>
            </p:cNvPr>
            <p:cNvSpPr/>
            <p:nvPr/>
          </p:nvSpPr>
          <p:spPr>
            <a:xfrm>
              <a:off x="4767377" y="4052661"/>
              <a:ext cx="2232578" cy="1546013"/>
            </a:xfrm>
            <a:prstGeom prst="rect">
              <a:avLst/>
            </a:prstGeom>
            <a:solidFill>
              <a:schemeClr val="accent2">
                <a:lumMod val="20000"/>
                <a:lumOff val="8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6" name="Oval 45">
              <a:extLst>
                <a:ext uri="{FF2B5EF4-FFF2-40B4-BE49-F238E27FC236}">
                  <a16:creationId xmlns:a16="http://schemas.microsoft.com/office/drawing/2014/main" id="{571910C9-E85C-F34E-821C-505E005A877E}"/>
                </a:ext>
              </a:extLst>
            </p:cNvPr>
            <p:cNvSpPr/>
            <p:nvPr/>
          </p:nvSpPr>
          <p:spPr>
            <a:xfrm>
              <a:off x="4888424" y="4178676"/>
              <a:ext cx="956930" cy="894701"/>
            </a:xfrm>
            <a:prstGeom prst="ellipse">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47" name="Group 46">
            <a:extLst>
              <a:ext uri="{FF2B5EF4-FFF2-40B4-BE49-F238E27FC236}">
                <a16:creationId xmlns:a16="http://schemas.microsoft.com/office/drawing/2014/main" id="{09EDCD50-7F99-844C-8766-60D6F9D51D9F}"/>
              </a:ext>
            </a:extLst>
          </p:cNvPr>
          <p:cNvGrpSpPr/>
          <p:nvPr/>
        </p:nvGrpSpPr>
        <p:grpSpPr>
          <a:xfrm>
            <a:off x="7735582" y="944862"/>
            <a:ext cx="2232578" cy="1546013"/>
            <a:chOff x="4767377" y="4052661"/>
            <a:chExt cx="2232578" cy="1546013"/>
          </a:xfrm>
        </p:grpSpPr>
        <p:sp>
          <p:nvSpPr>
            <p:cNvPr id="48" name="Rectangle 47">
              <a:extLst>
                <a:ext uri="{FF2B5EF4-FFF2-40B4-BE49-F238E27FC236}">
                  <a16:creationId xmlns:a16="http://schemas.microsoft.com/office/drawing/2014/main" id="{E368DA67-2AFE-0E43-80EA-66F03FB4F3E3}"/>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9" name="Oval 48">
              <a:extLst>
                <a:ext uri="{FF2B5EF4-FFF2-40B4-BE49-F238E27FC236}">
                  <a16:creationId xmlns:a16="http://schemas.microsoft.com/office/drawing/2014/main" id="{B6CBC9C4-4DEB-C64A-BD85-C7DF666460CF}"/>
                </a:ext>
              </a:extLst>
            </p:cNvPr>
            <p:cNvSpPr/>
            <p:nvPr/>
          </p:nvSpPr>
          <p:spPr>
            <a:xfrm>
              <a:off x="5405201" y="4573101"/>
              <a:ext cx="956930" cy="894701"/>
            </a:xfrm>
            <a:prstGeom prst="ellipse">
              <a:avLst/>
            </a:prstGeom>
            <a:solidFill>
              <a:schemeClr val="accent5">
                <a:lumMod val="20000"/>
                <a:lumOff val="8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50" name="Oval 49">
              <a:extLst>
                <a:ext uri="{FF2B5EF4-FFF2-40B4-BE49-F238E27FC236}">
                  <a16:creationId xmlns:a16="http://schemas.microsoft.com/office/drawing/2014/main" id="{CEE4A95F-75A8-CB44-9F15-22500210E001}"/>
                </a:ext>
              </a:extLst>
            </p:cNvPr>
            <p:cNvSpPr/>
            <p:nvPr/>
          </p:nvSpPr>
          <p:spPr>
            <a:xfrm>
              <a:off x="5651736" y="4071017"/>
              <a:ext cx="956930" cy="894701"/>
            </a:xfrm>
            <a:prstGeom prst="ellipse">
              <a:avLst/>
            </a:prstGeom>
            <a:solidFill>
              <a:schemeClr val="accent5">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51" name="Oval 50">
              <a:extLst>
                <a:ext uri="{FF2B5EF4-FFF2-40B4-BE49-F238E27FC236}">
                  <a16:creationId xmlns:a16="http://schemas.microsoft.com/office/drawing/2014/main" id="{E875A031-B991-5247-A959-A9BFB7F4D44C}"/>
                </a:ext>
              </a:extLst>
            </p:cNvPr>
            <p:cNvSpPr/>
            <p:nvPr/>
          </p:nvSpPr>
          <p:spPr>
            <a:xfrm>
              <a:off x="4888424" y="4178676"/>
              <a:ext cx="956930" cy="894701"/>
            </a:xfrm>
            <a:prstGeom prst="ellipse">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52" name="Group 51">
            <a:extLst>
              <a:ext uri="{FF2B5EF4-FFF2-40B4-BE49-F238E27FC236}">
                <a16:creationId xmlns:a16="http://schemas.microsoft.com/office/drawing/2014/main" id="{5BB835E0-E918-4B47-8FF3-0E90E73033EC}"/>
              </a:ext>
            </a:extLst>
          </p:cNvPr>
          <p:cNvGrpSpPr/>
          <p:nvPr/>
        </p:nvGrpSpPr>
        <p:grpSpPr>
          <a:xfrm>
            <a:off x="2814266" y="2681151"/>
            <a:ext cx="2232578" cy="1546013"/>
            <a:chOff x="4767377" y="4052661"/>
            <a:chExt cx="2232578" cy="1546013"/>
          </a:xfrm>
          <a:solidFill>
            <a:schemeClr val="bg2">
              <a:lumMod val="75000"/>
            </a:schemeClr>
          </a:solidFill>
        </p:grpSpPr>
        <p:sp>
          <p:nvSpPr>
            <p:cNvPr id="53" name="Rectangle 52">
              <a:extLst>
                <a:ext uri="{FF2B5EF4-FFF2-40B4-BE49-F238E27FC236}">
                  <a16:creationId xmlns:a16="http://schemas.microsoft.com/office/drawing/2014/main" id="{1CD35338-02B7-4444-AE73-0BB9408F39C5}"/>
                </a:ext>
              </a:extLst>
            </p:cNvPr>
            <p:cNvSpPr/>
            <p:nvPr/>
          </p:nvSpPr>
          <p:spPr>
            <a:xfrm>
              <a:off x="4767377" y="4052661"/>
              <a:ext cx="2232578" cy="1546013"/>
            </a:xfrm>
            <a:prstGeom prst="rect">
              <a:avLst/>
            </a:prstGeom>
            <a:solidFill>
              <a:schemeClr val="accent2">
                <a:lumMod val="20000"/>
                <a:lumOff val="8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58" name="Oval 57">
              <a:extLst>
                <a:ext uri="{FF2B5EF4-FFF2-40B4-BE49-F238E27FC236}">
                  <a16:creationId xmlns:a16="http://schemas.microsoft.com/office/drawing/2014/main" id="{85546894-4B91-8C4D-AEC3-33A020D59A1B}"/>
                </a:ext>
              </a:extLst>
            </p:cNvPr>
            <p:cNvSpPr/>
            <p:nvPr/>
          </p:nvSpPr>
          <p:spPr>
            <a:xfrm>
              <a:off x="5651736" y="4071017"/>
              <a:ext cx="956930" cy="894701"/>
            </a:xfrm>
            <a:prstGeom prst="ellipse">
              <a:avLst/>
            </a:prstGeom>
            <a:solidFill>
              <a:schemeClr val="accent5">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61" name="Group 60">
            <a:extLst>
              <a:ext uri="{FF2B5EF4-FFF2-40B4-BE49-F238E27FC236}">
                <a16:creationId xmlns:a16="http://schemas.microsoft.com/office/drawing/2014/main" id="{D93D9072-B6CA-6644-AA28-2A9098C1461F}"/>
              </a:ext>
            </a:extLst>
          </p:cNvPr>
          <p:cNvGrpSpPr/>
          <p:nvPr/>
        </p:nvGrpSpPr>
        <p:grpSpPr>
          <a:xfrm>
            <a:off x="5290282" y="2661361"/>
            <a:ext cx="2232578" cy="1546013"/>
            <a:chOff x="4767377" y="4052661"/>
            <a:chExt cx="2232578" cy="1546013"/>
          </a:xfrm>
          <a:solidFill>
            <a:schemeClr val="bg2">
              <a:lumMod val="75000"/>
            </a:schemeClr>
          </a:solidFill>
        </p:grpSpPr>
        <p:sp>
          <p:nvSpPr>
            <p:cNvPr id="62" name="Rectangle 61">
              <a:extLst>
                <a:ext uri="{FF2B5EF4-FFF2-40B4-BE49-F238E27FC236}">
                  <a16:creationId xmlns:a16="http://schemas.microsoft.com/office/drawing/2014/main" id="{9DCEE113-2696-0145-8348-7FE168D534CB}"/>
                </a:ext>
              </a:extLst>
            </p:cNvPr>
            <p:cNvSpPr/>
            <p:nvPr/>
          </p:nvSpPr>
          <p:spPr>
            <a:xfrm>
              <a:off x="4767377" y="4052661"/>
              <a:ext cx="2232578" cy="1546013"/>
            </a:xfrm>
            <a:prstGeom prst="rect">
              <a:avLst/>
            </a:prstGeom>
            <a:solidFill>
              <a:schemeClr val="accent2">
                <a:lumMod val="20000"/>
                <a:lumOff val="8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63" name="Oval 62">
              <a:extLst>
                <a:ext uri="{FF2B5EF4-FFF2-40B4-BE49-F238E27FC236}">
                  <a16:creationId xmlns:a16="http://schemas.microsoft.com/office/drawing/2014/main" id="{B7ECB756-F51A-1145-AAC8-519557DD4A95}"/>
                </a:ext>
              </a:extLst>
            </p:cNvPr>
            <p:cNvSpPr/>
            <p:nvPr/>
          </p:nvSpPr>
          <p:spPr>
            <a:xfrm>
              <a:off x="5651736" y="4071017"/>
              <a:ext cx="956930" cy="894701"/>
            </a:xfrm>
            <a:prstGeom prst="ellipse">
              <a:avLst/>
            </a:prstGeom>
            <a:solidFill>
              <a:srgbClr val="43B1E5"/>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68" name="Group 67">
            <a:extLst>
              <a:ext uri="{FF2B5EF4-FFF2-40B4-BE49-F238E27FC236}">
                <a16:creationId xmlns:a16="http://schemas.microsoft.com/office/drawing/2014/main" id="{9CFA805F-DB59-0B4A-8A78-4A9543CE4BB7}"/>
              </a:ext>
            </a:extLst>
          </p:cNvPr>
          <p:cNvGrpSpPr/>
          <p:nvPr/>
        </p:nvGrpSpPr>
        <p:grpSpPr>
          <a:xfrm>
            <a:off x="392551" y="2660024"/>
            <a:ext cx="2232578" cy="1546013"/>
            <a:chOff x="4767377" y="4052661"/>
            <a:chExt cx="2232578" cy="1546013"/>
          </a:xfrm>
        </p:grpSpPr>
        <p:sp>
          <p:nvSpPr>
            <p:cNvPr id="69" name="Rectangle 68">
              <a:extLst>
                <a:ext uri="{FF2B5EF4-FFF2-40B4-BE49-F238E27FC236}">
                  <a16:creationId xmlns:a16="http://schemas.microsoft.com/office/drawing/2014/main" id="{4DD4FD44-B8D1-F24D-9799-46F6019D2806}"/>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70" name="Oval 69">
              <a:extLst>
                <a:ext uri="{FF2B5EF4-FFF2-40B4-BE49-F238E27FC236}">
                  <a16:creationId xmlns:a16="http://schemas.microsoft.com/office/drawing/2014/main" id="{0D01D16E-E2A8-C547-846B-97101C634B38}"/>
                </a:ext>
              </a:extLst>
            </p:cNvPr>
            <p:cNvSpPr/>
            <p:nvPr/>
          </p:nvSpPr>
          <p:spPr>
            <a:xfrm>
              <a:off x="5405201" y="4573101"/>
              <a:ext cx="956930" cy="894701"/>
            </a:xfrm>
            <a:prstGeom prst="ellipse">
              <a:avLst/>
            </a:prstGeom>
            <a:solidFill>
              <a:schemeClr val="accent5">
                <a:lumMod val="20000"/>
                <a:lumOff val="8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71" name="Oval 70">
              <a:extLst>
                <a:ext uri="{FF2B5EF4-FFF2-40B4-BE49-F238E27FC236}">
                  <a16:creationId xmlns:a16="http://schemas.microsoft.com/office/drawing/2014/main" id="{2ABBB2E2-0959-0E47-A041-AFA5092FFD2D}"/>
                </a:ext>
              </a:extLst>
            </p:cNvPr>
            <p:cNvSpPr/>
            <p:nvPr/>
          </p:nvSpPr>
          <p:spPr>
            <a:xfrm>
              <a:off x="5651736" y="4071017"/>
              <a:ext cx="956930" cy="894701"/>
            </a:xfrm>
            <a:prstGeom prst="ellipse">
              <a:avLst/>
            </a:prstGeom>
            <a:solidFill>
              <a:schemeClr val="accent5">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72" name="Oval 71">
              <a:extLst>
                <a:ext uri="{FF2B5EF4-FFF2-40B4-BE49-F238E27FC236}">
                  <a16:creationId xmlns:a16="http://schemas.microsoft.com/office/drawing/2014/main" id="{64764BD2-6A38-8F41-9FBD-20B2E4773A10}"/>
                </a:ext>
              </a:extLst>
            </p:cNvPr>
            <p:cNvSpPr/>
            <p:nvPr/>
          </p:nvSpPr>
          <p:spPr>
            <a:xfrm>
              <a:off x="4888424" y="4178676"/>
              <a:ext cx="956930" cy="894701"/>
            </a:xfrm>
            <a:prstGeom prst="ellipse">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73" name="Group 72">
            <a:extLst>
              <a:ext uri="{FF2B5EF4-FFF2-40B4-BE49-F238E27FC236}">
                <a16:creationId xmlns:a16="http://schemas.microsoft.com/office/drawing/2014/main" id="{2900BE9A-222C-F34F-85D2-40911B1A0472}"/>
              </a:ext>
            </a:extLst>
          </p:cNvPr>
          <p:cNvGrpSpPr/>
          <p:nvPr/>
        </p:nvGrpSpPr>
        <p:grpSpPr>
          <a:xfrm>
            <a:off x="392551" y="4375961"/>
            <a:ext cx="2232578" cy="1546013"/>
            <a:chOff x="4767377" y="4052661"/>
            <a:chExt cx="2232578" cy="1546013"/>
          </a:xfrm>
        </p:grpSpPr>
        <p:sp>
          <p:nvSpPr>
            <p:cNvPr id="74" name="Rectangle 73">
              <a:extLst>
                <a:ext uri="{FF2B5EF4-FFF2-40B4-BE49-F238E27FC236}">
                  <a16:creationId xmlns:a16="http://schemas.microsoft.com/office/drawing/2014/main" id="{F4811ECF-3823-ED44-AEA5-2371CA47DA09}"/>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75" name="Oval 74">
              <a:extLst>
                <a:ext uri="{FF2B5EF4-FFF2-40B4-BE49-F238E27FC236}">
                  <a16:creationId xmlns:a16="http://schemas.microsoft.com/office/drawing/2014/main" id="{B086F7AE-DE56-A44C-A088-40C3EDD3B107}"/>
                </a:ext>
              </a:extLst>
            </p:cNvPr>
            <p:cNvSpPr/>
            <p:nvPr/>
          </p:nvSpPr>
          <p:spPr>
            <a:xfrm>
              <a:off x="5405201" y="4573101"/>
              <a:ext cx="956930" cy="894701"/>
            </a:xfrm>
            <a:prstGeom prst="ellipse">
              <a:avLst/>
            </a:prstGeom>
            <a:solidFill>
              <a:schemeClr val="accent5">
                <a:lumMod val="20000"/>
                <a:lumOff val="8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76" name="Oval 75">
              <a:extLst>
                <a:ext uri="{FF2B5EF4-FFF2-40B4-BE49-F238E27FC236}">
                  <a16:creationId xmlns:a16="http://schemas.microsoft.com/office/drawing/2014/main" id="{EE7C5E8D-1487-0A48-97B0-36ED785B2719}"/>
                </a:ext>
              </a:extLst>
            </p:cNvPr>
            <p:cNvSpPr/>
            <p:nvPr/>
          </p:nvSpPr>
          <p:spPr>
            <a:xfrm>
              <a:off x="5651736" y="4071017"/>
              <a:ext cx="956930" cy="894701"/>
            </a:xfrm>
            <a:prstGeom prst="ellipse">
              <a:avLst/>
            </a:prstGeom>
            <a:solidFill>
              <a:schemeClr val="accent3"/>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77" name="Oval 76">
              <a:extLst>
                <a:ext uri="{FF2B5EF4-FFF2-40B4-BE49-F238E27FC236}">
                  <a16:creationId xmlns:a16="http://schemas.microsoft.com/office/drawing/2014/main" id="{EC92B467-1749-3A4F-A91D-25A18BEFC8FA}"/>
                </a:ext>
              </a:extLst>
            </p:cNvPr>
            <p:cNvSpPr/>
            <p:nvPr/>
          </p:nvSpPr>
          <p:spPr>
            <a:xfrm>
              <a:off x="4888424" y="4178676"/>
              <a:ext cx="956930" cy="894701"/>
            </a:xfrm>
            <a:prstGeom prst="ellipse">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78" name="Group 77">
            <a:extLst>
              <a:ext uri="{FF2B5EF4-FFF2-40B4-BE49-F238E27FC236}">
                <a16:creationId xmlns:a16="http://schemas.microsoft.com/office/drawing/2014/main" id="{44050444-3705-5D4C-ABA7-D11D5D6F7897}"/>
              </a:ext>
            </a:extLst>
          </p:cNvPr>
          <p:cNvGrpSpPr/>
          <p:nvPr/>
        </p:nvGrpSpPr>
        <p:grpSpPr>
          <a:xfrm>
            <a:off x="2801849" y="4379090"/>
            <a:ext cx="2232578" cy="1546013"/>
            <a:chOff x="4767377" y="4052661"/>
            <a:chExt cx="2232578" cy="1546013"/>
          </a:xfrm>
        </p:grpSpPr>
        <p:sp>
          <p:nvSpPr>
            <p:cNvPr id="79" name="Rectangle 78">
              <a:extLst>
                <a:ext uri="{FF2B5EF4-FFF2-40B4-BE49-F238E27FC236}">
                  <a16:creationId xmlns:a16="http://schemas.microsoft.com/office/drawing/2014/main" id="{B4225D62-651C-E042-9457-5FC58B68BF7D}"/>
                </a:ext>
              </a:extLst>
            </p:cNvPr>
            <p:cNvSpPr/>
            <p:nvPr/>
          </p:nvSpPr>
          <p:spPr>
            <a:xfrm>
              <a:off x="4767377" y="4052661"/>
              <a:ext cx="2232578" cy="1546013"/>
            </a:xfrm>
            <a:prstGeom prst="rect">
              <a:avLst/>
            </a:prstGeom>
            <a:solidFill>
              <a:schemeClr val="accent2">
                <a:lumMod val="20000"/>
                <a:lumOff val="8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80" name="Oval 79">
              <a:extLst>
                <a:ext uri="{FF2B5EF4-FFF2-40B4-BE49-F238E27FC236}">
                  <a16:creationId xmlns:a16="http://schemas.microsoft.com/office/drawing/2014/main" id="{8DE3E7A2-A59C-EF4D-A8F1-2F809E1812BD}"/>
                </a:ext>
              </a:extLst>
            </p:cNvPr>
            <p:cNvSpPr/>
            <p:nvPr/>
          </p:nvSpPr>
          <p:spPr>
            <a:xfrm>
              <a:off x="5405201" y="4573101"/>
              <a:ext cx="956930" cy="894701"/>
            </a:xfrm>
            <a:prstGeom prst="ellipse">
              <a:avLst/>
            </a:prstGeom>
            <a:solidFill>
              <a:schemeClr val="accent5">
                <a:lumMod val="20000"/>
                <a:lumOff val="8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84" name="Group 83">
            <a:extLst>
              <a:ext uri="{FF2B5EF4-FFF2-40B4-BE49-F238E27FC236}">
                <a16:creationId xmlns:a16="http://schemas.microsoft.com/office/drawing/2014/main" id="{84EDE78D-1420-644A-A249-B51C18E3444E}"/>
              </a:ext>
            </a:extLst>
          </p:cNvPr>
          <p:cNvGrpSpPr/>
          <p:nvPr/>
        </p:nvGrpSpPr>
        <p:grpSpPr>
          <a:xfrm>
            <a:off x="5247686" y="4379090"/>
            <a:ext cx="2232578" cy="1546013"/>
            <a:chOff x="4767377" y="4052661"/>
            <a:chExt cx="2232578" cy="1546013"/>
          </a:xfrm>
        </p:grpSpPr>
        <p:sp>
          <p:nvSpPr>
            <p:cNvPr id="85" name="Rectangle 84">
              <a:extLst>
                <a:ext uri="{FF2B5EF4-FFF2-40B4-BE49-F238E27FC236}">
                  <a16:creationId xmlns:a16="http://schemas.microsoft.com/office/drawing/2014/main" id="{CCFB8E6D-6782-ED49-81D5-CBF316D9E00F}"/>
                </a:ext>
              </a:extLst>
            </p:cNvPr>
            <p:cNvSpPr/>
            <p:nvPr/>
          </p:nvSpPr>
          <p:spPr>
            <a:xfrm>
              <a:off x="4767377" y="4052661"/>
              <a:ext cx="2232578" cy="1546013"/>
            </a:xfrm>
            <a:prstGeom prst="rect">
              <a:avLst/>
            </a:prstGeom>
            <a:solidFill>
              <a:schemeClr val="accent2">
                <a:lumMod val="20000"/>
                <a:lumOff val="8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6" name="Oval 85">
              <a:extLst>
                <a:ext uri="{FF2B5EF4-FFF2-40B4-BE49-F238E27FC236}">
                  <a16:creationId xmlns:a16="http://schemas.microsoft.com/office/drawing/2014/main" id="{C27F7A82-1FCE-304B-8ACB-A7E666821BFB}"/>
                </a:ext>
              </a:extLst>
            </p:cNvPr>
            <p:cNvSpPr/>
            <p:nvPr/>
          </p:nvSpPr>
          <p:spPr>
            <a:xfrm>
              <a:off x="5405201" y="4573101"/>
              <a:ext cx="956930" cy="894701"/>
            </a:xfrm>
            <a:prstGeom prst="ellipse">
              <a:avLst/>
            </a:prstGeom>
            <a:solidFill>
              <a:schemeClr val="tx2">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87" name="Group 86">
            <a:extLst>
              <a:ext uri="{FF2B5EF4-FFF2-40B4-BE49-F238E27FC236}">
                <a16:creationId xmlns:a16="http://schemas.microsoft.com/office/drawing/2014/main" id="{F75348C1-9D26-6F48-9BE6-726607348619}"/>
              </a:ext>
            </a:extLst>
          </p:cNvPr>
          <p:cNvGrpSpPr/>
          <p:nvPr/>
        </p:nvGrpSpPr>
        <p:grpSpPr>
          <a:xfrm>
            <a:off x="7735582" y="4375960"/>
            <a:ext cx="2232578" cy="1546013"/>
            <a:chOff x="4767377" y="4052661"/>
            <a:chExt cx="2232578" cy="1546013"/>
          </a:xfrm>
        </p:grpSpPr>
        <p:sp>
          <p:nvSpPr>
            <p:cNvPr id="88" name="Rectangle 87">
              <a:extLst>
                <a:ext uri="{FF2B5EF4-FFF2-40B4-BE49-F238E27FC236}">
                  <a16:creationId xmlns:a16="http://schemas.microsoft.com/office/drawing/2014/main" id="{DED9100E-8F98-5148-9C14-93BFF0D46B3C}"/>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9" name="Oval 88">
              <a:extLst>
                <a:ext uri="{FF2B5EF4-FFF2-40B4-BE49-F238E27FC236}">
                  <a16:creationId xmlns:a16="http://schemas.microsoft.com/office/drawing/2014/main" id="{B555DEA0-F236-054B-BE33-D9C94CACB95F}"/>
                </a:ext>
              </a:extLst>
            </p:cNvPr>
            <p:cNvSpPr/>
            <p:nvPr/>
          </p:nvSpPr>
          <p:spPr>
            <a:xfrm>
              <a:off x="5405201" y="4573101"/>
              <a:ext cx="956930" cy="894701"/>
            </a:xfrm>
            <a:prstGeom prst="ellipse">
              <a:avLst/>
            </a:prstGeom>
            <a:solidFill>
              <a:schemeClr val="tx2">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90" name="Oval 89">
              <a:extLst>
                <a:ext uri="{FF2B5EF4-FFF2-40B4-BE49-F238E27FC236}">
                  <a16:creationId xmlns:a16="http://schemas.microsoft.com/office/drawing/2014/main" id="{91F19AE4-0FBE-CC4F-95CB-88FF24B4A43B}"/>
                </a:ext>
              </a:extLst>
            </p:cNvPr>
            <p:cNvSpPr/>
            <p:nvPr/>
          </p:nvSpPr>
          <p:spPr>
            <a:xfrm>
              <a:off x="5651736" y="4071017"/>
              <a:ext cx="956930" cy="894701"/>
            </a:xfrm>
            <a:prstGeom prst="ellipse">
              <a:avLst/>
            </a:prstGeom>
            <a:solidFill>
              <a:schemeClr val="accent3"/>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91" name="Oval 90">
              <a:extLst>
                <a:ext uri="{FF2B5EF4-FFF2-40B4-BE49-F238E27FC236}">
                  <a16:creationId xmlns:a16="http://schemas.microsoft.com/office/drawing/2014/main" id="{B69A9F52-5071-5C4E-8F83-E53E37E5C03E}"/>
                </a:ext>
              </a:extLst>
            </p:cNvPr>
            <p:cNvSpPr/>
            <p:nvPr/>
          </p:nvSpPr>
          <p:spPr>
            <a:xfrm>
              <a:off x="4888424" y="4178676"/>
              <a:ext cx="956930" cy="894701"/>
            </a:xfrm>
            <a:prstGeom prst="ellipse">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spTree>
    <p:extLst>
      <p:ext uri="{BB962C8B-B14F-4D97-AF65-F5344CB8AC3E}">
        <p14:creationId xmlns:p14="http://schemas.microsoft.com/office/powerpoint/2010/main" val="352008772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type="body" sz="quarter" idx="12"/>
          </p:nvPr>
        </p:nvSpPr>
        <p:spPr/>
        <p:txBody>
          <a:bodyPr/>
          <a:lstStyle/>
          <a:p>
            <a:r>
              <a:rPr lang="en-US" dirty="0"/>
              <a:t>Refactoring to supporting a different AMR library</a:t>
            </a:r>
          </a:p>
        </p:txBody>
      </p:sp>
      <p:sp>
        <p:nvSpPr>
          <p:cNvPr id="2" name="Title 1"/>
          <p:cNvSpPr>
            <a:spLocks noGrp="1"/>
          </p:cNvSpPr>
          <p:nvPr>
            <p:ph type="title"/>
          </p:nvPr>
        </p:nvSpPr>
        <p:spPr/>
        <p:txBody>
          <a:bodyPr/>
          <a:lstStyle/>
          <a:p>
            <a:r>
              <a:rPr lang="en-US" dirty="0"/>
              <a:t>A Real-World Example: FLASH to Flash-X</a:t>
            </a:r>
          </a:p>
        </p:txBody>
      </p:sp>
      <p:pic>
        <p:nvPicPr>
          <p:cNvPr id="9" name="Picture 8">
            <a:extLst>
              <a:ext uri="{FF2B5EF4-FFF2-40B4-BE49-F238E27FC236}">
                <a16:creationId xmlns:a16="http://schemas.microsoft.com/office/drawing/2014/main" id="{6F3ADAC1-15CD-8E44-946A-4A711DC4E27F}"/>
              </a:ext>
            </a:extLst>
          </p:cNvPr>
          <p:cNvPicPr>
            <a:picLocks noChangeAspect="1"/>
          </p:cNvPicPr>
          <p:nvPr/>
        </p:nvPicPr>
        <p:blipFill>
          <a:blip r:embed="rId3"/>
          <a:stretch>
            <a:fillRect/>
          </a:stretch>
        </p:blipFill>
        <p:spPr>
          <a:xfrm>
            <a:off x="5772231" y="2353796"/>
            <a:ext cx="4610100" cy="2616200"/>
          </a:xfrm>
          <a:prstGeom prst="rect">
            <a:avLst/>
          </a:prstGeom>
        </p:spPr>
      </p:pic>
      <p:sp>
        <p:nvSpPr>
          <p:cNvPr id="3" name="TextBox 2">
            <a:extLst>
              <a:ext uri="{FF2B5EF4-FFF2-40B4-BE49-F238E27FC236}">
                <a16:creationId xmlns:a16="http://schemas.microsoft.com/office/drawing/2014/main" id="{BCB57A9D-D6A7-6544-969C-564C5AE22E4E}"/>
              </a:ext>
            </a:extLst>
          </p:cNvPr>
          <p:cNvSpPr txBox="1"/>
          <p:nvPr/>
        </p:nvSpPr>
        <p:spPr>
          <a:xfrm>
            <a:off x="896910" y="1627079"/>
            <a:ext cx="3792618" cy="2870016"/>
          </a:xfrm>
          <a:prstGeom prst="rect">
            <a:avLst/>
          </a:prstGeom>
          <a:noFill/>
        </p:spPr>
        <p:txBody>
          <a:bodyPr wrap="square" rtlCol="0">
            <a:spAutoFit/>
          </a:bodyPr>
          <a:lstStyle/>
          <a:p>
            <a:endParaRPr lang="en-US" sz="1400" dirty="0"/>
          </a:p>
          <a:p>
            <a:endParaRPr lang="en-US" sz="1400" b="1" dirty="0"/>
          </a:p>
          <a:p>
            <a:r>
              <a:rPr lang="en-US" sz="1400" b="1" dirty="0"/>
              <a:t>Goal</a:t>
            </a:r>
            <a:r>
              <a:rPr lang="en-US" sz="1400" dirty="0"/>
              <a:t>: Replace Paramesh with </a:t>
            </a:r>
            <a:r>
              <a:rPr lang="en-US" sz="1400" dirty="0" err="1"/>
              <a:t>AMReX</a:t>
            </a:r>
            <a:endParaRPr lang="en-US" sz="1400" dirty="0"/>
          </a:p>
          <a:p>
            <a:endParaRPr lang="en-US" sz="1400" dirty="0"/>
          </a:p>
          <a:p>
            <a:r>
              <a:rPr lang="en-US" sz="1400" b="1" dirty="0"/>
              <a:t>Plan</a:t>
            </a:r>
            <a:r>
              <a:rPr lang="en-US" sz="1400" dirty="0"/>
              <a:t>: Getting there from here</a:t>
            </a:r>
          </a:p>
          <a:p>
            <a:pPr marL="285750" indent="-285750">
              <a:buFont typeface="Arial" panose="020B0604020202020204" pitchFamily="34" charset="0"/>
              <a:buChar char="•"/>
            </a:pPr>
            <a:r>
              <a:rPr lang="en-US" sz="1400" dirty="0"/>
              <a:t>On ramping</a:t>
            </a:r>
          </a:p>
          <a:p>
            <a:pPr marL="285750" indent="-285750">
              <a:buFont typeface="Arial" panose="020B0604020202020204" pitchFamily="34" charset="0"/>
              <a:buChar char="•"/>
            </a:pPr>
            <a:r>
              <a:rPr lang="en-US" sz="1400" dirty="0"/>
              <a:t>Design</a:t>
            </a:r>
          </a:p>
          <a:p>
            <a:pPr marL="285750" indent="-285750">
              <a:buFont typeface="Arial" panose="020B0604020202020204" pitchFamily="34" charset="0"/>
              <a:buChar char="•"/>
            </a:pPr>
            <a:r>
              <a:rPr lang="en-US" sz="1400" dirty="0"/>
              <a:t>Intermediate steps</a:t>
            </a:r>
          </a:p>
          <a:p>
            <a:pPr marL="285750" indent="-285750">
              <a:buFont typeface="Arial" panose="020B0604020202020204" pitchFamily="34" charset="0"/>
              <a:buChar char="•"/>
            </a:pPr>
            <a:r>
              <a:rPr lang="en-US" sz="1400" dirty="0"/>
              <a:t>Realizing the goal</a:t>
            </a:r>
          </a:p>
          <a:p>
            <a:pPr marL="285750" indent="-285750">
              <a:buFont typeface="Arial" panose="020B0604020202020204" pitchFamily="34" charset="0"/>
              <a:buChar char="•"/>
            </a:pPr>
            <a:endParaRPr lang="en-US" sz="1400" dirty="0"/>
          </a:p>
          <a:p>
            <a:pPr marL="285755" indent="-285755">
              <a:buFont typeface="Arial" panose="020B0604020202020204" pitchFamily="34" charset="0"/>
              <a:buChar char="•"/>
            </a:pPr>
            <a:endParaRPr lang="en-US" sz="1350" dirty="0"/>
          </a:p>
          <a:p>
            <a:endParaRPr lang="en-US" sz="1350" dirty="0"/>
          </a:p>
          <a:p>
            <a:endParaRPr lang="en-US" sz="1350" dirty="0"/>
          </a:p>
        </p:txBody>
      </p:sp>
    </p:spTree>
    <p:extLst>
      <p:ext uri="{BB962C8B-B14F-4D97-AF65-F5344CB8AC3E}">
        <p14:creationId xmlns:p14="http://schemas.microsoft.com/office/powerpoint/2010/main" val="327343712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type="body" sz="quarter" idx="12"/>
          </p:nvPr>
        </p:nvSpPr>
        <p:spPr/>
        <p:txBody>
          <a:bodyPr/>
          <a:lstStyle/>
          <a:p>
            <a:r>
              <a:rPr lang="en-US" dirty="0"/>
              <a:t>Refactoring to supporting a different AMR library</a:t>
            </a:r>
          </a:p>
        </p:txBody>
      </p:sp>
      <p:sp>
        <p:nvSpPr>
          <p:cNvPr id="2" name="Title 1"/>
          <p:cNvSpPr>
            <a:spLocks noGrp="1"/>
          </p:cNvSpPr>
          <p:nvPr>
            <p:ph type="title"/>
          </p:nvPr>
        </p:nvSpPr>
        <p:spPr/>
        <p:txBody>
          <a:bodyPr/>
          <a:lstStyle/>
          <a:p>
            <a:r>
              <a:rPr lang="en-US" dirty="0"/>
              <a:t>A Real-World Example: FLASH to Flash-X</a:t>
            </a:r>
          </a:p>
        </p:txBody>
      </p:sp>
      <p:pic>
        <p:nvPicPr>
          <p:cNvPr id="9" name="Picture 8">
            <a:extLst>
              <a:ext uri="{FF2B5EF4-FFF2-40B4-BE49-F238E27FC236}">
                <a16:creationId xmlns:a16="http://schemas.microsoft.com/office/drawing/2014/main" id="{6F3ADAC1-15CD-8E44-946A-4A711DC4E27F}"/>
              </a:ext>
            </a:extLst>
          </p:cNvPr>
          <p:cNvPicPr>
            <a:picLocks noChangeAspect="1"/>
          </p:cNvPicPr>
          <p:nvPr/>
        </p:nvPicPr>
        <p:blipFill>
          <a:blip r:embed="rId3"/>
          <a:stretch>
            <a:fillRect/>
          </a:stretch>
        </p:blipFill>
        <p:spPr>
          <a:xfrm>
            <a:off x="5772231" y="2353796"/>
            <a:ext cx="4610100" cy="2616200"/>
          </a:xfrm>
          <a:prstGeom prst="rect">
            <a:avLst/>
          </a:prstGeom>
        </p:spPr>
      </p:pic>
      <p:sp>
        <p:nvSpPr>
          <p:cNvPr id="3" name="TextBox 2">
            <a:extLst>
              <a:ext uri="{FF2B5EF4-FFF2-40B4-BE49-F238E27FC236}">
                <a16:creationId xmlns:a16="http://schemas.microsoft.com/office/drawing/2014/main" id="{BCB57A9D-D6A7-6544-969C-564C5AE22E4E}"/>
              </a:ext>
            </a:extLst>
          </p:cNvPr>
          <p:cNvSpPr txBox="1"/>
          <p:nvPr/>
        </p:nvSpPr>
        <p:spPr>
          <a:xfrm>
            <a:off x="896910" y="1627079"/>
            <a:ext cx="3792618" cy="2870016"/>
          </a:xfrm>
          <a:prstGeom prst="rect">
            <a:avLst/>
          </a:prstGeom>
          <a:noFill/>
        </p:spPr>
        <p:txBody>
          <a:bodyPr wrap="square" rtlCol="0">
            <a:spAutoFit/>
          </a:bodyPr>
          <a:lstStyle/>
          <a:p>
            <a:endParaRPr lang="en-US" sz="1400" dirty="0"/>
          </a:p>
          <a:p>
            <a:endParaRPr lang="en-US" sz="1400" b="1" dirty="0"/>
          </a:p>
          <a:p>
            <a:r>
              <a:rPr lang="en-US" sz="1400" b="1" dirty="0"/>
              <a:t>Goal</a:t>
            </a:r>
            <a:r>
              <a:rPr lang="en-US" sz="1400" dirty="0"/>
              <a:t>: Replace Paramesh with </a:t>
            </a:r>
            <a:r>
              <a:rPr lang="en-US" sz="1400" dirty="0" err="1"/>
              <a:t>AMReX</a:t>
            </a:r>
            <a:endParaRPr lang="en-US" sz="1400" dirty="0"/>
          </a:p>
          <a:p>
            <a:endParaRPr lang="en-US" sz="1400" dirty="0"/>
          </a:p>
          <a:p>
            <a:r>
              <a:rPr lang="en-US" sz="1400" b="1" dirty="0"/>
              <a:t>Plan</a:t>
            </a:r>
            <a:r>
              <a:rPr lang="en-US" sz="1400" dirty="0"/>
              <a:t>: Getting there from here</a:t>
            </a:r>
          </a:p>
          <a:p>
            <a:pPr marL="285750" indent="-285750">
              <a:buFont typeface="Arial" panose="020B0604020202020204" pitchFamily="34" charset="0"/>
              <a:buChar char="•"/>
            </a:pPr>
            <a:r>
              <a:rPr lang="en-US" sz="1400" dirty="0"/>
              <a:t>On ramping</a:t>
            </a:r>
          </a:p>
          <a:p>
            <a:pPr marL="285750" indent="-285750">
              <a:buFont typeface="Arial" panose="020B0604020202020204" pitchFamily="34" charset="0"/>
              <a:buChar char="•"/>
            </a:pPr>
            <a:r>
              <a:rPr lang="en-US" sz="1400" dirty="0"/>
              <a:t>Design</a:t>
            </a:r>
          </a:p>
          <a:p>
            <a:pPr marL="285750" indent="-285750">
              <a:buFont typeface="Arial" panose="020B0604020202020204" pitchFamily="34" charset="0"/>
              <a:buChar char="•"/>
            </a:pPr>
            <a:r>
              <a:rPr lang="en-US" sz="1400" dirty="0"/>
              <a:t>Intermediate steps</a:t>
            </a:r>
          </a:p>
          <a:p>
            <a:pPr marL="285750" indent="-285750">
              <a:buFont typeface="Arial" panose="020B0604020202020204" pitchFamily="34" charset="0"/>
              <a:buChar char="•"/>
            </a:pPr>
            <a:r>
              <a:rPr lang="en-US" sz="1400" dirty="0"/>
              <a:t>Realizing the goal</a:t>
            </a:r>
          </a:p>
          <a:p>
            <a:pPr marL="285750" indent="-285750">
              <a:buFont typeface="Arial" panose="020B0604020202020204" pitchFamily="34" charset="0"/>
              <a:buChar char="•"/>
            </a:pPr>
            <a:endParaRPr lang="en-US" sz="1400" dirty="0"/>
          </a:p>
          <a:p>
            <a:pPr marL="285755" indent="-285755">
              <a:buFont typeface="Arial" panose="020B0604020202020204" pitchFamily="34" charset="0"/>
              <a:buChar char="•"/>
            </a:pPr>
            <a:endParaRPr lang="en-US" sz="1350" dirty="0"/>
          </a:p>
          <a:p>
            <a:endParaRPr lang="en-US" sz="1350" dirty="0"/>
          </a:p>
          <a:p>
            <a:endParaRPr lang="en-US" sz="1350" dirty="0"/>
          </a:p>
        </p:txBody>
      </p:sp>
      <p:sp>
        <p:nvSpPr>
          <p:cNvPr id="7" name="Content Placeholder 2">
            <a:extLst>
              <a:ext uri="{FF2B5EF4-FFF2-40B4-BE49-F238E27FC236}">
                <a16:creationId xmlns:a16="http://schemas.microsoft.com/office/drawing/2014/main" id="{E55DE92F-BBBF-0852-12B9-03CB4769B091}"/>
              </a:ext>
            </a:extLst>
          </p:cNvPr>
          <p:cNvSpPr>
            <a:spLocks noGrp="1"/>
          </p:cNvSpPr>
          <p:nvPr>
            <p:ph idx="1"/>
          </p:nvPr>
        </p:nvSpPr>
        <p:spPr>
          <a:xfrm>
            <a:off x="991443" y="3918032"/>
            <a:ext cx="4610100" cy="2103927"/>
          </a:xfrm>
        </p:spPr>
        <p:txBody>
          <a:bodyPr>
            <a:normAutofit fontScale="77500" lnSpcReduction="20000"/>
          </a:bodyPr>
          <a:lstStyle/>
          <a:p>
            <a:r>
              <a:rPr lang="en-US" dirty="0"/>
              <a:t>Cost estimation</a:t>
            </a:r>
          </a:p>
          <a:p>
            <a:pPr lvl="1"/>
            <a:r>
              <a:rPr lang="en-US" dirty="0"/>
              <a:t>Expected developer time </a:t>
            </a:r>
          </a:p>
          <a:p>
            <a:pPr lvl="1"/>
            <a:r>
              <a:rPr lang="en-US" dirty="0"/>
              <a:t>Extent of disruption in production schedules</a:t>
            </a:r>
          </a:p>
          <a:p>
            <a:r>
              <a:rPr lang="en-US" dirty="0"/>
              <a:t>Get a buy-in from the stakeholders</a:t>
            </a:r>
          </a:p>
          <a:p>
            <a:pPr lvl="1"/>
            <a:r>
              <a:rPr lang="en-US" dirty="0"/>
              <a:t>That includes the users</a:t>
            </a:r>
          </a:p>
          <a:p>
            <a:pPr lvl="1"/>
            <a:r>
              <a:rPr lang="en-US" dirty="0"/>
              <a:t>For both development time and disruption</a:t>
            </a:r>
          </a:p>
          <a:p>
            <a:pPr lvl="1"/>
            <a:endParaRPr lang="en-US" dirty="0"/>
          </a:p>
        </p:txBody>
      </p:sp>
    </p:spTree>
    <p:extLst>
      <p:ext uri="{BB962C8B-B14F-4D97-AF65-F5344CB8AC3E}">
        <p14:creationId xmlns:p14="http://schemas.microsoft.com/office/powerpoint/2010/main" val="388821516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Steps in the Flash-X Refactoring : a mix of strategies</a:t>
            </a:r>
          </a:p>
        </p:txBody>
      </p:sp>
      <p:pic>
        <p:nvPicPr>
          <p:cNvPr id="10" name="Content Placeholder 6">
            <a:extLst>
              <a:ext uri="{FF2B5EF4-FFF2-40B4-BE49-F238E27FC236}">
                <a16:creationId xmlns:a16="http://schemas.microsoft.com/office/drawing/2014/main" id="{62426650-9F82-EB44-8ED8-BA2D3B851310}"/>
              </a:ext>
            </a:extLst>
          </p:cNvPr>
          <p:cNvPicPr>
            <a:picLocks noChangeAspect="1"/>
          </p:cNvPicPr>
          <p:nvPr/>
        </p:nvPicPr>
        <p:blipFill>
          <a:blip r:embed="rId2"/>
          <a:stretch>
            <a:fillRect/>
          </a:stretch>
        </p:blipFill>
        <p:spPr>
          <a:xfrm>
            <a:off x="1302460" y="1258433"/>
            <a:ext cx="6812840" cy="4697051"/>
          </a:xfrm>
          <a:prstGeom prst="rect">
            <a:avLst/>
          </a:prstGeom>
        </p:spPr>
      </p:pic>
      <p:sp>
        <p:nvSpPr>
          <p:cNvPr id="8" name="Rectangle 7">
            <a:extLst>
              <a:ext uri="{FF2B5EF4-FFF2-40B4-BE49-F238E27FC236}">
                <a16:creationId xmlns:a16="http://schemas.microsoft.com/office/drawing/2014/main" id="{536E88DB-86F6-D14F-86CE-50EC5CBFE3C4}"/>
              </a:ext>
            </a:extLst>
          </p:cNvPr>
          <p:cNvSpPr/>
          <p:nvPr/>
        </p:nvSpPr>
        <p:spPr>
          <a:xfrm>
            <a:off x="4000500" y="1123950"/>
            <a:ext cx="4114800" cy="4831534"/>
          </a:xfrm>
          <a:prstGeom prst="rect">
            <a:avLst/>
          </a:prstGeom>
          <a:solidFill>
            <a:schemeClr val="bg1"/>
          </a:solidFill>
          <a:ln>
            <a:noFill/>
          </a:ln>
          <a:effectLst>
            <a:outerShdw blurRad="44450" dist="27940" dir="5400000" algn="ctr">
              <a:schemeClr val="bg1">
                <a:alpha val="32000"/>
              </a:scheme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6" name="Rectangle 5">
            <a:extLst>
              <a:ext uri="{FF2B5EF4-FFF2-40B4-BE49-F238E27FC236}">
                <a16:creationId xmlns:a16="http://schemas.microsoft.com/office/drawing/2014/main" id="{A5B6EE5A-1EFD-3246-8021-016544B18DC4}"/>
              </a:ext>
            </a:extLst>
          </p:cNvPr>
          <p:cNvSpPr/>
          <p:nvPr/>
        </p:nvSpPr>
        <p:spPr>
          <a:xfrm>
            <a:off x="2647506" y="3429000"/>
            <a:ext cx="3217235" cy="3324200"/>
          </a:xfrm>
          <a:prstGeom prst="rect">
            <a:avLst/>
          </a:prstGeom>
          <a:solidFill>
            <a:schemeClr val="bg1"/>
          </a:solidFill>
          <a:ln>
            <a:noFill/>
          </a:ln>
          <a:effectLst>
            <a:outerShdw blurRad="44450" dist="27940" dir="5400000" algn="ctr">
              <a:schemeClr val="bg1">
                <a:alpha val="32000"/>
              </a:scheme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Tree>
    <p:extLst>
      <p:ext uri="{BB962C8B-B14F-4D97-AF65-F5344CB8AC3E}">
        <p14:creationId xmlns:p14="http://schemas.microsoft.com/office/powerpoint/2010/main" val="1169802314"/>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Steps in the Flash-X Refactoring : a mix of strategies</a:t>
            </a:r>
          </a:p>
        </p:txBody>
      </p:sp>
      <p:pic>
        <p:nvPicPr>
          <p:cNvPr id="10" name="Content Placeholder 6">
            <a:extLst>
              <a:ext uri="{FF2B5EF4-FFF2-40B4-BE49-F238E27FC236}">
                <a16:creationId xmlns:a16="http://schemas.microsoft.com/office/drawing/2014/main" id="{62426650-9F82-EB44-8ED8-BA2D3B851310}"/>
              </a:ext>
            </a:extLst>
          </p:cNvPr>
          <p:cNvPicPr>
            <a:picLocks noChangeAspect="1"/>
          </p:cNvPicPr>
          <p:nvPr/>
        </p:nvPicPr>
        <p:blipFill>
          <a:blip r:embed="rId2"/>
          <a:stretch>
            <a:fillRect/>
          </a:stretch>
        </p:blipFill>
        <p:spPr>
          <a:xfrm>
            <a:off x="1302460" y="1258433"/>
            <a:ext cx="6812840" cy="4697051"/>
          </a:xfrm>
          <a:prstGeom prst="rect">
            <a:avLst/>
          </a:prstGeom>
        </p:spPr>
      </p:pic>
      <p:sp>
        <p:nvSpPr>
          <p:cNvPr id="8" name="Rectangle 7">
            <a:extLst>
              <a:ext uri="{FF2B5EF4-FFF2-40B4-BE49-F238E27FC236}">
                <a16:creationId xmlns:a16="http://schemas.microsoft.com/office/drawing/2014/main" id="{536E88DB-86F6-D14F-86CE-50EC5CBFE3C4}"/>
              </a:ext>
            </a:extLst>
          </p:cNvPr>
          <p:cNvSpPr/>
          <p:nvPr/>
        </p:nvSpPr>
        <p:spPr>
          <a:xfrm>
            <a:off x="4000500" y="1123950"/>
            <a:ext cx="4114800" cy="4831534"/>
          </a:xfrm>
          <a:prstGeom prst="rect">
            <a:avLst/>
          </a:prstGeom>
          <a:solidFill>
            <a:schemeClr val="bg1"/>
          </a:solidFill>
          <a:ln>
            <a:noFill/>
          </a:ln>
          <a:effectLst>
            <a:outerShdw blurRad="44450" dist="27940" dir="5400000" algn="ctr">
              <a:schemeClr val="bg1">
                <a:alpha val="32000"/>
              </a:scheme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3" name="TextBox 2">
            <a:extLst>
              <a:ext uri="{FF2B5EF4-FFF2-40B4-BE49-F238E27FC236}">
                <a16:creationId xmlns:a16="http://schemas.microsoft.com/office/drawing/2014/main" id="{41E1A88C-7D5F-454E-B32C-4F152E97D1F4}"/>
              </a:ext>
            </a:extLst>
          </p:cNvPr>
          <p:cNvSpPr txBox="1"/>
          <p:nvPr/>
        </p:nvSpPr>
        <p:spPr>
          <a:xfrm>
            <a:off x="4667692" y="3806951"/>
            <a:ext cx="1850067" cy="1431161"/>
          </a:xfrm>
          <a:prstGeom prst="rect">
            <a:avLst/>
          </a:prstGeom>
          <a:noFill/>
        </p:spPr>
        <p:txBody>
          <a:bodyPr wrap="square" lIns="118872" tIns="91440" rIns="118872" bIns="91440" rtlCol="0" anchor="ctr" anchorCtr="0">
            <a:spAutoFit/>
          </a:bodyPr>
          <a:lstStyle/>
          <a:p>
            <a:pPr algn="l">
              <a:lnSpc>
                <a:spcPct val="90000"/>
              </a:lnSpc>
            </a:pPr>
            <a:r>
              <a:rPr lang="en-US" dirty="0"/>
              <a:t>Part of a simpler environment for refactoring and testing </a:t>
            </a:r>
          </a:p>
        </p:txBody>
      </p:sp>
      <p:cxnSp>
        <p:nvCxnSpPr>
          <p:cNvPr id="5" name="Straight Arrow Connector 4">
            <a:extLst>
              <a:ext uri="{FF2B5EF4-FFF2-40B4-BE49-F238E27FC236}">
                <a16:creationId xmlns:a16="http://schemas.microsoft.com/office/drawing/2014/main" id="{E6813FCF-81D0-694A-8C12-CDF21FE4EC10}"/>
              </a:ext>
            </a:extLst>
          </p:cNvPr>
          <p:cNvCxnSpPr/>
          <p:nvPr/>
        </p:nvCxnSpPr>
        <p:spPr>
          <a:xfrm flipH="1">
            <a:off x="4000500" y="4614530"/>
            <a:ext cx="465174" cy="393405"/>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2787088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Steps in the Process</a:t>
            </a:r>
          </a:p>
        </p:txBody>
      </p:sp>
      <p:pic>
        <p:nvPicPr>
          <p:cNvPr id="10" name="Content Placeholder 6">
            <a:extLst>
              <a:ext uri="{FF2B5EF4-FFF2-40B4-BE49-F238E27FC236}">
                <a16:creationId xmlns:a16="http://schemas.microsoft.com/office/drawing/2014/main" id="{62426650-9F82-EB44-8ED8-BA2D3B851310}"/>
              </a:ext>
            </a:extLst>
          </p:cNvPr>
          <p:cNvPicPr>
            <a:picLocks noChangeAspect="1"/>
          </p:cNvPicPr>
          <p:nvPr/>
        </p:nvPicPr>
        <p:blipFill>
          <a:blip r:embed="rId2"/>
          <a:stretch>
            <a:fillRect/>
          </a:stretch>
        </p:blipFill>
        <p:spPr>
          <a:xfrm>
            <a:off x="1302460" y="1258433"/>
            <a:ext cx="6812840" cy="4697051"/>
          </a:xfrm>
          <a:prstGeom prst="rect">
            <a:avLst/>
          </a:prstGeom>
        </p:spPr>
      </p:pic>
      <p:sp>
        <p:nvSpPr>
          <p:cNvPr id="6" name="Rectangle 5">
            <a:extLst>
              <a:ext uri="{FF2B5EF4-FFF2-40B4-BE49-F238E27FC236}">
                <a16:creationId xmlns:a16="http://schemas.microsoft.com/office/drawing/2014/main" id="{294A1392-E665-6D49-9DFC-CEBB383689E2}"/>
              </a:ext>
            </a:extLst>
          </p:cNvPr>
          <p:cNvSpPr/>
          <p:nvPr/>
        </p:nvSpPr>
        <p:spPr>
          <a:xfrm>
            <a:off x="5554663" y="1191192"/>
            <a:ext cx="4065588" cy="4831534"/>
          </a:xfrm>
          <a:prstGeom prst="rect">
            <a:avLst/>
          </a:prstGeom>
          <a:solidFill>
            <a:schemeClr val="bg1"/>
          </a:solidFill>
          <a:ln>
            <a:noFill/>
          </a:ln>
          <a:effectLst>
            <a:outerShdw blurRad="44450" dist="27940" dir="5400000" algn="ctr">
              <a:schemeClr val="bg1">
                <a:alpha val="32000"/>
              </a:scheme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5" name="Rectangle 4">
            <a:extLst>
              <a:ext uri="{FF2B5EF4-FFF2-40B4-BE49-F238E27FC236}">
                <a16:creationId xmlns:a16="http://schemas.microsoft.com/office/drawing/2014/main" id="{9CC29F18-C33A-FC47-857C-F1429336F1A3}"/>
              </a:ext>
            </a:extLst>
          </p:cNvPr>
          <p:cNvSpPr/>
          <p:nvPr/>
        </p:nvSpPr>
        <p:spPr>
          <a:xfrm>
            <a:off x="3912781" y="723849"/>
            <a:ext cx="2513785" cy="2763074"/>
          </a:xfrm>
          <a:prstGeom prst="rect">
            <a:avLst/>
          </a:prstGeom>
          <a:solidFill>
            <a:schemeClr val="bg1"/>
          </a:solidFill>
          <a:ln>
            <a:noFill/>
          </a:ln>
          <a:effectLst>
            <a:outerShdw blurRad="44450" dist="27940" dir="5400000" algn="ctr">
              <a:schemeClr val="bg1">
                <a:alpha val="32000"/>
              </a:scheme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3" name="Right Brace 2">
            <a:extLst>
              <a:ext uri="{FF2B5EF4-FFF2-40B4-BE49-F238E27FC236}">
                <a16:creationId xmlns:a16="http://schemas.microsoft.com/office/drawing/2014/main" id="{50BBE552-F789-0048-9128-3AC76414B540}"/>
              </a:ext>
            </a:extLst>
          </p:cNvPr>
          <p:cNvSpPr/>
          <p:nvPr/>
        </p:nvSpPr>
        <p:spPr>
          <a:xfrm>
            <a:off x="5433236" y="3606958"/>
            <a:ext cx="404037" cy="1167061"/>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4" name="TextBox 3">
            <a:extLst>
              <a:ext uri="{FF2B5EF4-FFF2-40B4-BE49-F238E27FC236}">
                <a16:creationId xmlns:a16="http://schemas.microsoft.com/office/drawing/2014/main" id="{FAEF00C9-B5CB-A840-A75C-A027EEA846F7}"/>
              </a:ext>
            </a:extLst>
          </p:cNvPr>
          <p:cNvSpPr txBox="1"/>
          <p:nvPr/>
        </p:nvSpPr>
        <p:spPr>
          <a:xfrm>
            <a:off x="5955338" y="3474907"/>
            <a:ext cx="1885821" cy="1431161"/>
          </a:xfrm>
          <a:prstGeom prst="rect">
            <a:avLst/>
          </a:prstGeom>
          <a:noFill/>
        </p:spPr>
        <p:txBody>
          <a:bodyPr wrap="square" lIns="118872" tIns="91440" rIns="118872" bIns="91440" rtlCol="0" anchor="ctr" anchorCtr="0">
            <a:spAutoFit/>
          </a:bodyPr>
          <a:lstStyle/>
          <a:p>
            <a:pPr algn="l">
              <a:lnSpc>
                <a:spcPct val="90000"/>
              </a:lnSpc>
            </a:pPr>
            <a:r>
              <a:rPr lang="en-US" dirty="0"/>
              <a:t>built to resemble behavior expected by </a:t>
            </a:r>
            <a:r>
              <a:rPr lang="en-US" dirty="0" err="1"/>
              <a:t>AMReX</a:t>
            </a:r>
            <a:endParaRPr lang="en-US" dirty="0"/>
          </a:p>
        </p:txBody>
      </p:sp>
    </p:spTree>
    <p:extLst>
      <p:ext uri="{BB962C8B-B14F-4D97-AF65-F5344CB8AC3E}">
        <p14:creationId xmlns:p14="http://schemas.microsoft.com/office/powerpoint/2010/main" val="65856884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Steps in the Process</a:t>
            </a:r>
          </a:p>
        </p:txBody>
      </p:sp>
      <p:pic>
        <p:nvPicPr>
          <p:cNvPr id="10" name="Content Placeholder 6">
            <a:extLst>
              <a:ext uri="{FF2B5EF4-FFF2-40B4-BE49-F238E27FC236}">
                <a16:creationId xmlns:a16="http://schemas.microsoft.com/office/drawing/2014/main" id="{62426650-9F82-EB44-8ED8-BA2D3B851310}"/>
              </a:ext>
            </a:extLst>
          </p:cNvPr>
          <p:cNvPicPr>
            <a:picLocks noChangeAspect="1"/>
          </p:cNvPicPr>
          <p:nvPr/>
        </p:nvPicPr>
        <p:blipFill>
          <a:blip r:embed="rId2"/>
          <a:stretch>
            <a:fillRect/>
          </a:stretch>
        </p:blipFill>
        <p:spPr>
          <a:xfrm>
            <a:off x="1302460" y="1258433"/>
            <a:ext cx="6812840" cy="4697051"/>
          </a:xfrm>
          <a:prstGeom prst="rect">
            <a:avLst/>
          </a:prstGeom>
        </p:spPr>
      </p:pic>
      <p:sp>
        <p:nvSpPr>
          <p:cNvPr id="6" name="Rectangle 5">
            <a:extLst>
              <a:ext uri="{FF2B5EF4-FFF2-40B4-BE49-F238E27FC236}">
                <a16:creationId xmlns:a16="http://schemas.microsoft.com/office/drawing/2014/main" id="{294A1392-E665-6D49-9DFC-CEBB383689E2}"/>
              </a:ext>
            </a:extLst>
          </p:cNvPr>
          <p:cNvSpPr/>
          <p:nvPr/>
        </p:nvSpPr>
        <p:spPr>
          <a:xfrm>
            <a:off x="5554663" y="1191192"/>
            <a:ext cx="4065588" cy="4831534"/>
          </a:xfrm>
          <a:prstGeom prst="rect">
            <a:avLst/>
          </a:prstGeom>
          <a:solidFill>
            <a:schemeClr val="bg1"/>
          </a:solidFill>
          <a:ln>
            <a:noFill/>
          </a:ln>
          <a:effectLst>
            <a:outerShdw blurRad="44450" dist="27940" dir="5400000" algn="ctr">
              <a:schemeClr val="bg1">
                <a:alpha val="32000"/>
              </a:scheme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3" name="Right Brace 2">
            <a:extLst>
              <a:ext uri="{FF2B5EF4-FFF2-40B4-BE49-F238E27FC236}">
                <a16:creationId xmlns:a16="http://schemas.microsoft.com/office/drawing/2014/main" id="{F0E705DA-B9AD-B54B-884B-9DA0139CD0EB}"/>
              </a:ext>
            </a:extLst>
          </p:cNvPr>
          <p:cNvSpPr/>
          <p:nvPr/>
        </p:nvSpPr>
        <p:spPr>
          <a:xfrm>
            <a:off x="5411972" y="2083981"/>
            <a:ext cx="350875" cy="1345019"/>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4" name="TextBox 3">
            <a:extLst>
              <a:ext uri="{FF2B5EF4-FFF2-40B4-BE49-F238E27FC236}">
                <a16:creationId xmlns:a16="http://schemas.microsoft.com/office/drawing/2014/main" id="{6FE48D63-01F4-3E4E-B9D2-57E10C8B8470}"/>
              </a:ext>
            </a:extLst>
          </p:cNvPr>
          <p:cNvSpPr txBox="1"/>
          <p:nvPr/>
        </p:nvSpPr>
        <p:spPr>
          <a:xfrm>
            <a:off x="5870207" y="2083981"/>
            <a:ext cx="1658680" cy="1431161"/>
          </a:xfrm>
          <a:prstGeom prst="rect">
            <a:avLst/>
          </a:prstGeom>
          <a:noFill/>
        </p:spPr>
        <p:txBody>
          <a:bodyPr wrap="square" lIns="118872" tIns="91440" rIns="118872" bIns="91440" rtlCol="0" anchor="ctr" anchorCtr="0">
            <a:spAutoFit/>
          </a:bodyPr>
          <a:lstStyle/>
          <a:p>
            <a:pPr algn="l">
              <a:lnSpc>
                <a:spcPct val="90000"/>
              </a:lnSpc>
            </a:pPr>
            <a:r>
              <a:rPr lang="en-US" dirty="0"/>
              <a:t>Refactored Grid interface made compatible with </a:t>
            </a:r>
            <a:r>
              <a:rPr lang="en-US" dirty="0" err="1"/>
              <a:t>AMReX</a:t>
            </a:r>
            <a:endParaRPr lang="en-US" dirty="0"/>
          </a:p>
        </p:txBody>
      </p:sp>
    </p:spTree>
    <p:extLst>
      <p:ext uri="{BB962C8B-B14F-4D97-AF65-F5344CB8AC3E}">
        <p14:creationId xmlns:p14="http://schemas.microsoft.com/office/powerpoint/2010/main" val="244089053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Steps in the Process</a:t>
            </a:r>
          </a:p>
        </p:txBody>
      </p:sp>
      <p:pic>
        <p:nvPicPr>
          <p:cNvPr id="10" name="Content Placeholder 6">
            <a:extLst>
              <a:ext uri="{FF2B5EF4-FFF2-40B4-BE49-F238E27FC236}">
                <a16:creationId xmlns:a16="http://schemas.microsoft.com/office/drawing/2014/main" id="{62426650-9F82-EB44-8ED8-BA2D3B851310}"/>
              </a:ext>
            </a:extLst>
          </p:cNvPr>
          <p:cNvPicPr>
            <a:picLocks noChangeAspect="1"/>
          </p:cNvPicPr>
          <p:nvPr/>
        </p:nvPicPr>
        <p:blipFill>
          <a:blip r:embed="rId2"/>
          <a:stretch>
            <a:fillRect/>
          </a:stretch>
        </p:blipFill>
        <p:spPr>
          <a:xfrm>
            <a:off x="1302460" y="1258433"/>
            <a:ext cx="6812840" cy="4697051"/>
          </a:xfrm>
          <a:prstGeom prst="rect">
            <a:avLst/>
          </a:prstGeom>
        </p:spPr>
      </p:pic>
      <p:sp>
        <p:nvSpPr>
          <p:cNvPr id="6" name="Rectangle 5">
            <a:extLst>
              <a:ext uri="{FF2B5EF4-FFF2-40B4-BE49-F238E27FC236}">
                <a16:creationId xmlns:a16="http://schemas.microsoft.com/office/drawing/2014/main" id="{8E90E2CD-7C5B-8947-8F33-968401F90289}"/>
              </a:ext>
            </a:extLst>
          </p:cNvPr>
          <p:cNvSpPr/>
          <p:nvPr/>
        </p:nvSpPr>
        <p:spPr>
          <a:xfrm>
            <a:off x="6994600" y="1061266"/>
            <a:ext cx="1787450" cy="4894218"/>
          </a:xfrm>
          <a:prstGeom prst="rect">
            <a:avLst/>
          </a:prstGeom>
          <a:solidFill>
            <a:schemeClr val="bg1"/>
          </a:solidFill>
          <a:ln>
            <a:noFill/>
          </a:ln>
          <a:effectLst>
            <a:outerShdw blurRad="44450" dist="27940" dir="5400000" algn="ctr">
              <a:schemeClr val="bg1">
                <a:alpha val="32000"/>
              </a:scheme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5" name="Rectangle 4">
            <a:extLst>
              <a:ext uri="{FF2B5EF4-FFF2-40B4-BE49-F238E27FC236}">
                <a16:creationId xmlns:a16="http://schemas.microsoft.com/office/drawing/2014/main" id="{992A2E56-3A04-9B4C-8536-E2223B95B046}"/>
              </a:ext>
            </a:extLst>
          </p:cNvPr>
          <p:cNvSpPr/>
          <p:nvPr/>
        </p:nvSpPr>
        <p:spPr>
          <a:xfrm>
            <a:off x="5543781" y="733183"/>
            <a:ext cx="1261056" cy="2695817"/>
          </a:xfrm>
          <a:prstGeom prst="rect">
            <a:avLst/>
          </a:prstGeom>
          <a:solidFill>
            <a:schemeClr val="bg1"/>
          </a:solidFill>
          <a:ln>
            <a:noFill/>
          </a:ln>
          <a:effectLst>
            <a:outerShdw blurRad="44450" dist="27940" dir="5400000" algn="ctr">
              <a:schemeClr val="bg1">
                <a:alpha val="32000"/>
              </a:scheme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3" name="TextBox 2">
            <a:extLst>
              <a:ext uri="{FF2B5EF4-FFF2-40B4-BE49-F238E27FC236}">
                <a16:creationId xmlns:a16="http://schemas.microsoft.com/office/drawing/2014/main" id="{28AF8A39-F555-CF4A-AF21-760F4EAF1E00}"/>
              </a:ext>
            </a:extLst>
          </p:cNvPr>
          <p:cNvSpPr txBox="1"/>
          <p:nvPr/>
        </p:nvSpPr>
        <p:spPr>
          <a:xfrm>
            <a:off x="7419902" y="3143783"/>
            <a:ext cx="1534945" cy="2179058"/>
          </a:xfrm>
          <a:prstGeom prst="rect">
            <a:avLst/>
          </a:prstGeom>
          <a:noFill/>
        </p:spPr>
        <p:txBody>
          <a:bodyPr wrap="square" lIns="118872" tIns="91440" rIns="118872" bIns="91440" rtlCol="0" anchor="ctr" anchorCtr="0">
            <a:spAutoFit/>
          </a:bodyPr>
          <a:lstStyle/>
          <a:p>
            <a:pPr algn="l">
              <a:lnSpc>
                <a:spcPct val="90000"/>
              </a:lnSpc>
            </a:pPr>
            <a:r>
              <a:rPr lang="en-US" dirty="0"/>
              <a:t>Bring back the real environment but turn off some features related to AMR</a:t>
            </a:r>
          </a:p>
        </p:txBody>
      </p:sp>
      <p:cxnSp>
        <p:nvCxnSpPr>
          <p:cNvPr id="7" name="Straight Arrow Connector 6">
            <a:extLst>
              <a:ext uri="{FF2B5EF4-FFF2-40B4-BE49-F238E27FC236}">
                <a16:creationId xmlns:a16="http://schemas.microsoft.com/office/drawing/2014/main" id="{EDCB1090-7BF0-6945-A5CA-88D0A664812F}"/>
              </a:ext>
            </a:extLst>
          </p:cNvPr>
          <p:cNvCxnSpPr/>
          <p:nvPr/>
        </p:nvCxnSpPr>
        <p:spPr>
          <a:xfrm flipH="1">
            <a:off x="6879265" y="4306186"/>
            <a:ext cx="425302" cy="393405"/>
          </a:xfrm>
          <a:prstGeom prst="straightConnector1">
            <a:avLst/>
          </a:prstGeom>
          <a:ln w="22225">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5542697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Steps in the Process</a:t>
            </a:r>
          </a:p>
        </p:txBody>
      </p:sp>
      <p:pic>
        <p:nvPicPr>
          <p:cNvPr id="10" name="Content Placeholder 6">
            <a:extLst>
              <a:ext uri="{FF2B5EF4-FFF2-40B4-BE49-F238E27FC236}">
                <a16:creationId xmlns:a16="http://schemas.microsoft.com/office/drawing/2014/main" id="{62426650-9F82-EB44-8ED8-BA2D3B851310}"/>
              </a:ext>
            </a:extLst>
          </p:cNvPr>
          <p:cNvPicPr>
            <a:picLocks noChangeAspect="1"/>
          </p:cNvPicPr>
          <p:nvPr/>
        </p:nvPicPr>
        <p:blipFill>
          <a:blip r:embed="rId2"/>
          <a:stretch>
            <a:fillRect/>
          </a:stretch>
        </p:blipFill>
        <p:spPr>
          <a:xfrm>
            <a:off x="1302460" y="1258433"/>
            <a:ext cx="6812840" cy="4697051"/>
          </a:xfrm>
          <a:prstGeom prst="rect">
            <a:avLst/>
          </a:prstGeom>
        </p:spPr>
      </p:pic>
      <p:sp>
        <p:nvSpPr>
          <p:cNvPr id="6" name="Rectangle 5">
            <a:extLst>
              <a:ext uri="{FF2B5EF4-FFF2-40B4-BE49-F238E27FC236}">
                <a16:creationId xmlns:a16="http://schemas.microsoft.com/office/drawing/2014/main" id="{8E90E2CD-7C5B-8947-8F33-968401F90289}"/>
              </a:ext>
            </a:extLst>
          </p:cNvPr>
          <p:cNvSpPr/>
          <p:nvPr/>
        </p:nvSpPr>
        <p:spPr>
          <a:xfrm>
            <a:off x="6994600" y="1061266"/>
            <a:ext cx="1787450" cy="4894218"/>
          </a:xfrm>
          <a:prstGeom prst="rect">
            <a:avLst/>
          </a:prstGeom>
          <a:solidFill>
            <a:schemeClr val="bg1"/>
          </a:solidFill>
          <a:ln>
            <a:noFill/>
          </a:ln>
          <a:effectLst>
            <a:outerShdw blurRad="44450" dist="27940" dir="5400000" algn="ctr">
              <a:schemeClr val="bg1">
                <a:alpha val="32000"/>
              </a:scheme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3" name="TextBox 2">
            <a:extLst>
              <a:ext uri="{FF2B5EF4-FFF2-40B4-BE49-F238E27FC236}">
                <a16:creationId xmlns:a16="http://schemas.microsoft.com/office/drawing/2014/main" id="{9BFC18D9-DDA2-BC47-A0D3-8233412B6FA0}"/>
              </a:ext>
            </a:extLst>
          </p:cNvPr>
          <p:cNvSpPr txBox="1"/>
          <p:nvPr/>
        </p:nvSpPr>
        <p:spPr>
          <a:xfrm>
            <a:off x="7496038" y="2105386"/>
            <a:ext cx="1488558" cy="1680460"/>
          </a:xfrm>
          <a:prstGeom prst="rect">
            <a:avLst/>
          </a:prstGeom>
          <a:noFill/>
        </p:spPr>
        <p:txBody>
          <a:bodyPr wrap="square" lIns="118872" tIns="91440" rIns="118872" bIns="91440" rtlCol="0" anchor="ctr" anchorCtr="0">
            <a:spAutoFit/>
          </a:bodyPr>
          <a:lstStyle/>
          <a:p>
            <a:pPr algn="l">
              <a:lnSpc>
                <a:spcPct val="90000"/>
              </a:lnSpc>
            </a:pPr>
            <a:r>
              <a:rPr lang="en-US" dirty="0"/>
              <a:t>Turn on all AMR features needed in the final stage</a:t>
            </a:r>
          </a:p>
        </p:txBody>
      </p:sp>
      <p:cxnSp>
        <p:nvCxnSpPr>
          <p:cNvPr id="5" name="Straight Arrow Connector 4">
            <a:extLst>
              <a:ext uri="{FF2B5EF4-FFF2-40B4-BE49-F238E27FC236}">
                <a16:creationId xmlns:a16="http://schemas.microsoft.com/office/drawing/2014/main" id="{F14949D7-0F65-E748-898A-58EC12412C79}"/>
              </a:ext>
            </a:extLst>
          </p:cNvPr>
          <p:cNvCxnSpPr>
            <a:cxnSpLocks/>
          </p:cNvCxnSpPr>
          <p:nvPr/>
        </p:nvCxnSpPr>
        <p:spPr>
          <a:xfrm flipH="1" flipV="1">
            <a:off x="6783573" y="2456122"/>
            <a:ext cx="595422" cy="308343"/>
          </a:xfrm>
          <a:prstGeom prst="straightConnector1">
            <a:avLst/>
          </a:prstGeom>
          <a:ln w="22225">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91735974"/>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Steps in the Process</a:t>
            </a:r>
          </a:p>
        </p:txBody>
      </p:sp>
      <p:pic>
        <p:nvPicPr>
          <p:cNvPr id="10" name="Content Placeholder 6">
            <a:extLst>
              <a:ext uri="{FF2B5EF4-FFF2-40B4-BE49-F238E27FC236}">
                <a16:creationId xmlns:a16="http://schemas.microsoft.com/office/drawing/2014/main" id="{62426650-9F82-EB44-8ED8-BA2D3B851310}"/>
              </a:ext>
            </a:extLst>
          </p:cNvPr>
          <p:cNvPicPr>
            <a:picLocks noChangeAspect="1"/>
          </p:cNvPicPr>
          <p:nvPr/>
        </p:nvPicPr>
        <p:blipFill>
          <a:blip r:embed="rId2"/>
          <a:stretch>
            <a:fillRect/>
          </a:stretch>
        </p:blipFill>
        <p:spPr>
          <a:xfrm>
            <a:off x="1302460" y="1258433"/>
            <a:ext cx="6812840" cy="4697051"/>
          </a:xfrm>
          <a:prstGeom prst="rect">
            <a:avLst/>
          </a:prstGeom>
        </p:spPr>
      </p:pic>
    </p:spTree>
    <p:extLst>
      <p:ext uri="{BB962C8B-B14F-4D97-AF65-F5344CB8AC3E}">
        <p14:creationId xmlns:p14="http://schemas.microsoft.com/office/powerpoint/2010/main" val="61437220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4026D64-CF81-4590-8E7D-51586DE803B8}"/>
              </a:ext>
            </a:extLst>
          </p:cNvPr>
          <p:cNvSpPr>
            <a:spLocks noGrp="1"/>
          </p:cNvSpPr>
          <p:nvPr>
            <p:ph type="title"/>
          </p:nvPr>
        </p:nvSpPr>
        <p:spPr>
          <a:xfrm>
            <a:off x="365760" y="411480"/>
            <a:ext cx="11372473" cy="914400"/>
          </a:xfrm>
        </p:spPr>
        <p:txBody>
          <a:bodyPr/>
          <a:lstStyle/>
          <a:p>
            <a:r>
              <a:rPr lang="en-US"/>
              <a:t>To Have a Good </a:t>
            </a:r>
            <a:r>
              <a:rPr lang="en-US" dirty="0"/>
              <a:t>O</a:t>
            </a:r>
            <a:r>
              <a:rPr lang="en-US"/>
              <a:t>utcome from Refactoring</a:t>
            </a:r>
            <a:endParaRPr lang="en-US" dirty="0"/>
          </a:p>
        </p:txBody>
      </p:sp>
      <p:sp>
        <p:nvSpPr>
          <p:cNvPr id="4" name="Content Placeholder 3">
            <a:extLst>
              <a:ext uri="{FF2B5EF4-FFF2-40B4-BE49-F238E27FC236}">
                <a16:creationId xmlns:a16="http://schemas.microsoft.com/office/drawing/2014/main" id="{F0098609-3DB0-410A-ACC1-6699EBD68CF4}"/>
              </a:ext>
            </a:extLst>
          </p:cNvPr>
          <p:cNvSpPr>
            <a:spLocks noGrp="1"/>
          </p:cNvSpPr>
          <p:nvPr>
            <p:ph idx="1"/>
          </p:nvPr>
        </p:nvSpPr>
        <p:spPr>
          <a:xfrm>
            <a:off x="365760" y="1737360"/>
            <a:ext cx="11369809" cy="4047778"/>
          </a:xfrm>
        </p:spPr>
        <p:txBody>
          <a:bodyPr/>
          <a:lstStyle/>
          <a:p>
            <a:pPr marL="457200" indent="-457200">
              <a:buFont typeface="+mj-lt"/>
              <a:buAutoNum type="arabicPeriod"/>
            </a:pPr>
            <a:r>
              <a:rPr lang="en-US" dirty="0"/>
              <a:t>Know why</a:t>
            </a:r>
          </a:p>
          <a:p>
            <a:pPr marL="457200" indent="-457200">
              <a:buFont typeface="+mj-lt"/>
              <a:buAutoNum type="arabicPeriod"/>
            </a:pPr>
            <a:r>
              <a:rPr lang="en-US" dirty="0"/>
              <a:t>Know how much</a:t>
            </a:r>
          </a:p>
          <a:p>
            <a:pPr marL="457200" indent="-457200">
              <a:buFont typeface="+mj-lt"/>
              <a:buAutoNum type="arabicPeriod"/>
            </a:pPr>
            <a:r>
              <a:rPr lang="en-US" dirty="0"/>
              <a:t>Know the cost</a:t>
            </a:r>
          </a:p>
          <a:p>
            <a:pPr marL="457200" indent="-457200">
              <a:buFont typeface="+mj-lt"/>
              <a:buAutoNum type="arabicPeriod"/>
            </a:pPr>
            <a:r>
              <a:rPr lang="en-US" dirty="0"/>
              <a:t>Plan</a:t>
            </a:r>
          </a:p>
          <a:p>
            <a:pPr marL="457200" indent="-457200">
              <a:buFont typeface="+mj-lt"/>
              <a:buAutoNum type="arabicPeriod"/>
            </a:pPr>
            <a:r>
              <a:rPr lang="en-US" dirty="0"/>
              <a:t>Have strong testing and verification</a:t>
            </a:r>
          </a:p>
          <a:p>
            <a:pPr marL="457200" indent="-457200">
              <a:buFont typeface="+mj-lt"/>
              <a:buAutoNum type="arabicPeriod"/>
            </a:pPr>
            <a:r>
              <a:rPr lang="en-US" dirty="0"/>
              <a:t>Get buy-in from stakeholders</a:t>
            </a:r>
          </a:p>
        </p:txBody>
      </p:sp>
    </p:spTree>
    <p:extLst>
      <p:ext uri="{BB962C8B-B14F-4D97-AF65-F5344CB8AC3E}">
        <p14:creationId xmlns:p14="http://schemas.microsoft.com/office/powerpoint/2010/main" val="2352381746"/>
      </p:ext>
    </p:extLst>
  </p:cSld>
  <p:clrMapOvr>
    <a:masterClrMapping/>
  </p:clrMapOvr>
</p:sld>
</file>

<file path=ppt/theme/theme1.xml><?xml version="1.0" encoding="utf-8"?>
<a:theme xmlns:a="http://schemas.openxmlformats.org/drawingml/2006/main" name="Presentations (Wide Screen)">
  <a:themeElements>
    <a:clrScheme name="ECP 171103 final">
      <a:dk1>
        <a:sysClr val="windowText" lastClr="000000"/>
      </a:dk1>
      <a:lt1>
        <a:sysClr val="window" lastClr="FFFFFF"/>
      </a:lt1>
      <a:dk2>
        <a:srgbClr val="266093"/>
      </a:dk2>
      <a:lt2>
        <a:srgbClr val="FFFFFF"/>
      </a:lt2>
      <a:accent1>
        <a:srgbClr val="2A75BB"/>
      </a:accent1>
      <a:accent2>
        <a:srgbClr val="84B641"/>
      </a:accent2>
      <a:accent3>
        <a:srgbClr val="43B1E5"/>
      </a:accent3>
      <a:accent4>
        <a:srgbClr val="D13940"/>
      </a:accent4>
      <a:accent5>
        <a:srgbClr val="C39C2F"/>
      </a:accent5>
      <a:accent6>
        <a:srgbClr val="7F7F7F"/>
      </a:accent6>
      <a:hlink>
        <a:srgbClr val="A03123"/>
      </a:hlink>
      <a:folHlink>
        <a:srgbClr val="000000"/>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3"/>
        </a:solidFill>
        <a:ln>
          <a:noFill/>
        </a:ln>
        <a:effectLst>
          <a:outerShdw blurRad="44450" dist="27940" dir="5400000" algn="ctr">
            <a:srgbClr val="000000">
              <a:alpha val="32000"/>
            </a:srgbClr>
          </a:outerShdw>
        </a:effectLst>
      </a:spPr>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defPPr algn="ctr">
          <a:lnSpc>
            <a:spcPct val="90000"/>
          </a:lnSpc>
          <a:defRPr sz="2000" dirty="0">
            <a:solidFill>
              <a:schemeClr val="bg1"/>
            </a:solidFill>
          </a:defRPr>
        </a:defPPr>
      </a:lstStyle>
    </a:spDef>
    <a:txDef>
      <a:spPr>
        <a:noFill/>
      </a:spPr>
      <a:bodyPr wrap="square" lIns="118872" tIns="91440" rIns="118872" bIns="91440" rtlCol="0" anchor="ctr" anchorCtr="0">
        <a:spAutoFit/>
      </a:bodyPr>
      <a:lstStyle>
        <a:defPPr algn="l">
          <a:lnSpc>
            <a:spcPct val="90000"/>
          </a:lnSpc>
          <a:defRPr dirty="0" smtClean="0"/>
        </a:defPPr>
      </a:lstStyle>
    </a:txDef>
  </a:objectDefaults>
  <a:extraClrSchemeLst/>
  <a:extLst>
    <a:ext uri="{05A4C25C-085E-4340-85A3-A5531E510DB2}">
      <thm15:themeFamily xmlns:thm15="http://schemas.microsoft.com/office/thememl/2012/main" name="ECP_PowerPointTemplate-v1.0_20171106" id="{82BFD86B-8FF4-4B2C-AD68-5655622D7E2C}" vid="{C92328A0-5FA1-40E2-AE72-E588ED49ADD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565464437F680748A68B85EB6594EA7D" ma:contentTypeVersion="0" ma:contentTypeDescription="Create a new document." ma:contentTypeScope="" ma:versionID="fe3f4dd58d5914c51cfc6deaa8ad845c">
  <xsd:schema xmlns:xsd="http://www.w3.org/2001/XMLSchema" xmlns:p="http://schemas.microsoft.com/office/2006/metadata/properties" targetNamespace="http://schemas.microsoft.com/office/2006/metadata/properties" ma:root="true" ma:fieldsID="4aeb20c0e3442673af7ee10786458764">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office/internal/2005/internalDocumentation"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ma:readOnly="tru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lastPrinted" minOccurs="0" maxOccurs="1" type="xsd:dateTime"/>
        <xsd:element name="contentStatus" minOccurs="0" maxOccurs="1" type="xsd:string"/>
      </xsd:all>
    </xsd:complexType>
  </xsd:schema>
</ct:contentTypeSchema>
</file>

<file path=customXml/itemProps1.xml><?xml version="1.0" encoding="utf-8"?>
<ds:datastoreItem xmlns:ds="http://schemas.openxmlformats.org/officeDocument/2006/customXml" ds:itemID="{19E20559-B232-4371-8690-E3D8007EDB82}">
  <ds:schemaRefs>
    <ds:schemaRef ds:uri="http://schemas.microsoft.com/sharepoint/v3/contenttype/forms"/>
  </ds:schemaRefs>
</ds:datastoreItem>
</file>

<file path=customXml/itemProps2.xml><?xml version="1.0" encoding="utf-8"?>
<ds:datastoreItem xmlns:ds="http://schemas.openxmlformats.org/officeDocument/2006/customXml" ds:itemID="{A50EC660-24D0-43A0-AE5E-E274115E726B}">
  <ds:schemaRefs>
    <ds:schemaRef ds:uri="http://purl.org/dc/elements/1.1/"/>
    <ds:schemaRef ds:uri="http://schemas.microsoft.com/office/2006/metadata/properties"/>
    <ds:schemaRef ds:uri="http://purl.org/dc/terms/"/>
    <ds:schemaRef ds:uri="http://schemas.openxmlformats.org/package/2006/metadata/core-properties"/>
    <ds:schemaRef ds:uri="http://schemas.microsoft.com/office/2006/documentManagement/types"/>
    <ds:schemaRef ds:uri="http://www.w3.org/XML/1998/namespace"/>
    <ds:schemaRef ds:uri="http://purl.org/dc/dcmitype/"/>
    <ds:schemaRef ds:uri="http://schemas.microsoft.com/office/infopath/2007/PartnerControls"/>
  </ds:schemaRefs>
</ds:datastoreItem>
</file>

<file path=customXml/itemProps3.xml><?xml version="1.0" encoding="utf-8"?>
<ds:datastoreItem xmlns:ds="http://schemas.openxmlformats.org/officeDocument/2006/customXml" ds:itemID="{E8DB7DEB-074E-4EE8-9B6E-FD277323109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office/internal/2005/internalDocumentation"/>
  </ds:schemaRefs>
</ds:datastoreItem>
</file>

<file path=docProps/app.xml><?xml version="1.0" encoding="utf-8"?>
<Properties xmlns="http://schemas.openxmlformats.org/officeDocument/2006/extended-properties" xmlns:vt="http://schemas.openxmlformats.org/officeDocument/2006/docPropsVTypes">
  <Template>ECP_PowerPoint_Template-v1.0_20171106</Template>
  <TotalTime>3011</TotalTime>
  <Words>1878</Words>
  <Application>Microsoft Macintosh PowerPoint</Application>
  <PresentationFormat>Custom</PresentationFormat>
  <Paragraphs>308</Paragraphs>
  <Slides>31</Slides>
  <Notes>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31</vt:i4>
      </vt:variant>
    </vt:vector>
  </HeadingPairs>
  <TitlesOfParts>
    <vt:vector size="35" baseType="lpstr">
      <vt:lpstr>Arial</vt:lpstr>
      <vt:lpstr>Arial Black</vt:lpstr>
      <vt:lpstr>Calibri</vt:lpstr>
      <vt:lpstr>Presentations (Wide Screen)</vt:lpstr>
      <vt:lpstr>Refactoring Scientific Software</vt:lpstr>
      <vt:lpstr>License, Citation and Acknowledgements</vt:lpstr>
      <vt:lpstr>What is Refactoring  </vt:lpstr>
      <vt:lpstr>What is Refactoring  </vt:lpstr>
      <vt:lpstr>An Example Workflow</vt:lpstr>
      <vt:lpstr>An Example Workflow</vt:lpstr>
      <vt:lpstr>An Example Workflow</vt:lpstr>
      <vt:lpstr>An Example Workflow</vt:lpstr>
      <vt:lpstr>Look at the Running Example</vt:lpstr>
      <vt:lpstr>Considerations for Refactoring</vt:lpstr>
      <vt:lpstr>Considerations for Refactoring</vt:lpstr>
      <vt:lpstr>Considerations for Refactoring</vt:lpstr>
      <vt:lpstr>Map from Here to There: On ramp plan</vt:lpstr>
      <vt:lpstr>Map from Here to There: On ramp plan1</vt:lpstr>
      <vt:lpstr>Map from Here to There: On ramp plan1</vt:lpstr>
      <vt:lpstr>Map from Here to There: On ramp plan2</vt:lpstr>
      <vt:lpstr>Map from Here to There: On ramp plan2</vt:lpstr>
      <vt:lpstr>Map from Here to There: On ramp plan2</vt:lpstr>
      <vt:lpstr>Map from Here to There: On ramp plan2</vt:lpstr>
      <vt:lpstr>Map from Here to There: On ramp plan2</vt:lpstr>
      <vt:lpstr>Map from Here to There: On ramp plan2</vt:lpstr>
      <vt:lpstr>A Real-World Example: FLASH to Flash-X</vt:lpstr>
      <vt:lpstr>A Real-World Example: FLASH to Flash-X</vt:lpstr>
      <vt:lpstr>Steps in the Flash-X Refactoring : a mix of strategies</vt:lpstr>
      <vt:lpstr>Steps in the Flash-X Refactoring : a mix of strategies</vt:lpstr>
      <vt:lpstr>Steps in the Process</vt:lpstr>
      <vt:lpstr>Steps in the Process</vt:lpstr>
      <vt:lpstr>Steps in the Process</vt:lpstr>
      <vt:lpstr>Steps in the Process</vt:lpstr>
      <vt:lpstr>Steps in the Process</vt:lpstr>
      <vt:lpstr>To Have a Good Outcome from Refactoring</vt:lpstr>
    </vt:vector>
  </TitlesOfParts>
  <Company>ORNL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Challenges of Exascale Computing</dc:title>
  <dc:creator>Bernholdt, David E.</dc:creator>
  <cp:lastModifiedBy>Dubey, Anshu</cp:lastModifiedBy>
  <cp:revision>412</cp:revision>
  <cp:lastPrinted>2017-11-02T18:35:01Z</cp:lastPrinted>
  <dcterms:created xsi:type="dcterms:W3CDTF">2018-11-06T17:28:56Z</dcterms:created>
  <dcterms:modified xsi:type="dcterms:W3CDTF">2026-01-16T15:39:54Z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0x010100565464437F680748A68B85EB6594EA7D</vt:lpwstr>
  </property>
</Properties>
</file>