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6"/>
  </p:notesMasterIdLst>
  <p:handoutMasterIdLst>
    <p:handoutMasterId r:id="rId37"/>
  </p:handoutMasterIdLst>
  <p:sldIdLst>
    <p:sldId id="661" r:id="rId5"/>
    <p:sldId id="668" r:id="rId6"/>
    <p:sldId id="610" r:id="rId7"/>
    <p:sldId id="625" r:id="rId8"/>
    <p:sldId id="495" r:id="rId9"/>
    <p:sldId id="636" r:id="rId10"/>
    <p:sldId id="639" r:id="rId11"/>
    <p:sldId id="640" r:id="rId12"/>
    <p:sldId id="603" r:id="rId13"/>
    <p:sldId id="665" r:id="rId14"/>
    <p:sldId id="667" r:id="rId15"/>
    <p:sldId id="666" r:id="rId16"/>
    <p:sldId id="652" r:id="rId17"/>
    <p:sldId id="644" r:id="rId18"/>
    <p:sldId id="653" r:id="rId19"/>
    <p:sldId id="643" r:id="rId20"/>
    <p:sldId id="658" r:id="rId21"/>
    <p:sldId id="659" r:id="rId22"/>
    <p:sldId id="654" r:id="rId23"/>
    <p:sldId id="655" r:id="rId24"/>
    <p:sldId id="656" r:id="rId25"/>
    <p:sldId id="266" r:id="rId26"/>
    <p:sldId id="660" r:id="rId27"/>
    <p:sldId id="629" r:id="rId28"/>
    <p:sldId id="647" r:id="rId29"/>
    <p:sldId id="648" r:id="rId30"/>
    <p:sldId id="630" r:id="rId31"/>
    <p:sldId id="631" r:id="rId32"/>
    <p:sldId id="649" r:id="rId33"/>
    <p:sldId id="632" r:id="rId34"/>
    <p:sldId id="634" r:id="rId35"/>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164" autoAdjust="0"/>
    <p:restoredTop sz="96571" autoAdjust="0"/>
  </p:normalViewPr>
  <p:slideViewPr>
    <p:cSldViewPr snapToGrid="0" showGuides="1">
      <p:cViewPr varScale="1">
        <p:scale>
          <a:sx n="123" d="100"/>
          <a:sy n="123" d="100"/>
        </p:scale>
        <p:origin x="36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slide" Target="slides/slide30.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handoutMaster" Target="handoutMasters/handoutMaster1.xml"/><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8/5/2025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8/5/2025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4886412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31533707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37841498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Shape 185"/>
          <p:cNvSpPr>
            <a:spLocks noGrp="1" noRot="1" noChangeAspect="1"/>
          </p:cNvSpPr>
          <p:nvPr>
            <p:ph type="sldImg"/>
          </p:nvPr>
        </p:nvSpPr>
        <p:spPr>
          <a:prstGeom prst="rect">
            <a:avLst/>
          </a:prstGeom>
        </p:spPr>
        <p:txBody>
          <a:bodyPr/>
          <a:lstStyle/>
          <a:p>
            <a:endParaRPr/>
          </a:p>
        </p:txBody>
      </p:sp>
      <p:sp>
        <p:nvSpPr>
          <p:cNvPr id="186" name="Shape 186"/>
          <p:cNvSpPr>
            <a:spLocks noGrp="1"/>
          </p:cNvSpPr>
          <p:nvPr>
            <p:ph type="body" sz="quarter" idx="1"/>
          </p:nvPr>
        </p:nvSpPr>
        <p:spPr>
          <a:prstGeom prst="rect">
            <a:avLst/>
          </a:prstGeom>
        </p:spPr>
        <p:txBody>
          <a:bodyPr/>
          <a:lstStyle/>
          <a:p>
            <a:r>
              <a:rPr dirty="0"/>
              <a:t>Tests written before refactoring encapsulate and enforce a contract made at design time.  Having them available easily allows us to maintain that any small change does not alter behavior of code being refactored.</a:t>
            </a:r>
          </a:p>
          <a:p>
            <a:endParaRPr dirty="0"/>
          </a:p>
          <a:p>
            <a:r>
              <a:rPr dirty="0"/>
              <a:t>Fowler (1999) via Code Complete:</a:t>
            </a:r>
          </a:p>
          <a:p>
            <a:r>
              <a:rPr dirty="0"/>
              <a:t>Refactoring is “a change made to the internal structure of the software to make it easier to understand and cheaper to modify without changing its behavior”.</a:t>
            </a:r>
          </a:p>
        </p:txBody>
      </p:sp>
    </p:spTree>
    <p:extLst>
      <p:ext uri="{BB962C8B-B14F-4D97-AF65-F5344CB8AC3E}">
        <p14:creationId xmlns:p14="http://schemas.microsoft.com/office/powerpoint/2010/main" val="974849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point out that this graphic show the need to update the tree - two AMR implementations required a new AMR subfolder.</a:t>
            </a:r>
          </a:p>
        </p:txBody>
      </p:sp>
      <p:sp>
        <p:nvSpPr>
          <p:cNvPr id="4" name="Slide Number Placeholder 3"/>
          <p:cNvSpPr>
            <a:spLocks noGrp="1"/>
          </p:cNvSpPr>
          <p:nvPr>
            <p:ph type="sldNum" sz="quarter" idx="5"/>
          </p:nvPr>
        </p:nvSpPr>
        <p:spPr/>
        <p:txBody>
          <a:bodyPr/>
          <a:lstStyle/>
          <a:p>
            <a:fld id="{3EAA7A1A-8011-3A42-91B8-EE1BD44E4455}" type="slidenum">
              <a:rPr lang="en-US" smtClean="0"/>
              <a:t>22</a:t>
            </a:fld>
            <a:endParaRPr lang="en-US"/>
          </a:p>
        </p:txBody>
      </p:sp>
    </p:spTree>
    <p:extLst>
      <p:ext uri="{BB962C8B-B14F-4D97-AF65-F5344CB8AC3E}">
        <p14:creationId xmlns:p14="http://schemas.microsoft.com/office/powerpoint/2010/main" val="39409703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 point out that this graphic show the need to update the tree - two AMR implementations required a new AMR subfolder.</a:t>
            </a:r>
          </a:p>
        </p:txBody>
      </p:sp>
      <p:sp>
        <p:nvSpPr>
          <p:cNvPr id="4" name="Slide Number Placeholder 3"/>
          <p:cNvSpPr>
            <a:spLocks noGrp="1"/>
          </p:cNvSpPr>
          <p:nvPr>
            <p:ph type="sldNum" sz="quarter" idx="5"/>
          </p:nvPr>
        </p:nvSpPr>
        <p:spPr/>
        <p:txBody>
          <a:bodyPr/>
          <a:lstStyle/>
          <a:p>
            <a:fld id="{3EAA7A1A-8011-3A42-91B8-EE1BD44E4455}" type="slidenum">
              <a:rPr lang="en-US" smtClean="0"/>
              <a:t>23</a:t>
            </a:fld>
            <a:endParaRPr lang="en-US"/>
          </a:p>
        </p:txBody>
      </p:sp>
    </p:spTree>
    <p:extLst>
      <p:ext uri="{BB962C8B-B14F-4D97-AF65-F5344CB8AC3E}">
        <p14:creationId xmlns:p14="http://schemas.microsoft.com/office/powerpoint/2010/main" val="202760946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microsoft.com/office/2007/relationships/hdphoto" Target="../media/hdphoto1.wdp"/><Relationship Id="rId4" Type="http://schemas.openxmlformats.org/officeDocument/2006/relationships/image" Target="../media/image3.pn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wdp"/><Relationship Id="rId7"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5" name="Group 4">
            <a:extLst>
              <a:ext uri="{FF2B5EF4-FFF2-40B4-BE49-F238E27FC236}">
                <a16:creationId xmlns:a16="http://schemas.microsoft.com/office/drawing/2014/main" id="{2211A969-E7EA-13C3-D014-C029084F4EFB}"/>
              </a:ext>
            </a:extLst>
          </p:cNvPr>
          <p:cNvGrpSpPr/>
          <p:nvPr userDrawn="1"/>
        </p:nvGrpSpPr>
        <p:grpSpPr>
          <a:xfrm>
            <a:off x="366259" y="3655396"/>
            <a:ext cx="2214716" cy="356329"/>
            <a:chOff x="341278" y="3628835"/>
            <a:chExt cx="2214716" cy="356329"/>
          </a:xfrm>
        </p:grpSpPr>
        <p:pic>
          <p:nvPicPr>
            <p:cNvPr id="7" name="Picture 2">
              <a:extLst>
                <a:ext uri="{FF2B5EF4-FFF2-40B4-BE49-F238E27FC236}">
                  <a16:creationId xmlns:a16="http://schemas.microsoft.com/office/drawing/2014/main" id="{D16A6A85-AECD-6121-D004-ECB79BC13076}"/>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87D2793C-01C6-B180-3495-5A2067445539}"/>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8" name="Picture 17" descr="A black and white sign with blue text&#10;&#10;Description automatically generated">
            <a:extLst>
              <a:ext uri="{FF2B5EF4-FFF2-40B4-BE49-F238E27FC236}">
                <a16:creationId xmlns:a16="http://schemas.microsoft.com/office/drawing/2014/main" id="{90ECFB80-075A-EDC0-363D-3CE459F436D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19" name="TextBox 18">
            <a:extLst>
              <a:ext uri="{FF2B5EF4-FFF2-40B4-BE49-F238E27FC236}">
                <a16:creationId xmlns:a16="http://schemas.microsoft.com/office/drawing/2014/main" id="{23984D22-2BE9-C684-93D1-920B201DC418}"/>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24" name="TextBox 23">
            <a:extLst>
              <a:ext uri="{FF2B5EF4-FFF2-40B4-BE49-F238E27FC236}">
                <a16:creationId xmlns:a16="http://schemas.microsoft.com/office/drawing/2014/main" id="{9EA65A86-1694-D0BE-3C46-045E2B00D094}"/>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25" name="TextBox 24">
            <a:extLst>
              <a:ext uri="{FF2B5EF4-FFF2-40B4-BE49-F238E27FC236}">
                <a16:creationId xmlns:a16="http://schemas.microsoft.com/office/drawing/2014/main" id="{7C98D32A-D229-5172-E298-9AF976ACE627}"/>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26" name="TextBox 25">
            <a:extLst>
              <a:ext uri="{FF2B5EF4-FFF2-40B4-BE49-F238E27FC236}">
                <a16:creationId xmlns:a16="http://schemas.microsoft.com/office/drawing/2014/main" id="{64D46951-9F99-A303-D249-27B751A562DB}"/>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7" name="Group 26">
            <a:extLst>
              <a:ext uri="{FF2B5EF4-FFF2-40B4-BE49-F238E27FC236}">
                <a16:creationId xmlns:a16="http://schemas.microsoft.com/office/drawing/2014/main" id="{CC665AB1-818C-15F6-A435-7A7C14109262}"/>
              </a:ext>
            </a:extLst>
          </p:cNvPr>
          <p:cNvGrpSpPr/>
          <p:nvPr userDrawn="1"/>
        </p:nvGrpSpPr>
        <p:grpSpPr>
          <a:xfrm>
            <a:off x="355043" y="5027111"/>
            <a:ext cx="2237149" cy="457200"/>
            <a:chOff x="343050" y="5128711"/>
            <a:chExt cx="2237149" cy="457200"/>
          </a:xfrm>
        </p:grpSpPr>
        <p:pic>
          <p:nvPicPr>
            <p:cNvPr id="28" name="Picture 27">
              <a:extLst>
                <a:ext uri="{FF2B5EF4-FFF2-40B4-BE49-F238E27FC236}">
                  <a16:creationId xmlns:a16="http://schemas.microsoft.com/office/drawing/2014/main" id="{D8D4DA06-93FC-7C79-22C0-69CD6E71946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9" name="Picture 28" descr="A picture containing shape&#10;&#10;Description automatically generated">
              <a:extLst>
                <a:ext uri="{FF2B5EF4-FFF2-40B4-BE49-F238E27FC236}">
                  <a16:creationId xmlns:a16="http://schemas.microsoft.com/office/drawing/2014/main" id="{3A576A20-C17C-D6D5-507F-A7C5D2EE03B7}"/>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9" cstate="print">
            <a:extLst>
              <a:ext uri="{BEBA8EAE-BF5A-486C-A8C5-ECC9F3942E4B}">
                <a14:imgProps xmlns:a14="http://schemas.microsoft.com/office/drawing/2010/main">
                  <a14:imgLayer r:embed="rId10">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Tree>
    <p:extLst>
      <p:ext uri="{BB962C8B-B14F-4D97-AF65-F5344CB8AC3E}">
        <p14:creationId xmlns:p14="http://schemas.microsoft.com/office/powerpoint/2010/main" val="39889782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21" name="Group 20">
            <a:extLst>
              <a:ext uri="{FF2B5EF4-FFF2-40B4-BE49-F238E27FC236}">
                <a16:creationId xmlns:a16="http://schemas.microsoft.com/office/drawing/2014/main" id="{23F39736-1AFA-8528-C9E3-41B55EABEDCA}"/>
              </a:ext>
            </a:extLst>
          </p:cNvPr>
          <p:cNvGrpSpPr/>
          <p:nvPr userDrawn="1"/>
        </p:nvGrpSpPr>
        <p:grpSpPr>
          <a:xfrm>
            <a:off x="366259" y="3655396"/>
            <a:ext cx="2214716" cy="356329"/>
            <a:chOff x="341278" y="3628835"/>
            <a:chExt cx="2214716" cy="356329"/>
          </a:xfrm>
        </p:grpSpPr>
        <p:pic>
          <p:nvPicPr>
            <p:cNvPr id="6" name="Picture 2">
              <a:extLst>
                <a:ext uri="{FF2B5EF4-FFF2-40B4-BE49-F238E27FC236}">
                  <a16:creationId xmlns:a16="http://schemas.microsoft.com/office/drawing/2014/main" id="{EF0692E1-7D85-78AD-9CB9-EDC5C0A1CD96}"/>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1" name="Picture 10" descr="A black and white sign with blue text&#10;&#10;Description automatically generated">
            <a:extLst>
              <a:ext uri="{FF2B5EF4-FFF2-40B4-BE49-F238E27FC236}">
                <a16:creationId xmlns:a16="http://schemas.microsoft.com/office/drawing/2014/main" id="{A50B83FE-88FB-1C61-17CC-A58C0BE092BF}"/>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9" name="TextBox 8">
            <a:extLst>
              <a:ext uri="{FF2B5EF4-FFF2-40B4-BE49-F238E27FC236}">
                <a16:creationId xmlns:a16="http://schemas.microsoft.com/office/drawing/2014/main" id="{9C6AA8F1-3D17-46A7-8926-BC4892D4C51C}"/>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spTree>
    <p:extLst>
      <p:ext uri="{BB962C8B-B14F-4D97-AF65-F5344CB8AC3E}">
        <p14:creationId xmlns:p14="http://schemas.microsoft.com/office/powerpoint/2010/main" val="2642184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09442" y="1699995"/>
            <a:ext cx="11160961" cy="4422776"/>
          </a:xfrm>
        </p:spPr>
        <p:txBody>
          <a:bodyPr/>
          <a:lstStyle>
            <a:lvl1pPr>
              <a:defRPr baseline="0"/>
            </a:lvl1p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2" hasCustomPrompt="1"/>
          </p:nvPr>
        </p:nvSpPr>
        <p:spPr>
          <a:xfrm>
            <a:off x="609442" y="1168749"/>
            <a:ext cx="11160961" cy="499715"/>
          </a:xfrm>
        </p:spPr>
        <p:txBody>
          <a:bodyPr bIns="0">
            <a:noAutofit/>
          </a:bodyPr>
          <a:lstStyle>
            <a:lvl1pPr marL="0" indent="0">
              <a:lnSpc>
                <a:spcPct val="90000"/>
              </a:lnSpc>
              <a:spcBef>
                <a:spcPts val="0"/>
              </a:spcBef>
              <a:buNone/>
              <a:defRPr sz="2000" b="1" baseline="0">
                <a:solidFill>
                  <a:schemeClr val="accent2"/>
                </a:solidFill>
              </a:defRPr>
            </a:lvl1pPr>
          </a:lstStyle>
          <a:p>
            <a:r>
              <a:rPr lang="en-US" dirty="0"/>
              <a:t>Slide subtitle optional -  delete as needed</a:t>
            </a:r>
          </a:p>
        </p:txBody>
      </p:sp>
      <p:sp>
        <p:nvSpPr>
          <p:cNvPr id="2" name="Title 1">
            <a:extLst>
              <a:ext uri="{FF2B5EF4-FFF2-40B4-BE49-F238E27FC236}">
                <a16:creationId xmlns:a16="http://schemas.microsoft.com/office/drawing/2014/main" id="{3578AEED-62FF-45A4-9B5A-29E8EB7AE3B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2034913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7.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3">
            <a:extLst>
              <a:ext uri="{FF2B5EF4-FFF2-40B4-BE49-F238E27FC236}">
                <a16:creationId xmlns:a16="http://schemas.microsoft.com/office/drawing/2014/main" id="{7D03A5FE-AFA2-5E74-3EC3-4FF7F3A7F3B6}"/>
              </a:ext>
            </a:extLst>
          </p:cNvPr>
          <p:cNvSpPr>
            <a:spLocks noGrp="1"/>
          </p:cNvSpPr>
          <p:nvPr>
            <p:ph type="ctrTitle"/>
          </p:nvPr>
        </p:nvSpPr>
        <p:spPr/>
        <p:txBody>
          <a:bodyPr/>
          <a:lstStyle/>
          <a:p>
            <a:r>
              <a:rPr lang="en-US" dirty="0"/>
              <a:t>Refactoring Scientific Software</a:t>
            </a:r>
          </a:p>
        </p:txBody>
      </p:sp>
      <p:sp>
        <p:nvSpPr>
          <p:cNvPr id="2" name="Text Placeholder 1">
            <a:extLst>
              <a:ext uri="{FF2B5EF4-FFF2-40B4-BE49-F238E27FC236}">
                <a16:creationId xmlns:a16="http://schemas.microsoft.com/office/drawing/2014/main" id="{6AD4168A-C6C6-5469-438B-4509B9E4393D}"/>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4" name="Text Placeholder 3">
            <a:extLst>
              <a:ext uri="{FF2B5EF4-FFF2-40B4-BE49-F238E27FC236}">
                <a16:creationId xmlns:a16="http://schemas.microsoft.com/office/drawing/2014/main" id="{4D760C23-BF94-E141-C8E3-3BDF0553462C}"/>
              </a:ext>
            </a:extLst>
          </p:cNvPr>
          <p:cNvSpPr>
            <a:spLocks noGrp="1"/>
          </p:cNvSpPr>
          <p:nvPr>
            <p:ph type="body" sz="quarter" idx="12"/>
          </p:nvPr>
        </p:nvSpPr>
        <p:spPr>
          <a:xfrm>
            <a:off x="5221641" y="2134517"/>
            <a:ext cx="1690167" cy="376085"/>
          </a:xfrm>
        </p:spPr>
        <p:txBody>
          <a:bodyPr/>
          <a:lstStyle/>
          <a:p>
            <a:r>
              <a:rPr lang="en-US" dirty="0"/>
              <a:t>(she/her)</a:t>
            </a:r>
          </a:p>
        </p:txBody>
      </p:sp>
      <p:sp>
        <p:nvSpPr>
          <p:cNvPr id="6" name="Text Placeholder 5">
            <a:extLst>
              <a:ext uri="{FF2B5EF4-FFF2-40B4-BE49-F238E27FC236}">
                <a16:creationId xmlns:a16="http://schemas.microsoft.com/office/drawing/2014/main" id="{3FE14AF9-8D43-3BB1-2A81-B900709503A7}"/>
              </a:ext>
            </a:extLst>
          </p:cNvPr>
          <p:cNvSpPr>
            <a:spLocks noGrp="1"/>
          </p:cNvSpPr>
          <p:nvPr>
            <p:ph type="body" sz="quarter" idx="13"/>
          </p:nvPr>
        </p:nvSpPr>
        <p:spPr/>
        <p:txBody>
          <a:bodyPr/>
          <a:lstStyle/>
          <a:p>
            <a:r>
              <a:rPr lang="en-US" dirty="0"/>
              <a:t>Argonne National Laboratory</a:t>
            </a:r>
          </a:p>
        </p:txBody>
      </p:sp>
      <p:sp>
        <p:nvSpPr>
          <p:cNvPr id="8" name="Text Placeholder 7">
            <a:extLst>
              <a:ext uri="{FF2B5EF4-FFF2-40B4-BE49-F238E27FC236}">
                <a16:creationId xmlns:a16="http://schemas.microsoft.com/office/drawing/2014/main" id="{F9F42C30-B1A4-9806-3AFE-CB6EF48900E8}"/>
              </a:ext>
            </a:extLst>
          </p:cNvPr>
          <p:cNvSpPr>
            <a:spLocks noGrp="1"/>
          </p:cNvSpPr>
          <p:nvPr>
            <p:ph type="body" sz="quarter" idx="15"/>
          </p:nvPr>
        </p:nvSpPr>
        <p:spPr>
          <a:xfrm>
            <a:off x="3176924" y="4242168"/>
            <a:ext cx="8292316" cy="369332"/>
          </a:xfrm>
        </p:spPr>
        <p:txBody>
          <a:bodyPr/>
          <a:lstStyle/>
          <a:p>
            <a:r>
              <a:rPr lang="en-US" sz="2000" dirty="0"/>
              <a:t>Contributors: Anshu Dubey (ANL), Jared O’Neal</a:t>
            </a:r>
          </a:p>
        </p:txBody>
      </p:sp>
      <p:sp>
        <p:nvSpPr>
          <p:cNvPr id="10" name="Text Placeholder 9">
            <a:extLst>
              <a:ext uri="{FF2B5EF4-FFF2-40B4-BE49-F238E27FC236}">
                <a16:creationId xmlns:a16="http://schemas.microsoft.com/office/drawing/2014/main" id="{60A9E9A3-6A95-DE36-174A-E8BE6F2F7F2A}"/>
              </a:ext>
            </a:extLst>
          </p:cNvPr>
          <p:cNvSpPr>
            <a:spLocks noGrp="1"/>
          </p:cNvSpPr>
          <p:nvPr>
            <p:ph type="body" sz="quarter" idx="10"/>
          </p:nvPr>
        </p:nvSpPr>
        <p:spPr/>
        <p:txBody>
          <a:bodyPr/>
          <a:lstStyle/>
          <a:p>
            <a:endParaRPr lang="en-US"/>
          </a:p>
        </p:txBody>
      </p:sp>
      <p:sp>
        <p:nvSpPr>
          <p:cNvPr id="7" name="TextBox 6">
            <a:extLst>
              <a:ext uri="{FF2B5EF4-FFF2-40B4-BE49-F238E27FC236}">
                <a16:creationId xmlns:a16="http://schemas.microsoft.com/office/drawing/2014/main" id="{CF510F9B-ECC0-48AA-EEEC-787005932834}"/>
              </a:ext>
            </a:extLst>
          </p:cNvPr>
          <p:cNvSpPr txBox="1"/>
          <p:nvPr/>
        </p:nvSpPr>
        <p:spPr>
          <a:xfrm>
            <a:off x="3176924" y="3096499"/>
            <a:ext cx="7201516" cy="646331"/>
          </a:xfrm>
          <a:prstGeom prst="rect">
            <a:avLst/>
          </a:prstGeom>
          <a:noFill/>
        </p:spPr>
        <p:txBody>
          <a:bodyPr wrap="square">
            <a:spAutoFit/>
          </a:bodyPr>
          <a:lstStyle/>
          <a:p>
            <a:pPr>
              <a:spcBef>
                <a:spcPts val="2800"/>
              </a:spcBef>
            </a:pPr>
            <a:r>
              <a:rPr lang="en-US" sz="1800" b="0" i="0" dirty="0">
                <a:solidFill>
                  <a:srgbClr val="111111"/>
                </a:solidFill>
                <a:effectLst/>
                <a:latin typeface="+mn-lt"/>
              </a:rPr>
              <a:t>Software Sustainability track @ Argonne Training Program on Extreme-Scale Computing summer school</a:t>
            </a:r>
          </a:p>
        </p:txBody>
      </p:sp>
    </p:spTree>
    <p:extLst>
      <p:ext uri="{BB962C8B-B14F-4D97-AF65-F5344CB8AC3E}">
        <p14:creationId xmlns:p14="http://schemas.microsoft.com/office/powerpoint/2010/main" val="33169120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5D30512F-71BE-C842-A3D2-4229E91863BB}"/>
              </a:ext>
            </a:extLst>
          </p:cNvPr>
          <p:cNvSpPr>
            <a:spLocks noGrp="1"/>
          </p:cNvSpPr>
          <p:nvPr>
            <p:ph idx="1"/>
          </p:nvPr>
        </p:nvSpPr>
        <p:spPr>
          <a:xfrm>
            <a:off x="609443" y="1699995"/>
            <a:ext cx="5881298" cy="4422776"/>
          </a:xfrm>
        </p:spPr>
        <p:txBody>
          <a:bodyPr/>
          <a:lstStyle/>
          <a:p>
            <a:pPr marL="0" indent="0">
              <a:buNone/>
            </a:pPr>
            <a:r>
              <a:rPr lang="en-US" dirty="0">
                <a:solidFill>
                  <a:srgbClr val="FF0000"/>
                </a:solidFill>
              </a:rPr>
              <a:t>Definition: Refactoring is a disciplined technique for restructuring an existing body of code, altering its internal structure without changing its external behavior.</a:t>
            </a:r>
          </a:p>
          <a:p>
            <a:r>
              <a:rPr lang="en-US" dirty="0"/>
              <a:t>Different from development</a:t>
            </a:r>
          </a:p>
          <a:p>
            <a:pPr lvl="1"/>
            <a:r>
              <a:rPr lang="en-US" dirty="0"/>
              <a:t>You have a working code </a:t>
            </a:r>
          </a:p>
          <a:p>
            <a:pPr lvl="1"/>
            <a:r>
              <a:rPr lang="en-US" dirty="0"/>
              <a:t>You know and understand the behavior</a:t>
            </a:r>
          </a:p>
          <a:p>
            <a:pPr lvl="1"/>
            <a:r>
              <a:rPr lang="en-US" dirty="0"/>
              <a:t>You have a baseline that you can use for comparison</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What is Refactoring </a:t>
            </a:r>
            <a:br>
              <a:rPr lang="en-US" dirty="0"/>
            </a:br>
            <a:endParaRPr lang="en-US" dirty="0"/>
          </a:p>
        </p:txBody>
      </p:sp>
    </p:spTree>
    <p:extLst>
      <p:ext uri="{BB962C8B-B14F-4D97-AF65-F5344CB8AC3E}">
        <p14:creationId xmlns:p14="http://schemas.microsoft.com/office/powerpoint/2010/main" val="116570864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a:extLst>
              <a:ext uri="{FF2B5EF4-FFF2-40B4-BE49-F238E27FC236}">
                <a16:creationId xmlns:a16="http://schemas.microsoft.com/office/drawing/2014/main" id="{5D30512F-71BE-C842-A3D2-4229E91863BB}"/>
              </a:ext>
            </a:extLst>
          </p:cNvPr>
          <p:cNvSpPr>
            <a:spLocks noGrp="1"/>
          </p:cNvSpPr>
          <p:nvPr>
            <p:ph idx="1"/>
          </p:nvPr>
        </p:nvSpPr>
        <p:spPr>
          <a:xfrm>
            <a:off x="609443" y="1699995"/>
            <a:ext cx="5881298" cy="4422776"/>
          </a:xfrm>
        </p:spPr>
        <p:txBody>
          <a:bodyPr/>
          <a:lstStyle/>
          <a:p>
            <a:pPr marL="0" indent="0">
              <a:buNone/>
            </a:pPr>
            <a:r>
              <a:rPr lang="en-US" dirty="0">
                <a:solidFill>
                  <a:srgbClr val="FF0000"/>
                </a:solidFill>
              </a:rPr>
              <a:t>Definition: Refactoring is a disciplined technique for restructuring an existing body of code, altering its internal structure without changing its external behavior.</a:t>
            </a:r>
          </a:p>
          <a:p>
            <a:r>
              <a:rPr lang="en-US" dirty="0"/>
              <a:t>Different from development</a:t>
            </a:r>
          </a:p>
          <a:p>
            <a:pPr lvl="1"/>
            <a:r>
              <a:rPr lang="en-US" dirty="0"/>
              <a:t>You have a working code </a:t>
            </a:r>
          </a:p>
          <a:p>
            <a:pPr lvl="1"/>
            <a:r>
              <a:rPr lang="en-US" dirty="0"/>
              <a:t>You know and understand the behavior</a:t>
            </a:r>
          </a:p>
          <a:p>
            <a:pPr lvl="1"/>
            <a:r>
              <a:rPr lang="en-US" dirty="0"/>
              <a:t>You have a baseline that you can use for comparison</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What is Refactoring </a:t>
            </a:r>
            <a:br>
              <a:rPr lang="en-US" dirty="0"/>
            </a:br>
            <a:endParaRPr lang="en-US" dirty="0"/>
          </a:p>
        </p:txBody>
      </p:sp>
      <p:sp>
        <p:nvSpPr>
          <p:cNvPr id="6" name="Content Placeholder 2">
            <a:extLst>
              <a:ext uri="{FF2B5EF4-FFF2-40B4-BE49-F238E27FC236}">
                <a16:creationId xmlns:a16="http://schemas.microsoft.com/office/drawing/2014/main" id="{A3969DB6-AB62-0A43-A6B7-8B07C828C355}"/>
              </a:ext>
            </a:extLst>
          </p:cNvPr>
          <p:cNvSpPr txBox="1">
            <a:spLocks/>
          </p:cNvSpPr>
          <p:nvPr/>
        </p:nvSpPr>
        <p:spPr bwMode="auto">
          <a:xfrm>
            <a:off x="6607828" y="1258433"/>
            <a:ext cx="4971554" cy="4204252"/>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dirty="0"/>
          </a:p>
          <a:p>
            <a:r>
              <a:rPr lang="en-US" dirty="0"/>
              <a:t>General motivations</a:t>
            </a:r>
          </a:p>
          <a:p>
            <a:pPr lvl="1"/>
            <a:r>
              <a:rPr lang="en-US" dirty="0"/>
              <a:t>Modularity enhancement </a:t>
            </a:r>
          </a:p>
          <a:p>
            <a:pPr lvl="2"/>
            <a:r>
              <a:rPr lang="en-US" dirty="0"/>
              <a:t>Improve sustainability</a:t>
            </a:r>
          </a:p>
          <a:p>
            <a:pPr lvl="1"/>
            <a:r>
              <a:rPr lang="en-US" dirty="0"/>
              <a:t>Release to outside users</a:t>
            </a:r>
          </a:p>
          <a:p>
            <a:pPr lvl="2"/>
            <a:r>
              <a:rPr lang="en-US" dirty="0"/>
              <a:t>Easier to use and understand</a:t>
            </a:r>
          </a:p>
          <a:p>
            <a:pPr lvl="1"/>
            <a:r>
              <a:rPr lang="en-US" dirty="0"/>
              <a:t>Port to new platforms</a:t>
            </a:r>
          </a:p>
          <a:p>
            <a:pPr lvl="2"/>
            <a:r>
              <a:rPr lang="en-US" dirty="0"/>
              <a:t>Performance portability</a:t>
            </a:r>
          </a:p>
          <a:p>
            <a:pPr lvl="1"/>
            <a:r>
              <a:rPr lang="en-US" dirty="0"/>
              <a:t>Expand capabilities</a:t>
            </a:r>
          </a:p>
          <a:p>
            <a:pPr lvl="2"/>
            <a:r>
              <a:rPr lang="en-US" dirty="0"/>
              <a:t>Structural flexibility</a:t>
            </a:r>
          </a:p>
          <a:p>
            <a:pPr marL="0" indent="0">
              <a:buFont typeface="Arial" charset="0"/>
              <a:buNone/>
            </a:pPr>
            <a:endParaRPr lang="en-US" dirty="0"/>
          </a:p>
          <a:p>
            <a:pPr lvl="1"/>
            <a:endParaRPr lang="en-US" dirty="0"/>
          </a:p>
          <a:p>
            <a:pPr marL="684212" lvl="2" indent="0">
              <a:buFont typeface="Arial" charset="0"/>
              <a:buNone/>
            </a:pPr>
            <a:endParaRPr lang="en-US" dirty="0"/>
          </a:p>
        </p:txBody>
      </p:sp>
    </p:spTree>
    <p:extLst>
      <p:ext uri="{BB962C8B-B14F-4D97-AF65-F5344CB8AC3E}">
        <p14:creationId xmlns:p14="http://schemas.microsoft.com/office/powerpoint/2010/main" val="40678832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3525866720"/>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1847003532"/>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4" name="Rectangle 3">
            <a:extLst>
              <a:ext uri="{FF2B5EF4-FFF2-40B4-BE49-F238E27FC236}">
                <a16:creationId xmlns:a16="http://schemas.microsoft.com/office/drawing/2014/main" id="{73C94ABD-76B5-164E-804C-61A0F44E4F72}"/>
              </a:ext>
            </a:extLst>
          </p:cNvPr>
          <p:cNvSpPr/>
          <p:nvPr/>
        </p:nvSpPr>
        <p:spPr>
          <a:xfrm>
            <a:off x="6858788" y="2538788"/>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INTEGRATION TEST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5" name="Diamond 4">
            <a:extLst>
              <a:ext uri="{FF2B5EF4-FFF2-40B4-BE49-F238E27FC236}">
                <a16:creationId xmlns:a16="http://schemas.microsoft.com/office/drawing/2014/main" id="{61E16F02-70EF-E245-9409-FD346451B52B}"/>
              </a:ext>
            </a:extLst>
          </p:cNvPr>
          <p:cNvSpPr/>
          <p:nvPr/>
        </p:nvSpPr>
        <p:spPr>
          <a:xfrm>
            <a:off x="8833710" y="2555119"/>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a:endCxn id="4" idx="2"/>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6C6F285-74D6-2E49-B4E3-7036F6A1295D}"/>
              </a:ext>
            </a:extLst>
          </p:cNvPr>
          <p:cNvCxnSpPr>
            <a:cxnSpLocks/>
            <a:stCxn id="4" idx="3"/>
            <a:endCxn id="5" idx="1"/>
          </p:cNvCxnSpPr>
          <p:nvPr/>
        </p:nvCxnSpPr>
        <p:spPr>
          <a:xfrm>
            <a:off x="8230388" y="2876833"/>
            <a:ext cx="603322" cy="15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4DADAD6-9AC1-BD45-9260-F1BD0D198231}"/>
              </a:ext>
            </a:extLst>
          </p:cNvPr>
          <p:cNvCxnSpPr>
            <a:cxnSpLocks/>
            <a:stCxn id="5" idx="2"/>
          </p:cNvCxnSpPr>
          <p:nvPr/>
        </p:nvCxnSpPr>
        <p:spPr>
          <a:xfrm>
            <a:off x="9584556" y="3201691"/>
            <a:ext cx="2706" cy="4367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Elbow Connector 29">
            <a:extLst>
              <a:ext uri="{FF2B5EF4-FFF2-40B4-BE49-F238E27FC236}">
                <a16:creationId xmlns:a16="http://schemas.microsoft.com/office/drawing/2014/main" id="{02581965-0743-CC47-A581-E6F09B1FA5F5}"/>
              </a:ext>
            </a:extLst>
          </p:cNvPr>
          <p:cNvCxnSpPr>
            <a:cxnSpLocks/>
            <a:stCxn id="5" idx="0"/>
            <a:endCxn id="9" idx="0"/>
          </p:cNvCxnSpPr>
          <p:nvPr/>
        </p:nvCxnSpPr>
        <p:spPr>
          <a:xfrm rot="16200000" flipV="1">
            <a:off x="6718558" y="-310879"/>
            <a:ext cx="29326" cy="5702670"/>
          </a:xfrm>
          <a:prstGeom prst="bentConnector3">
            <a:avLst>
              <a:gd name="adj1" fmla="val 87951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3" name="TextBox 42">
            <a:extLst>
              <a:ext uri="{FF2B5EF4-FFF2-40B4-BE49-F238E27FC236}">
                <a16:creationId xmlns:a16="http://schemas.microsoft.com/office/drawing/2014/main" id="{7D8F6285-E2BE-724E-8A73-DF71CAE16A81}"/>
              </a:ext>
            </a:extLst>
          </p:cNvPr>
          <p:cNvSpPr txBox="1"/>
          <p:nvPr/>
        </p:nvSpPr>
        <p:spPr>
          <a:xfrm>
            <a:off x="9554664" y="3227473"/>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7" name="TextBox 46">
            <a:extLst>
              <a:ext uri="{FF2B5EF4-FFF2-40B4-BE49-F238E27FC236}">
                <a16:creationId xmlns:a16="http://schemas.microsoft.com/office/drawing/2014/main" id="{D72AEF35-9557-A64D-86F9-245E5D296A62}"/>
              </a:ext>
            </a:extLst>
          </p:cNvPr>
          <p:cNvSpPr txBox="1"/>
          <p:nvPr/>
        </p:nvSpPr>
        <p:spPr>
          <a:xfrm>
            <a:off x="9535059" y="2280823"/>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1844700947"/>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a:extLst>
              <a:ext uri="{FF2B5EF4-FFF2-40B4-BE49-F238E27FC236}">
                <a16:creationId xmlns:a16="http://schemas.microsoft.com/office/drawing/2014/main" id="{690299EC-CCA2-6A44-A9C8-5B8C7D631B69}"/>
              </a:ext>
            </a:extLst>
          </p:cNvPr>
          <p:cNvSpPr/>
          <p:nvPr/>
        </p:nvSpPr>
        <p:spPr>
          <a:xfrm>
            <a:off x="1347118" y="2468188"/>
            <a:ext cx="1351722"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START</a:t>
            </a:r>
          </a:p>
        </p:txBody>
      </p:sp>
      <p:sp>
        <p:nvSpPr>
          <p:cNvPr id="6" name="Oval 5">
            <a:extLst>
              <a:ext uri="{FF2B5EF4-FFF2-40B4-BE49-F238E27FC236}">
                <a16:creationId xmlns:a16="http://schemas.microsoft.com/office/drawing/2014/main" id="{3CC2B641-3BBD-3747-B143-E1FD0EBB301D}"/>
              </a:ext>
            </a:extLst>
          </p:cNvPr>
          <p:cNvSpPr/>
          <p:nvPr/>
        </p:nvSpPr>
        <p:spPr>
          <a:xfrm>
            <a:off x="8868939" y="3638490"/>
            <a:ext cx="1436646" cy="745435"/>
          </a:xfrm>
          <a:prstGeom prst="ellipse">
            <a:avLst/>
          </a:prstGeom>
          <a:solidFill>
            <a:schemeClr val="accent3"/>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SUCCESS</a:t>
            </a:r>
          </a:p>
        </p:txBody>
      </p:sp>
      <p:sp>
        <p:nvSpPr>
          <p:cNvPr id="4" name="Rectangle 3">
            <a:extLst>
              <a:ext uri="{FF2B5EF4-FFF2-40B4-BE49-F238E27FC236}">
                <a16:creationId xmlns:a16="http://schemas.microsoft.com/office/drawing/2014/main" id="{73C94ABD-76B5-164E-804C-61A0F44E4F72}"/>
              </a:ext>
            </a:extLst>
          </p:cNvPr>
          <p:cNvSpPr/>
          <p:nvPr/>
        </p:nvSpPr>
        <p:spPr>
          <a:xfrm>
            <a:off x="6858788" y="2538788"/>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INTEGRATION TEST</a:t>
            </a:r>
          </a:p>
        </p:txBody>
      </p:sp>
      <p:sp>
        <p:nvSpPr>
          <p:cNvPr id="8" name="Rectangle 7">
            <a:extLst>
              <a:ext uri="{FF2B5EF4-FFF2-40B4-BE49-F238E27FC236}">
                <a16:creationId xmlns:a16="http://schemas.microsoft.com/office/drawing/2014/main" id="{9573A2D9-24AD-6C40-8C42-F23592225510}"/>
              </a:ext>
            </a:extLst>
          </p:cNvPr>
          <p:cNvSpPr/>
          <p:nvPr/>
        </p:nvSpPr>
        <p:spPr>
          <a:xfrm>
            <a:off x="3196086" y="3632433"/>
            <a:ext cx="1371600" cy="676089"/>
          </a:xfrm>
          <a:prstGeom prst="rect">
            <a:avLst/>
          </a:prstGeom>
          <a:solidFill>
            <a:schemeClr val="accent2"/>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REGRESSION/UNIT TEST</a:t>
            </a:r>
          </a:p>
        </p:txBody>
      </p:sp>
      <p:sp>
        <p:nvSpPr>
          <p:cNvPr id="9" name="Rectangle 8">
            <a:extLst>
              <a:ext uri="{FF2B5EF4-FFF2-40B4-BE49-F238E27FC236}">
                <a16:creationId xmlns:a16="http://schemas.microsoft.com/office/drawing/2014/main" id="{CE2108CE-6C3A-8A49-96F1-373668921B6B}"/>
              </a:ext>
            </a:extLst>
          </p:cNvPr>
          <p:cNvSpPr/>
          <p:nvPr/>
        </p:nvSpPr>
        <p:spPr>
          <a:xfrm>
            <a:off x="3196086" y="2525793"/>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FIX</a:t>
            </a:r>
          </a:p>
        </p:txBody>
      </p:sp>
      <p:sp>
        <p:nvSpPr>
          <p:cNvPr id="10" name="Rectangle 9">
            <a:extLst>
              <a:ext uri="{FF2B5EF4-FFF2-40B4-BE49-F238E27FC236}">
                <a16:creationId xmlns:a16="http://schemas.microsoft.com/office/drawing/2014/main" id="{7E017335-9C7D-FD4A-97F1-06E8AC064FC0}"/>
              </a:ext>
            </a:extLst>
          </p:cNvPr>
          <p:cNvSpPr/>
          <p:nvPr/>
        </p:nvSpPr>
        <p:spPr>
          <a:xfrm>
            <a:off x="1347118" y="3632434"/>
            <a:ext cx="1371600" cy="676089"/>
          </a:xfrm>
          <a:prstGeom prst="rect">
            <a:avLst/>
          </a:prstGeom>
          <a:solidFill>
            <a:schemeClr val="bg2">
              <a:lumMod val="85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REFACTOR</a:t>
            </a:r>
          </a:p>
        </p:txBody>
      </p:sp>
      <p:sp>
        <p:nvSpPr>
          <p:cNvPr id="5" name="Diamond 4">
            <a:extLst>
              <a:ext uri="{FF2B5EF4-FFF2-40B4-BE49-F238E27FC236}">
                <a16:creationId xmlns:a16="http://schemas.microsoft.com/office/drawing/2014/main" id="{61E16F02-70EF-E245-9409-FD346451B52B}"/>
              </a:ext>
            </a:extLst>
          </p:cNvPr>
          <p:cNvSpPr/>
          <p:nvPr/>
        </p:nvSpPr>
        <p:spPr>
          <a:xfrm>
            <a:off x="8833710" y="2555119"/>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sp>
        <p:nvSpPr>
          <p:cNvPr id="12" name="Diamond 11">
            <a:extLst>
              <a:ext uri="{FF2B5EF4-FFF2-40B4-BE49-F238E27FC236}">
                <a16:creationId xmlns:a16="http://schemas.microsoft.com/office/drawing/2014/main" id="{E25C2767-74CC-C348-A13C-4B2194358763}"/>
              </a:ext>
            </a:extLst>
          </p:cNvPr>
          <p:cNvSpPr/>
          <p:nvPr/>
        </p:nvSpPr>
        <p:spPr>
          <a:xfrm>
            <a:off x="6793742" y="3661950"/>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DONE</a:t>
            </a:r>
          </a:p>
        </p:txBody>
      </p:sp>
      <p:sp>
        <p:nvSpPr>
          <p:cNvPr id="13" name="Diamond 12">
            <a:extLst>
              <a:ext uri="{FF2B5EF4-FFF2-40B4-BE49-F238E27FC236}">
                <a16:creationId xmlns:a16="http://schemas.microsoft.com/office/drawing/2014/main" id="{B927D061-CC43-9C4B-AC50-F67CA02BD96C}"/>
              </a:ext>
            </a:extLst>
          </p:cNvPr>
          <p:cNvSpPr/>
          <p:nvPr/>
        </p:nvSpPr>
        <p:spPr>
          <a:xfrm>
            <a:off x="4929868" y="3647191"/>
            <a:ext cx="1501692" cy="646572"/>
          </a:xfrm>
          <a:prstGeom prst="diamond">
            <a:avLst/>
          </a:prstGeom>
          <a:solidFill>
            <a:schemeClr val="accent5">
              <a:lumMod val="40000"/>
              <a:lumOff val="60000"/>
            </a:schemeClr>
          </a:solidFill>
          <a:ln w="38100">
            <a:solidFill>
              <a:schemeClr val="tx1"/>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1200" dirty="0">
                <a:latin typeface="+mj-lt"/>
              </a:rPr>
              <a:t>PASS</a:t>
            </a:r>
          </a:p>
        </p:txBody>
      </p:sp>
      <p:cxnSp>
        <p:nvCxnSpPr>
          <p:cNvPr id="14" name="Straight Arrow Connector 13">
            <a:extLst>
              <a:ext uri="{FF2B5EF4-FFF2-40B4-BE49-F238E27FC236}">
                <a16:creationId xmlns:a16="http://schemas.microsoft.com/office/drawing/2014/main" id="{58E23F11-4C9A-7A46-99FF-0AFAB9BB6850}"/>
              </a:ext>
            </a:extLst>
          </p:cNvPr>
          <p:cNvCxnSpPr>
            <a:cxnSpLocks/>
            <a:stCxn id="3" idx="4"/>
            <a:endCxn id="10" idx="0"/>
          </p:cNvCxnSpPr>
          <p:nvPr/>
        </p:nvCxnSpPr>
        <p:spPr>
          <a:xfrm>
            <a:off x="2022979" y="3213623"/>
            <a:ext cx="9939" cy="41881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864282F-50DD-104D-BB62-A2C061551EA0}"/>
              </a:ext>
            </a:extLst>
          </p:cNvPr>
          <p:cNvCxnSpPr>
            <a:cxnSpLocks/>
            <a:stCxn id="10" idx="3"/>
            <a:endCxn id="8" idx="1"/>
          </p:cNvCxnSpPr>
          <p:nvPr/>
        </p:nvCxnSpPr>
        <p:spPr>
          <a:xfrm flipV="1">
            <a:off x="2718718" y="3970478"/>
            <a:ext cx="477368"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F6B07EC7-B9A0-B542-B0F5-0D8FD9936DBE}"/>
              </a:ext>
            </a:extLst>
          </p:cNvPr>
          <p:cNvCxnSpPr>
            <a:cxnSpLocks/>
            <a:stCxn id="8" idx="3"/>
            <a:endCxn id="13" idx="1"/>
          </p:cNvCxnSpPr>
          <p:nvPr/>
        </p:nvCxnSpPr>
        <p:spPr>
          <a:xfrm flipV="1">
            <a:off x="4567686" y="3970477"/>
            <a:ext cx="362182" cy="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8EF17202-42AB-D349-9287-7D4B3ABE246B}"/>
              </a:ext>
            </a:extLst>
          </p:cNvPr>
          <p:cNvCxnSpPr>
            <a:cxnSpLocks/>
            <a:endCxn id="12" idx="1"/>
          </p:cNvCxnSpPr>
          <p:nvPr/>
        </p:nvCxnSpPr>
        <p:spPr>
          <a:xfrm>
            <a:off x="6431560" y="3985236"/>
            <a:ext cx="362182" cy="0"/>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64D098AD-ADC5-0E48-93DB-5AD4FF5478B0}"/>
              </a:ext>
            </a:extLst>
          </p:cNvPr>
          <p:cNvCxnSpPr>
            <a:cxnSpLocks/>
            <a:stCxn id="12" idx="0"/>
            <a:endCxn id="4" idx="2"/>
          </p:cNvCxnSpPr>
          <p:nvPr/>
        </p:nvCxnSpPr>
        <p:spPr>
          <a:xfrm flipV="1">
            <a:off x="7544588" y="3214877"/>
            <a:ext cx="0" cy="447073"/>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66C6F285-74D6-2E49-B4E3-7036F6A1295D}"/>
              </a:ext>
            </a:extLst>
          </p:cNvPr>
          <p:cNvCxnSpPr>
            <a:cxnSpLocks/>
            <a:stCxn id="4" idx="3"/>
            <a:endCxn id="5" idx="1"/>
          </p:cNvCxnSpPr>
          <p:nvPr/>
        </p:nvCxnSpPr>
        <p:spPr>
          <a:xfrm>
            <a:off x="8230388" y="2876833"/>
            <a:ext cx="603322" cy="1572"/>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4DADAD6-9AC1-BD45-9260-F1BD0D198231}"/>
              </a:ext>
            </a:extLst>
          </p:cNvPr>
          <p:cNvCxnSpPr>
            <a:cxnSpLocks/>
            <a:stCxn id="5" idx="2"/>
            <a:endCxn id="6" idx="0"/>
          </p:cNvCxnSpPr>
          <p:nvPr/>
        </p:nvCxnSpPr>
        <p:spPr>
          <a:xfrm>
            <a:off x="9584556" y="3201691"/>
            <a:ext cx="2706" cy="436799"/>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31EE7EC0-3201-9F4C-BF7C-2A977C79757E}"/>
              </a:ext>
            </a:extLst>
          </p:cNvPr>
          <p:cNvCxnSpPr>
            <a:cxnSpLocks/>
            <a:stCxn id="13" idx="0"/>
            <a:endCxn id="9" idx="3"/>
          </p:cNvCxnSpPr>
          <p:nvPr/>
        </p:nvCxnSpPr>
        <p:spPr>
          <a:xfrm rot="16200000" flipV="1">
            <a:off x="4732524" y="2699001"/>
            <a:ext cx="783353" cy="1113028"/>
          </a:xfrm>
          <a:prstGeom prst="bentConnector2">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0" name="Elbow Connector 29">
            <a:extLst>
              <a:ext uri="{FF2B5EF4-FFF2-40B4-BE49-F238E27FC236}">
                <a16:creationId xmlns:a16="http://schemas.microsoft.com/office/drawing/2014/main" id="{02581965-0743-CC47-A581-E6F09B1FA5F5}"/>
              </a:ext>
            </a:extLst>
          </p:cNvPr>
          <p:cNvCxnSpPr>
            <a:cxnSpLocks/>
            <a:stCxn id="5" idx="0"/>
            <a:endCxn id="9" idx="0"/>
          </p:cNvCxnSpPr>
          <p:nvPr/>
        </p:nvCxnSpPr>
        <p:spPr>
          <a:xfrm rot="16200000" flipV="1">
            <a:off x="6718558" y="-310879"/>
            <a:ext cx="29326" cy="5702670"/>
          </a:xfrm>
          <a:prstGeom prst="bentConnector3">
            <a:avLst>
              <a:gd name="adj1" fmla="val 879513"/>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9A965197-C037-5344-948D-0BE4A06D00CC}"/>
              </a:ext>
            </a:extLst>
          </p:cNvPr>
          <p:cNvCxnSpPr>
            <a:stCxn id="9" idx="2"/>
            <a:endCxn id="8" idx="0"/>
          </p:cNvCxnSpPr>
          <p:nvPr/>
        </p:nvCxnSpPr>
        <p:spPr>
          <a:xfrm>
            <a:off x="3881886" y="3201882"/>
            <a:ext cx="0" cy="430551"/>
          </a:xfrm>
          <a:prstGeom prst="straightConnector1">
            <a:avLst/>
          </a:prstGeom>
          <a:ln w="38100">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CD920185-A2F8-394F-8796-320ED51FBF46}"/>
              </a:ext>
            </a:extLst>
          </p:cNvPr>
          <p:cNvSpPr txBox="1"/>
          <p:nvPr/>
        </p:nvSpPr>
        <p:spPr>
          <a:xfrm>
            <a:off x="6258046" y="4025057"/>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1" name="TextBox 40">
            <a:extLst>
              <a:ext uri="{FF2B5EF4-FFF2-40B4-BE49-F238E27FC236}">
                <a16:creationId xmlns:a16="http://schemas.microsoft.com/office/drawing/2014/main" id="{CF4DFCD2-1382-F84C-9E2C-A16C34564670}"/>
              </a:ext>
            </a:extLst>
          </p:cNvPr>
          <p:cNvSpPr txBox="1"/>
          <p:nvPr/>
        </p:nvSpPr>
        <p:spPr>
          <a:xfrm>
            <a:off x="7485357" y="3303411"/>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3" name="TextBox 42">
            <a:extLst>
              <a:ext uri="{FF2B5EF4-FFF2-40B4-BE49-F238E27FC236}">
                <a16:creationId xmlns:a16="http://schemas.microsoft.com/office/drawing/2014/main" id="{7D8F6285-E2BE-724E-8A73-DF71CAE16A81}"/>
              </a:ext>
            </a:extLst>
          </p:cNvPr>
          <p:cNvSpPr txBox="1"/>
          <p:nvPr/>
        </p:nvSpPr>
        <p:spPr>
          <a:xfrm>
            <a:off x="9554664" y="3227473"/>
            <a:ext cx="547842"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YES</a:t>
            </a:r>
          </a:p>
        </p:txBody>
      </p:sp>
      <p:sp>
        <p:nvSpPr>
          <p:cNvPr id="45" name="TextBox 44">
            <a:extLst>
              <a:ext uri="{FF2B5EF4-FFF2-40B4-BE49-F238E27FC236}">
                <a16:creationId xmlns:a16="http://schemas.microsoft.com/office/drawing/2014/main" id="{E93AD509-40DA-E84D-8CA3-156239135046}"/>
              </a:ext>
            </a:extLst>
          </p:cNvPr>
          <p:cNvSpPr txBox="1"/>
          <p:nvPr/>
        </p:nvSpPr>
        <p:spPr>
          <a:xfrm>
            <a:off x="7528808" y="4305367"/>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6" name="TextBox 45">
            <a:extLst>
              <a:ext uri="{FF2B5EF4-FFF2-40B4-BE49-F238E27FC236}">
                <a16:creationId xmlns:a16="http://schemas.microsoft.com/office/drawing/2014/main" id="{52EAAFBD-D859-E246-9C51-B5B05D65A9BC}"/>
              </a:ext>
            </a:extLst>
          </p:cNvPr>
          <p:cNvSpPr txBox="1"/>
          <p:nvPr/>
        </p:nvSpPr>
        <p:spPr>
          <a:xfrm>
            <a:off x="5719869" y="3308408"/>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sp>
        <p:nvSpPr>
          <p:cNvPr id="47" name="TextBox 46">
            <a:extLst>
              <a:ext uri="{FF2B5EF4-FFF2-40B4-BE49-F238E27FC236}">
                <a16:creationId xmlns:a16="http://schemas.microsoft.com/office/drawing/2014/main" id="{D72AEF35-9557-A64D-86F9-245E5D296A62}"/>
              </a:ext>
            </a:extLst>
          </p:cNvPr>
          <p:cNvSpPr txBox="1"/>
          <p:nvPr/>
        </p:nvSpPr>
        <p:spPr>
          <a:xfrm>
            <a:off x="9535059" y="2280823"/>
            <a:ext cx="470898" cy="350865"/>
          </a:xfrm>
          <a:prstGeom prst="rect">
            <a:avLst/>
          </a:prstGeom>
          <a:noFill/>
        </p:spPr>
        <p:txBody>
          <a:bodyPr wrap="none" lIns="118872" tIns="91440" rIns="118872" bIns="91440" rtlCol="0" anchor="ctr" anchorCtr="0">
            <a:spAutoFit/>
          </a:bodyPr>
          <a:lstStyle/>
          <a:p>
            <a:pPr algn="l">
              <a:lnSpc>
                <a:spcPct val="90000"/>
              </a:lnSpc>
            </a:pPr>
            <a:r>
              <a:rPr lang="en-US" sz="1200" dirty="0">
                <a:latin typeface="+mj-lt"/>
              </a:rPr>
              <a:t>NO</a:t>
            </a:r>
          </a:p>
        </p:txBody>
      </p:sp>
      <p:cxnSp>
        <p:nvCxnSpPr>
          <p:cNvPr id="44" name="Elbow Connector 43">
            <a:extLst>
              <a:ext uri="{FF2B5EF4-FFF2-40B4-BE49-F238E27FC236}">
                <a16:creationId xmlns:a16="http://schemas.microsoft.com/office/drawing/2014/main" id="{7FAB2AC6-7DA0-E741-A129-59695DBC13A3}"/>
              </a:ext>
            </a:extLst>
          </p:cNvPr>
          <p:cNvCxnSpPr>
            <a:stCxn id="12" idx="2"/>
            <a:endCxn id="10" idx="2"/>
          </p:cNvCxnSpPr>
          <p:nvPr/>
        </p:nvCxnSpPr>
        <p:spPr>
          <a:xfrm rot="5400000">
            <a:off x="4788753" y="1552687"/>
            <a:ext cx="1" cy="5511670"/>
          </a:xfrm>
          <a:prstGeom prst="bentConnector3">
            <a:avLst>
              <a:gd name="adj1" fmla="val 22860100000"/>
            </a:avLst>
          </a:prstGeom>
          <a:ln w="34925">
            <a:tailEnd type="triangle"/>
          </a:ln>
        </p:spPr>
        <p:style>
          <a:lnRef idx="1">
            <a:schemeClr val="accent1"/>
          </a:lnRef>
          <a:fillRef idx="0">
            <a:schemeClr val="accent1"/>
          </a:fillRef>
          <a:effectRef idx="0">
            <a:schemeClr val="accent1"/>
          </a:effectRef>
          <a:fontRef idx="minor">
            <a:schemeClr val="tx1"/>
          </a:fontRef>
        </p:style>
      </p:cxnSp>
      <p:sp>
        <p:nvSpPr>
          <p:cNvPr id="49" name="Title 48">
            <a:extLst>
              <a:ext uri="{FF2B5EF4-FFF2-40B4-BE49-F238E27FC236}">
                <a16:creationId xmlns:a16="http://schemas.microsoft.com/office/drawing/2014/main" id="{6AB9A130-9145-1146-AED7-9FA1F5FC4001}"/>
              </a:ext>
            </a:extLst>
          </p:cNvPr>
          <p:cNvSpPr>
            <a:spLocks noGrp="1"/>
          </p:cNvSpPr>
          <p:nvPr>
            <p:ph type="title"/>
          </p:nvPr>
        </p:nvSpPr>
        <p:spPr>
          <a:xfrm>
            <a:off x="269081" y="439134"/>
            <a:ext cx="11372473" cy="914400"/>
          </a:xfrm>
        </p:spPr>
        <p:txBody>
          <a:bodyPr/>
          <a:lstStyle/>
          <a:p>
            <a:r>
              <a:rPr lang="en-US" dirty="0"/>
              <a:t>An Example Workflow</a:t>
            </a:r>
          </a:p>
        </p:txBody>
      </p:sp>
    </p:spTree>
    <p:extLst>
      <p:ext uri="{BB962C8B-B14F-4D97-AF65-F5344CB8AC3E}">
        <p14:creationId xmlns:p14="http://schemas.microsoft.com/office/powerpoint/2010/main" val="4291553796"/>
      </p:ext>
    </p:extLst>
  </p:cSld>
  <p:clrMapOvr>
    <a:masterClrMapping/>
  </p:clrMapOvr>
  <mc:AlternateContent xmlns:mc="http://schemas.openxmlformats.org/markup-compatibility/2006" xmlns:p14="http://schemas.microsoft.com/office/powerpoint/2010/main">
    <mc:Choice Requires="p14">
      <p:transition spd="slow" p14:dur="2000" advTm="159994"/>
    </mc:Choice>
    <mc:Fallback xmlns="">
      <p:transition spd="slow" advTm="159994"/>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751C3202-86CA-8A4F-9676-1D487D0263F1}"/>
              </a:ext>
            </a:extLst>
          </p:cNvPr>
          <p:cNvSpPr>
            <a:spLocks noGrp="1"/>
          </p:cNvSpPr>
          <p:nvPr>
            <p:ph type="title"/>
          </p:nvPr>
        </p:nvSpPr>
        <p:spPr>
          <a:xfrm>
            <a:off x="365760" y="411480"/>
            <a:ext cx="11376442" cy="510909"/>
          </a:xfrm>
        </p:spPr>
        <p:txBody>
          <a:bodyPr/>
          <a:lstStyle/>
          <a:p>
            <a:r>
              <a:rPr lang="en-US" dirty="0"/>
              <a:t>Look at the Running Example</a:t>
            </a:r>
          </a:p>
        </p:txBody>
      </p:sp>
      <p:sp>
        <p:nvSpPr>
          <p:cNvPr id="5" name="Content Placeholder 2">
            <a:extLst>
              <a:ext uri="{FF2B5EF4-FFF2-40B4-BE49-F238E27FC236}">
                <a16:creationId xmlns:a16="http://schemas.microsoft.com/office/drawing/2014/main" id="{A171101B-6E48-1348-B025-173671AB4A36}"/>
              </a:ext>
            </a:extLst>
          </p:cNvPr>
          <p:cNvSpPr txBox="1">
            <a:spLocks/>
          </p:cNvSpPr>
          <p:nvPr/>
        </p:nvSpPr>
        <p:spPr bwMode="auto">
          <a:xfrm>
            <a:off x="6949440" y="1006836"/>
            <a:ext cx="4415246" cy="5153934"/>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dirty="0"/>
              <a:t>We created a code that moves particles in a prescribed fashion and only handles periodic boundaries</a:t>
            </a:r>
          </a:p>
          <a:p>
            <a:pPr marL="342900" indent="-342900"/>
            <a:r>
              <a:rPr lang="en-US" dirty="0"/>
              <a:t>If we want to use other methods, we need to break that out into a function</a:t>
            </a:r>
          </a:p>
          <a:p>
            <a:pPr marL="342900" indent="-342900"/>
            <a:r>
              <a:rPr lang="en-US" dirty="0"/>
              <a:t>If we want to also handle outflow boundary condition, we need to allow for particles getting lost</a:t>
            </a:r>
          </a:p>
          <a:p>
            <a:pPr marL="0" indent="0">
              <a:buNone/>
            </a:pPr>
            <a:endParaRPr lang="en-US" dirty="0"/>
          </a:p>
        </p:txBody>
      </p:sp>
      <p:pic>
        <p:nvPicPr>
          <p:cNvPr id="2" name="Picture 1">
            <a:extLst>
              <a:ext uri="{FF2B5EF4-FFF2-40B4-BE49-F238E27FC236}">
                <a16:creationId xmlns:a16="http://schemas.microsoft.com/office/drawing/2014/main" id="{2FF625E1-46A9-A8D6-166B-605DF63373C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5760" y="1006836"/>
            <a:ext cx="6422975" cy="5636714"/>
          </a:xfrm>
          <a:prstGeom prst="rect">
            <a:avLst/>
          </a:prstGeom>
        </p:spPr>
      </p:pic>
    </p:spTree>
    <p:extLst>
      <p:ext uri="{BB962C8B-B14F-4D97-AF65-F5344CB8AC3E}">
        <p14:creationId xmlns:p14="http://schemas.microsoft.com/office/powerpoint/2010/main" val="29693623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Tree>
    <p:extLst>
      <p:ext uri="{BB962C8B-B14F-4D97-AF65-F5344CB8AC3E}">
        <p14:creationId xmlns:p14="http://schemas.microsoft.com/office/powerpoint/2010/main" val="252072032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
        <p:nvSpPr>
          <p:cNvPr id="8" name="Content Placeholder 2">
            <a:extLst>
              <a:ext uri="{FF2B5EF4-FFF2-40B4-BE49-F238E27FC236}">
                <a16:creationId xmlns:a16="http://schemas.microsoft.com/office/drawing/2014/main" id="{A1DA427C-A026-392E-0256-4EE6BD32F460}"/>
              </a:ext>
            </a:extLst>
          </p:cNvPr>
          <p:cNvSpPr txBox="1">
            <a:spLocks/>
          </p:cNvSpPr>
          <p:nvPr/>
        </p:nvSpPr>
        <p:spPr bwMode="auto">
          <a:xfrm>
            <a:off x="6453525" y="5602311"/>
            <a:ext cx="4907835" cy="112014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46075" lvl="1" indent="0">
              <a:buNone/>
            </a:pPr>
            <a:endParaRPr lang="en-US" dirty="0"/>
          </a:p>
          <a:p>
            <a:pPr marL="0" indent="0" algn="ctr">
              <a:buFont typeface="Arial" charset="0"/>
              <a:buNone/>
            </a:pPr>
            <a:r>
              <a:rPr lang="en-US" dirty="0">
                <a:solidFill>
                  <a:srgbClr val="00B050"/>
                </a:solidFill>
              </a:rPr>
              <a:t>Incorporate verification overheads into refactoring cost estimates</a:t>
            </a:r>
          </a:p>
        </p:txBody>
      </p:sp>
    </p:spTree>
    <p:extLst>
      <p:ext uri="{BB962C8B-B14F-4D97-AF65-F5344CB8AC3E}">
        <p14:creationId xmlns:p14="http://schemas.microsoft.com/office/powerpoint/2010/main" val="103048523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Considerations for Refactoring</a:t>
            </a:r>
          </a:p>
        </p:txBody>
      </p:sp>
      <p:sp>
        <p:nvSpPr>
          <p:cNvPr id="16" name="Content Placeholder 2">
            <a:extLst>
              <a:ext uri="{FF2B5EF4-FFF2-40B4-BE49-F238E27FC236}">
                <a16:creationId xmlns:a16="http://schemas.microsoft.com/office/drawing/2014/main" id="{FFC7FCAD-8E94-314F-B0F0-99AD91CFCBE4}"/>
              </a:ext>
            </a:extLst>
          </p:cNvPr>
          <p:cNvSpPr txBox="1">
            <a:spLocks/>
          </p:cNvSpPr>
          <p:nvPr/>
        </p:nvSpPr>
        <p:spPr bwMode="auto">
          <a:xfrm>
            <a:off x="365760" y="1027954"/>
            <a:ext cx="5905658" cy="52410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Know why you are refactoring</a:t>
            </a:r>
          </a:p>
          <a:p>
            <a:pPr lvl="1"/>
            <a:r>
              <a:rPr lang="en-US" dirty="0"/>
              <a:t>Is it necessary?</a:t>
            </a:r>
          </a:p>
          <a:p>
            <a:pPr lvl="1"/>
            <a:r>
              <a:rPr lang="en-US" dirty="0"/>
              <a:t>Where should the code be after refactoring.</a:t>
            </a:r>
          </a:p>
          <a:p>
            <a:r>
              <a:rPr lang="en-US" dirty="0"/>
              <a:t>Here we have two reasons</a:t>
            </a:r>
          </a:p>
          <a:p>
            <a:pPr lvl="1"/>
            <a:r>
              <a:rPr lang="en-US" dirty="0"/>
              <a:t>One is enhancing flexibility</a:t>
            </a:r>
          </a:p>
          <a:p>
            <a:pPr lvl="1"/>
            <a:r>
              <a:rPr lang="en-US" dirty="0"/>
              <a:t>The other is adding capability</a:t>
            </a:r>
          </a:p>
          <a:p>
            <a:r>
              <a:rPr lang="en-US" dirty="0"/>
              <a:t>Know your cost estimates</a:t>
            </a:r>
          </a:p>
          <a:p>
            <a:r>
              <a:rPr lang="en-US" dirty="0"/>
              <a:t>Know your bounds</a:t>
            </a:r>
          </a:p>
          <a:p>
            <a:pPr lvl="1"/>
            <a:r>
              <a:rPr lang="en-US" dirty="0"/>
              <a:t>on acceptable behavior change</a:t>
            </a:r>
          </a:p>
          <a:p>
            <a:pPr lvl="1"/>
            <a:r>
              <a:rPr lang="en-US" dirty="0"/>
              <a:t>error bounds</a:t>
            </a:r>
          </a:p>
          <a:p>
            <a:pPr lvl="2"/>
            <a:r>
              <a:rPr lang="en-US" dirty="0"/>
              <a:t>bitwise reproduction of results unlikely after transition </a:t>
            </a:r>
          </a:p>
          <a:p>
            <a:endParaRPr lang="en-US" dirty="0"/>
          </a:p>
          <a:p>
            <a:endParaRPr lang="en-US" dirty="0"/>
          </a:p>
        </p:txBody>
      </p:sp>
      <p:sp>
        <p:nvSpPr>
          <p:cNvPr id="5" name="Content Placeholder 2">
            <a:extLst>
              <a:ext uri="{FF2B5EF4-FFF2-40B4-BE49-F238E27FC236}">
                <a16:creationId xmlns:a16="http://schemas.microsoft.com/office/drawing/2014/main" id="{F0225219-7EC1-12AC-4F1E-67B8209B977D}"/>
              </a:ext>
            </a:extLst>
          </p:cNvPr>
          <p:cNvSpPr txBox="1">
            <a:spLocks/>
          </p:cNvSpPr>
          <p:nvPr/>
        </p:nvSpPr>
        <p:spPr bwMode="auto">
          <a:xfrm>
            <a:off x="6453525" y="1118527"/>
            <a:ext cx="5106570" cy="469027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Verification</a:t>
            </a:r>
          </a:p>
          <a:p>
            <a:pPr lvl="1"/>
            <a:r>
              <a:rPr lang="en-US" dirty="0"/>
              <a:t>Check for coverage provided by existing tests</a:t>
            </a:r>
          </a:p>
          <a:p>
            <a:pPr lvl="1"/>
            <a:r>
              <a:rPr lang="en-US" dirty="0"/>
              <a:t>Develop new tests where there are gaps</a:t>
            </a:r>
          </a:p>
          <a:p>
            <a:pPr lvl="1"/>
            <a:r>
              <a:rPr lang="en-US" dirty="0"/>
              <a:t>Here we need two new tests. </a:t>
            </a:r>
          </a:p>
          <a:p>
            <a:pPr lvl="2"/>
            <a:r>
              <a:rPr lang="en-US" dirty="0"/>
              <a:t>One to ensure that behavior does not change when we put the method for moving particles into a new function</a:t>
            </a:r>
          </a:p>
          <a:p>
            <a:pPr lvl="2"/>
            <a:r>
              <a:rPr lang="en-US" dirty="0"/>
              <a:t>Another one to ensure that boundary conditions are applied correctly</a:t>
            </a:r>
          </a:p>
          <a:p>
            <a:pPr lvl="1"/>
            <a:r>
              <a:rPr lang="en-US" dirty="0"/>
              <a:t>Make sure tests exist at different granularities</a:t>
            </a:r>
          </a:p>
          <a:p>
            <a:pPr lvl="2"/>
            <a:r>
              <a:rPr lang="en-US" dirty="0"/>
              <a:t>There should be demanding integration and system level tests</a:t>
            </a:r>
          </a:p>
        </p:txBody>
      </p:sp>
      <p:sp>
        <p:nvSpPr>
          <p:cNvPr id="8" name="Content Placeholder 2">
            <a:extLst>
              <a:ext uri="{FF2B5EF4-FFF2-40B4-BE49-F238E27FC236}">
                <a16:creationId xmlns:a16="http://schemas.microsoft.com/office/drawing/2014/main" id="{A1DA427C-A026-392E-0256-4EE6BD32F460}"/>
              </a:ext>
            </a:extLst>
          </p:cNvPr>
          <p:cNvSpPr txBox="1">
            <a:spLocks/>
          </p:cNvSpPr>
          <p:nvPr/>
        </p:nvSpPr>
        <p:spPr bwMode="auto">
          <a:xfrm>
            <a:off x="6453525" y="5602311"/>
            <a:ext cx="4907835" cy="1120141"/>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346075" lvl="1" indent="0">
              <a:buNone/>
            </a:pPr>
            <a:endParaRPr lang="en-US" dirty="0"/>
          </a:p>
          <a:p>
            <a:pPr marL="0" indent="0" algn="ctr">
              <a:buFont typeface="Arial" charset="0"/>
              <a:buNone/>
            </a:pPr>
            <a:r>
              <a:rPr lang="en-US" dirty="0">
                <a:solidFill>
                  <a:srgbClr val="00B050"/>
                </a:solidFill>
              </a:rPr>
              <a:t>Incorporate verification overheads into refactoring cost estimates</a:t>
            </a:r>
          </a:p>
        </p:txBody>
      </p:sp>
      <p:sp>
        <p:nvSpPr>
          <p:cNvPr id="11" name="Rounded Rectangle 10">
            <a:extLst>
              <a:ext uri="{FF2B5EF4-FFF2-40B4-BE49-F238E27FC236}">
                <a16:creationId xmlns:a16="http://schemas.microsoft.com/office/drawing/2014/main" id="{D4055A57-C6B7-B1D2-5C5B-4B5CAD3A88A3}"/>
              </a:ext>
            </a:extLst>
          </p:cNvPr>
          <p:cNvSpPr/>
          <p:nvPr/>
        </p:nvSpPr>
        <p:spPr>
          <a:xfrm>
            <a:off x="1051559" y="5808798"/>
            <a:ext cx="4103371" cy="913654"/>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go back to AI and look at the next set of prompts</a:t>
            </a:r>
          </a:p>
          <a:p>
            <a:pPr algn="ctr">
              <a:lnSpc>
                <a:spcPct val="90000"/>
              </a:lnSpc>
            </a:pPr>
            <a:r>
              <a:rPr lang="en-US" sz="2000" dirty="0"/>
              <a:t>https://</a:t>
            </a:r>
            <a:r>
              <a:rPr lang="en-US" sz="2000" dirty="0" err="1"/>
              <a:t>tinyurl.com</a:t>
            </a:r>
            <a:r>
              <a:rPr lang="en-US" sz="2000" dirty="0"/>
              <a:t>/yfxtf89t</a:t>
            </a:r>
          </a:p>
        </p:txBody>
      </p:sp>
    </p:spTree>
    <p:extLst>
      <p:ext uri="{BB962C8B-B14F-4D97-AF65-F5344CB8AC3E}">
        <p14:creationId xmlns:p14="http://schemas.microsoft.com/office/powerpoint/2010/main" val="3970844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a:xfrm>
            <a:off x="609442" y="1056324"/>
            <a:ext cx="11160961" cy="499715"/>
          </a:xfrm>
        </p:spPr>
        <p:txBody>
          <a:bodyPr/>
          <a:lstStyle/>
          <a:p>
            <a:r>
              <a:rPr lang="en-US" dirty="0"/>
              <a:t>Proportionate to the scope</a:t>
            </a:r>
          </a:p>
        </p:txBody>
      </p:sp>
      <p:sp>
        <p:nvSpPr>
          <p:cNvPr id="2" name="Title 1"/>
          <p:cNvSpPr>
            <a:spLocks noGrp="1"/>
          </p:cNvSpPr>
          <p:nvPr>
            <p:ph type="title"/>
          </p:nvPr>
        </p:nvSpPr>
        <p:spPr/>
        <p:txBody>
          <a:bodyPr/>
          <a:lstStyle/>
          <a:p>
            <a:r>
              <a:rPr lang="en-US" dirty="0"/>
              <a:t>Map from Here to There: On ramp plan</a:t>
            </a:r>
          </a:p>
        </p:txBody>
      </p:sp>
      <p:sp>
        <p:nvSpPr>
          <p:cNvPr id="11" name="TextBox 10"/>
          <p:cNvSpPr txBox="1"/>
          <p:nvPr/>
        </p:nvSpPr>
        <p:spPr>
          <a:xfrm>
            <a:off x="7569649" y="4056979"/>
            <a:ext cx="3432967" cy="1200330"/>
          </a:xfrm>
          <a:prstGeom prst="rect">
            <a:avLst/>
          </a:prstGeom>
          <a:noFill/>
        </p:spPr>
        <p:txBody>
          <a:bodyPr wrap="square" rtlCol="0">
            <a:spAutoFit/>
          </a:bodyPr>
          <a:lstStyle/>
          <a:p>
            <a:r>
              <a:rPr lang="en-US" sz="2400" b="1" dirty="0"/>
              <a:t>Invasive large-scale change in the code - Bad idea</a:t>
            </a:r>
          </a:p>
        </p:txBody>
      </p:sp>
      <p:grpSp>
        <p:nvGrpSpPr>
          <p:cNvPr id="19" name="Group 18"/>
          <p:cNvGrpSpPr/>
          <p:nvPr/>
        </p:nvGrpSpPr>
        <p:grpSpPr>
          <a:xfrm>
            <a:off x="2881234" y="1906597"/>
            <a:ext cx="1546191" cy="938906"/>
            <a:chOff x="3333750" y="2238375"/>
            <a:chExt cx="1275347" cy="877332"/>
          </a:xfrm>
        </p:grpSpPr>
        <p:sp>
          <p:nvSpPr>
            <p:cNvPr id="20" name="Right Arrow 19"/>
            <p:cNvSpPr/>
            <p:nvPr/>
          </p:nvSpPr>
          <p:spPr>
            <a:xfrm>
              <a:off x="3429000" y="2238375"/>
              <a:ext cx="793750" cy="238125"/>
            </a:xfrm>
            <a:prstGeom prst="rightArrow">
              <a:avLst/>
            </a:prstGeom>
            <a:solidFill>
              <a:schemeClr val="tx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TextBox 20"/>
            <p:cNvSpPr txBox="1"/>
            <p:nvPr/>
          </p:nvSpPr>
          <p:spPr>
            <a:xfrm>
              <a:off x="3333750" y="2746375"/>
              <a:ext cx="1275347" cy="369332"/>
            </a:xfrm>
            <a:prstGeom prst="rect">
              <a:avLst/>
            </a:prstGeom>
            <a:noFill/>
          </p:spPr>
          <p:txBody>
            <a:bodyPr wrap="none" rtlCol="0">
              <a:spAutoFit/>
            </a:bodyPr>
            <a:lstStyle/>
            <a:p>
              <a:r>
                <a:rPr lang="en-US" dirty="0"/>
                <a:t>All at once</a:t>
              </a:r>
            </a:p>
          </p:txBody>
        </p:sp>
      </p:grpSp>
      <p:sp>
        <p:nvSpPr>
          <p:cNvPr id="23" name="TextBox 22"/>
          <p:cNvSpPr txBox="1"/>
          <p:nvPr/>
        </p:nvSpPr>
        <p:spPr>
          <a:xfrm>
            <a:off x="7461867" y="1838641"/>
            <a:ext cx="3709715" cy="830997"/>
          </a:xfrm>
          <a:prstGeom prst="rect">
            <a:avLst/>
          </a:prstGeom>
          <a:noFill/>
        </p:spPr>
        <p:txBody>
          <a:bodyPr wrap="square" rtlCol="0">
            <a:spAutoFit/>
          </a:bodyPr>
          <a:lstStyle/>
          <a:p>
            <a:r>
              <a:rPr lang="en-US" sz="2400" b="1" dirty="0"/>
              <a:t>Scattered independent changes - May be OK</a:t>
            </a:r>
          </a:p>
        </p:txBody>
      </p:sp>
      <p:grpSp>
        <p:nvGrpSpPr>
          <p:cNvPr id="18" name="Group 17"/>
          <p:cNvGrpSpPr/>
          <p:nvPr/>
        </p:nvGrpSpPr>
        <p:grpSpPr>
          <a:xfrm>
            <a:off x="3119890" y="4529724"/>
            <a:ext cx="1546192" cy="938906"/>
            <a:chOff x="3333750" y="2238375"/>
            <a:chExt cx="1275347" cy="877332"/>
          </a:xfrm>
        </p:grpSpPr>
        <p:sp>
          <p:nvSpPr>
            <p:cNvPr id="9" name="Right Arrow 8"/>
            <p:cNvSpPr/>
            <p:nvPr/>
          </p:nvSpPr>
          <p:spPr>
            <a:xfrm>
              <a:off x="3429000" y="2238375"/>
              <a:ext cx="793750" cy="238125"/>
            </a:xfrm>
            <a:prstGeom prst="rightArrow">
              <a:avLst/>
            </a:prstGeom>
            <a:solidFill>
              <a:schemeClr val="tx1"/>
            </a:solidFill>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TextBox 9"/>
            <p:cNvSpPr txBox="1"/>
            <p:nvPr/>
          </p:nvSpPr>
          <p:spPr>
            <a:xfrm>
              <a:off x="3333750" y="2746375"/>
              <a:ext cx="1275347" cy="369332"/>
            </a:xfrm>
            <a:prstGeom prst="rect">
              <a:avLst/>
            </a:prstGeom>
            <a:noFill/>
          </p:spPr>
          <p:txBody>
            <a:bodyPr wrap="none" rtlCol="0">
              <a:spAutoFit/>
            </a:bodyPr>
            <a:lstStyle/>
            <a:p>
              <a:r>
                <a:rPr lang="en-US" dirty="0"/>
                <a:t>All at once</a:t>
              </a:r>
            </a:p>
          </p:txBody>
        </p:sp>
      </p:grpSp>
      <p:grpSp>
        <p:nvGrpSpPr>
          <p:cNvPr id="14" name="Group 13">
            <a:extLst>
              <a:ext uri="{FF2B5EF4-FFF2-40B4-BE49-F238E27FC236}">
                <a16:creationId xmlns:a16="http://schemas.microsoft.com/office/drawing/2014/main" id="{51A96BEA-6603-1F42-B37D-AE1F06F5649A}"/>
              </a:ext>
            </a:extLst>
          </p:cNvPr>
          <p:cNvGrpSpPr/>
          <p:nvPr/>
        </p:nvGrpSpPr>
        <p:grpSpPr>
          <a:xfrm>
            <a:off x="4624954" y="1510293"/>
            <a:ext cx="2232578" cy="1546014"/>
            <a:chOff x="4624954" y="1510293"/>
            <a:chExt cx="2232578" cy="1546014"/>
          </a:xfrm>
        </p:grpSpPr>
        <p:sp>
          <p:nvSpPr>
            <p:cNvPr id="24" name="Rectangle 23">
              <a:extLst>
                <a:ext uri="{FF2B5EF4-FFF2-40B4-BE49-F238E27FC236}">
                  <a16:creationId xmlns:a16="http://schemas.microsoft.com/office/drawing/2014/main" id="{EA7F5CDB-1DF2-6040-88DC-817DEA6FB94D}"/>
                </a:ext>
              </a:extLst>
            </p:cNvPr>
            <p:cNvSpPr/>
            <p:nvPr/>
          </p:nvSpPr>
          <p:spPr>
            <a:xfrm>
              <a:off x="4624954" y="1510293"/>
              <a:ext cx="2232578" cy="1546014"/>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 name="Oval 4">
              <a:extLst>
                <a:ext uri="{FF2B5EF4-FFF2-40B4-BE49-F238E27FC236}">
                  <a16:creationId xmlns:a16="http://schemas.microsoft.com/office/drawing/2014/main" id="{AC09F784-2801-2441-92AD-9FCF6B82C681}"/>
                </a:ext>
              </a:extLst>
            </p:cNvPr>
            <p:cNvSpPr/>
            <p:nvPr/>
          </p:nvSpPr>
          <p:spPr>
            <a:xfrm>
              <a:off x="5018657" y="2309597"/>
              <a:ext cx="489097" cy="471022"/>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0" name="Oval 29">
              <a:extLst>
                <a:ext uri="{FF2B5EF4-FFF2-40B4-BE49-F238E27FC236}">
                  <a16:creationId xmlns:a16="http://schemas.microsoft.com/office/drawing/2014/main" id="{39E01F56-318B-D04D-A189-87231547BD93}"/>
                </a:ext>
              </a:extLst>
            </p:cNvPr>
            <p:cNvSpPr/>
            <p:nvPr/>
          </p:nvSpPr>
          <p:spPr>
            <a:xfrm>
              <a:off x="5676456" y="1729861"/>
              <a:ext cx="489097" cy="471022"/>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 name="Group 7">
            <a:extLst>
              <a:ext uri="{FF2B5EF4-FFF2-40B4-BE49-F238E27FC236}">
                <a16:creationId xmlns:a16="http://schemas.microsoft.com/office/drawing/2014/main" id="{4904E5F7-A5DA-874B-9B07-FDC4ED4738CC}"/>
              </a:ext>
            </a:extLst>
          </p:cNvPr>
          <p:cNvGrpSpPr/>
          <p:nvPr/>
        </p:nvGrpSpPr>
        <p:grpSpPr>
          <a:xfrm>
            <a:off x="4767377" y="4052661"/>
            <a:ext cx="2232578" cy="1546013"/>
            <a:chOff x="4767377" y="4052661"/>
            <a:chExt cx="2232578" cy="1546013"/>
          </a:xfrm>
        </p:grpSpPr>
        <p:sp>
          <p:nvSpPr>
            <p:cNvPr id="27" name="Rectangle 26">
              <a:extLst>
                <a:ext uri="{FF2B5EF4-FFF2-40B4-BE49-F238E27FC236}">
                  <a16:creationId xmlns:a16="http://schemas.microsoft.com/office/drawing/2014/main" id="{DB42A299-947A-B449-9092-6282EEEE4B5B}"/>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EE53242-0474-F947-A3F6-F8229F9EA0B4}"/>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1" name="Oval 30">
              <a:extLst>
                <a:ext uri="{FF2B5EF4-FFF2-40B4-BE49-F238E27FC236}">
                  <a16:creationId xmlns:a16="http://schemas.microsoft.com/office/drawing/2014/main" id="{A3E6977D-83B6-AD45-B651-0625DB1BB7E9}"/>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2" name="Oval 31">
              <a:extLst>
                <a:ext uri="{FF2B5EF4-FFF2-40B4-BE49-F238E27FC236}">
                  <a16:creationId xmlns:a16="http://schemas.microsoft.com/office/drawing/2014/main" id="{01CB49B5-CDCD-E149-BE7D-4D7650C48A47}"/>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1" name="Group 50">
            <a:extLst>
              <a:ext uri="{FF2B5EF4-FFF2-40B4-BE49-F238E27FC236}">
                <a16:creationId xmlns:a16="http://schemas.microsoft.com/office/drawing/2014/main" id="{1E041940-7B13-FC43-8B18-2E02BDEA80DE}"/>
              </a:ext>
            </a:extLst>
          </p:cNvPr>
          <p:cNvGrpSpPr/>
          <p:nvPr/>
        </p:nvGrpSpPr>
        <p:grpSpPr>
          <a:xfrm>
            <a:off x="584950" y="1510293"/>
            <a:ext cx="2232578" cy="1546014"/>
            <a:chOff x="4624954" y="1510293"/>
            <a:chExt cx="2232578" cy="1546014"/>
          </a:xfrm>
        </p:grpSpPr>
        <p:sp>
          <p:nvSpPr>
            <p:cNvPr id="52" name="Rectangle 51">
              <a:extLst>
                <a:ext uri="{FF2B5EF4-FFF2-40B4-BE49-F238E27FC236}">
                  <a16:creationId xmlns:a16="http://schemas.microsoft.com/office/drawing/2014/main" id="{FF08583C-ACF4-1446-B2C8-0FE1380BB8CF}"/>
                </a:ext>
              </a:extLst>
            </p:cNvPr>
            <p:cNvSpPr/>
            <p:nvPr/>
          </p:nvSpPr>
          <p:spPr>
            <a:xfrm>
              <a:off x="4624954" y="1510293"/>
              <a:ext cx="2232578" cy="1546014"/>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D0C05DAE-1B71-A84E-914E-FAF400737D75}"/>
                </a:ext>
              </a:extLst>
            </p:cNvPr>
            <p:cNvSpPr/>
            <p:nvPr/>
          </p:nvSpPr>
          <p:spPr>
            <a:xfrm>
              <a:off x="5018657" y="2309597"/>
              <a:ext cx="489097" cy="471022"/>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4" name="Oval 53">
              <a:extLst>
                <a:ext uri="{FF2B5EF4-FFF2-40B4-BE49-F238E27FC236}">
                  <a16:creationId xmlns:a16="http://schemas.microsoft.com/office/drawing/2014/main" id="{AB46AF1D-4F37-A24F-B85F-DBD4C63FD04D}"/>
                </a:ext>
              </a:extLst>
            </p:cNvPr>
            <p:cNvSpPr/>
            <p:nvPr/>
          </p:nvSpPr>
          <p:spPr>
            <a:xfrm>
              <a:off x="5676456" y="1729861"/>
              <a:ext cx="489097" cy="471022"/>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5" name="Group 54">
            <a:extLst>
              <a:ext uri="{FF2B5EF4-FFF2-40B4-BE49-F238E27FC236}">
                <a16:creationId xmlns:a16="http://schemas.microsoft.com/office/drawing/2014/main" id="{FA6D909D-72D8-C147-9192-2B889083FC47}"/>
              </a:ext>
            </a:extLst>
          </p:cNvPr>
          <p:cNvGrpSpPr/>
          <p:nvPr/>
        </p:nvGrpSpPr>
        <p:grpSpPr>
          <a:xfrm>
            <a:off x="590325" y="4052661"/>
            <a:ext cx="2232578" cy="1546013"/>
            <a:chOff x="4767377" y="4052661"/>
            <a:chExt cx="2232578" cy="1546013"/>
          </a:xfrm>
        </p:grpSpPr>
        <p:sp>
          <p:nvSpPr>
            <p:cNvPr id="56" name="Rectangle 55">
              <a:extLst>
                <a:ext uri="{FF2B5EF4-FFF2-40B4-BE49-F238E27FC236}">
                  <a16:creationId xmlns:a16="http://schemas.microsoft.com/office/drawing/2014/main" id="{4B06C4EF-BF41-1945-A384-3FA5DF837FBE}"/>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D80FC8D1-EC4D-DA4E-9A79-2598FDDAAF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8" name="Oval 57">
              <a:extLst>
                <a:ext uri="{FF2B5EF4-FFF2-40B4-BE49-F238E27FC236}">
                  <a16:creationId xmlns:a16="http://schemas.microsoft.com/office/drawing/2014/main" id="{D5D13BE0-0A7B-0A41-9236-A0A69797554E}"/>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9" name="Oval 58">
              <a:extLst>
                <a:ext uri="{FF2B5EF4-FFF2-40B4-BE49-F238E27FC236}">
                  <a16:creationId xmlns:a16="http://schemas.microsoft.com/office/drawing/2014/main" id="{1AC44ADC-F2C7-5E4F-9BF5-BFC512F633D2}"/>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17827630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plan1</a:t>
            </a:r>
          </a:p>
        </p:txBody>
      </p:sp>
      <p:sp>
        <p:nvSpPr>
          <p:cNvPr id="8" name="TextBox 7">
            <a:extLst>
              <a:ext uri="{FF2B5EF4-FFF2-40B4-BE49-F238E27FC236}">
                <a16:creationId xmlns:a16="http://schemas.microsoft.com/office/drawing/2014/main" id="{51CEFC24-E33C-F24E-8A4D-D2F5EE22B1CC}"/>
              </a:ext>
            </a:extLst>
          </p:cNvPr>
          <p:cNvSpPr txBox="1"/>
          <p:nvPr/>
        </p:nvSpPr>
        <p:spPr>
          <a:xfrm>
            <a:off x="7697757" y="43411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6884388" y="241295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21" name="Content Placeholder 2">
            <a:extLst>
              <a:ext uri="{FF2B5EF4-FFF2-40B4-BE49-F238E27FC236}">
                <a16:creationId xmlns:a16="http://schemas.microsoft.com/office/drawing/2014/main" id="{40678E0D-0250-3B4B-A625-79D2A2CDEDE5}"/>
              </a:ext>
            </a:extLst>
          </p:cNvPr>
          <p:cNvSpPr txBox="1">
            <a:spLocks/>
          </p:cNvSpPr>
          <p:nvPr/>
        </p:nvSpPr>
        <p:spPr bwMode="auto">
          <a:xfrm>
            <a:off x="5250143" y="1085902"/>
            <a:ext cx="2846884" cy="42475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Turn off all modules except for the one being refactored.</a:t>
            </a:r>
          </a:p>
          <a:p>
            <a:r>
              <a:rPr lang="en-US" dirty="0"/>
              <a:t>Have a way of testing in intermediate stages</a:t>
            </a:r>
          </a:p>
          <a:p>
            <a:r>
              <a:rPr lang="en-US" dirty="0"/>
              <a:t>Do this for all modules that need refactoring independently</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5" name="Group 4">
            <a:extLst>
              <a:ext uri="{FF2B5EF4-FFF2-40B4-BE49-F238E27FC236}">
                <a16:creationId xmlns:a16="http://schemas.microsoft.com/office/drawing/2014/main" id="{E99FEBBA-E527-F74C-A601-B3D599C0FE73}"/>
              </a:ext>
            </a:extLst>
          </p:cNvPr>
          <p:cNvGrpSpPr/>
          <p:nvPr/>
        </p:nvGrpSpPr>
        <p:grpSpPr>
          <a:xfrm>
            <a:off x="330872" y="1011799"/>
            <a:ext cx="4861598" cy="4875357"/>
            <a:chOff x="330872" y="1011799"/>
            <a:chExt cx="4861598" cy="4875357"/>
          </a:xfrm>
        </p:grpSpPr>
        <p:sp>
          <p:nvSpPr>
            <p:cNvPr id="44" name="TextBox 43">
              <a:extLst>
                <a:ext uri="{FF2B5EF4-FFF2-40B4-BE49-F238E27FC236}">
                  <a16:creationId xmlns:a16="http://schemas.microsoft.com/office/drawing/2014/main" id="{3CCAD567-96F6-E14C-BC53-5BB7D951BB5F}"/>
                </a:ext>
              </a:extLst>
            </p:cNvPr>
            <p:cNvSpPr txBox="1"/>
            <p:nvPr/>
          </p:nvSpPr>
          <p:spPr>
            <a:xfrm>
              <a:off x="2426947" y="22378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34" name="Group 33">
              <a:extLst>
                <a:ext uri="{FF2B5EF4-FFF2-40B4-BE49-F238E27FC236}">
                  <a16:creationId xmlns:a16="http://schemas.microsoft.com/office/drawing/2014/main" id="{2575A895-781C-784E-A42C-2232CE2EAEDF}"/>
                </a:ext>
              </a:extLst>
            </p:cNvPr>
            <p:cNvGrpSpPr/>
            <p:nvPr/>
          </p:nvGrpSpPr>
          <p:grpSpPr>
            <a:xfrm>
              <a:off x="330872" y="1014434"/>
              <a:ext cx="2232578" cy="1546013"/>
              <a:chOff x="4767377" y="4052661"/>
              <a:chExt cx="2232578" cy="1546013"/>
            </a:xfrm>
          </p:grpSpPr>
          <p:sp>
            <p:nvSpPr>
              <p:cNvPr id="36" name="Rectangle 35">
                <a:extLst>
                  <a:ext uri="{FF2B5EF4-FFF2-40B4-BE49-F238E27FC236}">
                    <a16:creationId xmlns:a16="http://schemas.microsoft.com/office/drawing/2014/main" id="{A1300D8A-1248-9C4A-A09A-39EB4A41B1DC}"/>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1F36A626-DB75-1C4F-94BF-DA4E29E4BB9D}"/>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85" name="TextBox 84">
              <a:extLst>
                <a:ext uri="{FF2B5EF4-FFF2-40B4-BE49-F238E27FC236}">
                  <a16:creationId xmlns:a16="http://schemas.microsoft.com/office/drawing/2014/main" id="{44175779-B94B-5B41-A337-3E1F9C29F177}"/>
                </a:ext>
              </a:extLst>
            </p:cNvPr>
            <p:cNvSpPr txBox="1"/>
            <p:nvPr/>
          </p:nvSpPr>
          <p:spPr>
            <a:xfrm>
              <a:off x="4952340" y="226344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6" name="TextBox 85">
              <a:extLst>
                <a:ext uri="{FF2B5EF4-FFF2-40B4-BE49-F238E27FC236}">
                  <a16:creationId xmlns:a16="http://schemas.microsoft.com/office/drawing/2014/main" id="{EEF65665-6394-BE44-90BC-E3954CD445BD}"/>
                </a:ext>
              </a:extLst>
            </p:cNvPr>
            <p:cNvSpPr txBox="1"/>
            <p:nvPr/>
          </p:nvSpPr>
          <p:spPr>
            <a:xfrm>
              <a:off x="4848713" y="42276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87" name="Group 86">
              <a:extLst>
                <a:ext uri="{FF2B5EF4-FFF2-40B4-BE49-F238E27FC236}">
                  <a16:creationId xmlns:a16="http://schemas.microsoft.com/office/drawing/2014/main" id="{0F6444A8-C0CB-204F-9793-95E921A1CA20}"/>
                </a:ext>
              </a:extLst>
            </p:cNvPr>
            <p:cNvGrpSpPr/>
            <p:nvPr/>
          </p:nvGrpSpPr>
          <p:grpSpPr>
            <a:xfrm>
              <a:off x="2704289" y="1011799"/>
              <a:ext cx="2232578" cy="1546013"/>
              <a:chOff x="4767377" y="4052661"/>
              <a:chExt cx="2232578" cy="1546013"/>
            </a:xfrm>
          </p:grpSpPr>
          <p:sp>
            <p:nvSpPr>
              <p:cNvPr id="94" name="Rectangle 93">
                <a:extLst>
                  <a:ext uri="{FF2B5EF4-FFF2-40B4-BE49-F238E27FC236}">
                    <a16:creationId xmlns:a16="http://schemas.microsoft.com/office/drawing/2014/main" id="{D2FAB04C-C503-624C-A6B5-D5BA2AE4B85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4BF8B8AD-D9D5-F649-A6E4-52E6EDBD1CF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06" name="Group 105">
              <a:extLst>
                <a:ext uri="{FF2B5EF4-FFF2-40B4-BE49-F238E27FC236}">
                  <a16:creationId xmlns:a16="http://schemas.microsoft.com/office/drawing/2014/main" id="{06FFA82E-F68A-8B4E-A243-62C8B6AFBFEB}"/>
                </a:ext>
              </a:extLst>
            </p:cNvPr>
            <p:cNvGrpSpPr/>
            <p:nvPr/>
          </p:nvGrpSpPr>
          <p:grpSpPr>
            <a:xfrm>
              <a:off x="330872" y="2658451"/>
              <a:ext cx="2232578" cy="1546013"/>
              <a:chOff x="4767377" y="4052661"/>
              <a:chExt cx="2232578" cy="1546013"/>
            </a:xfrm>
          </p:grpSpPr>
          <p:sp>
            <p:nvSpPr>
              <p:cNvPr id="107" name="Rectangle 106">
                <a:extLst>
                  <a:ext uri="{FF2B5EF4-FFF2-40B4-BE49-F238E27FC236}">
                    <a16:creationId xmlns:a16="http://schemas.microsoft.com/office/drawing/2014/main" id="{FE1AEE75-28F6-9F42-BBBE-39429D6D0878}"/>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9" name="Oval 108">
                <a:extLst>
                  <a:ext uri="{FF2B5EF4-FFF2-40B4-BE49-F238E27FC236}">
                    <a16:creationId xmlns:a16="http://schemas.microsoft.com/office/drawing/2014/main" id="{2F929B1F-C7D9-F743-86C7-CC75408B5C43}"/>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11" name="Group 110">
              <a:extLst>
                <a:ext uri="{FF2B5EF4-FFF2-40B4-BE49-F238E27FC236}">
                  <a16:creationId xmlns:a16="http://schemas.microsoft.com/office/drawing/2014/main" id="{B41EEB45-A66F-3D4E-A03D-B25701673110}"/>
                </a:ext>
              </a:extLst>
            </p:cNvPr>
            <p:cNvGrpSpPr/>
            <p:nvPr/>
          </p:nvGrpSpPr>
          <p:grpSpPr>
            <a:xfrm>
              <a:off x="2704289" y="2693096"/>
              <a:ext cx="2232578" cy="1546013"/>
              <a:chOff x="4767377" y="4052661"/>
              <a:chExt cx="2232578" cy="1546013"/>
            </a:xfrm>
          </p:grpSpPr>
          <p:sp>
            <p:nvSpPr>
              <p:cNvPr id="112" name="Rectangle 111">
                <a:extLst>
                  <a:ext uri="{FF2B5EF4-FFF2-40B4-BE49-F238E27FC236}">
                    <a16:creationId xmlns:a16="http://schemas.microsoft.com/office/drawing/2014/main" id="{5D6E4FE2-6ED5-714C-9859-24E98751D13F}"/>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3" name="Oval 112">
                <a:extLst>
                  <a:ext uri="{FF2B5EF4-FFF2-40B4-BE49-F238E27FC236}">
                    <a16:creationId xmlns:a16="http://schemas.microsoft.com/office/drawing/2014/main" id="{E9BCBF99-D35D-0143-841B-C3447C662BF5}"/>
                  </a:ext>
                </a:extLst>
              </p:cNvPr>
              <p:cNvSpPr/>
              <p:nvPr/>
            </p:nvSpPr>
            <p:spPr>
              <a:xfrm>
                <a:off x="5651736" y="4071017"/>
                <a:ext cx="956930" cy="894701"/>
              </a:xfrm>
              <a:prstGeom prst="ellipse">
                <a:avLst/>
              </a:prstGeom>
              <a:solidFill>
                <a:srgbClr val="00B0F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19" name="Group 118">
              <a:extLst>
                <a:ext uri="{FF2B5EF4-FFF2-40B4-BE49-F238E27FC236}">
                  <a16:creationId xmlns:a16="http://schemas.microsoft.com/office/drawing/2014/main" id="{17035DD1-A510-3C40-B2B1-9552D68550B8}"/>
                </a:ext>
              </a:extLst>
            </p:cNvPr>
            <p:cNvGrpSpPr/>
            <p:nvPr/>
          </p:nvGrpSpPr>
          <p:grpSpPr>
            <a:xfrm>
              <a:off x="330872" y="4341143"/>
              <a:ext cx="2232578" cy="1546013"/>
              <a:chOff x="4767377" y="4052661"/>
              <a:chExt cx="2232578" cy="1546013"/>
            </a:xfrm>
          </p:grpSpPr>
          <p:sp>
            <p:nvSpPr>
              <p:cNvPr id="120" name="Rectangle 119">
                <a:extLst>
                  <a:ext uri="{FF2B5EF4-FFF2-40B4-BE49-F238E27FC236}">
                    <a16:creationId xmlns:a16="http://schemas.microsoft.com/office/drawing/2014/main" id="{00D4BBAB-741D-584C-A1BB-5C35EABE21C1}"/>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FB370AA6-EAF1-E747-BD71-4404904C6C40}"/>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22" name="Group 121">
              <a:extLst>
                <a:ext uri="{FF2B5EF4-FFF2-40B4-BE49-F238E27FC236}">
                  <a16:creationId xmlns:a16="http://schemas.microsoft.com/office/drawing/2014/main" id="{8677C9D3-E045-E248-A59F-BE4200FCB55D}"/>
                </a:ext>
              </a:extLst>
            </p:cNvPr>
            <p:cNvGrpSpPr/>
            <p:nvPr/>
          </p:nvGrpSpPr>
          <p:grpSpPr>
            <a:xfrm>
              <a:off x="2711997" y="4341143"/>
              <a:ext cx="2232578" cy="1546013"/>
              <a:chOff x="4767377" y="4052661"/>
              <a:chExt cx="2232578" cy="1546013"/>
            </a:xfrm>
          </p:grpSpPr>
          <p:sp>
            <p:nvSpPr>
              <p:cNvPr id="123" name="Rectangle 122">
                <a:extLst>
                  <a:ext uri="{FF2B5EF4-FFF2-40B4-BE49-F238E27FC236}">
                    <a16:creationId xmlns:a16="http://schemas.microsoft.com/office/drawing/2014/main" id="{D55A04F1-E4B3-D548-81D1-E318B92EF23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4" name="Oval 123">
                <a:extLst>
                  <a:ext uri="{FF2B5EF4-FFF2-40B4-BE49-F238E27FC236}">
                    <a16:creationId xmlns:a16="http://schemas.microsoft.com/office/drawing/2014/main" id="{BCD37C5B-20C1-3446-85FE-689B5FC859BB}"/>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spTree>
    <p:extLst>
      <p:ext uri="{BB962C8B-B14F-4D97-AF65-F5344CB8AC3E}">
        <p14:creationId xmlns:p14="http://schemas.microsoft.com/office/powerpoint/2010/main" val="157547485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plan1</a:t>
            </a:r>
          </a:p>
        </p:txBody>
      </p:sp>
      <p:sp>
        <p:nvSpPr>
          <p:cNvPr id="8" name="TextBox 7">
            <a:extLst>
              <a:ext uri="{FF2B5EF4-FFF2-40B4-BE49-F238E27FC236}">
                <a16:creationId xmlns:a16="http://schemas.microsoft.com/office/drawing/2014/main" id="{51CEFC24-E33C-F24E-8A4D-D2F5EE22B1CC}"/>
              </a:ext>
            </a:extLst>
          </p:cNvPr>
          <p:cNvSpPr txBox="1"/>
          <p:nvPr/>
        </p:nvSpPr>
        <p:spPr>
          <a:xfrm>
            <a:off x="7697757" y="43411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6884388" y="241295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9930335" y="2407266"/>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21" name="Content Placeholder 2">
            <a:extLst>
              <a:ext uri="{FF2B5EF4-FFF2-40B4-BE49-F238E27FC236}">
                <a16:creationId xmlns:a16="http://schemas.microsoft.com/office/drawing/2014/main" id="{40678E0D-0250-3B4B-A625-79D2A2CDEDE5}"/>
              </a:ext>
            </a:extLst>
          </p:cNvPr>
          <p:cNvSpPr txBox="1">
            <a:spLocks/>
          </p:cNvSpPr>
          <p:nvPr/>
        </p:nvSpPr>
        <p:spPr bwMode="auto">
          <a:xfrm>
            <a:off x="5250143" y="1085902"/>
            <a:ext cx="2846884" cy="4247575"/>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Turn off all modules except for the one being refactored.</a:t>
            </a:r>
          </a:p>
          <a:p>
            <a:r>
              <a:rPr lang="en-US" dirty="0"/>
              <a:t>Have a way of testing in intermediate stages</a:t>
            </a:r>
          </a:p>
          <a:p>
            <a:r>
              <a:rPr lang="en-US" dirty="0"/>
              <a:t>Do this for all modules that need refactoring independently</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96" name="Group 95">
            <a:extLst>
              <a:ext uri="{FF2B5EF4-FFF2-40B4-BE49-F238E27FC236}">
                <a16:creationId xmlns:a16="http://schemas.microsoft.com/office/drawing/2014/main" id="{3FFFCBD3-6BD9-C94D-8DF6-7925903B29E1}"/>
              </a:ext>
            </a:extLst>
          </p:cNvPr>
          <p:cNvGrpSpPr/>
          <p:nvPr/>
        </p:nvGrpSpPr>
        <p:grpSpPr>
          <a:xfrm>
            <a:off x="8401554" y="1178283"/>
            <a:ext cx="2232578" cy="1546013"/>
            <a:chOff x="4767377" y="4052661"/>
            <a:chExt cx="2232578" cy="1546013"/>
          </a:xfrm>
        </p:grpSpPr>
        <p:sp>
          <p:nvSpPr>
            <p:cNvPr id="97" name="Rectangle 96">
              <a:extLst>
                <a:ext uri="{FF2B5EF4-FFF2-40B4-BE49-F238E27FC236}">
                  <a16:creationId xmlns:a16="http://schemas.microsoft.com/office/drawing/2014/main" id="{23C12D5B-C197-1148-BAC6-5F437EBF6E8A}"/>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8" name="Oval 97">
              <a:extLst>
                <a:ext uri="{FF2B5EF4-FFF2-40B4-BE49-F238E27FC236}">
                  <a16:creationId xmlns:a16="http://schemas.microsoft.com/office/drawing/2014/main" id="{D57669A2-261F-A046-9F8A-3DDB47376138}"/>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9" name="Oval 98">
              <a:extLst>
                <a:ext uri="{FF2B5EF4-FFF2-40B4-BE49-F238E27FC236}">
                  <a16:creationId xmlns:a16="http://schemas.microsoft.com/office/drawing/2014/main" id="{7E5532A7-3881-3D43-A58B-0EB3C96899E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100" name="Group 99">
            <a:extLst>
              <a:ext uri="{FF2B5EF4-FFF2-40B4-BE49-F238E27FC236}">
                <a16:creationId xmlns:a16="http://schemas.microsoft.com/office/drawing/2014/main" id="{E4953E90-1472-7F4D-8556-650F956B07B6}"/>
              </a:ext>
            </a:extLst>
          </p:cNvPr>
          <p:cNvGrpSpPr/>
          <p:nvPr/>
        </p:nvGrpSpPr>
        <p:grpSpPr>
          <a:xfrm>
            <a:off x="8363242" y="2916937"/>
            <a:ext cx="2232578" cy="1546013"/>
            <a:chOff x="4767377" y="4052661"/>
            <a:chExt cx="2232578" cy="1546013"/>
          </a:xfrm>
        </p:grpSpPr>
        <p:sp>
          <p:nvSpPr>
            <p:cNvPr id="101" name="Rectangle 100">
              <a:extLst>
                <a:ext uri="{FF2B5EF4-FFF2-40B4-BE49-F238E27FC236}">
                  <a16:creationId xmlns:a16="http://schemas.microsoft.com/office/drawing/2014/main" id="{48FA496E-B055-DD49-BA99-16914DA1ED89}"/>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6BF1F265-ACA9-8B45-911D-0A474DDF8F16}"/>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03" name="Oval 102">
              <a:extLst>
                <a:ext uri="{FF2B5EF4-FFF2-40B4-BE49-F238E27FC236}">
                  <a16:creationId xmlns:a16="http://schemas.microsoft.com/office/drawing/2014/main" id="{81BBC1FA-FEE8-8346-8BA8-00753F89C210}"/>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04" name="Oval 103">
              <a:extLst>
                <a:ext uri="{FF2B5EF4-FFF2-40B4-BE49-F238E27FC236}">
                  <a16:creationId xmlns:a16="http://schemas.microsoft.com/office/drawing/2014/main" id="{E56C2C09-F9C5-8E47-9070-7F08E90DBFD1}"/>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105" name="Content Placeholder 2">
            <a:extLst>
              <a:ext uri="{FF2B5EF4-FFF2-40B4-BE49-F238E27FC236}">
                <a16:creationId xmlns:a16="http://schemas.microsoft.com/office/drawing/2014/main" id="{FE46BDAE-EEBC-AD4D-AE63-4306F660D45D}"/>
              </a:ext>
            </a:extLst>
          </p:cNvPr>
          <p:cNvSpPr txBox="1">
            <a:spLocks/>
          </p:cNvSpPr>
          <p:nvPr/>
        </p:nvSpPr>
        <p:spPr bwMode="auto">
          <a:xfrm>
            <a:off x="8144927" y="4538656"/>
            <a:ext cx="3285073" cy="1304909"/>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One by one turn on more than one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43" name="Group 42">
            <a:extLst>
              <a:ext uri="{FF2B5EF4-FFF2-40B4-BE49-F238E27FC236}">
                <a16:creationId xmlns:a16="http://schemas.microsoft.com/office/drawing/2014/main" id="{54003A27-DDDF-E548-8A53-E7B0D95E74EF}"/>
              </a:ext>
            </a:extLst>
          </p:cNvPr>
          <p:cNvGrpSpPr/>
          <p:nvPr/>
        </p:nvGrpSpPr>
        <p:grpSpPr>
          <a:xfrm>
            <a:off x="330872" y="1011799"/>
            <a:ext cx="4861598" cy="4875357"/>
            <a:chOff x="330872" y="1011799"/>
            <a:chExt cx="4861598" cy="4875357"/>
          </a:xfrm>
        </p:grpSpPr>
        <p:sp>
          <p:nvSpPr>
            <p:cNvPr id="46" name="TextBox 45">
              <a:extLst>
                <a:ext uri="{FF2B5EF4-FFF2-40B4-BE49-F238E27FC236}">
                  <a16:creationId xmlns:a16="http://schemas.microsoft.com/office/drawing/2014/main" id="{D97A63E4-6057-2A48-8789-EC5E025F3FB5}"/>
                </a:ext>
              </a:extLst>
            </p:cNvPr>
            <p:cNvSpPr txBox="1"/>
            <p:nvPr/>
          </p:nvSpPr>
          <p:spPr>
            <a:xfrm>
              <a:off x="2426947" y="2237843"/>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50" name="Group 49">
              <a:extLst>
                <a:ext uri="{FF2B5EF4-FFF2-40B4-BE49-F238E27FC236}">
                  <a16:creationId xmlns:a16="http://schemas.microsoft.com/office/drawing/2014/main" id="{1C8477BC-9C0C-2A40-919F-DD93C31D146F}"/>
                </a:ext>
              </a:extLst>
            </p:cNvPr>
            <p:cNvGrpSpPr/>
            <p:nvPr/>
          </p:nvGrpSpPr>
          <p:grpSpPr>
            <a:xfrm>
              <a:off x="330872" y="1014434"/>
              <a:ext cx="2232578" cy="1546013"/>
              <a:chOff x="4767377" y="4052661"/>
              <a:chExt cx="2232578" cy="1546013"/>
            </a:xfrm>
          </p:grpSpPr>
          <p:sp>
            <p:nvSpPr>
              <p:cNvPr id="71" name="Rectangle 70">
                <a:extLst>
                  <a:ext uri="{FF2B5EF4-FFF2-40B4-BE49-F238E27FC236}">
                    <a16:creationId xmlns:a16="http://schemas.microsoft.com/office/drawing/2014/main" id="{2BE4E0C1-853C-A34A-9CBF-4193C72EDA9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BC203B07-8331-5646-B851-516E939E8DF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51" name="TextBox 50">
              <a:extLst>
                <a:ext uri="{FF2B5EF4-FFF2-40B4-BE49-F238E27FC236}">
                  <a16:creationId xmlns:a16="http://schemas.microsoft.com/office/drawing/2014/main" id="{5BF905EE-E613-1F42-B059-9D980E9CB5EC}"/>
                </a:ext>
              </a:extLst>
            </p:cNvPr>
            <p:cNvSpPr txBox="1"/>
            <p:nvPr/>
          </p:nvSpPr>
          <p:spPr>
            <a:xfrm>
              <a:off x="4952340" y="226344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2" name="TextBox 51">
              <a:extLst>
                <a:ext uri="{FF2B5EF4-FFF2-40B4-BE49-F238E27FC236}">
                  <a16:creationId xmlns:a16="http://schemas.microsoft.com/office/drawing/2014/main" id="{93A9F5C7-B1D4-AD45-AD27-CF364B227834}"/>
                </a:ext>
              </a:extLst>
            </p:cNvPr>
            <p:cNvSpPr txBox="1"/>
            <p:nvPr/>
          </p:nvSpPr>
          <p:spPr>
            <a:xfrm>
              <a:off x="4848713" y="42276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53" name="Group 52">
              <a:extLst>
                <a:ext uri="{FF2B5EF4-FFF2-40B4-BE49-F238E27FC236}">
                  <a16:creationId xmlns:a16="http://schemas.microsoft.com/office/drawing/2014/main" id="{01C646EF-E8F6-1F4B-B754-867819238F38}"/>
                </a:ext>
              </a:extLst>
            </p:cNvPr>
            <p:cNvGrpSpPr/>
            <p:nvPr/>
          </p:nvGrpSpPr>
          <p:grpSpPr>
            <a:xfrm>
              <a:off x="2704289" y="1011799"/>
              <a:ext cx="2232578" cy="1546013"/>
              <a:chOff x="4767377" y="4052661"/>
              <a:chExt cx="2232578" cy="1546013"/>
            </a:xfrm>
          </p:grpSpPr>
          <p:sp>
            <p:nvSpPr>
              <p:cNvPr id="69" name="Rectangle 68">
                <a:extLst>
                  <a:ext uri="{FF2B5EF4-FFF2-40B4-BE49-F238E27FC236}">
                    <a16:creationId xmlns:a16="http://schemas.microsoft.com/office/drawing/2014/main" id="{7CC9A3BE-F3A7-2448-A3EE-5AD3BB78F5AA}"/>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46C6CA3A-9CC6-F142-B100-154221D323D2}"/>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5" name="Group 54">
              <a:extLst>
                <a:ext uri="{FF2B5EF4-FFF2-40B4-BE49-F238E27FC236}">
                  <a16:creationId xmlns:a16="http://schemas.microsoft.com/office/drawing/2014/main" id="{4791B321-79CA-9343-B1A4-37A21EA8D4F0}"/>
                </a:ext>
              </a:extLst>
            </p:cNvPr>
            <p:cNvGrpSpPr/>
            <p:nvPr/>
          </p:nvGrpSpPr>
          <p:grpSpPr>
            <a:xfrm>
              <a:off x="330872" y="2658451"/>
              <a:ext cx="2232578" cy="1546013"/>
              <a:chOff x="4767377" y="4052661"/>
              <a:chExt cx="2232578" cy="1546013"/>
            </a:xfrm>
          </p:grpSpPr>
          <p:sp>
            <p:nvSpPr>
              <p:cNvPr id="67" name="Rectangle 66">
                <a:extLst>
                  <a:ext uri="{FF2B5EF4-FFF2-40B4-BE49-F238E27FC236}">
                    <a16:creationId xmlns:a16="http://schemas.microsoft.com/office/drawing/2014/main" id="{0674EF68-04C4-C741-A82E-EAA14F5128AD}"/>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8" name="Oval 67">
                <a:extLst>
                  <a:ext uri="{FF2B5EF4-FFF2-40B4-BE49-F238E27FC236}">
                    <a16:creationId xmlns:a16="http://schemas.microsoft.com/office/drawing/2014/main" id="{81D6E716-83A9-F74C-BBE5-D259C724C80A}"/>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6" name="Group 55">
              <a:extLst>
                <a:ext uri="{FF2B5EF4-FFF2-40B4-BE49-F238E27FC236}">
                  <a16:creationId xmlns:a16="http://schemas.microsoft.com/office/drawing/2014/main" id="{C1DBD27E-C54E-6C48-BB99-6AEC4BEE41E3}"/>
                </a:ext>
              </a:extLst>
            </p:cNvPr>
            <p:cNvGrpSpPr/>
            <p:nvPr/>
          </p:nvGrpSpPr>
          <p:grpSpPr>
            <a:xfrm>
              <a:off x="2704289" y="2693096"/>
              <a:ext cx="2232578" cy="1546013"/>
              <a:chOff x="4767377" y="4052661"/>
              <a:chExt cx="2232578" cy="1546013"/>
            </a:xfrm>
          </p:grpSpPr>
          <p:sp>
            <p:nvSpPr>
              <p:cNvPr id="65" name="Rectangle 64">
                <a:extLst>
                  <a:ext uri="{FF2B5EF4-FFF2-40B4-BE49-F238E27FC236}">
                    <a16:creationId xmlns:a16="http://schemas.microsoft.com/office/drawing/2014/main" id="{A19339BB-B5F5-E541-9DB0-EB73CB8778B2}"/>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6" name="Oval 65">
                <a:extLst>
                  <a:ext uri="{FF2B5EF4-FFF2-40B4-BE49-F238E27FC236}">
                    <a16:creationId xmlns:a16="http://schemas.microsoft.com/office/drawing/2014/main" id="{176D9A16-2585-2742-8286-F221E06A3ABA}"/>
                  </a:ext>
                </a:extLst>
              </p:cNvPr>
              <p:cNvSpPr/>
              <p:nvPr/>
            </p:nvSpPr>
            <p:spPr>
              <a:xfrm>
                <a:off x="5651736" y="4071017"/>
                <a:ext cx="956930" cy="894701"/>
              </a:xfrm>
              <a:prstGeom prst="ellipse">
                <a:avLst/>
              </a:prstGeom>
              <a:solidFill>
                <a:srgbClr val="00B0F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7" name="Group 56">
              <a:extLst>
                <a:ext uri="{FF2B5EF4-FFF2-40B4-BE49-F238E27FC236}">
                  <a16:creationId xmlns:a16="http://schemas.microsoft.com/office/drawing/2014/main" id="{F79416F0-A9CE-EC4D-A066-8C1C9641E8BF}"/>
                </a:ext>
              </a:extLst>
            </p:cNvPr>
            <p:cNvGrpSpPr/>
            <p:nvPr/>
          </p:nvGrpSpPr>
          <p:grpSpPr>
            <a:xfrm>
              <a:off x="330872" y="4341143"/>
              <a:ext cx="2232578" cy="1546013"/>
              <a:chOff x="4767377" y="4052661"/>
              <a:chExt cx="2232578" cy="1546013"/>
            </a:xfrm>
          </p:grpSpPr>
          <p:sp>
            <p:nvSpPr>
              <p:cNvPr id="62" name="Rectangle 61">
                <a:extLst>
                  <a:ext uri="{FF2B5EF4-FFF2-40B4-BE49-F238E27FC236}">
                    <a16:creationId xmlns:a16="http://schemas.microsoft.com/office/drawing/2014/main" id="{52D4B449-664D-8248-88BA-24F140335C72}"/>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8CD13903-8A0A-8348-AD18-041DAB1D7D5A}"/>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8" name="Group 57">
              <a:extLst>
                <a:ext uri="{FF2B5EF4-FFF2-40B4-BE49-F238E27FC236}">
                  <a16:creationId xmlns:a16="http://schemas.microsoft.com/office/drawing/2014/main" id="{4B3A3E0D-8948-C14B-8F42-628672D29487}"/>
                </a:ext>
              </a:extLst>
            </p:cNvPr>
            <p:cNvGrpSpPr/>
            <p:nvPr/>
          </p:nvGrpSpPr>
          <p:grpSpPr>
            <a:xfrm>
              <a:off x="2711997" y="4341143"/>
              <a:ext cx="2232578" cy="1546013"/>
              <a:chOff x="4767377" y="4052661"/>
              <a:chExt cx="2232578" cy="1546013"/>
            </a:xfrm>
          </p:grpSpPr>
          <p:sp>
            <p:nvSpPr>
              <p:cNvPr id="60" name="Rectangle 59">
                <a:extLst>
                  <a:ext uri="{FF2B5EF4-FFF2-40B4-BE49-F238E27FC236}">
                    <a16:creationId xmlns:a16="http://schemas.microsoft.com/office/drawing/2014/main" id="{2052369E-D5F3-F748-B8E0-A1A53D84FF24}"/>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AFB5AC9B-EC3E-0A48-AC6A-D495E98B5EBE}"/>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spTree>
    <p:extLst>
      <p:ext uri="{BB962C8B-B14F-4D97-AF65-F5344CB8AC3E}">
        <p14:creationId xmlns:p14="http://schemas.microsoft.com/office/powerpoint/2010/main" val="30607282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428874036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
        <p:nvSpPr>
          <p:cNvPr id="39" name="Rectangle 38">
            <a:extLst>
              <a:ext uri="{FF2B5EF4-FFF2-40B4-BE49-F238E27FC236}">
                <a16:creationId xmlns:a16="http://schemas.microsoft.com/office/drawing/2014/main" id="{1A0684AF-2511-514C-91BA-BD8A46356612}"/>
              </a:ext>
            </a:extLst>
          </p:cNvPr>
          <p:cNvSpPr/>
          <p:nvPr/>
        </p:nvSpPr>
        <p:spPr>
          <a:xfrm>
            <a:off x="2840161" y="946345"/>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832611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pPr marL="0" indent="0">
              <a:buNone/>
            </a:pPr>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26126119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68997463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24" name="Group 23">
            <a:extLst>
              <a:ext uri="{FF2B5EF4-FFF2-40B4-BE49-F238E27FC236}">
                <a16:creationId xmlns:a16="http://schemas.microsoft.com/office/drawing/2014/main" id="{1D1DBC3A-C1EF-604E-9B29-C2DCE04EBF1A}"/>
              </a:ext>
            </a:extLst>
          </p:cNvPr>
          <p:cNvGrpSpPr/>
          <p:nvPr/>
        </p:nvGrpSpPr>
        <p:grpSpPr>
          <a:xfrm>
            <a:off x="7735582" y="2655993"/>
            <a:ext cx="2232578" cy="1546013"/>
            <a:chOff x="4767377" y="4052661"/>
            <a:chExt cx="2232578" cy="1546013"/>
          </a:xfrm>
        </p:grpSpPr>
        <p:sp>
          <p:nvSpPr>
            <p:cNvPr id="25" name="Rectangle 24">
              <a:extLst>
                <a:ext uri="{FF2B5EF4-FFF2-40B4-BE49-F238E27FC236}">
                  <a16:creationId xmlns:a16="http://schemas.microsoft.com/office/drawing/2014/main" id="{3E5762A7-7F38-1246-A793-026941A0982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E4DD257F-04AC-A24D-88FF-854FA5C23F7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8" name="Oval 27">
              <a:extLst>
                <a:ext uri="{FF2B5EF4-FFF2-40B4-BE49-F238E27FC236}">
                  <a16:creationId xmlns:a16="http://schemas.microsoft.com/office/drawing/2014/main" id="{5213C9E2-C074-8E41-9E2C-446108A88941}"/>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9" name="Oval 28">
              <a:extLst>
                <a:ext uri="{FF2B5EF4-FFF2-40B4-BE49-F238E27FC236}">
                  <a16:creationId xmlns:a16="http://schemas.microsoft.com/office/drawing/2014/main" id="{913FD273-2574-C542-9F35-9CFE224A851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2" name="Group 51">
            <a:extLst>
              <a:ext uri="{FF2B5EF4-FFF2-40B4-BE49-F238E27FC236}">
                <a16:creationId xmlns:a16="http://schemas.microsoft.com/office/drawing/2014/main" id="{5BB835E0-E918-4B47-8FF3-0E90E73033EC}"/>
              </a:ext>
            </a:extLst>
          </p:cNvPr>
          <p:cNvGrpSpPr/>
          <p:nvPr/>
        </p:nvGrpSpPr>
        <p:grpSpPr>
          <a:xfrm>
            <a:off x="2814266" y="2681151"/>
            <a:ext cx="2232578" cy="1546013"/>
            <a:chOff x="4767377" y="4052661"/>
            <a:chExt cx="2232578" cy="1546013"/>
          </a:xfrm>
          <a:solidFill>
            <a:schemeClr val="bg2">
              <a:lumMod val="75000"/>
            </a:schemeClr>
          </a:solidFill>
        </p:grpSpPr>
        <p:sp>
          <p:nvSpPr>
            <p:cNvPr id="53" name="Rectangle 52">
              <a:extLst>
                <a:ext uri="{FF2B5EF4-FFF2-40B4-BE49-F238E27FC236}">
                  <a16:creationId xmlns:a16="http://schemas.microsoft.com/office/drawing/2014/main" id="{1CD35338-02B7-4444-AE73-0BB9408F39C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85546894-4B91-8C4D-AEC3-33A020D59A1B}"/>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1" name="Group 60">
            <a:extLst>
              <a:ext uri="{FF2B5EF4-FFF2-40B4-BE49-F238E27FC236}">
                <a16:creationId xmlns:a16="http://schemas.microsoft.com/office/drawing/2014/main" id="{D93D9072-B6CA-6644-AA28-2A9098C1461F}"/>
              </a:ext>
            </a:extLst>
          </p:cNvPr>
          <p:cNvGrpSpPr/>
          <p:nvPr/>
        </p:nvGrpSpPr>
        <p:grpSpPr>
          <a:xfrm>
            <a:off x="5290282" y="2661361"/>
            <a:ext cx="2232578" cy="1546013"/>
            <a:chOff x="4767377" y="4052661"/>
            <a:chExt cx="2232578" cy="1546013"/>
          </a:xfrm>
          <a:solidFill>
            <a:schemeClr val="bg2">
              <a:lumMod val="75000"/>
            </a:schemeClr>
          </a:solidFill>
        </p:grpSpPr>
        <p:sp>
          <p:nvSpPr>
            <p:cNvPr id="62" name="Rectangle 61">
              <a:extLst>
                <a:ext uri="{FF2B5EF4-FFF2-40B4-BE49-F238E27FC236}">
                  <a16:creationId xmlns:a16="http://schemas.microsoft.com/office/drawing/2014/main" id="{9DCEE113-2696-0145-8348-7FE168D534CB}"/>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3" name="Oval 62">
              <a:extLst>
                <a:ext uri="{FF2B5EF4-FFF2-40B4-BE49-F238E27FC236}">
                  <a16:creationId xmlns:a16="http://schemas.microsoft.com/office/drawing/2014/main" id="{B7ECB756-F51A-1145-AAC8-519557DD4A95}"/>
                </a:ext>
              </a:extLst>
            </p:cNvPr>
            <p:cNvSpPr/>
            <p:nvPr/>
          </p:nvSpPr>
          <p:spPr>
            <a:xfrm>
              <a:off x="5651736" y="4071017"/>
              <a:ext cx="956930" cy="894701"/>
            </a:xfrm>
            <a:prstGeom prst="ellipse">
              <a:avLst/>
            </a:prstGeom>
            <a:solidFill>
              <a:srgbClr val="43B1E5"/>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8" name="Group 67">
            <a:extLst>
              <a:ext uri="{FF2B5EF4-FFF2-40B4-BE49-F238E27FC236}">
                <a16:creationId xmlns:a16="http://schemas.microsoft.com/office/drawing/2014/main" id="{9CFA805F-DB59-0B4A-8A78-4A9543CE4BB7}"/>
              </a:ext>
            </a:extLst>
          </p:cNvPr>
          <p:cNvGrpSpPr/>
          <p:nvPr/>
        </p:nvGrpSpPr>
        <p:grpSpPr>
          <a:xfrm>
            <a:off x="392551" y="2660024"/>
            <a:ext cx="2232578" cy="1546013"/>
            <a:chOff x="4767377" y="4052661"/>
            <a:chExt cx="2232578" cy="1546013"/>
          </a:xfrm>
        </p:grpSpPr>
        <p:sp>
          <p:nvSpPr>
            <p:cNvPr id="69" name="Rectangle 68">
              <a:extLst>
                <a:ext uri="{FF2B5EF4-FFF2-40B4-BE49-F238E27FC236}">
                  <a16:creationId xmlns:a16="http://schemas.microsoft.com/office/drawing/2014/main" id="{4DD4FD44-B8D1-F24D-9799-46F6019D280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0D01D16E-E2A8-C547-846B-97101C634B38}"/>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1" name="Oval 70">
              <a:extLst>
                <a:ext uri="{FF2B5EF4-FFF2-40B4-BE49-F238E27FC236}">
                  <a16:creationId xmlns:a16="http://schemas.microsoft.com/office/drawing/2014/main" id="{2ABBB2E2-0959-0E47-A041-AFA5092FFD2D}"/>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2" name="Oval 71">
              <a:extLst>
                <a:ext uri="{FF2B5EF4-FFF2-40B4-BE49-F238E27FC236}">
                  <a16:creationId xmlns:a16="http://schemas.microsoft.com/office/drawing/2014/main" id="{64764BD2-6A38-8F41-9FBD-20B2E4773A1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40133630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Map from Here to There: On ramp plan2</a:t>
            </a:r>
          </a:p>
        </p:txBody>
      </p:sp>
      <p:sp>
        <p:nvSpPr>
          <p:cNvPr id="44" name="TextBox 43">
            <a:extLst>
              <a:ext uri="{FF2B5EF4-FFF2-40B4-BE49-F238E27FC236}">
                <a16:creationId xmlns:a16="http://schemas.microsoft.com/office/drawing/2014/main" id="{3CCAD567-96F6-E14C-BC53-5BB7D951BB5F}"/>
              </a:ext>
            </a:extLst>
          </p:cNvPr>
          <p:cNvSpPr txBox="1"/>
          <p:nvPr/>
        </p:nvSpPr>
        <p:spPr>
          <a:xfrm>
            <a:off x="2684376" y="2600784"/>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4" name="TextBox 53">
            <a:extLst>
              <a:ext uri="{FF2B5EF4-FFF2-40B4-BE49-F238E27FC236}">
                <a16:creationId xmlns:a16="http://schemas.microsoft.com/office/drawing/2014/main" id="{CD1D1D53-3272-DF47-B110-6A3A31F286F5}"/>
              </a:ext>
            </a:extLst>
          </p:cNvPr>
          <p:cNvSpPr txBox="1"/>
          <p:nvPr/>
        </p:nvSpPr>
        <p:spPr>
          <a:xfrm>
            <a:off x="5635161" y="27413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59" name="TextBox 58">
            <a:extLst>
              <a:ext uri="{FF2B5EF4-FFF2-40B4-BE49-F238E27FC236}">
                <a16:creationId xmlns:a16="http://schemas.microsoft.com/office/drawing/2014/main" id="{5DADEF1B-BB22-6E46-A026-20BF92281A68}"/>
              </a:ext>
            </a:extLst>
          </p:cNvPr>
          <p:cNvSpPr txBox="1"/>
          <p:nvPr/>
        </p:nvSpPr>
        <p:spPr>
          <a:xfrm>
            <a:off x="6889544" y="2450812"/>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64" name="TextBox 63">
            <a:extLst>
              <a:ext uri="{FF2B5EF4-FFF2-40B4-BE49-F238E27FC236}">
                <a16:creationId xmlns:a16="http://schemas.microsoft.com/office/drawing/2014/main" id="{A2B5188C-8EF9-E942-BB17-36AF56B62E7E}"/>
              </a:ext>
            </a:extLst>
          </p:cNvPr>
          <p:cNvSpPr txBox="1"/>
          <p:nvPr/>
        </p:nvSpPr>
        <p:spPr>
          <a:xfrm>
            <a:off x="11786505" y="2927051"/>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33" name="TextBox 32">
            <a:extLst>
              <a:ext uri="{FF2B5EF4-FFF2-40B4-BE49-F238E27FC236}">
                <a16:creationId xmlns:a16="http://schemas.microsoft.com/office/drawing/2014/main" id="{A7765D86-B73C-9449-B0DC-4097F6C82E93}"/>
              </a:ext>
            </a:extLst>
          </p:cNvPr>
          <p:cNvSpPr txBox="1"/>
          <p:nvPr/>
        </p:nvSpPr>
        <p:spPr>
          <a:xfrm>
            <a:off x="2571365" y="2444379"/>
            <a:ext cx="240130" cy="433965"/>
          </a:xfrm>
          <a:prstGeom prst="rect">
            <a:avLst/>
          </a:prstGeom>
          <a:noFill/>
        </p:spPr>
        <p:txBody>
          <a:bodyPr wrap="none" lIns="118872" tIns="91440" rIns="118872" bIns="91440" rtlCol="0" anchor="ctr" anchorCtr="0">
            <a:spAutoFit/>
          </a:bodyPr>
          <a:lstStyle/>
          <a:p>
            <a:pPr algn="l">
              <a:lnSpc>
                <a:spcPct val="90000"/>
              </a:lnSpc>
            </a:pPr>
            <a:endParaRPr lang="en-US" dirty="0"/>
          </a:p>
        </p:txBody>
      </p:sp>
      <p:sp>
        <p:nvSpPr>
          <p:cNvPr id="83" name="Content Placeholder 2">
            <a:extLst>
              <a:ext uri="{FF2B5EF4-FFF2-40B4-BE49-F238E27FC236}">
                <a16:creationId xmlns:a16="http://schemas.microsoft.com/office/drawing/2014/main" id="{27276B1D-3724-E242-B77E-0C1E387B32EB}"/>
              </a:ext>
            </a:extLst>
          </p:cNvPr>
          <p:cNvSpPr txBox="1">
            <a:spLocks/>
          </p:cNvSpPr>
          <p:nvPr/>
        </p:nvSpPr>
        <p:spPr bwMode="auto">
          <a:xfrm>
            <a:off x="10103279" y="1034858"/>
            <a:ext cx="1983802" cy="4652316"/>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sz="2200" dirty="0"/>
              <a:t>Build a separate environment for testing refactored module</a:t>
            </a:r>
          </a:p>
          <a:p>
            <a:r>
              <a:rPr lang="en-US" sz="2200" dirty="0"/>
              <a:t>Copy over the module in this isolated environment</a:t>
            </a:r>
          </a:p>
          <a:p>
            <a:r>
              <a:rPr lang="en-US" sz="2200" dirty="0"/>
              <a:t>Put back refactored module</a:t>
            </a:r>
          </a:p>
          <a:p>
            <a:endParaRPr lang="en-US" dirty="0"/>
          </a:p>
          <a:p>
            <a:pPr lvl="1"/>
            <a:endParaRPr lang="en-US" dirty="0"/>
          </a:p>
          <a:p>
            <a:pPr lvl="1"/>
            <a:endParaRPr lang="en-US" dirty="0"/>
          </a:p>
          <a:p>
            <a:pPr lvl="1"/>
            <a:endParaRPr lang="en-US" dirty="0"/>
          </a:p>
          <a:p>
            <a:pPr lvl="1"/>
            <a:endParaRPr lang="en-US" dirty="0"/>
          </a:p>
          <a:p>
            <a:pPr lvl="1"/>
            <a:endParaRPr lang="en-US" dirty="0"/>
          </a:p>
          <a:p>
            <a:pPr lvl="1"/>
            <a:endParaRPr lang="en-US" b="1" dirty="0">
              <a:solidFill>
                <a:schemeClr val="accent6">
                  <a:lumMod val="75000"/>
                </a:schemeClr>
              </a:solidFill>
            </a:endParaRPr>
          </a:p>
        </p:txBody>
      </p:sp>
      <p:grpSp>
        <p:nvGrpSpPr>
          <p:cNvPr id="19" name="Group 18">
            <a:extLst>
              <a:ext uri="{FF2B5EF4-FFF2-40B4-BE49-F238E27FC236}">
                <a16:creationId xmlns:a16="http://schemas.microsoft.com/office/drawing/2014/main" id="{A6BD3173-2F50-1C4C-8237-FAE3C5360FF4}"/>
              </a:ext>
            </a:extLst>
          </p:cNvPr>
          <p:cNvGrpSpPr/>
          <p:nvPr/>
        </p:nvGrpSpPr>
        <p:grpSpPr>
          <a:xfrm>
            <a:off x="394324" y="947077"/>
            <a:ext cx="2232578" cy="1546013"/>
            <a:chOff x="4767377" y="4052661"/>
            <a:chExt cx="2232578" cy="1546013"/>
          </a:xfrm>
        </p:grpSpPr>
        <p:sp>
          <p:nvSpPr>
            <p:cNvPr id="20" name="Rectangle 19">
              <a:extLst>
                <a:ext uri="{FF2B5EF4-FFF2-40B4-BE49-F238E27FC236}">
                  <a16:creationId xmlns:a16="http://schemas.microsoft.com/office/drawing/2014/main" id="{D42CC6A6-EADD-834A-A1DB-9FC60EB6D2D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9D3411E0-9923-FC4D-AF90-C0EB18B9E82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2" name="Oval 21">
              <a:extLst>
                <a:ext uri="{FF2B5EF4-FFF2-40B4-BE49-F238E27FC236}">
                  <a16:creationId xmlns:a16="http://schemas.microsoft.com/office/drawing/2014/main" id="{A4403CDB-875C-ED41-BF72-0D24B9372C04}"/>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3" name="Oval 22">
              <a:extLst>
                <a:ext uri="{FF2B5EF4-FFF2-40B4-BE49-F238E27FC236}">
                  <a16:creationId xmlns:a16="http://schemas.microsoft.com/office/drawing/2014/main" id="{F95CBDE7-AC4B-7840-ABC8-6E6BF41EF2D8}"/>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24" name="Group 23">
            <a:extLst>
              <a:ext uri="{FF2B5EF4-FFF2-40B4-BE49-F238E27FC236}">
                <a16:creationId xmlns:a16="http://schemas.microsoft.com/office/drawing/2014/main" id="{1D1DBC3A-C1EF-604E-9B29-C2DCE04EBF1A}"/>
              </a:ext>
            </a:extLst>
          </p:cNvPr>
          <p:cNvGrpSpPr/>
          <p:nvPr/>
        </p:nvGrpSpPr>
        <p:grpSpPr>
          <a:xfrm>
            <a:off x="7735582" y="2655993"/>
            <a:ext cx="2232578" cy="1546013"/>
            <a:chOff x="4767377" y="4052661"/>
            <a:chExt cx="2232578" cy="1546013"/>
          </a:xfrm>
        </p:grpSpPr>
        <p:sp>
          <p:nvSpPr>
            <p:cNvPr id="25" name="Rectangle 24">
              <a:extLst>
                <a:ext uri="{FF2B5EF4-FFF2-40B4-BE49-F238E27FC236}">
                  <a16:creationId xmlns:a16="http://schemas.microsoft.com/office/drawing/2014/main" id="{3E5762A7-7F38-1246-A793-026941A09827}"/>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 name="Oval 26">
              <a:extLst>
                <a:ext uri="{FF2B5EF4-FFF2-40B4-BE49-F238E27FC236}">
                  <a16:creationId xmlns:a16="http://schemas.microsoft.com/office/drawing/2014/main" id="{E4DD257F-04AC-A24D-88FF-854FA5C23F73}"/>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8" name="Oval 27">
              <a:extLst>
                <a:ext uri="{FF2B5EF4-FFF2-40B4-BE49-F238E27FC236}">
                  <a16:creationId xmlns:a16="http://schemas.microsoft.com/office/drawing/2014/main" id="{5213C9E2-C074-8E41-9E2C-446108A88941}"/>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9" name="Oval 28">
              <a:extLst>
                <a:ext uri="{FF2B5EF4-FFF2-40B4-BE49-F238E27FC236}">
                  <a16:creationId xmlns:a16="http://schemas.microsoft.com/office/drawing/2014/main" id="{913FD273-2574-C542-9F35-9CFE224A851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37" name="Group 36">
            <a:extLst>
              <a:ext uri="{FF2B5EF4-FFF2-40B4-BE49-F238E27FC236}">
                <a16:creationId xmlns:a16="http://schemas.microsoft.com/office/drawing/2014/main" id="{B4C6C081-2C6E-1E43-B9F6-A82C83F1ED0E}"/>
              </a:ext>
            </a:extLst>
          </p:cNvPr>
          <p:cNvGrpSpPr/>
          <p:nvPr/>
        </p:nvGrpSpPr>
        <p:grpSpPr>
          <a:xfrm>
            <a:off x="2840161" y="946345"/>
            <a:ext cx="2232578" cy="1546013"/>
            <a:chOff x="4767377" y="4052661"/>
            <a:chExt cx="2232578" cy="1546013"/>
          </a:xfrm>
        </p:grpSpPr>
        <p:sp>
          <p:nvSpPr>
            <p:cNvPr id="39" name="Rectangle 38">
              <a:extLst>
                <a:ext uri="{FF2B5EF4-FFF2-40B4-BE49-F238E27FC236}">
                  <a16:creationId xmlns:a16="http://schemas.microsoft.com/office/drawing/2014/main" id="{1A0684AF-2511-514C-91BA-BD8A46356612}"/>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2" name="Oval 41">
              <a:extLst>
                <a:ext uri="{FF2B5EF4-FFF2-40B4-BE49-F238E27FC236}">
                  <a16:creationId xmlns:a16="http://schemas.microsoft.com/office/drawing/2014/main" id="{A4CD347B-1249-3747-A32C-4791B7A9A54B}"/>
                </a:ext>
              </a:extLst>
            </p:cNvPr>
            <p:cNvSpPr/>
            <p:nvPr/>
          </p:nvSpPr>
          <p:spPr>
            <a:xfrm>
              <a:off x="4888424" y="4178676"/>
              <a:ext cx="956930" cy="894701"/>
            </a:xfrm>
            <a:prstGeom prst="ellipse">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3" name="Group 42">
            <a:extLst>
              <a:ext uri="{FF2B5EF4-FFF2-40B4-BE49-F238E27FC236}">
                <a16:creationId xmlns:a16="http://schemas.microsoft.com/office/drawing/2014/main" id="{FD400D72-BB55-DA42-A849-2679F4F881B8}"/>
              </a:ext>
            </a:extLst>
          </p:cNvPr>
          <p:cNvGrpSpPr/>
          <p:nvPr/>
        </p:nvGrpSpPr>
        <p:grpSpPr>
          <a:xfrm>
            <a:off x="5285998" y="951794"/>
            <a:ext cx="2232578" cy="1546013"/>
            <a:chOff x="4767377" y="4052661"/>
            <a:chExt cx="2232578" cy="1546013"/>
          </a:xfrm>
        </p:grpSpPr>
        <p:sp>
          <p:nvSpPr>
            <p:cNvPr id="45" name="Rectangle 44">
              <a:extLst>
                <a:ext uri="{FF2B5EF4-FFF2-40B4-BE49-F238E27FC236}">
                  <a16:creationId xmlns:a16="http://schemas.microsoft.com/office/drawing/2014/main" id="{665AB2DC-1884-1A4F-9D27-A75E231E255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6" name="Oval 45">
              <a:extLst>
                <a:ext uri="{FF2B5EF4-FFF2-40B4-BE49-F238E27FC236}">
                  <a16:creationId xmlns:a16="http://schemas.microsoft.com/office/drawing/2014/main" id="{571910C9-E85C-F34E-821C-505E005A877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47" name="Group 46">
            <a:extLst>
              <a:ext uri="{FF2B5EF4-FFF2-40B4-BE49-F238E27FC236}">
                <a16:creationId xmlns:a16="http://schemas.microsoft.com/office/drawing/2014/main" id="{09EDCD50-7F99-844C-8766-60D6F9D51D9F}"/>
              </a:ext>
            </a:extLst>
          </p:cNvPr>
          <p:cNvGrpSpPr/>
          <p:nvPr/>
        </p:nvGrpSpPr>
        <p:grpSpPr>
          <a:xfrm>
            <a:off x="7735582" y="944862"/>
            <a:ext cx="2232578" cy="1546013"/>
            <a:chOff x="4767377" y="4052661"/>
            <a:chExt cx="2232578" cy="1546013"/>
          </a:xfrm>
        </p:grpSpPr>
        <p:sp>
          <p:nvSpPr>
            <p:cNvPr id="48" name="Rectangle 47">
              <a:extLst>
                <a:ext uri="{FF2B5EF4-FFF2-40B4-BE49-F238E27FC236}">
                  <a16:creationId xmlns:a16="http://schemas.microsoft.com/office/drawing/2014/main" id="{E368DA67-2AFE-0E43-80EA-66F03FB4F3E3}"/>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B6CBC9C4-4DEB-C64A-BD85-C7DF666460CF}"/>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0" name="Oval 49">
              <a:extLst>
                <a:ext uri="{FF2B5EF4-FFF2-40B4-BE49-F238E27FC236}">
                  <a16:creationId xmlns:a16="http://schemas.microsoft.com/office/drawing/2014/main" id="{CEE4A95F-75A8-CB44-9F15-22500210E001}"/>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1" name="Oval 50">
              <a:extLst>
                <a:ext uri="{FF2B5EF4-FFF2-40B4-BE49-F238E27FC236}">
                  <a16:creationId xmlns:a16="http://schemas.microsoft.com/office/drawing/2014/main" id="{E875A031-B991-5247-A959-A9BFB7F4D44C}"/>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52" name="Group 51">
            <a:extLst>
              <a:ext uri="{FF2B5EF4-FFF2-40B4-BE49-F238E27FC236}">
                <a16:creationId xmlns:a16="http://schemas.microsoft.com/office/drawing/2014/main" id="{5BB835E0-E918-4B47-8FF3-0E90E73033EC}"/>
              </a:ext>
            </a:extLst>
          </p:cNvPr>
          <p:cNvGrpSpPr/>
          <p:nvPr/>
        </p:nvGrpSpPr>
        <p:grpSpPr>
          <a:xfrm>
            <a:off x="2814266" y="2681151"/>
            <a:ext cx="2232578" cy="1546013"/>
            <a:chOff x="4767377" y="4052661"/>
            <a:chExt cx="2232578" cy="1546013"/>
          </a:xfrm>
          <a:solidFill>
            <a:schemeClr val="bg2">
              <a:lumMod val="75000"/>
            </a:schemeClr>
          </a:solidFill>
        </p:grpSpPr>
        <p:sp>
          <p:nvSpPr>
            <p:cNvPr id="53" name="Rectangle 52">
              <a:extLst>
                <a:ext uri="{FF2B5EF4-FFF2-40B4-BE49-F238E27FC236}">
                  <a16:creationId xmlns:a16="http://schemas.microsoft.com/office/drawing/2014/main" id="{1CD35338-02B7-4444-AE73-0BB9408F39C5}"/>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58" name="Oval 57">
              <a:extLst>
                <a:ext uri="{FF2B5EF4-FFF2-40B4-BE49-F238E27FC236}">
                  <a16:creationId xmlns:a16="http://schemas.microsoft.com/office/drawing/2014/main" id="{85546894-4B91-8C4D-AEC3-33A020D59A1B}"/>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1" name="Group 60">
            <a:extLst>
              <a:ext uri="{FF2B5EF4-FFF2-40B4-BE49-F238E27FC236}">
                <a16:creationId xmlns:a16="http://schemas.microsoft.com/office/drawing/2014/main" id="{D93D9072-B6CA-6644-AA28-2A9098C1461F}"/>
              </a:ext>
            </a:extLst>
          </p:cNvPr>
          <p:cNvGrpSpPr/>
          <p:nvPr/>
        </p:nvGrpSpPr>
        <p:grpSpPr>
          <a:xfrm>
            <a:off x="5290282" y="2661361"/>
            <a:ext cx="2232578" cy="1546013"/>
            <a:chOff x="4767377" y="4052661"/>
            <a:chExt cx="2232578" cy="1546013"/>
          </a:xfrm>
          <a:solidFill>
            <a:schemeClr val="bg2">
              <a:lumMod val="75000"/>
            </a:schemeClr>
          </a:solidFill>
        </p:grpSpPr>
        <p:sp>
          <p:nvSpPr>
            <p:cNvPr id="62" name="Rectangle 61">
              <a:extLst>
                <a:ext uri="{FF2B5EF4-FFF2-40B4-BE49-F238E27FC236}">
                  <a16:creationId xmlns:a16="http://schemas.microsoft.com/office/drawing/2014/main" id="{9DCEE113-2696-0145-8348-7FE168D534CB}"/>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63" name="Oval 62">
              <a:extLst>
                <a:ext uri="{FF2B5EF4-FFF2-40B4-BE49-F238E27FC236}">
                  <a16:creationId xmlns:a16="http://schemas.microsoft.com/office/drawing/2014/main" id="{B7ECB756-F51A-1145-AAC8-519557DD4A95}"/>
                </a:ext>
              </a:extLst>
            </p:cNvPr>
            <p:cNvSpPr/>
            <p:nvPr/>
          </p:nvSpPr>
          <p:spPr>
            <a:xfrm>
              <a:off x="5651736" y="4071017"/>
              <a:ext cx="956930" cy="894701"/>
            </a:xfrm>
            <a:prstGeom prst="ellipse">
              <a:avLst/>
            </a:prstGeom>
            <a:solidFill>
              <a:srgbClr val="43B1E5"/>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68" name="Group 67">
            <a:extLst>
              <a:ext uri="{FF2B5EF4-FFF2-40B4-BE49-F238E27FC236}">
                <a16:creationId xmlns:a16="http://schemas.microsoft.com/office/drawing/2014/main" id="{9CFA805F-DB59-0B4A-8A78-4A9543CE4BB7}"/>
              </a:ext>
            </a:extLst>
          </p:cNvPr>
          <p:cNvGrpSpPr/>
          <p:nvPr/>
        </p:nvGrpSpPr>
        <p:grpSpPr>
          <a:xfrm>
            <a:off x="392551" y="2660024"/>
            <a:ext cx="2232578" cy="1546013"/>
            <a:chOff x="4767377" y="4052661"/>
            <a:chExt cx="2232578" cy="1546013"/>
          </a:xfrm>
        </p:grpSpPr>
        <p:sp>
          <p:nvSpPr>
            <p:cNvPr id="69" name="Rectangle 68">
              <a:extLst>
                <a:ext uri="{FF2B5EF4-FFF2-40B4-BE49-F238E27FC236}">
                  <a16:creationId xmlns:a16="http://schemas.microsoft.com/office/drawing/2014/main" id="{4DD4FD44-B8D1-F24D-9799-46F6019D2806}"/>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Oval 69">
              <a:extLst>
                <a:ext uri="{FF2B5EF4-FFF2-40B4-BE49-F238E27FC236}">
                  <a16:creationId xmlns:a16="http://schemas.microsoft.com/office/drawing/2014/main" id="{0D01D16E-E2A8-C547-846B-97101C634B38}"/>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1" name="Oval 70">
              <a:extLst>
                <a:ext uri="{FF2B5EF4-FFF2-40B4-BE49-F238E27FC236}">
                  <a16:creationId xmlns:a16="http://schemas.microsoft.com/office/drawing/2014/main" id="{2ABBB2E2-0959-0E47-A041-AFA5092FFD2D}"/>
                </a:ext>
              </a:extLst>
            </p:cNvPr>
            <p:cNvSpPr/>
            <p:nvPr/>
          </p:nvSpPr>
          <p:spPr>
            <a:xfrm>
              <a:off x="5651736" y="4071017"/>
              <a:ext cx="956930" cy="894701"/>
            </a:xfrm>
            <a:prstGeom prst="ellipse">
              <a:avLst/>
            </a:prstGeom>
            <a:solidFill>
              <a:schemeClr val="accent5">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2" name="Oval 71">
              <a:extLst>
                <a:ext uri="{FF2B5EF4-FFF2-40B4-BE49-F238E27FC236}">
                  <a16:creationId xmlns:a16="http://schemas.microsoft.com/office/drawing/2014/main" id="{64764BD2-6A38-8F41-9FBD-20B2E4773A10}"/>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73" name="Group 72">
            <a:extLst>
              <a:ext uri="{FF2B5EF4-FFF2-40B4-BE49-F238E27FC236}">
                <a16:creationId xmlns:a16="http://schemas.microsoft.com/office/drawing/2014/main" id="{2900BE9A-222C-F34F-85D2-40911B1A0472}"/>
              </a:ext>
            </a:extLst>
          </p:cNvPr>
          <p:cNvGrpSpPr/>
          <p:nvPr/>
        </p:nvGrpSpPr>
        <p:grpSpPr>
          <a:xfrm>
            <a:off x="392551" y="4375961"/>
            <a:ext cx="2232578" cy="1546013"/>
            <a:chOff x="4767377" y="4052661"/>
            <a:chExt cx="2232578" cy="1546013"/>
          </a:xfrm>
        </p:grpSpPr>
        <p:sp>
          <p:nvSpPr>
            <p:cNvPr id="74" name="Rectangle 73">
              <a:extLst>
                <a:ext uri="{FF2B5EF4-FFF2-40B4-BE49-F238E27FC236}">
                  <a16:creationId xmlns:a16="http://schemas.microsoft.com/office/drawing/2014/main" id="{F4811ECF-3823-ED44-AEA5-2371CA47DA09}"/>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086F7AE-DE56-A44C-A088-40C3EDD3B107}"/>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6" name="Oval 75">
              <a:extLst>
                <a:ext uri="{FF2B5EF4-FFF2-40B4-BE49-F238E27FC236}">
                  <a16:creationId xmlns:a16="http://schemas.microsoft.com/office/drawing/2014/main" id="{EE7C5E8D-1487-0A48-97B0-36ED785B2719}"/>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7" name="Oval 76">
              <a:extLst>
                <a:ext uri="{FF2B5EF4-FFF2-40B4-BE49-F238E27FC236}">
                  <a16:creationId xmlns:a16="http://schemas.microsoft.com/office/drawing/2014/main" id="{EC92B467-1749-3A4F-A91D-25A18BEFC8FA}"/>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78" name="Group 77">
            <a:extLst>
              <a:ext uri="{FF2B5EF4-FFF2-40B4-BE49-F238E27FC236}">
                <a16:creationId xmlns:a16="http://schemas.microsoft.com/office/drawing/2014/main" id="{44050444-3705-5D4C-ABA7-D11D5D6F7897}"/>
              </a:ext>
            </a:extLst>
          </p:cNvPr>
          <p:cNvGrpSpPr/>
          <p:nvPr/>
        </p:nvGrpSpPr>
        <p:grpSpPr>
          <a:xfrm>
            <a:off x="2801849" y="4379090"/>
            <a:ext cx="2232578" cy="1546013"/>
            <a:chOff x="4767377" y="4052661"/>
            <a:chExt cx="2232578" cy="1546013"/>
          </a:xfrm>
        </p:grpSpPr>
        <p:sp>
          <p:nvSpPr>
            <p:cNvPr id="79" name="Rectangle 78">
              <a:extLst>
                <a:ext uri="{FF2B5EF4-FFF2-40B4-BE49-F238E27FC236}">
                  <a16:creationId xmlns:a16="http://schemas.microsoft.com/office/drawing/2014/main" id="{B4225D62-651C-E042-9457-5FC58B68BF7D}"/>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80" name="Oval 79">
              <a:extLst>
                <a:ext uri="{FF2B5EF4-FFF2-40B4-BE49-F238E27FC236}">
                  <a16:creationId xmlns:a16="http://schemas.microsoft.com/office/drawing/2014/main" id="{8DE3E7A2-A59C-EF4D-A8F1-2F809E1812BD}"/>
                </a:ext>
              </a:extLst>
            </p:cNvPr>
            <p:cNvSpPr/>
            <p:nvPr/>
          </p:nvSpPr>
          <p:spPr>
            <a:xfrm>
              <a:off x="5405201" y="4573101"/>
              <a:ext cx="956930" cy="894701"/>
            </a:xfrm>
            <a:prstGeom prst="ellipse">
              <a:avLst/>
            </a:prstGeom>
            <a:solidFill>
              <a:schemeClr val="accent5">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4" name="Group 83">
            <a:extLst>
              <a:ext uri="{FF2B5EF4-FFF2-40B4-BE49-F238E27FC236}">
                <a16:creationId xmlns:a16="http://schemas.microsoft.com/office/drawing/2014/main" id="{84EDE78D-1420-644A-A249-B51C18E3444E}"/>
              </a:ext>
            </a:extLst>
          </p:cNvPr>
          <p:cNvGrpSpPr/>
          <p:nvPr/>
        </p:nvGrpSpPr>
        <p:grpSpPr>
          <a:xfrm>
            <a:off x="5247686" y="4379090"/>
            <a:ext cx="2232578" cy="1546013"/>
            <a:chOff x="4767377" y="4052661"/>
            <a:chExt cx="2232578" cy="1546013"/>
          </a:xfrm>
        </p:grpSpPr>
        <p:sp>
          <p:nvSpPr>
            <p:cNvPr id="85" name="Rectangle 84">
              <a:extLst>
                <a:ext uri="{FF2B5EF4-FFF2-40B4-BE49-F238E27FC236}">
                  <a16:creationId xmlns:a16="http://schemas.microsoft.com/office/drawing/2014/main" id="{CCFB8E6D-6782-ED49-81D5-CBF316D9E00F}"/>
                </a:ext>
              </a:extLst>
            </p:cNvPr>
            <p:cNvSpPr/>
            <p:nvPr/>
          </p:nvSpPr>
          <p:spPr>
            <a:xfrm>
              <a:off x="4767377" y="4052661"/>
              <a:ext cx="2232578" cy="1546013"/>
            </a:xfrm>
            <a:prstGeom prst="rect">
              <a:avLst/>
            </a:prstGeom>
            <a:solidFill>
              <a:schemeClr val="accent2">
                <a:lumMod val="20000"/>
                <a:lumOff val="8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6" name="Oval 85">
              <a:extLst>
                <a:ext uri="{FF2B5EF4-FFF2-40B4-BE49-F238E27FC236}">
                  <a16:creationId xmlns:a16="http://schemas.microsoft.com/office/drawing/2014/main" id="{C27F7A82-1FCE-304B-8ACB-A7E666821BFB}"/>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grpSp>
        <p:nvGrpSpPr>
          <p:cNvPr id="87" name="Group 86">
            <a:extLst>
              <a:ext uri="{FF2B5EF4-FFF2-40B4-BE49-F238E27FC236}">
                <a16:creationId xmlns:a16="http://schemas.microsoft.com/office/drawing/2014/main" id="{F75348C1-9D26-6F48-9BE6-726607348619}"/>
              </a:ext>
            </a:extLst>
          </p:cNvPr>
          <p:cNvGrpSpPr/>
          <p:nvPr/>
        </p:nvGrpSpPr>
        <p:grpSpPr>
          <a:xfrm>
            <a:off x="7735582" y="4375960"/>
            <a:ext cx="2232578" cy="1546013"/>
            <a:chOff x="4767377" y="4052661"/>
            <a:chExt cx="2232578" cy="1546013"/>
          </a:xfrm>
        </p:grpSpPr>
        <p:sp>
          <p:nvSpPr>
            <p:cNvPr id="88" name="Rectangle 87">
              <a:extLst>
                <a:ext uri="{FF2B5EF4-FFF2-40B4-BE49-F238E27FC236}">
                  <a16:creationId xmlns:a16="http://schemas.microsoft.com/office/drawing/2014/main" id="{DED9100E-8F98-5148-9C14-93BFF0D46B3C}"/>
                </a:ext>
              </a:extLst>
            </p:cNvPr>
            <p:cNvSpPr/>
            <p:nvPr/>
          </p:nvSpPr>
          <p:spPr>
            <a:xfrm>
              <a:off x="4767377" y="4052661"/>
              <a:ext cx="2232578" cy="1546013"/>
            </a:xfrm>
            <a:prstGeom prst="rect">
              <a:avLst/>
            </a:prstGeom>
            <a:solidFill>
              <a:schemeClr val="accent2">
                <a:lumMod val="60000"/>
                <a:lumOff val="40000"/>
              </a:schemeClr>
            </a:solidFill>
            <a:ln>
              <a:solidFill>
                <a:schemeClr val="bg2">
                  <a:lumMod val="60000"/>
                  <a:lumOff val="40000"/>
                </a:schemeClr>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9" name="Oval 88">
              <a:extLst>
                <a:ext uri="{FF2B5EF4-FFF2-40B4-BE49-F238E27FC236}">
                  <a16:creationId xmlns:a16="http://schemas.microsoft.com/office/drawing/2014/main" id="{B555DEA0-F236-054B-BE33-D9C94CACB95F}"/>
                </a:ext>
              </a:extLst>
            </p:cNvPr>
            <p:cNvSpPr/>
            <p:nvPr/>
          </p:nvSpPr>
          <p:spPr>
            <a:xfrm>
              <a:off x="5405201" y="4573101"/>
              <a:ext cx="956930" cy="894701"/>
            </a:xfrm>
            <a:prstGeom prst="ellipse">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0" name="Oval 89">
              <a:extLst>
                <a:ext uri="{FF2B5EF4-FFF2-40B4-BE49-F238E27FC236}">
                  <a16:creationId xmlns:a16="http://schemas.microsoft.com/office/drawing/2014/main" id="{91F19AE4-0FBE-CC4F-95CB-88FF24B4A43B}"/>
                </a:ext>
              </a:extLst>
            </p:cNvPr>
            <p:cNvSpPr/>
            <p:nvPr/>
          </p:nvSpPr>
          <p:spPr>
            <a:xfrm>
              <a:off x="5651736" y="4071017"/>
              <a:ext cx="956930" cy="894701"/>
            </a:xfrm>
            <a:prstGeom prst="ellipse">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1" name="Oval 90">
              <a:extLst>
                <a:ext uri="{FF2B5EF4-FFF2-40B4-BE49-F238E27FC236}">
                  <a16:creationId xmlns:a16="http://schemas.microsoft.com/office/drawing/2014/main" id="{B69A9F52-5071-5C4E-8F83-E53E37E5C03E}"/>
                </a:ext>
              </a:extLst>
            </p:cNvPr>
            <p:cNvSpPr/>
            <p:nvPr/>
          </p:nvSpPr>
          <p:spPr>
            <a:xfrm>
              <a:off x="4888424" y="4178676"/>
              <a:ext cx="956930" cy="894701"/>
            </a:xfrm>
            <a:prstGeom prst="ellipse">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grpSp>
    </p:spTree>
    <p:extLst>
      <p:ext uri="{BB962C8B-B14F-4D97-AF65-F5344CB8AC3E}">
        <p14:creationId xmlns:p14="http://schemas.microsoft.com/office/powerpoint/2010/main" val="352008772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p:txBody>
          <a:bodyPr/>
          <a:lstStyle/>
          <a:p>
            <a:r>
              <a:rPr lang="en-US" dirty="0"/>
              <a:t>Refactoring to supporting a different AMR library</a:t>
            </a:r>
          </a:p>
        </p:txBody>
      </p:sp>
      <p:sp>
        <p:nvSpPr>
          <p:cNvPr id="2" name="Title 1"/>
          <p:cNvSpPr>
            <a:spLocks noGrp="1"/>
          </p:cNvSpPr>
          <p:nvPr>
            <p:ph type="title"/>
          </p:nvPr>
        </p:nvSpPr>
        <p:spPr/>
        <p:txBody>
          <a:bodyPr/>
          <a:lstStyle/>
          <a:p>
            <a:r>
              <a:rPr lang="en-US" dirty="0"/>
              <a:t>A Real-World Example: FLASH to Flash-X</a:t>
            </a:r>
          </a:p>
        </p:txBody>
      </p:sp>
      <p:pic>
        <p:nvPicPr>
          <p:cNvPr id="9" name="Picture 8">
            <a:extLst>
              <a:ext uri="{FF2B5EF4-FFF2-40B4-BE49-F238E27FC236}">
                <a16:creationId xmlns:a16="http://schemas.microsoft.com/office/drawing/2014/main" id="{6F3ADAC1-15CD-8E44-946A-4A711DC4E27F}"/>
              </a:ext>
            </a:extLst>
          </p:cNvPr>
          <p:cNvPicPr>
            <a:picLocks noChangeAspect="1"/>
          </p:cNvPicPr>
          <p:nvPr/>
        </p:nvPicPr>
        <p:blipFill>
          <a:blip r:embed="rId3"/>
          <a:stretch>
            <a:fillRect/>
          </a:stretch>
        </p:blipFill>
        <p:spPr>
          <a:xfrm>
            <a:off x="5772231" y="2353796"/>
            <a:ext cx="4610100" cy="2616200"/>
          </a:xfrm>
          <a:prstGeom prst="rect">
            <a:avLst/>
          </a:prstGeom>
        </p:spPr>
      </p:pic>
      <p:sp>
        <p:nvSpPr>
          <p:cNvPr id="3" name="TextBox 2">
            <a:extLst>
              <a:ext uri="{FF2B5EF4-FFF2-40B4-BE49-F238E27FC236}">
                <a16:creationId xmlns:a16="http://schemas.microsoft.com/office/drawing/2014/main" id="{BCB57A9D-D6A7-6544-969C-564C5AE22E4E}"/>
              </a:ext>
            </a:extLst>
          </p:cNvPr>
          <p:cNvSpPr txBox="1"/>
          <p:nvPr/>
        </p:nvSpPr>
        <p:spPr>
          <a:xfrm>
            <a:off x="896910" y="1627079"/>
            <a:ext cx="3792618" cy="2870016"/>
          </a:xfrm>
          <a:prstGeom prst="rect">
            <a:avLst/>
          </a:prstGeom>
          <a:noFill/>
        </p:spPr>
        <p:txBody>
          <a:bodyPr wrap="square" rtlCol="0">
            <a:spAutoFit/>
          </a:bodyPr>
          <a:lstStyle/>
          <a:p>
            <a:endParaRPr lang="en-US" sz="1400" dirty="0"/>
          </a:p>
          <a:p>
            <a:endParaRPr lang="en-US" sz="1400" b="1" dirty="0"/>
          </a:p>
          <a:p>
            <a:r>
              <a:rPr lang="en-US" sz="1400" b="1" dirty="0"/>
              <a:t>Goal</a:t>
            </a:r>
            <a:r>
              <a:rPr lang="en-US" sz="1400" dirty="0"/>
              <a:t>: Replace Paramesh with </a:t>
            </a:r>
            <a:r>
              <a:rPr lang="en-US" sz="1400" dirty="0" err="1"/>
              <a:t>AMReX</a:t>
            </a:r>
            <a:endParaRPr lang="en-US" sz="1400" dirty="0"/>
          </a:p>
          <a:p>
            <a:endParaRPr lang="en-US" sz="1400" dirty="0"/>
          </a:p>
          <a:p>
            <a:r>
              <a:rPr lang="en-US" sz="1400" b="1" dirty="0"/>
              <a:t>Plan</a:t>
            </a:r>
            <a:r>
              <a:rPr lang="en-US" sz="1400" dirty="0"/>
              <a:t>: Getting there from here</a:t>
            </a:r>
          </a:p>
          <a:p>
            <a:pPr marL="285750" indent="-285750">
              <a:buFont typeface="Arial" panose="020B0604020202020204" pitchFamily="34" charset="0"/>
              <a:buChar char="•"/>
            </a:pPr>
            <a:r>
              <a:rPr lang="en-US" sz="1400" dirty="0"/>
              <a:t>On ramping</a:t>
            </a:r>
          </a:p>
          <a:p>
            <a:pPr marL="285750" indent="-285750">
              <a:buFont typeface="Arial" panose="020B0604020202020204" pitchFamily="34" charset="0"/>
              <a:buChar char="•"/>
            </a:pPr>
            <a:r>
              <a:rPr lang="en-US" sz="1400" dirty="0"/>
              <a:t>Design</a:t>
            </a:r>
          </a:p>
          <a:p>
            <a:pPr marL="285750" indent="-285750">
              <a:buFont typeface="Arial" panose="020B0604020202020204" pitchFamily="34" charset="0"/>
              <a:buChar char="•"/>
            </a:pPr>
            <a:r>
              <a:rPr lang="en-US" sz="1400" dirty="0"/>
              <a:t>Intermediate steps</a:t>
            </a:r>
          </a:p>
          <a:p>
            <a:pPr marL="285750" indent="-285750">
              <a:buFont typeface="Arial" panose="020B0604020202020204" pitchFamily="34" charset="0"/>
              <a:buChar char="•"/>
            </a:pPr>
            <a:r>
              <a:rPr lang="en-US" sz="1400" dirty="0"/>
              <a:t>Realizing the goal</a:t>
            </a:r>
          </a:p>
          <a:p>
            <a:pPr marL="285750" indent="-285750">
              <a:buFont typeface="Arial" panose="020B0604020202020204" pitchFamily="34" charset="0"/>
              <a:buChar char="•"/>
            </a:pPr>
            <a:endParaRPr lang="en-US" sz="1400" dirty="0"/>
          </a:p>
          <a:p>
            <a:pPr marL="285755" indent="-285755">
              <a:buFont typeface="Arial" panose="020B0604020202020204" pitchFamily="34" charset="0"/>
              <a:buChar char="•"/>
            </a:pPr>
            <a:endParaRPr lang="en-US" sz="1350" dirty="0"/>
          </a:p>
          <a:p>
            <a:endParaRPr lang="en-US" sz="1350" dirty="0"/>
          </a:p>
          <a:p>
            <a:endParaRPr lang="en-US" sz="1350" dirty="0"/>
          </a:p>
        </p:txBody>
      </p:sp>
    </p:spTree>
    <p:extLst>
      <p:ext uri="{BB962C8B-B14F-4D97-AF65-F5344CB8AC3E}">
        <p14:creationId xmlns:p14="http://schemas.microsoft.com/office/powerpoint/2010/main" val="32734371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type="body" sz="quarter" idx="12"/>
          </p:nvPr>
        </p:nvSpPr>
        <p:spPr/>
        <p:txBody>
          <a:bodyPr/>
          <a:lstStyle/>
          <a:p>
            <a:r>
              <a:rPr lang="en-US" dirty="0"/>
              <a:t>Refactoring to supporting a different AMR library</a:t>
            </a:r>
          </a:p>
        </p:txBody>
      </p:sp>
      <p:sp>
        <p:nvSpPr>
          <p:cNvPr id="2" name="Title 1"/>
          <p:cNvSpPr>
            <a:spLocks noGrp="1"/>
          </p:cNvSpPr>
          <p:nvPr>
            <p:ph type="title"/>
          </p:nvPr>
        </p:nvSpPr>
        <p:spPr/>
        <p:txBody>
          <a:bodyPr/>
          <a:lstStyle/>
          <a:p>
            <a:r>
              <a:rPr lang="en-US" dirty="0"/>
              <a:t>A Real-World Example: FLASH to Flash-X</a:t>
            </a:r>
          </a:p>
        </p:txBody>
      </p:sp>
      <p:pic>
        <p:nvPicPr>
          <p:cNvPr id="9" name="Picture 8">
            <a:extLst>
              <a:ext uri="{FF2B5EF4-FFF2-40B4-BE49-F238E27FC236}">
                <a16:creationId xmlns:a16="http://schemas.microsoft.com/office/drawing/2014/main" id="{6F3ADAC1-15CD-8E44-946A-4A711DC4E27F}"/>
              </a:ext>
            </a:extLst>
          </p:cNvPr>
          <p:cNvPicPr>
            <a:picLocks noChangeAspect="1"/>
          </p:cNvPicPr>
          <p:nvPr/>
        </p:nvPicPr>
        <p:blipFill>
          <a:blip r:embed="rId3"/>
          <a:stretch>
            <a:fillRect/>
          </a:stretch>
        </p:blipFill>
        <p:spPr>
          <a:xfrm>
            <a:off x="5772231" y="2353796"/>
            <a:ext cx="4610100" cy="2616200"/>
          </a:xfrm>
          <a:prstGeom prst="rect">
            <a:avLst/>
          </a:prstGeom>
        </p:spPr>
      </p:pic>
      <p:sp>
        <p:nvSpPr>
          <p:cNvPr id="3" name="TextBox 2">
            <a:extLst>
              <a:ext uri="{FF2B5EF4-FFF2-40B4-BE49-F238E27FC236}">
                <a16:creationId xmlns:a16="http://schemas.microsoft.com/office/drawing/2014/main" id="{BCB57A9D-D6A7-6544-969C-564C5AE22E4E}"/>
              </a:ext>
            </a:extLst>
          </p:cNvPr>
          <p:cNvSpPr txBox="1"/>
          <p:nvPr/>
        </p:nvSpPr>
        <p:spPr>
          <a:xfrm>
            <a:off x="896910" y="1627079"/>
            <a:ext cx="3792618" cy="2870016"/>
          </a:xfrm>
          <a:prstGeom prst="rect">
            <a:avLst/>
          </a:prstGeom>
          <a:noFill/>
        </p:spPr>
        <p:txBody>
          <a:bodyPr wrap="square" rtlCol="0">
            <a:spAutoFit/>
          </a:bodyPr>
          <a:lstStyle/>
          <a:p>
            <a:endParaRPr lang="en-US" sz="1400" dirty="0"/>
          </a:p>
          <a:p>
            <a:endParaRPr lang="en-US" sz="1400" b="1" dirty="0"/>
          </a:p>
          <a:p>
            <a:r>
              <a:rPr lang="en-US" sz="1400" b="1" dirty="0"/>
              <a:t>Goal</a:t>
            </a:r>
            <a:r>
              <a:rPr lang="en-US" sz="1400" dirty="0"/>
              <a:t>: Replace Paramesh with </a:t>
            </a:r>
            <a:r>
              <a:rPr lang="en-US" sz="1400" dirty="0" err="1"/>
              <a:t>AMReX</a:t>
            </a:r>
            <a:endParaRPr lang="en-US" sz="1400" dirty="0"/>
          </a:p>
          <a:p>
            <a:endParaRPr lang="en-US" sz="1400" dirty="0"/>
          </a:p>
          <a:p>
            <a:r>
              <a:rPr lang="en-US" sz="1400" b="1" dirty="0"/>
              <a:t>Plan</a:t>
            </a:r>
            <a:r>
              <a:rPr lang="en-US" sz="1400" dirty="0"/>
              <a:t>: Getting there from here</a:t>
            </a:r>
          </a:p>
          <a:p>
            <a:pPr marL="285750" indent="-285750">
              <a:buFont typeface="Arial" panose="020B0604020202020204" pitchFamily="34" charset="0"/>
              <a:buChar char="•"/>
            </a:pPr>
            <a:r>
              <a:rPr lang="en-US" sz="1400" dirty="0"/>
              <a:t>On ramping</a:t>
            </a:r>
          </a:p>
          <a:p>
            <a:pPr marL="285750" indent="-285750">
              <a:buFont typeface="Arial" panose="020B0604020202020204" pitchFamily="34" charset="0"/>
              <a:buChar char="•"/>
            </a:pPr>
            <a:r>
              <a:rPr lang="en-US" sz="1400" dirty="0"/>
              <a:t>Design</a:t>
            </a:r>
          </a:p>
          <a:p>
            <a:pPr marL="285750" indent="-285750">
              <a:buFont typeface="Arial" panose="020B0604020202020204" pitchFamily="34" charset="0"/>
              <a:buChar char="•"/>
            </a:pPr>
            <a:r>
              <a:rPr lang="en-US" sz="1400" dirty="0"/>
              <a:t>Intermediate steps</a:t>
            </a:r>
          </a:p>
          <a:p>
            <a:pPr marL="285750" indent="-285750">
              <a:buFont typeface="Arial" panose="020B0604020202020204" pitchFamily="34" charset="0"/>
              <a:buChar char="•"/>
            </a:pPr>
            <a:r>
              <a:rPr lang="en-US" sz="1400" dirty="0"/>
              <a:t>Realizing the goal</a:t>
            </a:r>
          </a:p>
          <a:p>
            <a:pPr marL="285750" indent="-285750">
              <a:buFont typeface="Arial" panose="020B0604020202020204" pitchFamily="34" charset="0"/>
              <a:buChar char="•"/>
            </a:pPr>
            <a:endParaRPr lang="en-US" sz="1400" dirty="0"/>
          </a:p>
          <a:p>
            <a:pPr marL="285755" indent="-285755">
              <a:buFont typeface="Arial" panose="020B0604020202020204" pitchFamily="34" charset="0"/>
              <a:buChar char="•"/>
            </a:pPr>
            <a:endParaRPr lang="en-US" sz="1350" dirty="0"/>
          </a:p>
          <a:p>
            <a:endParaRPr lang="en-US" sz="1350" dirty="0"/>
          </a:p>
          <a:p>
            <a:endParaRPr lang="en-US" sz="1350" dirty="0"/>
          </a:p>
        </p:txBody>
      </p:sp>
      <p:sp>
        <p:nvSpPr>
          <p:cNvPr id="7" name="Content Placeholder 2">
            <a:extLst>
              <a:ext uri="{FF2B5EF4-FFF2-40B4-BE49-F238E27FC236}">
                <a16:creationId xmlns:a16="http://schemas.microsoft.com/office/drawing/2014/main" id="{E55DE92F-BBBF-0852-12B9-03CB4769B091}"/>
              </a:ext>
            </a:extLst>
          </p:cNvPr>
          <p:cNvSpPr>
            <a:spLocks noGrp="1"/>
          </p:cNvSpPr>
          <p:nvPr>
            <p:ph idx="1"/>
          </p:nvPr>
        </p:nvSpPr>
        <p:spPr>
          <a:xfrm>
            <a:off x="991443" y="3918032"/>
            <a:ext cx="4610100" cy="2103927"/>
          </a:xfrm>
        </p:spPr>
        <p:txBody>
          <a:bodyPr>
            <a:normAutofit fontScale="77500" lnSpcReduction="20000"/>
          </a:bodyPr>
          <a:lstStyle/>
          <a:p>
            <a:r>
              <a:rPr lang="en-US" dirty="0"/>
              <a:t>Cost estimation</a:t>
            </a:r>
          </a:p>
          <a:p>
            <a:pPr lvl="1"/>
            <a:r>
              <a:rPr lang="en-US" dirty="0"/>
              <a:t>Expected developer time </a:t>
            </a:r>
          </a:p>
          <a:p>
            <a:pPr lvl="1"/>
            <a:r>
              <a:rPr lang="en-US" dirty="0"/>
              <a:t>Extent of disruption in production schedules</a:t>
            </a:r>
          </a:p>
          <a:p>
            <a:r>
              <a:rPr lang="en-US" dirty="0"/>
              <a:t>Get a buy-in from the stakeholders</a:t>
            </a:r>
          </a:p>
          <a:p>
            <a:pPr lvl="1"/>
            <a:r>
              <a:rPr lang="en-US" dirty="0"/>
              <a:t>That includes the users</a:t>
            </a:r>
          </a:p>
          <a:p>
            <a:pPr lvl="1"/>
            <a:r>
              <a:rPr lang="en-US" dirty="0"/>
              <a:t>For both development time and disruption</a:t>
            </a:r>
          </a:p>
          <a:p>
            <a:pPr lvl="1"/>
            <a:endParaRPr lang="en-US" dirty="0"/>
          </a:p>
        </p:txBody>
      </p:sp>
    </p:spTree>
    <p:extLst>
      <p:ext uri="{BB962C8B-B14F-4D97-AF65-F5344CB8AC3E}">
        <p14:creationId xmlns:p14="http://schemas.microsoft.com/office/powerpoint/2010/main" val="38882151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Flash-X Refactoring : a mix of strategies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8" name="Rectangle 7">
            <a:extLst>
              <a:ext uri="{FF2B5EF4-FFF2-40B4-BE49-F238E27FC236}">
                <a16:creationId xmlns:a16="http://schemas.microsoft.com/office/drawing/2014/main" id="{536E88DB-86F6-D14F-86CE-50EC5CBFE3C4}"/>
              </a:ext>
            </a:extLst>
          </p:cNvPr>
          <p:cNvSpPr/>
          <p:nvPr/>
        </p:nvSpPr>
        <p:spPr>
          <a:xfrm>
            <a:off x="4000500" y="1123950"/>
            <a:ext cx="4114800"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6" name="Rectangle 5">
            <a:extLst>
              <a:ext uri="{FF2B5EF4-FFF2-40B4-BE49-F238E27FC236}">
                <a16:creationId xmlns:a16="http://schemas.microsoft.com/office/drawing/2014/main" id="{A5B6EE5A-1EFD-3246-8021-016544B18DC4}"/>
              </a:ext>
            </a:extLst>
          </p:cNvPr>
          <p:cNvSpPr/>
          <p:nvPr/>
        </p:nvSpPr>
        <p:spPr>
          <a:xfrm>
            <a:off x="2647506" y="3429000"/>
            <a:ext cx="3217235" cy="3324200"/>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16980231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Flash-X Refactoring : a mix of strategies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8" name="Rectangle 7">
            <a:extLst>
              <a:ext uri="{FF2B5EF4-FFF2-40B4-BE49-F238E27FC236}">
                <a16:creationId xmlns:a16="http://schemas.microsoft.com/office/drawing/2014/main" id="{536E88DB-86F6-D14F-86CE-50EC5CBFE3C4}"/>
              </a:ext>
            </a:extLst>
          </p:cNvPr>
          <p:cNvSpPr/>
          <p:nvPr/>
        </p:nvSpPr>
        <p:spPr>
          <a:xfrm>
            <a:off x="4000500" y="1123950"/>
            <a:ext cx="4114800"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41E1A88C-7D5F-454E-B32C-4F152E97D1F4}"/>
              </a:ext>
            </a:extLst>
          </p:cNvPr>
          <p:cNvSpPr txBox="1"/>
          <p:nvPr/>
        </p:nvSpPr>
        <p:spPr>
          <a:xfrm>
            <a:off x="4667692" y="3806951"/>
            <a:ext cx="1850067" cy="1431161"/>
          </a:xfrm>
          <a:prstGeom prst="rect">
            <a:avLst/>
          </a:prstGeom>
          <a:noFill/>
        </p:spPr>
        <p:txBody>
          <a:bodyPr wrap="square" lIns="118872" tIns="91440" rIns="118872" bIns="91440" rtlCol="0" anchor="ctr" anchorCtr="0">
            <a:spAutoFit/>
          </a:bodyPr>
          <a:lstStyle/>
          <a:p>
            <a:pPr algn="l">
              <a:lnSpc>
                <a:spcPct val="90000"/>
              </a:lnSpc>
            </a:pPr>
            <a:r>
              <a:rPr lang="en-US" dirty="0"/>
              <a:t>Part of a simpler environment for refactoring and testing </a:t>
            </a:r>
          </a:p>
        </p:txBody>
      </p:sp>
      <p:cxnSp>
        <p:nvCxnSpPr>
          <p:cNvPr id="5" name="Straight Arrow Connector 4">
            <a:extLst>
              <a:ext uri="{FF2B5EF4-FFF2-40B4-BE49-F238E27FC236}">
                <a16:creationId xmlns:a16="http://schemas.microsoft.com/office/drawing/2014/main" id="{E6813FCF-81D0-694A-8C12-CDF21FE4EC10}"/>
              </a:ext>
            </a:extLst>
          </p:cNvPr>
          <p:cNvCxnSpPr/>
          <p:nvPr/>
        </p:nvCxnSpPr>
        <p:spPr>
          <a:xfrm flipH="1">
            <a:off x="4000500" y="4614530"/>
            <a:ext cx="465174" cy="393405"/>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78708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294A1392-E665-6D49-9DFC-CEBB383689E2}"/>
              </a:ext>
            </a:extLst>
          </p:cNvPr>
          <p:cNvSpPr/>
          <p:nvPr/>
        </p:nvSpPr>
        <p:spPr>
          <a:xfrm>
            <a:off x="5554663" y="1191192"/>
            <a:ext cx="4065588"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 name="Rectangle 4">
            <a:extLst>
              <a:ext uri="{FF2B5EF4-FFF2-40B4-BE49-F238E27FC236}">
                <a16:creationId xmlns:a16="http://schemas.microsoft.com/office/drawing/2014/main" id="{9CC29F18-C33A-FC47-857C-F1429336F1A3}"/>
              </a:ext>
            </a:extLst>
          </p:cNvPr>
          <p:cNvSpPr/>
          <p:nvPr/>
        </p:nvSpPr>
        <p:spPr>
          <a:xfrm>
            <a:off x="3912781" y="723849"/>
            <a:ext cx="2513785" cy="276307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Right Brace 2">
            <a:extLst>
              <a:ext uri="{FF2B5EF4-FFF2-40B4-BE49-F238E27FC236}">
                <a16:creationId xmlns:a16="http://schemas.microsoft.com/office/drawing/2014/main" id="{50BBE552-F789-0048-9128-3AC76414B540}"/>
              </a:ext>
            </a:extLst>
          </p:cNvPr>
          <p:cNvSpPr/>
          <p:nvPr/>
        </p:nvSpPr>
        <p:spPr>
          <a:xfrm>
            <a:off x="5433236" y="3606958"/>
            <a:ext cx="404037" cy="116706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FAEF00C9-B5CB-A840-A75C-A027EEA846F7}"/>
              </a:ext>
            </a:extLst>
          </p:cNvPr>
          <p:cNvSpPr txBox="1"/>
          <p:nvPr/>
        </p:nvSpPr>
        <p:spPr>
          <a:xfrm>
            <a:off x="5955338" y="3474907"/>
            <a:ext cx="1885821" cy="1431161"/>
          </a:xfrm>
          <a:prstGeom prst="rect">
            <a:avLst/>
          </a:prstGeom>
          <a:noFill/>
        </p:spPr>
        <p:txBody>
          <a:bodyPr wrap="square" lIns="118872" tIns="91440" rIns="118872" bIns="91440" rtlCol="0" anchor="ctr" anchorCtr="0">
            <a:spAutoFit/>
          </a:bodyPr>
          <a:lstStyle/>
          <a:p>
            <a:pPr algn="l">
              <a:lnSpc>
                <a:spcPct val="90000"/>
              </a:lnSpc>
            </a:pPr>
            <a:r>
              <a:rPr lang="en-US" dirty="0"/>
              <a:t>built to resemble behavior expected by </a:t>
            </a:r>
            <a:r>
              <a:rPr lang="en-US" dirty="0" err="1"/>
              <a:t>AMReX</a:t>
            </a:r>
            <a:endParaRPr lang="en-US" dirty="0"/>
          </a:p>
        </p:txBody>
      </p:sp>
    </p:spTree>
    <p:extLst>
      <p:ext uri="{BB962C8B-B14F-4D97-AF65-F5344CB8AC3E}">
        <p14:creationId xmlns:p14="http://schemas.microsoft.com/office/powerpoint/2010/main" val="6585688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294A1392-E665-6D49-9DFC-CEBB383689E2}"/>
              </a:ext>
            </a:extLst>
          </p:cNvPr>
          <p:cNvSpPr/>
          <p:nvPr/>
        </p:nvSpPr>
        <p:spPr>
          <a:xfrm>
            <a:off x="5554663" y="1191192"/>
            <a:ext cx="4065588" cy="4831534"/>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Right Brace 2">
            <a:extLst>
              <a:ext uri="{FF2B5EF4-FFF2-40B4-BE49-F238E27FC236}">
                <a16:creationId xmlns:a16="http://schemas.microsoft.com/office/drawing/2014/main" id="{F0E705DA-B9AD-B54B-884B-9DA0139CD0EB}"/>
              </a:ext>
            </a:extLst>
          </p:cNvPr>
          <p:cNvSpPr/>
          <p:nvPr/>
        </p:nvSpPr>
        <p:spPr>
          <a:xfrm>
            <a:off x="5411972" y="2083981"/>
            <a:ext cx="350875" cy="1345019"/>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6FE48D63-01F4-3E4E-B9D2-57E10C8B8470}"/>
              </a:ext>
            </a:extLst>
          </p:cNvPr>
          <p:cNvSpPr txBox="1"/>
          <p:nvPr/>
        </p:nvSpPr>
        <p:spPr>
          <a:xfrm>
            <a:off x="5870207" y="2083981"/>
            <a:ext cx="1658680" cy="1431161"/>
          </a:xfrm>
          <a:prstGeom prst="rect">
            <a:avLst/>
          </a:prstGeom>
          <a:noFill/>
        </p:spPr>
        <p:txBody>
          <a:bodyPr wrap="square" lIns="118872" tIns="91440" rIns="118872" bIns="91440" rtlCol="0" anchor="ctr" anchorCtr="0">
            <a:spAutoFit/>
          </a:bodyPr>
          <a:lstStyle/>
          <a:p>
            <a:pPr algn="l">
              <a:lnSpc>
                <a:spcPct val="90000"/>
              </a:lnSpc>
            </a:pPr>
            <a:r>
              <a:rPr lang="en-US" dirty="0"/>
              <a:t>Refactored Grid interface made compatible with </a:t>
            </a:r>
            <a:r>
              <a:rPr lang="en-US" dirty="0" err="1"/>
              <a:t>AMReX</a:t>
            </a:r>
            <a:endParaRPr lang="en-US" dirty="0"/>
          </a:p>
        </p:txBody>
      </p:sp>
    </p:spTree>
    <p:extLst>
      <p:ext uri="{BB962C8B-B14F-4D97-AF65-F5344CB8AC3E}">
        <p14:creationId xmlns:p14="http://schemas.microsoft.com/office/powerpoint/2010/main" val="244089053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8E90E2CD-7C5B-8947-8F33-968401F90289}"/>
              </a:ext>
            </a:extLst>
          </p:cNvPr>
          <p:cNvSpPr/>
          <p:nvPr/>
        </p:nvSpPr>
        <p:spPr>
          <a:xfrm>
            <a:off x="6994600" y="1061266"/>
            <a:ext cx="1787450" cy="4894218"/>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5" name="Rectangle 4">
            <a:extLst>
              <a:ext uri="{FF2B5EF4-FFF2-40B4-BE49-F238E27FC236}">
                <a16:creationId xmlns:a16="http://schemas.microsoft.com/office/drawing/2014/main" id="{992A2E56-3A04-9B4C-8536-E2223B95B046}"/>
              </a:ext>
            </a:extLst>
          </p:cNvPr>
          <p:cNvSpPr/>
          <p:nvPr/>
        </p:nvSpPr>
        <p:spPr>
          <a:xfrm>
            <a:off x="5543781" y="733183"/>
            <a:ext cx="1261056" cy="2695817"/>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28AF8A39-F555-CF4A-AF21-760F4EAF1E00}"/>
              </a:ext>
            </a:extLst>
          </p:cNvPr>
          <p:cNvSpPr txBox="1"/>
          <p:nvPr/>
        </p:nvSpPr>
        <p:spPr>
          <a:xfrm>
            <a:off x="7419902" y="3143783"/>
            <a:ext cx="1534945" cy="2179058"/>
          </a:xfrm>
          <a:prstGeom prst="rect">
            <a:avLst/>
          </a:prstGeom>
          <a:noFill/>
        </p:spPr>
        <p:txBody>
          <a:bodyPr wrap="square" lIns="118872" tIns="91440" rIns="118872" bIns="91440" rtlCol="0" anchor="ctr" anchorCtr="0">
            <a:spAutoFit/>
          </a:bodyPr>
          <a:lstStyle/>
          <a:p>
            <a:pPr algn="l">
              <a:lnSpc>
                <a:spcPct val="90000"/>
              </a:lnSpc>
            </a:pPr>
            <a:r>
              <a:rPr lang="en-US" dirty="0"/>
              <a:t>Bring back the real environment but turn off some features related to AMR</a:t>
            </a:r>
          </a:p>
        </p:txBody>
      </p:sp>
      <p:cxnSp>
        <p:nvCxnSpPr>
          <p:cNvPr id="7" name="Straight Arrow Connector 6">
            <a:extLst>
              <a:ext uri="{FF2B5EF4-FFF2-40B4-BE49-F238E27FC236}">
                <a16:creationId xmlns:a16="http://schemas.microsoft.com/office/drawing/2014/main" id="{EDCB1090-7BF0-6945-A5CA-88D0A664812F}"/>
              </a:ext>
            </a:extLst>
          </p:cNvPr>
          <p:cNvCxnSpPr/>
          <p:nvPr/>
        </p:nvCxnSpPr>
        <p:spPr>
          <a:xfrm flipH="1">
            <a:off x="6879265" y="4306186"/>
            <a:ext cx="425302" cy="393405"/>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54269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
        <p:nvSpPr>
          <p:cNvPr id="6" name="Rectangle 5">
            <a:extLst>
              <a:ext uri="{FF2B5EF4-FFF2-40B4-BE49-F238E27FC236}">
                <a16:creationId xmlns:a16="http://schemas.microsoft.com/office/drawing/2014/main" id="{8E90E2CD-7C5B-8947-8F33-968401F90289}"/>
              </a:ext>
            </a:extLst>
          </p:cNvPr>
          <p:cNvSpPr/>
          <p:nvPr/>
        </p:nvSpPr>
        <p:spPr>
          <a:xfrm>
            <a:off x="6994600" y="1061266"/>
            <a:ext cx="1787450" cy="4894218"/>
          </a:xfrm>
          <a:prstGeom prst="rect">
            <a:avLst/>
          </a:prstGeom>
          <a:solidFill>
            <a:schemeClr val="bg1"/>
          </a:solidFill>
          <a:ln>
            <a:noFill/>
          </a:ln>
          <a:effectLst>
            <a:outerShdw blurRad="44450" dist="27940" dir="5400000" algn="ctr">
              <a:schemeClr val="bg1">
                <a:alpha val="32000"/>
              </a:scheme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3" name="TextBox 2">
            <a:extLst>
              <a:ext uri="{FF2B5EF4-FFF2-40B4-BE49-F238E27FC236}">
                <a16:creationId xmlns:a16="http://schemas.microsoft.com/office/drawing/2014/main" id="{9BFC18D9-DDA2-BC47-A0D3-8233412B6FA0}"/>
              </a:ext>
            </a:extLst>
          </p:cNvPr>
          <p:cNvSpPr txBox="1"/>
          <p:nvPr/>
        </p:nvSpPr>
        <p:spPr>
          <a:xfrm>
            <a:off x="7496038" y="2105386"/>
            <a:ext cx="1488558" cy="1680460"/>
          </a:xfrm>
          <a:prstGeom prst="rect">
            <a:avLst/>
          </a:prstGeom>
          <a:noFill/>
        </p:spPr>
        <p:txBody>
          <a:bodyPr wrap="square" lIns="118872" tIns="91440" rIns="118872" bIns="91440" rtlCol="0" anchor="ctr" anchorCtr="0">
            <a:spAutoFit/>
          </a:bodyPr>
          <a:lstStyle/>
          <a:p>
            <a:pPr algn="l">
              <a:lnSpc>
                <a:spcPct val="90000"/>
              </a:lnSpc>
            </a:pPr>
            <a:r>
              <a:rPr lang="en-US" dirty="0"/>
              <a:t>Turn on all AMR features needed in the final stage</a:t>
            </a:r>
          </a:p>
        </p:txBody>
      </p:sp>
      <p:cxnSp>
        <p:nvCxnSpPr>
          <p:cNvPr id="5" name="Straight Arrow Connector 4">
            <a:extLst>
              <a:ext uri="{FF2B5EF4-FFF2-40B4-BE49-F238E27FC236}">
                <a16:creationId xmlns:a16="http://schemas.microsoft.com/office/drawing/2014/main" id="{F14949D7-0F65-E748-898A-58EC12412C79}"/>
              </a:ext>
            </a:extLst>
          </p:cNvPr>
          <p:cNvCxnSpPr>
            <a:cxnSpLocks/>
          </p:cNvCxnSpPr>
          <p:nvPr/>
        </p:nvCxnSpPr>
        <p:spPr>
          <a:xfrm flipH="1" flipV="1">
            <a:off x="6783573" y="2456122"/>
            <a:ext cx="595422" cy="308343"/>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17359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Steps in the Process</a:t>
            </a:r>
          </a:p>
        </p:txBody>
      </p:sp>
      <p:pic>
        <p:nvPicPr>
          <p:cNvPr id="10" name="Content Placeholder 6">
            <a:extLst>
              <a:ext uri="{FF2B5EF4-FFF2-40B4-BE49-F238E27FC236}">
                <a16:creationId xmlns:a16="http://schemas.microsoft.com/office/drawing/2014/main" id="{62426650-9F82-EB44-8ED8-BA2D3B851310}"/>
              </a:ext>
            </a:extLst>
          </p:cNvPr>
          <p:cNvPicPr>
            <a:picLocks noChangeAspect="1"/>
          </p:cNvPicPr>
          <p:nvPr/>
        </p:nvPicPr>
        <p:blipFill>
          <a:blip r:embed="rId2"/>
          <a:stretch>
            <a:fillRect/>
          </a:stretch>
        </p:blipFill>
        <p:spPr>
          <a:xfrm>
            <a:off x="1302460" y="1258433"/>
            <a:ext cx="6812840" cy="4697051"/>
          </a:xfrm>
          <a:prstGeom prst="rect">
            <a:avLst/>
          </a:prstGeom>
        </p:spPr>
      </p:pic>
    </p:spTree>
    <p:extLst>
      <p:ext uri="{BB962C8B-B14F-4D97-AF65-F5344CB8AC3E}">
        <p14:creationId xmlns:p14="http://schemas.microsoft.com/office/powerpoint/2010/main" val="61437220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4026D64-CF81-4590-8E7D-51586DE803B8}"/>
              </a:ext>
            </a:extLst>
          </p:cNvPr>
          <p:cNvSpPr>
            <a:spLocks noGrp="1"/>
          </p:cNvSpPr>
          <p:nvPr>
            <p:ph type="title"/>
          </p:nvPr>
        </p:nvSpPr>
        <p:spPr>
          <a:xfrm>
            <a:off x="365760" y="411480"/>
            <a:ext cx="11372473" cy="914400"/>
          </a:xfrm>
        </p:spPr>
        <p:txBody>
          <a:bodyPr/>
          <a:lstStyle/>
          <a:p>
            <a:r>
              <a:rPr lang="en-US"/>
              <a:t>To Have a Good </a:t>
            </a:r>
            <a:r>
              <a:rPr lang="en-US" dirty="0"/>
              <a:t>O</a:t>
            </a:r>
            <a:r>
              <a:rPr lang="en-US"/>
              <a:t>utcome from Refactoring</a:t>
            </a:r>
            <a:endParaRPr lang="en-US" dirty="0"/>
          </a:p>
        </p:txBody>
      </p:sp>
      <p:sp>
        <p:nvSpPr>
          <p:cNvPr id="4" name="Content Placeholder 3">
            <a:extLst>
              <a:ext uri="{FF2B5EF4-FFF2-40B4-BE49-F238E27FC236}">
                <a16:creationId xmlns:a16="http://schemas.microsoft.com/office/drawing/2014/main" id="{F0098609-3DB0-410A-ACC1-6699EBD68CF4}"/>
              </a:ext>
            </a:extLst>
          </p:cNvPr>
          <p:cNvSpPr>
            <a:spLocks noGrp="1"/>
          </p:cNvSpPr>
          <p:nvPr>
            <p:ph idx="1"/>
          </p:nvPr>
        </p:nvSpPr>
        <p:spPr>
          <a:xfrm>
            <a:off x="365760" y="1737360"/>
            <a:ext cx="11369809" cy="4047778"/>
          </a:xfrm>
        </p:spPr>
        <p:txBody>
          <a:bodyPr/>
          <a:lstStyle/>
          <a:p>
            <a:pPr marL="457200" indent="-457200">
              <a:buFont typeface="+mj-lt"/>
              <a:buAutoNum type="arabicPeriod"/>
            </a:pPr>
            <a:r>
              <a:rPr lang="en-US" dirty="0"/>
              <a:t>Know why</a:t>
            </a:r>
          </a:p>
          <a:p>
            <a:pPr marL="457200" indent="-457200">
              <a:buFont typeface="+mj-lt"/>
              <a:buAutoNum type="arabicPeriod"/>
            </a:pPr>
            <a:r>
              <a:rPr lang="en-US" dirty="0"/>
              <a:t>Know how much</a:t>
            </a:r>
          </a:p>
          <a:p>
            <a:pPr marL="457200" indent="-457200">
              <a:buFont typeface="+mj-lt"/>
              <a:buAutoNum type="arabicPeriod"/>
            </a:pPr>
            <a:r>
              <a:rPr lang="en-US" dirty="0"/>
              <a:t>Know the cost</a:t>
            </a:r>
          </a:p>
          <a:p>
            <a:pPr marL="457200" indent="-457200">
              <a:buFont typeface="+mj-lt"/>
              <a:buAutoNum type="arabicPeriod"/>
            </a:pPr>
            <a:r>
              <a:rPr lang="en-US" dirty="0"/>
              <a:t>Plan</a:t>
            </a:r>
          </a:p>
          <a:p>
            <a:pPr marL="457200" indent="-457200">
              <a:buFont typeface="+mj-lt"/>
              <a:buAutoNum type="arabicPeriod"/>
            </a:pPr>
            <a:r>
              <a:rPr lang="en-US" dirty="0"/>
              <a:t>Have strong testing and verification</a:t>
            </a:r>
          </a:p>
          <a:p>
            <a:pPr marL="457200" indent="-457200">
              <a:buFont typeface="+mj-lt"/>
              <a:buAutoNum type="arabicPeriod"/>
            </a:pPr>
            <a:r>
              <a:rPr lang="en-US" dirty="0"/>
              <a:t>Get buy-in from stakeholders</a:t>
            </a:r>
          </a:p>
        </p:txBody>
      </p:sp>
    </p:spTree>
    <p:extLst>
      <p:ext uri="{BB962C8B-B14F-4D97-AF65-F5344CB8AC3E}">
        <p14:creationId xmlns:p14="http://schemas.microsoft.com/office/powerpoint/2010/main" val="2352381746"/>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3008</TotalTime>
  <Words>1874</Words>
  <Application>Microsoft Office PowerPoint</Application>
  <PresentationFormat>Custom</PresentationFormat>
  <Paragraphs>308</Paragraphs>
  <Slides>31</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Arial Black</vt:lpstr>
      <vt:lpstr>Calibri</vt:lpstr>
      <vt:lpstr>Presentations (Wide Screen)</vt:lpstr>
      <vt:lpstr>Refactoring Scientific Software</vt:lpstr>
      <vt:lpstr>License, Citation and Acknowledgements</vt:lpstr>
      <vt:lpstr>What is Refactoring  </vt:lpstr>
      <vt:lpstr>What is Refactoring  </vt:lpstr>
      <vt:lpstr>An Example Workflow</vt:lpstr>
      <vt:lpstr>An Example Workflow</vt:lpstr>
      <vt:lpstr>An Example Workflow</vt:lpstr>
      <vt:lpstr>An Example Workflow</vt:lpstr>
      <vt:lpstr>Look at the Running Example</vt:lpstr>
      <vt:lpstr>Considerations for Refactoring</vt:lpstr>
      <vt:lpstr>Considerations for Refactoring</vt:lpstr>
      <vt:lpstr>Considerations for Refactoring</vt:lpstr>
      <vt:lpstr>Map from Here to There: On ramp plan</vt:lpstr>
      <vt:lpstr>Map from Here to There: On ramp plan1</vt:lpstr>
      <vt:lpstr>Map from Here to There: On ramp plan1</vt:lpstr>
      <vt:lpstr>Map from Here to There: On ramp plan2</vt:lpstr>
      <vt:lpstr>Map from Here to There: On ramp plan2</vt:lpstr>
      <vt:lpstr>Map from Here to There: On ramp plan2</vt:lpstr>
      <vt:lpstr>Map from Here to There: On ramp plan2</vt:lpstr>
      <vt:lpstr>Map from Here to There: On ramp plan2</vt:lpstr>
      <vt:lpstr>Map from Here to There: On ramp plan2</vt:lpstr>
      <vt:lpstr>A Real-World Example: FLASH to Flash-X</vt:lpstr>
      <vt:lpstr>A Real-World Example: FLASH to Flash-X</vt:lpstr>
      <vt:lpstr>Steps in the Flash-X Refactoring : a mix of strategies</vt:lpstr>
      <vt:lpstr>Steps in the Flash-X Refactoring : a mix of strategies</vt:lpstr>
      <vt:lpstr>Steps in the Process</vt:lpstr>
      <vt:lpstr>Steps in the Process</vt:lpstr>
      <vt:lpstr>Steps in the Process</vt:lpstr>
      <vt:lpstr>Steps in the Process</vt:lpstr>
      <vt:lpstr>Steps in the Process</vt:lpstr>
      <vt:lpstr>To Have a Good Outcome from Refactoring</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409</cp:revision>
  <cp:lastPrinted>2017-11-02T18:35:01Z</cp:lastPrinted>
  <dcterms:created xsi:type="dcterms:W3CDTF">2018-11-06T17:28:56Z</dcterms:created>
  <dcterms:modified xsi:type="dcterms:W3CDTF">2025-08-06T00:19:47Z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